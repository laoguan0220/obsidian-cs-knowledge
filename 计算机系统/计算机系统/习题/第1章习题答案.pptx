
<file path=[Content_Types].xml><?xml version="1.0" encoding="utf-8"?>
<Types xmlns="http://schemas.openxmlformats.org/package/2006/content-types">
  <Default Extension="tmp" ContentType="image/pn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932" r:id="rId3"/>
    <p:sldId id="938" r:id="rId4"/>
    <p:sldId id="939" r:id="rId5"/>
    <p:sldId id="937" r:id="rId6"/>
  </p:sldIdLst>
  <p:sldSz cx="5715000" cy="9144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36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F75F39-3317-4294-B892-82376603E0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3000112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9142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051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1.tmp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image" Target="../media/image1.tmp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37.xml"/><Relationship Id="rId21" Type="http://schemas.openxmlformats.org/officeDocument/2006/relationships/image" Target="../media/image1.tmp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20" Type="http://schemas.openxmlformats.org/officeDocument/2006/relationships/image" Target="../media/image2.png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tags" Target="../tags/tag45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image" Target="../media/image1.tmp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56.xml"/><Relationship Id="rId10" Type="http://schemas.openxmlformats.org/officeDocument/2006/relationships/tags" Target="../tags/tag61.xml"/><Relationship Id="rId4" Type="http://schemas.openxmlformats.org/officeDocument/2006/relationships/tags" Target="../tags/tag55.xml"/><Relationship Id="rId9" Type="http://schemas.openxmlformats.org/officeDocument/2006/relationships/tags" Target="../tags/tag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88B29A-D6FC-45DC-8EDE-876156422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b="1" dirty="0"/>
              <a:t>第一章 习题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BBDCD15-8707-423F-A1CB-3133DA606395}"/>
              </a:ext>
            </a:extLst>
          </p:cNvPr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8E87E53-3907-427B-B40A-C836F8F50AB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>
                <a:solidFill>
                  <a:srgbClr val="000000"/>
                </a:solidFill>
              </a:rPr>
              <a:t>总分</a:t>
            </a:r>
            <a:r>
              <a:rPr lang="en-US" altLang="zh-CN" sz="2000">
                <a:solidFill>
                  <a:srgbClr val="000000"/>
                </a:solidFill>
              </a:rPr>
              <a:t>: 5</a:t>
            </a:r>
            <a:endParaRPr lang="zh-CN" altLang="en-US" sz="200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1153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B1004F2-E145-4200-A5B8-A0543E3EC59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、计算机操作系统抽象表示时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    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是对处理器、主存和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设备的抽象表示。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8A8CCB7-F9EC-44A9-8A42-6F1CAA91DB5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进程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3BDD89E-018A-442B-9A9F-878DB4C105C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虚拟存储器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36BA456-53A3-4272-A527-FC212A1E4C5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文件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CB6AF2-E9A4-48AB-ACC3-D8106182E60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虚拟机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56FE6A2-AA58-40C7-82FC-5FB520462111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05C1546-40A3-4013-BE44-D180B3A8E6B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029983D-F457-4A39-AB12-EF4F6BF4D5A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878622D-0251-4E57-BA61-93067E0E30E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D331C86-54E0-479F-907E-7D9ED08AA12E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D35299D5-C37B-4B90-B745-FF876CD751F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7DEB8FE1-575E-4FAE-9731-54E1E3FCD46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5E1F7265-FF43-4D88-9C7B-F8243D974CBD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6F5A4D4E-4D21-4D0C-ADB4-ACC771FE7534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C2A891A3-E739-4E94-8636-74C8E8D55FB1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90454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AD0637A-901D-4EED-88B3-2433782522A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、位于存储器层次结构中的最顶部的是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  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		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B153C00-D276-447A-8DB1-26B20FC5C5C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寄存器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C3EAB8-1EEB-406A-84B7-652B8ADC060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主存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B64442-AB34-4D5A-BC1E-0C646006F8F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磁盘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AFDCC78-C941-4A64-9C42-4E60DBFF5FF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高速缓存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FE07030-3F2D-4986-B860-E1E2BBE98030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5F65C11-CE81-44B1-B599-7D142D4228C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EFF6D2E-6898-43FA-9B14-E6548B866B9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881FE50-6EC8-4AEB-AACE-3ED580FF128D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3EB64E6-9033-43B2-AB97-907322EDEB65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A0C66C6E-40AD-4514-9BE7-19D4FC35F237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355903C4-79CA-453C-9369-2DDEFCC5DBE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62812A56-C9D0-41F2-9342-E2CCE38CFF84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8ED952AB-C1F7-4D73-B59B-3640B700E18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33DFB1D-89D7-470D-9875-77110E932F04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57766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E91D9BC-6D9E-4FDF-8AEC-C0A39BA18C0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4478" y="582930"/>
            <a:ext cx="4806043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/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公司的市场部向你的客户承诺，下一个版本的软件性能将改进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2X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。这项任务被分配给你。你巳经确认只有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80%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的系统能够被改进，那么这部分需要被改进多少（即</a:t>
            </a:r>
            <a:r>
              <a:rPr lang="en-US" altLang="zh-CN" sz="2800" b="1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取何值）才能达到整体性能目标？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359BE02-D080-4AA9-9D31-6466C4D9A84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1.53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AD3C237-FA38-4098-B336-AB787721DED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5BBDED-DB77-45F1-992C-5B5CCD1741F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2.67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07197FF-C650-489B-81E7-F1B07BFA8F49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14FCB718-0938-4F1A-B461-364E8CD90D9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3299DE1-504F-42C5-83BF-12C04DB954B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3F20EA7-F67C-48B4-8BFA-CBC56E5AC876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4DEB098-E290-4222-B878-9D1DACBC5FA6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600ABD9-1072-43A5-81CB-8452DB99270F}"/>
                  </a:ext>
                </a:extLst>
              </p:cNvPr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2202107" y="5846446"/>
                <a:ext cx="3407664" cy="1154429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vert="horz" rtlCol="0" anchor="ctr" anchorCtr="0">
                <a:noAutofit/>
              </a:bodyPr>
              <a:lstStyle/>
              <a:p>
                <a:r>
                  <a:rPr lang="zh-CN" altLang="en-US" sz="2600" b="1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解答：</a:t>
                </a:r>
                <a:endParaRPr lang="en-US" altLang="zh-CN" sz="2600" b="1" dirty="0">
                  <a:solidFill>
                    <a:srgbClr val="000000"/>
                  </a:solidFill>
                  <a:latin typeface="Cambria Math" panose="02040503050406030204" pitchFamily="18" charset="0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6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26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26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0.2</m:t>
                        </m:r>
                        <m:r>
                          <a:rPr lang="en-US" altLang="zh-CN" sz="2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+</m:t>
                        </m:r>
                        <m:r>
                          <a:rPr lang="en-US" altLang="zh-CN" sz="26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0.8/</m:t>
                        </m:r>
                        <m:r>
                          <a:rPr lang="en-US" altLang="zh-CN" sz="26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US" altLang="zh-CN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=2 </a:t>
                </a:r>
                <a14:m>
                  <m:oMath xmlns:m="http://schemas.openxmlformats.org/officeDocument/2006/math">
                    <m:r>
                      <a:rPr lang="en-US" altLang="zh-CN" sz="2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⇒</m:t>
                    </m:r>
                    <m:r>
                      <a:rPr lang="en-US" altLang="zh-CN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𝑘</m:t>
                    </m:r>
                  </m:oMath>
                </a14:m>
                <a:r>
                  <a:rPr lang="en-US" altLang="zh-CN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=2.67</a:t>
                </a:r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600ABD9-1072-43A5-81CB-8452DB9927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2202107" y="5846446"/>
                <a:ext cx="3407664" cy="1154429"/>
              </a:xfrm>
              <a:prstGeom prst="rect">
                <a:avLst/>
              </a:prstGeom>
              <a:blipFill>
                <a:blip r:embed="rId20"/>
                <a:stretch>
                  <a:fillRect l="-2655" t="-1026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组合 16">
            <a:extLst>
              <a:ext uri="{FF2B5EF4-FFF2-40B4-BE49-F238E27FC236}">
                <a16:creationId xmlns:a16="http://schemas.microsoft.com/office/drawing/2014/main" id="{5F28923E-1424-4EDF-8564-CD915FBC7665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E0B2D50D-4A89-405B-8196-78A52CEC102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9E4DE523-6C8C-43CE-9C1F-D66155B2CA0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85DBF672-B476-4450-9128-99A4A087B7CC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A0550B9F-6BF8-4A3D-A5D3-A553AC492A8C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56972E82-66FB-4E88-95C0-2FBF603411DD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44316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F7092F5-9D0F-4187-95D7-2FDF43DC3DE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-642257" y="2224313"/>
            <a:ext cx="6357257" cy="373017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635000" lvl="2" algn="just">
              <a:lnSpc>
                <a:spcPct val="150000"/>
              </a:lnSpc>
              <a:spcBef>
                <a:spcPts val="500"/>
              </a:spcBef>
              <a:buClr>
                <a:schemeClr val="accent1"/>
              </a:buClr>
              <a:buSzPct val="80000"/>
            </a:pPr>
            <a:r>
              <a:rPr lang="en-US" altLang="zh-CN" sz="3200" dirty="0">
                <a:latin typeface="+mn-ea"/>
                <a:sym typeface="Calibri" panose="020F0502020204030204" charset="0"/>
              </a:rPr>
              <a:t>4</a:t>
            </a:r>
            <a:r>
              <a:rPr lang="zh-CN" altLang="en-US" sz="3200" dirty="0">
                <a:latin typeface="+mn-ea"/>
                <a:sym typeface="Calibri" panose="020F0502020204030204" charset="0"/>
              </a:rPr>
              <a:t>、</a:t>
            </a:r>
            <a:r>
              <a:rPr lang="zh-CN" altLang="en-US" sz="2800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sym typeface="Calibri" panose="020F0502020204030204" charset="0"/>
              </a:rPr>
              <a:t>计算机系统的几种抽象</a:t>
            </a:r>
            <a:endParaRPr lang="en-US" altLang="zh-CN" sz="2800" dirty="0">
              <a:solidFill>
                <a:srgbClr val="C00000"/>
              </a:solidFill>
              <a:highlight>
                <a:srgbClr val="FFFF00"/>
              </a:highlight>
              <a:latin typeface="+mn-ea"/>
              <a:sym typeface="Calibri" panose="020F0502020204030204" charset="0"/>
            </a:endParaRPr>
          </a:p>
          <a:p>
            <a:pPr marL="635000" lvl="2">
              <a:spcBef>
                <a:spcPts val="500"/>
              </a:spcBef>
              <a:buClr>
                <a:schemeClr val="accent1"/>
              </a:buClr>
              <a:buSzPct val="80000"/>
            </a:pPr>
            <a:r>
              <a:rPr lang="en-US" altLang="zh-CN" sz="2000" b="1" dirty="0">
                <a:solidFill>
                  <a:srgbClr val="0000FF"/>
                </a:solidFill>
                <a:latin typeface="+mn-ea"/>
                <a:sym typeface="Calibri" panose="020F0502020204030204" charset="0"/>
              </a:rPr>
              <a:t>【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sym typeface="Calibri" panose="020F0502020204030204" charset="0"/>
              </a:rPr>
              <a:t>指令集架构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sym typeface="Calibri" panose="020F0502020204030204" charset="0"/>
              </a:rPr>
              <a:t>/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sym typeface="Calibri" panose="020F0502020204030204" charset="0"/>
              </a:rPr>
              <a:t>指令集体系结构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sym typeface="Calibri" panose="020F0502020204030204" charset="0"/>
              </a:rPr>
              <a:t>/ISA】</a:t>
            </a:r>
            <a:r>
              <a:rPr lang="zh-CN" altLang="en-US" sz="2000" dirty="0">
                <a:latin typeface="+mn-ea"/>
                <a:sym typeface="Calibri" panose="020F0502020204030204" charset="0"/>
              </a:rPr>
              <a:t>提供了对实际处理器硬件的抽象。</a:t>
            </a:r>
            <a:endParaRPr lang="en-US" altLang="zh-CN" sz="2000" dirty="0">
              <a:latin typeface="+mn-ea"/>
              <a:sym typeface="Calibri" panose="020F0502020204030204" charset="0"/>
            </a:endParaRPr>
          </a:p>
          <a:p>
            <a:pPr marL="635000" lvl="2">
              <a:spcBef>
                <a:spcPts val="500"/>
              </a:spcBef>
              <a:buClr>
                <a:schemeClr val="accent1"/>
              </a:buClr>
              <a:buSzPct val="80000"/>
            </a:pPr>
            <a:r>
              <a:rPr lang="en-US" altLang="zh-CN" sz="2000" b="1" dirty="0">
                <a:solidFill>
                  <a:srgbClr val="0000FF"/>
                </a:solidFill>
                <a:latin typeface="+mn-ea"/>
                <a:sym typeface="Calibri" panose="020F0502020204030204" charset="0"/>
              </a:rPr>
              <a:t>【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sym typeface="Calibri" panose="020F0502020204030204" charset="0"/>
              </a:rPr>
              <a:t>文件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sym typeface="Calibri" panose="020F0502020204030204" charset="0"/>
              </a:rPr>
              <a:t>】</a:t>
            </a:r>
            <a:r>
              <a:rPr lang="zh-CN" altLang="en-US" sz="2000" dirty="0">
                <a:latin typeface="+mn-ea"/>
                <a:sym typeface="Calibri" panose="020F0502020204030204" charset="0"/>
              </a:rPr>
              <a:t>是对</a:t>
            </a:r>
            <a:r>
              <a:rPr lang="en-US" altLang="zh-CN" sz="2000" dirty="0">
                <a:latin typeface="+mn-ea"/>
                <a:sym typeface="Calibri" panose="020F0502020204030204" charset="0"/>
              </a:rPr>
              <a:t>I/O</a:t>
            </a:r>
            <a:r>
              <a:rPr lang="zh-CN" altLang="en-US" sz="2000" dirty="0">
                <a:latin typeface="+mn-ea"/>
                <a:sym typeface="Calibri" panose="020F0502020204030204" charset="0"/>
              </a:rPr>
              <a:t>设备的抽象。</a:t>
            </a:r>
          </a:p>
          <a:p>
            <a:pPr marL="635000" lvl="2">
              <a:spcBef>
                <a:spcPts val="500"/>
              </a:spcBef>
              <a:buClr>
                <a:schemeClr val="accent1"/>
              </a:buClr>
              <a:buSzPct val="80000"/>
            </a:pPr>
            <a:r>
              <a:rPr lang="en-US" altLang="zh-CN" sz="2000" b="1" dirty="0">
                <a:solidFill>
                  <a:srgbClr val="0000FF"/>
                </a:solidFill>
                <a:latin typeface="+mn-ea"/>
                <a:sym typeface="Calibri" panose="020F0502020204030204" charset="0"/>
              </a:rPr>
              <a:t>【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sym typeface="Calibri" panose="020F0502020204030204" charset="0"/>
              </a:rPr>
              <a:t>虚拟内存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sym typeface="Calibri" panose="020F0502020204030204" charset="0"/>
              </a:rPr>
              <a:t>】</a:t>
            </a:r>
            <a:r>
              <a:rPr lang="zh-CN" altLang="en-US" sz="2000" dirty="0">
                <a:latin typeface="+mn-ea"/>
                <a:sym typeface="Calibri" panose="020F0502020204030204" charset="0"/>
              </a:rPr>
              <a:t>是对主存和硬盘的抽象。</a:t>
            </a:r>
          </a:p>
          <a:p>
            <a:pPr marL="635000" lvl="2">
              <a:spcBef>
                <a:spcPts val="500"/>
              </a:spcBef>
              <a:buClr>
                <a:schemeClr val="accent1"/>
              </a:buClr>
              <a:buSzPct val="80000"/>
            </a:pPr>
            <a:r>
              <a:rPr lang="en-US" altLang="zh-CN" sz="2000" b="1" dirty="0">
                <a:solidFill>
                  <a:srgbClr val="0000FF"/>
                </a:solidFill>
                <a:latin typeface="+mn-ea"/>
                <a:sym typeface="Calibri" panose="020F0502020204030204" charset="0"/>
              </a:rPr>
              <a:t>【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sym typeface="Calibri" panose="020F0502020204030204" charset="0"/>
              </a:rPr>
              <a:t>进程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sym typeface="Calibri" panose="020F0502020204030204" charset="0"/>
              </a:rPr>
              <a:t>】</a:t>
            </a:r>
            <a:r>
              <a:rPr lang="zh-CN" altLang="en-US" sz="2000" dirty="0">
                <a:latin typeface="+mn-ea"/>
                <a:sym typeface="Calibri" panose="020F0502020204030204" charset="0"/>
              </a:rPr>
              <a:t>是对一个</a:t>
            </a:r>
            <a:r>
              <a:rPr lang="zh-CN" altLang="en-US" sz="2000" u="sng" dirty="0">
                <a:latin typeface="+mn-ea"/>
                <a:sym typeface="Calibri" panose="020F0502020204030204" charset="0"/>
              </a:rPr>
              <a:t>正在运行的程序</a:t>
            </a:r>
            <a:r>
              <a:rPr lang="zh-CN" altLang="en-US" sz="2000" dirty="0">
                <a:latin typeface="+mn-ea"/>
                <a:sym typeface="Calibri" panose="020F0502020204030204" charset="0"/>
              </a:rPr>
              <a:t>（或处理器、主存和</a:t>
            </a:r>
            <a:r>
              <a:rPr lang="en-US" altLang="zh-CN" sz="2000" dirty="0">
                <a:latin typeface="+mn-ea"/>
                <a:sym typeface="Calibri" panose="020F0502020204030204" charset="0"/>
              </a:rPr>
              <a:t>IO</a:t>
            </a:r>
            <a:r>
              <a:rPr lang="zh-CN" altLang="en-US" sz="2000" dirty="0">
                <a:latin typeface="+mn-ea"/>
                <a:sym typeface="Calibri" panose="020F0502020204030204" charset="0"/>
              </a:rPr>
              <a:t>设备）的抽象。</a:t>
            </a:r>
          </a:p>
          <a:p>
            <a:pPr marL="635000" lvl="2">
              <a:spcBef>
                <a:spcPts val="500"/>
              </a:spcBef>
              <a:buClr>
                <a:schemeClr val="accent1"/>
              </a:buClr>
              <a:buSzPct val="80000"/>
            </a:pPr>
            <a:r>
              <a:rPr lang="en-US" altLang="zh-CN" sz="2000" b="1" dirty="0">
                <a:solidFill>
                  <a:srgbClr val="0000FF"/>
                </a:solidFill>
                <a:latin typeface="+mn-ea"/>
                <a:sym typeface="Calibri" panose="020F0502020204030204" charset="0"/>
              </a:rPr>
              <a:t>【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sym typeface="Calibri" panose="020F0502020204030204" charset="0"/>
              </a:rPr>
              <a:t>虚拟机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sym typeface="Calibri" panose="020F0502020204030204" charset="0"/>
              </a:rPr>
              <a:t>】</a:t>
            </a:r>
            <a:r>
              <a:rPr lang="zh-CN" altLang="en-US" sz="2000" dirty="0">
                <a:latin typeface="+mn-ea"/>
                <a:sym typeface="Calibri" panose="020F0502020204030204" charset="0"/>
              </a:rPr>
              <a:t>是对整个计算机的抽象，包括操作系统、处理器和程序</a:t>
            </a:r>
            <a:r>
              <a:rPr lang="zh-CN" altLang="en-US" sz="2400" dirty="0"/>
              <a:t>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440C987-1695-416D-BC24-F77584302A0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8B12AA8-B8C0-403F-AD3B-6D4C93B19D4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71500" y="635000"/>
            <a:ext cx="4572000" cy="47625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97F6650-10A9-46F9-A256-6C77DAB0E770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AF2D6EFF-04B1-4579-BFED-79ADE70BFE30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5CB5CB6D-4F20-455D-A9C4-5F2C88D42805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F978EB6E-89BC-497C-8520-BA70C64642F2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0EDD9629-B81B-46D6-8278-4F6AEB9F653D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A7B5EFD6-AAC0-4FB8-9BE8-6A7C71E7965C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35837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0.0"/>
  <p:tag name="PROBLEMBLANK" val="[]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301</Words>
  <Application>Microsoft Office PowerPoint</Application>
  <PresentationFormat>全屏显示(16:10)</PresentationFormat>
  <Paragraphs>48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Microsoft Yahei</vt:lpstr>
      <vt:lpstr>等线</vt:lpstr>
      <vt:lpstr>等线 Light</vt:lpstr>
      <vt:lpstr>微软雅黑</vt:lpstr>
      <vt:lpstr>Arial</vt:lpstr>
      <vt:lpstr>Calibri</vt:lpstr>
      <vt:lpstr>Cambria Math</vt:lpstr>
      <vt:lpstr>Office 主题​​</vt:lpstr>
      <vt:lpstr>第一章 习题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第一、二章 习题</dc:title>
  <dc:creator>Lenovo</dc:creator>
  <cp:lastModifiedBy>Lenovo</cp:lastModifiedBy>
  <cp:revision>23</cp:revision>
  <dcterms:created xsi:type="dcterms:W3CDTF">2023-03-20T00:48:31Z</dcterms:created>
  <dcterms:modified xsi:type="dcterms:W3CDTF">2023-03-20T07:16:16Z</dcterms:modified>
</cp:coreProperties>
</file>