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94"/>
  </p:notesMasterIdLst>
  <p:sldIdLst>
    <p:sldId id="340" r:id="rId4"/>
    <p:sldId id="555" r:id="rId5"/>
    <p:sldId id="461" r:id="rId6"/>
    <p:sldId id="462" r:id="rId7"/>
    <p:sldId id="644" r:id="rId8"/>
    <p:sldId id="463" r:id="rId9"/>
    <p:sldId id="556" r:id="rId10"/>
    <p:sldId id="465" r:id="rId11"/>
    <p:sldId id="466" r:id="rId12"/>
    <p:sldId id="467" r:id="rId13"/>
    <p:sldId id="468" r:id="rId14"/>
    <p:sldId id="469" r:id="rId15"/>
    <p:sldId id="418" r:id="rId16"/>
    <p:sldId id="419" r:id="rId17"/>
    <p:sldId id="420" r:id="rId18"/>
    <p:sldId id="557" r:id="rId19"/>
    <p:sldId id="422" r:id="rId20"/>
    <p:sldId id="558" r:id="rId21"/>
    <p:sldId id="424" r:id="rId22"/>
    <p:sldId id="559" r:id="rId23"/>
    <p:sldId id="426" r:id="rId24"/>
    <p:sldId id="472" r:id="rId25"/>
    <p:sldId id="560" r:id="rId26"/>
    <p:sldId id="488" r:id="rId27"/>
    <p:sldId id="428" r:id="rId28"/>
    <p:sldId id="473" r:id="rId29"/>
    <p:sldId id="430" r:id="rId30"/>
    <p:sldId id="431" r:id="rId31"/>
    <p:sldId id="485" r:id="rId32"/>
    <p:sldId id="486" r:id="rId33"/>
    <p:sldId id="487" r:id="rId34"/>
    <p:sldId id="435" r:id="rId35"/>
    <p:sldId id="436" r:id="rId36"/>
    <p:sldId id="437" r:id="rId37"/>
    <p:sldId id="438" r:id="rId38"/>
    <p:sldId id="439" r:id="rId39"/>
    <p:sldId id="440" r:id="rId40"/>
    <p:sldId id="441" r:id="rId41"/>
    <p:sldId id="442" r:id="rId42"/>
    <p:sldId id="443" r:id="rId43"/>
    <p:sldId id="444" r:id="rId44"/>
    <p:sldId id="446" r:id="rId45"/>
    <p:sldId id="447" r:id="rId46"/>
    <p:sldId id="448" r:id="rId47"/>
    <p:sldId id="449" r:id="rId48"/>
    <p:sldId id="450" r:id="rId49"/>
    <p:sldId id="451" r:id="rId50"/>
    <p:sldId id="452" r:id="rId51"/>
    <p:sldId id="453" r:id="rId52"/>
    <p:sldId id="454" r:id="rId53"/>
    <p:sldId id="456" r:id="rId54"/>
    <p:sldId id="474" r:id="rId55"/>
    <p:sldId id="475" r:id="rId56"/>
    <p:sldId id="489" r:id="rId57"/>
    <p:sldId id="349" r:id="rId58"/>
    <p:sldId id="352" r:id="rId59"/>
    <p:sldId id="353" r:id="rId60"/>
    <p:sldId id="476" r:id="rId61"/>
    <p:sldId id="477" r:id="rId62"/>
    <p:sldId id="478" r:id="rId63"/>
    <p:sldId id="481" r:id="rId64"/>
    <p:sldId id="480" r:id="rId65"/>
    <p:sldId id="354" r:id="rId66"/>
    <p:sldId id="355" r:id="rId67"/>
    <p:sldId id="356" r:id="rId68"/>
    <p:sldId id="357" r:id="rId69"/>
    <p:sldId id="358" r:id="rId70"/>
    <p:sldId id="359" r:id="rId71"/>
    <p:sldId id="360" r:id="rId72"/>
    <p:sldId id="361" r:id="rId73"/>
    <p:sldId id="484" r:id="rId74"/>
    <p:sldId id="483" r:id="rId75"/>
    <p:sldId id="362" r:id="rId76"/>
    <p:sldId id="363" r:id="rId77"/>
    <p:sldId id="364" r:id="rId78"/>
    <p:sldId id="365" r:id="rId79"/>
    <p:sldId id="366" r:id="rId80"/>
    <p:sldId id="367" r:id="rId81"/>
    <p:sldId id="368" r:id="rId82"/>
    <p:sldId id="369" r:id="rId83"/>
    <p:sldId id="370" r:id="rId84"/>
    <p:sldId id="371" r:id="rId85"/>
    <p:sldId id="372" r:id="rId86"/>
    <p:sldId id="373" r:id="rId87"/>
    <p:sldId id="374" r:id="rId88"/>
    <p:sldId id="375" r:id="rId89"/>
    <p:sldId id="376" r:id="rId90"/>
    <p:sldId id="377" r:id="rId91"/>
    <p:sldId id="378" r:id="rId92"/>
    <p:sldId id="459" r:id="rId93"/>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75" userDrawn="1">
          <p15:clr>
            <a:srgbClr val="A4A3A4"/>
          </p15:clr>
        </p15:guide>
        <p15:guide id="2" pos="2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2"/>
    <p:restoredTop sz="91653"/>
  </p:normalViewPr>
  <p:slideViewPr>
    <p:cSldViewPr showGuides="1">
      <p:cViewPr varScale="1">
        <p:scale>
          <a:sx n="66" d="100"/>
          <a:sy n="66" d="100"/>
        </p:scale>
        <p:origin x="1512" y="72"/>
      </p:cViewPr>
      <p:guideLst>
        <p:guide orient="horz" pos="2075"/>
        <p:guide pos="2878"/>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presProps" Target="pres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473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4474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24474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474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fontAlgn="base" hangingPunct="1">
              <a:buNone/>
            </a:pPr>
            <a:fld id="{9A0DB2DC-4C9A-4742-B13C-FB6460FD3503}" type="slidenum">
              <a:rPr lang="en-US" altLang="zh-CN" sz="1200" strike="noStrike" noProof="1" dirty="0">
                <a:latin typeface="Arial" panose="020B0604020202020204" pitchFamily="34" charset="0"/>
                <a:ea typeface="宋体" panose="02010600030101010101" pitchFamily="2" charset="-122"/>
                <a:cs typeface="+mn-cs"/>
              </a:rPr>
              <a:t>‹#›</a:t>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baike.baidu.com/view/2398.htm" TargetMode="External"/><Relationship Id="rId13" Type="http://schemas.openxmlformats.org/officeDocument/2006/relationships/hyperlink" Target="http://baike.baidu.com/view/880784.htm" TargetMode="External"/><Relationship Id="rId3" Type="http://schemas.openxmlformats.org/officeDocument/2006/relationships/hyperlink" Target="http://baike.baidu.com/view/1219.htm" TargetMode="External"/><Relationship Id="rId7" Type="http://schemas.openxmlformats.org/officeDocument/2006/relationships/hyperlink" Target="http://baike.baidu.com/view/611688.htm" TargetMode="External"/><Relationship Id="rId12" Type="http://schemas.openxmlformats.org/officeDocument/2006/relationships/hyperlink" Target="http://baike.baidu.com/view/85991.htm" TargetMode="External"/><Relationship Id="rId2" Type="http://schemas.openxmlformats.org/officeDocument/2006/relationships/slide" Target="../slides/slide41.xml"/><Relationship Id="rId16" Type="http://schemas.openxmlformats.org/officeDocument/2006/relationships/hyperlink" Target="http://baike.baidu.com/view/758580.htm" TargetMode="External"/><Relationship Id="rId1" Type="http://schemas.openxmlformats.org/officeDocument/2006/relationships/notesMaster" Target="../notesMasters/notesMaster1.xml"/><Relationship Id="rId6" Type="http://schemas.openxmlformats.org/officeDocument/2006/relationships/hyperlink" Target="http://baike.baidu.com/view/37115.htm" TargetMode="External"/><Relationship Id="rId11" Type="http://schemas.openxmlformats.org/officeDocument/2006/relationships/hyperlink" Target="http://baike.baidu.com/view/1935.htm" TargetMode="External"/><Relationship Id="rId5" Type="http://schemas.openxmlformats.org/officeDocument/2006/relationships/hyperlink" Target="http://baike.baidu.com/view/1047340.htm" TargetMode="External"/><Relationship Id="rId15" Type="http://schemas.openxmlformats.org/officeDocument/2006/relationships/hyperlink" Target="http://baike.baidu.com/view/551029.htm" TargetMode="External"/><Relationship Id="rId10" Type="http://schemas.openxmlformats.org/officeDocument/2006/relationships/hyperlink" Target="http://baike.baidu.com/view/207486.htm" TargetMode="External"/><Relationship Id="rId4" Type="http://schemas.openxmlformats.org/officeDocument/2006/relationships/hyperlink" Target="http://baike.baidu.com/view/8095.htm" TargetMode="External"/><Relationship Id="rId9" Type="http://schemas.openxmlformats.org/officeDocument/2006/relationships/hyperlink" Target="http://baike.baidu.com/view/52996.htm" TargetMode="External"/><Relationship Id="rId14" Type="http://schemas.openxmlformats.org/officeDocument/2006/relationships/hyperlink" Target="http://baike.baidu.com/view/880.htm"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dirty="0"/>
              <a:t>41</a:t>
            </a:fld>
            <a:endParaRPr lang="en-US" altLang="zh-CN" dirty="0"/>
          </a:p>
        </p:txBody>
      </p:sp>
      <p:sp>
        <p:nvSpPr>
          <p:cNvPr id="47106" name="Rectangle 2"/>
          <p:cNvSpPr>
            <a:spLocks noGrp="1" noRot="1" noChangeAspect="1" noTextEdit="1"/>
          </p:cNvSpPr>
          <p:nvPr>
            <p:ph type="sldImg"/>
          </p:nvPr>
        </p:nvSpPr>
        <p:spPr/>
      </p:sp>
      <p:sp>
        <p:nvSpPr>
          <p:cNvPr id="47107" name="Rectangle 3"/>
          <p:cNvSpPr>
            <a:spLocks noGrp="1"/>
          </p:cNvSpPr>
          <p:nvPr>
            <p:ph type="body"/>
          </p:nvPr>
        </p:nvSpPr>
        <p:spPr/>
        <p:txBody>
          <a:bodyPr wrap="square" lIns="91440" tIns="45720" rIns="91440" bIns="45720" anchor="t" anchorCtr="0"/>
          <a:lstStyle/>
          <a:p>
            <a:pPr lvl="0" eaLnBrk="1" hangingPunct="1"/>
            <a:r>
              <a:rPr lang="zh-CN" altLang="en-US" dirty="0"/>
              <a:t>丹尼斯</a:t>
            </a:r>
            <a:r>
              <a:rPr lang="en-US" altLang="zh-CN" dirty="0"/>
              <a:t>·</a:t>
            </a:r>
            <a:r>
              <a:rPr lang="zh-CN" altLang="en-US" dirty="0"/>
              <a:t>里奇，</a:t>
            </a:r>
            <a:r>
              <a:rPr lang="en-US" altLang="zh-CN" dirty="0">
                <a:hlinkClick r:id="rId3"/>
              </a:rPr>
              <a:t>C</a:t>
            </a:r>
            <a:r>
              <a:rPr lang="zh-CN" altLang="en-US" dirty="0">
                <a:hlinkClick r:id="rId3"/>
              </a:rPr>
              <a:t>语言</a:t>
            </a:r>
            <a:r>
              <a:rPr lang="zh-CN" altLang="en-US" dirty="0"/>
              <a:t>之父，</a:t>
            </a:r>
            <a:r>
              <a:rPr lang="en-US" altLang="zh-CN" dirty="0">
                <a:hlinkClick r:id="rId4"/>
              </a:rPr>
              <a:t>UNIX</a:t>
            </a:r>
            <a:r>
              <a:rPr lang="zh-CN" altLang="en-US" dirty="0"/>
              <a:t>之父。曾担任</a:t>
            </a:r>
            <a:r>
              <a:rPr lang="zh-CN" altLang="en-US" dirty="0">
                <a:hlinkClick r:id="rId5"/>
              </a:rPr>
              <a:t>朗讯科技公司</a:t>
            </a:r>
            <a:r>
              <a:rPr lang="zh-CN" altLang="en-US" dirty="0">
                <a:hlinkClick r:id="rId6"/>
              </a:rPr>
              <a:t>贝尔实验室</a:t>
            </a:r>
            <a:r>
              <a:rPr lang="zh-CN" altLang="en-US" dirty="0"/>
              <a:t>下属的计算机科学研究中心系统软件研究部的主任一职。</a:t>
            </a:r>
            <a:r>
              <a:rPr lang="en-US" altLang="zh-CN" dirty="0"/>
              <a:t>1978</a:t>
            </a:r>
            <a:r>
              <a:rPr lang="zh-CN" altLang="en-US" dirty="0"/>
              <a:t>年与布莱恩</a:t>
            </a:r>
            <a:r>
              <a:rPr lang="en-US" altLang="zh-CN" dirty="0"/>
              <a:t>·</a:t>
            </a:r>
            <a:r>
              <a:rPr lang="zh-CN" altLang="en-US" dirty="0"/>
              <a:t>科尔尼干（</a:t>
            </a:r>
            <a:r>
              <a:rPr lang="en-US" altLang="zh-CN" dirty="0"/>
              <a:t>Brian W. Kernighan</a:t>
            </a:r>
            <a:r>
              <a:rPr lang="zh-CN" altLang="en-US" dirty="0"/>
              <a:t>）一起出版了名著</a:t>
            </a:r>
            <a:r>
              <a:rPr lang="en-US" altLang="zh-CN" dirty="0"/>
              <a:t>《</a:t>
            </a:r>
            <a:r>
              <a:rPr lang="en-US" altLang="zh-CN" dirty="0">
                <a:hlinkClick r:id="rId7"/>
              </a:rPr>
              <a:t>C</a:t>
            </a:r>
            <a:r>
              <a:rPr lang="zh-CN" altLang="en-US" dirty="0">
                <a:hlinkClick r:id="rId7"/>
              </a:rPr>
              <a:t>程序设计语言</a:t>
            </a:r>
            <a:r>
              <a:rPr lang="zh-CN" altLang="en-US" dirty="0"/>
              <a:t>（</a:t>
            </a:r>
            <a:r>
              <a:rPr lang="en-US" altLang="zh-CN" dirty="0"/>
              <a:t>The C Programming Language</a:t>
            </a:r>
            <a:r>
              <a:rPr lang="zh-CN" altLang="en-US" dirty="0"/>
              <a:t>）</a:t>
            </a:r>
            <a:r>
              <a:rPr lang="en-US" altLang="zh-CN" dirty="0"/>
              <a:t>》</a:t>
            </a:r>
            <a:r>
              <a:rPr lang="zh-CN" altLang="en-US" dirty="0"/>
              <a:t>，现在此书已翻译成多种语言，成为</a:t>
            </a:r>
            <a:r>
              <a:rPr lang="en-US" altLang="zh-CN" dirty="0"/>
              <a:t>C</a:t>
            </a:r>
            <a:r>
              <a:rPr lang="zh-CN" altLang="en-US" dirty="0"/>
              <a:t>语言方面最权威的教材之一。</a:t>
            </a:r>
            <a:r>
              <a:rPr lang="en-US" altLang="zh-CN" dirty="0"/>
              <a:t>2011</a:t>
            </a:r>
            <a:r>
              <a:rPr lang="zh-CN" altLang="en-US" dirty="0"/>
              <a:t>年</a:t>
            </a:r>
            <a:r>
              <a:rPr lang="en-US" altLang="zh-CN" dirty="0"/>
              <a:t>10</a:t>
            </a:r>
            <a:r>
              <a:rPr lang="zh-CN" altLang="en-US" dirty="0"/>
              <a:t>月</a:t>
            </a:r>
            <a:r>
              <a:rPr lang="en-US" altLang="zh-CN" dirty="0"/>
              <a:t>12</a:t>
            </a:r>
            <a:r>
              <a:rPr lang="zh-CN" altLang="en-US" dirty="0"/>
              <a:t>日（北京时间为</a:t>
            </a:r>
            <a:r>
              <a:rPr lang="en-US" altLang="zh-CN" dirty="0"/>
              <a:t>10</a:t>
            </a:r>
            <a:r>
              <a:rPr lang="zh-CN" altLang="en-US" dirty="0"/>
              <a:t>月</a:t>
            </a:r>
            <a:r>
              <a:rPr lang="en-US" altLang="zh-CN" dirty="0"/>
              <a:t>13</a:t>
            </a:r>
            <a:r>
              <a:rPr lang="zh-CN" altLang="en-US" dirty="0"/>
              <a:t>日），丹尼斯</a:t>
            </a:r>
            <a:r>
              <a:rPr lang="en-US" altLang="zh-CN" dirty="0"/>
              <a:t>·</a:t>
            </a:r>
            <a:r>
              <a:rPr lang="zh-CN" altLang="en-US" dirty="0"/>
              <a:t>里奇去世，享年</a:t>
            </a:r>
            <a:r>
              <a:rPr lang="en-US" altLang="zh-CN" dirty="0"/>
              <a:t>70</a:t>
            </a:r>
            <a:r>
              <a:rPr lang="zh-CN" altLang="en-US" dirty="0"/>
              <a:t>岁。 </a:t>
            </a:r>
          </a:p>
          <a:p>
            <a:pPr lvl="0" eaLnBrk="1" hangingPunct="1"/>
            <a:r>
              <a:rPr lang="en-US" altLang="zh-CN" dirty="0"/>
              <a:t>1943</a:t>
            </a:r>
            <a:r>
              <a:rPr lang="zh-CN" altLang="en-US" dirty="0"/>
              <a:t>年汤普逊出生于</a:t>
            </a:r>
            <a:r>
              <a:rPr lang="zh-CN" altLang="en-US" dirty="0">
                <a:hlinkClick r:id="rId8"/>
              </a:rPr>
              <a:t>美国</a:t>
            </a:r>
            <a:r>
              <a:rPr lang="zh-CN" altLang="en-US" dirty="0">
                <a:hlinkClick r:id="rId9"/>
              </a:rPr>
              <a:t>新奥尔良</a:t>
            </a:r>
            <a:r>
              <a:rPr lang="zh-CN" altLang="en-US" dirty="0"/>
              <a:t>。</a:t>
            </a:r>
            <a:r>
              <a:rPr lang="en-US" altLang="zh-CN" dirty="0"/>
              <a:t>1960</a:t>
            </a:r>
            <a:r>
              <a:rPr lang="zh-CN" altLang="en-US" dirty="0"/>
              <a:t>年就读</a:t>
            </a:r>
            <a:r>
              <a:rPr lang="zh-CN" altLang="en-US" dirty="0">
                <a:hlinkClick r:id="rId10"/>
              </a:rPr>
              <a:t>加州大学伯克利分校</a:t>
            </a:r>
            <a:r>
              <a:rPr lang="zh-CN" altLang="en-US" dirty="0"/>
              <a:t>主修电气工程，取得了电子工程硕士的学位。</a:t>
            </a:r>
            <a:r>
              <a:rPr lang="en-US" altLang="zh-CN" dirty="0"/>
              <a:t>1966</a:t>
            </a:r>
            <a:r>
              <a:rPr lang="zh-CN" altLang="en-US" dirty="0"/>
              <a:t>年加入了</a:t>
            </a:r>
            <a:r>
              <a:rPr lang="zh-CN" altLang="en-US" dirty="0">
                <a:hlinkClick r:id="rId6"/>
              </a:rPr>
              <a:t>贝尔实验室</a:t>
            </a:r>
            <a:r>
              <a:rPr lang="zh-CN" altLang="en-US" dirty="0"/>
              <a:t>。汤普逊参与了贝尔实验室与</a:t>
            </a:r>
            <a:r>
              <a:rPr lang="zh-CN" altLang="en-US" dirty="0">
                <a:hlinkClick r:id="rId11"/>
              </a:rPr>
              <a:t>麻省理工学院</a:t>
            </a:r>
            <a:r>
              <a:rPr lang="zh-CN" altLang="en-US" dirty="0"/>
              <a:t>以及</a:t>
            </a:r>
            <a:r>
              <a:rPr lang="zh-CN" altLang="en-US" dirty="0">
                <a:hlinkClick r:id="rId12"/>
              </a:rPr>
              <a:t>通用电气公司</a:t>
            </a:r>
            <a:r>
              <a:rPr lang="zh-CN" altLang="en-US" dirty="0"/>
              <a:t>联合开发的一套多用户</a:t>
            </a:r>
            <a:r>
              <a:rPr lang="zh-CN" altLang="en-US" dirty="0">
                <a:hlinkClick r:id="rId13"/>
              </a:rPr>
              <a:t>分时操作系统</a:t>
            </a:r>
            <a:r>
              <a:rPr lang="zh-CN" altLang="en-US" dirty="0"/>
              <a:t>，名叫</a:t>
            </a:r>
            <a:r>
              <a:rPr lang="en-US" altLang="zh-CN" dirty="0"/>
              <a:t>Multics</a:t>
            </a:r>
            <a:r>
              <a:rPr lang="zh-CN" altLang="en-US" dirty="0"/>
              <a:t>，同时他自己写了一个“</a:t>
            </a:r>
            <a:r>
              <a:rPr lang="en-US" altLang="zh-CN" dirty="0"/>
              <a:t>star travel”</a:t>
            </a:r>
            <a:r>
              <a:rPr lang="zh-CN" altLang="en-US" dirty="0"/>
              <a:t>游戏可运行于</a:t>
            </a:r>
            <a:r>
              <a:rPr lang="en-US" altLang="zh-CN" dirty="0"/>
              <a:t>Multics</a:t>
            </a:r>
            <a:r>
              <a:rPr lang="zh-CN" altLang="en-US" dirty="0"/>
              <a:t>之上。贝尔实验室后来撤出</a:t>
            </a:r>
            <a:r>
              <a:rPr lang="en-US" altLang="zh-CN" dirty="0"/>
              <a:t>Multics</a:t>
            </a:r>
            <a:r>
              <a:rPr lang="zh-CN" altLang="en-US" dirty="0"/>
              <a:t>计划。汤普逊只好找到一台老式</a:t>
            </a:r>
            <a:r>
              <a:rPr lang="en-US" altLang="zh-CN" dirty="0"/>
              <a:t>PDP-7</a:t>
            </a:r>
            <a:r>
              <a:rPr lang="zh-CN" altLang="en-US" dirty="0"/>
              <a:t>机器，重写了他的“</a:t>
            </a:r>
            <a:r>
              <a:rPr lang="en-US" altLang="zh-CN" dirty="0"/>
              <a:t>star travel”</a:t>
            </a:r>
            <a:r>
              <a:rPr lang="zh-CN" altLang="en-US" dirty="0"/>
              <a:t>游戏。</a:t>
            </a:r>
          </a:p>
          <a:p>
            <a:pPr lvl="0" eaLnBrk="1" hangingPunct="1"/>
            <a:r>
              <a:rPr lang="zh-CN" altLang="en-US" dirty="0"/>
              <a:t>在开发</a:t>
            </a:r>
            <a:r>
              <a:rPr lang="en-US" altLang="zh-CN" dirty="0"/>
              <a:t>Multics</a:t>
            </a:r>
            <a:r>
              <a:rPr lang="zh-CN" altLang="en-US" dirty="0"/>
              <a:t>的期间，汤普逊创造出了名为</a:t>
            </a:r>
            <a:r>
              <a:rPr lang="en-US" altLang="zh-CN" dirty="0"/>
              <a:t>Bon</a:t>
            </a:r>
            <a:r>
              <a:rPr lang="zh-CN" altLang="en-US" dirty="0"/>
              <a:t>的程式语言。汤普逊花了一个月的时间开发了全新的</a:t>
            </a:r>
            <a:r>
              <a:rPr lang="zh-CN" altLang="en-US" dirty="0">
                <a:hlinkClick r:id="rId14"/>
              </a:rPr>
              <a:t>操作系统</a:t>
            </a:r>
            <a:r>
              <a:rPr lang="zh-CN" altLang="en-US" dirty="0"/>
              <a:t>，</a:t>
            </a:r>
            <a:r>
              <a:rPr lang="en-US" altLang="zh-CN" dirty="0"/>
              <a:t>UNiplexed Information and Computing System</a:t>
            </a:r>
            <a:r>
              <a:rPr lang="zh-CN" altLang="en-US" dirty="0"/>
              <a:t>（</a:t>
            </a:r>
            <a:r>
              <a:rPr lang="en-US" altLang="zh-CN" dirty="0"/>
              <a:t>UNICS</a:t>
            </a:r>
            <a:r>
              <a:rPr lang="zh-CN" altLang="en-US" dirty="0"/>
              <a:t>），可执行于</a:t>
            </a:r>
            <a:r>
              <a:rPr lang="en-US" altLang="zh-CN" dirty="0"/>
              <a:t>PDP-7</a:t>
            </a:r>
            <a:r>
              <a:rPr lang="zh-CN" altLang="en-US" dirty="0"/>
              <a:t>机器之上，后来改称为</a:t>
            </a:r>
            <a:r>
              <a:rPr lang="en-US" altLang="zh-CN" dirty="0"/>
              <a:t>UNIX</a:t>
            </a:r>
            <a:r>
              <a:rPr lang="zh-CN" altLang="en-US" dirty="0"/>
              <a:t>。第一版的</a:t>
            </a:r>
            <a:r>
              <a:rPr lang="en-US" altLang="zh-CN" dirty="0"/>
              <a:t>Unix</a:t>
            </a:r>
            <a:r>
              <a:rPr lang="zh-CN" altLang="en-US" dirty="0"/>
              <a:t>就是基于</a:t>
            </a:r>
            <a:r>
              <a:rPr lang="en-US" altLang="zh-CN" dirty="0"/>
              <a:t>B</a:t>
            </a:r>
            <a:r>
              <a:rPr lang="zh-CN" altLang="en-US" dirty="0"/>
              <a:t>语言来开发的。</a:t>
            </a:r>
            <a:r>
              <a:rPr lang="en-US" altLang="zh-CN" dirty="0"/>
              <a:t>Bon</a:t>
            </a:r>
            <a:r>
              <a:rPr lang="zh-CN" altLang="en-US" dirty="0"/>
              <a:t>语言在进行</a:t>
            </a:r>
            <a:r>
              <a:rPr lang="zh-CN" altLang="en-US" dirty="0">
                <a:hlinkClick r:id="rId15"/>
              </a:rPr>
              <a:t>系统编程</a:t>
            </a:r>
            <a:r>
              <a:rPr lang="zh-CN" altLang="en-US" dirty="0"/>
              <a:t>时不够强大，所以</a:t>
            </a:r>
            <a:r>
              <a:rPr lang="en-US" altLang="zh-CN" dirty="0"/>
              <a:t>Thompson</a:t>
            </a:r>
            <a:r>
              <a:rPr lang="zh-CN" altLang="en-US" dirty="0"/>
              <a:t>和</a:t>
            </a:r>
            <a:r>
              <a:rPr lang="en-US" altLang="zh-CN" dirty="0"/>
              <a:t>Ritchie</a:t>
            </a:r>
            <a:r>
              <a:rPr lang="zh-CN" altLang="en-US" dirty="0"/>
              <a:t>对其进行了改造，并与</a:t>
            </a:r>
            <a:r>
              <a:rPr lang="en-US" altLang="zh-CN" dirty="0"/>
              <a:t>1971</a:t>
            </a:r>
            <a:r>
              <a:rPr lang="zh-CN" altLang="en-US" dirty="0"/>
              <a:t>年共同发明了</a:t>
            </a:r>
            <a:r>
              <a:rPr lang="en-US" altLang="zh-CN" dirty="0"/>
              <a:t>C</a:t>
            </a:r>
            <a:r>
              <a:rPr lang="zh-CN" altLang="en-US" dirty="0"/>
              <a:t>语言。</a:t>
            </a:r>
            <a:r>
              <a:rPr lang="en-US" altLang="zh-CN" dirty="0"/>
              <a:t>1973</a:t>
            </a:r>
            <a:r>
              <a:rPr lang="zh-CN" altLang="en-US" dirty="0"/>
              <a:t>年</a:t>
            </a:r>
            <a:r>
              <a:rPr lang="en-US" altLang="zh-CN" dirty="0"/>
              <a:t>Thompson</a:t>
            </a:r>
            <a:r>
              <a:rPr lang="zh-CN" altLang="en-US" dirty="0"/>
              <a:t>和</a:t>
            </a:r>
            <a:r>
              <a:rPr lang="en-US" altLang="zh-CN" dirty="0"/>
              <a:t>Ritchie</a:t>
            </a:r>
            <a:r>
              <a:rPr lang="zh-CN" altLang="en-US" dirty="0"/>
              <a:t>用</a:t>
            </a:r>
            <a:r>
              <a:rPr lang="en-US" altLang="zh-CN" dirty="0"/>
              <a:t>C</a:t>
            </a:r>
            <a:r>
              <a:rPr lang="zh-CN" altLang="en-US" dirty="0"/>
              <a:t>语言重写了</a:t>
            </a:r>
            <a:r>
              <a:rPr lang="en-US" altLang="zh-CN" dirty="0"/>
              <a:t>UNIX</a:t>
            </a:r>
            <a:r>
              <a:rPr lang="zh-CN" altLang="en-US" dirty="0"/>
              <a:t>。安装于</a:t>
            </a:r>
            <a:r>
              <a:rPr lang="en-US" altLang="zh-CN" dirty="0">
                <a:hlinkClick r:id="rId16"/>
              </a:rPr>
              <a:t>PDP-11</a:t>
            </a:r>
            <a:r>
              <a:rPr lang="zh-CN" altLang="en-US" dirty="0"/>
              <a:t>的机器之上。</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en-US" altLang="zh-CN"/>
              <a:t>USB3.0</a:t>
            </a:r>
            <a:r>
              <a:rPr lang="zh-CN" altLang="en-US"/>
              <a:t>的最大传输带宽高达</a:t>
            </a:r>
            <a:r>
              <a:rPr lang="en-US" altLang="zh-CN"/>
              <a:t>5.0Gbps(500MB/s)</a:t>
            </a:r>
            <a:r>
              <a:rPr lang="zh-CN" altLang="en-US"/>
              <a:t>。</a:t>
            </a:r>
          </a:p>
          <a:p>
            <a:endParaRPr lang="en-US" altLang="zh-CN"/>
          </a:p>
          <a:p>
            <a:r>
              <a:rPr lang="en-US" altLang="zh-CN"/>
              <a:t>USB3.0</a:t>
            </a:r>
            <a:r>
              <a:rPr lang="zh-CN" altLang="en-US"/>
              <a:t>在保持与</a:t>
            </a:r>
            <a:r>
              <a:rPr lang="en-US" altLang="zh-CN"/>
              <a:t>USB2.0</a:t>
            </a:r>
            <a:r>
              <a:rPr lang="zh-CN" altLang="en-US"/>
              <a:t>的兼容性的同时还提供增强功能：极大提高了带宽（高达</a:t>
            </a:r>
            <a:r>
              <a:rPr lang="en-US" altLang="zh-CN"/>
              <a:t>5Gbps</a:t>
            </a:r>
            <a:r>
              <a:rPr lang="zh-CN" altLang="en-US"/>
              <a:t>全双工）；更好的电源管理；提供更多的功率；更快地识别器件；数据处理效率更高。</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dirty="0"/>
              <a:t>56</a:t>
            </a:fld>
            <a:endParaRPr lang="en-US" altLang="zh-CN" dirty="0"/>
          </a:p>
        </p:txBody>
      </p:sp>
      <p:sp>
        <p:nvSpPr>
          <p:cNvPr id="63490" name="Rectangle 2"/>
          <p:cNvSpPr>
            <a:spLocks noGrp="1" noRot="1" noChangeAspect="1" noTextEdit="1"/>
          </p:cNvSpPr>
          <p:nvPr>
            <p:ph type="sldImg"/>
          </p:nvPr>
        </p:nvSpPr>
        <p:spPr/>
      </p:sp>
      <p:sp>
        <p:nvSpPr>
          <p:cNvPr id="63491" name="Rectangle 3"/>
          <p:cNvSpPr>
            <a:spLocks noGrp="1"/>
          </p:cNvSpPr>
          <p:nvPr>
            <p:ph type="body"/>
          </p:nvPr>
        </p:nvSpPr>
        <p:spPr/>
        <p:txBody>
          <a:bodyPr wrap="square" lIns="91440" tIns="45720" rIns="91440" bIns="45720" anchor="t" anchorCtr="0"/>
          <a:lstStyle/>
          <a:p>
            <a:pPr lvl="0" eaLnBrk="1" hangingPunct="1"/>
            <a:r>
              <a:rPr lang="en-US" altLang="zh-CN" dirty="0"/>
              <a:t>Crosstalk(</a:t>
            </a:r>
            <a:r>
              <a:rPr lang="zh-CN" altLang="en-US" dirty="0"/>
              <a:t>串扰</a:t>
            </a:r>
            <a:r>
              <a:rPr lang="en-US" altLang="zh-CN" dirty="0"/>
              <a:t>)</a:t>
            </a:r>
            <a:r>
              <a:rPr lang="zh-CN" altLang="en-US" dirty="0"/>
              <a:t>：是两条信号线之间的耦合、信号线之间的互感和互容引起线上的噪声。容性耦合引发耦合电流，而感性耦合引发耦合电压。 </a:t>
            </a:r>
            <a:r>
              <a:rPr lang="en-US" altLang="zh-CN" dirty="0"/>
              <a:t>PCB</a:t>
            </a:r>
            <a:r>
              <a:rPr lang="zh-CN" altLang="en-US" dirty="0"/>
              <a:t>板层的参数、信号线间距、驱动端和接收端的电气特性及线端接方式对串扰都有一定的影响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4883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2051" name="Rectangle 3"/>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4883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3075" name="Rectangle 3"/>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4883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t>‹#›</a:t>
            </a:fld>
            <a:endParaRPr lang="en-US" altLang="zh-CN"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en.wikipedia.org/wiki/Ken_Thompson" TargetMode="External"/><Relationship Id="rId4" Type="http://schemas.openxmlformats.org/officeDocument/2006/relationships/hyperlink" Target="http://en.wikipedia.org/wiki/Dennis_Ritchi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hyperlink" Target="http://www.rongchang.net/computer/photo/book/0029b.jpg"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8.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21858" name="Rectangle 2"/>
          <p:cNvSpPr>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第三章  系统总线</a:t>
            </a:r>
          </a:p>
        </p:txBody>
      </p:sp>
      <p:sp>
        <p:nvSpPr>
          <p:cNvPr id="5123" name="Text Box 3"/>
          <p:cNvSpPr txBox="1"/>
          <p:nvPr/>
        </p:nvSpPr>
        <p:spPr>
          <a:xfrm>
            <a:off x="2620963" y="1981200"/>
            <a:ext cx="2527300" cy="584200"/>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3.1  </a:t>
            </a:r>
            <a:r>
              <a:rPr lang="zh-CN" altLang="en-US" sz="3200" b="1" dirty="0">
                <a:latin typeface="Times New Roman" panose="02020603050405020304" pitchFamily="18" charset="0"/>
                <a:ea typeface="宋体" panose="02010600030101010101" pitchFamily="2" charset="-122"/>
              </a:rPr>
              <a:t>总线概述</a:t>
            </a:r>
          </a:p>
        </p:txBody>
      </p:sp>
      <p:sp>
        <p:nvSpPr>
          <p:cNvPr id="5124" name="Text Box 4"/>
          <p:cNvSpPr txBox="1"/>
          <p:nvPr/>
        </p:nvSpPr>
        <p:spPr>
          <a:xfrm>
            <a:off x="2590800" y="4876800"/>
            <a:ext cx="4495800" cy="584200"/>
          </a:xfrm>
          <a:prstGeom prst="rect">
            <a:avLst/>
          </a:prstGeom>
          <a:noFill/>
          <a:ln w="9525">
            <a:noFill/>
          </a:ln>
        </p:spPr>
        <p:txBody>
          <a:bodyPr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3.5  </a:t>
            </a:r>
            <a:r>
              <a:rPr lang="zh-CN" altLang="en-US" sz="3200" b="1" dirty="0">
                <a:latin typeface="Arial" panose="020B0604020202020204" pitchFamily="34" charset="0"/>
                <a:ea typeface="宋体" panose="02010600030101010101" pitchFamily="2" charset="-122"/>
              </a:rPr>
              <a:t>常用的总线标准</a:t>
            </a:r>
          </a:p>
        </p:txBody>
      </p:sp>
      <p:sp>
        <p:nvSpPr>
          <p:cNvPr id="5125" name="Text Box 5"/>
          <p:cNvSpPr txBox="1"/>
          <p:nvPr/>
        </p:nvSpPr>
        <p:spPr>
          <a:xfrm>
            <a:off x="2590800" y="3505200"/>
            <a:ext cx="2527300" cy="584200"/>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3.3  </a:t>
            </a:r>
            <a:r>
              <a:rPr lang="zh-CN" altLang="en-US" sz="3200" b="1" dirty="0">
                <a:latin typeface="Arial" panose="020B0604020202020204" pitchFamily="34" charset="0"/>
                <a:ea typeface="宋体" panose="02010600030101010101" pitchFamily="2" charset="-122"/>
              </a:rPr>
              <a:t>总线结构</a:t>
            </a:r>
          </a:p>
        </p:txBody>
      </p:sp>
      <p:sp>
        <p:nvSpPr>
          <p:cNvPr id="5126" name="Text Box 6"/>
          <p:cNvSpPr txBox="1"/>
          <p:nvPr/>
        </p:nvSpPr>
        <p:spPr>
          <a:xfrm>
            <a:off x="2590800" y="2743200"/>
            <a:ext cx="2527300" cy="584200"/>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3.2  </a:t>
            </a:r>
            <a:r>
              <a:rPr lang="zh-CN" altLang="en-US" sz="3200" b="1" dirty="0">
                <a:latin typeface="Arial" panose="020B0604020202020204" pitchFamily="34" charset="0"/>
                <a:ea typeface="宋体" panose="02010600030101010101" pitchFamily="2" charset="-122"/>
              </a:rPr>
              <a:t>总线控制</a:t>
            </a:r>
          </a:p>
        </p:txBody>
      </p:sp>
      <p:sp>
        <p:nvSpPr>
          <p:cNvPr id="5127" name="Text Box 7"/>
          <p:cNvSpPr txBox="1"/>
          <p:nvPr/>
        </p:nvSpPr>
        <p:spPr>
          <a:xfrm>
            <a:off x="2590800" y="4191000"/>
            <a:ext cx="5334000" cy="584200"/>
          </a:xfrm>
          <a:prstGeom prst="rect">
            <a:avLst/>
          </a:prstGeom>
          <a:noFill/>
          <a:ln w="9525">
            <a:noFill/>
          </a:ln>
        </p:spPr>
        <p:txBody>
          <a:bodyPr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3.4  </a:t>
            </a:r>
            <a:r>
              <a:rPr lang="zh-CN" altLang="en-US" sz="3200" b="1" dirty="0">
                <a:latin typeface="Arial" panose="020B0604020202020204" pitchFamily="34" charset="0"/>
                <a:ea typeface="宋体" panose="02010600030101010101" pitchFamily="2" charset="-122"/>
              </a:rPr>
              <a:t>总线的性能指标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8" name="AutoShape 4"/>
          <p:cNvSpPr/>
          <p:nvPr/>
        </p:nvSpPr>
        <p:spPr>
          <a:xfrm>
            <a:off x="1865313" y="5461000"/>
            <a:ext cx="7015162" cy="930275"/>
          </a:xfrm>
          <a:prstGeom prst="roundRect">
            <a:avLst>
              <a:gd name="adj" fmla="val 16667"/>
            </a:avLst>
          </a:prstGeom>
          <a:solidFill>
            <a:srgbClr val="FFFF99">
              <a:alpha val="7841"/>
            </a:srgbClr>
          </a:solidFill>
          <a:ln w="6350"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46790" name="Text Box 6"/>
          <p:cNvSpPr txBox="1"/>
          <p:nvPr/>
        </p:nvSpPr>
        <p:spPr>
          <a:xfrm>
            <a:off x="36513" y="1171575"/>
            <a:ext cx="2168525" cy="460375"/>
          </a:xfrm>
          <a:prstGeom prst="rect">
            <a:avLst/>
          </a:prstGeom>
          <a:noFill/>
          <a:ln w="25400">
            <a:noFill/>
          </a:ln>
        </p:spPr>
        <p:txBody>
          <a:bodyPr wrap="none" anchor="t" anchorCtr="0">
            <a:spAutoFit/>
          </a:bodyPr>
          <a:lstStyle/>
          <a:p>
            <a:pPr marL="342900" indent="-342900">
              <a:spcBef>
                <a:spcPct val="20000"/>
              </a:spcBef>
            </a:pPr>
            <a:r>
              <a:rPr lang="en-US" altLang="zh-CN" sz="2400" b="1" dirty="0">
                <a:latin typeface="Arial" panose="020B0604020202020204" pitchFamily="34" charset="0"/>
                <a:ea typeface="宋体" panose="02010600030101010101" pitchFamily="2" charset="-122"/>
              </a:rPr>
              <a:t>3.1.1 </a:t>
            </a:r>
            <a:r>
              <a:rPr lang="zh-CN" altLang="en-US" sz="2400" b="1" dirty="0">
                <a:latin typeface="Arial" panose="020B0604020202020204" pitchFamily="34" charset="0"/>
                <a:ea typeface="宋体" panose="02010600030101010101" pitchFamily="2" charset="-122"/>
              </a:rPr>
              <a:t>总线概述</a:t>
            </a:r>
          </a:p>
        </p:txBody>
      </p:sp>
      <p:grpSp>
        <p:nvGrpSpPr>
          <p:cNvPr id="246791" name="Group 7"/>
          <p:cNvGrpSpPr/>
          <p:nvPr/>
        </p:nvGrpSpPr>
        <p:grpSpPr>
          <a:xfrm>
            <a:off x="1162050" y="1701800"/>
            <a:ext cx="7118350" cy="3527425"/>
            <a:chOff x="249" y="754"/>
            <a:chExt cx="4355" cy="2222"/>
          </a:xfrm>
        </p:grpSpPr>
        <p:grpSp>
          <p:nvGrpSpPr>
            <p:cNvPr id="6148" name="Group 8"/>
            <p:cNvGrpSpPr/>
            <p:nvPr/>
          </p:nvGrpSpPr>
          <p:grpSpPr>
            <a:xfrm>
              <a:off x="249" y="1116"/>
              <a:ext cx="862" cy="1860"/>
              <a:chOff x="884" y="1116"/>
              <a:chExt cx="862" cy="1860"/>
            </a:xfrm>
          </p:grpSpPr>
          <p:sp>
            <p:nvSpPr>
              <p:cNvPr id="6149" name="Rectangle 9"/>
              <p:cNvSpPr/>
              <p:nvPr/>
            </p:nvSpPr>
            <p:spPr>
              <a:xfrm>
                <a:off x="884" y="1116"/>
                <a:ext cx="862" cy="1860"/>
              </a:xfrm>
              <a:prstGeom prst="rect">
                <a:avLst/>
              </a:prstGeom>
              <a:solidFill>
                <a:srgbClr val="FF9900">
                  <a:alpha val="12941"/>
                </a:srgbClr>
              </a:solidFill>
              <a:ln w="25400" cap="flat" cmpd="sng">
                <a:solidFill>
                  <a:srgbClr val="FF0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6150" name="Text Box 10"/>
              <p:cNvSpPr txBox="1"/>
              <p:nvPr/>
            </p:nvSpPr>
            <p:spPr>
              <a:xfrm>
                <a:off x="1020" y="1888"/>
                <a:ext cx="572" cy="327"/>
              </a:xfrm>
              <a:prstGeom prst="rect">
                <a:avLst/>
              </a:prstGeom>
              <a:noFill/>
              <a:ln w="25400">
                <a:noFill/>
              </a:ln>
            </p:spPr>
            <p:txBody>
              <a:bodyPr wrap="none" anchor="t" anchorCtr="0">
                <a:spAutoFit/>
              </a:bodyPr>
              <a:lstStyle/>
              <a:p>
                <a:pPr marL="342900" indent="-342900">
                  <a:spcBef>
                    <a:spcPct val="20000"/>
                  </a:spcBef>
                </a:pPr>
                <a:r>
                  <a:rPr lang="en-US" altLang="zh-CN" sz="2800" b="1" dirty="0">
                    <a:latin typeface="Arial" panose="020B0604020202020204" pitchFamily="34" charset="0"/>
                    <a:ea typeface="宋体" panose="02010600030101010101" pitchFamily="2" charset="-122"/>
                  </a:rPr>
                  <a:t>CPU</a:t>
                </a:r>
              </a:p>
            </p:txBody>
          </p:sp>
        </p:grpSp>
        <p:grpSp>
          <p:nvGrpSpPr>
            <p:cNvPr id="6151" name="Group 11"/>
            <p:cNvGrpSpPr/>
            <p:nvPr/>
          </p:nvGrpSpPr>
          <p:grpSpPr>
            <a:xfrm>
              <a:off x="2244" y="1480"/>
              <a:ext cx="727" cy="1134"/>
              <a:chOff x="2244" y="1480"/>
              <a:chExt cx="727" cy="1134"/>
            </a:xfrm>
          </p:grpSpPr>
          <p:sp>
            <p:nvSpPr>
              <p:cNvPr id="6152" name="Rectangle 12"/>
              <p:cNvSpPr/>
              <p:nvPr/>
            </p:nvSpPr>
            <p:spPr>
              <a:xfrm>
                <a:off x="2244" y="1480"/>
                <a:ext cx="727" cy="1134"/>
              </a:xfrm>
              <a:prstGeom prst="rect">
                <a:avLst/>
              </a:prstGeom>
              <a:solidFill>
                <a:srgbClr val="99CC00">
                  <a:alpha val="20000"/>
                </a:srgbClr>
              </a:solidFill>
              <a:ln w="25400" cap="flat" cmpd="sng">
                <a:solidFill>
                  <a:srgbClr val="00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6153" name="Text Box 13"/>
              <p:cNvSpPr txBox="1"/>
              <p:nvPr/>
            </p:nvSpPr>
            <p:spPr>
              <a:xfrm>
                <a:off x="2381" y="1888"/>
                <a:ext cx="423" cy="250"/>
              </a:xfrm>
              <a:prstGeom prst="rect">
                <a:avLst/>
              </a:prstGeom>
              <a:noFill/>
              <a:ln w="25400">
                <a:noFill/>
              </a:ln>
            </p:spPr>
            <p:txBody>
              <a:bodyPr wrap="none" anchor="t" anchorCtr="0">
                <a:spAutoFit/>
              </a:bodyPr>
              <a:lstStyle/>
              <a:p>
                <a:pPr marL="342900" indent="-342900">
                  <a:spcBef>
                    <a:spcPct val="20000"/>
                  </a:spcBef>
                </a:pPr>
                <a:r>
                  <a:rPr lang="zh-CN" altLang="en-US" sz="2000" b="1" dirty="0">
                    <a:latin typeface="Arial" panose="020B0604020202020204" pitchFamily="34" charset="0"/>
                    <a:ea typeface="宋体" panose="02010600030101010101" pitchFamily="2" charset="-122"/>
                  </a:rPr>
                  <a:t>内存</a:t>
                </a:r>
              </a:p>
            </p:txBody>
          </p:sp>
        </p:grpSp>
        <p:grpSp>
          <p:nvGrpSpPr>
            <p:cNvPr id="6154" name="Group 14"/>
            <p:cNvGrpSpPr/>
            <p:nvPr/>
          </p:nvGrpSpPr>
          <p:grpSpPr>
            <a:xfrm>
              <a:off x="3606" y="754"/>
              <a:ext cx="998" cy="453"/>
              <a:chOff x="3606" y="754"/>
              <a:chExt cx="998" cy="453"/>
            </a:xfrm>
          </p:grpSpPr>
          <p:sp>
            <p:nvSpPr>
              <p:cNvPr id="6155" name="Rectangle 15"/>
              <p:cNvSpPr/>
              <p:nvPr/>
            </p:nvSpPr>
            <p:spPr>
              <a:xfrm>
                <a:off x="3606" y="754"/>
                <a:ext cx="998" cy="453"/>
              </a:xfrm>
              <a:prstGeom prst="rect">
                <a:avLst/>
              </a:prstGeom>
              <a:solidFill>
                <a:srgbClr val="CC99FF">
                  <a:alpha val="25098"/>
                </a:srgbClr>
              </a:solidFill>
              <a:ln w="25400" cap="flat" cmpd="sng">
                <a:solidFill>
                  <a:srgbClr val="FF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6156" name="Text Box 16"/>
              <p:cNvSpPr txBox="1"/>
              <p:nvPr/>
            </p:nvSpPr>
            <p:spPr>
              <a:xfrm>
                <a:off x="3878" y="845"/>
                <a:ext cx="423" cy="250"/>
              </a:xfrm>
              <a:prstGeom prst="rect">
                <a:avLst/>
              </a:prstGeom>
              <a:noFill/>
              <a:ln w="25400">
                <a:noFill/>
              </a:ln>
            </p:spPr>
            <p:txBody>
              <a:bodyPr wrap="none" anchor="t" anchorCtr="0">
                <a:spAutoFit/>
              </a:bodyPr>
              <a:lstStyle/>
              <a:p>
                <a:pPr marL="342900" indent="-342900">
                  <a:spcBef>
                    <a:spcPct val="20000"/>
                  </a:spcBef>
                </a:pPr>
                <a:r>
                  <a:rPr lang="zh-CN" altLang="en-US" sz="2000" b="1" dirty="0">
                    <a:latin typeface="Arial" panose="020B0604020202020204" pitchFamily="34" charset="0"/>
                    <a:ea typeface="宋体" panose="02010600030101010101" pitchFamily="2" charset="-122"/>
                  </a:rPr>
                  <a:t>网卡</a:t>
                </a:r>
              </a:p>
            </p:txBody>
          </p:sp>
        </p:grpSp>
        <p:grpSp>
          <p:nvGrpSpPr>
            <p:cNvPr id="6157" name="Group 17"/>
            <p:cNvGrpSpPr/>
            <p:nvPr/>
          </p:nvGrpSpPr>
          <p:grpSpPr>
            <a:xfrm>
              <a:off x="3606" y="1571"/>
              <a:ext cx="998" cy="453"/>
              <a:chOff x="3606" y="754"/>
              <a:chExt cx="998" cy="453"/>
            </a:xfrm>
          </p:grpSpPr>
          <p:sp>
            <p:nvSpPr>
              <p:cNvPr id="6158" name="Rectangle 18"/>
              <p:cNvSpPr/>
              <p:nvPr/>
            </p:nvSpPr>
            <p:spPr>
              <a:xfrm>
                <a:off x="3606" y="754"/>
                <a:ext cx="998" cy="453"/>
              </a:xfrm>
              <a:prstGeom prst="rect">
                <a:avLst/>
              </a:prstGeom>
              <a:solidFill>
                <a:srgbClr val="FFCC99">
                  <a:alpha val="25098"/>
                </a:srgbClr>
              </a:solidFill>
              <a:ln w="25400" cap="flat" cmpd="sng">
                <a:solidFill>
                  <a:srgbClr val="FF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6159" name="Text Box 19"/>
              <p:cNvSpPr txBox="1"/>
              <p:nvPr/>
            </p:nvSpPr>
            <p:spPr>
              <a:xfrm>
                <a:off x="3878" y="845"/>
                <a:ext cx="423" cy="250"/>
              </a:xfrm>
              <a:prstGeom prst="rect">
                <a:avLst/>
              </a:prstGeom>
              <a:solidFill>
                <a:srgbClr val="FFCC99"/>
              </a:solidFill>
              <a:ln w="25400">
                <a:noFill/>
              </a:ln>
            </p:spPr>
            <p:txBody>
              <a:bodyPr wrap="none" anchor="t" anchorCtr="0">
                <a:spAutoFit/>
              </a:bodyPr>
              <a:lstStyle/>
              <a:p>
                <a:pPr marL="342900" indent="-342900">
                  <a:spcBef>
                    <a:spcPct val="20000"/>
                  </a:spcBef>
                </a:pPr>
                <a:r>
                  <a:rPr lang="zh-CN" altLang="en-US" sz="2000" b="1" dirty="0">
                    <a:latin typeface="Arial" panose="020B0604020202020204" pitchFamily="34" charset="0"/>
                    <a:ea typeface="宋体" panose="02010600030101010101" pitchFamily="2" charset="-122"/>
                  </a:rPr>
                  <a:t>显卡</a:t>
                </a:r>
              </a:p>
            </p:txBody>
          </p:sp>
        </p:grpSp>
        <p:grpSp>
          <p:nvGrpSpPr>
            <p:cNvPr id="6160" name="Group 20"/>
            <p:cNvGrpSpPr/>
            <p:nvPr/>
          </p:nvGrpSpPr>
          <p:grpSpPr>
            <a:xfrm>
              <a:off x="3605" y="2295"/>
              <a:ext cx="953" cy="409"/>
              <a:chOff x="3605" y="2295"/>
              <a:chExt cx="953" cy="409"/>
            </a:xfrm>
          </p:grpSpPr>
          <p:sp>
            <p:nvSpPr>
              <p:cNvPr id="6161" name="Rectangle 21"/>
              <p:cNvSpPr/>
              <p:nvPr/>
            </p:nvSpPr>
            <p:spPr>
              <a:xfrm>
                <a:off x="3605" y="2295"/>
                <a:ext cx="953" cy="409"/>
              </a:xfrm>
              <a:prstGeom prst="rect">
                <a:avLst/>
              </a:prstGeom>
              <a:solidFill>
                <a:srgbClr val="CCFFCC">
                  <a:alpha val="30196"/>
                </a:srgbClr>
              </a:solidFill>
              <a:ln w="25400" cap="flat" cmpd="sng">
                <a:solidFill>
                  <a:srgbClr val="993366"/>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6162" name="Text Box 22"/>
              <p:cNvSpPr txBox="1"/>
              <p:nvPr/>
            </p:nvSpPr>
            <p:spPr>
              <a:xfrm>
                <a:off x="3878" y="2387"/>
                <a:ext cx="423" cy="250"/>
              </a:xfrm>
              <a:prstGeom prst="rect">
                <a:avLst/>
              </a:prstGeom>
              <a:noFill/>
              <a:ln w="25400">
                <a:noFill/>
              </a:ln>
            </p:spPr>
            <p:txBody>
              <a:bodyPr wrap="none" anchor="t" anchorCtr="0">
                <a:spAutoFit/>
              </a:bodyPr>
              <a:lstStyle/>
              <a:p>
                <a:pPr marL="342900" indent="-342900">
                  <a:spcBef>
                    <a:spcPct val="20000"/>
                  </a:spcBef>
                </a:pPr>
                <a:r>
                  <a:rPr lang="zh-CN" altLang="en-US" sz="2000" b="1" dirty="0">
                    <a:latin typeface="Arial" panose="020B0604020202020204" pitchFamily="34" charset="0"/>
                    <a:ea typeface="宋体" panose="02010600030101010101" pitchFamily="2" charset="-122"/>
                  </a:rPr>
                  <a:t>声卡</a:t>
                </a:r>
              </a:p>
            </p:txBody>
          </p:sp>
        </p:grpSp>
        <p:grpSp>
          <p:nvGrpSpPr>
            <p:cNvPr id="6163" name="Group 23"/>
            <p:cNvGrpSpPr/>
            <p:nvPr/>
          </p:nvGrpSpPr>
          <p:grpSpPr>
            <a:xfrm>
              <a:off x="1973" y="754"/>
              <a:ext cx="1180" cy="453"/>
              <a:chOff x="1973" y="754"/>
              <a:chExt cx="1180" cy="453"/>
            </a:xfrm>
          </p:grpSpPr>
          <p:sp>
            <p:nvSpPr>
              <p:cNvPr id="6164" name="Rectangle 24"/>
              <p:cNvSpPr/>
              <p:nvPr/>
            </p:nvSpPr>
            <p:spPr>
              <a:xfrm>
                <a:off x="1973" y="754"/>
                <a:ext cx="1180" cy="453"/>
              </a:xfrm>
              <a:prstGeom prst="rect">
                <a:avLst/>
              </a:prstGeom>
              <a:solidFill>
                <a:srgbClr val="FFCC00">
                  <a:alpha val="18822"/>
                </a:srgbClr>
              </a:solidFill>
              <a:ln w="25400" cap="flat" cmpd="sng">
                <a:solidFill>
                  <a:srgbClr val="00FF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6165" name="Text Box 25"/>
              <p:cNvSpPr txBox="1"/>
              <p:nvPr/>
            </p:nvSpPr>
            <p:spPr>
              <a:xfrm>
                <a:off x="2200" y="845"/>
                <a:ext cx="777" cy="250"/>
              </a:xfrm>
              <a:prstGeom prst="rect">
                <a:avLst/>
              </a:prstGeom>
              <a:noFill/>
              <a:ln w="25400">
                <a:noFill/>
              </a:ln>
            </p:spPr>
            <p:txBody>
              <a:bodyPr wrap="none" anchor="t" anchorCtr="0">
                <a:spAutoFit/>
              </a:bodyPr>
              <a:lstStyle/>
              <a:p>
                <a:pPr marL="342900" indent="-342900">
                  <a:spcBef>
                    <a:spcPct val="20000"/>
                  </a:spcBef>
                </a:pPr>
                <a:r>
                  <a:rPr lang="zh-CN" altLang="en-US" sz="2000" b="1" dirty="0">
                    <a:latin typeface="Arial" panose="020B0604020202020204" pitchFamily="34" charset="0"/>
                    <a:ea typeface="宋体" panose="02010600030101010101" pitchFamily="2" charset="-122"/>
                  </a:rPr>
                  <a:t>键盘</a:t>
                </a:r>
                <a:r>
                  <a:rPr lang="en-US" altLang="zh-CN" sz="2000" b="1" dirty="0">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鼠标</a:t>
                </a:r>
              </a:p>
            </p:txBody>
          </p:sp>
        </p:grpSp>
      </p:grpSp>
      <p:sp>
        <p:nvSpPr>
          <p:cNvPr id="246810" name="Text Box 26"/>
          <p:cNvSpPr txBox="1"/>
          <p:nvPr/>
        </p:nvSpPr>
        <p:spPr>
          <a:xfrm>
            <a:off x="2008188" y="5421313"/>
            <a:ext cx="3881437" cy="396875"/>
          </a:xfrm>
          <a:prstGeom prst="rect">
            <a:avLst/>
          </a:prstGeom>
          <a:noFill/>
          <a:ln w="25400">
            <a:noFill/>
          </a:ln>
        </p:spPr>
        <p:txBody>
          <a:bodyPr wrap="none" anchor="t" anchorCtr="0">
            <a:spAutoFit/>
          </a:bodyPr>
          <a:lstStyle/>
          <a:p>
            <a:pPr marL="342900" indent="-342900">
              <a:spcBef>
                <a:spcPct val="20000"/>
              </a:spcBef>
            </a:pPr>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1</a:t>
            </a:r>
            <a:r>
              <a:rPr lang="zh-CN" altLang="en-US" sz="2000" b="1" dirty="0">
                <a:latin typeface="Arial" panose="020B0604020202020204" pitchFamily="34" charset="0"/>
                <a:ea typeface="宋体" panose="02010600030101010101" pitchFamily="2" charset="-122"/>
              </a:rPr>
              <a:t>）这些部件如何进行连接呢？</a:t>
            </a:r>
          </a:p>
        </p:txBody>
      </p:sp>
      <p:sp>
        <p:nvSpPr>
          <p:cNvPr id="246811" name="Text Box 27"/>
          <p:cNvSpPr txBox="1"/>
          <p:nvPr/>
        </p:nvSpPr>
        <p:spPr>
          <a:xfrm>
            <a:off x="2008188" y="5943600"/>
            <a:ext cx="6675437" cy="396875"/>
          </a:xfrm>
          <a:prstGeom prst="rect">
            <a:avLst/>
          </a:prstGeom>
          <a:noFill/>
          <a:ln w="25400">
            <a:noFill/>
          </a:ln>
        </p:spPr>
        <p:txBody>
          <a:bodyPr wrap="none" anchor="t" anchorCtr="0">
            <a:spAutoFit/>
          </a:bodyPr>
          <a:lstStyle/>
          <a:p>
            <a:pPr marL="342900" indent="-342900">
              <a:spcBef>
                <a:spcPct val="20000"/>
              </a:spcBef>
            </a:pPr>
            <a:r>
              <a:rPr lang="zh-CN" altLang="en-US" sz="2000" b="1" dirty="0">
                <a:latin typeface="Arial" panose="020B0604020202020204" pitchFamily="34" charset="0"/>
                <a:ea typeface="宋体" panose="02010600030101010101" pitchFamily="2" charset="-122"/>
              </a:rPr>
              <a:t>（</a:t>
            </a:r>
            <a:r>
              <a:rPr lang="en-US" altLang="zh-CN" sz="2000" b="1" dirty="0">
                <a:latin typeface="Arial" panose="020B0604020202020204" pitchFamily="34" charset="0"/>
                <a:ea typeface="宋体" panose="02010600030101010101" pitchFamily="2" charset="-122"/>
              </a:rPr>
              <a:t>2</a:t>
            </a:r>
            <a:r>
              <a:rPr lang="zh-CN" altLang="en-US" sz="2000" b="1" dirty="0">
                <a:latin typeface="Arial" panose="020B0604020202020204" pitchFamily="34" charset="0"/>
                <a:ea typeface="宋体" panose="02010600030101010101" pitchFamily="2" charset="-122"/>
              </a:rPr>
              <a:t>）如果其中的某些部件损坏了，买来新的能否兼容呢？</a:t>
            </a:r>
          </a:p>
        </p:txBody>
      </p:sp>
      <p:sp>
        <p:nvSpPr>
          <p:cNvPr id="246812" name="AutoShape 28"/>
          <p:cNvSpPr/>
          <p:nvPr/>
        </p:nvSpPr>
        <p:spPr>
          <a:xfrm>
            <a:off x="350838" y="5462588"/>
            <a:ext cx="1466850" cy="882650"/>
          </a:xfrm>
          <a:prstGeom prst="roundRect">
            <a:avLst>
              <a:gd name="adj" fmla="val 16667"/>
            </a:avLst>
          </a:prstGeom>
          <a:solidFill>
            <a:srgbClr val="3366FF"/>
          </a:solidFill>
          <a:ln w="6350">
            <a:noFill/>
          </a:ln>
        </p:spPr>
        <p:txBody>
          <a:bodyPr wrap="none" anchor="ctr" anchorCtr="0"/>
          <a:lstStyle/>
          <a:p>
            <a:pPr marL="342900" indent="-342900" algn="ctr">
              <a:spcBef>
                <a:spcPct val="20000"/>
              </a:spcBef>
            </a:pPr>
            <a:r>
              <a:rPr lang="zh-CN" altLang="en-US" sz="5000" b="1" dirty="0">
                <a:solidFill>
                  <a:srgbClr val="F8F8F8"/>
                </a:solidFill>
                <a:latin typeface="Arial" panose="020B0604020202020204" pitchFamily="34" charset="0"/>
                <a:ea typeface="宋体" panose="02010600030101010101" pitchFamily="2" charset="-122"/>
              </a:rPr>
              <a:t>思考</a:t>
            </a:r>
          </a:p>
        </p:txBody>
      </p:sp>
      <p:sp>
        <p:nvSpPr>
          <p:cNvPr id="246813" name="AutoShape 29"/>
          <p:cNvSpPr/>
          <p:nvPr/>
        </p:nvSpPr>
        <p:spPr>
          <a:xfrm>
            <a:off x="252413" y="1628775"/>
            <a:ext cx="8748712" cy="3671888"/>
          </a:xfrm>
          <a:prstGeom prst="roundRect">
            <a:avLst>
              <a:gd name="adj" fmla="val 16667"/>
            </a:avLst>
          </a:prstGeom>
          <a:noFill/>
          <a:ln w="3175" cap="flat" cmpd="sng">
            <a:solidFill>
              <a:schemeClr val="tx1"/>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46814" name="Rectangle 30"/>
          <p:cNvSpPr>
            <a:spLocks noGrp="1"/>
          </p:cNvSpPr>
          <p:nvPr>
            <p:ph type="title"/>
          </p:nvPr>
        </p:nvSpPr>
        <p:spPr>
          <a:xfrm>
            <a:off x="304800" y="228600"/>
            <a:ext cx="8229600" cy="1017588"/>
          </a:xfrm>
        </p:spPr>
        <p:txBody>
          <a:bodyPr vert="horz" wrap="square" lIns="91440" tIns="45720" rIns="91440" bIns="45720" anchor="ctr" anchorCtr="1"/>
          <a:lstStyle/>
          <a:p>
            <a:pPr eaLnBrk="1" hangingPunct="1"/>
            <a:r>
              <a:rPr lang="en-US" altLang="zh-CN" b="1" dirty="0">
                <a:solidFill>
                  <a:schemeClr val="tx1"/>
                </a:solidFill>
              </a:rPr>
              <a:t>3.1  </a:t>
            </a:r>
            <a:r>
              <a:rPr lang="zh-CN" altLang="en-US" b="1" dirty="0">
                <a:solidFill>
                  <a:schemeClr val="tx1"/>
                </a:solidFill>
              </a:rPr>
              <a:t>总线概述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246814"/>
                                        </p:tgtEl>
                                        <p:attrNameLst>
                                          <p:attrName>style.visibility</p:attrName>
                                        </p:attrNameLst>
                                      </p:cBhvr>
                                      <p:to>
                                        <p:strVal val="visible"/>
                                      </p:to>
                                    </p:set>
                                    <p:animEffect transition="in" filter="blinds(horizontal)">
                                      <p:cBhvr>
                                        <p:cTn id="7" dur="500"/>
                                        <p:tgtEl>
                                          <p:spTgt spid="2468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6790"/>
                                        </p:tgtEl>
                                        <p:attrNameLst>
                                          <p:attrName>style.visibility</p:attrName>
                                        </p:attrNameLst>
                                      </p:cBhvr>
                                      <p:to>
                                        <p:strVal val="visible"/>
                                      </p:to>
                                    </p:set>
                                    <p:animEffect transition="in" filter="blinds(horizontal)">
                                      <p:cBhvr>
                                        <p:cTn id="12" dur="500"/>
                                        <p:tgtEl>
                                          <p:spTgt spid="246790"/>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nodeType="clickEffect">
                                  <p:stCondLst>
                                    <p:cond delay="0"/>
                                  </p:stCondLst>
                                  <p:childTnLst>
                                    <p:set>
                                      <p:cBhvr>
                                        <p:cTn id="16" dur="1" fill="hold">
                                          <p:stCondLst>
                                            <p:cond delay="0"/>
                                          </p:stCondLst>
                                        </p:cTn>
                                        <p:tgtEl>
                                          <p:spTgt spid="246791"/>
                                        </p:tgtEl>
                                        <p:attrNameLst>
                                          <p:attrName>style.visibility</p:attrName>
                                        </p:attrNameLst>
                                      </p:cBhvr>
                                      <p:to>
                                        <p:strVal val="visible"/>
                                      </p:to>
                                    </p:set>
                                    <p:animEffect transition="in" filter="plus(in)">
                                      <p:cBhvr>
                                        <p:cTn id="17" dur="2000"/>
                                        <p:tgtEl>
                                          <p:spTgt spid="246791"/>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46813"/>
                                        </p:tgtEl>
                                        <p:attrNameLst>
                                          <p:attrName>style.visibility</p:attrName>
                                        </p:attrNameLst>
                                      </p:cBhvr>
                                      <p:to>
                                        <p:strVal val="visible"/>
                                      </p:to>
                                    </p:set>
                                    <p:animEffect transition="in" filter="dissolve">
                                      <p:cBhvr>
                                        <p:cTn id="20" dur="1000"/>
                                        <p:tgtEl>
                                          <p:spTgt spid="24681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46788"/>
                                        </p:tgtEl>
                                        <p:attrNameLst>
                                          <p:attrName>style.visibility</p:attrName>
                                        </p:attrNameLst>
                                      </p:cBhvr>
                                      <p:to>
                                        <p:strVal val="visible"/>
                                      </p:to>
                                    </p:set>
                                    <p:animEffect transition="in" filter="dissolve">
                                      <p:cBhvr>
                                        <p:cTn id="25" dur="1000"/>
                                        <p:tgtEl>
                                          <p:spTgt spid="24678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810"/>
                                        </p:tgtEl>
                                        <p:attrNameLst>
                                          <p:attrName>style.visibility</p:attrName>
                                        </p:attrNameLst>
                                      </p:cBhvr>
                                      <p:to>
                                        <p:strVal val="visible"/>
                                      </p:to>
                                    </p:set>
                                    <p:animEffect transition="in" filter="dissolve">
                                      <p:cBhvr>
                                        <p:cTn id="28" dur="1000"/>
                                        <p:tgtEl>
                                          <p:spTgt spid="2468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6811"/>
                                        </p:tgtEl>
                                        <p:attrNameLst>
                                          <p:attrName>style.visibility</p:attrName>
                                        </p:attrNameLst>
                                      </p:cBhvr>
                                      <p:to>
                                        <p:strVal val="visible"/>
                                      </p:to>
                                    </p:set>
                                    <p:animEffect transition="in" filter="dissolve">
                                      <p:cBhvr>
                                        <p:cTn id="31" dur="1000"/>
                                        <p:tgtEl>
                                          <p:spTgt spid="2468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46812"/>
                                        </p:tgtEl>
                                        <p:attrNameLst>
                                          <p:attrName>style.visibility</p:attrName>
                                        </p:attrNameLst>
                                      </p:cBhvr>
                                      <p:to>
                                        <p:strVal val="visible"/>
                                      </p:to>
                                    </p:set>
                                    <p:animEffect transition="in" filter="dissolve">
                                      <p:cBhvr>
                                        <p:cTn id="34" dur="1000"/>
                                        <p:tgtEl>
                                          <p:spTgt spid="24681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6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8" grpId="0" bldLvl="0" animBg="1"/>
      <p:bldP spid="246790" grpId="0"/>
      <p:bldP spid="246810" grpId="0"/>
      <p:bldP spid="246811" grpId="0"/>
      <p:bldP spid="246812" grpId="0" bldLvl="0" animBg="1"/>
      <p:bldP spid="246813" grpId="0" bldLvl="0" animBg="1"/>
      <p:bldP spid="246814" grpId="0"/>
      <p:bldP spid="24681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3"/>
          <p:cNvSpPr>
            <a:spLocks noGrp="1"/>
          </p:cNvSpPr>
          <p:nvPr>
            <p:ph idx="4294967295"/>
          </p:nvPr>
        </p:nvSpPr>
        <p:spPr>
          <a:xfrm>
            <a:off x="0" y="762000"/>
            <a:ext cx="8153400" cy="609600"/>
          </a:xfrm>
        </p:spPr>
        <p:txBody>
          <a:bodyPr vert="horz" wrap="square" lIns="91440" tIns="45720" rIns="91440" bIns="45720" anchor="t" anchorCtr="0"/>
          <a:lstStyle/>
          <a:p>
            <a:pPr eaLnBrk="1" hangingPunct="1">
              <a:buNone/>
            </a:pPr>
            <a:r>
              <a:rPr lang="zh-CN" altLang="en-US" b="1" dirty="0"/>
              <a:t>为什么要用总线</a:t>
            </a:r>
            <a:endParaRPr lang="zh-CN" altLang="en-US" b="1" dirty="0">
              <a:solidFill>
                <a:schemeClr val="hlink"/>
              </a:solidFill>
            </a:endParaRPr>
          </a:p>
        </p:txBody>
      </p:sp>
      <p:sp>
        <p:nvSpPr>
          <p:cNvPr id="250884" name="Text Box 4"/>
          <p:cNvSpPr txBox="1"/>
          <p:nvPr/>
        </p:nvSpPr>
        <p:spPr>
          <a:xfrm>
            <a:off x="457200" y="1447800"/>
            <a:ext cx="8686800" cy="522288"/>
          </a:xfrm>
          <a:prstGeom prst="rect">
            <a:avLst/>
          </a:prstGeom>
          <a:noFill/>
          <a:ln w="9525">
            <a:noFill/>
          </a:ln>
        </p:spPr>
        <p:txBody>
          <a:bodyPr anchor="t" anchorCtr="0">
            <a:spAutoFit/>
          </a:bodyPr>
          <a:lstStyle/>
          <a:p>
            <a:pPr>
              <a:buClrTx/>
              <a:buFontTx/>
            </a:pPr>
            <a:r>
              <a:rPr lang="zh-CN" altLang="en-US" sz="2800" b="1" dirty="0">
                <a:latin typeface="Arial" panose="020B0604020202020204" pitchFamily="34" charset="0"/>
                <a:ea typeface="宋体" panose="02010600030101010101" pitchFamily="2" charset="-122"/>
              </a:rPr>
              <a:t>机内部件间互连方式：</a:t>
            </a:r>
            <a:endParaRPr lang="zh-CN" altLang="en-US" sz="2800" dirty="0">
              <a:latin typeface="Arial" panose="020B0604020202020204" pitchFamily="34" charset="0"/>
              <a:ea typeface="宋体" panose="02010600030101010101" pitchFamily="2" charset="-122"/>
            </a:endParaRPr>
          </a:p>
        </p:txBody>
      </p:sp>
      <p:sp>
        <p:nvSpPr>
          <p:cNvPr id="250885" name="Text Box 5"/>
          <p:cNvSpPr txBox="1"/>
          <p:nvPr/>
        </p:nvSpPr>
        <p:spPr>
          <a:xfrm>
            <a:off x="533400" y="2057400"/>
            <a:ext cx="7772400" cy="522288"/>
          </a:xfrm>
          <a:prstGeom prst="rect">
            <a:avLst/>
          </a:prstGeom>
          <a:noFill/>
          <a:ln w="9525">
            <a:noFill/>
          </a:ln>
        </p:spPr>
        <p:txBody>
          <a:bodyPr anchor="t" anchorCtr="0">
            <a:spAutoFit/>
          </a:bodyPr>
          <a:lstStyle/>
          <a:p>
            <a:pPr>
              <a:buClrTx/>
              <a:buFontTx/>
            </a:pPr>
            <a:r>
              <a:rPr lang="zh-CN" altLang="en-US" sz="2800" b="1" dirty="0">
                <a:latin typeface="Arial" panose="020B0604020202020204" pitchFamily="34" charset="0"/>
                <a:ea typeface="宋体" panose="02010600030101010101" pitchFamily="2" charset="-122"/>
              </a:rPr>
              <a:t>早期：分散连接</a:t>
            </a:r>
            <a:endParaRPr lang="zh-CN" altLang="en-US" sz="2800" dirty="0">
              <a:latin typeface="Arial" panose="020B0604020202020204" pitchFamily="34" charset="0"/>
              <a:ea typeface="宋体" panose="02010600030101010101" pitchFamily="2" charset="-122"/>
            </a:endParaRPr>
          </a:p>
        </p:txBody>
      </p:sp>
      <p:sp>
        <p:nvSpPr>
          <p:cNvPr id="250886" name="Text Box 6"/>
          <p:cNvSpPr txBox="1"/>
          <p:nvPr/>
        </p:nvSpPr>
        <p:spPr>
          <a:xfrm>
            <a:off x="381000" y="2514600"/>
            <a:ext cx="8382000" cy="1384300"/>
          </a:xfrm>
          <a:prstGeom prst="rect">
            <a:avLst/>
          </a:prstGeom>
          <a:noFill/>
          <a:ln w="9525">
            <a:noFill/>
          </a:ln>
        </p:spPr>
        <p:txBody>
          <a:bodyPr anchor="t" anchorCtr="0">
            <a:spAutoFit/>
          </a:bodyPr>
          <a:lstStyle/>
          <a:p>
            <a:pPr>
              <a:buClrTx/>
              <a:buFontTx/>
            </a:pP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以运算器为核心，内部连线复杂，尤其是当</a:t>
            </a:r>
            <a:r>
              <a:rPr lang="en-US" altLang="zh-CN" sz="2800" b="1" dirty="0">
                <a:latin typeface="Arial" panose="020B0604020202020204" pitchFamily="34" charset="0"/>
                <a:ea typeface="宋体" panose="02010600030101010101" pitchFamily="2" charset="-122"/>
              </a:rPr>
              <a:t>I/O</a:t>
            </a:r>
            <a:r>
              <a:rPr lang="zh-CN" altLang="en-US" sz="2800" b="1" dirty="0">
                <a:latin typeface="Arial" panose="020B0604020202020204" pitchFamily="34" charset="0"/>
                <a:ea typeface="宋体" panose="02010600030101010101" pitchFamily="2" charset="-122"/>
              </a:rPr>
              <a:t>与存储器交换信息时，都需要经过运算器，严重影响</a:t>
            </a:r>
            <a:r>
              <a:rPr lang="en-US" altLang="zh-CN" sz="2800" b="1" dirty="0">
                <a:latin typeface="Arial" panose="020B0604020202020204" pitchFamily="34" charset="0"/>
                <a:ea typeface="宋体" panose="02010600030101010101" pitchFamily="2" charset="-122"/>
              </a:rPr>
              <a:t>CPU</a:t>
            </a:r>
            <a:r>
              <a:rPr lang="zh-CN" altLang="en-US" sz="2800" b="1" dirty="0">
                <a:latin typeface="Arial" panose="020B0604020202020204" pitchFamily="34" charset="0"/>
                <a:ea typeface="宋体" panose="02010600030101010101" pitchFamily="2" charset="-122"/>
              </a:rPr>
              <a:t>的工作效率。</a:t>
            </a:r>
            <a:endParaRPr lang="zh-CN" altLang="en-US" sz="2800" dirty="0">
              <a:latin typeface="Arial" panose="020B0604020202020204" pitchFamily="34" charset="0"/>
              <a:ea typeface="宋体" panose="02010600030101010101" pitchFamily="2" charset="-122"/>
            </a:endParaRPr>
          </a:p>
        </p:txBody>
      </p:sp>
      <p:sp>
        <p:nvSpPr>
          <p:cNvPr id="250887" name="Text Box 7"/>
          <p:cNvSpPr txBox="1"/>
          <p:nvPr/>
        </p:nvSpPr>
        <p:spPr>
          <a:xfrm>
            <a:off x="457200" y="3962400"/>
            <a:ext cx="8458200" cy="1384300"/>
          </a:xfrm>
          <a:prstGeom prst="rect">
            <a:avLst/>
          </a:prstGeom>
          <a:noFill/>
          <a:ln w="9525">
            <a:noFill/>
          </a:ln>
        </p:spPr>
        <p:txBody>
          <a:bodyPr anchor="t" anchorCtr="0">
            <a:spAutoFit/>
          </a:bodyPr>
          <a:lstStyle/>
          <a:p>
            <a:pPr>
              <a:buClrTx/>
              <a:buFontTx/>
            </a:pP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采用存储器为核心的分散连接结构，虽采用中断、</a:t>
            </a:r>
            <a:r>
              <a:rPr lang="en-US" altLang="zh-CN" sz="2800" b="1" dirty="0">
                <a:latin typeface="Arial" panose="020B0604020202020204" pitchFamily="34" charset="0"/>
                <a:ea typeface="宋体" panose="02010600030101010101" pitchFamily="2" charset="-122"/>
              </a:rPr>
              <a:t>DMA</a:t>
            </a:r>
            <a:r>
              <a:rPr lang="zh-CN" altLang="en-US" sz="2800" b="1" dirty="0">
                <a:latin typeface="Arial" panose="020B0604020202020204" pitchFamily="34" charset="0"/>
                <a:ea typeface="宋体" panose="02010600030101010101" pitchFamily="2" charset="-122"/>
              </a:rPr>
              <a:t>等技术，仍无法解决</a:t>
            </a:r>
            <a:r>
              <a:rPr lang="en-US" altLang="zh-CN" sz="2800" b="1" dirty="0">
                <a:latin typeface="Arial" panose="020B0604020202020204" pitchFamily="34" charset="0"/>
                <a:ea typeface="宋体" panose="02010600030101010101" pitchFamily="2" charset="-122"/>
              </a:rPr>
              <a:t>I/0</a:t>
            </a:r>
            <a:r>
              <a:rPr lang="zh-CN" altLang="en-US" sz="2800" b="1" dirty="0">
                <a:latin typeface="Arial" panose="020B0604020202020204" pitchFamily="34" charset="0"/>
                <a:ea typeface="宋体" panose="02010600030101010101" pitchFamily="2" charset="-122"/>
              </a:rPr>
              <a:t>设备与主机之间连接的灵活性。</a:t>
            </a:r>
            <a:endParaRPr lang="zh-CN" altLang="en-US" sz="2800" dirty="0">
              <a:latin typeface="Arial" panose="020B0604020202020204" pitchFamily="34" charset="0"/>
              <a:ea typeface="宋体" panose="02010600030101010101" pitchFamily="2" charset="-122"/>
            </a:endParaRPr>
          </a:p>
        </p:txBody>
      </p:sp>
      <p:sp>
        <p:nvSpPr>
          <p:cNvPr id="250888" name="Text Box 8"/>
          <p:cNvSpPr txBox="1"/>
          <p:nvPr/>
        </p:nvSpPr>
        <p:spPr>
          <a:xfrm>
            <a:off x="533400" y="5486400"/>
            <a:ext cx="7239000" cy="522288"/>
          </a:xfrm>
          <a:prstGeom prst="rect">
            <a:avLst/>
          </a:prstGeom>
          <a:noFill/>
          <a:ln w="9525">
            <a:noFill/>
          </a:ln>
        </p:spPr>
        <p:txBody>
          <a:bodyPr anchor="t" anchorCtr="0">
            <a:spAutoFit/>
          </a:bodyPr>
          <a:lstStyle/>
          <a:p>
            <a:pPr>
              <a:buClrTx/>
              <a:buFontTx/>
            </a:pPr>
            <a:r>
              <a:rPr lang="zh-CN" altLang="en-US" sz="2800" b="1" dirty="0">
                <a:latin typeface="Arial" panose="020B0604020202020204" pitchFamily="34" charset="0"/>
                <a:ea typeface="宋体" panose="02010600030101010101" pitchFamily="2" charset="-122"/>
              </a:rPr>
              <a:t>目前：</a:t>
            </a:r>
            <a:r>
              <a:rPr lang="zh-CN" altLang="en-US" sz="2800" b="1" dirty="0">
                <a:solidFill>
                  <a:srgbClr val="FF0000"/>
                </a:solidFill>
                <a:latin typeface="Arial" panose="020B0604020202020204" pitchFamily="34" charset="0"/>
                <a:ea typeface="宋体" panose="02010600030101010101" pitchFamily="2" charset="-122"/>
              </a:rPr>
              <a:t>总线连接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Effect transition="in" filter="blinds(horizontal)">
                                      <p:cBhvr>
                                        <p:cTn id="7" dur="500"/>
                                        <p:tgtEl>
                                          <p:spTgt spid="250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0884"/>
                                        </p:tgtEl>
                                        <p:attrNameLst>
                                          <p:attrName>style.visibility</p:attrName>
                                        </p:attrNameLst>
                                      </p:cBhvr>
                                      <p:to>
                                        <p:strVal val="visible"/>
                                      </p:to>
                                    </p:set>
                                    <p:animEffect transition="in" filter="blinds(horizontal)">
                                      <p:cBhvr>
                                        <p:cTn id="12" dur="500"/>
                                        <p:tgtEl>
                                          <p:spTgt spid="2508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0885"/>
                                        </p:tgtEl>
                                        <p:attrNameLst>
                                          <p:attrName>style.visibility</p:attrName>
                                        </p:attrNameLst>
                                      </p:cBhvr>
                                      <p:to>
                                        <p:strVal val="visible"/>
                                      </p:to>
                                    </p:set>
                                    <p:animEffect transition="in" filter="blinds(horizontal)">
                                      <p:cBhvr>
                                        <p:cTn id="17" dur="500"/>
                                        <p:tgtEl>
                                          <p:spTgt spid="25088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0886"/>
                                        </p:tgtEl>
                                        <p:attrNameLst>
                                          <p:attrName>style.visibility</p:attrName>
                                        </p:attrNameLst>
                                      </p:cBhvr>
                                      <p:to>
                                        <p:strVal val="visible"/>
                                      </p:to>
                                    </p:set>
                                    <p:animEffect transition="in" filter="blinds(horizontal)">
                                      <p:cBhvr>
                                        <p:cTn id="22" dur="500"/>
                                        <p:tgtEl>
                                          <p:spTgt spid="25088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0887"/>
                                        </p:tgtEl>
                                        <p:attrNameLst>
                                          <p:attrName>style.visibility</p:attrName>
                                        </p:attrNameLst>
                                      </p:cBhvr>
                                      <p:to>
                                        <p:strVal val="visible"/>
                                      </p:to>
                                    </p:set>
                                    <p:animEffect transition="in" filter="blinds(horizontal)">
                                      <p:cBhvr>
                                        <p:cTn id="27" dur="500"/>
                                        <p:tgtEl>
                                          <p:spTgt spid="25088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0888"/>
                                        </p:tgtEl>
                                        <p:attrNameLst>
                                          <p:attrName>style.visibility</p:attrName>
                                        </p:attrNameLst>
                                      </p:cBhvr>
                                      <p:to>
                                        <p:strVal val="visible"/>
                                      </p:to>
                                    </p:set>
                                    <p:animEffect transition="in" filter="blinds(horizontal)">
                                      <p:cBhvr>
                                        <p:cTn id="32" dur="500"/>
                                        <p:tgtEl>
                                          <p:spTgt spid="250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p:bldP spid="250884" grpId="0"/>
      <p:bldP spid="250885" grpId="0"/>
      <p:bldP spid="250886" grpId="0"/>
      <p:bldP spid="250887" grpId="0"/>
      <p:bldP spid="25088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AutoShape 4"/>
          <p:cNvSpPr/>
          <p:nvPr/>
        </p:nvSpPr>
        <p:spPr>
          <a:xfrm>
            <a:off x="4787900" y="1989138"/>
            <a:ext cx="1512888"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09" name="AutoShape 5"/>
          <p:cNvSpPr/>
          <p:nvPr/>
        </p:nvSpPr>
        <p:spPr>
          <a:xfrm>
            <a:off x="1979613" y="2349500"/>
            <a:ext cx="2159000"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11" name="AutoShape 7"/>
          <p:cNvSpPr/>
          <p:nvPr/>
        </p:nvSpPr>
        <p:spPr>
          <a:xfrm>
            <a:off x="8143875" y="6092825"/>
            <a:ext cx="576263" cy="360363"/>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12" name="AutoShape 8"/>
          <p:cNvSpPr/>
          <p:nvPr/>
        </p:nvSpPr>
        <p:spPr>
          <a:xfrm>
            <a:off x="4700588" y="6064250"/>
            <a:ext cx="865187" cy="360363"/>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13" name="AutoShape 9"/>
          <p:cNvSpPr/>
          <p:nvPr/>
        </p:nvSpPr>
        <p:spPr>
          <a:xfrm>
            <a:off x="5838825" y="6064250"/>
            <a:ext cx="1470025" cy="360363"/>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14" name="Rectangle 10"/>
          <p:cNvSpPr/>
          <p:nvPr/>
        </p:nvSpPr>
        <p:spPr>
          <a:xfrm>
            <a:off x="3657600" y="4246563"/>
            <a:ext cx="5178425" cy="2522537"/>
          </a:xfrm>
          <a:prstGeom prst="rect">
            <a:avLst/>
          </a:prstGeom>
          <a:noFill/>
          <a:ln w="3175">
            <a:noFill/>
          </a:ln>
        </p:spPr>
        <p:txBody>
          <a:bodyPr wrap="none" anchor="t" anchorCtr="0">
            <a:spAutoFit/>
          </a:bodyPr>
          <a:lstStyle/>
          <a:p>
            <a:pPr marL="1143000" indent="-228600" eaLnBrk="0" hangingPunct="0">
              <a:buClr>
                <a:srgbClr val="0000FF"/>
              </a:buClr>
              <a:buSzPct val="90000"/>
              <a:buFont typeface="Monotype Sorts" pitchFamily="2" charset="2"/>
              <a:buChar char="@"/>
            </a:pPr>
            <a:r>
              <a:rPr lang="zh-CN" altLang="en-US" sz="2000" b="1" dirty="0">
                <a:latin typeface="Helvetica" pitchFamily="34" charset="0"/>
                <a:ea typeface="宋体" panose="02010600030101010101" pitchFamily="2" charset="-122"/>
              </a:rPr>
              <a:t>由于总线与其上所挂的部件是物理</a:t>
            </a:r>
          </a:p>
          <a:p>
            <a:pPr marL="1143000" indent="-228600" eaLnBrk="0" hangingPunct="0">
              <a:buClr>
                <a:srgbClr val="0000FF"/>
              </a:buClr>
              <a:buSzPct val="90000"/>
              <a:buFont typeface="Monotype Sorts" pitchFamily="2" charset="2"/>
            </a:pPr>
            <a:r>
              <a:rPr lang="zh-CN" altLang="en-US" sz="2000" b="1" dirty="0">
                <a:latin typeface="Helvetica" pitchFamily="34" charset="0"/>
                <a:ea typeface="宋体" panose="02010600030101010101" pitchFamily="2" charset="-122"/>
              </a:rPr>
              <a:t>相连的，但是从逻辑上有：</a:t>
            </a:r>
          </a:p>
          <a:p>
            <a:pPr marL="1143000" indent="-228600" eaLnBrk="0" hangingPunct="0">
              <a:buClr>
                <a:srgbClr val="0000FF"/>
              </a:buClr>
              <a:buSzPct val="90000"/>
              <a:buFont typeface="Monotype Sorts" pitchFamily="2" charset="2"/>
            </a:pPr>
            <a:r>
              <a:rPr lang="zh-CN" altLang="en-US" b="1" dirty="0">
                <a:latin typeface="Helvetica" pitchFamily="34" charset="0"/>
                <a:ea typeface="宋体" panose="02010600030101010101" pitchFamily="2" charset="-122"/>
              </a:rPr>
              <a:t>        ①输入、</a:t>
            </a:r>
          </a:p>
          <a:p>
            <a:pPr marL="1143000" indent="-228600" eaLnBrk="0" hangingPunct="0">
              <a:buClr>
                <a:srgbClr val="0000FF"/>
              </a:buClr>
              <a:buSzPct val="90000"/>
              <a:buFont typeface="Monotype Sorts" pitchFamily="2" charset="2"/>
            </a:pPr>
            <a:r>
              <a:rPr lang="zh-CN" altLang="en-US" b="1" dirty="0">
                <a:latin typeface="Helvetica" pitchFamily="34" charset="0"/>
                <a:ea typeface="宋体" panose="02010600030101010101" pitchFamily="2" charset="-122"/>
              </a:rPr>
              <a:t>        ②输出、</a:t>
            </a:r>
          </a:p>
          <a:p>
            <a:pPr marL="1143000" indent="-228600" eaLnBrk="0" hangingPunct="0">
              <a:buClr>
                <a:srgbClr val="0000FF"/>
              </a:buClr>
              <a:buSzPct val="90000"/>
              <a:buFont typeface="Monotype Sorts" pitchFamily="2" charset="2"/>
            </a:pPr>
            <a:r>
              <a:rPr lang="zh-CN" altLang="en-US" b="1" dirty="0">
                <a:latin typeface="Helvetica" pitchFamily="34" charset="0"/>
                <a:ea typeface="宋体" panose="02010600030101010101" pitchFamily="2" charset="-122"/>
              </a:rPr>
              <a:t>        ③断开三种状态，</a:t>
            </a:r>
          </a:p>
          <a:p>
            <a:pPr marL="1143000" indent="-228600" eaLnBrk="0" hangingPunct="0">
              <a:buClr>
                <a:srgbClr val="0000FF"/>
              </a:buClr>
              <a:buSzPct val="90000"/>
              <a:buFont typeface="Monotype Sorts" pitchFamily="2" charset="2"/>
            </a:pPr>
            <a:r>
              <a:rPr lang="zh-CN" altLang="en-US" sz="2000" b="1" dirty="0">
                <a:latin typeface="Helvetica" pitchFamily="34" charset="0"/>
                <a:ea typeface="宋体" panose="02010600030101010101" pitchFamily="2" charset="-122"/>
              </a:rPr>
              <a:t>所以总线上的部件需要通过由一些</a:t>
            </a:r>
          </a:p>
          <a:p>
            <a:pPr marL="1143000" indent="-228600" eaLnBrk="0" hangingPunct="0">
              <a:buClr>
                <a:srgbClr val="0000FF"/>
              </a:buClr>
              <a:buSzPct val="90000"/>
              <a:buFont typeface="Monotype Sorts" pitchFamily="2" charset="2"/>
            </a:pPr>
            <a:r>
              <a:rPr lang="zh-CN" altLang="en-US" sz="2400" b="1" dirty="0">
                <a:latin typeface="Helvetica" pitchFamily="34" charset="0"/>
                <a:ea typeface="宋体" panose="02010600030101010101" pitchFamily="2" charset="-122"/>
              </a:rPr>
              <a:t>三态门</a:t>
            </a:r>
            <a:r>
              <a:rPr lang="zh-CN" altLang="en-US" sz="2000" b="1" dirty="0">
                <a:latin typeface="Helvetica" pitchFamily="34" charset="0"/>
                <a:ea typeface="宋体" panose="02010600030101010101" pitchFamily="2" charset="-122"/>
              </a:rPr>
              <a:t>和</a:t>
            </a:r>
            <a:r>
              <a:rPr lang="zh-CN" altLang="en-US" sz="2400" b="1" dirty="0">
                <a:latin typeface="Helvetica" pitchFamily="34" charset="0"/>
                <a:ea typeface="宋体" panose="02010600030101010101" pitchFamily="2" charset="-122"/>
              </a:rPr>
              <a:t>缓冲寄存器</a:t>
            </a:r>
            <a:r>
              <a:rPr lang="zh-CN" altLang="en-US" sz="2000" b="1" dirty="0">
                <a:latin typeface="Helvetica" pitchFamily="34" charset="0"/>
                <a:ea typeface="宋体" panose="02010600030101010101" pitchFamily="2" charset="-122"/>
              </a:rPr>
              <a:t>组成的</a:t>
            </a:r>
            <a:r>
              <a:rPr lang="zh-CN" altLang="en-US" sz="2400" b="1" dirty="0">
                <a:latin typeface="Helvetica" pitchFamily="34" charset="0"/>
                <a:ea typeface="宋体" panose="02010600030101010101" pitchFamily="2" charset="-122"/>
              </a:rPr>
              <a:t>接口</a:t>
            </a:r>
          </a:p>
          <a:p>
            <a:pPr marL="1143000" indent="-228600" eaLnBrk="0" hangingPunct="0">
              <a:buClr>
                <a:srgbClr val="0000FF"/>
              </a:buClr>
              <a:buSzPct val="90000"/>
              <a:buFont typeface="Monotype Sorts" pitchFamily="2" charset="2"/>
            </a:pPr>
            <a:r>
              <a:rPr lang="zh-CN" altLang="en-US" sz="2000" b="1" dirty="0">
                <a:latin typeface="Helvetica" pitchFamily="34" charset="0"/>
                <a:ea typeface="宋体" panose="02010600030101010101" pitchFamily="2" charset="-122"/>
              </a:rPr>
              <a:t>与总线连接 。 </a:t>
            </a:r>
          </a:p>
        </p:txBody>
      </p:sp>
      <p:sp>
        <p:nvSpPr>
          <p:cNvPr id="251915" name="Rectangle 11"/>
          <p:cNvSpPr/>
          <p:nvPr/>
        </p:nvSpPr>
        <p:spPr>
          <a:xfrm>
            <a:off x="468313" y="4229100"/>
            <a:ext cx="2936875" cy="1644650"/>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Monotype Sorts" pitchFamily="2" charset="2"/>
              <a:buChar char="@"/>
            </a:pPr>
            <a:r>
              <a:rPr lang="zh-CN" altLang="en-US" sz="2000" b="1" dirty="0">
                <a:latin typeface="Helvetica" pitchFamily="34" charset="0"/>
                <a:ea typeface="宋体" panose="02010600030101010101" pitchFamily="2" charset="-122"/>
              </a:rPr>
              <a:t>传输线包括：</a:t>
            </a:r>
          </a:p>
          <a:p>
            <a:pPr marL="1143000" indent="-228600" eaLnBrk="0" hangingPunct="0">
              <a:spcBef>
                <a:spcPct val="35000"/>
              </a:spcBef>
              <a:buClr>
                <a:srgbClr val="000099"/>
              </a:buClr>
              <a:buSzPct val="85000"/>
              <a:buFont typeface="Monotype Sorts" pitchFamily="2" charset="2"/>
            </a:pPr>
            <a:r>
              <a:rPr lang="zh-CN" altLang="en-US" sz="2000" b="1" dirty="0">
                <a:latin typeface="Helvetica" pitchFamily="34" charset="0"/>
                <a:ea typeface="宋体" panose="02010600030101010101" pitchFamily="2" charset="-122"/>
              </a:rPr>
              <a:t>        ①信息线、</a:t>
            </a:r>
          </a:p>
          <a:p>
            <a:pPr marL="1143000" indent="-228600" eaLnBrk="0" hangingPunct="0">
              <a:spcBef>
                <a:spcPct val="35000"/>
              </a:spcBef>
              <a:buClr>
                <a:srgbClr val="000099"/>
              </a:buClr>
              <a:buSzPct val="85000"/>
              <a:buFont typeface="Monotype Sorts" pitchFamily="2" charset="2"/>
            </a:pPr>
            <a:r>
              <a:rPr lang="zh-CN" altLang="en-US" sz="2000" b="1" dirty="0">
                <a:latin typeface="Helvetica" pitchFamily="34" charset="0"/>
                <a:ea typeface="宋体" panose="02010600030101010101" pitchFamily="2" charset="-122"/>
              </a:rPr>
              <a:t>        ②电源线、</a:t>
            </a:r>
          </a:p>
          <a:p>
            <a:pPr marL="1143000" indent="-228600" eaLnBrk="0" hangingPunct="0">
              <a:spcBef>
                <a:spcPct val="35000"/>
              </a:spcBef>
              <a:buClr>
                <a:srgbClr val="000099"/>
              </a:buClr>
              <a:buSzPct val="85000"/>
              <a:buFont typeface="Monotype Sorts" pitchFamily="2" charset="2"/>
            </a:pPr>
            <a:r>
              <a:rPr lang="zh-CN" altLang="en-US" sz="2000" b="1" dirty="0">
                <a:latin typeface="Helvetica" pitchFamily="34" charset="0"/>
                <a:ea typeface="宋体" panose="02010600030101010101" pitchFamily="2" charset="-122"/>
              </a:rPr>
              <a:t>        ③地线等。</a:t>
            </a:r>
          </a:p>
        </p:txBody>
      </p:sp>
      <p:sp>
        <p:nvSpPr>
          <p:cNvPr id="251916" name="AutoShape 12"/>
          <p:cNvSpPr/>
          <p:nvPr/>
        </p:nvSpPr>
        <p:spPr>
          <a:xfrm>
            <a:off x="3217863" y="3398838"/>
            <a:ext cx="935037"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17" name="AutoShape 13"/>
          <p:cNvSpPr/>
          <p:nvPr/>
        </p:nvSpPr>
        <p:spPr>
          <a:xfrm>
            <a:off x="4371975" y="3398838"/>
            <a:ext cx="631825"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18" name="AutoShape 14"/>
          <p:cNvSpPr/>
          <p:nvPr/>
        </p:nvSpPr>
        <p:spPr>
          <a:xfrm>
            <a:off x="5264150" y="3398838"/>
            <a:ext cx="1539875"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19" name="AutoShape 15"/>
          <p:cNvSpPr/>
          <p:nvPr/>
        </p:nvSpPr>
        <p:spPr>
          <a:xfrm>
            <a:off x="3895725" y="1484313"/>
            <a:ext cx="1871663"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20" name="Rectangle 16"/>
          <p:cNvSpPr/>
          <p:nvPr/>
        </p:nvSpPr>
        <p:spPr>
          <a:xfrm>
            <a:off x="379413" y="1027113"/>
            <a:ext cx="8601075" cy="876300"/>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400" b="1" dirty="0">
                <a:latin typeface="Helvetica" pitchFamily="34" charset="0"/>
                <a:ea typeface="宋体" panose="02010600030101010101" pitchFamily="2" charset="-122"/>
              </a:rPr>
              <a:t>总线</a:t>
            </a:r>
            <a:r>
              <a:rPr lang="zh-CN" altLang="en-US" sz="2000" b="1" dirty="0">
                <a:latin typeface="Helvetica" pitchFamily="34" charset="0"/>
                <a:ea typeface="宋体" panose="02010600030101010101" pitchFamily="2" charset="-122"/>
              </a:rPr>
              <a:t>是计算机系统中各个部件之间（甚至各个系统之间）传递信息</a:t>
            </a:r>
          </a:p>
          <a:p>
            <a:pPr marL="1143000" indent="-228600" eaLnBrk="0" hangingPunct="0">
              <a:spcBef>
                <a:spcPct val="35000"/>
              </a:spcBef>
              <a:buClr>
                <a:srgbClr val="000099"/>
              </a:buClr>
              <a:buSzPct val="85000"/>
              <a:buFont typeface="Wingdings" panose="05000000000000000000" pitchFamily="2" charset="2"/>
            </a:pPr>
            <a:r>
              <a:rPr lang="zh-CN" altLang="en-US" sz="2000" b="1" dirty="0">
                <a:latin typeface="Helvetica" pitchFamily="34" charset="0"/>
                <a:ea typeface="宋体" panose="02010600030101010101" pitchFamily="2" charset="-122"/>
              </a:rPr>
              <a:t>的一组共享的电导线。英文名字：</a:t>
            </a:r>
            <a:r>
              <a:rPr lang="en-US" altLang="zh-CN" sz="2000" b="1" dirty="0">
                <a:latin typeface="Helvetica" pitchFamily="34" charset="0"/>
                <a:ea typeface="宋体" panose="02010600030101010101" pitchFamily="2" charset="-122"/>
              </a:rPr>
              <a:t>BUS</a:t>
            </a:r>
            <a:r>
              <a:rPr lang="zh-CN" altLang="en-US" sz="2000" b="1" dirty="0">
                <a:latin typeface="Helvetica" pitchFamily="34" charset="0"/>
                <a:ea typeface="宋体" panose="02010600030101010101" pitchFamily="2" charset="-122"/>
              </a:rPr>
              <a:t>。</a:t>
            </a:r>
          </a:p>
        </p:txBody>
      </p:sp>
      <p:sp>
        <p:nvSpPr>
          <p:cNvPr id="251922" name="AutoShape 18"/>
          <p:cNvSpPr/>
          <p:nvPr/>
        </p:nvSpPr>
        <p:spPr>
          <a:xfrm>
            <a:off x="1331913" y="1052513"/>
            <a:ext cx="7632700" cy="2232025"/>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8206" name="Text Box 19"/>
          <p:cNvSpPr txBox="1"/>
          <p:nvPr/>
        </p:nvSpPr>
        <p:spPr>
          <a:xfrm>
            <a:off x="-609600" y="230188"/>
            <a:ext cx="2366963" cy="52228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800" b="1" dirty="0">
                <a:latin typeface="Helvetica" pitchFamily="34" charset="0"/>
                <a:ea typeface="宋体" panose="02010600030101010101" pitchFamily="2" charset="-122"/>
              </a:rPr>
              <a:t>1</a:t>
            </a:r>
            <a:r>
              <a:rPr lang="zh-CN" altLang="en-US" sz="2800" b="1" dirty="0">
                <a:latin typeface="Helvetica" pitchFamily="34" charset="0"/>
                <a:ea typeface="宋体" panose="02010600030101010101" pitchFamily="2" charset="-122"/>
              </a:rPr>
              <a:t>、概念</a:t>
            </a:r>
          </a:p>
        </p:txBody>
      </p:sp>
      <p:sp>
        <p:nvSpPr>
          <p:cNvPr id="251924" name="AutoShape 20"/>
          <p:cNvSpPr/>
          <p:nvPr/>
        </p:nvSpPr>
        <p:spPr>
          <a:xfrm>
            <a:off x="179388" y="1052513"/>
            <a:ext cx="1152525" cy="1008062"/>
          </a:xfrm>
          <a:prstGeom prst="roundRect">
            <a:avLst>
              <a:gd name="adj" fmla="val 16667"/>
            </a:avLst>
          </a:prstGeom>
          <a:solidFill>
            <a:srgbClr val="0000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25" name="Text Box 21"/>
          <p:cNvSpPr txBox="1"/>
          <p:nvPr/>
        </p:nvSpPr>
        <p:spPr>
          <a:xfrm>
            <a:off x="-754062" y="1100138"/>
            <a:ext cx="2117725" cy="70643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latin typeface="Helvetica" pitchFamily="34" charset="0"/>
                <a:ea typeface="宋体" panose="02010600030101010101" pitchFamily="2" charset="-122"/>
              </a:rPr>
              <a:t>定义</a:t>
            </a:r>
          </a:p>
        </p:txBody>
      </p:sp>
      <p:sp>
        <p:nvSpPr>
          <p:cNvPr id="251926" name="Rectangle 22"/>
          <p:cNvSpPr/>
          <p:nvPr/>
        </p:nvSpPr>
        <p:spPr>
          <a:xfrm>
            <a:off x="708025" y="1844675"/>
            <a:ext cx="7705725" cy="977900"/>
          </a:xfrm>
          <a:prstGeom prst="rect">
            <a:avLst/>
          </a:prstGeom>
          <a:noFill/>
          <a:ln w="3175">
            <a:noFill/>
          </a:ln>
        </p:spPr>
        <p:txBody>
          <a:bodyPr wrap="none" anchor="t" anchorCtr="0">
            <a:spAutoFit/>
          </a:bodyPr>
          <a:lstStyle/>
          <a:p>
            <a:pPr marL="1143000" indent="-228600" eaLnBrk="0" hangingPunct="0">
              <a:lnSpc>
                <a:spcPct val="120000"/>
              </a:lnSpc>
              <a:buClr>
                <a:srgbClr val="0000FF"/>
              </a:buClr>
              <a:buSzPct val="90000"/>
              <a:buFont typeface="Monotype Sorts" pitchFamily="2" charset="2"/>
              <a:buChar char="@"/>
            </a:pPr>
            <a:r>
              <a:rPr lang="zh-CN" altLang="en-US" sz="2000" b="1" dirty="0">
                <a:latin typeface="Helvetica" pitchFamily="34" charset="0"/>
                <a:ea typeface="宋体" panose="02010600030101010101" pitchFamily="2" charset="-122"/>
              </a:rPr>
              <a:t>每一根导线负责传输一个</a:t>
            </a:r>
            <a:r>
              <a:rPr lang="zh-CN" altLang="en-US" sz="2400" b="1" dirty="0">
                <a:latin typeface="Helvetica" pitchFamily="34" charset="0"/>
                <a:ea typeface="宋体" panose="02010600030101010101" pitchFamily="2" charset="-122"/>
              </a:rPr>
              <a:t>电脉冲信号</a:t>
            </a:r>
            <a:r>
              <a:rPr lang="zh-CN" altLang="en-US" sz="2000" b="1" dirty="0">
                <a:latin typeface="Helvetica" pitchFamily="34" charset="0"/>
                <a:ea typeface="宋体" panose="02010600030101010101" pitchFamily="2" charset="-122"/>
              </a:rPr>
              <a:t>，这个信号就代表</a:t>
            </a:r>
          </a:p>
          <a:p>
            <a:pPr marL="1143000" indent="-228600" eaLnBrk="0" hangingPunct="0">
              <a:lnSpc>
                <a:spcPct val="120000"/>
              </a:lnSpc>
              <a:buClr>
                <a:srgbClr val="0000FF"/>
              </a:buClr>
              <a:buSzPct val="90000"/>
              <a:buFont typeface="Monotype Sorts" pitchFamily="2" charset="2"/>
            </a:pPr>
            <a:r>
              <a:rPr lang="zh-CN" altLang="en-US" sz="2400" b="1" dirty="0">
                <a:latin typeface="Helvetica" pitchFamily="34" charset="0"/>
                <a:ea typeface="宋体" panose="02010600030101010101" pitchFamily="2" charset="-122"/>
              </a:rPr>
              <a:t>   一位二进制数据</a:t>
            </a:r>
            <a:r>
              <a:rPr lang="zh-CN" altLang="en-US" sz="2000" b="1" dirty="0">
                <a:latin typeface="Helvetica" pitchFamily="34" charset="0"/>
                <a:ea typeface="宋体" panose="02010600030101010101" pitchFamily="2" charset="-122"/>
              </a:rPr>
              <a:t>。</a:t>
            </a:r>
          </a:p>
        </p:txBody>
      </p:sp>
      <p:sp>
        <p:nvSpPr>
          <p:cNvPr id="251927" name="Rectangle 23"/>
          <p:cNvSpPr/>
          <p:nvPr/>
        </p:nvSpPr>
        <p:spPr>
          <a:xfrm>
            <a:off x="611188" y="2708275"/>
            <a:ext cx="6756400" cy="460375"/>
          </a:xfrm>
          <a:prstGeom prst="rect">
            <a:avLst/>
          </a:prstGeom>
          <a:noFill/>
          <a:ln w="3175">
            <a:noFill/>
          </a:ln>
        </p:spPr>
        <p:txBody>
          <a:bodyPr wrap="none" anchor="t" anchorCtr="0">
            <a:spAutoFit/>
          </a:bodyPr>
          <a:lstStyle/>
          <a:p>
            <a:pPr marL="1143000" indent="-228600" eaLnBrk="0" hangingPunct="0">
              <a:lnSpc>
                <a:spcPct val="120000"/>
              </a:lnSpc>
              <a:buClr>
                <a:srgbClr val="0000FF"/>
              </a:buClr>
              <a:buSzPct val="90000"/>
              <a:buFont typeface="Monotype Sorts" pitchFamily="2" charset="2"/>
              <a:buChar char="@"/>
            </a:pPr>
            <a:r>
              <a:rPr lang="zh-CN" altLang="en-US" sz="2000" b="1" dirty="0">
                <a:latin typeface="Helvetica" pitchFamily="34" charset="0"/>
                <a:ea typeface="宋体" panose="02010600030101010101" pitchFamily="2" charset="-122"/>
              </a:rPr>
              <a:t>若干根导线就可以同时传输若干位二进制数据。 </a:t>
            </a:r>
          </a:p>
        </p:txBody>
      </p:sp>
      <p:sp>
        <p:nvSpPr>
          <p:cNvPr id="602117" name="Rectangle 5"/>
          <p:cNvSpPr/>
          <p:nvPr/>
        </p:nvSpPr>
        <p:spPr>
          <a:xfrm>
            <a:off x="900113" y="3311525"/>
            <a:ext cx="7991475" cy="793750"/>
          </a:xfrm>
          <a:prstGeom prst="rect">
            <a:avLst/>
          </a:prstGeom>
          <a:noFill/>
          <a:ln w="9525">
            <a:noFill/>
          </a:ln>
        </p:spPr>
        <p:txBody>
          <a:bodyPr anchor="t" anchorCtr="0"/>
          <a:lstStyle/>
          <a:p>
            <a:pPr marL="342900" indent="-342900" eaLnBrk="0" hangingPunct="0">
              <a:lnSpc>
                <a:spcPct val="120000"/>
              </a:lnSpc>
              <a:buClr>
                <a:schemeClr val="tx2"/>
              </a:buClr>
              <a:buSzPct val="90000"/>
              <a:buFont typeface="Monotype Sorts" pitchFamily="2" charset="2"/>
            </a:pPr>
            <a:r>
              <a:rPr lang="en-US" altLang="zh-CN" sz="20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总线</a:t>
            </a:r>
            <a:r>
              <a:rPr lang="zh-CN" altLang="en-US" sz="2000" b="1" dirty="0">
                <a:latin typeface="Times New Roman" panose="02020603050405020304" pitchFamily="18" charset="0"/>
                <a:ea typeface="宋体" panose="02010600030101010101" pitchFamily="2" charset="-122"/>
              </a:rPr>
              <a:t>一般由</a:t>
            </a:r>
            <a:r>
              <a:rPr lang="zh-CN" altLang="en-US" sz="2400" b="1" dirty="0">
                <a:latin typeface="Times New Roman" panose="02020603050405020304" pitchFamily="18" charset="0"/>
                <a:ea typeface="宋体" panose="02010600030101010101" pitchFamily="2" charset="-122"/>
              </a:rPr>
              <a:t>传输线</a:t>
            </a: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接口</a:t>
            </a: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总线控制器</a:t>
            </a:r>
            <a:r>
              <a:rPr lang="zh-CN" altLang="en-US" sz="2000" b="1" dirty="0">
                <a:latin typeface="Times New Roman" panose="02020603050405020304" pitchFamily="18" charset="0"/>
                <a:ea typeface="宋体" panose="02010600030101010101" pitchFamily="2" charset="-122"/>
              </a:rPr>
              <a:t>组成。</a:t>
            </a:r>
          </a:p>
        </p:txBody>
      </p:sp>
      <p:sp>
        <p:nvSpPr>
          <p:cNvPr id="251929" name="AutoShape 25"/>
          <p:cNvSpPr/>
          <p:nvPr/>
        </p:nvSpPr>
        <p:spPr>
          <a:xfrm>
            <a:off x="1328738" y="3357563"/>
            <a:ext cx="7632700" cy="3429000"/>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30" name="AutoShape 26"/>
          <p:cNvSpPr/>
          <p:nvPr/>
        </p:nvSpPr>
        <p:spPr>
          <a:xfrm>
            <a:off x="176213" y="3357563"/>
            <a:ext cx="1152525" cy="1008062"/>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31" name="Text Box 27"/>
          <p:cNvSpPr txBox="1"/>
          <p:nvPr/>
        </p:nvSpPr>
        <p:spPr>
          <a:xfrm>
            <a:off x="-757237" y="3448050"/>
            <a:ext cx="2117725" cy="70643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latin typeface="Helvetica" pitchFamily="34" charset="0"/>
                <a:ea typeface="宋体" panose="02010600030101010101" pitchFamily="2" charset="-122"/>
              </a:rPr>
              <a:t>组成</a:t>
            </a:r>
          </a:p>
        </p:txBody>
      </p:sp>
      <p:sp>
        <p:nvSpPr>
          <p:cNvPr id="251932" name="Rectangle 28"/>
          <p:cNvSpPr/>
          <p:nvPr/>
        </p:nvSpPr>
        <p:spPr>
          <a:xfrm>
            <a:off x="1476375" y="4297363"/>
            <a:ext cx="3024188" cy="2300287"/>
          </a:xfrm>
          <a:prstGeom prst="rect">
            <a:avLst/>
          </a:prstGeom>
          <a:noFill/>
          <a:ln w="3175"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33" name="Rectangle 29"/>
          <p:cNvSpPr/>
          <p:nvPr/>
        </p:nvSpPr>
        <p:spPr>
          <a:xfrm>
            <a:off x="4645025" y="4310063"/>
            <a:ext cx="4103688" cy="2393950"/>
          </a:xfrm>
          <a:prstGeom prst="rect">
            <a:avLst/>
          </a:prstGeom>
          <a:noFill/>
          <a:ln w="3175" cap="flat" cmpd="sng">
            <a:solidFill>
              <a:srgbClr val="800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34" name="AutoShape 30"/>
          <p:cNvSpPr/>
          <p:nvPr/>
        </p:nvSpPr>
        <p:spPr>
          <a:xfrm>
            <a:off x="3132138" y="4468813"/>
            <a:ext cx="287337" cy="792162"/>
          </a:xfrm>
          <a:prstGeom prst="leftBrace">
            <a:avLst>
              <a:gd name="adj1" fmla="val 22884"/>
              <a:gd name="adj2" fmla="val 50000"/>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1935" name="AutoShape 31"/>
          <p:cNvSpPr/>
          <p:nvPr/>
        </p:nvSpPr>
        <p:spPr>
          <a:xfrm>
            <a:off x="1619250" y="1989138"/>
            <a:ext cx="6913563" cy="1238250"/>
          </a:xfrm>
          <a:prstGeom prst="wedgeRoundRectCallout">
            <a:avLst>
              <a:gd name="adj1" fmla="val 4444"/>
              <a:gd name="adj2" fmla="val -66282"/>
              <a:gd name="adj3" fmla="val 16667"/>
            </a:avLst>
          </a:prstGeom>
          <a:noFill/>
          <a:ln w="3175" cap="flat" cmpd="sng">
            <a:solidFill>
              <a:srgbClr val="339966"/>
            </a:solidFill>
            <a:prstDash val="sysDot"/>
            <a:miter/>
            <a:headEnd type="none" w="med" len="med"/>
            <a:tailEnd type="none" w="med" len="med"/>
          </a:ln>
        </p:spPr>
        <p:txBody>
          <a:bodyPr anchor="t" anchorCtr="0"/>
          <a:lstStyle/>
          <a:p>
            <a:pPr marL="1143000" indent="-228600" algn="ctr" eaLnBrk="0" hangingPunct="0">
              <a:spcBef>
                <a:spcPct val="35000"/>
              </a:spcBef>
              <a:buClr>
                <a:srgbClr val="000099"/>
              </a:buClr>
              <a:buSzPct val="85000"/>
              <a:buFont typeface="Wingdings" panose="05000000000000000000" pitchFamily="2" charset="2"/>
            </a:pPr>
            <a:endParaRPr lang="zh-CN" altLang="zh-CN" sz="2400" b="1" dirty="0">
              <a:latin typeface="Helvetica" pitchFamily="34" charset="0"/>
              <a:ea typeface="宋体" panose="02010600030101010101" pitchFamily="2" charset="-122"/>
            </a:endParaRPr>
          </a:p>
        </p:txBody>
      </p:sp>
      <p:sp>
        <p:nvSpPr>
          <p:cNvPr id="251936" name="Line 32"/>
          <p:cNvSpPr/>
          <p:nvPr/>
        </p:nvSpPr>
        <p:spPr>
          <a:xfrm flipH="1">
            <a:off x="1403350" y="3789363"/>
            <a:ext cx="1873250" cy="503237"/>
          </a:xfrm>
          <a:prstGeom prst="line">
            <a:avLst/>
          </a:prstGeom>
          <a:ln w="3175" cap="flat" cmpd="sng">
            <a:solidFill>
              <a:srgbClr val="008000"/>
            </a:solidFill>
            <a:prstDash val="solid"/>
            <a:round/>
            <a:headEnd type="none" w="med" len="med"/>
            <a:tailEnd type="triangle" w="med" len="med"/>
          </a:ln>
        </p:spPr>
      </p:sp>
      <p:sp>
        <p:nvSpPr>
          <p:cNvPr id="251937" name="Line 33"/>
          <p:cNvSpPr/>
          <p:nvPr/>
        </p:nvSpPr>
        <p:spPr>
          <a:xfrm>
            <a:off x="4067175" y="3716338"/>
            <a:ext cx="433388" cy="576262"/>
          </a:xfrm>
          <a:prstGeom prst="line">
            <a:avLst/>
          </a:prstGeom>
          <a:ln w="3175" cap="flat" cmpd="sng">
            <a:solidFill>
              <a:srgbClr val="008000"/>
            </a:solidFill>
            <a:prstDash val="solid"/>
            <a:round/>
            <a:headEnd type="none" w="med" len="med"/>
            <a:tailEnd type="triangle" w="med" len="med"/>
          </a:ln>
        </p:spPr>
      </p:sp>
      <p:sp>
        <p:nvSpPr>
          <p:cNvPr id="251938" name="Line 34"/>
          <p:cNvSpPr/>
          <p:nvPr/>
        </p:nvSpPr>
        <p:spPr>
          <a:xfrm>
            <a:off x="4427538" y="3716338"/>
            <a:ext cx="215900" cy="576262"/>
          </a:xfrm>
          <a:prstGeom prst="line">
            <a:avLst/>
          </a:prstGeom>
          <a:ln w="3175" cap="flat" cmpd="sng">
            <a:solidFill>
              <a:srgbClr val="800080"/>
            </a:solidFill>
            <a:prstDash val="solid"/>
            <a:round/>
            <a:headEnd type="none" w="med" len="med"/>
            <a:tailEnd type="triangle" w="med" len="med"/>
          </a:ln>
        </p:spPr>
      </p:sp>
      <p:sp>
        <p:nvSpPr>
          <p:cNvPr id="251939" name="Line 35"/>
          <p:cNvSpPr/>
          <p:nvPr/>
        </p:nvSpPr>
        <p:spPr>
          <a:xfrm>
            <a:off x="4932363" y="3716338"/>
            <a:ext cx="3816350" cy="576262"/>
          </a:xfrm>
          <a:prstGeom prst="line">
            <a:avLst/>
          </a:prstGeom>
          <a:ln w="3175" cap="flat" cmpd="sng">
            <a:solidFill>
              <a:srgbClr val="800080"/>
            </a:solidFill>
            <a:prstDash val="solid"/>
            <a:round/>
            <a:headEnd type="none" w="med" len="med"/>
            <a:tailEnd type="triangle" w="med" len="med"/>
          </a:ln>
        </p:spPr>
      </p:sp>
      <p:sp>
        <p:nvSpPr>
          <p:cNvPr id="251940" name="Text Box 36"/>
          <p:cNvSpPr txBox="1"/>
          <p:nvPr/>
        </p:nvSpPr>
        <p:spPr>
          <a:xfrm>
            <a:off x="2451100" y="4292600"/>
            <a:ext cx="2117725" cy="398463"/>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000" b="1" dirty="0">
                <a:latin typeface="Helvetica" pitchFamily="34" charset="0"/>
                <a:ea typeface="宋体" panose="02010600030101010101" pitchFamily="2" charset="-122"/>
              </a:rPr>
              <a:t>数据总线</a:t>
            </a:r>
          </a:p>
        </p:txBody>
      </p:sp>
      <p:sp>
        <p:nvSpPr>
          <p:cNvPr id="251941" name="Text Box 37"/>
          <p:cNvSpPr txBox="1"/>
          <p:nvPr/>
        </p:nvSpPr>
        <p:spPr>
          <a:xfrm>
            <a:off x="2451100" y="4651375"/>
            <a:ext cx="2117725" cy="398463"/>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000" b="1" dirty="0">
                <a:latin typeface="Helvetica" pitchFamily="34" charset="0"/>
                <a:ea typeface="宋体" panose="02010600030101010101" pitchFamily="2" charset="-122"/>
              </a:rPr>
              <a:t>地址总线</a:t>
            </a:r>
          </a:p>
        </p:txBody>
      </p:sp>
      <p:sp>
        <p:nvSpPr>
          <p:cNvPr id="251942" name="Text Box 38"/>
          <p:cNvSpPr txBox="1"/>
          <p:nvPr/>
        </p:nvSpPr>
        <p:spPr>
          <a:xfrm>
            <a:off x="2451100" y="5011738"/>
            <a:ext cx="2117725" cy="398462"/>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000" b="1" dirty="0">
                <a:latin typeface="Helvetica" pitchFamily="34" charset="0"/>
                <a:ea typeface="宋体" panose="02010600030101010101" pitchFamily="2" charset="-122"/>
              </a:rPr>
              <a:t>控制总线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51924"/>
                                        </p:tgtEl>
                                        <p:attrNameLst>
                                          <p:attrName>style.visibility</p:attrName>
                                        </p:attrNameLst>
                                      </p:cBhvr>
                                      <p:to>
                                        <p:strVal val="visible"/>
                                      </p:to>
                                    </p:set>
                                    <p:animEffect transition="in" filter="barn(outHorizontal)">
                                      <p:cBhvr>
                                        <p:cTn id="7" dur="1000"/>
                                        <p:tgtEl>
                                          <p:spTgt spid="251924"/>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251925"/>
                                        </p:tgtEl>
                                        <p:attrNameLst>
                                          <p:attrName>style.visibility</p:attrName>
                                        </p:attrNameLst>
                                      </p:cBhvr>
                                      <p:to>
                                        <p:strVal val="visible"/>
                                      </p:to>
                                    </p:set>
                                    <p:animEffect transition="in" filter="barn(outHorizontal)">
                                      <p:cBhvr>
                                        <p:cTn id="10" dur="1000"/>
                                        <p:tgtEl>
                                          <p:spTgt spid="251925"/>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251922"/>
                                        </p:tgtEl>
                                        <p:attrNameLst>
                                          <p:attrName>style.visibility</p:attrName>
                                        </p:attrNameLst>
                                      </p:cBhvr>
                                      <p:to>
                                        <p:strVal val="visible"/>
                                      </p:to>
                                    </p:set>
                                    <p:animEffect transition="in" filter="barn(outHorizontal)">
                                      <p:cBhvr>
                                        <p:cTn id="13" dur="1000"/>
                                        <p:tgtEl>
                                          <p:spTgt spid="251922"/>
                                        </p:tgtEl>
                                      </p:cBhvr>
                                    </p:animEffect>
                                  </p:childTnLst>
                                </p:cTn>
                              </p:par>
                              <p:par>
                                <p:cTn id="14" presetID="16" presetClass="entr" presetSubtype="42" fill="hold" grpId="0" nodeType="withEffect">
                                  <p:stCondLst>
                                    <p:cond delay="0"/>
                                  </p:stCondLst>
                                  <p:childTnLst>
                                    <p:set>
                                      <p:cBhvr>
                                        <p:cTn id="15" dur="1" fill="hold">
                                          <p:stCondLst>
                                            <p:cond delay="0"/>
                                          </p:stCondLst>
                                        </p:cTn>
                                        <p:tgtEl>
                                          <p:spTgt spid="251920"/>
                                        </p:tgtEl>
                                        <p:attrNameLst>
                                          <p:attrName>style.visibility</p:attrName>
                                        </p:attrNameLst>
                                      </p:cBhvr>
                                      <p:to>
                                        <p:strVal val="visible"/>
                                      </p:to>
                                    </p:set>
                                    <p:animEffect transition="in" filter="barn(outHorizontal)">
                                      <p:cBhvr>
                                        <p:cTn id="16" dur="1000"/>
                                        <p:tgtEl>
                                          <p:spTgt spid="251920"/>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251919"/>
                                        </p:tgtEl>
                                        <p:attrNameLst>
                                          <p:attrName>style.visibility</p:attrName>
                                        </p:attrNameLst>
                                      </p:cBhvr>
                                      <p:to>
                                        <p:strVal val="visible"/>
                                      </p:to>
                                    </p:set>
                                    <p:animEffect transition="in" filter="barn(outHorizontal)">
                                      <p:cBhvr>
                                        <p:cTn id="19" dur="1000"/>
                                        <p:tgtEl>
                                          <p:spTgt spid="2519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51908"/>
                                        </p:tgtEl>
                                        <p:attrNameLst>
                                          <p:attrName>style.visibility</p:attrName>
                                        </p:attrNameLst>
                                      </p:cBhvr>
                                      <p:to>
                                        <p:strVal val="visible"/>
                                      </p:to>
                                    </p:set>
                                    <p:animEffect transition="in" filter="wipe(up)">
                                      <p:cBhvr>
                                        <p:cTn id="24" dur="1000"/>
                                        <p:tgtEl>
                                          <p:spTgt spid="251908"/>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51909"/>
                                        </p:tgtEl>
                                        <p:attrNameLst>
                                          <p:attrName>style.visibility</p:attrName>
                                        </p:attrNameLst>
                                      </p:cBhvr>
                                      <p:to>
                                        <p:strVal val="visible"/>
                                      </p:to>
                                    </p:set>
                                    <p:animEffect transition="in" filter="wipe(up)">
                                      <p:cBhvr>
                                        <p:cTn id="27" dur="1000"/>
                                        <p:tgtEl>
                                          <p:spTgt spid="251909"/>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51935"/>
                                        </p:tgtEl>
                                        <p:attrNameLst>
                                          <p:attrName>style.visibility</p:attrName>
                                        </p:attrNameLst>
                                      </p:cBhvr>
                                      <p:to>
                                        <p:strVal val="visible"/>
                                      </p:to>
                                    </p:set>
                                    <p:animEffect transition="in" filter="wipe(up)">
                                      <p:cBhvr>
                                        <p:cTn id="30" dur="1000"/>
                                        <p:tgtEl>
                                          <p:spTgt spid="251935"/>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251926"/>
                                        </p:tgtEl>
                                        <p:attrNameLst>
                                          <p:attrName>style.visibility</p:attrName>
                                        </p:attrNameLst>
                                      </p:cBhvr>
                                      <p:to>
                                        <p:strVal val="visible"/>
                                      </p:to>
                                    </p:set>
                                    <p:animEffect transition="in" filter="wipe(up)">
                                      <p:cBhvr>
                                        <p:cTn id="33" dur="1000"/>
                                        <p:tgtEl>
                                          <p:spTgt spid="25192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51927"/>
                                        </p:tgtEl>
                                        <p:attrNameLst>
                                          <p:attrName>style.visibility</p:attrName>
                                        </p:attrNameLst>
                                      </p:cBhvr>
                                      <p:to>
                                        <p:strVal val="visible"/>
                                      </p:to>
                                    </p:set>
                                    <p:animEffect transition="in" filter="wipe(up)">
                                      <p:cBhvr>
                                        <p:cTn id="36" dur="1000"/>
                                        <p:tgtEl>
                                          <p:spTgt spid="251927"/>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42" fill="hold" grpId="0" nodeType="clickEffect">
                                  <p:stCondLst>
                                    <p:cond delay="0"/>
                                  </p:stCondLst>
                                  <p:childTnLst>
                                    <p:set>
                                      <p:cBhvr>
                                        <p:cTn id="40" dur="1" fill="hold">
                                          <p:stCondLst>
                                            <p:cond delay="0"/>
                                          </p:stCondLst>
                                        </p:cTn>
                                        <p:tgtEl>
                                          <p:spTgt spid="251916"/>
                                        </p:tgtEl>
                                        <p:attrNameLst>
                                          <p:attrName>style.visibility</p:attrName>
                                        </p:attrNameLst>
                                      </p:cBhvr>
                                      <p:to>
                                        <p:strVal val="visible"/>
                                      </p:to>
                                    </p:set>
                                    <p:animEffect transition="in" filter="barn(outHorizontal)">
                                      <p:cBhvr>
                                        <p:cTn id="41" dur="1000"/>
                                        <p:tgtEl>
                                          <p:spTgt spid="251916"/>
                                        </p:tgtEl>
                                      </p:cBhvr>
                                    </p:animEffect>
                                  </p:childTnLst>
                                </p:cTn>
                              </p:par>
                              <p:par>
                                <p:cTn id="42" presetID="16" presetClass="entr" presetSubtype="42" fill="hold" grpId="0" nodeType="withEffect">
                                  <p:stCondLst>
                                    <p:cond delay="0"/>
                                  </p:stCondLst>
                                  <p:childTnLst>
                                    <p:set>
                                      <p:cBhvr>
                                        <p:cTn id="43" dur="1" fill="hold">
                                          <p:stCondLst>
                                            <p:cond delay="0"/>
                                          </p:stCondLst>
                                        </p:cTn>
                                        <p:tgtEl>
                                          <p:spTgt spid="251917"/>
                                        </p:tgtEl>
                                        <p:attrNameLst>
                                          <p:attrName>style.visibility</p:attrName>
                                        </p:attrNameLst>
                                      </p:cBhvr>
                                      <p:to>
                                        <p:strVal val="visible"/>
                                      </p:to>
                                    </p:set>
                                    <p:animEffect transition="in" filter="barn(outHorizontal)">
                                      <p:cBhvr>
                                        <p:cTn id="44" dur="1000"/>
                                        <p:tgtEl>
                                          <p:spTgt spid="251917"/>
                                        </p:tgtEl>
                                      </p:cBhvr>
                                    </p:animEffect>
                                  </p:childTnLst>
                                </p:cTn>
                              </p:par>
                              <p:par>
                                <p:cTn id="45" presetID="16" presetClass="entr" presetSubtype="42" fill="hold" grpId="0" nodeType="withEffect">
                                  <p:stCondLst>
                                    <p:cond delay="0"/>
                                  </p:stCondLst>
                                  <p:childTnLst>
                                    <p:set>
                                      <p:cBhvr>
                                        <p:cTn id="46" dur="1" fill="hold">
                                          <p:stCondLst>
                                            <p:cond delay="0"/>
                                          </p:stCondLst>
                                        </p:cTn>
                                        <p:tgtEl>
                                          <p:spTgt spid="251918"/>
                                        </p:tgtEl>
                                        <p:attrNameLst>
                                          <p:attrName>style.visibility</p:attrName>
                                        </p:attrNameLst>
                                      </p:cBhvr>
                                      <p:to>
                                        <p:strVal val="visible"/>
                                      </p:to>
                                    </p:set>
                                    <p:animEffect transition="in" filter="barn(outHorizontal)">
                                      <p:cBhvr>
                                        <p:cTn id="47" dur="1000"/>
                                        <p:tgtEl>
                                          <p:spTgt spid="251918"/>
                                        </p:tgtEl>
                                      </p:cBhvr>
                                    </p:animEffect>
                                  </p:childTnLst>
                                </p:cTn>
                              </p:par>
                              <p:par>
                                <p:cTn id="48" presetID="16" presetClass="entr" presetSubtype="42" fill="hold" grpId="0" nodeType="withEffect">
                                  <p:stCondLst>
                                    <p:cond delay="0"/>
                                  </p:stCondLst>
                                  <p:childTnLst>
                                    <p:set>
                                      <p:cBhvr>
                                        <p:cTn id="49" dur="1" fill="hold">
                                          <p:stCondLst>
                                            <p:cond delay="0"/>
                                          </p:stCondLst>
                                        </p:cTn>
                                        <p:tgtEl>
                                          <p:spTgt spid="602117"/>
                                        </p:tgtEl>
                                        <p:attrNameLst>
                                          <p:attrName>style.visibility</p:attrName>
                                        </p:attrNameLst>
                                      </p:cBhvr>
                                      <p:to>
                                        <p:strVal val="visible"/>
                                      </p:to>
                                    </p:set>
                                    <p:animEffect transition="in" filter="barn(outHorizontal)">
                                      <p:cBhvr>
                                        <p:cTn id="50" dur="1000"/>
                                        <p:tgtEl>
                                          <p:spTgt spid="602117"/>
                                        </p:tgtEl>
                                      </p:cBhvr>
                                    </p:animEffect>
                                  </p:childTnLst>
                                </p:cTn>
                              </p:par>
                              <p:par>
                                <p:cTn id="51" presetID="16" presetClass="entr" presetSubtype="42" fill="hold" grpId="0" nodeType="withEffect">
                                  <p:stCondLst>
                                    <p:cond delay="0"/>
                                  </p:stCondLst>
                                  <p:childTnLst>
                                    <p:set>
                                      <p:cBhvr>
                                        <p:cTn id="52" dur="1" fill="hold">
                                          <p:stCondLst>
                                            <p:cond delay="0"/>
                                          </p:stCondLst>
                                        </p:cTn>
                                        <p:tgtEl>
                                          <p:spTgt spid="251931"/>
                                        </p:tgtEl>
                                        <p:attrNameLst>
                                          <p:attrName>style.visibility</p:attrName>
                                        </p:attrNameLst>
                                      </p:cBhvr>
                                      <p:to>
                                        <p:strVal val="visible"/>
                                      </p:to>
                                    </p:set>
                                    <p:animEffect transition="in" filter="barn(outHorizontal)">
                                      <p:cBhvr>
                                        <p:cTn id="53" dur="1000"/>
                                        <p:tgtEl>
                                          <p:spTgt spid="251931"/>
                                        </p:tgtEl>
                                      </p:cBhvr>
                                    </p:animEffect>
                                  </p:childTnLst>
                                </p:cTn>
                              </p:par>
                              <p:par>
                                <p:cTn id="54" presetID="16" presetClass="entr" presetSubtype="42" fill="hold" grpId="0" nodeType="withEffect">
                                  <p:stCondLst>
                                    <p:cond delay="0"/>
                                  </p:stCondLst>
                                  <p:childTnLst>
                                    <p:set>
                                      <p:cBhvr>
                                        <p:cTn id="55" dur="1" fill="hold">
                                          <p:stCondLst>
                                            <p:cond delay="0"/>
                                          </p:stCondLst>
                                        </p:cTn>
                                        <p:tgtEl>
                                          <p:spTgt spid="251930"/>
                                        </p:tgtEl>
                                        <p:attrNameLst>
                                          <p:attrName>style.visibility</p:attrName>
                                        </p:attrNameLst>
                                      </p:cBhvr>
                                      <p:to>
                                        <p:strVal val="visible"/>
                                      </p:to>
                                    </p:set>
                                    <p:animEffect transition="in" filter="barn(outHorizontal)">
                                      <p:cBhvr>
                                        <p:cTn id="56" dur="1000"/>
                                        <p:tgtEl>
                                          <p:spTgt spid="251930"/>
                                        </p:tgtEl>
                                      </p:cBhvr>
                                    </p:animEffect>
                                  </p:childTnLst>
                                </p:cTn>
                              </p:par>
                              <p:par>
                                <p:cTn id="57" presetID="16" presetClass="entr" presetSubtype="42" fill="hold" grpId="0" nodeType="withEffect">
                                  <p:stCondLst>
                                    <p:cond delay="0"/>
                                  </p:stCondLst>
                                  <p:childTnLst>
                                    <p:set>
                                      <p:cBhvr>
                                        <p:cTn id="58" dur="1" fill="hold">
                                          <p:stCondLst>
                                            <p:cond delay="0"/>
                                          </p:stCondLst>
                                        </p:cTn>
                                        <p:tgtEl>
                                          <p:spTgt spid="251929"/>
                                        </p:tgtEl>
                                        <p:attrNameLst>
                                          <p:attrName>style.visibility</p:attrName>
                                        </p:attrNameLst>
                                      </p:cBhvr>
                                      <p:to>
                                        <p:strVal val="visible"/>
                                      </p:to>
                                    </p:set>
                                    <p:animEffect transition="in" filter="barn(outHorizontal)">
                                      <p:cBhvr>
                                        <p:cTn id="59" dur="1000"/>
                                        <p:tgtEl>
                                          <p:spTgt spid="251929"/>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42" fill="hold" grpId="0" nodeType="clickEffect">
                                  <p:stCondLst>
                                    <p:cond delay="0"/>
                                  </p:stCondLst>
                                  <p:childTnLst>
                                    <p:set>
                                      <p:cBhvr>
                                        <p:cTn id="63" dur="1" fill="hold">
                                          <p:stCondLst>
                                            <p:cond delay="0"/>
                                          </p:stCondLst>
                                        </p:cTn>
                                        <p:tgtEl>
                                          <p:spTgt spid="251932"/>
                                        </p:tgtEl>
                                        <p:attrNameLst>
                                          <p:attrName>style.visibility</p:attrName>
                                        </p:attrNameLst>
                                      </p:cBhvr>
                                      <p:to>
                                        <p:strVal val="visible"/>
                                      </p:to>
                                    </p:set>
                                    <p:animEffect transition="in" filter="barn(outHorizontal)">
                                      <p:cBhvr>
                                        <p:cTn id="64" dur="1000"/>
                                        <p:tgtEl>
                                          <p:spTgt spid="251932"/>
                                        </p:tgtEl>
                                      </p:cBhvr>
                                    </p:animEffect>
                                  </p:childTnLst>
                                </p:cTn>
                              </p:par>
                              <p:par>
                                <p:cTn id="65" presetID="16" presetClass="entr" presetSubtype="42" fill="hold" grpId="0" nodeType="withEffect">
                                  <p:stCondLst>
                                    <p:cond delay="0"/>
                                  </p:stCondLst>
                                  <p:childTnLst>
                                    <p:set>
                                      <p:cBhvr>
                                        <p:cTn id="66" dur="1" fill="hold">
                                          <p:stCondLst>
                                            <p:cond delay="0"/>
                                          </p:stCondLst>
                                        </p:cTn>
                                        <p:tgtEl>
                                          <p:spTgt spid="251915"/>
                                        </p:tgtEl>
                                        <p:attrNameLst>
                                          <p:attrName>style.visibility</p:attrName>
                                        </p:attrNameLst>
                                      </p:cBhvr>
                                      <p:to>
                                        <p:strVal val="visible"/>
                                      </p:to>
                                    </p:set>
                                    <p:animEffect transition="in" filter="barn(outHorizontal)">
                                      <p:cBhvr>
                                        <p:cTn id="67" dur="1000"/>
                                        <p:tgtEl>
                                          <p:spTgt spid="251915"/>
                                        </p:tgtEl>
                                      </p:cBhvr>
                                    </p:animEffect>
                                  </p:childTnLst>
                                </p:cTn>
                              </p:par>
                              <p:par>
                                <p:cTn id="68" presetID="16" presetClass="entr" presetSubtype="42" fill="hold" nodeType="withEffect">
                                  <p:stCondLst>
                                    <p:cond delay="0"/>
                                  </p:stCondLst>
                                  <p:childTnLst>
                                    <p:set>
                                      <p:cBhvr>
                                        <p:cTn id="69" dur="1" fill="hold">
                                          <p:stCondLst>
                                            <p:cond delay="0"/>
                                          </p:stCondLst>
                                        </p:cTn>
                                        <p:tgtEl>
                                          <p:spTgt spid="251936"/>
                                        </p:tgtEl>
                                        <p:attrNameLst>
                                          <p:attrName>style.visibility</p:attrName>
                                        </p:attrNameLst>
                                      </p:cBhvr>
                                      <p:to>
                                        <p:strVal val="visible"/>
                                      </p:to>
                                    </p:set>
                                    <p:animEffect transition="in" filter="barn(outHorizontal)">
                                      <p:cBhvr>
                                        <p:cTn id="70" dur="1000"/>
                                        <p:tgtEl>
                                          <p:spTgt spid="251936"/>
                                        </p:tgtEl>
                                      </p:cBhvr>
                                    </p:animEffect>
                                  </p:childTnLst>
                                </p:cTn>
                              </p:par>
                              <p:par>
                                <p:cTn id="71" presetID="16" presetClass="entr" presetSubtype="42" fill="hold" nodeType="withEffect">
                                  <p:stCondLst>
                                    <p:cond delay="0"/>
                                  </p:stCondLst>
                                  <p:childTnLst>
                                    <p:set>
                                      <p:cBhvr>
                                        <p:cTn id="72" dur="1" fill="hold">
                                          <p:stCondLst>
                                            <p:cond delay="0"/>
                                          </p:stCondLst>
                                        </p:cTn>
                                        <p:tgtEl>
                                          <p:spTgt spid="251937"/>
                                        </p:tgtEl>
                                        <p:attrNameLst>
                                          <p:attrName>style.visibility</p:attrName>
                                        </p:attrNameLst>
                                      </p:cBhvr>
                                      <p:to>
                                        <p:strVal val="visible"/>
                                      </p:to>
                                    </p:set>
                                    <p:animEffect transition="in" filter="barn(outHorizontal)">
                                      <p:cBhvr>
                                        <p:cTn id="73" dur="1000"/>
                                        <p:tgtEl>
                                          <p:spTgt spid="25193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51934"/>
                                        </p:tgtEl>
                                        <p:attrNameLst>
                                          <p:attrName>style.visibility</p:attrName>
                                        </p:attrNameLst>
                                      </p:cBhvr>
                                      <p:to>
                                        <p:strVal val="visible"/>
                                      </p:to>
                                    </p:set>
                                    <p:animEffect transition="in" filter="wipe(left)">
                                      <p:cBhvr>
                                        <p:cTn id="78" dur="1000"/>
                                        <p:tgtEl>
                                          <p:spTgt spid="251934"/>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51940"/>
                                        </p:tgtEl>
                                        <p:attrNameLst>
                                          <p:attrName>style.visibility</p:attrName>
                                        </p:attrNameLst>
                                      </p:cBhvr>
                                      <p:to>
                                        <p:strVal val="visible"/>
                                      </p:to>
                                    </p:set>
                                    <p:animEffect transition="in" filter="wipe(left)">
                                      <p:cBhvr>
                                        <p:cTn id="81" dur="1000"/>
                                        <p:tgtEl>
                                          <p:spTgt spid="251940"/>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51941"/>
                                        </p:tgtEl>
                                        <p:attrNameLst>
                                          <p:attrName>style.visibility</p:attrName>
                                        </p:attrNameLst>
                                      </p:cBhvr>
                                      <p:to>
                                        <p:strVal val="visible"/>
                                      </p:to>
                                    </p:set>
                                    <p:animEffect transition="in" filter="wipe(left)">
                                      <p:cBhvr>
                                        <p:cTn id="84" dur="1000"/>
                                        <p:tgtEl>
                                          <p:spTgt spid="251941"/>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251942"/>
                                        </p:tgtEl>
                                        <p:attrNameLst>
                                          <p:attrName>style.visibility</p:attrName>
                                        </p:attrNameLst>
                                      </p:cBhvr>
                                      <p:to>
                                        <p:strVal val="visible"/>
                                      </p:to>
                                    </p:set>
                                    <p:animEffect transition="in" filter="wipe(left)">
                                      <p:cBhvr>
                                        <p:cTn id="87" dur="1000"/>
                                        <p:tgtEl>
                                          <p:spTgt spid="25194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251911"/>
                                        </p:tgtEl>
                                        <p:attrNameLst>
                                          <p:attrName>style.visibility</p:attrName>
                                        </p:attrNameLst>
                                      </p:cBhvr>
                                      <p:to>
                                        <p:strVal val="visible"/>
                                      </p:to>
                                    </p:set>
                                    <p:animEffect transition="in" filter="wipe(up)">
                                      <p:cBhvr>
                                        <p:cTn id="92" dur="1000"/>
                                        <p:tgtEl>
                                          <p:spTgt spid="251911"/>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251912"/>
                                        </p:tgtEl>
                                        <p:attrNameLst>
                                          <p:attrName>style.visibility</p:attrName>
                                        </p:attrNameLst>
                                      </p:cBhvr>
                                      <p:to>
                                        <p:strVal val="visible"/>
                                      </p:to>
                                    </p:set>
                                    <p:animEffect transition="in" filter="wipe(up)">
                                      <p:cBhvr>
                                        <p:cTn id="95" dur="1000"/>
                                        <p:tgtEl>
                                          <p:spTgt spid="251912"/>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251913"/>
                                        </p:tgtEl>
                                        <p:attrNameLst>
                                          <p:attrName>style.visibility</p:attrName>
                                        </p:attrNameLst>
                                      </p:cBhvr>
                                      <p:to>
                                        <p:strVal val="visible"/>
                                      </p:to>
                                    </p:set>
                                    <p:animEffect transition="in" filter="wipe(up)">
                                      <p:cBhvr>
                                        <p:cTn id="98" dur="1000"/>
                                        <p:tgtEl>
                                          <p:spTgt spid="251913"/>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251933"/>
                                        </p:tgtEl>
                                        <p:attrNameLst>
                                          <p:attrName>style.visibility</p:attrName>
                                        </p:attrNameLst>
                                      </p:cBhvr>
                                      <p:to>
                                        <p:strVal val="visible"/>
                                      </p:to>
                                    </p:set>
                                    <p:animEffect transition="in" filter="wipe(up)">
                                      <p:cBhvr>
                                        <p:cTn id="101" dur="1000"/>
                                        <p:tgtEl>
                                          <p:spTgt spid="251933"/>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251914"/>
                                        </p:tgtEl>
                                        <p:attrNameLst>
                                          <p:attrName>style.visibility</p:attrName>
                                        </p:attrNameLst>
                                      </p:cBhvr>
                                      <p:to>
                                        <p:strVal val="visible"/>
                                      </p:to>
                                    </p:set>
                                    <p:animEffect transition="in" filter="wipe(up)">
                                      <p:cBhvr>
                                        <p:cTn id="104" dur="1000"/>
                                        <p:tgtEl>
                                          <p:spTgt spid="251914"/>
                                        </p:tgtEl>
                                      </p:cBhvr>
                                    </p:animEffect>
                                  </p:childTnLst>
                                </p:cTn>
                              </p:par>
                              <p:par>
                                <p:cTn id="105" presetID="22" presetClass="entr" presetSubtype="1" fill="hold" nodeType="withEffect">
                                  <p:stCondLst>
                                    <p:cond delay="0"/>
                                  </p:stCondLst>
                                  <p:childTnLst>
                                    <p:set>
                                      <p:cBhvr>
                                        <p:cTn id="106" dur="1" fill="hold">
                                          <p:stCondLst>
                                            <p:cond delay="0"/>
                                          </p:stCondLst>
                                        </p:cTn>
                                        <p:tgtEl>
                                          <p:spTgt spid="251938"/>
                                        </p:tgtEl>
                                        <p:attrNameLst>
                                          <p:attrName>style.visibility</p:attrName>
                                        </p:attrNameLst>
                                      </p:cBhvr>
                                      <p:to>
                                        <p:strVal val="visible"/>
                                      </p:to>
                                    </p:set>
                                    <p:animEffect transition="in" filter="wipe(up)">
                                      <p:cBhvr>
                                        <p:cTn id="107" dur="1000"/>
                                        <p:tgtEl>
                                          <p:spTgt spid="251938"/>
                                        </p:tgtEl>
                                      </p:cBhvr>
                                    </p:animEffect>
                                  </p:childTnLst>
                                </p:cTn>
                              </p:par>
                              <p:par>
                                <p:cTn id="108" presetID="22" presetClass="entr" presetSubtype="1" fill="hold" nodeType="withEffect">
                                  <p:stCondLst>
                                    <p:cond delay="0"/>
                                  </p:stCondLst>
                                  <p:childTnLst>
                                    <p:set>
                                      <p:cBhvr>
                                        <p:cTn id="109" dur="1" fill="hold">
                                          <p:stCondLst>
                                            <p:cond delay="0"/>
                                          </p:stCondLst>
                                        </p:cTn>
                                        <p:tgtEl>
                                          <p:spTgt spid="251939"/>
                                        </p:tgtEl>
                                        <p:attrNameLst>
                                          <p:attrName>style.visibility</p:attrName>
                                        </p:attrNameLst>
                                      </p:cBhvr>
                                      <p:to>
                                        <p:strVal val="visible"/>
                                      </p:to>
                                    </p:set>
                                    <p:animEffect transition="in" filter="wipe(up)">
                                      <p:cBhvr>
                                        <p:cTn id="110" dur="1000"/>
                                        <p:tgtEl>
                                          <p:spTgt spid="251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animBg="1"/>
      <p:bldP spid="251909" grpId="0" animBg="1"/>
      <p:bldP spid="251911" grpId="0" animBg="1"/>
      <p:bldP spid="251912" grpId="0" animBg="1"/>
      <p:bldP spid="251913" grpId="0" animBg="1"/>
      <p:bldP spid="251914" grpId="0"/>
      <p:bldP spid="251915" grpId="0"/>
      <p:bldP spid="251916" grpId="0" animBg="1"/>
      <p:bldP spid="251917" grpId="0" animBg="1"/>
      <p:bldP spid="251918" grpId="0" animBg="1"/>
      <p:bldP spid="251919" grpId="0" animBg="1"/>
      <p:bldP spid="251920" grpId="0"/>
      <p:bldP spid="251922" grpId="0" animBg="1"/>
      <p:bldP spid="251924" grpId="0" animBg="1"/>
      <p:bldP spid="251925" grpId="0"/>
      <p:bldP spid="251926" grpId="0"/>
      <p:bldP spid="251927" grpId="0"/>
      <p:bldP spid="602117" grpId="0"/>
      <p:bldP spid="251929" grpId="0" animBg="1"/>
      <p:bldP spid="251930" grpId="0" animBg="1"/>
      <p:bldP spid="251931" grpId="0"/>
      <p:bldP spid="251932" grpId="0" animBg="1"/>
      <p:bldP spid="251933" grpId="0" animBg="1"/>
      <p:bldP spid="251934" grpId="0" animBg="1"/>
      <p:bldP spid="251935" grpId="0" animBg="1"/>
      <p:bldP spid="251940" grpId="0"/>
      <p:bldP spid="251941" grpId="0"/>
      <p:bldP spid="2519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p:nvPr/>
        </p:nvSpPr>
        <p:spPr>
          <a:xfrm>
            <a:off x="320675" y="1044575"/>
            <a:ext cx="8607425" cy="4381500"/>
          </a:xfrm>
          <a:prstGeom prst="rect">
            <a:avLst/>
          </a:prstGeom>
          <a:solidFill>
            <a:srgbClr val="FFFF99">
              <a:alpha val="5881"/>
            </a:srgbClr>
          </a:solidFill>
          <a:ln w="6350" cap="flat" cmpd="sng">
            <a:solidFill>
              <a:srgbClr val="00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9218" name="Rectangle 3"/>
          <p:cNvSpPr/>
          <p:nvPr/>
        </p:nvSpPr>
        <p:spPr>
          <a:xfrm>
            <a:off x="0" y="6022975"/>
            <a:ext cx="9144000" cy="835025"/>
          </a:xfrm>
          <a:prstGeom prst="rect">
            <a:avLst/>
          </a:prstGeom>
          <a:solidFill>
            <a:srgbClr val="FFFFFF"/>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9219" name="Rectangle 4"/>
          <p:cNvSpPr/>
          <p:nvPr/>
        </p:nvSpPr>
        <p:spPr>
          <a:xfrm>
            <a:off x="0" y="0"/>
            <a:ext cx="9144000" cy="1025525"/>
          </a:xfrm>
          <a:prstGeom prst="rect">
            <a:avLst/>
          </a:prstGeom>
          <a:solidFill>
            <a:srgbClr val="FFFFFF"/>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197" name="Rectangle 5"/>
          <p:cNvSpPr/>
          <p:nvPr/>
        </p:nvSpPr>
        <p:spPr>
          <a:xfrm>
            <a:off x="231775" y="4164965"/>
            <a:ext cx="8096250" cy="1322070"/>
          </a:xfrm>
          <a:prstGeom prst="rect">
            <a:avLst/>
          </a:prstGeom>
          <a:noFill/>
          <a:ln w="6350">
            <a:noFill/>
          </a:ln>
        </p:spPr>
        <p:txBody>
          <a:bodyPr wrap="none" anchor="ctr" anchorCtr="0">
            <a:spAutoFit/>
          </a:bodyPr>
          <a:lstStyle/>
          <a:p>
            <a:pPr>
              <a:buBlip>
                <a:blip r:embed="rId2"/>
              </a:buBlip>
            </a:pPr>
            <a:r>
              <a:rPr lang="en-US" altLang="zh-CN" sz="2000" b="1" dirty="0">
                <a:latin typeface="Arial" panose="020B0604020202020204" pitchFamily="34" charset="0"/>
                <a:ea typeface="宋体" panose="02010600030101010101" pitchFamily="2" charset="-122"/>
              </a:rPr>
              <a:t>  </a:t>
            </a:r>
            <a:r>
              <a:rPr lang="zh-CN" altLang="en-US" sz="2000" b="1" dirty="0">
                <a:latin typeface="Arial" panose="020B0604020202020204" pitchFamily="34" charset="0"/>
                <a:ea typeface="宋体" panose="02010600030101010101" pitchFamily="2" charset="-122"/>
              </a:rPr>
              <a:t>在这种系统中，每一个时刻只能有一个总线主设备占用总线，其他</a:t>
            </a:r>
          </a:p>
          <a:p>
            <a:r>
              <a:rPr lang="zh-CN" altLang="en-US" sz="2000" b="1" dirty="0">
                <a:latin typeface="Arial" panose="020B0604020202020204" pitchFamily="34" charset="0"/>
                <a:ea typeface="宋体" panose="02010600030101010101" pitchFamily="2" charset="-122"/>
              </a:rPr>
              <a:t>总线主设备输出的地址、数据、控制信号必须</a:t>
            </a:r>
            <a:r>
              <a:rPr lang="zh-CN" altLang="en-US" sz="2000" b="1" u="sng" dirty="0">
                <a:solidFill>
                  <a:srgbClr val="FF3300"/>
                </a:solidFill>
                <a:latin typeface="Arial" panose="020B0604020202020204" pitchFamily="34" charset="0"/>
                <a:ea typeface="宋体" panose="02010600030101010101" pitchFamily="2" charset="-122"/>
              </a:rPr>
              <a:t>浮空</a:t>
            </a:r>
            <a:r>
              <a:rPr lang="zh-CN" altLang="en-US" sz="2000" b="1" dirty="0">
                <a:latin typeface="Arial" panose="020B0604020202020204" pitchFamily="34" charset="0"/>
                <a:ea typeface="宋体" panose="02010600030101010101" pitchFamily="2" charset="-122"/>
              </a:rPr>
              <a:t>（处于</a:t>
            </a:r>
            <a:r>
              <a:rPr lang="zh-CN" altLang="en-US" sz="2000" b="1" u="sng" dirty="0">
                <a:solidFill>
                  <a:srgbClr val="FF3300"/>
                </a:solidFill>
                <a:latin typeface="Arial" panose="020B0604020202020204" pitchFamily="34" charset="0"/>
                <a:ea typeface="宋体" panose="02010600030101010101" pitchFamily="2" charset="-122"/>
              </a:rPr>
              <a:t>高阻状态</a:t>
            </a:r>
            <a:r>
              <a:rPr lang="zh-CN" altLang="en-US" sz="2000" b="1" dirty="0">
                <a:latin typeface="Arial" panose="020B0604020202020204" pitchFamily="34" charset="0"/>
                <a:ea typeface="宋体" panose="02010600030101010101" pitchFamily="2" charset="-122"/>
              </a:rPr>
              <a:t>），</a:t>
            </a:r>
          </a:p>
          <a:p>
            <a:r>
              <a:rPr lang="zh-CN" altLang="en-US" sz="2000" b="1" dirty="0">
                <a:latin typeface="Arial" panose="020B0604020202020204" pitchFamily="34" charset="0"/>
                <a:ea typeface="宋体" panose="02010600030101010101" pitchFamily="2" charset="-122"/>
              </a:rPr>
              <a:t>这样系统才能正常工作。反之，如果信号只有两种状态，连在总线上的</a:t>
            </a:r>
          </a:p>
          <a:p>
            <a:r>
              <a:rPr lang="zh-CN" altLang="en-US" sz="2000" b="1" dirty="0">
                <a:latin typeface="Arial" panose="020B0604020202020204" pitchFamily="34" charset="0"/>
                <a:ea typeface="宋体" panose="02010600030101010101" pitchFamily="2" charset="-122"/>
              </a:rPr>
              <a:t>不同总线主输出信号状态不一致，信号相互钳制，系统便无法工作。</a:t>
            </a:r>
          </a:p>
        </p:txBody>
      </p:sp>
      <p:sp>
        <p:nvSpPr>
          <p:cNvPr id="264198" name="Rectangle 6"/>
          <p:cNvSpPr/>
          <p:nvPr/>
        </p:nvSpPr>
        <p:spPr>
          <a:xfrm>
            <a:off x="-47625" y="-114300"/>
            <a:ext cx="6394450" cy="568325"/>
          </a:xfrm>
          <a:prstGeom prst="rect">
            <a:avLst/>
          </a:prstGeom>
          <a:noFill/>
          <a:ln w="6350">
            <a:noFill/>
          </a:ln>
        </p:spPr>
        <p:txBody>
          <a:bodyPr wrap="none" anchor="t" anchorCtr="0">
            <a:spAutoFit/>
          </a:bodyPr>
          <a:lstStyle/>
          <a:p>
            <a:pPr marL="342900" indent="-342900" algn="ctr">
              <a:spcBef>
                <a:spcPct val="20000"/>
              </a:spcBef>
            </a:pPr>
            <a:r>
              <a:rPr lang="zh-CN" altLang="en-US" sz="3100" b="1" dirty="0">
                <a:solidFill>
                  <a:srgbClr val="FF0000"/>
                </a:solidFill>
                <a:latin typeface="Arial" panose="020B0604020202020204" pitchFamily="34" charset="0"/>
                <a:ea typeface="宋体" panose="02010600030101010101" pitchFamily="2" charset="-122"/>
              </a:rPr>
              <a:t>何</a:t>
            </a:r>
            <a:r>
              <a:rPr lang="zh-CN" altLang="en-US" sz="2400" b="1" dirty="0">
                <a:latin typeface="Arial" panose="020B0604020202020204" pitchFamily="34" charset="0"/>
                <a:ea typeface="宋体" panose="02010600030101010101" pitchFamily="2" charset="-122"/>
              </a:rPr>
              <a:t>谓三态？请举例说明总线为什么需要三态？</a:t>
            </a:r>
          </a:p>
        </p:txBody>
      </p:sp>
      <p:sp>
        <p:nvSpPr>
          <p:cNvPr id="264199" name="Rectangle 7"/>
          <p:cNvSpPr/>
          <p:nvPr/>
        </p:nvSpPr>
        <p:spPr>
          <a:xfrm>
            <a:off x="393700" y="558800"/>
            <a:ext cx="6308725" cy="398463"/>
          </a:xfrm>
          <a:prstGeom prst="rect">
            <a:avLst/>
          </a:prstGeom>
          <a:noFill/>
          <a:ln w="6350">
            <a:noFill/>
          </a:ln>
        </p:spPr>
        <p:txBody>
          <a:bodyPr wrap="none" anchor="t" anchorCtr="0">
            <a:spAutoFit/>
          </a:bodyPr>
          <a:lstStyle/>
          <a:p>
            <a:pPr marL="342900" indent="-342900" algn="ctr">
              <a:spcBef>
                <a:spcPct val="20000"/>
              </a:spcBef>
            </a:pPr>
            <a:r>
              <a:rPr lang="zh-CN" altLang="en-US" sz="2000" b="1" dirty="0">
                <a:latin typeface="Arial" panose="020B0604020202020204" pitchFamily="34" charset="0"/>
                <a:ea typeface="宋体" panose="02010600030101010101" pitchFamily="2" charset="-122"/>
              </a:rPr>
              <a:t>答：所谓三态即高电平状态、低电平状态和高阻状态。</a:t>
            </a:r>
          </a:p>
        </p:txBody>
      </p:sp>
      <p:sp>
        <p:nvSpPr>
          <p:cNvPr id="264200" name="Rectangle 8"/>
          <p:cNvSpPr/>
          <p:nvPr/>
        </p:nvSpPr>
        <p:spPr>
          <a:xfrm>
            <a:off x="250825" y="1016000"/>
            <a:ext cx="6140450" cy="398463"/>
          </a:xfrm>
          <a:prstGeom prst="rect">
            <a:avLst/>
          </a:prstGeom>
          <a:noFill/>
          <a:ln w="6350">
            <a:noFill/>
          </a:ln>
        </p:spPr>
        <p:txBody>
          <a:bodyPr wrap="none" anchor="t" anchorCtr="0">
            <a:spAutoFit/>
          </a:bodyPr>
          <a:lstStyle/>
          <a:p>
            <a:pPr marL="342900" indent="-342900" algn="ctr">
              <a:spcBef>
                <a:spcPct val="20000"/>
              </a:spcBef>
              <a:buBlip>
                <a:blip r:embed="rId2"/>
              </a:buBlip>
            </a:pPr>
            <a:r>
              <a:rPr lang="zh-CN" altLang="en-US" sz="2000" b="1" dirty="0">
                <a:latin typeface="Arial" panose="020B0604020202020204" pitchFamily="34" charset="0"/>
                <a:ea typeface="宋体" panose="02010600030101010101" pitchFamily="2" charset="-122"/>
              </a:rPr>
              <a:t>在计算机系统中，信号的传输是通过总线进行的。</a:t>
            </a:r>
          </a:p>
        </p:txBody>
      </p:sp>
      <p:sp>
        <p:nvSpPr>
          <p:cNvPr id="264201" name="Rectangle 9"/>
          <p:cNvSpPr/>
          <p:nvPr/>
        </p:nvSpPr>
        <p:spPr>
          <a:xfrm>
            <a:off x="252413" y="1473200"/>
            <a:ext cx="8558212" cy="398463"/>
          </a:xfrm>
          <a:prstGeom prst="rect">
            <a:avLst/>
          </a:prstGeom>
          <a:noFill/>
          <a:ln w="6350">
            <a:noFill/>
          </a:ln>
        </p:spPr>
        <p:txBody>
          <a:bodyPr wrap="none" anchor="t" anchorCtr="0">
            <a:spAutoFit/>
          </a:bodyPr>
          <a:lstStyle/>
          <a:p>
            <a:pPr marL="342900" indent="-342900" algn="ctr">
              <a:spcBef>
                <a:spcPct val="20000"/>
              </a:spcBef>
              <a:buBlip>
                <a:blip r:embed="rId2"/>
              </a:buBlip>
            </a:pPr>
            <a:r>
              <a:rPr lang="zh-CN" altLang="en-US" sz="2000" b="1" dirty="0">
                <a:latin typeface="Arial" panose="020B0604020202020204" pitchFamily="34" charset="0"/>
                <a:ea typeface="宋体" panose="02010600030101010101" pitchFamily="2" charset="-122"/>
              </a:rPr>
              <a:t>总线上往往连接有多个</a:t>
            </a:r>
            <a:r>
              <a:rPr lang="zh-CN" altLang="en-US" sz="2000" b="1" u="sng" dirty="0">
                <a:solidFill>
                  <a:srgbClr val="FF3300"/>
                </a:solidFill>
                <a:latin typeface="Arial" panose="020B0604020202020204" pitchFamily="34" charset="0"/>
                <a:ea typeface="宋体" panose="02010600030101010101" pitchFamily="2" charset="-122"/>
              </a:rPr>
              <a:t>总线主设备</a:t>
            </a:r>
            <a:r>
              <a:rPr lang="zh-CN" altLang="en-US" sz="2000" b="1" dirty="0">
                <a:latin typeface="Arial" panose="020B0604020202020204" pitchFamily="34" charset="0"/>
                <a:ea typeface="宋体" panose="02010600030101010101" pitchFamily="2" charset="-122"/>
              </a:rPr>
              <a:t>，</a:t>
            </a:r>
            <a:r>
              <a:rPr lang="en-US" altLang="zh-CN" sz="2000" b="1" dirty="0">
                <a:solidFill>
                  <a:srgbClr val="FF0000"/>
                </a:solidFill>
                <a:latin typeface="Arial" panose="020B0604020202020204" pitchFamily="34" charset="0"/>
                <a:ea typeface="宋体" panose="02010600030101010101" pitchFamily="2" charset="-122"/>
              </a:rPr>
              <a:t>CPU</a:t>
            </a:r>
            <a:r>
              <a:rPr lang="zh-CN" altLang="en-US" sz="2000" b="1" dirty="0">
                <a:latin typeface="Arial" panose="020B0604020202020204" pitchFamily="34" charset="0"/>
                <a:ea typeface="宋体" panose="02010600030101010101" pitchFamily="2" charset="-122"/>
              </a:rPr>
              <a:t>、</a:t>
            </a:r>
            <a:r>
              <a:rPr lang="en-US" altLang="zh-CN" sz="2000" b="1" dirty="0">
                <a:solidFill>
                  <a:srgbClr val="FF0000"/>
                </a:solidFill>
                <a:latin typeface="Arial" panose="020B0604020202020204" pitchFamily="34" charset="0"/>
                <a:ea typeface="宋体" panose="02010600030101010101" pitchFamily="2" charset="-122"/>
              </a:rPr>
              <a:t>DMA</a:t>
            </a:r>
            <a:r>
              <a:rPr lang="zh-CN" altLang="en-US" sz="2000" b="1" dirty="0">
                <a:latin typeface="Arial" panose="020B0604020202020204" pitchFamily="34" charset="0"/>
                <a:ea typeface="宋体" panose="02010600030101010101" pitchFamily="2" charset="-122"/>
              </a:rPr>
              <a:t>或者多个</a:t>
            </a:r>
            <a:r>
              <a:rPr lang="en-US" altLang="zh-CN" sz="2000" b="1" dirty="0">
                <a:solidFill>
                  <a:srgbClr val="FF0000"/>
                </a:solidFill>
                <a:latin typeface="Arial" panose="020B0604020202020204" pitchFamily="34" charset="0"/>
                <a:ea typeface="宋体" panose="02010600030101010101" pitchFamily="2" charset="-122"/>
              </a:rPr>
              <a:t>CPU</a:t>
            </a:r>
            <a:r>
              <a:rPr lang="zh-CN" altLang="en-US" sz="2000" b="1" dirty="0">
                <a:latin typeface="Arial" panose="020B0604020202020204" pitchFamily="34" charset="0"/>
                <a:ea typeface="宋体" panose="02010600030101010101" pitchFamily="2" charset="-122"/>
              </a:rPr>
              <a:t>。或者说</a:t>
            </a:r>
          </a:p>
        </p:txBody>
      </p:sp>
      <p:sp>
        <p:nvSpPr>
          <p:cNvPr id="264202" name="Rectangle 10"/>
          <p:cNvSpPr/>
          <p:nvPr/>
        </p:nvSpPr>
        <p:spPr>
          <a:xfrm>
            <a:off x="565150" y="1851025"/>
            <a:ext cx="6122988" cy="398463"/>
          </a:xfrm>
          <a:prstGeom prst="rect">
            <a:avLst/>
          </a:prstGeom>
          <a:noFill/>
          <a:ln w="6350">
            <a:noFill/>
          </a:ln>
        </p:spPr>
        <p:txBody>
          <a:bodyPr wrap="none" anchor="t" anchorCtr="0">
            <a:spAutoFit/>
          </a:bodyPr>
          <a:lstStyle/>
          <a:p>
            <a:pPr marL="342900" indent="-342900" algn="ctr">
              <a:spcBef>
                <a:spcPct val="20000"/>
              </a:spcBef>
            </a:pPr>
            <a:r>
              <a:rPr lang="zh-CN" altLang="en-US" sz="2000" b="1" dirty="0">
                <a:latin typeface="Arial" panose="020B0604020202020204" pitchFamily="34" charset="0"/>
                <a:ea typeface="宋体" panose="02010600030101010101" pitchFamily="2" charset="-122"/>
              </a:rPr>
              <a:t>系统通常是包含</a:t>
            </a:r>
            <a:r>
              <a:rPr lang="en-US" altLang="zh-CN" sz="2000" b="1" dirty="0">
                <a:solidFill>
                  <a:srgbClr val="FF0000"/>
                </a:solidFill>
                <a:latin typeface="Arial" panose="020B0604020202020204" pitchFamily="34" charset="0"/>
                <a:ea typeface="宋体" panose="02010600030101010101" pitchFamily="2" charset="-122"/>
              </a:rPr>
              <a:t>DMA</a:t>
            </a:r>
            <a:r>
              <a:rPr lang="zh-CN" altLang="en-US" sz="2000" b="1" dirty="0">
                <a:latin typeface="Arial" panose="020B0604020202020204" pitchFamily="34" charset="0"/>
                <a:ea typeface="宋体" panose="02010600030101010101" pitchFamily="2" charset="-122"/>
              </a:rPr>
              <a:t>控制器的系统或者是多主系统。</a:t>
            </a:r>
          </a:p>
        </p:txBody>
      </p:sp>
      <p:sp>
        <p:nvSpPr>
          <p:cNvPr id="264203" name="AutoShape 11"/>
          <p:cNvSpPr/>
          <p:nvPr/>
        </p:nvSpPr>
        <p:spPr>
          <a:xfrm>
            <a:off x="322263" y="2166938"/>
            <a:ext cx="8104187" cy="644525"/>
          </a:xfrm>
          <a:prstGeom prst="leftRightArrow">
            <a:avLst>
              <a:gd name="adj1" fmla="val 50000"/>
              <a:gd name="adj2" fmla="val 251070"/>
            </a:avLst>
          </a:prstGeom>
          <a:solidFill>
            <a:srgbClr val="808000"/>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04" name="AutoShape 12"/>
          <p:cNvSpPr/>
          <p:nvPr/>
        </p:nvSpPr>
        <p:spPr>
          <a:xfrm>
            <a:off x="2301875" y="2657475"/>
            <a:ext cx="787400" cy="646113"/>
          </a:xfrm>
          <a:prstGeom prst="upDownArrow">
            <a:avLst>
              <a:gd name="adj1" fmla="val 50000"/>
              <a:gd name="adj2" fmla="val 20000"/>
            </a:avLst>
          </a:prstGeom>
          <a:solidFill>
            <a:srgbClr val="808000"/>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05" name="Rectangle 13"/>
          <p:cNvSpPr/>
          <p:nvPr/>
        </p:nvSpPr>
        <p:spPr>
          <a:xfrm>
            <a:off x="2144713" y="3287713"/>
            <a:ext cx="1071562" cy="771525"/>
          </a:xfrm>
          <a:prstGeom prst="rect">
            <a:avLst/>
          </a:prstGeom>
          <a:solidFill>
            <a:srgbClr val="FFFF99">
              <a:alpha val="16861"/>
            </a:srgbClr>
          </a:solidFill>
          <a:ln w="6350" cap="flat" cmpd="sng">
            <a:solidFill>
              <a:srgbClr val="FF00FF"/>
            </a:solidFill>
            <a:prstDash val="solid"/>
            <a:miter/>
            <a:headEnd type="none" w="med" len="med"/>
            <a:tailEnd type="none" w="med" len="med"/>
          </a:ln>
          <a:effectLst>
            <a:outerShdw dist="107763" dir="8100000" algn="ctr" rotWithShape="0">
              <a:schemeClr val="bg2">
                <a:alpha val="50000"/>
              </a:schemeClr>
            </a:outerShdw>
          </a:effectLst>
        </p:spPr>
        <p:txBody>
          <a:bodyPr wrap="none" anchor="ctr" anchorCtr="0"/>
          <a:lstStyle/>
          <a:p>
            <a:pPr marL="342900" indent="-342900" algn="ctr">
              <a:spcBef>
                <a:spcPct val="20000"/>
              </a:spcBef>
            </a:pPr>
            <a:r>
              <a:rPr lang="en-US" altLang="zh-CN" sz="3000" b="1" dirty="0">
                <a:solidFill>
                  <a:srgbClr val="FF0000"/>
                </a:solidFill>
                <a:latin typeface="Arial" panose="020B0604020202020204" pitchFamily="34" charset="0"/>
                <a:ea typeface="宋体" panose="02010600030101010101" pitchFamily="2" charset="-122"/>
              </a:rPr>
              <a:t>CPU</a:t>
            </a:r>
          </a:p>
        </p:txBody>
      </p:sp>
      <p:sp>
        <p:nvSpPr>
          <p:cNvPr id="264206" name="AutoShape 14"/>
          <p:cNvSpPr/>
          <p:nvPr/>
        </p:nvSpPr>
        <p:spPr>
          <a:xfrm>
            <a:off x="3719513" y="2662238"/>
            <a:ext cx="787400" cy="646112"/>
          </a:xfrm>
          <a:prstGeom prst="upDownArrow">
            <a:avLst>
              <a:gd name="adj1" fmla="val 50000"/>
              <a:gd name="adj2" fmla="val 20000"/>
            </a:avLst>
          </a:prstGeom>
          <a:solidFill>
            <a:srgbClr val="808000"/>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07" name="Rectangle 15"/>
          <p:cNvSpPr/>
          <p:nvPr/>
        </p:nvSpPr>
        <p:spPr>
          <a:xfrm>
            <a:off x="3562350" y="3292475"/>
            <a:ext cx="1071563" cy="771525"/>
          </a:xfrm>
          <a:prstGeom prst="rect">
            <a:avLst/>
          </a:prstGeom>
          <a:solidFill>
            <a:srgbClr val="FFFF99">
              <a:alpha val="16861"/>
            </a:srgbClr>
          </a:solidFill>
          <a:ln w="6350" cap="flat" cmpd="sng">
            <a:solidFill>
              <a:srgbClr val="FF00FF"/>
            </a:solidFill>
            <a:prstDash val="solid"/>
            <a:miter/>
            <a:headEnd type="none" w="med" len="med"/>
            <a:tailEnd type="none" w="med" len="med"/>
          </a:ln>
          <a:effectLst>
            <a:outerShdw dist="107763" dir="8100000" algn="ctr" rotWithShape="0">
              <a:schemeClr val="bg2">
                <a:alpha val="50000"/>
              </a:schemeClr>
            </a:outerShdw>
          </a:effectLst>
        </p:spPr>
        <p:txBody>
          <a:bodyPr wrap="none" anchor="ctr" anchorCtr="0"/>
          <a:lstStyle/>
          <a:p>
            <a:pPr marL="342900" indent="-342900" algn="ctr">
              <a:spcBef>
                <a:spcPct val="20000"/>
              </a:spcBef>
            </a:pPr>
            <a:r>
              <a:rPr lang="en-US" altLang="zh-CN" sz="3000" b="1" dirty="0">
                <a:solidFill>
                  <a:srgbClr val="FF0000"/>
                </a:solidFill>
                <a:latin typeface="Arial" panose="020B0604020202020204" pitchFamily="34" charset="0"/>
                <a:ea typeface="宋体" panose="02010600030101010101" pitchFamily="2" charset="-122"/>
              </a:rPr>
              <a:t>CPU</a:t>
            </a:r>
          </a:p>
        </p:txBody>
      </p:sp>
      <p:sp>
        <p:nvSpPr>
          <p:cNvPr id="264208" name="AutoShape 16"/>
          <p:cNvSpPr/>
          <p:nvPr/>
        </p:nvSpPr>
        <p:spPr>
          <a:xfrm>
            <a:off x="5565775" y="2682875"/>
            <a:ext cx="787400" cy="646113"/>
          </a:xfrm>
          <a:prstGeom prst="upDownArrow">
            <a:avLst>
              <a:gd name="adj1" fmla="val 50000"/>
              <a:gd name="adj2" fmla="val 20000"/>
            </a:avLst>
          </a:prstGeom>
          <a:solidFill>
            <a:srgbClr val="808000"/>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09" name="Rectangle 17"/>
          <p:cNvSpPr/>
          <p:nvPr/>
        </p:nvSpPr>
        <p:spPr>
          <a:xfrm>
            <a:off x="5408613" y="3313113"/>
            <a:ext cx="1071562" cy="771525"/>
          </a:xfrm>
          <a:prstGeom prst="rect">
            <a:avLst/>
          </a:prstGeom>
          <a:solidFill>
            <a:srgbClr val="CCFFCC">
              <a:alpha val="16861"/>
            </a:srgbClr>
          </a:solidFill>
          <a:ln w="6350" cap="flat" cmpd="sng">
            <a:solidFill>
              <a:srgbClr val="0000FF"/>
            </a:solidFill>
            <a:prstDash val="solid"/>
            <a:miter/>
            <a:headEnd type="none" w="med" len="med"/>
            <a:tailEnd type="none" w="med" len="med"/>
          </a:ln>
          <a:effectLst>
            <a:outerShdw dist="107763" dir="8100000" algn="ctr" rotWithShape="0">
              <a:schemeClr val="bg2">
                <a:alpha val="50000"/>
              </a:schemeClr>
            </a:outerShdw>
          </a:effectLst>
        </p:spPr>
        <p:txBody>
          <a:bodyPr wrap="none" anchor="ctr" anchorCtr="0"/>
          <a:lstStyle/>
          <a:p>
            <a:pPr marL="342900" indent="-342900" algn="ctr">
              <a:spcBef>
                <a:spcPct val="20000"/>
              </a:spcBef>
            </a:pPr>
            <a:r>
              <a:rPr lang="en-US" altLang="zh-CN" sz="3000" b="1" dirty="0">
                <a:solidFill>
                  <a:srgbClr val="FF0000"/>
                </a:solidFill>
                <a:latin typeface="Arial" panose="020B0604020202020204" pitchFamily="34" charset="0"/>
                <a:ea typeface="宋体" panose="02010600030101010101" pitchFamily="2" charset="-122"/>
              </a:rPr>
              <a:t>DMA</a:t>
            </a:r>
          </a:p>
        </p:txBody>
      </p:sp>
      <p:sp>
        <p:nvSpPr>
          <p:cNvPr id="264210" name="Rectangle 18"/>
          <p:cNvSpPr/>
          <p:nvPr/>
        </p:nvSpPr>
        <p:spPr>
          <a:xfrm>
            <a:off x="315913" y="484188"/>
            <a:ext cx="8609012" cy="504825"/>
          </a:xfrm>
          <a:prstGeom prst="rect">
            <a:avLst/>
          </a:prstGeom>
          <a:solidFill>
            <a:srgbClr val="FFFF99">
              <a:alpha val="5881"/>
            </a:srgbClr>
          </a:solidFill>
          <a:ln w="63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11" name="Text Box 19"/>
          <p:cNvSpPr txBox="1"/>
          <p:nvPr/>
        </p:nvSpPr>
        <p:spPr>
          <a:xfrm>
            <a:off x="8405813" y="292100"/>
            <a:ext cx="536575" cy="860425"/>
          </a:xfrm>
          <a:prstGeom prst="rect">
            <a:avLst/>
          </a:prstGeom>
          <a:noFill/>
          <a:ln w="6350">
            <a:noFill/>
          </a:ln>
          <a:effectLst>
            <a:outerShdw dist="107763" dir="8100000" algn="ctr" rotWithShape="0">
              <a:schemeClr val="bg2">
                <a:alpha val="50000"/>
              </a:schemeClr>
            </a:outerShdw>
          </a:effectLst>
        </p:spPr>
        <p:txBody>
          <a:bodyPr wrap="none" anchor="t" anchorCtr="0">
            <a:spAutoFit/>
          </a:bodyPr>
          <a:lstStyle/>
          <a:p>
            <a:pPr marL="342900" indent="-342900" algn="ctr">
              <a:spcBef>
                <a:spcPct val="20000"/>
              </a:spcBef>
            </a:pPr>
            <a:r>
              <a:rPr lang="en-US" altLang="zh-CN" sz="5000" b="1" dirty="0">
                <a:solidFill>
                  <a:srgbClr val="FF0000"/>
                </a:solidFill>
                <a:latin typeface="Arial" panose="020B0604020202020204" pitchFamily="34" charset="0"/>
                <a:ea typeface="宋体" panose="02010600030101010101" pitchFamily="2" charset="-122"/>
              </a:rPr>
              <a:t>1</a:t>
            </a:r>
          </a:p>
        </p:txBody>
      </p:sp>
      <p:sp>
        <p:nvSpPr>
          <p:cNvPr id="264212" name="Text Box 20"/>
          <p:cNvSpPr txBox="1"/>
          <p:nvPr/>
        </p:nvSpPr>
        <p:spPr>
          <a:xfrm>
            <a:off x="8410575" y="836613"/>
            <a:ext cx="536575" cy="860425"/>
          </a:xfrm>
          <a:prstGeom prst="rect">
            <a:avLst/>
          </a:prstGeom>
          <a:noFill/>
          <a:ln w="6350">
            <a:noFill/>
          </a:ln>
          <a:effectLst>
            <a:outerShdw dist="107763" dir="8100000" algn="ctr" rotWithShape="0">
              <a:schemeClr val="bg2">
                <a:alpha val="50000"/>
              </a:schemeClr>
            </a:outerShdw>
          </a:effectLst>
        </p:spPr>
        <p:txBody>
          <a:bodyPr wrap="none" anchor="t" anchorCtr="0">
            <a:spAutoFit/>
          </a:bodyPr>
          <a:lstStyle/>
          <a:p>
            <a:pPr marL="342900" indent="-342900" algn="ctr">
              <a:spcBef>
                <a:spcPct val="20000"/>
              </a:spcBef>
            </a:pPr>
            <a:r>
              <a:rPr lang="en-US" altLang="zh-CN" sz="5000" b="1" dirty="0">
                <a:solidFill>
                  <a:srgbClr val="FF0000"/>
                </a:solidFill>
                <a:latin typeface="Arial" panose="020B0604020202020204" pitchFamily="34" charset="0"/>
                <a:ea typeface="宋体" panose="02010600030101010101" pitchFamily="2" charset="-122"/>
              </a:rPr>
              <a:t>2</a:t>
            </a:r>
          </a:p>
        </p:txBody>
      </p:sp>
      <p:sp>
        <p:nvSpPr>
          <p:cNvPr id="264213" name="Rectangle 21"/>
          <p:cNvSpPr/>
          <p:nvPr/>
        </p:nvSpPr>
        <p:spPr>
          <a:xfrm>
            <a:off x="171450" y="5364163"/>
            <a:ext cx="3500438" cy="1076325"/>
          </a:xfrm>
          <a:prstGeom prst="rect">
            <a:avLst/>
          </a:prstGeom>
          <a:noFill/>
          <a:ln w="6350">
            <a:noFill/>
          </a:ln>
        </p:spPr>
        <p:txBody>
          <a:bodyPr wrap="none" anchor="t" anchorCtr="0">
            <a:spAutoFit/>
          </a:bodyPr>
          <a:lstStyle/>
          <a:p>
            <a:pPr marL="342900" indent="-342900" algn="ctr">
              <a:spcBef>
                <a:spcPct val="20000"/>
              </a:spcBef>
            </a:pPr>
            <a:r>
              <a:rPr lang="zh-CN" altLang="en-US" sz="4000" b="1" dirty="0">
                <a:solidFill>
                  <a:srgbClr val="FF0000"/>
                </a:solidFill>
                <a:latin typeface="Arial" panose="020B0604020202020204" pitchFamily="34" charset="0"/>
                <a:ea typeface="宋体" panose="02010600030101010101" pitchFamily="2" charset="-122"/>
              </a:rPr>
              <a:t>挂</a:t>
            </a:r>
            <a:r>
              <a:rPr lang="zh-CN" altLang="en-US" sz="2000" b="1" dirty="0">
                <a:latin typeface="Arial" panose="020B0604020202020204" pitchFamily="34" charset="0"/>
                <a:ea typeface="宋体" panose="02010600030101010101" pitchFamily="2" charset="-122"/>
              </a:rPr>
              <a:t>在总线上的器件，一般</a:t>
            </a:r>
          </a:p>
          <a:p>
            <a:pPr marL="342900" indent="-342900" algn="ctr">
              <a:spcBef>
                <a:spcPct val="20000"/>
              </a:spcBef>
            </a:pPr>
            <a:r>
              <a:rPr lang="zh-CN" altLang="en-US" sz="2000" b="1" dirty="0">
                <a:latin typeface="Arial" panose="020B0604020202020204" pitchFamily="34" charset="0"/>
                <a:ea typeface="宋体" panose="02010600030101010101" pitchFamily="2" charset="-122"/>
              </a:rPr>
              <a:t>具有“三态”特性，三态：第</a:t>
            </a:r>
          </a:p>
        </p:txBody>
      </p:sp>
      <p:sp>
        <p:nvSpPr>
          <p:cNvPr id="264214" name="Text Box 22"/>
          <p:cNvSpPr txBox="1"/>
          <p:nvPr/>
        </p:nvSpPr>
        <p:spPr>
          <a:xfrm>
            <a:off x="4000500" y="5468938"/>
            <a:ext cx="1290638" cy="398462"/>
          </a:xfrm>
          <a:prstGeom prst="rect">
            <a:avLst/>
          </a:prstGeom>
          <a:noFill/>
          <a:ln w="25400">
            <a:noFill/>
          </a:ln>
        </p:spPr>
        <p:txBody>
          <a:bodyPr wrap="none" anchor="t" anchorCtr="0">
            <a:spAutoFit/>
          </a:bodyPr>
          <a:lstStyle/>
          <a:p>
            <a:pPr marL="342900" indent="-342900" algn="ctr">
              <a:spcBef>
                <a:spcPct val="20000"/>
              </a:spcBef>
              <a:buBlip>
                <a:blip r:embed="rId3"/>
              </a:buBlip>
            </a:pPr>
            <a:r>
              <a:rPr lang="zh-CN" altLang="en-US" sz="2000" b="1" dirty="0">
                <a:latin typeface="Arial" panose="020B0604020202020204" pitchFamily="34" charset="0"/>
                <a:ea typeface="宋体" panose="02010600030101010101" pitchFamily="2" charset="-122"/>
              </a:rPr>
              <a:t>高电平</a:t>
            </a:r>
          </a:p>
        </p:txBody>
      </p:sp>
      <p:sp>
        <p:nvSpPr>
          <p:cNvPr id="264215" name="Text Box 23"/>
          <p:cNvSpPr txBox="1"/>
          <p:nvPr/>
        </p:nvSpPr>
        <p:spPr>
          <a:xfrm>
            <a:off x="4000500" y="5813425"/>
            <a:ext cx="1290638" cy="398463"/>
          </a:xfrm>
          <a:prstGeom prst="rect">
            <a:avLst/>
          </a:prstGeom>
          <a:noFill/>
          <a:ln w="25400">
            <a:noFill/>
          </a:ln>
        </p:spPr>
        <p:txBody>
          <a:bodyPr wrap="none" anchor="t" anchorCtr="0">
            <a:spAutoFit/>
          </a:bodyPr>
          <a:lstStyle/>
          <a:p>
            <a:pPr marL="342900" indent="-342900" algn="ctr">
              <a:spcBef>
                <a:spcPct val="20000"/>
              </a:spcBef>
              <a:buBlip>
                <a:blip r:embed="rId3"/>
              </a:buBlip>
            </a:pPr>
            <a:r>
              <a:rPr lang="zh-CN" altLang="en-US" sz="2000" b="1" dirty="0">
                <a:latin typeface="Arial" panose="020B0604020202020204" pitchFamily="34" charset="0"/>
                <a:ea typeface="宋体" panose="02010600030101010101" pitchFamily="2" charset="-122"/>
              </a:rPr>
              <a:t>低电平</a:t>
            </a:r>
          </a:p>
        </p:txBody>
      </p:sp>
      <p:sp>
        <p:nvSpPr>
          <p:cNvPr id="264216" name="Text Box 24"/>
          <p:cNvSpPr txBox="1"/>
          <p:nvPr/>
        </p:nvSpPr>
        <p:spPr>
          <a:xfrm>
            <a:off x="3967163" y="6111875"/>
            <a:ext cx="2392362" cy="768350"/>
          </a:xfrm>
          <a:prstGeom prst="rect">
            <a:avLst/>
          </a:prstGeom>
          <a:noFill/>
          <a:ln w="25400">
            <a:noFill/>
          </a:ln>
        </p:spPr>
        <p:txBody>
          <a:bodyPr wrap="none" anchor="t" anchorCtr="0">
            <a:spAutoFit/>
          </a:bodyPr>
          <a:lstStyle/>
          <a:p>
            <a:pPr marL="342900" indent="-342900" algn="ctr">
              <a:spcBef>
                <a:spcPct val="20000"/>
              </a:spcBef>
              <a:buBlip>
                <a:blip r:embed="rId3"/>
              </a:buBlip>
            </a:pPr>
            <a:r>
              <a:rPr lang="zh-CN" altLang="en-US" sz="2000" b="1" dirty="0">
                <a:latin typeface="Arial" panose="020B0604020202020204" pitchFamily="34" charset="0"/>
                <a:ea typeface="宋体" panose="02010600030101010101" pitchFamily="2" charset="-122"/>
              </a:rPr>
              <a:t>（与总线）断开</a:t>
            </a:r>
          </a:p>
          <a:p>
            <a:pPr marL="342900" indent="-342900" algn="ctr">
              <a:spcBef>
                <a:spcPct val="20000"/>
              </a:spcBef>
              <a:buNone/>
            </a:pPr>
            <a:r>
              <a:rPr lang="zh-CN" altLang="en-US" sz="2000" b="1" dirty="0">
                <a:latin typeface="Arial" panose="020B0604020202020204" pitchFamily="34" charset="0"/>
                <a:ea typeface="宋体" panose="02010600030101010101" pitchFamily="2" charset="-122"/>
              </a:rPr>
              <a:t>      （不高也不低）</a:t>
            </a:r>
          </a:p>
        </p:txBody>
      </p:sp>
      <p:sp>
        <p:nvSpPr>
          <p:cNvPr id="264217" name="Text Box 25"/>
          <p:cNvSpPr txBox="1"/>
          <p:nvPr/>
        </p:nvSpPr>
        <p:spPr>
          <a:xfrm>
            <a:off x="6724650" y="5818188"/>
            <a:ext cx="1035050" cy="398462"/>
          </a:xfrm>
          <a:prstGeom prst="rect">
            <a:avLst/>
          </a:prstGeom>
          <a:noFill/>
          <a:ln w="25400">
            <a:noFill/>
          </a:ln>
        </p:spPr>
        <p:txBody>
          <a:bodyPr wrap="none" anchor="t" anchorCtr="0">
            <a:spAutoFit/>
          </a:bodyPr>
          <a:lstStyle/>
          <a:p>
            <a:pPr marL="342900" indent="-342900" algn="ctr">
              <a:spcBef>
                <a:spcPct val="20000"/>
              </a:spcBef>
              <a:buBlip>
                <a:blip r:embed="rId4"/>
              </a:buBlip>
            </a:pPr>
            <a:r>
              <a:rPr lang="zh-CN" altLang="en-US" sz="2000" b="1" dirty="0">
                <a:latin typeface="Arial" panose="020B0604020202020204" pitchFamily="34" charset="0"/>
                <a:ea typeface="宋体" panose="02010600030101010101" pitchFamily="2" charset="-122"/>
              </a:rPr>
              <a:t>输出</a:t>
            </a:r>
          </a:p>
        </p:txBody>
      </p:sp>
      <p:sp>
        <p:nvSpPr>
          <p:cNvPr id="264218" name="Text Box 26"/>
          <p:cNvSpPr txBox="1"/>
          <p:nvPr/>
        </p:nvSpPr>
        <p:spPr>
          <a:xfrm>
            <a:off x="6724650" y="5470525"/>
            <a:ext cx="1035050" cy="398463"/>
          </a:xfrm>
          <a:prstGeom prst="rect">
            <a:avLst/>
          </a:prstGeom>
          <a:noFill/>
          <a:ln w="25400">
            <a:noFill/>
          </a:ln>
        </p:spPr>
        <p:txBody>
          <a:bodyPr wrap="none" anchor="t" anchorCtr="0">
            <a:spAutoFit/>
          </a:bodyPr>
          <a:lstStyle/>
          <a:p>
            <a:pPr marL="342900" indent="-342900" algn="ctr">
              <a:spcBef>
                <a:spcPct val="20000"/>
              </a:spcBef>
              <a:buBlip>
                <a:blip r:embed="rId4"/>
              </a:buBlip>
            </a:pPr>
            <a:r>
              <a:rPr lang="zh-CN" altLang="en-US" sz="2000" b="1" dirty="0">
                <a:latin typeface="Arial" panose="020B0604020202020204" pitchFamily="34" charset="0"/>
                <a:ea typeface="宋体" panose="02010600030101010101" pitchFamily="2" charset="-122"/>
              </a:rPr>
              <a:t>输入</a:t>
            </a:r>
          </a:p>
        </p:txBody>
      </p:sp>
      <p:sp>
        <p:nvSpPr>
          <p:cNvPr id="264219" name="Text Box 27"/>
          <p:cNvSpPr txBox="1"/>
          <p:nvPr/>
        </p:nvSpPr>
        <p:spPr>
          <a:xfrm>
            <a:off x="6726238" y="6116638"/>
            <a:ext cx="2312987" cy="768350"/>
          </a:xfrm>
          <a:prstGeom prst="rect">
            <a:avLst/>
          </a:prstGeom>
          <a:noFill/>
          <a:ln w="25400">
            <a:noFill/>
          </a:ln>
        </p:spPr>
        <p:txBody>
          <a:bodyPr wrap="none" anchor="t" anchorCtr="0">
            <a:spAutoFit/>
          </a:bodyPr>
          <a:lstStyle/>
          <a:p>
            <a:pPr marL="342900" indent="-342900" algn="ctr">
              <a:spcBef>
                <a:spcPct val="20000"/>
              </a:spcBef>
              <a:buBlip>
                <a:blip r:embed="rId4"/>
              </a:buBlip>
            </a:pPr>
            <a:r>
              <a:rPr lang="zh-CN" altLang="en-US" sz="2000" b="1" dirty="0">
                <a:latin typeface="Arial" panose="020B0604020202020204" pitchFamily="34" charset="0"/>
                <a:ea typeface="宋体" panose="02010600030101010101" pitchFamily="2" charset="-122"/>
              </a:rPr>
              <a:t>高阻态（不输入</a:t>
            </a:r>
          </a:p>
          <a:p>
            <a:pPr marL="342900" indent="-342900" algn="ctr">
              <a:spcBef>
                <a:spcPct val="20000"/>
              </a:spcBef>
              <a:buNone/>
            </a:pPr>
            <a:r>
              <a:rPr lang="zh-CN" altLang="en-US" sz="2000" b="1" dirty="0">
                <a:latin typeface="Arial" panose="020B0604020202020204" pitchFamily="34" charset="0"/>
                <a:ea typeface="宋体" panose="02010600030101010101" pitchFamily="2" charset="-122"/>
              </a:rPr>
              <a:t>也不输出）</a:t>
            </a:r>
          </a:p>
        </p:txBody>
      </p:sp>
      <p:sp>
        <p:nvSpPr>
          <p:cNvPr id="264220" name="Rectangle 28"/>
          <p:cNvSpPr/>
          <p:nvPr/>
        </p:nvSpPr>
        <p:spPr>
          <a:xfrm>
            <a:off x="4065588" y="5491163"/>
            <a:ext cx="2144712" cy="1308100"/>
          </a:xfrm>
          <a:prstGeom prst="rect">
            <a:avLst/>
          </a:prstGeom>
          <a:solidFill>
            <a:srgbClr val="00FF00">
              <a:alpha val="3922"/>
            </a:srgbClr>
          </a:solidFill>
          <a:ln w="63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21" name="Rectangle 29"/>
          <p:cNvSpPr/>
          <p:nvPr/>
        </p:nvSpPr>
        <p:spPr>
          <a:xfrm>
            <a:off x="6784975" y="5495925"/>
            <a:ext cx="2144713" cy="1308100"/>
          </a:xfrm>
          <a:prstGeom prst="rect">
            <a:avLst/>
          </a:prstGeom>
          <a:solidFill>
            <a:srgbClr val="00FF00">
              <a:alpha val="3922"/>
            </a:srgbClr>
          </a:solidFill>
          <a:ln w="63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22" name="Rectangle 30"/>
          <p:cNvSpPr/>
          <p:nvPr/>
        </p:nvSpPr>
        <p:spPr>
          <a:xfrm>
            <a:off x="315913" y="5487988"/>
            <a:ext cx="3154362" cy="1308100"/>
          </a:xfrm>
          <a:prstGeom prst="rect">
            <a:avLst/>
          </a:prstGeom>
          <a:solidFill>
            <a:srgbClr val="00CCFF">
              <a:alpha val="10196"/>
            </a:srgbClr>
          </a:solidFill>
          <a:ln w="6350"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23" name="Rectangle 31"/>
          <p:cNvSpPr/>
          <p:nvPr/>
        </p:nvSpPr>
        <p:spPr>
          <a:xfrm>
            <a:off x="311150" y="6365875"/>
            <a:ext cx="1203325" cy="398463"/>
          </a:xfrm>
          <a:prstGeom prst="rect">
            <a:avLst/>
          </a:prstGeom>
          <a:noFill/>
          <a:ln w="6350">
            <a:noFill/>
          </a:ln>
        </p:spPr>
        <p:txBody>
          <a:bodyPr wrap="none" anchor="t" anchorCtr="0">
            <a:spAutoFit/>
          </a:bodyPr>
          <a:lstStyle/>
          <a:p>
            <a:pPr marL="342900" indent="-342900" algn="ctr">
              <a:spcBef>
                <a:spcPct val="20000"/>
              </a:spcBef>
            </a:pPr>
            <a:r>
              <a:rPr lang="zh-CN" altLang="en-US" sz="2000" b="1" dirty="0">
                <a:latin typeface="Arial" panose="020B0604020202020204" pitchFamily="34" charset="0"/>
                <a:ea typeface="宋体" panose="02010600030101010101" pitchFamily="2" charset="-122"/>
              </a:rPr>
              <a:t>三种状态</a:t>
            </a:r>
          </a:p>
        </p:txBody>
      </p:sp>
      <p:sp>
        <p:nvSpPr>
          <p:cNvPr id="264224" name="Text Box 32"/>
          <p:cNvSpPr txBox="1"/>
          <p:nvPr/>
        </p:nvSpPr>
        <p:spPr>
          <a:xfrm>
            <a:off x="3429000" y="5583238"/>
            <a:ext cx="720725" cy="1231900"/>
          </a:xfrm>
          <a:prstGeom prst="rect">
            <a:avLst/>
          </a:prstGeom>
          <a:noFill/>
          <a:ln w="6350">
            <a:noFill/>
          </a:ln>
        </p:spPr>
        <p:txBody>
          <a:bodyPr vert="eaVert" wrap="none" anchor="t" anchorCtr="0">
            <a:spAutoFit/>
          </a:bodyPr>
          <a:lstStyle/>
          <a:p>
            <a:pPr marL="342900" indent="-342900" algn="ctr">
              <a:spcBef>
                <a:spcPct val="20000"/>
              </a:spcBef>
            </a:pPr>
            <a:r>
              <a:rPr lang="zh-CN" altLang="en-US" sz="3500" b="1" dirty="0">
                <a:solidFill>
                  <a:srgbClr val="FF0000"/>
                </a:solidFill>
                <a:latin typeface="Arial" panose="020B0604020202020204" pitchFamily="34" charset="0"/>
                <a:ea typeface="宋体" panose="02010600030101010101" pitchFamily="2" charset="-122"/>
              </a:rPr>
              <a:t>情形</a:t>
            </a:r>
            <a:r>
              <a:rPr lang="en-US" altLang="zh-CN" sz="3500" b="1" dirty="0">
                <a:solidFill>
                  <a:srgbClr val="FF0000"/>
                </a:solidFill>
                <a:latin typeface="Arial" panose="020B0604020202020204" pitchFamily="34" charset="0"/>
                <a:ea typeface="宋体" panose="02010600030101010101" pitchFamily="2" charset="-122"/>
              </a:rPr>
              <a:t>1</a:t>
            </a:r>
          </a:p>
        </p:txBody>
      </p:sp>
      <p:sp>
        <p:nvSpPr>
          <p:cNvPr id="264225" name="Rectangle 33"/>
          <p:cNvSpPr/>
          <p:nvPr/>
        </p:nvSpPr>
        <p:spPr>
          <a:xfrm>
            <a:off x="3514725" y="5495925"/>
            <a:ext cx="474663" cy="1308100"/>
          </a:xfrm>
          <a:prstGeom prst="rect">
            <a:avLst/>
          </a:prstGeom>
          <a:solidFill>
            <a:srgbClr val="00FF00">
              <a:alpha val="3922"/>
            </a:srgbClr>
          </a:solidFill>
          <a:ln w="63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26" name="Text Box 34"/>
          <p:cNvSpPr txBox="1"/>
          <p:nvPr/>
        </p:nvSpPr>
        <p:spPr>
          <a:xfrm>
            <a:off x="6132513" y="5588000"/>
            <a:ext cx="720725" cy="1231900"/>
          </a:xfrm>
          <a:prstGeom prst="rect">
            <a:avLst/>
          </a:prstGeom>
          <a:noFill/>
          <a:ln w="6350">
            <a:noFill/>
          </a:ln>
        </p:spPr>
        <p:txBody>
          <a:bodyPr vert="eaVert" wrap="none" anchor="t" anchorCtr="0">
            <a:spAutoFit/>
          </a:bodyPr>
          <a:lstStyle/>
          <a:p>
            <a:pPr marL="342900" indent="-342900" algn="ctr">
              <a:spcBef>
                <a:spcPct val="20000"/>
              </a:spcBef>
            </a:pPr>
            <a:r>
              <a:rPr lang="zh-CN" altLang="en-US" sz="3500" b="1" dirty="0">
                <a:solidFill>
                  <a:srgbClr val="FF0000"/>
                </a:solidFill>
                <a:latin typeface="Arial" panose="020B0604020202020204" pitchFamily="34" charset="0"/>
                <a:ea typeface="宋体" panose="02010600030101010101" pitchFamily="2" charset="-122"/>
              </a:rPr>
              <a:t>情形</a:t>
            </a:r>
            <a:r>
              <a:rPr lang="en-US" altLang="zh-CN" sz="3500" b="1" dirty="0">
                <a:solidFill>
                  <a:srgbClr val="FF0000"/>
                </a:solidFill>
                <a:latin typeface="Arial" panose="020B0604020202020204" pitchFamily="34" charset="0"/>
                <a:ea typeface="宋体" panose="02010600030101010101" pitchFamily="2" charset="-122"/>
              </a:rPr>
              <a:t>2</a:t>
            </a:r>
          </a:p>
        </p:txBody>
      </p:sp>
      <p:sp>
        <p:nvSpPr>
          <p:cNvPr id="264227" name="Rectangle 35"/>
          <p:cNvSpPr/>
          <p:nvPr/>
        </p:nvSpPr>
        <p:spPr>
          <a:xfrm>
            <a:off x="6264275" y="5500688"/>
            <a:ext cx="476250" cy="1308100"/>
          </a:xfrm>
          <a:prstGeom prst="rect">
            <a:avLst/>
          </a:prstGeom>
          <a:solidFill>
            <a:srgbClr val="00FF00">
              <a:alpha val="3922"/>
            </a:srgbClr>
          </a:solidFill>
          <a:ln w="63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4230" name="Oval 38"/>
          <p:cNvSpPr/>
          <p:nvPr/>
        </p:nvSpPr>
        <p:spPr>
          <a:xfrm>
            <a:off x="6530975" y="2701925"/>
            <a:ext cx="2360613" cy="1524000"/>
          </a:xfrm>
          <a:prstGeom prst="ellipse">
            <a:avLst/>
          </a:prstGeom>
          <a:solidFill>
            <a:srgbClr val="FFFF00"/>
          </a:solidFill>
          <a:ln w="3175" cap="flat" cmpd="sng">
            <a:solidFill>
              <a:srgbClr val="00FF00"/>
            </a:solidFill>
            <a:prstDash val="solid"/>
            <a:round/>
            <a:headEnd type="none" w="med" len="med"/>
            <a:tailEnd type="none" w="med" len="med"/>
          </a:ln>
        </p:spPr>
        <p:txBody>
          <a:bodyPr wrap="none" lIns="90000" tIns="46800" rIns="90000" bIns="46800" anchor="ctr" anchorCtr="0"/>
          <a:lstStyle/>
          <a:p>
            <a:endParaRPr lang="zh-CN" altLang="en-US" dirty="0">
              <a:latin typeface="Arial" panose="020B0604020202020204" pitchFamily="34" charset="0"/>
              <a:ea typeface="宋体" panose="02010600030101010101" pitchFamily="2" charset="-122"/>
            </a:endParaRPr>
          </a:p>
        </p:txBody>
      </p:sp>
      <p:sp>
        <p:nvSpPr>
          <p:cNvPr id="264231" name="Text Box 39"/>
          <p:cNvSpPr txBox="1"/>
          <p:nvPr/>
        </p:nvSpPr>
        <p:spPr>
          <a:xfrm>
            <a:off x="6623050" y="2759075"/>
            <a:ext cx="2222500" cy="1477963"/>
          </a:xfrm>
          <a:prstGeom prst="rect">
            <a:avLst/>
          </a:prstGeom>
          <a:noFill/>
          <a:ln w="3175">
            <a:noFill/>
          </a:ln>
        </p:spPr>
        <p:txBody>
          <a:bodyPr wrap="none" lIns="90000" tIns="46800" rIns="90000" bIns="46800" anchor="t" anchorCtr="0">
            <a:spAutoFit/>
          </a:bodyPr>
          <a:lstStyle/>
          <a:p>
            <a:pPr marL="342900" indent="-342900" algn="ctr">
              <a:spcBef>
                <a:spcPct val="20000"/>
              </a:spcBef>
            </a:pPr>
            <a:r>
              <a:rPr lang="zh-CN" altLang="en-US" sz="3000" b="1" dirty="0">
                <a:solidFill>
                  <a:srgbClr val="FF33CC"/>
                </a:solidFill>
                <a:latin typeface="Arial" panose="020B0604020202020204" pitchFamily="34" charset="0"/>
                <a:ea typeface="宋体" panose="02010600030101010101" pitchFamily="2" charset="-122"/>
              </a:rPr>
              <a:t>通过</a:t>
            </a:r>
            <a:r>
              <a:rPr lang="zh-CN" altLang="en-US" sz="2000" b="1" dirty="0">
                <a:solidFill>
                  <a:srgbClr val="FF33CC"/>
                </a:solidFill>
                <a:latin typeface="Arial" panose="020B0604020202020204" pitchFamily="34" charset="0"/>
                <a:ea typeface="宋体" panose="02010600030101010101" pitchFamily="2" charset="-122"/>
              </a:rPr>
              <a:t>“三态”来</a:t>
            </a:r>
          </a:p>
          <a:p>
            <a:pPr marL="342900" indent="-342900" algn="ctr">
              <a:spcBef>
                <a:spcPct val="20000"/>
              </a:spcBef>
            </a:pPr>
            <a:r>
              <a:rPr lang="zh-CN" altLang="en-US" sz="2000" b="1" dirty="0">
                <a:solidFill>
                  <a:srgbClr val="FF33CC"/>
                </a:solidFill>
                <a:latin typeface="Arial" panose="020B0604020202020204" pitchFamily="34" charset="0"/>
                <a:ea typeface="宋体" panose="02010600030101010101" pitchFamily="2" charset="-122"/>
              </a:rPr>
              <a:t>实现总线通信的</a:t>
            </a:r>
          </a:p>
          <a:p>
            <a:pPr marL="342900" indent="-342900" algn="ctr">
              <a:spcBef>
                <a:spcPct val="20000"/>
              </a:spcBef>
            </a:pPr>
            <a:r>
              <a:rPr lang="zh-CN" altLang="en-US" sz="3000" b="1" dirty="0">
                <a:solidFill>
                  <a:srgbClr val="FF33CC"/>
                </a:solidFill>
                <a:latin typeface="Arial" panose="020B0604020202020204" pitchFamily="34" charset="0"/>
                <a:ea typeface="宋体" panose="02010600030101010101" pitchFamily="2" charset="-122"/>
              </a:rPr>
              <a:t>唯一性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64198"/>
                                        </p:tgtEl>
                                        <p:attrNameLst>
                                          <p:attrName>style.visibility</p:attrName>
                                        </p:attrNameLst>
                                      </p:cBhvr>
                                      <p:to>
                                        <p:strVal val="visible"/>
                                      </p:to>
                                    </p:set>
                                    <p:anim calcmode="lin" valueType="num">
                                      <p:cBhvr>
                                        <p:cTn id="7" dur="1000" fill="hold"/>
                                        <p:tgtEl>
                                          <p:spTgt spid="264198"/>
                                        </p:tgtEl>
                                        <p:attrNameLst>
                                          <p:attrName>ppt_w</p:attrName>
                                        </p:attrNameLst>
                                      </p:cBhvr>
                                      <p:tavLst>
                                        <p:tav tm="0">
                                          <p:val>
                                            <p:fltVal val="0"/>
                                          </p:val>
                                        </p:tav>
                                        <p:tav tm="100000">
                                          <p:val>
                                            <p:strVal val="#ppt_w"/>
                                          </p:val>
                                        </p:tav>
                                      </p:tavLst>
                                    </p:anim>
                                    <p:anim calcmode="lin" valueType="num">
                                      <p:cBhvr>
                                        <p:cTn id="8" dur="1000" fill="hold"/>
                                        <p:tgtEl>
                                          <p:spTgt spid="264198"/>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264211"/>
                                        </p:tgtEl>
                                        <p:attrNameLst>
                                          <p:attrName>style.visibility</p:attrName>
                                        </p:attrNameLst>
                                      </p:cBhvr>
                                      <p:to>
                                        <p:strVal val="visible"/>
                                      </p:to>
                                    </p:set>
                                    <p:anim calcmode="lin" valueType="num">
                                      <p:cBhvr>
                                        <p:cTn id="11" dur="1000" fill="hold"/>
                                        <p:tgtEl>
                                          <p:spTgt spid="264211"/>
                                        </p:tgtEl>
                                        <p:attrNameLst>
                                          <p:attrName>ppt_w</p:attrName>
                                        </p:attrNameLst>
                                      </p:cBhvr>
                                      <p:tavLst>
                                        <p:tav tm="0">
                                          <p:val>
                                            <p:fltVal val="0"/>
                                          </p:val>
                                        </p:tav>
                                        <p:tav tm="100000">
                                          <p:val>
                                            <p:strVal val="#ppt_w"/>
                                          </p:val>
                                        </p:tav>
                                      </p:tavLst>
                                    </p:anim>
                                    <p:anim calcmode="lin" valueType="num">
                                      <p:cBhvr>
                                        <p:cTn id="12" dur="1000" fill="hold"/>
                                        <p:tgtEl>
                                          <p:spTgt spid="264211"/>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264210"/>
                                        </p:tgtEl>
                                        <p:attrNameLst>
                                          <p:attrName>style.visibility</p:attrName>
                                        </p:attrNameLst>
                                      </p:cBhvr>
                                      <p:to>
                                        <p:strVal val="visible"/>
                                      </p:to>
                                    </p:set>
                                    <p:anim calcmode="lin" valueType="num">
                                      <p:cBhvr>
                                        <p:cTn id="15" dur="1000" fill="hold"/>
                                        <p:tgtEl>
                                          <p:spTgt spid="264210"/>
                                        </p:tgtEl>
                                        <p:attrNameLst>
                                          <p:attrName>ppt_w</p:attrName>
                                        </p:attrNameLst>
                                      </p:cBhvr>
                                      <p:tavLst>
                                        <p:tav tm="0">
                                          <p:val>
                                            <p:fltVal val="0"/>
                                          </p:val>
                                        </p:tav>
                                        <p:tav tm="100000">
                                          <p:val>
                                            <p:strVal val="#ppt_w"/>
                                          </p:val>
                                        </p:tav>
                                      </p:tavLst>
                                    </p:anim>
                                    <p:anim calcmode="lin" valueType="num">
                                      <p:cBhvr>
                                        <p:cTn id="16" dur="1000" fill="hold"/>
                                        <p:tgtEl>
                                          <p:spTgt spid="264210"/>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64199"/>
                                        </p:tgtEl>
                                        <p:attrNameLst>
                                          <p:attrName>style.visibility</p:attrName>
                                        </p:attrNameLst>
                                      </p:cBhvr>
                                      <p:to>
                                        <p:strVal val="visible"/>
                                      </p:to>
                                    </p:set>
                                    <p:animEffect transition="in" filter="dissolve">
                                      <p:cBhvr>
                                        <p:cTn id="21" dur="1000"/>
                                        <p:tgtEl>
                                          <p:spTgt spid="264199"/>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10" fill="hold" grpId="0" nodeType="clickEffect">
                                  <p:stCondLst>
                                    <p:cond delay="0"/>
                                  </p:stCondLst>
                                  <p:childTnLst>
                                    <p:set>
                                      <p:cBhvr>
                                        <p:cTn id="25" dur="1" fill="hold">
                                          <p:stCondLst>
                                            <p:cond delay="0"/>
                                          </p:stCondLst>
                                        </p:cTn>
                                        <p:tgtEl>
                                          <p:spTgt spid="264212"/>
                                        </p:tgtEl>
                                        <p:attrNameLst>
                                          <p:attrName>style.visibility</p:attrName>
                                        </p:attrNameLst>
                                      </p:cBhvr>
                                      <p:to>
                                        <p:strVal val="visible"/>
                                      </p:to>
                                    </p:set>
                                    <p:anim calcmode="lin" valueType="num">
                                      <p:cBhvr>
                                        <p:cTn id="26" dur="1000" fill="hold"/>
                                        <p:tgtEl>
                                          <p:spTgt spid="264212"/>
                                        </p:tgtEl>
                                        <p:attrNameLst>
                                          <p:attrName>ppt_w</p:attrName>
                                        </p:attrNameLst>
                                      </p:cBhvr>
                                      <p:tavLst>
                                        <p:tav tm="0">
                                          <p:val>
                                            <p:fltVal val="0"/>
                                          </p:val>
                                        </p:tav>
                                        <p:tav tm="100000">
                                          <p:val>
                                            <p:strVal val="#ppt_w"/>
                                          </p:val>
                                        </p:tav>
                                      </p:tavLst>
                                    </p:anim>
                                    <p:anim calcmode="lin" valueType="num">
                                      <p:cBhvr>
                                        <p:cTn id="27" dur="1000" fill="hold"/>
                                        <p:tgtEl>
                                          <p:spTgt spid="264212"/>
                                        </p:tgtEl>
                                        <p:attrNameLst>
                                          <p:attrName>ppt_h</p:attrName>
                                        </p:attrNameLst>
                                      </p:cBhvr>
                                      <p:tavLst>
                                        <p:tav tm="0">
                                          <p:val>
                                            <p:strVal val="#ppt_h"/>
                                          </p:val>
                                        </p:tav>
                                        <p:tav tm="100000">
                                          <p:val>
                                            <p:strVal val="#ppt_h"/>
                                          </p:val>
                                        </p:tav>
                                      </p:tavLst>
                                    </p:anim>
                                  </p:childTnLst>
                                </p:cTn>
                              </p:par>
                              <p:par>
                                <p:cTn id="28" presetID="17" presetClass="entr" presetSubtype="10" fill="hold" grpId="0" nodeType="withEffect">
                                  <p:stCondLst>
                                    <p:cond delay="0"/>
                                  </p:stCondLst>
                                  <p:childTnLst>
                                    <p:set>
                                      <p:cBhvr>
                                        <p:cTn id="29" dur="1" fill="hold">
                                          <p:stCondLst>
                                            <p:cond delay="0"/>
                                          </p:stCondLst>
                                        </p:cTn>
                                        <p:tgtEl>
                                          <p:spTgt spid="264194"/>
                                        </p:tgtEl>
                                        <p:attrNameLst>
                                          <p:attrName>style.visibility</p:attrName>
                                        </p:attrNameLst>
                                      </p:cBhvr>
                                      <p:to>
                                        <p:strVal val="visible"/>
                                      </p:to>
                                    </p:set>
                                    <p:anim calcmode="lin" valueType="num">
                                      <p:cBhvr>
                                        <p:cTn id="30" dur="1000" fill="hold"/>
                                        <p:tgtEl>
                                          <p:spTgt spid="264194"/>
                                        </p:tgtEl>
                                        <p:attrNameLst>
                                          <p:attrName>ppt_w</p:attrName>
                                        </p:attrNameLst>
                                      </p:cBhvr>
                                      <p:tavLst>
                                        <p:tav tm="0">
                                          <p:val>
                                            <p:fltVal val="0"/>
                                          </p:val>
                                        </p:tav>
                                        <p:tav tm="100000">
                                          <p:val>
                                            <p:strVal val="#ppt_w"/>
                                          </p:val>
                                        </p:tav>
                                      </p:tavLst>
                                    </p:anim>
                                    <p:anim calcmode="lin" valueType="num">
                                      <p:cBhvr>
                                        <p:cTn id="31" dur="1000" fill="hold"/>
                                        <p:tgtEl>
                                          <p:spTgt spid="26419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64200"/>
                                        </p:tgtEl>
                                        <p:attrNameLst>
                                          <p:attrName>style.visibility</p:attrName>
                                        </p:attrNameLst>
                                      </p:cBhvr>
                                      <p:to>
                                        <p:strVal val="visible"/>
                                      </p:to>
                                    </p:set>
                                    <p:animEffect transition="in" filter="dissolve">
                                      <p:cBhvr>
                                        <p:cTn id="36" dur="1000"/>
                                        <p:tgtEl>
                                          <p:spTgt spid="26420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64201"/>
                                        </p:tgtEl>
                                        <p:attrNameLst>
                                          <p:attrName>style.visibility</p:attrName>
                                        </p:attrNameLst>
                                      </p:cBhvr>
                                      <p:to>
                                        <p:strVal val="visible"/>
                                      </p:to>
                                    </p:set>
                                    <p:animEffect transition="in" filter="dissolve">
                                      <p:cBhvr>
                                        <p:cTn id="41" dur="1000"/>
                                        <p:tgtEl>
                                          <p:spTgt spid="264201"/>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264202"/>
                                        </p:tgtEl>
                                        <p:attrNameLst>
                                          <p:attrName>style.visibility</p:attrName>
                                        </p:attrNameLst>
                                      </p:cBhvr>
                                      <p:to>
                                        <p:strVal val="visible"/>
                                      </p:to>
                                    </p:set>
                                    <p:animEffect transition="in" filter="dissolve">
                                      <p:cBhvr>
                                        <p:cTn id="44" dur="1000"/>
                                        <p:tgtEl>
                                          <p:spTgt spid="26420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64203"/>
                                        </p:tgtEl>
                                        <p:attrNameLst>
                                          <p:attrName>style.visibility</p:attrName>
                                        </p:attrNameLst>
                                      </p:cBhvr>
                                      <p:to>
                                        <p:strVal val="visible"/>
                                      </p:to>
                                    </p:set>
                                    <p:animEffect transition="in" filter="wipe(left)">
                                      <p:cBhvr>
                                        <p:cTn id="49" dur="1000"/>
                                        <p:tgtEl>
                                          <p:spTgt spid="264203"/>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64204"/>
                                        </p:tgtEl>
                                        <p:attrNameLst>
                                          <p:attrName>style.visibility</p:attrName>
                                        </p:attrNameLst>
                                      </p:cBhvr>
                                      <p:to>
                                        <p:strVal val="visible"/>
                                      </p:to>
                                    </p:set>
                                    <p:animEffect transition="in" filter="wipe(left)">
                                      <p:cBhvr>
                                        <p:cTn id="52" dur="1000"/>
                                        <p:tgtEl>
                                          <p:spTgt spid="264204"/>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64205"/>
                                        </p:tgtEl>
                                        <p:attrNameLst>
                                          <p:attrName>style.visibility</p:attrName>
                                        </p:attrNameLst>
                                      </p:cBhvr>
                                      <p:to>
                                        <p:strVal val="visible"/>
                                      </p:to>
                                    </p:set>
                                    <p:animEffect transition="in" filter="wipe(left)">
                                      <p:cBhvr>
                                        <p:cTn id="55" dur="1000"/>
                                        <p:tgtEl>
                                          <p:spTgt spid="264205"/>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64206"/>
                                        </p:tgtEl>
                                        <p:attrNameLst>
                                          <p:attrName>style.visibility</p:attrName>
                                        </p:attrNameLst>
                                      </p:cBhvr>
                                      <p:to>
                                        <p:strVal val="visible"/>
                                      </p:to>
                                    </p:set>
                                    <p:animEffect transition="in" filter="wipe(left)">
                                      <p:cBhvr>
                                        <p:cTn id="58" dur="1000"/>
                                        <p:tgtEl>
                                          <p:spTgt spid="264206"/>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64207"/>
                                        </p:tgtEl>
                                        <p:attrNameLst>
                                          <p:attrName>style.visibility</p:attrName>
                                        </p:attrNameLst>
                                      </p:cBhvr>
                                      <p:to>
                                        <p:strVal val="visible"/>
                                      </p:to>
                                    </p:set>
                                    <p:animEffect transition="in" filter="wipe(left)">
                                      <p:cBhvr>
                                        <p:cTn id="61" dur="1000"/>
                                        <p:tgtEl>
                                          <p:spTgt spid="264207"/>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64208"/>
                                        </p:tgtEl>
                                        <p:attrNameLst>
                                          <p:attrName>style.visibility</p:attrName>
                                        </p:attrNameLst>
                                      </p:cBhvr>
                                      <p:to>
                                        <p:strVal val="visible"/>
                                      </p:to>
                                    </p:set>
                                    <p:animEffect transition="in" filter="wipe(left)">
                                      <p:cBhvr>
                                        <p:cTn id="64" dur="1000"/>
                                        <p:tgtEl>
                                          <p:spTgt spid="264208"/>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64209"/>
                                        </p:tgtEl>
                                        <p:attrNameLst>
                                          <p:attrName>style.visibility</p:attrName>
                                        </p:attrNameLst>
                                      </p:cBhvr>
                                      <p:to>
                                        <p:strVal val="visible"/>
                                      </p:to>
                                    </p:set>
                                    <p:animEffect transition="in" filter="wipe(left)">
                                      <p:cBhvr>
                                        <p:cTn id="67" dur="1000"/>
                                        <p:tgtEl>
                                          <p:spTgt spid="264209"/>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64197"/>
                                        </p:tgtEl>
                                        <p:attrNameLst>
                                          <p:attrName>style.visibility</p:attrName>
                                        </p:attrNameLst>
                                      </p:cBhvr>
                                      <p:to>
                                        <p:strVal val="visible"/>
                                      </p:to>
                                    </p:set>
                                    <p:animEffect transition="in" filter="dissolve">
                                      <p:cBhvr>
                                        <p:cTn id="72" dur="1000"/>
                                        <p:tgtEl>
                                          <p:spTgt spid="264197"/>
                                        </p:tgtEl>
                                      </p:cBhvr>
                                    </p:animEffect>
                                  </p:childTnLst>
                                </p:cTn>
                              </p:par>
                            </p:childTnLst>
                          </p:cTn>
                        </p:par>
                      </p:childTnLst>
                    </p:cTn>
                  </p:par>
                  <p:par>
                    <p:cTn id="73" fill="hold">
                      <p:stCondLst>
                        <p:cond delay="indefinite"/>
                      </p:stCondLst>
                      <p:childTnLst>
                        <p:par>
                          <p:cTn id="74" fill="hold">
                            <p:stCondLst>
                              <p:cond delay="0"/>
                            </p:stCondLst>
                            <p:childTnLst>
                              <p:par>
                                <p:cTn id="75" presetID="13" presetClass="entr" presetSubtype="16" fill="hold" grpId="0" nodeType="clickEffect">
                                  <p:stCondLst>
                                    <p:cond delay="0"/>
                                  </p:stCondLst>
                                  <p:childTnLst>
                                    <p:set>
                                      <p:cBhvr>
                                        <p:cTn id="76" dur="1" fill="hold">
                                          <p:stCondLst>
                                            <p:cond delay="0"/>
                                          </p:stCondLst>
                                        </p:cTn>
                                        <p:tgtEl>
                                          <p:spTgt spid="264213"/>
                                        </p:tgtEl>
                                        <p:attrNameLst>
                                          <p:attrName>style.visibility</p:attrName>
                                        </p:attrNameLst>
                                      </p:cBhvr>
                                      <p:to>
                                        <p:strVal val="visible"/>
                                      </p:to>
                                    </p:set>
                                    <p:animEffect transition="in" filter="plus(in)">
                                      <p:cBhvr>
                                        <p:cTn id="77" dur="2000"/>
                                        <p:tgtEl>
                                          <p:spTgt spid="264213"/>
                                        </p:tgtEl>
                                      </p:cBhvr>
                                    </p:animEffect>
                                  </p:childTnLst>
                                </p:cTn>
                              </p:par>
                              <p:par>
                                <p:cTn id="78" presetID="13" presetClass="entr" presetSubtype="16" fill="hold" grpId="0" nodeType="withEffect">
                                  <p:stCondLst>
                                    <p:cond delay="0"/>
                                  </p:stCondLst>
                                  <p:childTnLst>
                                    <p:set>
                                      <p:cBhvr>
                                        <p:cTn id="79" dur="1" fill="hold">
                                          <p:stCondLst>
                                            <p:cond delay="0"/>
                                          </p:stCondLst>
                                        </p:cTn>
                                        <p:tgtEl>
                                          <p:spTgt spid="264222"/>
                                        </p:tgtEl>
                                        <p:attrNameLst>
                                          <p:attrName>style.visibility</p:attrName>
                                        </p:attrNameLst>
                                      </p:cBhvr>
                                      <p:to>
                                        <p:strVal val="visible"/>
                                      </p:to>
                                    </p:set>
                                    <p:animEffect transition="in" filter="plus(in)">
                                      <p:cBhvr>
                                        <p:cTn id="80" dur="2000"/>
                                        <p:tgtEl>
                                          <p:spTgt spid="264222"/>
                                        </p:tgtEl>
                                      </p:cBhvr>
                                    </p:animEffect>
                                  </p:childTnLst>
                                </p:cTn>
                              </p:par>
                              <p:par>
                                <p:cTn id="81" presetID="13" presetClass="entr" presetSubtype="16" fill="hold" grpId="0" nodeType="withEffect">
                                  <p:stCondLst>
                                    <p:cond delay="0"/>
                                  </p:stCondLst>
                                  <p:childTnLst>
                                    <p:set>
                                      <p:cBhvr>
                                        <p:cTn id="82" dur="1" fill="hold">
                                          <p:stCondLst>
                                            <p:cond delay="0"/>
                                          </p:stCondLst>
                                        </p:cTn>
                                        <p:tgtEl>
                                          <p:spTgt spid="264223"/>
                                        </p:tgtEl>
                                        <p:attrNameLst>
                                          <p:attrName>style.visibility</p:attrName>
                                        </p:attrNameLst>
                                      </p:cBhvr>
                                      <p:to>
                                        <p:strVal val="visible"/>
                                      </p:to>
                                    </p:set>
                                    <p:animEffect transition="in" filter="plus(in)">
                                      <p:cBhvr>
                                        <p:cTn id="83" dur="2000"/>
                                        <p:tgtEl>
                                          <p:spTgt spid="264223"/>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264214"/>
                                        </p:tgtEl>
                                        <p:attrNameLst>
                                          <p:attrName>style.visibility</p:attrName>
                                        </p:attrNameLst>
                                      </p:cBhvr>
                                      <p:to>
                                        <p:strVal val="visible"/>
                                      </p:to>
                                    </p:set>
                                    <p:animEffect transition="in" filter="dissolve">
                                      <p:cBhvr>
                                        <p:cTn id="88" dur="1000"/>
                                        <p:tgtEl>
                                          <p:spTgt spid="264214"/>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264215"/>
                                        </p:tgtEl>
                                        <p:attrNameLst>
                                          <p:attrName>style.visibility</p:attrName>
                                        </p:attrNameLst>
                                      </p:cBhvr>
                                      <p:to>
                                        <p:strVal val="visible"/>
                                      </p:to>
                                    </p:set>
                                    <p:animEffect transition="in" filter="dissolve">
                                      <p:cBhvr>
                                        <p:cTn id="91" dur="1000"/>
                                        <p:tgtEl>
                                          <p:spTgt spid="264215"/>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264216"/>
                                        </p:tgtEl>
                                        <p:attrNameLst>
                                          <p:attrName>style.visibility</p:attrName>
                                        </p:attrNameLst>
                                      </p:cBhvr>
                                      <p:to>
                                        <p:strVal val="visible"/>
                                      </p:to>
                                    </p:set>
                                    <p:animEffect transition="in" filter="dissolve">
                                      <p:cBhvr>
                                        <p:cTn id="94" dur="1000"/>
                                        <p:tgtEl>
                                          <p:spTgt spid="264216"/>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264220"/>
                                        </p:tgtEl>
                                        <p:attrNameLst>
                                          <p:attrName>style.visibility</p:attrName>
                                        </p:attrNameLst>
                                      </p:cBhvr>
                                      <p:to>
                                        <p:strVal val="visible"/>
                                      </p:to>
                                    </p:set>
                                    <p:animEffect transition="in" filter="dissolve">
                                      <p:cBhvr>
                                        <p:cTn id="97" dur="1000"/>
                                        <p:tgtEl>
                                          <p:spTgt spid="264220"/>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264224"/>
                                        </p:tgtEl>
                                        <p:attrNameLst>
                                          <p:attrName>style.visibility</p:attrName>
                                        </p:attrNameLst>
                                      </p:cBhvr>
                                      <p:to>
                                        <p:strVal val="visible"/>
                                      </p:to>
                                    </p:set>
                                    <p:animEffect transition="in" filter="dissolve">
                                      <p:cBhvr>
                                        <p:cTn id="100" dur="1000"/>
                                        <p:tgtEl>
                                          <p:spTgt spid="264224"/>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64225"/>
                                        </p:tgtEl>
                                        <p:attrNameLst>
                                          <p:attrName>style.visibility</p:attrName>
                                        </p:attrNameLst>
                                      </p:cBhvr>
                                      <p:to>
                                        <p:strVal val="visible"/>
                                      </p:to>
                                    </p:set>
                                    <p:animEffect transition="in" filter="dissolve">
                                      <p:cBhvr>
                                        <p:cTn id="103" dur="1000"/>
                                        <p:tgtEl>
                                          <p:spTgt spid="264225"/>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264217"/>
                                        </p:tgtEl>
                                        <p:attrNameLst>
                                          <p:attrName>style.visibility</p:attrName>
                                        </p:attrNameLst>
                                      </p:cBhvr>
                                      <p:to>
                                        <p:strVal val="visible"/>
                                      </p:to>
                                    </p:set>
                                    <p:animEffect transition="in" filter="dissolve">
                                      <p:cBhvr>
                                        <p:cTn id="108" dur="1000"/>
                                        <p:tgtEl>
                                          <p:spTgt spid="264217"/>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264218"/>
                                        </p:tgtEl>
                                        <p:attrNameLst>
                                          <p:attrName>style.visibility</p:attrName>
                                        </p:attrNameLst>
                                      </p:cBhvr>
                                      <p:to>
                                        <p:strVal val="visible"/>
                                      </p:to>
                                    </p:set>
                                    <p:animEffect transition="in" filter="dissolve">
                                      <p:cBhvr>
                                        <p:cTn id="111" dur="1000"/>
                                        <p:tgtEl>
                                          <p:spTgt spid="264218"/>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264219"/>
                                        </p:tgtEl>
                                        <p:attrNameLst>
                                          <p:attrName>style.visibility</p:attrName>
                                        </p:attrNameLst>
                                      </p:cBhvr>
                                      <p:to>
                                        <p:strVal val="visible"/>
                                      </p:to>
                                    </p:set>
                                    <p:animEffect transition="in" filter="dissolve">
                                      <p:cBhvr>
                                        <p:cTn id="114" dur="1000"/>
                                        <p:tgtEl>
                                          <p:spTgt spid="264219"/>
                                        </p:tgtEl>
                                      </p:cBhvr>
                                    </p:animEffect>
                                  </p:childTnLst>
                                </p:cTn>
                              </p:par>
                              <p:par>
                                <p:cTn id="115" presetID="9" presetClass="entr" presetSubtype="0" fill="hold" grpId="0" nodeType="withEffect">
                                  <p:stCondLst>
                                    <p:cond delay="0"/>
                                  </p:stCondLst>
                                  <p:childTnLst>
                                    <p:set>
                                      <p:cBhvr>
                                        <p:cTn id="116" dur="1" fill="hold">
                                          <p:stCondLst>
                                            <p:cond delay="0"/>
                                          </p:stCondLst>
                                        </p:cTn>
                                        <p:tgtEl>
                                          <p:spTgt spid="264221"/>
                                        </p:tgtEl>
                                        <p:attrNameLst>
                                          <p:attrName>style.visibility</p:attrName>
                                        </p:attrNameLst>
                                      </p:cBhvr>
                                      <p:to>
                                        <p:strVal val="visible"/>
                                      </p:to>
                                    </p:set>
                                    <p:animEffect transition="in" filter="dissolve">
                                      <p:cBhvr>
                                        <p:cTn id="117" dur="1000"/>
                                        <p:tgtEl>
                                          <p:spTgt spid="264221"/>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264226"/>
                                        </p:tgtEl>
                                        <p:attrNameLst>
                                          <p:attrName>style.visibility</p:attrName>
                                        </p:attrNameLst>
                                      </p:cBhvr>
                                      <p:to>
                                        <p:strVal val="visible"/>
                                      </p:to>
                                    </p:set>
                                    <p:animEffect transition="in" filter="dissolve">
                                      <p:cBhvr>
                                        <p:cTn id="120" dur="1000"/>
                                        <p:tgtEl>
                                          <p:spTgt spid="264226"/>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264227"/>
                                        </p:tgtEl>
                                        <p:attrNameLst>
                                          <p:attrName>style.visibility</p:attrName>
                                        </p:attrNameLst>
                                      </p:cBhvr>
                                      <p:to>
                                        <p:strVal val="visible"/>
                                      </p:to>
                                    </p:set>
                                    <p:animEffect transition="in" filter="dissolve">
                                      <p:cBhvr>
                                        <p:cTn id="123" dur="1000"/>
                                        <p:tgtEl>
                                          <p:spTgt spid="264227"/>
                                        </p:tgtEl>
                                      </p:cBhvr>
                                    </p:animEffect>
                                  </p:childTnLst>
                                </p:cTn>
                              </p:par>
                            </p:childTnLst>
                          </p:cTn>
                        </p:par>
                      </p:childTnLst>
                    </p:cTn>
                  </p:par>
                  <p:par>
                    <p:cTn id="124" fill="hold">
                      <p:stCondLst>
                        <p:cond delay="indefinite"/>
                      </p:stCondLst>
                      <p:childTnLst>
                        <p:par>
                          <p:cTn id="125" fill="hold">
                            <p:stCondLst>
                              <p:cond delay="0"/>
                            </p:stCondLst>
                            <p:childTnLst>
                              <p:par>
                                <p:cTn id="126" presetID="15" presetClass="entr" presetSubtype="0" fill="hold" grpId="0" nodeType="clickEffect">
                                  <p:stCondLst>
                                    <p:cond delay="0"/>
                                  </p:stCondLst>
                                  <p:childTnLst>
                                    <p:set>
                                      <p:cBhvr>
                                        <p:cTn id="127" dur="1" fill="hold">
                                          <p:stCondLst>
                                            <p:cond delay="0"/>
                                          </p:stCondLst>
                                        </p:cTn>
                                        <p:tgtEl>
                                          <p:spTgt spid="264231"/>
                                        </p:tgtEl>
                                        <p:attrNameLst>
                                          <p:attrName>style.visibility</p:attrName>
                                        </p:attrNameLst>
                                      </p:cBhvr>
                                      <p:to>
                                        <p:strVal val="visible"/>
                                      </p:to>
                                    </p:set>
                                    <p:anim calcmode="lin" valueType="num">
                                      <p:cBhvr>
                                        <p:cTn id="128" dur="2000" fill="hold"/>
                                        <p:tgtEl>
                                          <p:spTgt spid="264231"/>
                                        </p:tgtEl>
                                        <p:attrNameLst>
                                          <p:attrName>ppt_w</p:attrName>
                                        </p:attrNameLst>
                                      </p:cBhvr>
                                      <p:tavLst>
                                        <p:tav tm="0">
                                          <p:val>
                                            <p:fltVal val="0"/>
                                          </p:val>
                                        </p:tav>
                                        <p:tav tm="100000">
                                          <p:val>
                                            <p:strVal val="#ppt_w"/>
                                          </p:val>
                                        </p:tav>
                                      </p:tavLst>
                                    </p:anim>
                                    <p:anim calcmode="lin" valueType="num">
                                      <p:cBhvr>
                                        <p:cTn id="129" dur="2000" fill="hold"/>
                                        <p:tgtEl>
                                          <p:spTgt spid="264231"/>
                                        </p:tgtEl>
                                        <p:attrNameLst>
                                          <p:attrName>ppt_h</p:attrName>
                                        </p:attrNameLst>
                                      </p:cBhvr>
                                      <p:tavLst>
                                        <p:tav tm="0">
                                          <p:val>
                                            <p:fltVal val="0"/>
                                          </p:val>
                                        </p:tav>
                                        <p:tav tm="100000">
                                          <p:val>
                                            <p:strVal val="#ppt_h"/>
                                          </p:val>
                                        </p:tav>
                                      </p:tavLst>
                                    </p:anim>
                                    <p:anim calcmode="lin" valueType="num">
                                      <p:cBhvr>
                                        <p:cTn id="130" dur="2000" fill="hold"/>
                                        <p:tgtEl>
                                          <p:spTgt spid="264231"/>
                                        </p:tgtEl>
                                        <p:attrNameLst>
                                          <p:attrName>ppt_x</p:attrName>
                                        </p:attrNameLst>
                                      </p:cBhvr>
                                      <p:tavLst>
                                        <p:tav tm="0" fmla="#ppt_x+(cos(-2*pi*(1-$))*-#ppt_x-sin(-2*pi*(1-$))*(1-#ppt_y))*(1-$)">
                                          <p:val>
                                            <p:fltVal val="0"/>
                                          </p:val>
                                        </p:tav>
                                        <p:tav tm="100000">
                                          <p:val>
                                            <p:fltVal val="1"/>
                                          </p:val>
                                        </p:tav>
                                      </p:tavLst>
                                    </p:anim>
                                    <p:anim calcmode="lin" valueType="num">
                                      <p:cBhvr>
                                        <p:cTn id="131" dur="2000" fill="hold"/>
                                        <p:tgtEl>
                                          <p:spTgt spid="264231"/>
                                        </p:tgtEl>
                                        <p:attrNameLst>
                                          <p:attrName>ppt_y</p:attrName>
                                        </p:attrNameLst>
                                      </p:cBhvr>
                                      <p:tavLst>
                                        <p:tav tm="0" fmla="#ppt_y+(sin(-2*pi*(1-$))*-#ppt_x+cos(-2*pi*(1-$))*(1-#ppt_y))*(1-$)">
                                          <p:val>
                                            <p:fltVal val="0"/>
                                          </p:val>
                                        </p:tav>
                                        <p:tav tm="100000">
                                          <p:val>
                                            <p:fltVal val="1"/>
                                          </p:val>
                                        </p:tav>
                                      </p:tavLst>
                                    </p:anim>
                                  </p:childTnLst>
                                </p:cTn>
                              </p:par>
                              <p:par>
                                <p:cTn id="132" presetID="15" presetClass="entr" presetSubtype="0" fill="hold" grpId="0" nodeType="withEffect">
                                  <p:stCondLst>
                                    <p:cond delay="0"/>
                                  </p:stCondLst>
                                  <p:childTnLst>
                                    <p:set>
                                      <p:cBhvr>
                                        <p:cTn id="133" dur="1" fill="hold">
                                          <p:stCondLst>
                                            <p:cond delay="0"/>
                                          </p:stCondLst>
                                        </p:cTn>
                                        <p:tgtEl>
                                          <p:spTgt spid="264230"/>
                                        </p:tgtEl>
                                        <p:attrNameLst>
                                          <p:attrName>style.visibility</p:attrName>
                                        </p:attrNameLst>
                                      </p:cBhvr>
                                      <p:to>
                                        <p:strVal val="visible"/>
                                      </p:to>
                                    </p:set>
                                    <p:anim calcmode="lin" valueType="num">
                                      <p:cBhvr>
                                        <p:cTn id="134" dur="2000" fill="hold"/>
                                        <p:tgtEl>
                                          <p:spTgt spid="264230"/>
                                        </p:tgtEl>
                                        <p:attrNameLst>
                                          <p:attrName>ppt_w</p:attrName>
                                        </p:attrNameLst>
                                      </p:cBhvr>
                                      <p:tavLst>
                                        <p:tav tm="0">
                                          <p:val>
                                            <p:fltVal val="0"/>
                                          </p:val>
                                        </p:tav>
                                        <p:tav tm="100000">
                                          <p:val>
                                            <p:strVal val="#ppt_w"/>
                                          </p:val>
                                        </p:tav>
                                      </p:tavLst>
                                    </p:anim>
                                    <p:anim calcmode="lin" valueType="num">
                                      <p:cBhvr>
                                        <p:cTn id="135" dur="2000" fill="hold"/>
                                        <p:tgtEl>
                                          <p:spTgt spid="264230"/>
                                        </p:tgtEl>
                                        <p:attrNameLst>
                                          <p:attrName>ppt_h</p:attrName>
                                        </p:attrNameLst>
                                      </p:cBhvr>
                                      <p:tavLst>
                                        <p:tav tm="0">
                                          <p:val>
                                            <p:fltVal val="0"/>
                                          </p:val>
                                        </p:tav>
                                        <p:tav tm="100000">
                                          <p:val>
                                            <p:strVal val="#ppt_h"/>
                                          </p:val>
                                        </p:tav>
                                      </p:tavLst>
                                    </p:anim>
                                    <p:anim calcmode="lin" valueType="num">
                                      <p:cBhvr>
                                        <p:cTn id="136" dur="2000" fill="hold"/>
                                        <p:tgtEl>
                                          <p:spTgt spid="264230"/>
                                        </p:tgtEl>
                                        <p:attrNameLst>
                                          <p:attrName>ppt_x</p:attrName>
                                        </p:attrNameLst>
                                      </p:cBhvr>
                                      <p:tavLst>
                                        <p:tav tm="0" fmla="#ppt_x+(cos(-2*pi*(1-$))*-#ppt_x-sin(-2*pi*(1-$))*(1-#ppt_y))*(1-$)">
                                          <p:val>
                                            <p:fltVal val="0"/>
                                          </p:val>
                                        </p:tav>
                                        <p:tav tm="100000">
                                          <p:val>
                                            <p:fltVal val="1"/>
                                          </p:val>
                                        </p:tav>
                                      </p:tavLst>
                                    </p:anim>
                                    <p:anim calcmode="lin" valueType="num">
                                      <p:cBhvr>
                                        <p:cTn id="137" dur="2000" fill="hold"/>
                                        <p:tgtEl>
                                          <p:spTgt spid="26423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bldLvl="0" animBg="1"/>
      <p:bldP spid="264197" grpId="0"/>
      <p:bldP spid="264198" grpId="0"/>
      <p:bldP spid="264199" grpId="0"/>
      <p:bldP spid="264200" grpId="0"/>
      <p:bldP spid="264201" grpId="0"/>
      <p:bldP spid="264202" grpId="0"/>
      <p:bldP spid="264203" grpId="0" bldLvl="0" animBg="1"/>
      <p:bldP spid="264204" grpId="0" bldLvl="0" animBg="1"/>
      <p:bldP spid="264205" grpId="0" bldLvl="0" animBg="1"/>
      <p:bldP spid="264206" grpId="0" bldLvl="0" animBg="1"/>
      <p:bldP spid="264207" grpId="0" bldLvl="0" animBg="1"/>
      <p:bldP spid="264208" grpId="0" bldLvl="0" animBg="1"/>
      <p:bldP spid="264209" grpId="0" bldLvl="0" animBg="1"/>
      <p:bldP spid="264210" grpId="0" bldLvl="0" animBg="1"/>
      <p:bldP spid="264211" grpId="0" bldLvl="0" animBg="1"/>
      <p:bldP spid="264212" grpId="0" bldLvl="0" animBg="1"/>
      <p:bldP spid="264213" grpId="0"/>
      <p:bldP spid="264214" grpId="0"/>
      <p:bldP spid="264215" grpId="0"/>
      <p:bldP spid="264216" grpId="0"/>
      <p:bldP spid="264217" grpId="0"/>
      <p:bldP spid="264218" grpId="0"/>
      <p:bldP spid="264219" grpId="0"/>
      <p:bldP spid="264220" grpId="0" bldLvl="0" animBg="1"/>
      <p:bldP spid="264221" grpId="0" bldLvl="0" animBg="1"/>
      <p:bldP spid="264222" grpId="0" bldLvl="0" animBg="1"/>
      <p:bldP spid="264223" grpId="0"/>
      <p:bldP spid="264224" grpId="0"/>
      <p:bldP spid="264225" grpId="0" bldLvl="0" animBg="1"/>
      <p:bldP spid="264226" grpId="0"/>
      <p:bldP spid="264227" grpId="0" bldLvl="0" animBg="1"/>
      <p:bldP spid="264230" grpId="0" bldLvl="0" animBg="1"/>
      <p:bldP spid="2642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4"/>
          <p:cNvSpPr/>
          <p:nvPr/>
        </p:nvSpPr>
        <p:spPr>
          <a:xfrm>
            <a:off x="0" y="5949950"/>
            <a:ext cx="9144000" cy="908050"/>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0242" name="Text Box 6"/>
          <p:cNvSpPr txBox="1"/>
          <p:nvPr/>
        </p:nvSpPr>
        <p:spPr>
          <a:xfrm>
            <a:off x="-685800" y="230188"/>
            <a:ext cx="2366963" cy="52228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800" b="1" dirty="0">
                <a:latin typeface="Helvetica" pitchFamily="34" charset="0"/>
                <a:ea typeface="宋体" panose="02010600030101010101" pitchFamily="2" charset="-122"/>
              </a:rPr>
              <a:t>2</a:t>
            </a:r>
            <a:r>
              <a:rPr lang="zh-CN" altLang="en-US" sz="2800" b="1" dirty="0">
                <a:latin typeface="Helvetica" pitchFamily="34" charset="0"/>
                <a:ea typeface="宋体" panose="02010600030101010101" pitchFamily="2" charset="-122"/>
              </a:rPr>
              <a:t>、特性</a:t>
            </a:r>
          </a:p>
        </p:txBody>
      </p:sp>
      <p:sp>
        <p:nvSpPr>
          <p:cNvPr id="10243" name="Rectangle 4"/>
          <p:cNvSpPr/>
          <p:nvPr/>
        </p:nvSpPr>
        <p:spPr>
          <a:xfrm>
            <a:off x="0" y="762000"/>
            <a:ext cx="7991475" cy="503238"/>
          </a:xfrm>
          <a:prstGeom prst="rect">
            <a:avLst/>
          </a:prstGeom>
          <a:noFill/>
          <a:ln w="9525">
            <a:noFill/>
          </a:ln>
        </p:spPr>
        <p:txBody>
          <a:bodyPr anchor="t" anchorCtr="0"/>
          <a:lstStyle/>
          <a:p>
            <a:pPr marL="342900" indent="-342900" eaLnBrk="0" hangingPunct="0">
              <a:lnSpc>
                <a:spcPct val="120000"/>
              </a:lnSpc>
              <a:buClr>
                <a:srgbClr val="0000FF"/>
              </a:buClr>
              <a:buSzPct val="90000"/>
              <a:buFont typeface="Monotype Sorts" pitchFamily="2" charset="2"/>
              <a:buChar char="@"/>
            </a:pPr>
            <a:r>
              <a:rPr lang="zh-CN" altLang="en-US" sz="2000" b="1" dirty="0">
                <a:latin typeface="Times New Roman" panose="02020603050405020304" pitchFamily="18" charset="0"/>
                <a:ea typeface="宋体" panose="02010600030101010101" pitchFamily="2" charset="-122"/>
              </a:rPr>
              <a:t>总线具有以下</a:t>
            </a:r>
            <a:r>
              <a:rPr lang="en-US" altLang="zh-CN" sz="2000" b="1" dirty="0">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方面特性： </a:t>
            </a:r>
          </a:p>
        </p:txBody>
      </p:sp>
      <p:sp>
        <p:nvSpPr>
          <p:cNvPr id="604165" name="Rectangle 5"/>
          <p:cNvSpPr/>
          <p:nvPr/>
        </p:nvSpPr>
        <p:spPr>
          <a:xfrm>
            <a:off x="1909763" y="1643063"/>
            <a:ext cx="7991475" cy="576262"/>
          </a:xfrm>
          <a:prstGeom prst="rect">
            <a:avLst/>
          </a:prstGeom>
          <a:noFill/>
          <a:ln w="9525">
            <a:noFill/>
          </a:ln>
        </p:spPr>
        <p:txBody>
          <a:bodyPr anchor="t" anchorCtr="0"/>
          <a:lstStyle/>
          <a:p>
            <a:pPr marL="342900" indent="-342900" eaLnBrk="0" hangingPunct="0">
              <a:lnSpc>
                <a:spcPct val="120000"/>
              </a:lnSpc>
              <a:buClr>
                <a:schemeClr val="tx2"/>
              </a:buClr>
              <a:buSzPct val="90000"/>
              <a:buFont typeface="Monotype Sorts" pitchFamily="2" charset="2"/>
            </a:pPr>
            <a:r>
              <a:rPr lang="zh-CN" altLang="en-US" sz="2400" b="1" dirty="0">
                <a:solidFill>
                  <a:srgbClr val="FF0000"/>
                </a:solidFill>
                <a:latin typeface="Times New Roman" panose="02020603050405020304" pitchFamily="18" charset="0"/>
                <a:ea typeface="宋体" panose="02010600030101010101" pitchFamily="2" charset="-122"/>
              </a:rPr>
              <a:t>功能特性</a:t>
            </a:r>
            <a:r>
              <a:rPr lang="zh-CN" altLang="en-US" sz="2000" b="1" dirty="0">
                <a:latin typeface="Times New Roman" panose="02020603050405020304" pitchFamily="18" charset="0"/>
                <a:ea typeface="宋体" panose="02010600030101010101" pitchFamily="2" charset="-122"/>
              </a:rPr>
              <a:t>：指总线中的每一根传输线具有特定的功能 </a:t>
            </a:r>
          </a:p>
        </p:txBody>
      </p:sp>
      <p:sp>
        <p:nvSpPr>
          <p:cNvPr id="10245" name="Rectangle 6"/>
          <p:cNvSpPr/>
          <p:nvPr/>
        </p:nvSpPr>
        <p:spPr>
          <a:xfrm>
            <a:off x="900113" y="4652963"/>
            <a:ext cx="7848600" cy="3455987"/>
          </a:xfrm>
          <a:prstGeom prst="rect">
            <a:avLst/>
          </a:prstGeom>
          <a:noFill/>
          <a:ln w="9525">
            <a:noFill/>
          </a:ln>
        </p:spPr>
        <p:txBody>
          <a:bodyPr anchor="t" anchorCtr="0"/>
          <a:lstStyle/>
          <a:p>
            <a:pPr marL="342900" indent="-342900" eaLnBrk="0" hangingPunct="0">
              <a:lnSpc>
                <a:spcPct val="130000"/>
              </a:lnSpc>
              <a:buClr>
                <a:schemeClr val="tx2"/>
              </a:buClr>
              <a:buSzPct val="90000"/>
              <a:buFont typeface="Monotype Sorts" pitchFamily="2" charset="2"/>
            </a:pPr>
            <a:endParaRPr lang="en-US" altLang="zh-CN" sz="2400" b="1" dirty="0">
              <a:latin typeface="Times New Roman" panose="02020603050405020304" pitchFamily="18" charset="0"/>
              <a:ea typeface="宋体" panose="02010600030101010101" pitchFamily="2" charset="-122"/>
            </a:endParaRPr>
          </a:p>
          <a:p>
            <a:pPr marL="342900" indent="-342900" eaLnBrk="0" hangingPunct="0">
              <a:lnSpc>
                <a:spcPct val="130000"/>
              </a:lnSpc>
              <a:buClr>
                <a:schemeClr val="tx2"/>
              </a:buClr>
              <a:buSzPct val="90000"/>
              <a:buFont typeface="Monotype Sorts" pitchFamily="2" charset="2"/>
            </a:pPr>
            <a:r>
              <a:rPr lang="en-US" altLang="zh-CN" sz="2400" b="1" dirty="0">
                <a:latin typeface="Times New Roman" panose="02020603050405020304" pitchFamily="18" charset="0"/>
                <a:ea typeface="宋体" panose="02010600030101010101" pitchFamily="2" charset="-122"/>
              </a:rPr>
              <a:t>           </a:t>
            </a:r>
          </a:p>
        </p:txBody>
      </p:sp>
      <p:sp>
        <p:nvSpPr>
          <p:cNvPr id="254986" name="AutoShape 10"/>
          <p:cNvSpPr/>
          <p:nvPr/>
        </p:nvSpPr>
        <p:spPr>
          <a:xfrm>
            <a:off x="1331913" y="1773238"/>
            <a:ext cx="7632700" cy="5049837"/>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4987" name="AutoShape 11"/>
          <p:cNvSpPr/>
          <p:nvPr/>
        </p:nvSpPr>
        <p:spPr>
          <a:xfrm>
            <a:off x="179388" y="1773238"/>
            <a:ext cx="1152525" cy="1008062"/>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4988" name="Text Box 12"/>
          <p:cNvSpPr txBox="1"/>
          <p:nvPr/>
        </p:nvSpPr>
        <p:spPr>
          <a:xfrm>
            <a:off x="-754062" y="1820863"/>
            <a:ext cx="2117725" cy="70643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solidFill>
                  <a:srgbClr val="F8F8F8"/>
                </a:solidFill>
                <a:latin typeface="Helvetica" pitchFamily="34" charset="0"/>
                <a:ea typeface="宋体" panose="02010600030101010101" pitchFamily="2" charset="-122"/>
              </a:rPr>
              <a:t>定义</a:t>
            </a:r>
          </a:p>
        </p:txBody>
      </p:sp>
      <p:sp>
        <p:nvSpPr>
          <p:cNvPr id="254989" name="Rectangle 13"/>
          <p:cNvSpPr/>
          <p:nvPr/>
        </p:nvSpPr>
        <p:spPr>
          <a:xfrm>
            <a:off x="-609600" y="1196975"/>
            <a:ext cx="3440113" cy="52228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800" b="1" dirty="0">
                <a:latin typeface="Helvetica" pitchFamily="34" charset="0"/>
                <a:ea typeface="宋体" panose="02010600030101010101" pitchFamily="2" charset="-122"/>
              </a:rPr>
              <a:t>（</a:t>
            </a:r>
            <a:r>
              <a:rPr lang="en-US" altLang="zh-CN" sz="2800" b="1" dirty="0">
                <a:latin typeface="Helvetica" pitchFamily="34" charset="0"/>
                <a:ea typeface="宋体" panose="02010600030101010101" pitchFamily="2" charset="-122"/>
              </a:rPr>
              <a:t>1</a:t>
            </a:r>
            <a:r>
              <a:rPr lang="zh-CN" altLang="en-US" sz="2800" b="1" dirty="0">
                <a:latin typeface="Helvetica" pitchFamily="34" charset="0"/>
                <a:ea typeface="宋体" panose="02010600030101010101" pitchFamily="2" charset="-122"/>
              </a:rPr>
              <a:t>）功能特性</a:t>
            </a:r>
          </a:p>
        </p:txBody>
      </p:sp>
      <p:sp>
        <p:nvSpPr>
          <p:cNvPr id="254990" name="Rectangle 14"/>
          <p:cNvSpPr/>
          <p:nvPr/>
        </p:nvSpPr>
        <p:spPr>
          <a:xfrm>
            <a:off x="1158875" y="2036763"/>
            <a:ext cx="5800725" cy="1692275"/>
          </a:xfrm>
          <a:prstGeom prst="rect">
            <a:avLst/>
          </a:prstGeom>
          <a:noFill/>
          <a:ln w="3175">
            <a:noFill/>
          </a:ln>
        </p:spPr>
        <p:txBody>
          <a:bodyPr wrap="none" anchor="t" anchorCtr="0">
            <a:spAutoFit/>
          </a:bodyPr>
          <a:lstStyle/>
          <a:p>
            <a:pPr marL="1143000" indent="-228600" eaLnBrk="0" hangingPunct="0">
              <a:lnSpc>
                <a:spcPct val="130000"/>
              </a:lnSpc>
              <a:buClr>
                <a:schemeClr val="tx2"/>
              </a:buClr>
              <a:buSzPct val="90000"/>
              <a:buFont typeface="Wingdings" panose="05000000000000000000" pitchFamily="2" charset="2"/>
              <a:buChar char="F"/>
            </a:pPr>
            <a:r>
              <a:rPr lang="zh-CN" altLang="en-US" sz="2000" b="1" dirty="0">
                <a:latin typeface="Helvetica" pitchFamily="34" charset="0"/>
                <a:ea typeface="宋体" panose="02010600030101010101" pitchFamily="2" charset="-122"/>
              </a:rPr>
              <a:t>按照所传输信息的性质分，总线分为：</a:t>
            </a:r>
          </a:p>
          <a:p>
            <a:pPr marL="1143000" indent="-228600" eaLnBrk="0" hangingPunct="0">
              <a:lnSpc>
                <a:spcPct val="130000"/>
              </a:lnSpc>
              <a:buClr>
                <a:schemeClr val="tx2"/>
              </a:buClr>
              <a:buSzPct val="90000"/>
              <a:buFont typeface="Wingdings" panose="05000000000000000000"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①地址总线</a:t>
            </a:r>
            <a:r>
              <a:rPr lang="zh-CN" altLang="en-US" sz="2000" b="1" dirty="0">
                <a:latin typeface="Helvetica" pitchFamily="34" charset="0"/>
                <a:ea typeface="宋体" panose="02010600030101010101" pitchFamily="2" charset="-122"/>
              </a:rPr>
              <a:t>、</a:t>
            </a:r>
          </a:p>
          <a:p>
            <a:pPr marL="1143000" indent="-228600" eaLnBrk="0" hangingPunct="0">
              <a:lnSpc>
                <a:spcPct val="130000"/>
              </a:lnSpc>
              <a:buClr>
                <a:schemeClr val="tx2"/>
              </a:buClr>
              <a:buSzPct val="90000"/>
              <a:buFont typeface="Wingdings" panose="05000000000000000000"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②数据总线</a:t>
            </a:r>
          </a:p>
          <a:p>
            <a:pPr marL="1143000" indent="-228600" eaLnBrk="0" hangingPunct="0">
              <a:lnSpc>
                <a:spcPct val="130000"/>
              </a:lnSpc>
              <a:buClr>
                <a:schemeClr val="tx2"/>
              </a:buClr>
              <a:buSzPct val="90000"/>
              <a:buFont typeface="Wingdings" panose="05000000000000000000"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③控制总线</a:t>
            </a:r>
            <a:r>
              <a:rPr lang="zh-CN" altLang="en-US" sz="2000" b="1" dirty="0">
                <a:latin typeface="Helvetica" pitchFamily="34" charset="0"/>
                <a:ea typeface="宋体" panose="02010600030101010101" pitchFamily="2" charset="-122"/>
              </a:rPr>
              <a:t>。</a:t>
            </a:r>
          </a:p>
        </p:txBody>
      </p:sp>
      <p:sp>
        <p:nvSpPr>
          <p:cNvPr id="254991" name="Rectangle 15"/>
          <p:cNvSpPr/>
          <p:nvPr/>
        </p:nvSpPr>
        <p:spPr>
          <a:xfrm>
            <a:off x="1187450" y="3644900"/>
            <a:ext cx="7996238" cy="1230313"/>
          </a:xfrm>
          <a:prstGeom prst="rect">
            <a:avLst/>
          </a:prstGeom>
          <a:noFill/>
          <a:ln w="3175">
            <a:noFill/>
          </a:ln>
        </p:spPr>
        <p:txBody>
          <a:bodyPr wrap="none" anchor="t" anchorCtr="0">
            <a:spAutoFit/>
          </a:bodyPr>
          <a:lstStyle/>
          <a:p>
            <a:pPr marL="1143000" indent="-228600" eaLnBrk="0" hangingPunct="0">
              <a:spcBef>
                <a:spcPct val="35000"/>
              </a:spcBef>
              <a:buClr>
                <a:srgbClr val="800000"/>
              </a:buClr>
              <a:buSzPct val="85000"/>
              <a:buFont typeface="Wingdings" panose="05000000000000000000" pitchFamily="2" charset="2"/>
              <a:buChar char="F"/>
            </a:pPr>
            <a:r>
              <a:rPr lang="zh-CN" altLang="en-US" sz="2000" b="1" dirty="0">
                <a:latin typeface="Helvetica" pitchFamily="34" charset="0"/>
                <a:ea typeface="宋体" panose="02010600030101010101" pitchFamily="2" charset="-122"/>
              </a:rPr>
              <a:t>按照连接的部件分，总线分为：</a:t>
            </a:r>
          </a:p>
          <a:p>
            <a:pPr marL="1143000" indent="-228600" eaLnBrk="0" hangingPunct="0">
              <a:spcBef>
                <a:spcPct val="35000"/>
              </a:spcBef>
              <a:buClr>
                <a:srgbClr val="800000"/>
              </a:buClr>
              <a:buSzPct val="85000"/>
              <a:buFont typeface="Wingdings" panose="05000000000000000000"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①</a:t>
            </a:r>
            <a:r>
              <a:rPr lang="zh-CN" altLang="en-US" sz="2000" b="1" dirty="0">
                <a:solidFill>
                  <a:srgbClr val="FF0000"/>
                </a:solidFill>
                <a:latin typeface="Helvetica" pitchFamily="34" charset="0"/>
                <a:ea typeface="宋体" panose="02010600030101010101" pitchFamily="2" charset="-122"/>
              </a:rPr>
              <a:t>系统总线（也叫处理器总线）</a:t>
            </a:r>
          </a:p>
          <a:p>
            <a:pPr marL="1143000" indent="-228600" eaLnBrk="0" hangingPunct="0">
              <a:spcBef>
                <a:spcPct val="35000"/>
              </a:spcBef>
              <a:buClr>
                <a:srgbClr val="800000"/>
              </a:buClr>
              <a:buSzPct val="85000"/>
              <a:buFont typeface="Wingdings" panose="05000000000000000000" pitchFamily="2" charset="2"/>
            </a:pPr>
            <a:r>
              <a:rPr lang="zh-CN" altLang="en-US" sz="2000" b="1" dirty="0">
                <a:solidFill>
                  <a:srgbClr val="0000FF"/>
                </a:solidFill>
                <a:latin typeface="Helvetica" pitchFamily="34" charset="0"/>
                <a:ea typeface="宋体" panose="02010600030101010101" pitchFamily="2" charset="-122"/>
              </a:rPr>
              <a:t>                                             ②</a:t>
            </a:r>
            <a:r>
              <a:rPr lang="zh-CN" altLang="en-US" sz="2000" b="1" dirty="0">
                <a:solidFill>
                  <a:srgbClr val="FF0000"/>
                </a:solidFill>
                <a:latin typeface="Helvetica" pitchFamily="34" charset="0"/>
                <a:ea typeface="宋体" panose="02010600030101010101" pitchFamily="2" charset="-122"/>
              </a:rPr>
              <a:t>输入</a:t>
            </a:r>
            <a:r>
              <a:rPr lang="en-US" altLang="zh-CN" sz="2000" b="1" dirty="0">
                <a:solidFill>
                  <a:srgbClr val="FF0000"/>
                </a:solidFill>
                <a:latin typeface="Helvetica" pitchFamily="34" charset="0"/>
                <a:ea typeface="宋体" panose="02010600030101010101" pitchFamily="2" charset="-122"/>
              </a:rPr>
              <a:t>/</a:t>
            </a:r>
            <a:r>
              <a:rPr lang="zh-CN" altLang="en-US" sz="2000" b="1" dirty="0">
                <a:solidFill>
                  <a:srgbClr val="FF0000"/>
                </a:solidFill>
                <a:latin typeface="Helvetica" pitchFamily="34" charset="0"/>
                <a:ea typeface="宋体" panose="02010600030101010101" pitchFamily="2" charset="-122"/>
              </a:rPr>
              <a:t>输出总线（即</a:t>
            </a:r>
            <a:r>
              <a:rPr lang="en-US" altLang="zh-CN" sz="2000" b="1" dirty="0">
                <a:solidFill>
                  <a:srgbClr val="FF0000"/>
                </a:solidFill>
                <a:latin typeface="Helvetica" pitchFamily="34" charset="0"/>
                <a:ea typeface="宋体" panose="02010600030101010101" pitchFamily="2" charset="-122"/>
              </a:rPr>
              <a:t>I/O</a:t>
            </a:r>
            <a:r>
              <a:rPr lang="zh-CN" altLang="en-US" sz="2000" b="1" dirty="0">
                <a:solidFill>
                  <a:srgbClr val="FF0000"/>
                </a:solidFill>
                <a:latin typeface="Helvetica" pitchFamily="34" charset="0"/>
                <a:ea typeface="宋体" panose="02010600030101010101" pitchFamily="2" charset="-122"/>
              </a:rPr>
              <a:t>总线）</a:t>
            </a:r>
            <a:r>
              <a:rPr lang="zh-CN" altLang="en-US" sz="2000" b="1" dirty="0">
                <a:latin typeface="Helvetica" pitchFamily="34" charset="0"/>
                <a:ea typeface="宋体" panose="02010600030101010101" pitchFamily="2" charset="-122"/>
              </a:rPr>
              <a:t>。</a:t>
            </a:r>
          </a:p>
        </p:txBody>
      </p:sp>
      <p:sp>
        <p:nvSpPr>
          <p:cNvPr id="254992" name="Rectangle 16"/>
          <p:cNvSpPr/>
          <p:nvPr/>
        </p:nvSpPr>
        <p:spPr>
          <a:xfrm>
            <a:off x="1158875" y="4786313"/>
            <a:ext cx="5921375" cy="2060575"/>
          </a:xfrm>
          <a:prstGeom prst="rect">
            <a:avLst/>
          </a:prstGeom>
          <a:noFill/>
          <a:ln w="3175">
            <a:noFill/>
          </a:ln>
        </p:spPr>
        <p:txBody>
          <a:bodyPr wrap="none" anchor="t" anchorCtr="0">
            <a:spAutoFit/>
          </a:bodyPr>
          <a:lstStyle/>
          <a:p>
            <a:pPr marL="1143000" indent="-228600" eaLnBrk="0" hangingPunct="0">
              <a:spcBef>
                <a:spcPct val="35000"/>
              </a:spcBef>
              <a:buClr>
                <a:srgbClr val="800000"/>
              </a:buClr>
              <a:buSzPct val="85000"/>
              <a:buFont typeface="Wingdings" panose="05000000000000000000" pitchFamily="2" charset="2"/>
              <a:buChar char="F"/>
            </a:pPr>
            <a:r>
              <a:rPr lang="zh-CN" altLang="en-US" sz="2000" b="1" dirty="0">
                <a:latin typeface="Helvetica" pitchFamily="34" charset="0"/>
                <a:ea typeface="宋体" panose="02010600030101010101" pitchFamily="2" charset="-122"/>
              </a:rPr>
              <a:t>按照在计算机系统中的位置分总线分为：</a:t>
            </a:r>
          </a:p>
          <a:p>
            <a:pPr marL="1143000" indent="-228600" eaLnBrk="0" hangingPunct="0">
              <a:spcBef>
                <a:spcPct val="35000"/>
              </a:spcBef>
              <a:buClr>
                <a:srgbClr val="800000"/>
              </a:buClr>
              <a:buSzPct val="85000"/>
              <a:buFont typeface="Wingdings" panose="05000000000000000000"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①片内总线、</a:t>
            </a:r>
          </a:p>
          <a:p>
            <a:pPr lvl="4" indent="0" rtl="0" eaLnBrk="0" fontAlgn="base" hangingPunct="0">
              <a:spcBef>
                <a:spcPct val="35000"/>
              </a:spcBef>
              <a:spcAft>
                <a:spcPct val="0"/>
              </a:spcAft>
              <a:buClr>
                <a:srgbClr val="800000"/>
              </a:buClr>
              <a:buSzPct val="85000"/>
              <a:buFont typeface="Wingdings" panose="05000000000000000000" pitchFamily="2" charset="2"/>
              <a:buNone/>
            </a:pPr>
            <a:r>
              <a:rPr lang="zh-CN" altLang="en-US" sz="2000" b="1" dirty="0">
                <a:solidFill>
                  <a:srgbClr val="0000FF"/>
                </a:solidFill>
                <a:latin typeface="Helvetica" pitchFamily="34" charset="0"/>
                <a:ea typeface="宋体" panose="02010600030101010101" pitchFamily="2" charset="-122"/>
              </a:rPr>
              <a:t>                                ②底板总线、</a:t>
            </a:r>
          </a:p>
          <a:p>
            <a:pPr lvl="4" indent="0" rtl="0" eaLnBrk="0" fontAlgn="base" hangingPunct="0">
              <a:spcBef>
                <a:spcPct val="35000"/>
              </a:spcBef>
              <a:spcAft>
                <a:spcPct val="0"/>
              </a:spcAft>
              <a:buClr>
                <a:srgbClr val="800000"/>
              </a:buClr>
              <a:buSzPct val="85000"/>
              <a:buFont typeface="Wingdings" panose="05000000000000000000" pitchFamily="2" charset="2"/>
              <a:buNone/>
            </a:pPr>
            <a:r>
              <a:rPr lang="zh-CN" altLang="en-US" sz="2000" b="1" dirty="0">
                <a:solidFill>
                  <a:srgbClr val="0000FF"/>
                </a:solidFill>
                <a:latin typeface="Helvetica" pitchFamily="34" charset="0"/>
                <a:ea typeface="宋体" panose="02010600030101010101" pitchFamily="2" charset="-122"/>
              </a:rPr>
              <a:t>                                ③板间总线</a:t>
            </a:r>
          </a:p>
          <a:p>
            <a:pPr lvl="4" indent="0" rtl="0" eaLnBrk="0" fontAlgn="base" hangingPunct="0">
              <a:spcBef>
                <a:spcPct val="35000"/>
              </a:spcBef>
              <a:spcAft>
                <a:spcPct val="0"/>
              </a:spcAft>
              <a:buClr>
                <a:srgbClr val="800000"/>
              </a:buClr>
              <a:buSzPct val="85000"/>
              <a:buFont typeface="Wingdings" panose="05000000000000000000" pitchFamily="2" charset="2"/>
              <a:buNone/>
            </a:pPr>
            <a:r>
              <a:rPr lang="zh-CN" altLang="en-US" sz="2000" b="1" dirty="0">
                <a:solidFill>
                  <a:srgbClr val="0000FF"/>
                </a:solidFill>
                <a:latin typeface="Helvetica" pitchFamily="34" charset="0"/>
                <a:ea typeface="宋体" panose="02010600030101010101" pitchFamily="2" charset="-122"/>
              </a:rPr>
              <a:t>                                ④通信总线</a:t>
            </a:r>
            <a:r>
              <a:rPr lang="zh-CN" altLang="en-US" sz="2000" b="1" dirty="0">
                <a:solidFill>
                  <a:schemeClr val="tx1"/>
                </a:solidFill>
                <a:latin typeface="Helvetica" pitchFamily="34" charset="0"/>
                <a:ea typeface="宋体" panose="02010600030101010101" pitchFamily="2" charset="-122"/>
              </a:rPr>
              <a:t>。</a:t>
            </a:r>
          </a:p>
        </p:txBody>
      </p:sp>
      <p:sp>
        <p:nvSpPr>
          <p:cNvPr id="254993" name="Line 17"/>
          <p:cNvSpPr/>
          <p:nvPr/>
        </p:nvSpPr>
        <p:spPr>
          <a:xfrm>
            <a:off x="2095500" y="2176463"/>
            <a:ext cx="6121400" cy="0"/>
          </a:xfrm>
          <a:prstGeom prst="line">
            <a:avLst/>
          </a:prstGeom>
          <a:ln w="3175" cap="flat" cmpd="sng">
            <a:solidFill>
              <a:srgbClr val="800000"/>
            </a:solidFill>
            <a:prstDash val="dashDot"/>
            <a:round/>
            <a:headEnd type="none" w="med" len="med"/>
            <a:tailEnd type="none" w="med" len="med"/>
          </a:ln>
        </p:spPr>
      </p:sp>
      <p:sp>
        <p:nvSpPr>
          <p:cNvPr id="254994" name="Line 18"/>
          <p:cNvSpPr/>
          <p:nvPr/>
        </p:nvSpPr>
        <p:spPr>
          <a:xfrm>
            <a:off x="2122488" y="3673475"/>
            <a:ext cx="6121400" cy="0"/>
          </a:xfrm>
          <a:prstGeom prst="line">
            <a:avLst/>
          </a:prstGeom>
          <a:ln w="3175" cap="flat" cmpd="sng">
            <a:solidFill>
              <a:srgbClr val="800000"/>
            </a:solidFill>
            <a:prstDash val="dashDot"/>
            <a:round/>
            <a:headEnd type="none" w="med" len="med"/>
            <a:tailEnd type="none" w="med" len="med"/>
          </a:ln>
        </p:spPr>
      </p:sp>
      <p:sp>
        <p:nvSpPr>
          <p:cNvPr id="254995" name="Line 19"/>
          <p:cNvSpPr/>
          <p:nvPr/>
        </p:nvSpPr>
        <p:spPr>
          <a:xfrm>
            <a:off x="2124075" y="4826000"/>
            <a:ext cx="6121400" cy="0"/>
          </a:xfrm>
          <a:prstGeom prst="line">
            <a:avLst/>
          </a:prstGeom>
          <a:ln w="3175" cap="flat" cmpd="sng">
            <a:solidFill>
              <a:srgbClr val="800000"/>
            </a:solidFill>
            <a:prstDash val="dashDot"/>
            <a:round/>
            <a:headEnd type="none" w="med" len="med"/>
            <a:tailEnd type="none" w="med" len="med"/>
          </a:ln>
        </p:spPr>
      </p:sp>
      <p:sp>
        <p:nvSpPr>
          <p:cNvPr id="10256" name="Line 20"/>
          <p:cNvSpPr/>
          <p:nvPr/>
        </p:nvSpPr>
        <p:spPr>
          <a:xfrm>
            <a:off x="2124075" y="6770688"/>
            <a:ext cx="6121400" cy="0"/>
          </a:xfrm>
          <a:prstGeom prst="line">
            <a:avLst/>
          </a:prstGeom>
          <a:ln w="3175" cap="flat" cmpd="sng">
            <a:solidFill>
              <a:srgbClr val="800000"/>
            </a:solidFill>
            <a:prstDash val="dashDot"/>
            <a:round/>
            <a:headEnd type="none" w="med" len="med"/>
            <a:tailEnd type="none" w="med" len="med"/>
          </a:ln>
        </p:spPr>
      </p:sp>
      <p:sp>
        <p:nvSpPr>
          <p:cNvPr id="8210" name="WordArt 21"/>
          <p:cNvSpPr>
            <a:spLocks noTextEdit="1"/>
          </p:cNvSpPr>
          <p:nvPr/>
        </p:nvSpPr>
        <p:spPr>
          <a:xfrm>
            <a:off x="2627313" y="2636838"/>
            <a:ext cx="720725" cy="863600"/>
          </a:xfrm>
          <a:prstGeom prst="rect">
            <a:avLst/>
          </a:prstGeom>
        </p:spPr>
        <p:txBody>
          <a:bodyPr wrap="none" fromWordArt="1">
            <a:prstTxWarp prst="textPlain">
              <a:avLst>
                <a:gd name="adj" fmla="val 50000"/>
              </a:avLst>
            </a:prstTxWarp>
            <a:normAutofit/>
          </a:bodyPr>
          <a:lstStyle/>
          <a:p>
            <a:pPr algn="ctr"/>
            <a:r>
              <a:rPr lang="zh-CN" altLang="en-US" sz="3600" b="1">
                <a:ln w="12700" cap="flat" cmpd="sng">
                  <a:solidFill>
                    <a:srgbClr val="EAEAEA"/>
                  </a:solidFill>
                  <a:prstDash val="solid"/>
                  <a:roun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宋体" panose="02010600030101010101" pitchFamily="2" charset="-122"/>
                <a:ea typeface="宋体" panose="02010600030101010101" pitchFamily="2" charset="-122"/>
              </a:rPr>
              <a:t>1</a:t>
            </a:r>
          </a:p>
        </p:txBody>
      </p:sp>
      <p:sp>
        <p:nvSpPr>
          <p:cNvPr id="8211" name="WordArt 22"/>
          <p:cNvSpPr>
            <a:spLocks noTextEdit="1"/>
          </p:cNvSpPr>
          <p:nvPr/>
        </p:nvSpPr>
        <p:spPr>
          <a:xfrm>
            <a:off x="2627313" y="3932238"/>
            <a:ext cx="720725" cy="863600"/>
          </a:xfrm>
          <a:prstGeom prst="rect">
            <a:avLst/>
          </a:prstGeom>
        </p:spPr>
        <p:txBody>
          <a:bodyPr wrap="none" fromWordArt="1">
            <a:prstTxWarp prst="textPlain">
              <a:avLst>
                <a:gd name="adj" fmla="val 50000"/>
              </a:avLst>
            </a:prstTxWarp>
            <a:normAutofit/>
          </a:bodyPr>
          <a:lstStyle/>
          <a:p>
            <a:pPr algn="ctr"/>
            <a:r>
              <a:rPr lang="zh-CN" altLang="en-US" sz="3600" b="1">
                <a:ln w="12700" cap="flat" cmpd="sng">
                  <a:solidFill>
                    <a:srgbClr val="EAEAEA"/>
                  </a:solidFill>
                  <a:prstDash val="solid"/>
                  <a:roun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宋体" panose="02010600030101010101" pitchFamily="2" charset="-122"/>
                <a:ea typeface="宋体" panose="02010600030101010101" pitchFamily="2" charset="-122"/>
              </a:rPr>
              <a:t>2</a:t>
            </a:r>
          </a:p>
        </p:txBody>
      </p:sp>
      <p:sp>
        <p:nvSpPr>
          <p:cNvPr id="8212" name="WordArt 23"/>
          <p:cNvSpPr>
            <a:spLocks noTextEdit="1"/>
          </p:cNvSpPr>
          <p:nvPr/>
        </p:nvSpPr>
        <p:spPr>
          <a:xfrm>
            <a:off x="2627313" y="5445125"/>
            <a:ext cx="720725" cy="863600"/>
          </a:xfrm>
          <a:prstGeom prst="rect">
            <a:avLst/>
          </a:prstGeom>
        </p:spPr>
        <p:txBody>
          <a:bodyPr wrap="none" fromWordArt="1">
            <a:prstTxWarp prst="textPlain">
              <a:avLst>
                <a:gd name="adj" fmla="val 50000"/>
              </a:avLst>
            </a:prstTxWarp>
            <a:normAutofit/>
          </a:bodyPr>
          <a:lstStyle/>
          <a:p>
            <a:pPr algn="ctr"/>
            <a:r>
              <a:rPr lang="zh-CN" altLang="en-US" sz="3600" b="1">
                <a:ln w="12700" cap="flat" cmpd="sng">
                  <a:solidFill>
                    <a:srgbClr val="EAEAEA"/>
                  </a:solidFill>
                  <a:prstDash val="solid"/>
                  <a:roun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宋体" panose="02010600030101010101" pitchFamily="2" charset="-122"/>
                <a:ea typeface="宋体" panose="02010600030101010101" pitchFamily="2" charset="-122"/>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4989"/>
                                        </p:tgtEl>
                                        <p:attrNameLst>
                                          <p:attrName>style.visibility</p:attrName>
                                        </p:attrNameLst>
                                      </p:cBhvr>
                                      <p:to>
                                        <p:strVal val="visible"/>
                                      </p:to>
                                    </p:set>
                                    <p:animEffect transition="in" filter="dissolve">
                                      <p:cBhvr>
                                        <p:cTn id="7" dur="1000"/>
                                        <p:tgtEl>
                                          <p:spTgt spid="25498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54987"/>
                                        </p:tgtEl>
                                        <p:attrNameLst>
                                          <p:attrName>style.visibility</p:attrName>
                                        </p:attrNameLst>
                                      </p:cBhvr>
                                      <p:to>
                                        <p:strVal val="visible"/>
                                      </p:to>
                                    </p:set>
                                    <p:animEffect transition="in" filter="barn(outHorizontal)">
                                      <p:cBhvr>
                                        <p:cTn id="12" dur="1000"/>
                                        <p:tgtEl>
                                          <p:spTgt spid="254987"/>
                                        </p:tgtEl>
                                      </p:cBhvr>
                                    </p:animEffect>
                                  </p:childTnLst>
                                </p:cTn>
                              </p:par>
                              <p:par>
                                <p:cTn id="13" presetID="16" presetClass="entr" presetSubtype="42" fill="hold" grpId="0" nodeType="withEffect">
                                  <p:stCondLst>
                                    <p:cond delay="0"/>
                                  </p:stCondLst>
                                  <p:childTnLst>
                                    <p:set>
                                      <p:cBhvr>
                                        <p:cTn id="14" dur="1" fill="hold">
                                          <p:stCondLst>
                                            <p:cond delay="0"/>
                                          </p:stCondLst>
                                        </p:cTn>
                                        <p:tgtEl>
                                          <p:spTgt spid="254988"/>
                                        </p:tgtEl>
                                        <p:attrNameLst>
                                          <p:attrName>style.visibility</p:attrName>
                                        </p:attrNameLst>
                                      </p:cBhvr>
                                      <p:to>
                                        <p:strVal val="visible"/>
                                      </p:to>
                                    </p:set>
                                    <p:animEffect transition="in" filter="barn(outHorizontal)">
                                      <p:cBhvr>
                                        <p:cTn id="15" dur="1000"/>
                                        <p:tgtEl>
                                          <p:spTgt spid="254988"/>
                                        </p:tgtEl>
                                      </p:cBhvr>
                                    </p:animEffect>
                                  </p:childTnLst>
                                </p:cTn>
                              </p:par>
                              <p:par>
                                <p:cTn id="16" presetID="16" presetClass="entr" presetSubtype="42" fill="hold" grpId="0" nodeType="withEffect">
                                  <p:stCondLst>
                                    <p:cond delay="0"/>
                                  </p:stCondLst>
                                  <p:childTnLst>
                                    <p:set>
                                      <p:cBhvr>
                                        <p:cTn id="17" dur="1" fill="hold">
                                          <p:stCondLst>
                                            <p:cond delay="0"/>
                                          </p:stCondLst>
                                        </p:cTn>
                                        <p:tgtEl>
                                          <p:spTgt spid="604165"/>
                                        </p:tgtEl>
                                        <p:attrNameLst>
                                          <p:attrName>style.visibility</p:attrName>
                                        </p:attrNameLst>
                                      </p:cBhvr>
                                      <p:to>
                                        <p:strVal val="visible"/>
                                      </p:to>
                                    </p:set>
                                    <p:animEffect transition="in" filter="barn(outHorizontal)">
                                      <p:cBhvr>
                                        <p:cTn id="18" dur="1000"/>
                                        <p:tgtEl>
                                          <p:spTgt spid="604165"/>
                                        </p:tgtEl>
                                      </p:cBhvr>
                                    </p:animEffect>
                                  </p:childTnLst>
                                </p:cTn>
                              </p:par>
                              <p:par>
                                <p:cTn id="19" presetID="16" presetClass="entr" presetSubtype="42" fill="hold" grpId="0" nodeType="withEffect">
                                  <p:stCondLst>
                                    <p:cond delay="0"/>
                                  </p:stCondLst>
                                  <p:childTnLst>
                                    <p:set>
                                      <p:cBhvr>
                                        <p:cTn id="20" dur="1" fill="hold">
                                          <p:stCondLst>
                                            <p:cond delay="0"/>
                                          </p:stCondLst>
                                        </p:cTn>
                                        <p:tgtEl>
                                          <p:spTgt spid="254986"/>
                                        </p:tgtEl>
                                        <p:attrNameLst>
                                          <p:attrName>style.visibility</p:attrName>
                                        </p:attrNameLst>
                                      </p:cBhvr>
                                      <p:to>
                                        <p:strVal val="visible"/>
                                      </p:to>
                                    </p:set>
                                    <p:animEffect transition="in" filter="barn(outHorizontal)">
                                      <p:cBhvr>
                                        <p:cTn id="21" dur="1000"/>
                                        <p:tgtEl>
                                          <p:spTgt spid="25498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54993"/>
                                        </p:tgtEl>
                                        <p:attrNameLst>
                                          <p:attrName>style.visibility</p:attrName>
                                        </p:attrNameLst>
                                      </p:cBhvr>
                                      <p:to>
                                        <p:strVal val="visible"/>
                                      </p:to>
                                    </p:set>
                                    <p:animEffect transition="in" filter="wipe(left)">
                                      <p:cBhvr>
                                        <p:cTn id="26" dur="1000"/>
                                        <p:tgtEl>
                                          <p:spTgt spid="254993"/>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54990"/>
                                        </p:tgtEl>
                                        <p:attrNameLst>
                                          <p:attrName>style.visibility</p:attrName>
                                        </p:attrNameLst>
                                      </p:cBhvr>
                                      <p:to>
                                        <p:strVal val="visible"/>
                                      </p:to>
                                    </p:set>
                                    <p:animEffect transition="in" filter="wipe(left)">
                                      <p:cBhvr>
                                        <p:cTn id="29" dur="1000"/>
                                        <p:tgtEl>
                                          <p:spTgt spid="254990"/>
                                        </p:tgtEl>
                                      </p:cBhvr>
                                    </p:animEffect>
                                  </p:childTnLst>
                                </p:cTn>
                              </p:par>
                              <p:par>
                                <p:cTn id="30" presetID="22" presetClass="entr" presetSubtype="8" fill="hold" nodeType="withEffect">
                                  <p:stCondLst>
                                    <p:cond delay="0"/>
                                  </p:stCondLst>
                                  <p:childTnLst>
                                    <p:set>
                                      <p:cBhvr>
                                        <p:cTn id="31" dur="1" fill="hold">
                                          <p:stCondLst>
                                            <p:cond delay="0"/>
                                          </p:stCondLst>
                                        </p:cTn>
                                        <p:tgtEl>
                                          <p:spTgt spid="8210"/>
                                        </p:tgtEl>
                                        <p:attrNameLst>
                                          <p:attrName>style.visibility</p:attrName>
                                        </p:attrNameLst>
                                      </p:cBhvr>
                                      <p:to>
                                        <p:strVal val="visible"/>
                                      </p:to>
                                    </p:set>
                                    <p:animEffect transition="in" filter="wipe(left)">
                                      <p:cBhvr>
                                        <p:cTn id="32" dur="1000"/>
                                        <p:tgtEl>
                                          <p:spTgt spid="82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4994"/>
                                        </p:tgtEl>
                                        <p:attrNameLst>
                                          <p:attrName>style.visibility</p:attrName>
                                        </p:attrNameLst>
                                      </p:cBhvr>
                                      <p:to>
                                        <p:strVal val="visible"/>
                                      </p:to>
                                    </p:set>
                                    <p:animEffect transition="in" filter="wipe(left)">
                                      <p:cBhvr>
                                        <p:cTn id="37" dur="1000"/>
                                        <p:tgtEl>
                                          <p:spTgt spid="254994"/>
                                        </p:tgtEl>
                                      </p:cBhvr>
                                    </p:animEffect>
                                  </p:childTnLst>
                                </p:cTn>
                              </p:par>
                              <p:par>
                                <p:cTn id="38" presetID="22" presetClass="entr" presetSubtype="8" fill="hold" nodeType="withEffect">
                                  <p:stCondLst>
                                    <p:cond delay="0"/>
                                  </p:stCondLst>
                                  <p:childTnLst>
                                    <p:set>
                                      <p:cBhvr>
                                        <p:cTn id="39" dur="1" fill="hold">
                                          <p:stCondLst>
                                            <p:cond delay="0"/>
                                          </p:stCondLst>
                                        </p:cTn>
                                        <p:tgtEl>
                                          <p:spTgt spid="8211"/>
                                        </p:tgtEl>
                                        <p:attrNameLst>
                                          <p:attrName>style.visibility</p:attrName>
                                        </p:attrNameLst>
                                      </p:cBhvr>
                                      <p:to>
                                        <p:strVal val="visible"/>
                                      </p:to>
                                    </p:set>
                                    <p:animEffect transition="in" filter="wipe(left)">
                                      <p:cBhvr>
                                        <p:cTn id="40" dur="1000"/>
                                        <p:tgtEl>
                                          <p:spTgt spid="8211"/>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54991"/>
                                        </p:tgtEl>
                                        <p:attrNameLst>
                                          <p:attrName>style.visibility</p:attrName>
                                        </p:attrNameLst>
                                      </p:cBhvr>
                                      <p:to>
                                        <p:strVal val="visible"/>
                                      </p:to>
                                    </p:set>
                                    <p:animEffect transition="in" filter="wipe(left)">
                                      <p:cBhvr>
                                        <p:cTn id="43" dur="1000"/>
                                        <p:tgtEl>
                                          <p:spTgt spid="25499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54995"/>
                                        </p:tgtEl>
                                        <p:attrNameLst>
                                          <p:attrName>style.visibility</p:attrName>
                                        </p:attrNameLst>
                                      </p:cBhvr>
                                      <p:to>
                                        <p:strVal val="visible"/>
                                      </p:to>
                                    </p:set>
                                    <p:animEffect transition="in" filter="wipe(left)">
                                      <p:cBhvr>
                                        <p:cTn id="48" dur="1000"/>
                                        <p:tgtEl>
                                          <p:spTgt spid="254995"/>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54992"/>
                                        </p:tgtEl>
                                        <p:attrNameLst>
                                          <p:attrName>style.visibility</p:attrName>
                                        </p:attrNameLst>
                                      </p:cBhvr>
                                      <p:to>
                                        <p:strVal val="visible"/>
                                      </p:to>
                                    </p:set>
                                    <p:animEffect transition="in" filter="wipe(left)">
                                      <p:cBhvr>
                                        <p:cTn id="51" dur="1000"/>
                                        <p:tgtEl>
                                          <p:spTgt spid="254992"/>
                                        </p:tgtEl>
                                      </p:cBhvr>
                                    </p:animEffect>
                                  </p:childTnLst>
                                </p:cTn>
                              </p:par>
                              <p:par>
                                <p:cTn id="52" presetID="22" presetClass="entr" presetSubtype="8" fill="hold" nodeType="withEffect">
                                  <p:stCondLst>
                                    <p:cond delay="0"/>
                                  </p:stCondLst>
                                  <p:childTnLst>
                                    <p:set>
                                      <p:cBhvr>
                                        <p:cTn id="53" dur="1" fill="hold">
                                          <p:stCondLst>
                                            <p:cond delay="0"/>
                                          </p:stCondLst>
                                        </p:cTn>
                                        <p:tgtEl>
                                          <p:spTgt spid="8212"/>
                                        </p:tgtEl>
                                        <p:attrNameLst>
                                          <p:attrName>style.visibility</p:attrName>
                                        </p:attrNameLst>
                                      </p:cBhvr>
                                      <p:to>
                                        <p:strVal val="visible"/>
                                      </p:to>
                                    </p:set>
                                    <p:animEffect transition="in" filter="wipe(left)">
                                      <p:cBhvr>
                                        <p:cTn id="54" dur="1000"/>
                                        <p:tgtEl>
                                          <p:spTgt spid="8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5" grpId="0"/>
      <p:bldP spid="254986" grpId="0" animBg="1"/>
      <p:bldP spid="254987" grpId="0" animBg="1"/>
      <p:bldP spid="254988" grpId="0"/>
      <p:bldP spid="254989" grpId="0"/>
      <p:bldP spid="254990" grpId="0"/>
      <p:bldP spid="254991" grpId="0"/>
      <p:bldP spid="25499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p:cNvSpPr/>
          <p:nvPr/>
        </p:nvSpPr>
        <p:spPr>
          <a:xfrm>
            <a:off x="0" y="5949950"/>
            <a:ext cx="9144000" cy="908050"/>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1266" name="Text Box 6"/>
          <p:cNvSpPr txBox="1"/>
          <p:nvPr/>
        </p:nvSpPr>
        <p:spPr>
          <a:xfrm>
            <a:off x="-685800" y="228600"/>
            <a:ext cx="2363788" cy="519113"/>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800" b="1" dirty="0">
                <a:latin typeface="Helvetica" pitchFamily="34" charset="0"/>
                <a:ea typeface="宋体" panose="02010600030101010101" pitchFamily="2" charset="-122"/>
              </a:rPr>
              <a:t>2</a:t>
            </a:r>
            <a:r>
              <a:rPr lang="zh-CN" altLang="en-US" sz="2800" b="1" dirty="0">
                <a:latin typeface="Helvetica" pitchFamily="34" charset="0"/>
                <a:ea typeface="宋体" panose="02010600030101010101" pitchFamily="2" charset="-122"/>
              </a:rPr>
              <a:t>、特性</a:t>
            </a:r>
          </a:p>
        </p:txBody>
      </p:sp>
      <p:sp>
        <p:nvSpPr>
          <p:cNvPr id="11267" name="Rectangle 4"/>
          <p:cNvSpPr/>
          <p:nvPr/>
        </p:nvSpPr>
        <p:spPr>
          <a:xfrm>
            <a:off x="152400" y="762000"/>
            <a:ext cx="7991475" cy="503238"/>
          </a:xfrm>
          <a:prstGeom prst="rect">
            <a:avLst/>
          </a:prstGeom>
          <a:noFill/>
          <a:ln w="9525">
            <a:noFill/>
          </a:ln>
        </p:spPr>
        <p:txBody>
          <a:bodyPr anchor="t" anchorCtr="0"/>
          <a:lstStyle/>
          <a:p>
            <a:pPr marL="342900" indent="-342900" eaLnBrk="0" hangingPunct="0">
              <a:lnSpc>
                <a:spcPct val="120000"/>
              </a:lnSpc>
              <a:buClr>
                <a:srgbClr val="0000FF"/>
              </a:buClr>
              <a:buSzPct val="90000"/>
              <a:buFont typeface="Monotype Sorts" pitchFamily="2" charset="2"/>
              <a:buChar char="@"/>
            </a:pPr>
            <a:r>
              <a:rPr lang="zh-CN" altLang="en-US" sz="2000" b="1" dirty="0">
                <a:latin typeface="Times New Roman" panose="02020603050405020304" pitchFamily="18" charset="0"/>
                <a:ea typeface="宋体" panose="02010600030101010101" pitchFamily="2" charset="-122"/>
              </a:rPr>
              <a:t>总线具有以下</a:t>
            </a:r>
            <a:r>
              <a:rPr lang="en-US" altLang="zh-CN" sz="2000" b="1" dirty="0">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方面特性： </a:t>
            </a:r>
          </a:p>
        </p:txBody>
      </p:sp>
      <p:sp>
        <p:nvSpPr>
          <p:cNvPr id="256008" name="AutoShape 8"/>
          <p:cNvSpPr/>
          <p:nvPr/>
        </p:nvSpPr>
        <p:spPr>
          <a:xfrm>
            <a:off x="1331913" y="1773238"/>
            <a:ext cx="7632700" cy="4824412"/>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6009" name="AutoShape 9"/>
          <p:cNvSpPr/>
          <p:nvPr/>
        </p:nvSpPr>
        <p:spPr>
          <a:xfrm>
            <a:off x="179388" y="1773238"/>
            <a:ext cx="1152525" cy="1008062"/>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6010" name="Text Box 10"/>
          <p:cNvSpPr txBox="1"/>
          <p:nvPr/>
        </p:nvSpPr>
        <p:spPr>
          <a:xfrm>
            <a:off x="-754062" y="1820863"/>
            <a:ext cx="2117725" cy="701675"/>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solidFill>
                  <a:srgbClr val="F8F8F8"/>
                </a:solidFill>
                <a:latin typeface="Helvetica" pitchFamily="34" charset="0"/>
                <a:ea typeface="宋体" panose="02010600030101010101" pitchFamily="2" charset="-122"/>
              </a:rPr>
              <a:t>定义</a:t>
            </a:r>
          </a:p>
        </p:txBody>
      </p:sp>
      <p:sp>
        <p:nvSpPr>
          <p:cNvPr id="11271" name="Rectangle 11"/>
          <p:cNvSpPr/>
          <p:nvPr/>
        </p:nvSpPr>
        <p:spPr>
          <a:xfrm>
            <a:off x="-757237" y="1219200"/>
            <a:ext cx="3430587" cy="519113"/>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800" b="1" dirty="0">
                <a:latin typeface="Helvetica" pitchFamily="34" charset="0"/>
                <a:ea typeface="宋体" panose="02010600030101010101" pitchFamily="2" charset="-122"/>
              </a:rPr>
              <a:t>（</a:t>
            </a:r>
            <a:r>
              <a:rPr lang="en-US" altLang="zh-CN" sz="2800" b="1" dirty="0">
                <a:latin typeface="Helvetica" pitchFamily="34" charset="0"/>
                <a:ea typeface="宋体" panose="02010600030101010101" pitchFamily="2" charset="-122"/>
              </a:rPr>
              <a:t>2</a:t>
            </a:r>
            <a:r>
              <a:rPr lang="zh-CN" altLang="en-US" sz="2800" b="1" dirty="0">
                <a:latin typeface="Helvetica" pitchFamily="34" charset="0"/>
                <a:ea typeface="宋体" panose="02010600030101010101" pitchFamily="2" charset="-122"/>
              </a:rPr>
              <a:t>）物理特性</a:t>
            </a:r>
          </a:p>
        </p:txBody>
      </p:sp>
      <p:sp>
        <p:nvSpPr>
          <p:cNvPr id="256012" name="Rectangle 12"/>
          <p:cNvSpPr/>
          <p:nvPr/>
        </p:nvSpPr>
        <p:spPr>
          <a:xfrm>
            <a:off x="755650" y="1692275"/>
            <a:ext cx="7854950" cy="1990725"/>
          </a:xfrm>
          <a:prstGeom prst="rect">
            <a:avLst/>
          </a:prstGeom>
          <a:noFill/>
          <a:ln w="3175">
            <a:noFill/>
          </a:ln>
        </p:spPr>
        <p:txBody>
          <a:bodyPr wrap="none" anchor="t" anchorCtr="0">
            <a:spAutoFit/>
          </a:bodyPr>
          <a:lstStyle/>
          <a:p>
            <a:pPr marL="1143000" indent="-228600" eaLnBrk="0" hangingPunct="0">
              <a:lnSpc>
                <a:spcPct val="120000"/>
              </a:lnSpc>
              <a:buClr>
                <a:schemeClr val="tx2"/>
              </a:buClr>
              <a:buSzPct val="90000"/>
              <a:buFont typeface="Monotype Sorts" pitchFamily="2" charset="2"/>
            </a:pPr>
            <a:r>
              <a:rPr lang="zh-CN" altLang="en-US" sz="2400" b="1" dirty="0">
                <a:solidFill>
                  <a:srgbClr val="FF0000"/>
                </a:solidFill>
                <a:latin typeface="Helvetica" pitchFamily="34" charset="0"/>
                <a:ea typeface="宋体" panose="02010600030101010101" pitchFamily="2" charset="-122"/>
              </a:rPr>
              <a:t>物理特性</a:t>
            </a:r>
            <a:r>
              <a:rPr lang="zh-CN" altLang="en-US" sz="2000" b="1" dirty="0">
                <a:latin typeface="Helvetica" pitchFamily="34" charset="0"/>
                <a:ea typeface="宋体" panose="02010600030101010101" pitchFamily="2" charset="-122"/>
              </a:rPr>
              <a:t>又称</a:t>
            </a:r>
            <a:r>
              <a:rPr lang="zh-CN" altLang="en-US" sz="2400" b="1" dirty="0">
                <a:solidFill>
                  <a:srgbClr val="FF0000"/>
                </a:solidFill>
                <a:latin typeface="Helvetica" pitchFamily="34" charset="0"/>
                <a:ea typeface="宋体" panose="02010600030101010101" pitchFamily="2" charset="-122"/>
              </a:rPr>
              <a:t>机械特性</a:t>
            </a:r>
            <a:r>
              <a:rPr lang="zh-CN" altLang="en-US" sz="2000" b="1" dirty="0">
                <a:latin typeface="Helvetica" pitchFamily="34" charset="0"/>
                <a:ea typeface="宋体" panose="02010600030101010101" pitchFamily="2" charset="-122"/>
              </a:rPr>
              <a:t>，指总线的物理连接标准，包括：</a:t>
            </a:r>
          </a:p>
          <a:p>
            <a:pPr marL="1143000" indent="-228600" eaLnBrk="0" hangingPunct="0">
              <a:lnSpc>
                <a:spcPct val="120000"/>
              </a:lnSpc>
              <a:buClr>
                <a:schemeClr val="tx2"/>
              </a:buClr>
              <a:buSzPct val="90000"/>
              <a:buFont typeface="Monotype Sorts"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①插头</a:t>
            </a:r>
          </a:p>
          <a:p>
            <a:pPr marL="1143000" indent="-228600" eaLnBrk="0" hangingPunct="0">
              <a:lnSpc>
                <a:spcPct val="120000"/>
              </a:lnSpc>
              <a:buClr>
                <a:schemeClr val="tx2"/>
              </a:buClr>
              <a:buSzPct val="90000"/>
              <a:buFont typeface="Monotype Sorts" pitchFamily="2" charset="2"/>
            </a:pPr>
            <a:r>
              <a:rPr lang="zh-CN" altLang="en-US" sz="2000" b="1" dirty="0">
                <a:solidFill>
                  <a:srgbClr val="0000FF"/>
                </a:solidFill>
                <a:latin typeface="Helvetica" pitchFamily="34" charset="0"/>
                <a:ea typeface="宋体" panose="02010600030101010101" pitchFamily="2" charset="-122"/>
              </a:rPr>
              <a:t>                  ②插座的几何形状与尺寸、</a:t>
            </a:r>
          </a:p>
          <a:p>
            <a:pPr marL="1143000" indent="-228600" eaLnBrk="0" hangingPunct="0">
              <a:lnSpc>
                <a:spcPct val="120000"/>
              </a:lnSpc>
              <a:buClr>
                <a:schemeClr val="tx2"/>
              </a:buClr>
              <a:buSzPct val="90000"/>
              <a:buFont typeface="Monotype Sorts" pitchFamily="2" charset="2"/>
            </a:pPr>
            <a:r>
              <a:rPr lang="zh-CN" altLang="en-US" sz="2000" b="1" dirty="0">
                <a:solidFill>
                  <a:srgbClr val="0000FF"/>
                </a:solidFill>
                <a:latin typeface="Helvetica" pitchFamily="34" charset="0"/>
                <a:ea typeface="宋体" panose="02010600030101010101" pitchFamily="2" charset="-122"/>
              </a:rPr>
              <a:t>                  ③引脚的数量与排列方式、</a:t>
            </a:r>
          </a:p>
          <a:p>
            <a:pPr marL="1143000" indent="-228600" eaLnBrk="0" hangingPunct="0">
              <a:lnSpc>
                <a:spcPct val="120000"/>
              </a:lnSpc>
              <a:buClr>
                <a:schemeClr val="tx2"/>
              </a:buClr>
              <a:buSzPct val="90000"/>
              <a:buFont typeface="Monotype Sorts" pitchFamily="2" charset="2"/>
            </a:pPr>
            <a:r>
              <a:rPr lang="zh-CN" altLang="en-US" sz="2000" b="1" dirty="0">
                <a:solidFill>
                  <a:srgbClr val="0000FF"/>
                </a:solidFill>
                <a:latin typeface="Helvetica" pitchFamily="34" charset="0"/>
                <a:ea typeface="宋体" panose="02010600030101010101" pitchFamily="2" charset="-122"/>
              </a:rPr>
              <a:t>                  ④固定方式等</a:t>
            </a:r>
            <a:r>
              <a:rPr lang="zh-CN" altLang="en-US" sz="2000" b="1" dirty="0">
                <a:latin typeface="Helvetica" pitchFamily="34" charset="0"/>
                <a:ea typeface="宋体" panose="02010600030101010101" pitchFamily="2" charset="-122"/>
              </a:rPr>
              <a:t>。 </a:t>
            </a:r>
          </a:p>
        </p:txBody>
      </p:sp>
      <p:sp>
        <p:nvSpPr>
          <p:cNvPr id="606214" name="Rectangle 6"/>
          <p:cNvSpPr/>
          <p:nvPr/>
        </p:nvSpPr>
        <p:spPr>
          <a:xfrm>
            <a:off x="1547813" y="3933825"/>
            <a:ext cx="10585450" cy="590550"/>
          </a:xfrm>
          <a:prstGeom prst="rect">
            <a:avLst/>
          </a:prstGeom>
          <a:noFill/>
          <a:ln w="9525">
            <a:noFill/>
          </a:ln>
        </p:spPr>
        <p:txBody>
          <a:bodyPr anchor="t" anchorCtr="0"/>
          <a:lstStyle/>
          <a:p>
            <a:pPr marL="342900" indent="-342900" eaLnBrk="0" hangingPunct="0">
              <a:lnSpc>
                <a:spcPct val="130000"/>
              </a:lnSpc>
              <a:buClr>
                <a:schemeClr val="tx2"/>
              </a:buClr>
              <a:buSzPct val="90000"/>
              <a:buFont typeface="Wingdings" panose="05000000000000000000" pitchFamily="2" charset="2"/>
              <a:buChar char="F"/>
            </a:pPr>
            <a:r>
              <a:rPr lang="zh-CN" altLang="en-US" sz="2000" b="1" dirty="0">
                <a:latin typeface="Times New Roman" panose="02020603050405020304" pitchFamily="18" charset="0"/>
                <a:ea typeface="宋体" panose="02010600030101010101" pitchFamily="2" charset="-122"/>
              </a:rPr>
              <a:t>对于通信总线，根据所传数据的位数又可以将其分为：</a:t>
            </a:r>
          </a:p>
          <a:p>
            <a:pPr marL="342900" indent="-342900" eaLnBrk="0" hangingPunct="0">
              <a:lnSpc>
                <a:spcPct val="130000"/>
              </a:lnSpc>
              <a:buClr>
                <a:schemeClr val="tx2"/>
              </a:buClr>
              <a:buSzPct val="90000"/>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                     </a:t>
            </a:r>
            <a:r>
              <a:rPr lang="zh-CN" altLang="en-US" sz="2000" b="1" dirty="0">
                <a:solidFill>
                  <a:srgbClr val="0000FF"/>
                </a:solidFill>
                <a:latin typeface="Times New Roman" panose="02020603050405020304" pitchFamily="18" charset="0"/>
                <a:ea typeface="宋体" panose="02010600030101010101" pitchFamily="2" charset="-122"/>
              </a:rPr>
              <a:t>①串行总线</a:t>
            </a:r>
            <a:r>
              <a:rPr lang="en-US" altLang="zh-CN" sz="2000" b="1" dirty="0">
                <a:solidFill>
                  <a:srgbClr val="0000FF"/>
                </a:solidFill>
                <a:latin typeface="Times New Roman" panose="02020603050405020304" pitchFamily="18" charset="0"/>
                <a:ea typeface="宋体" panose="02010600030101010101" pitchFamily="2" charset="-122"/>
              </a:rPr>
              <a:t>(</a:t>
            </a:r>
            <a:r>
              <a:rPr lang="zh-CN" altLang="en-US" sz="2000" b="1" dirty="0">
                <a:solidFill>
                  <a:srgbClr val="0000FF"/>
                </a:solidFill>
                <a:latin typeface="Times New Roman" panose="02020603050405020304" pitchFamily="18" charset="0"/>
                <a:ea typeface="宋体" panose="02010600030101010101" pitchFamily="2" charset="-122"/>
              </a:rPr>
              <a:t>一根线</a:t>
            </a:r>
            <a:r>
              <a:rPr lang="en-US" altLang="zh-CN" sz="2000" b="1" dirty="0">
                <a:solidFill>
                  <a:srgbClr val="0000FF"/>
                </a:solidFill>
                <a:latin typeface="Times New Roman" panose="02020603050405020304" pitchFamily="18" charset="0"/>
                <a:ea typeface="宋体" panose="02010600030101010101" pitchFamily="2" charset="-122"/>
              </a:rPr>
              <a:t>)</a:t>
            </a:r>
          </a:p>
          <a:p>
            <a:pPr marL="342900" indent="-342900" eaLnBrk="0" hangingPunct="0">
              <a:lnSpc>
                <a:spcPct val="130000"/>
              </a:lnSpc>
              <a:buClr>
                <a:schemeClr val="tx2"/>
              </a:buClr>
              <a:buSzPct val="90000"/>
              <a:buFont typeface="Wingdings" panose="05000000000000000000" pitchFamily="2" charset="2"/>
            </a:pPr>
            <a:endParaRPr lang="en-US" altLang="zh-CN" sz="2000" b="1" dirty="0">
              <a:latin typeface="Times New Roman" panose="02020603050405020304" pitchFamily="18" charset="0"/>
              <a:ea typeface="宋体" panose="02010600030101010101" pitchFamily="2" charset="-122"/>
            </a:endParaRPr>
          </a:p>
          <a:p>
            <a:pPr marL="342900" indent="-342900" eaLnBrk="0" hangingPunct="0">
              <a:lnSpc>
                <a:spcPct val="130000"/>
              </a:lnSpc>
              <a:buClr>
                <a:schemeClr val="tx2"/>
              </a:buClr>
              <a:buSzPct val="90000"/>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                     </a:t>
            </a:r>
            <a:r>
              <a:rPr lang="en-US" altLang="zh-CN" sz="2000" b="1" dirty="0">
                <a:solidFill>
                  <a:srgbClr val="0000FF"/>
                </a:solidFill>
                <a:latin typeface="Times New Roman" panose="02020603050405020304" pitchFamily="18" charset="0"/>
                <a:ea typeface="宋体" panose="02010600030101010101" pitchFamily="2" charset="-122"/>
              </a:rPr>
              <a:t>②</a:t>
            </a:r>
            <a:r>
              <a:rPr lang="zh-CN" altLang="en-US" sz="2000" b="1" dirty="0">
                <a:solidFill>
                  <a:srgbClr val="0000FF"/>
                </a:solidFill>
                <a:latin typeface="Times New Roman" panose="02020603050405020304" pitchFamily="18" charset="0"/>
                <a:ea typeface="宋体" panose="02010600030101010101" pitchFamily="2" charset="-122"/>
              </a:rPr>
              <a:t>并行总线（多根线） </a:t>
            </a:r>
          </a:p>
        </p:txBody>
      </p:sp>
      <p:sp>
        <p:nvSpPr>
          <p:cNvPr id="256014" name="Line 14"/>
          <p:cNvSpPr/>
          <p:nvPr/>
        </p:nvSpPr>
        <p:spPr>
          <a:xfrm>
            <a:off x="5472113" y="4610100"/>
            <a:ext cx="228600" cy="0"/>
          </a:xfrm>
          <a:prstGeom prst="line">
            <a:avLst/>
          </a:prstGeom>
          <a:ln w="57150" cap="flat" cmpd="sng">
            <a:solidFill>
              <a:srgbClr val="FF6600"/>
            </a:solidFill>
            <a:prstDash val="solid"/>
            <a:round/>
            <a:headEnd type="none" w="med" len="med"/>
            <a:tailEnd type="none" w="med" len="med"/>
          </a:ln>
        </p:spPr>
      </p:sp>
      <p:sp>
        <p:nvSpPr>
          <p:cNvPr id="256015" name="Line 15"/>
          <p:cNvSpPr/>
          <p:nvPr/>
        </p:nvSpPr>
        <p:spPr>
          <a:xfrm>
            <a:off x="5776913" y="4610100"/>
            <a:ext cx="228600" cy="0"/>
          </a:xfrm>
          <a:prstGeom prst="line">
            <a:avLst/>
          </a:prstGeom>
          <a:ln w="57150" cap="flat" cmpd="sng">
            <a:solidFill>
              <a:srgbClr val="FF6600"/>
            </a:solidFill>
            <a:prstDash val="solid"/>
            <a:round/>
            <a:headEnd type="none" w="med" len="med"/>
            <a:tailEnd type="none" w="med" len="med"/>
          </a:ln>
        </p:spPr>
      </p:sp>
      <p:sp>
        <p:nvSpPr>
          <p:cNvPr id="256016" name="Line 16"/>
          <p:cNvSpPr/>
          <p:nvPr/>
        </p:nvSpPr>
        <p:spPr>
          <a:xfrm>
            <a:off x="6081713" y="4610100"/>
            <a:ext cx="228600" cy="0"/>
          </a:xfrm>
          <a:prstGeom prst="line">
            <a:avLst/>
          </a:prstGeom>
          <a:ln w="57150" cap="flat" cmpd="sng">
            <a:solidFill>
              <a:srgbClr val="FF6600"/>
            </a:solidFill>
            <a:prstDash val="solid"/>
            <a:round/>
            <a:headEnd type="none" w="med" len="med"/>
            <a:tailEnd type="none" w="med" len="med"/>
          </a:ln>
        </p:spPr>
      </p:sp>
      <p:sp>
        <p:nvSpPr>
          <p:cNvPr id="256017" name="Line 17"/>
          <p:cNvSpPr/>
          <p:nvPr/>
        </p:nvSpPr>
        <p:spPr>
          <a:xfrm>
            <a:off x="6386513" y="4610100"/>
            <a:ext cx="228600" cy="0"/>
          </a:xfrm>
          <a:prstGeom prst="line">
            <a:avLst/>
          </a:prstGeom>
          <a:ln w="57150" cap="flat" cmpd="sng">
            <a:solidFill>
              <a:srgbClr val="FF6600"/>
            </a:solidFill>
            <a:prstDash val="solid"/>
            <a:round/>
            <a:headEnd type="none" w="med" len="med"/>
            <a:tailEnd type="none" w="med" len="med"/>
          </a:ln>
        </p:spPr>
      </p:sp>
      <p:sp>
        <p:nvSpPr>
          <p:cNvPr id="256018" name="Line 18"/>
          <p:cNvSpPr/>
          <p:nvPr/>
        </p:nvSpPr>
        <p:spPr>
          <a:xfrm>
            <a:off x="6691313" y="4610100"/>
            <a:ext cx="228600" cy="0"/>
          </a:xfrm>
          <a:prstGeom prst="line">
            <a:avLst/>
          </a:prstGeom>
          <a:ln w="57150" cap="flat" cmpd="sng">
            <a:solidFill>
              <a:srgbClr val="FF6600"/>
            </a:solidFill>
            <a:prstDash val="solid"/>
            <a:round/>
            <a:headEnd type="none" w="med" len="med"/>
            <a:tailEnd type="none" w="med" len="med"/>
          </a:ln>
        </p:spPr>
      </p:sp>
      <p:sp>
        <p:nvSpPr>
          <p:cNvPr id="256019" name="Line 19"/>
          <p:cNvSpPr/>
          <p:nvPr/>
        </p:nvSpPr>
        <p:spPr>
          <a:xfrm>
            <a:off x="6996113" y="4610100"/>
            <a:ext cx="228600" cy="0"/>
          </a:xfrm>
          <a:prstGeom prst="line">
            <a:avLst/>
          </a:prstGeom>
          <a:ln w="57150" cap="flat" cmpd="sng">
            <a:solidFill>
              <a:srgbClr val="FF6600"/>
            </a:solidFill>
            <a:prstDash val="solid"/>
            <a:round/>
            <a:headEnd type="none" w="med" len="med"/>
            <a:tailEnd type="none" w="med" len="med"/>
          </a:ln>
        </p:spPr>
      </p:sp>
      <p:sp>
        <p:nvSpPr>
          <p:cNvPr id="256020" name="Line 20"/>
          <p:cNvSpPr/>
          <p:nvPr/>
        </p:nvSpPr>
        <p:spPr>
          <a:xfrm>
            <a:off x="7300913" y="4610100"/>
            <a:ext cx="228600" cy="0"/>
          </a:xfrm>
          <a:prstGeom prst="line">
            <a:avLst/>
          </a:prstGeom>
          <a:ln w="57150" cap="flat" cmpd="sng">
            <a:solidFill>
              <a:srgbClr val="FF6600"/>
            </a:solidFill>
            <a:prstDash val="solid"/>
            <a:round/>
            <a:headEnd type="none" w="med" len="med"/>
            <a:tailEnd type="none" w="med" len="med"/>
          </a:ln>
        </p:spPr>
      </p:sp>
      <p:sp>
        <p:nvSpPr>
          <p:cNvPr id="256021" name="Line 21"/>
          <p:cNvSpPr/>
          <p:nvPr/>
        </p:nvSpPr>
        <p:spPr>
          <a:xfrm>
            <a:off x="7605713" y="4610100"/>
            <a:ext cx="228600" cy="0"/>
          </a:xfrm>
          <a:prstGeom prst="line">
            <a:avLst/>
          </a:prstGeom>
          <a:ln w="57150" cap="flat" cmpd="sng">
            <a:solidFill>
              <a:srgbClr val="FF6600"/>
            </a:solidFill>
            <a:prstDash val="solid"/>
            <a:round/>
            <a:headEnd type="none" w="med" len="med"/>
            <a:tailEnd type="none" w="med" len="med"/>
          </a:ln>
        </p:spPr>
      </p:sp>
      <p:sp>
        <p:nvSpPr>
          <p:cNvPr id="256022" name="Line 22"/>
          <p:cNvSpPr/>
          <p:nvPr/>
        </p:nvSpPr>
        <p:spPr>
          <a:xfrm>
            <a:off x="7910513" y="4610100"/>
            <a:ext cx="228600" cy="0"/>
          </a:xfrm>
          <a:prstGeom prst="line">
            <a:avLst/>
          </a:prstGeom>
          <a:ln w="57150" cap="flat" cmpd="sng">
            <a:solidFill>
              <a:srgbClr val="FF6600"/>
            </a:solidFill>
            <a:prstDash val="solid"/>
            <a:round/>
            <a:headEnd type="none" w="med" len="med"/>
            <a:tailEnd type="none" w="med" len="med"/>
          </a:ln>
        </p:spPr>
      </p:sp>
      <p:sp>
        <p:nvSpPr>
          <p:cNvPr id="256023" name="Line 23"/>
          <p:cNvSpPr/>
          <p:nvPr/>
        </p:nvSpPr>
        <p:spPr>
          <a:xfrm>
            <a:off x="8215313" y="4610100"/>
            <a:ext cx="228600" cy="0"/>
          </a:xfrm>
          <a:prstGeom prst="line">
            <a:avLst/>
          </a:prstGeom>
          <a:ln w="57150" cap="flat" cmpd="sng">
            <a:solidFill>
              <a:srgbClr val="FF6600"/>
            </a:solidFill>
            <a:prstDash val="solid"/>
            <a:round/>
            <a:headEnd type="none" w="med" len="med"/>
            <a:tailEnd type="none" w="med" len="med"/>
          </a:ln>
        </p:spPr>
      </p:sp>
      <p:grpSp>
        <p:nvGrpSpPr>
          <p:cNvPr id="256024" name="Group 24"/>
          <p:cNvGrpSpPr/>
          <p:nvPr/>
        </p:nvGrpSpPr>
        <p:grpSpPr>
          <a:xfrm>
            <a:off x="5478463" y="4930775"/>
            <a:ext cx="228600" cy="990600"/>
            <a:chOff x="2016" y="1824"/>
            <a:chExt cx="144" cy="624"/>
          </a:xfrm>
        </p:grpSpPr>
        <p:sp>
          <p:nvSpPr>
            <p:cNvPr id="11285" name="Line 25"/>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286" name="Line 26"/>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287" name="Line 27"/>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288" name="Line 28"/>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289" name="Line 29"/>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290" name="Line 30"/>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291" name="Line 31"/>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292" name="Line 32"/>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33" name="Group 33"/>
          <p:cNvGrpSpPr/>
          <p:nvPr/>
        </p:nvGrpSpPr>
        <p:grpSpPr>
          <a:xfrm>
            <a:off x="5783263" y="4930775"/>
            <a:ext cx="228600" cy="990600"/>
            <a:chOff x="2016" y="1824"/>
            <a:chExt cx="144" cy="624"/>
          </a:xfrm>
        </p:grpSpPr>
        <p:sp>
          <p:nvSpPr>
            <p:cNvPr id="11294" name="Line 34"/>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295" name="Line 35"/>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296" name="Line 36"/>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297" name="Line 37"/>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298" name="Line 38"/>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299" name="Line 39"/>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00" name="Line 40"/>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01" name="Line 41"/>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42" name="Group 42"/>
          <p:cNvGrpSpPr/>
          <p:nvPr/>
        </p:nvGrpSpPr>
        <p:grpSpPr>
          <a:xfrm>
            <a:off x="6088063" y="4930775"/>
            <a:ext cx="228600" cy="990600"/>
            <a:chOff x="2016" y="1824"/>
            <a:chExt cx="144" cy="624"/>
          </a:xfrm>
        </p:grpSpPr>
        <p:sp>
          <p:nvSpPr>
            <p:cNvPr id="11303" name="Line 43"/>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04" name="Line 44"/>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05" name="Line 45"/>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06" name="Line 46"/>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07" name="Line 47"/>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08" name="Line 48"/>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09" name="Line 49"/>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10" name="Line 50"/>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51" name="Group 51"/>
          <p:cNvGrpSpPr/>
          <p:nvPr/>
        </p:nvGrpSpPr>
        <p:grpSpPr>
          <a:xfrm>
            <a:off x="6392863" y="4930775"/>
            <a:ext cx="228600" cy="990600"/>
            <a:chOff x="2016" y="1824"/>
            <a:chExt cx="144" cy="624"/>
          </a:xfrm>
        </p:grpSpPr>
        <p:sp>
          <p:nvSpPr>
            <p:cNvPr id="11312" name="Line 52"/>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13" name="Line 53"/>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14" name="Line 54"/>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15" name="Line 55"/>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16" name="Line 56"/>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17" name="Line 57"/>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18" name="Line 58"/>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19" name="Line 59"/>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60" name="Group 60"/>
          <p:cNvGrpSpPr/>
          <p:nvPr/>
        </p:nvGrpSpPr>
        <p:grpSpPr>
          <a:xfrm>
            <a:off x="6697663" y="4930775"/>
            <a:ext cx="228600" cy="990600"/>
            <a:chOff x="2016" y="1824"/>
            <a:chExt cx="144" cy="624"/>
          </a:xfrm>
        </p:grpSpPr>
        <p:sp>
          <p:nvSpPr>
            <p:cNvPr id="11321" name="Line 61"/>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22" name="Line 62"/>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23" name="Line 63"/>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24" name="Line 64"/>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25" name="Line 65"/>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26" name="Line 66"/>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27" name="Line 67"/>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28" name="Line 68"/>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69" name="Group 69"/>
          <p:cNvGrpSpPr/>
          <p:nvPr/>
        </p:nvGrpSpPr>
        <p:grpSpPr>
          <a:xfrm>
            <a:off x="7002463" y="4930775"/>
            <a:ext cx="228600" cy="990600"/>
            <a:chOff x="2016" y="1824"/>
            <a:chExt cx="144" cy="624"/>
          </a:xfrm>
        </p:grpSpPr>
        <p:sp>
          <p:nvSpPr>
            <p:cNvPr id="11330" name="Line 70"/>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31" name="Line 71"/>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32" name="Line 72"/>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33" name="Line 73"/>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34" name="Line 74"/>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35" name="Line 75"/>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36" name="Line 76"/>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37" name="Line 77"/>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78" name="Group 78"/>
          <p:cNvGrpSpPr/>
          <p:nvPr/>
        </p:nvGrpSpPr>
        <p:grpSpPr>
          <a:xfrm>
            <a:off x="7307263" y="4930775"/>
            <a:ext cx="228600" cy="990600"/>
            <a:chOff x="2016" y="1824"/>
            <a:chExt cx="144" cy="624"/>
          </a:xfrm>
        </p:grpSpPr>
        <p:sp>
          <p:nvSpPr>
            <p:cNvPr id="11339" name="Line 79"/>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40" name="Line 80"/>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41" name="Line 81"/>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42" name="Line 82"/>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43" name="Line 83"/>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44" name="Line 84"/>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45" name="Line 85"/>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46" name="Line 86"/>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87" name="Group 87"/>
          <p:cNvGrpSpPr/>
          <p:nvPr/>
        </p:nvGrpSpPr>
        <p:grpSpPr>
          <a:xfrm>
            <a:off x="7612063" y="4930775"/>
            <a:ext cx="228600" cy="990600"/>
            <a:chOff x="2016" y="1824"/>
            <a:chExt cx="144" cy="624"/>
          </a:xfrm>
        </p:grpSpPr>
        <p:sp>
          <p:nvSpPr>
            <p:cNvPr id="11348" name="Line 88"/>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49" name="Line 89"/>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50" name="Line 90"/>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51" name="Line 91"/>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52" name="Line 92"/>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53" name="Line 93"/>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54" name="Line 94"/>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55" name="Line 95"/>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096" name="Group 96"/>
          <p:cNvGrpSpPr/>
          <p:nvPr/>
        </p:nvGrpSpPr>
        <p:grpSpPr>
          <a:xfrm>
            <a:off x="7916863" y="4930775"/>
            <a:ext cx="228600" cy="990600"/>
            <a:chOff x="2016" y="1824"/>
            <a:chExt cx="144" cy="624"/>
          </a:xfrm>
        </p:grpSpPr>
        <p:sp>
          <p:nvSpPr>
            <p:cNvPr id="11357" name="Line 97"/>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58" name="Line 98"/>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59" name="Line 99"/>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60" name="Line 100"/>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61" name="Line 101"/>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62" name="Line 102"/>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63" name="Line 103"/>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64" name="Line 104"/>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grpSp>
        <p:nvGrpSpPr>
          <p:cNvPr id="256105" name="Group 105"/>
          <p:cNvGrpSpPr/>
          <p:nvPr/>
        </p:nvGrpSpPr>
        <p:grpSpPr>
          <a:xfrm>
            <a:off x="8221663" y="4930775"/>
            <a:ext cx="228600" cy="990600"/>
            <a:chOff x="2016" y="1824"/>
            <a:chExt cx="144" cy="624"/>
          </a:xfrm>
        </p:grpSpPr>
        <p:sp>
          <p:nvSpPr>
            <p:cNvPr id="11366" name="Line 106"/>
            <p:cNvSpPr/>
            <p:nvPr/>
          </p:nvSpPr>
          <p:spPr>
            <a:xfrm>
              <a:off x="2016" y="2358"/>
              <a:ext cx="144" cy="0"/>
            </a:xfrm>
            <a:prstGeom prst="line">
              <a:avLst/>
            </a:prstGeom>
            <a:ln w="57150" cap="flat" cmpd="sng">
              <a:solidFill>
                <a:srgbClr val="FF6600"/>
              </a:solidFill>
              <a:prstDash val="solid"/>
              <a:round/>
              <a:headEnd type="none" w="med" len="med"/>
              <a:tailEnd type="none" w="med" len="med"/>
            </a:ln>
          </p:spPr>
        </p:sp>
        <p:sp>
          <p:nvSpPr>
            <p:cNvPr id="11367" name="Line 107"/>
            <p:cNvSpPr/>
            <p:nvPr/>
          </p:nvSpPr>
          <p:spPr>
            <a:xfrm>
              <a:off x="2016" y="2448"/>
              <a:ext cx="144" cy="0"/>
            </a:xfrm>
            <a:prstGeom prst="line">
              <a:avLst/>
            </a:prstGeom>
            <a:ln w="57150" cap="flat" cmpd="sng">
              <a:solidFill>
                <a:srgbClr val="FF6600"/>
              </a:solidFill>
              <a:prstDash val="solid"/>
              <a:round/>
              <a:headEnd type="none" w="med" len="med"/>
              <a:tailEnd type="none" w="med" len="med"/>
            </a:ln>
          </p:spPr>
        </p:sp>
        <p:sp>
          <p:nvSpPr>
            <p:cNvPr id="11368" name="Line 108"/>
            <p:cNvSpPr/>
            <p:nvPr/>
          </p:nvSpPr>
          <p:spPr>
            <a:xfrm>
              <a:off x="2016" y="2269"/>
              <a:ext cx="144" cy="0"/>
            </a:xfrm>
            <a:prstGeom prst="line">
              <a:avLst/>
            </a:prstGeom>
            <a:ln w="57150" cap="flat" cmpd="sng">
              <a:solidFill>
                <a:srgbClr val="FF6600"/>
              </a:solidFill>
              <a:prstDash val="solid"/>
              <a:round/>
              <a:headEnd type="none" w="med" len="med"/>
              <a:tailEnd type="none" w="med" len="med"/>
            </a:ln>
          </p:spPr>
        </p:sp>
        <p:sp>
          <p:nvSpPr>
            <p:cNvPr id="11369" name="Line 109"/>
            <p:cNvSpPr/>
            <p:nvPr/>
          </p:nvSpPr>
          <p:spPr>
            <a:xfrm>
              <a:off x="2016" y="2180"/>
              <a:ext cx="144" cy="0"/>
            </a:xfrm>
            <a:prstGeom prst="line">
              <a:avLst/>
            </a:prstGeom>
            <a:ln w="57150" cap="flat" cmpd="sng">
              <a:solidFill>
                <a:srgbClr val="FF6600"/>
              </a:solidFill>
              <a:prstDash val="solid"/>
              <a:round/>
              <a:headEnd type="none" w="med" len="med"/>
              <a:tailEnd type="none" w="med" len="med"/>
            </a:ln>
          </p:spPr>
        </p:sp>
        <p:sp>
          <p:nvSpPr>
            <p:cNvPr id="11370" name="Line 110"/>
            <p:cNvSpPr/>
            <p:nvPr/>
          </p:nvSpPr>
          <p:spPr>
            <a:xfrm>
              <a:off x="2016" y="2002"/>
              <a:ext cx="144" cy="0"/>
            </a:xfrm>
            <a:prstGeom prst="line">
              <a:avLst/>
            </a:prstGeom>
            <a:ln w="57150" cap="flat" cmpd="sng">
              <a:solidFill>
                <a:srgbClr val="FF6600"/>
              </a:solidFill>
              <a:prstDash val="solid"/>
              <a:round/>
              <a:headEnd type="none" w="med" len="med"/>
              <a:tailEnd type="none" w="med" len="med"/>
            </a:ln>
          </p:spPr>
        </p:sp>
        <p:sp>
          <p:nvSpPr>
            <p:cNvPr id="11371" name="Line 111"/>
            <p:cNvSpPr/>
            <p:nvPr/>
          </p:nvSpPr>
          <p:spPr>
            <a:xfrm>
              <a:off x="2016" y="2091"/>
              <a:ext cx="144" cy="0"/>
            </a:xfrm>
            <a:prstGeom prst="line">
              <a:avLst/>
            </a:prstGeom>
            <a:ln w="57150" cap="flat" cmpd="sng">
              <a:solidFill>
                <a:srgbClr val="FF6600"/>
              </a:solidFill>
              <a:prstDash val="solid"/>
              <a:round/>
              <a:headEnd type="none" w="med" len="med"/>
              <a:tailEnd type="none" w="med" len="med"/>
            </a:ln>
          </p:spPr>
        </p:sp>
        <p:sp>
          <p:nvSpPr>
            <p:cNvPr id="11372" name="Line 112"/>
            <p:cNvSpPr/>
            <p:nvPr/>
          </p:nvSpPr>
          <p:spPr>
            <a:xfrm>
              <a:off x="2016" y="1913"/>
              <a:ext cx="144" cy="0"/>
            </a:xfrm>
            <a:prstGeom prst="line">
              <a:avLst/>
            </a:prstGeom>
            <a:ln w="57150" cap="flat" cmpd="sng">
              <a:solidFill>
                <a:srgbClr val="FF6600"/>
              </a:solidFill>
              <a:prstDash val="solid"/>
              <a:round/>
              <a:headEnd type="none" w="med" len="med"/>
              <a:tailEnd type="none" w="med" len="med"/>
            </a:ln>
          </p:spPr>
        </p:sp>
        <p:sp>
          <p:nvSpPr>
            <p:cNvPr id="11373" name="Line 113"/>
            <p:cNvSpPr/>
            <p:nvPr/>
          </p:nvSpPr>
          <p:spPr>
            <a:xfrm>
              <a:off x="2016" y="1824"/>
              <a:ext cx="144" cy="0"/>
            </a:xfrm>
            <a:prstGeom prst="line">
              <a:avLst/>
            </a:prstGeom>
            <a:ln w="57150" cap="flat" cmpd="sng">
              <a:solidFill>
                <a:srgbClr val="FF6600"/>
              </a:solidFill>
              <a:prstDash val="solid"/>
              <a:round/>
              <a:headEnd type="none" w="med" len="med"/>
              <a:tailEnd type="none" w="med" len="med"/>
            </a:ln>
          </p:spPr>
        </p:sp>
      </p:grpSp>
      <p:sp>
        <p:nvSpPr>
          <p:cNvPr id="256114" name="Rectangle 114"/>
          <p:cNvSpPr/>
          <p:nvPr/>
        </p:nvSpPr>
        <p:spPr>
          <a:xfrm>
            <a:off x="654050" y="6099175"/>
            <a:ext cx="7848600" cy="396875"/>
          </a:xfrm>
          <a:prstGeom prst="rect">
            <a:avLst/>
          </a:prstGeom>
          <a:noFill/>
          <a:ln w="3175">
            <a:noFill/>
          </a:ln>
        </p:spPr>
        <p:txBody>
          <a:bodyPr anchor="t" anchorCtr="0">
            <a:spAutoFit/>
          </a:bodyPr>
          <a:lstStyle/>
          <a:p>
            <a:pPr marL="1143000" indent="-228600" eaLnBrk="0" hangingPunct="0">
              <a:spcBef>
                <a:spcPct val="35000"/>
              </a:spcBef>
              <a:buClr>
                <a:schemeClr val="tx2"/>
              </a:buClr>
              <a:buSzPct val="85000"/>
              <a:buFont typeface="Wingdings" panose="05000000000000000000" pitchFamily="2" charset="2"/>
              <a:buChar char="F"/>
            </a:pPr>
            <a:r>
              <a:rPr lang="zh-CN" altLang="en-US" sz="2000" b="1" dirty="0">
                <a:latin typeface="Helvetica" pitchFamily="34" charset="0"/>
                <a:ea typeface="宋体" panose="02010600030101010101" pitchFamily="2" charset="-122"/>
              </a:rPr>
              <a:t>通过总线，计算机各部件间进行各种数据和命令的传送！</a:t>
            </a:r>
          </a:p>
        </p:txBody>
      </p:sp>
      <p:sp>
        <p:nvSpPr>
          <p:cNvPr id="256115" name="Line 115"/>
          <p:cNvSpPr/>
          <p:nvPr/>
        </p:nvSpPr>
        <p:spPr>
          <a:xfrm>
            <a:off x="2095500" y="4048125"/>
            <a:ext cx="6121400" cy="0"/>
          </a:xfrm>
          <a:prstGeom prst="line">
            <a:avLst/>
          </a:prstGeom>
          <a:ln w="3175" cap="flat" cmpd="sng">
            <a:solidFill>
              <a:srgbClr val="800000"/>
            </a:solidFill>
            <a:prstDash val="dashDot"/>
            <a:round/>
            <a:headEnd type="none" w="med" len="med"/>
            <a:tailEnd type="none" w="med" len="med"/>
          </a:ln>
        </p:spPr>
      </p:sp>
      <p:sp>
        <p:nvSpPr>
          <p:cNvPr id="256116" name="Line 116"/>
          <p:cNvSpPr/>
          <p:nvPr/>
        </p:nvSpPr>
        <p:spPr>
          <a:xfrm>
            <a:off x="2122488" y="6092825"/>
            <a:ext cx="6121400" cy="0"/>
          </a:xfrm>
          <a:prstGeom prst="line">
            <a:avLst/>
          </a:prstGeom>
          <a:ln w="3175" cap="flat" cmpd="sng">
            <a:solidFill>
              <a:srgbClr val="800000"/>
            </a:solidFill>
            <a:prstDash val="dashDot"/>
            <a:round/>
            <a:headEnd type="none" w="med" len="med"/>
            <a:tailEnd type="none" w="med" len="med"/>
          </a:ln>
        </p:spPr>
      </p:sp>
      <p:sp>
        <p:nvSpPr>
          <p:cNvPr id="256117" name="Line 117"/>
          <p:cNvSpPr/>
          <p:nvPr/>
        </p:nvSpPr>
        <p:spPr>
          <a:xfrm>
            <a:off x="2124075" y="6524625"/>
            <a:ext cx="6121400" cy="0"/>
          </a:xfrm>
          <a:prstGeom prst="line">
            <a:avLst/>
          </a:prstGeom>
          <a:ln w="3175" cap="flat" cmpd="sng">
            <a:solidFill>
              <a:srgbClr val="800000"/>
            </a:solidFill>
            <a:prstDash val="dashDot"/>
            <a:round/>
            <a:headEnd type="none" w="med" len="med"/>
            <a:tailEnd type="none" w="med" len="med"/>
          </a:ln>
        </p:spPr>
      </p:sp>
      <p:pic>
        <p:nvPicPr>
          <p:cNvPr id="256118" name="Picture 118"/>
          <p:cNvPicPr>
            <a:picLocks noChangeAspect="1"/>
          </p:cNvPicPr>
          <p:nvPr/>
        </p:nvPicPr>
        <p:blipFill>
          <a:blip r:embed="rId2"/>
          <a:stretch>
            <a:fillRect/>
          </a:stretch>
        </p:blipFill>
        <p:spPr>
          <a:xfrm>
            <a:off x="1619250" y="3573463"/>
            <a:ext cx="7056438" cy="433387"/>
          </a:xfrm>
          <a:prstGeom prst="rect">
            <a:avLst/>
          </a:prstGeom>
          <a:noFill/>
          <a:ln w="254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56009"/>
                                        </p:tgtEl>
                                        <p:attrNameLst>
                                          <p:attrName>style.visibility</p:attrName>
                                        </p:attrNameLst>
                                      </p:cBhvr>
                                      <p:to>
                                        <p:strVal val="visible"/>
                                      </p:to>
                                    </p:set>
                                    <p:animEffect transition="in" filter="barn(outHorizontal)">
                                      <p:cBhvr>
                                        <p:cTn id="7" dur="1000"/>
                                        <p:tgtEl>
                                          <p:spTgt spid="256009"/>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256012"/>
                                        </p:tgtEl>
                                        <p:attrNameLst>
                                          <p:attrName>style.visibility</p:attrName>
                                        </p:attrNameLst>
                                      </p:cBhvr>
                                      <p:to>
                                        <p:strVal val="visible"/>
                                      </p:to>
                                    </p:set>
                                    <p:animEffect transition="in" filter="barn(outHorizontal)">
                                      <p:cBhvr>
                                        <p:cTn id="10" dur="1000"/>
                                        <p:tgtEl>
                                          <p:spTgt spid="256012"/>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256010"/>
                                        </p:tgtEl>
                                        <p:attrNameLst>
                                          <p:attrName>style.visibility</p:attrName>
                                        </p:attrNameLst>
                                      </p:cBhvr>
                                      <p:to>
                                        <p:strVal val="visible"/>
                                      </p:to>
                                    </p:set>
                                    <p:animEffect transition="in" filter="barn(outHorizontal)">
                                      <p:cBhvr>
                                        <p:cTn id="13" dur="1000"/>
                                        <p:tgtEl>
                                          <p:spTgt spid="256010"/>
                                        </p:tgtEl>
                                      </p:cBhvr>
                                    </p:animEffect>
                                  </p:childTnLst>
                                </p:cTn>
                              </p:par>
                              <p:par>
                                <p:cTn id="14" presetID="16" presetClass="entr" presetSubtype="42" fill="hold" grpId="0" nodeType="withEffect">
                                  <p:stCondLst>
                                    <p:cond delay="0"/>
                                  </p:stCondLst>
                                  <p:childTnLst>
                                    <p:set>
                                      <p:cBhvr>
                                        <p:cTn id="15" dur="1" fill="hold">
                                          <p:stCondLst>
                                            <p:cond delay="0"/>
                                          </p:stCondLst>
                                        </p:cTn>
                                        <p:tgtEl>
                                          <p:spTgt spid="256008"/>
                                        </p:tgtEl>
                                        <p:attrNameLst>
                                          <p:attrName>style.visibility</p:attrName>
                                        </p:attrNameLst>
                                      </p:cBhvr>
                                      <p:to>
                                        <p:strVal val="visible"/>
                                      </p:to>
                                    </p:set>
                                    <p:animEffect transition="in" filter="barn(outHorizontal)">
                                      <p:cBhvr>
                                        <p:cTn id="16" dur="1000"/>
                                        <p:tgtEl>
                                          <p:spTgt spid="25600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56118"/>
                                        </p:tgtEl>
                                        <p:attrNameLst>
                                          <p:attrName>style.visibility</p:attrName>
                                        </p:attrNameLst>
                                      </p:cBhvr>
                                      <p:to>
                                        <p:strVal val="visible"/>
                                      </p:to>
                                    </p:set>
                                    <p:animEffect transition="in" filter="dissolve">
                                      <p:cBhvr>
                                        <p:cTn id="21" dur="1000"/>
                                        <p:tgtEl>
                                          <p:spTgt spid="256118"/>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606214">
                                            <p:txEl>
                                              <p:pRg st="0" end="0"/>
                                            </p:txEl>
                                          </p:spTgt>
                                        </p:tgtEl>
                                        <p:attrNameLst>
                                          <p:attrName>style.visibility</p:attrName>
                                        </p:attrNameLst>
                                      </p:cBhvr>
                                      <p:to>
                                        <p:strVal val="visible"/>
                                      </p:to>
                                    </p:set>
                                    <p:animEffect transition="in" filter="strips(downRight)">
                                      <p:cBhvr>
                                        <p:cTn id="26" dur="1000"/>
                                        <p:tgtEl>
                                          <p:spTgt spid="606214">
                                            <p:txEl>
                                              <p:pRg st="0" end="0"/>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256115"/>
                                        </p:tgtEl>
                                        <p:attrNameLst>
                                          <p:attrName>style.visibility</p:attrName>
                                        </p:attrNameLst>
                                      </p:cBhvr>
                                      <p:to>
                                        <p:strVal val="visible"/>
                                      </p:to>
                                    </p:set>
                                    <p:animEffect transition="in" filter="wipe(left)">
                                      <p:cBhvr>
                                        <p:cTn id="29" dur="1000"/>
                                        <p:tgtEl>
                                          <p:spTgt spid="256115"/>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606214">
                                            <p:txEl>
                                              <p:pRg st="1" end="1"/>
                                            </p:txEl>
                                          </p:spTgt>
                                        </p:tgtEl>
                                        <p:attrNameLst>
                                          <p:attrName>style.visibility</p:attrName>
                                        </p:attrNameLst>
                                      </p:cBhvr>
                                      <p:to>
                                        <p:strVal val="visible"/>
                                      </p:to>
                                    </p:set>
                                    <p:animEffect transition="in" filter="strips(downRight)">
                                      <p:cBhvr>
                                        <p:cTn id="34" dur="1000"/>
                                        <p:tgtEl>
                                          <p:spTgt spid="606214">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606214">
                                            <p:txEl>
                                              <p:pRg st="3" end="3"/>
                                            </p:txEl>
                                          </p:spTgt>
                                        </p:tgtEl>
                                        <p:attrNameLst>
                                          <p:attrName>style.visibility</p:attrName>
                                        </p:attrNameLst>
                                      </p:cBhvr>
                                      <p:to>
                                        <p:strVal val="visible"/>
                                      </p:to>
                                    </p:set>
                                    <p:animEffect transition="in" filter="strips(downRight)">
                                      <p:cBhvr>
                                        <p:cTn id="39" dur="1000"/>
                                        <p:tgtEl>
                                          <p:spTgt spid="606214">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nodeType="clickEffect">
                                  <p:stCondLst>
                                    <p:cond delay="0"/>
                                  </p:stCondLst>
                                  <p:childTnLst>
                                    <p:set>
                                      <p:cBhvr>
                                        <p:cTn id="43" dur="1" fill="hold">
                                          <p:stCondLst>
                                            <p:cond delay="0"/>
                                          </p:stCondLst>
                                        </p:cTn>
                                        <p:tgtEl>
                                          <p:spTgt spid="256014"/>
                                        </p:tgtEl>
                                        <p:attrNameLst>
                                          <p:attrName>style.visibility</p:attrName>
                                        </p:attrNameLst>
                                      </p:cBhvr>
                                      <p:to>
                                        <p:strVal val="visible"/>
                                      </p:to>
                                    </p:set>
                                    <p:animEffect transition="in" filter="slide(fromLeft)">
                                      <p:cBhvr>
                                        <p:cTn id="44" dur="1000"/>
                                        <p:tgtEl>
                                          <p:spTgt spid="256014"/>
                                        </p:tgtEl>
                                      </p:cBhvr>
                                    </p:animEffect>
                                  </p:childTnLst>
                                </p:cTn>
                              </p:par>
                            </p:childTnLst>
                          </p:cTn>
                        </p:par>
                        <p:par>
                          <p:cTn id="45" fill="hold">
                            <p:stCondLst>
                              <p:cond delay="1000"/>
                            </p:stCondLst>
                            <p:childTnLst>
                              <p:par>
                                <p:cTn id="46" presetID="12" presetClass="entr" presetSubtype="8" fill="hold" nodeType="afterEffect">
                                  <p:stCondLst>
                                    <p:cond delay="0"/>
                                  </p:stCondLst>
                                  <p:childTnLst>
                                    <p:set>
                                      <p:cBhvr>
                                        <p:cTn id="47" dur="1" fill="hold">
                                          <p:stCondLst>
                                            <p:cond delay="0"/>
                                          </p:stCondLst>
                                        </p:cTn>
                                        <p:tgtEl>
                                          <p:spTgt spid="256015"/>
                                        </p:tgtEl>
                                        <p:attrNameLst>
                                          <p:attrName>style.visibility</p:attrName>
                                        </p:attrNameLst>
                                      </p:cBhvr>
                                      <p:to>
                                        <p:strVal val="visible"/>
                                      </p:to>
                                    </p:set>
                                    <p:animEffect transition="in" filter="slide(fromLeft)">
                                      <p:cBhvr>
                                        <p:cTn id="48" dur="1000"/>
                                        <p:tgtEl>
                                          <p:spTgt spid="256015"/>
                                        </p:tgtEl>
                                      </p:cBhvr>
                                    </p:animEffect>
                                  </p:childTnLst>
                                </p:cTn>
                              </p:par>
                            </p:childTnLst>
                          </p:cTn>
                        </p:par>
                        <p:par>
                          <p:cTn id="49" fill="hold">
                            <p:stCondLst>
                              <p:cond delay="2000"/>
                            </p:stCondLst>
                            <p:childTnLst>
                              <p:par>
                                <p:cTn id="50" presetID="12" presetClass="entr" presetSubtype="8" fill="hold" nodeType="afterEffect">
                                  <p:stCondLst>
                                    <p:cond delay="0"/>
                                  </p:stCondLst>
                                  <p:childTnLst>
                                    <p:set>
                                      <p:cBhvr>
                                        <p:cTn id="51" dur="1" fill="hold">
                                          <p:stCondLst>
                                            <p:cond delay="0"/>
                                          </p:stCondLst>
                                        </p:cTn>
                                        <p:tgtEl>
                                          <p:spTgt spid="256016"/>
                                        </p:tgtEl>
                                        <p:attrNameLst>
                                          <p:attrName>style.visibility</p:attrName>
                                        </p:attrNameLst>
                                      </p:cBhvr>
                                      <p:to>
                                        <p:strVal val="visible"/>
                                      </p:to>
                                    </p:set>
                                    <p:animEffect transition="in" filter="slide(fromLeft)">
                                      <p:cBhvr>
                                        <p:cTn id="52" dur="1000"/>
                                        <p:tgtEl>
                                          <p:spTgt spid="256016"/>
                                        </p:tgtEl>
                                      </p:cBhvr>
                                    </p:animEffect>
                                  </p:childTnLst>
                                </p:cTn>
                              </p:par>
                            </p:childTnLst>
                          </p:cTn>
                        </p:par>
                        <p:par>
                          <p:cTn id="53" fill="hold">
                            <p:stCondLst>
                              <p:cond delay="3000"/>
                            </p:stCondLst>
                            <p:childTnLst>
                              <p:par>
                                <p:cTn id="54" presetID="12" presetClass="entr" presetSubtype="8" fill="hold" nodeType="afterEffect">
                                  <p:stCondLst>
                                    <p:cond delay="0"/>
                                  </p:stCondLst>
                                  <p:childTnLst>
                                    <p:set>
                                      <p:cBhvr>
                                        <p:cTn id="55" dur="1" fill="hold">
                                          <p:stCondLst>
                                            <p:cond delay="0"/>
                                          </p:stCondLst>
                                        </p:cTn>
                                        <p:tgtEl>
                                          <p:spTgt spid="256017"/>
                                        </p:tgtEl>
                                        <p:attrNameLst>
                                          <p:attrName>style.visibility</p:attrName>
                                        </p:attrNameLst>
                                      </p:cBhvr>
                                      <p:to>
                                        <p:strVal val="visible"/>
                                      </p:to>
                                    </p:set>
                                    <p:animEffect transition="in" filter="slide(fromLeft)">
                                      <p:cBhvr>
                                        <p:cTn id="56" dur="1000"/>
                                        <p:tgtEl>
                                          <p:spTgt spid="256017"/>
                                        </p:tgtEl>
                                      </p:cBhvr>
                                    </p:animEffect>
                                  </p:childTnLst>
                                </p:cTn>
                              </p:par>
                            </p:childTnLst>
                          </p:cTn>
                        </p:par>
                        <p:par>
                          <p:cTn id="57" fill="hold">
                            <p:stCondLst>
                              <p:cond delay="4000"/>
                            </p:stCondLst>
                            <p:childTnLst>
                              <p:par>
                                <p:cTn id="58" presetID="12" presetClass="entr" presetSubtype="8" fill="hold" nodeType="afterEffect">
                                  <p:stCondLst>
                                    <p:cond delay="0"/>
                                  </p:stCondLst>
                                  <p:childTnLst>
                                    <p:set>
                                      <p:cBhvr>
                                        <p:cTn id="59" dur="1" fill="hold">
                                          <p:stCondLst>
                                            <p:cond delay="0"/>
                                          </p:stCondLst>
                                        </p:cTn>
                                        <p:tgtEl>
                                          <p:spTgt spid="256018"/>
                                        </p:tgtEl>
                                        <p:attrNameLst>
                                          <p:attrName>style.visibility</p:attrName>
                                        </p:attrNameLst>
                                      </p:cBhvr>
                                      <p:to>
                                        <p:strVal val="visible"/>
                                      </p:to>
                                    </p:set>
                                    <p:animEffect transition="in" filter="slide(fromLeft)">
                                      <p:cBhvr>
                                        <p:cTn id="60" dur="1000"/>
                                        <p:tgtEl>
                                          <p:spTgt spid="256018"/>
                                        </p:tgtEl>
                                      </p:cBhvr>
                                    </p:animEffect>
                                  </p:childTnLst>
                                </p:cTn>
                              </p:par>
                            </p:childTnLst>
                          </p:cTn>
                        </p:par>
                        <p:par>
                          <p:cTn id="61" fill="hold">
                            <p:stCondLst>
                              <p:cond delay="5000"/>
                            </p:stCondLst>
                            <p:childTnLst>
                              <p:par>
                                <p:cTn id="62" presetID="12" presetClass="entr" presetSubtype="8" fill="hold" nodeType="afterEffect">
                                  <p:stCondLst>
                                    <p:cond delay="0"/>
                                  </p:stCondLst>
                                  <p:childTnLst>
                                    <p:set>
                                      <p:cBhvr>
                                        <p:cTn id="63" dur="1" fill="hold">
                                          <p:stCondLst>
                                            <p:cond delay="0"/>
                                          </p:stCondLst>
                                        </p:cTn>
                                        <p:tgtEl>
                                          <p:spTgt spid="256019"/>
                                        </p:tgtEl>
                                        <p:attrNameLst>
                                          <p:attrName>style.visibility</p:attrName>
                                        </p:attrNameLst>
                                      </p:cBhvr>
                                      <p:to>
                                        <p:strVal val="visible"/>
                                      </p:to>
                                    </p:set>
                                    <p:animEffect transition="in" filter="slide(fromLeft)">
                                      <p:cBhvr>
                                        <p:cTn id="64" dur="1000"/>
                                        <p:tgtEl>
                                          <p:spTgt spid="256019"/>
                                        </p:tgtEl>
                                      </p:cBhvr>
                                    </p:animEffect>
                                  </p:childTnLst>
                                </p:cTn>
                              </p:par>
                            </p:childTnLst>
                          </p:cTn>
                        </p:par>
                        <p:par>
                          <p:cTn id="65" fill="hold">
                            <p:stCondLst>
                              <p:cond delay="6000"/>
                            </p:stCondLst>
                            <p:childTnLst>
                              <p:par>
                                <p:cTn id="66" presetID="12" presetClass="entr" presetSubtype="8" fill="hold" nodeType="afterEffect">
                                  <p:stCondLst>
                                    <p:cond delay="0"/>
                                  </p:stCondLst>
                                  <p:childTnLst>
                                    <p:set>
                                      <p:cBhvr>
                                        <p:cTn id="67" dur="1" fill="hold">
                                          <p:stCondLst>
                                            <p:cond delay="0"/>
                                          </p:stCondLst>
                                        </p:cTn>
                                        <p:tgtEl>
                                          <p:spTgt spid="256020"/>
                                        </p:tgtEl>
                                        <p:attrNameLst>
                                          <p:attrName>style.visibility</p:attrName>
                                        </p:attrNameLst>
                                      </p:cBhvr>
                                      <p:to>
                                        <p:strVal val="visible"/>
                                      </p:to>
                                    </p:set>
                                    <p:animEffect transition="in" filter="slide(fromLeft)">
                                      <p:cBhvr>
                                        <p:cTn id="68" dur="1000"/>
                                        <p:tgtEl>
                                          <p:spTgt spid="256020"/>
                                        </p:tgtEl>
                                      </p:cBhvr>
                                    </p:animEffect>
                                  </p:childTnLst>
                                </p:cTn>
                              </p:par>
                            </p:childTnLst>
                          </p:cTn>
                        </p:par>
                        <p:par>
                          <p:cTn id="69" fill="hold">
                            <p:stCondLst>
                              <p:cond delay="7000"/>
                            </p:stCondLst>
                            <p:childTnLst>
                              <p:par>
                                <p:cTn id="70" presetID="12" presetClass="entr" presetSubtype="8" fill="hold" nodeType="afterEffect">
                                  <p:stCondLst>
                                    <p:cond delay="0"/>
                                  </p:stCondLst>
                                  <p:childTnLst>
                                    <p:set>
                                      <p:cBhvr>
                                        <p:cTn id="71" dur="1" fill="hold">
                                          <p:stCondLst>
                                            <p:cond delay="0"/>
                                          </p:stCondLst>
                                        </p:cTn>
                                        <p:tgtEl>
                                          <p:spTgt spid="256021"/>
                                        </p:tgtEl>
                                        <p:attrNameLst>
                                          <p:attrName>style.visibility</p:attrName>
                                        </p:attrNameLst>
                                      </p:cBhvr>
                                      <p:to>
                                        <p:strVal val="visible"/>
                                      </p:to>
                                    </p:set>
                                    <p:animEffect transition="in" filter="slide(fromLeft)">
                                      <p:cBhvr>
                                        <p:cTn id="72" dur="1000"/>
                                        <p:tgtEl>
                                          <p:spTgt spid="256021"/>
                                        </p:tgtEl>
                                      </p:cBhvr>
                                    </p:animEffect>
                                  </p:childTnLst>
                                </p:cTn>
                              </p:par>
                            </p:childTnLst>
                          </p:cTn>
                        </p:par>
                        <p:par>
                          <p:cTn id="73" fill="hold">
                            <p:stCondLst>
                              <p:cond delay="8000"/>
                            </p:stCondLst>
                            <p:childTnLst>
                              <p:par>
                                <p:cTn id="74" presetID="12" presetClass="entr" presetSubtype="8" fill="hold" nodeType="afterEffect">
                                  <p:stCondLst>
                                    <p:cond delay="0"/>
                                  </p:stCondLst>
                                  <p:childTnLst>
                                    <p:set>
                                      <p:cBhvr>
                                        <p:cTn id="75" dur="1" fill="hold">
                                          <p:stCondLst>
                                            <p:cond delay="0"/>
                                          </p:stCondLst>
                                        </p:cTn>
                                        <p:tgtEl>
                                          <p:spTgt spid="256022"/>
                                        </p:tgtEl>
                                        <p:attrNameLst>
                                          <p:attrName>style.visibility</p:attrName>
                                        </p:attrNameLst>
                                      </p:cBhvr>
                                      <p:to>
                                        <p:strVal val="visible"/>
                                      </p:to>
                                    </p:set>
                                    <p:animEffect transition="in" filter="slide(fromLeft)">
                                      <p:cBhvr>
                                        <p:cTn id="76" dur="1000"/>
                                        <p:tgtEl>
                                          <p:spTgt spid="256022"/>
                                        </p:tgtEl>
                                      </p:cBhvr>
                                    </p:animEffect>
                                  </p:childTnLst>
                                </p:cTn>
                              </p:par>
                            </p:childTnLst>
                          </p:cTn>
                        </p:par>
                        <p:par>
                          <p:cTn id="77" fill="hold">
                            <p:stCondLst>
                              <p:cond delay="9000"/>
                            </p:stCondLst>
                            <p:childTnLst>
                              <p:par>
                                <p:cTn id="78" presetID="12" presetClass="entr" presetSubtype="8" fill="hold" nodeType="afterEffect">
                                  <p:stCondLst>
                                    <p:cond delay="0"/>
                                  </p:stCondLst>
                                  <p:childTnLst>
                                    <p:set>
                                      <p:cBhvr>
                                        <p:cTn id="79" dur="1" fill="hold">
                                          <p:stCondLst>
                                            <p:cond delay="0"/>
                                          </p:stCondLst>
                                        </p:cTn>
                                        <p:tgtEl>
                                          <p:spTgt spid="256023"/>
                                        </p:tgtEl>
                                        <p:attrNameLst>
                                          <p:attrName>style.visibility</p:attrName>
                                        </p:attrNameLst>
                                      </p:cBhvr>
                                      <p:to>
                                        <p:strVal val="visible"/>
                                      </p:to>
                                    </p:set>
                                    <p:animEffect transition="in" filter="slide(fromLeft)">
                                      <p:cBhvr>
                                        <p:cTn id="80" dur="1000"/>
                                        <p:tgtEl>
                                          <p:spTgt spid="256023"/>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8" fill="hold" nodeType="clickEffect">
                                  <p:stCondLst>
                                    <p:cond delay="0"/>
                                  </p:stCondLst>
                                  <p:childTnLst>
                                    <p:set>
                                      <p:cBhvr>
                                        <p:cTn id="84" dur="1" fill="hold">
                                          <p:stCondLst>
                                            <p:cond delay="0"/>
                                          </p:stCondLst>
                                        </p:cTn>
                                        <p:tgtEl>
                                          <p:spTgt spid="256024"/>
                                        </p:tgtEl>
                                        <p:attrNameLst>
                                          <p:attrName>style.visibility</p:attrName>
                                        </p:attrNameLst>
                                      </p:cBhvr>
                                      <p:to>
                                        <p:strVal val="visible"/>
                                      </p:to>
                                    </p:set>
                                    <p:animEffect transition="in" filter="slide(fromLeft)">
                                      <p:cBhvr>
                                        <p:cTn id="85" dur="1000"/>
                                        <p:tgtEl>
                                          <p:spTgt spid="256024"/>
                                        </p:tgtEl>
                                      </p:cBhvr>
                                    </p:animEffect>
                                  </p:childTnLst>
                                </p:cTn>
                              </p:par>
                            </p:childTnLst>
                          </p:cTn>
                        </p:par>
                        <p:par>
                          <p:cTn id="86" fill="hold">
                            <p:stCondLst>
                              <p:cond delay="1000"/>
                            </p:stCondLst>
                            <p:childTnLst>
                              <p:par>
                                <p:cTn id="87" presetID="12" presetClass="entr" presetSubtype="8" fill="hold" nodeType="afterEffect">
                                  <p:stCondLst>
                                    <p:cond delay="0"/>
                                  </p:stCondLst>
                                  <p:childTnLst>
                                    <p:set>
                                      <p:cBhvr>
                                        <p:cTn id="88" dur="1" fill="hold">
                                          <p:stCondLst>
                                            <p:cond delay="0"/>
                                          </p:stCondLst>
                                        </p:cTn>
                                        <p:tgtEl>
                                          <p:spTgt spid="256033"/>
                                        </p:tgtEl>
                                        <p:attrNameLst>
                                          <p:attrName>style.visibility</p:attrName>
                                        </p:attrNameLst>
                                      </p:cBhvr>
                                      <p:to>
                                        <p:strVal val="visible"/>
                                      </p:to>
                                    </p:set>
                                    <p:animEffect transition="in" filter="slide(fromLeft)">
                                      <p:cBhvr>
                                        <p:cTn id="89" dur="1000"/>
                                        <p:tgtEl>
                                          <p:spTgt spid="256033"/>
                                        </p:tgtEl>
                                      </p:cBhvr>
                                    </p:animEffect>
                                  </p:childTnLst>
                                </p:cTn>
                              </p:par>
                            </p:childTnLst>
                          </p:cTn>
                        </p:par>
                        <p:par>
                          <p:cTn id="90" fill="hold">
                            <p:stCondLst>
                              <p:cond delay="2000"/>
                            </p:stCondLst>
                            <p:childTnLst>
                              <p:par>
                                <p:cTn id="91" presetID="12" presetClass="entr" presetSubtype="8" fill="hold" nodeType="afterEffect">
                                  <p:stCondLst>
                                    <p:cond delay="0"/>
                                  </p:stCondLst>
                                  <p:childTnLst>
                                    <p:set>
                                      <p:cBhvr>
                                        <p:cTn id="92" dur="1" fill="hold">
                                          <p:stCondLst>
                                            <p:cond delay="0"/>
                                          </p:stCondLst>
                                        </p:cTn>
                                        <p:tgtEl>
                                          <p:spTgt spid="256042"/>
                                        </p:tgtEl>
                                        <p:attrNameLst>
                                          <p:attrName>style.visibility</p:attrName>
                                        </p:attrNameLst>
                                      </p:cBhvr>
                                      <p:to>
                                        <p:strVal val="visible"/>
                                      </p:to>
                                    </p:set>
                                    <p:animEffect transition="in" filter="slide(fromLeft)">
                                      <p:cBhvr>
                                        <p:cTn id="93" dur="1000"/>
                                        <p:tgtEl>
                                          <p:spTgt spid="256042"/>
                                        </p:tgtEl>
                                      </p:cBhvr>
                                    </p:animEffect>
                                  </p:childTnLst>
                                </p:cTn>
                              </p:par>
                            </p:childTnLst>
                          </p:cTn>
                        </p:par>
                        <p:par>
                          <p:cTn id="94" fill="hold">
                            <p:stCondLst>
                              <p:cond delay="3000"/>
                            </p:stCondLst>
                            <p:childTnLst>
                              <p:par>
                                <p:cTn id="95" presetID="12" presetClass="entr" presetSubtype="8" fill="hold" nodeType="afterEffect">
                                  <p:stCondLst>
                                    <p:cond delay="0"/>
                                  </p:stCondLst>
                                  <p:childTnLst>
                                    <p:set>
                                      <p:cBhvr>
                                        <p:cTn id="96" dur="1" fill="hold">
                                          <p:stCondLst>
                                            <p:cond delay="0"/>
                                          </p:stCondLst>
                                        </p:cTn>
                                        <p:tgtEl>
                                          <p:spTgt spid="256051"/>
                                        </p:tgtEl>
                                        <p:attrNameLst>
                                          <p:attrName>style.visibility</p:attrName>
                                        </p:attrNameLst>
                                      </p:cBhvr>
                                      <p:to>
                                        <p:strVal val="visible"/>
                                      </p:to>
                                    </p:set>
                                    <p:animEffect transition="in" filter="slide(fromLeft)">
                                      <p:cBhvr>
                                        <p:cTn id="97" dur="1000"/>
                                        <p:tgtEl>
                                          <p:spTgt spid="256051"/>
                                        </p:tgtEl>
                                      </p:cBhvr>
                                    </p:animEffect>
                                  </p:childTnLst>
                                </p:cTn>
                              </p:par>
                            </p:childTnLst>
                          </p:cTn>
                        </p:par>
                        <p:par>
                          <p:cTn id="98" fill="hold">
                            <p:stCondLst>
                              <p:cond delay="4000"/>
                            </p:stCondLst>
                            <p:childTnLst>
                              <p:par>
                                <p:cTn id="99" presetID="12" presetClass="entr" presetSubtype="8" fill="hold" nodeType="afterEffect">
                                  <p:stCondLst>
                                    <p:cond delay="0"/>
                                  </p:stCondLst>
                                  <p:childTnLst>
                                    <p:set>
                                      <p:cBhvr>
                                        <p:cTn id="100" dur="1" fill="hold">
                                          <p:stCondLst>
                                            <p:cond delay="0"/>
                                          </p:stCondLst>
                                        </p:cTn>
                                        <p:tgtEl>
                                          <p:spTgt spid="256060"/>
                                        </p:tgtEl>
                                        <p:attrNameLst>
                                          <p:attrName>style.visibility</p:attrName>
                                        </p:attrNameLst>
                                      </p:cBhvr>
                                      <p:to>
                                        <p:strVal val="visible"/>
                                      </p:to>
                                    </p:set>
                                    <p:animEffect transition="in" filter="slide(fromLeft)">
                                      <p:cBhvr>
                                        <p:cTn id="101" dur="1000"/>
                                        <p:tgtEl>
                                          <p:spTgt spid="256060"/>
                                        </p:tgtEl>
                                      </p:cBhvr>
                                    </p:animEffect>
                                  </p:childTnLst>
                                </p:cTn>
                              </p:par>
                            </p:childTnLst>
                          </p:cTn>
                        </p:par>
                        <p:par>
                          <p:cTn id="102" fill="hold">
                            <p:stCondLst>
                              <p:cond delay="5000"/>
                            </p:stCondLst>
                            <p:childTnLst>
                              <p:par>
                                <p:cTn id="103" presetID="12" presetClass="entr" presetSubtype="8" fill="hold" nodeType="afterEffect">
                                  <p:stCondLst>
                                    <p:cond delay="0"/>
                                  </p:stCondLst>
                                  <p:childTnLst>
                                    <p:set>
                                      <p:cBhvr>
                                        <p:cTn id="104" dur="1" fill="hold">
                                          <p:stCondLst>
                                            <p:cond delay="0"/>
                                          </p:stCondLst>
                                        </p:cTn>
                                        <p:tgtEl>
                                          <p:spTgt spid="256069"/>
                                        </p:tgtEl>
                                        <p:attrNameLst>
                                          <p:attrName>style.visibility</p:attrName>
                                        </p:attrNameLst>
                                      </p:cBhvr>
                                      <p:to>
                                        <p:strVal val="visible"/>
                                      </p:to>
                                    </p:set>
                                    <p:animEffect transition="in" filter="slide(fromLeft)">
                                      <p:cBhvr>
                                        <p:cTn id="105" dur="1000"/>
                                        <p:tgtEl>
                                          <p:spTgt spid="256069"/>
                                        </p:tgtEl>
                                      </p:cBhvr>
                                    </p:animEffect>
                                  </p:childTnLst>
                                </p:cTn>
                              </p:par>
                            </p:childTnLst>
                          </p:cTn>
                        </p:par>
                        <p:par>
                          <p:cTn id="106" fill="hold">
                            <p:stCondLst>
                              <p:cond delay="6000"/>
                            </p:stCondLst>
                            <p:childTnLst>
                              <p:par>
                                <p:cTn id="107" presetID="12" presetClass="entr" presetSubtype="8" fill="hold" nodeType="afterEffect">
                                  <p:stCondLst>
                                    <p:cond delay="0"/>
                                  </p:stCondLst>
                                  <p:childTnLst>
                                    <p:set>
                                      <p:cBhvr>
                                        <p:cTn id="108" dur="1" fill="hold">
                                          <p:stCondLst>
                                            <p:cond delay="0"/>
                                          </p:stCondLst>
                                        </p:cTn>
                                        <p:tgtEl>
                                          <p:spTgt spid="256078"/>
                                        </p:tgtEl>
                                        <p:attrNameLst>
                                          <p:attrName>style.visibility</p:attrName>
                                        </p:attrNameLst>
                                      </p:cBhvr>
                                      <p:to>
                                        <p:strVal val="visible"/>
                                      </p:to>
                                    </p:set>
                                    <p:animEffect transition="in" filter="slide(fromLeft)">
                                      <p:cBhvr>
                                        <p:cTn id="109" dur="1000"/>
                                        <p:tgtEl>
                                          <p:spTgt spid="256078"/>
                                        </p:tgtEl>
                                      </p:cBhvr>
                                    </p:animEffect>
                                  </p:childTnLst>
                                </p:cTn>
                              </p:par>
                            </p:childTnLst>
                          </p:cTn>
                        </p:par>
                        <p:par>
                          <p:cTn id="110" fill="hold">
                            <p:stCondLst>
                              <p:cond delay="7000"/>
                            </p:stCondLst>
                            <p:childTnLst>
                              <p:par>
                                <p:cTn id="111" presetID="12" presetClass="entr" presetSubtype="8" fill="hold" nodeType="afterEffect">
                                  <p:stCondLst>
                                    <p:cond delay="0"/>
                                  </p:stCondLst>
                                  <p:childTnLst>
                                    <p:set>
                                      <p:cBhvr>
                                        <p:cTn id="112" dur="1" fill="hold">
                                          <p:stCondLst>
                                            <p:cond delay="0"/>
                                          </p:stCondLst>
                                        </p:cTn>
                                        <p:tgtEl>
                                          <p:spTgt spid="256087"/>
                                        </p:tgtEl>
                                        <p:attrNameLst>
                                          <p:attrName>style.visibility</p:attrName>
                                        </p:attrNameLst>
                                      </p:cBhvr>
                                      <p:to>
                                        <p:strVal val="visible"/>
                                      </p:to>
                                    </p:set>
                                    <p:animEffect transition="in" filter="slide(fromLeft)">
                                      <p:cBhvr>
                                        <p:cTn id="113" dur="1000"/>
                                        <p:tgtEl>
                                          <p:spTgt spid="256087"/>
                                        </p:tgtEl>
                                      </p:cBhvr>
                                    </p:animEffect>
                                  </p:childTnLst>
                                </p:cTn>
                              </p:par>
                            </p:childTnLst>
                          </p:cTn>
                        </p:par>
                        <p:par>
                          <p:cTn id="114" fill="hold">
                            <p:stCondLst>
                              <p:cond delay="8000"/>
                            </p:stCondLst>
                            <p:childTnLst>
                              <p:par>
                                <p:cTn id="115" presetID="12" presetClass="entr" presetSubtype="8" fill="hold" nodeType="afterEffect">
                                  <p:stCondLst>
                                    <p:cond delay="0"/>
                                  </p:stCondLst>
                                  <p:childTnLst>
                                    <p:set>
                                      <p:cBhvr>
                                        <p:cTn id="116" dur="1" fill="hold">
                                          <p:stCondLst>
                                            <p:cond delay="0"/>
                                          </p:stCondLst>
                                        </p:cTn>
                                        <p:tgtEl>
                                          <p:spTgt spid="256096"/>
                                        </p:tgtEl>
                                        <p:attrNameLst>
                                          <p:attrName>style.visibility</p:attrName>
                                        </p:attrNameLst>
                                      </p:cBhvr>
                                      <p:to>
                                        <p:strVal val="visible"/>
                                      </p:to>
                                    </p:set>
                                    <p:animEffect transition="in" filter="slide(fromLeft)">
                                      <p:cBhvr>
                                        <p:cTn id="117" dur="1000"/>
                                        <p:tgtEl>
                                          <p:spTgt spid="256096"/>
                                        </p:tgtEl>
                                      </p:cBhvr>
                                    </p:animEffect>
                                  </p:childTnLst>
                                </p:cTn>
                              </p:par>
                            </p:childTnLst>
                          </p:cTn>
                        </p:par>
                        <p:par>
                          <p:cTn id="118" fill="hold">
                            <p:stCondLst>
                              <p:cond delay="9000"/>
                            </p:stCondLst>
                            <p:childTnLst>
                              <p:par>
                                <p:cTn id="119" presetID="12" presetClass="entr" presetSubtype="8" fill="hold" nodeType="afterEffect">
                                  <p:stCondLst>
                                    <p:cond delay="0"/>
                                  </p:stCondLst>
                                  <p:childTnLst>
                                    <p:set>
                                      <p:cBhvr>
                                        <p:cTn id="120" dur="1" fill="hold">
                                          <p:stCondLst>
                                            <p:cond delay="0"/>
                                          </p:stCondLst>
                                        </p:cTn>
                                        <p:tgtEl>
                                          <p:spTgt spid="256105"/>
                                        </p:tgtEl>
                                        <p:attrNameLst>
                                          <p:attrName>style.visibility</p:attrName>
                                        </p:attrNameLst>
                                      </p:cBhvr>
                                      <p:to>
                                        <p:strVal val="visible"/>
                                      </p:to>
                                    </p:set>
                                    <p:animEffect transition="in" filter="slide(fromLeft)">
                                      <p:cBhvr>
                                        <p:cTn id="121" dur="1000"/>
                                        <p:tgtEl>
                                          <p:spTgt spid="256105"/>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56116"/>
                                        </p:tgtEl>
                                        <p:attrNameLst>
                                          <p:attrName>style.visibility</p:attrName>
                                        </p:attrNameLst>
                                      </p:cBhvr>
                                      <p:to>
                                        <p:strVal val="visible"/>
                                      </p:to>
                                    </p:set>
                                    <p:animEffect transition="in" filter="wipe(left)">
                                      <p:cBhvr>
                                        <p:cTn id="126" dur="1000"/>
                                        <p:tgtEl>
                                          <p:spTgt spid="256116"/>
                                        </p:tgtEl>
                                      </p:cBhvr>
                                    </p:animEffect>
                                  </p:childTnLst>
                                </p:cTn>
                              </p:par>
                              <p:par>
                                <p:cTn id="127" presetID="22" presetClass="entr" presetSubtype="8" fill="hold" grpId="0" nodeType="withEffect">
                                  <p:stCondLst>
                                    <p:cond delay="0"/>
                                  </p:stCondLst>
                                  <p:childTnLst>
                                    <p:set>
                                      <p:cBhvr>
                                        <p:cTn id="128" dur="1" fill="hold">
                                          <p:stCondLst>
                                            <p:cond delay="0"/>
                                          </p:stCondLst>
                                        </p:cTn>
                                        <p:tgtEl>
                                          <p:spTgt spid="256114"/>
                                        </p:tgtEl>
                                        <p:attrNameLst>
                                          <p:attrName>style.visibility</p:attrName>
                                        </p:attrNameLst>
                                      </p:cBhvr>
                                      <p:to>
                                        <p:strVal val="visible"/>
                                      </p:to>
                                    </p:set>
                                    <p:animEffect transition="in" filter="wipe(left)">
                                      <p:cBhvr>
                                        <p:cTn id="129" dur="1000"/>
                                        <p:tgtEl>
                                          <p:spTgt spid="256114"/>
                                        </p:tgtEl>
                                      </p:cBhvr>
                                    </p:animEffect>
                                  </p:childTnLst>
                                </p:cTn>
                              </p:par>
                              <p:par>
                                <p:cTn id="130" presetID="22" presetClass="entr" presetSubtype="8" fill="hold" nodeType="withEffect">
                                  <p:stCondLst>
                                    <p:cond delay="0"/>
                                  </p:stCondLst>
                                  <p:childTnLst>
                                    <p:set>
                                      <p:cBhvr>
                                        <p:cTn id="131" dur="1" fill="hold">
                                          <p:stCondLst>
                                            <p:cond delay="0"/>
                                          </p:stCondLst>
                                        </p:cTn>
                                        <p:tgtEl>
                                          <p:spTgt spid="256117"/>
                                        </p:tgtEl>
                                        <p:attrNameLst>
                                          <p:attrName>style.visibility</p:attrName>
                                        </p:attrNameLst>
                                      </p:cBhvr>
                                      <p:to>
                                        <p:strVal val="visible"/>
                                      </p:to>
                                    </p:set>
                                    <p:animEffect transition="in" filter="wipe(left)">
                                      <p:cBhvr>
                                        <p:cTn id="132" dur="1000"/>
                                        <p:tgtEl>
                                          <p:spTgt spid="256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8" grpId="0" bldLvl="0" animBg="1"/>
      <p:bldP spid="256009" grpId="0" bldLvl="0" animBg="1"/>
      <p:bldP spid="256010" grpId="0"/>
      <p:bldP spid="256012" grpId="0"/>
      <p:bldP spid="606214" grpId="0" build="p"/>
      <p:bldP spid="2561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4"/>
          <p:cNvSpPr/>
          <p:nvPr/>
        </p:nvSpPr>
        <p:spPr>
          <a:xfrm>
            <a:off x="0" y="5949950"/>
            <a:ext cx="9144000" cy="908050"/>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7029" name="AutoShape 5"/>
          <p:cNvSpPr/>
          <p:nvPr/>
        </p:nvSpPr>
        <p:spPr>
          <a:xfrm>
            <a:off x="4038600" y="4695825"/>
            <a:ext cx="1008063" cy="503238"/>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7030" name="AutoShape 6"/>
          <p:cNvSpPr/>
          <p:nvPr/>
        </p:nvSpPr>
        <p:spPr>
          <a:xfrm>
            <a:off x="5335588" y="4681538"/>
            <a:ext cx="1008062" cy="503237"/>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2292" name="Text Box 8"/>
          <p:cNvSpPr txBox="1"/>
          <p:nvPr/>
        </p:nvSpPr>
        <p:spPr>
          <a:xfrm>
            <a:off x="-609600" y="230188"/>
            <a:ext cx="2366963" cy="52228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800" b="1" dirty="0">
                <a:latin typeface="Helvetica" pitchFamily="34" charset="0"/>
                <a:ea typeface="宋体" panose="02010600030101010101" pitchFamily="2" charset="-122"/>
              </a:rPr>
              <a:t>2</a:t>
            </a:r>
            <a:r>
              <a:rPr lang="zh-CN" altLang="en-US" sz="2800" b="1" dirty="0">
                <a:latin typeface="Helvetica" pitchFamily="34" charset="0"/>
                <a:ea typeface="宋体" panose="02010600030101010101" pitchFamily="2" charset="-122"/>
              </a:rPr>
              <a:t>、特性</a:t>
            </a:r>
          </a:p>
        </p:txBody>
      </p:sp>
      <p:sp>
        <p:nvSpPr>
          <p:cNvPr id="12293" name="Rectangle 4"/>
          <p:cNvSpPr/>
          <p:nvPr/>
        </p:nvSpPr>
        <p:spPr>
          <a:xfrm>
            <a:off x="152400" y="685800"/>
            <a:ext cx="7991475" cy="503238"/>
          </a:xfrm>
          <a:prstGeom prst="rect">
            <a:avLst/>
          </a:prstGeom>
          <a:noFill/>
          <a:ln w="9525">
            <a:noFill/>
          </a:ln>
        </p:spPr>
        <p:txBody>
          <a:bodyPr anchor="t" anchorCtr="0"/>
          <a:lstStyle/>
          <a:p>
            <a:pPr marL="342900" indent="-342900" eaLnBrk="0" hangingPunct="0">
              <a:lnSpc>
                <a:spcPct val="120000"/>
              </a:lnSpc>
              <a:buClr>
                <a:srgbClr val="0000FF"/>
              </a:buClr>
              <a:buSzPct val="90000"/>
              <a:buFont typeface="Monotype Sorts" pitchFamily="2" charset="2"/>
              <a:buChar char="@"/>
            </a:pPr>
            <a:r>
              <a:rPr lang="zh-CN" altLang="en-US" sz="2000" b="1" dirty="0">
                <a:latin typeface="Times New Roman" panose="02020603050405020304" pitchFamily="18" charset="0"/>
                <a:ea typeface="宋体" panose="02010600030101010101" pitchFamily="2" charset="-122"/>
              </a:rPr>
              <a:t>总线具有以下</a:t>
            </a:r>
            <a:r>
              <a:rPr lang="en-US" altLang="zh-CN" sz="2000" b="1" dirty="0">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方面特性： </a:t>
            </a:r>
          </a:p>
        </p:txBody>
      </p:sp>
      <p:sp>
        <p:nvSpPr>
          <p:cNvPr id="257034" name="AutoShape 10"/>
          <p:cNvSpPr/>
          <p:nvPr/>
        </p:nvSpPr>
        <p:spPr>
          <a:xfrm>
            <a:off x="1331913" y="1744663"/>
            <a:ext cx="7632700" cy="5084762"/>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7035" name="AutoShape 11"/>
          <p:cNvSpPr/>
          <p:nvPr/>
        </p:nvSpPr>
        <p:spPr>
          <a:xfrm>
            <a:off x="179388" y="1773238"/>
            <a:ext cx="1152525" cy="1008062"/>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7036" name="Text Box 12"/>
          <p:cNvSpPr txBox="1"/>
          <p:nvPr/>
        </p:nvSpPr>
        <p:spPr>
          <a:xfrm>
            <a:off x="-754062" y="1820863"/>
            <a:ext cx="2117725" cy="70643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solidFill>
                  <a:srgbClr val="F8F8F8"/>
                </a:solidFill>
                <a:latin typeface="Helvetica" pitchFamily="34" charset="0"/>
                <a:ea typeface="宋体" panose="02010600030101010101" pitchFamily="2" charset="-122"/>
              </a:rPr>
              <a:t>定义</a:t>
            </a:r>
          </a:p>
        </p:txBody>
      </p:sp>
      <p:sp>
        <p:nvSpPr>
          <p:cNvPr id="12297" name="Rectangle 13"/>
          <p:cNvSpPr/>
          <p:nvPr/>
        </p:nvSpPr>
        <p:spPr>
          <a:xfrm>
            <a:off x="-609600" y="1120775"/>
            <a:ext cx="3440113" cy="52228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800" b="1" dirty="0">
                <a:latin typeface="Helvetica" pitchFamily="34" charset="0"/>
                <a:ea typeface="宋体" panose="02010600030101010101" pitchFamily="2" charset="-122"/>
              </a:rPr>
              <a:t>（</a:t>
            </a:r>
            <a:r>
              <a:rPr lang="en-US" altLang="zh-CN" sz="2800" b="1" dirty="0">
                <a:latin typeface="Helvetica" pitchFamily="34" charset="0"/>
                <a:ea typeface="宋体" panose="02010600030101010101" pitchFamily="2" charset="-122"/>
              </a:rPr>
              <a:t>3</a:t>
            </a:r>
            <a:r>
              <a:rPr lang="zh-CN" altLang="en-US" sz="2800" b="1" dirty="0">
                <a:latin typeface="Helvetica" pitchFamily="34" charset="0"/>
                <a:ea typeface="宋体" panose="02010600030101010101" pitchFamily="2" charset="-122"/>
              </a:rPr>
              <a:t>）电气特性</a:t>
            </a:r>
          </a:p>
        </p:txBody>
      </p:sp>
      <p:sp>
        <p:nvSpPr>
          <p:cNvPr id="257038" name="Rectangle 14"/>
          <p:cNvSpPr/>
          <p:nvPr/>
        </p:nvSpPr>
        <p:spPr>
          <a:xfrm>
            <a:off x="801688" y="1819275"/>
            <a:ext cx="8334375" cy="533400"/>
          </a:xfrm>
          <a:prstGeom prst="rect">
            <a:avLst/>
          </a:prstGeom>
          <a:noFill/>
          <a:ln w="3175">
            <a:noFill/>
          </a:ln>
        </p:spPr>
        <p:txBody>
          <a:bodyPr wrap="none" anchor="t" anchorCtr="0">
            <a:spAutoFit/>
          </a:bodyPr>
          <a:lstStyle/>
          <a:p>
            <a:pPr marL="1143000" indent="-228600" eaLnBrk="0" hangingPunct="0">
              <a:lnSpc>
                <a:spcPct val="120000"/>
              </a:lnSpc>
              <a:buClr>
                <a:schemeClr val="tx2"/>
              </a:buClr>
              <a:buSzPct val="90000"/>
              <a:buFont typeface="Monotype Sorts" pitchFamily="2" charset="2"/>
            </a:pPr>
            <a:r>
              <a:rPr lang="zh-CN" altLang="en-US" sz="2400" b="1" dirty="0">
                <a:solidFill>
                  <a:srgbClr val="FF0000"/>
                </a:solidFill>
                <a:latin typeface="Helvetica" pitchFamily="34" charset="0"/>
                <a:ea typeface="宋体" panose="02010600030101010101" pitchFamily="2" charset="-122"/>
              </a:rPr>
              <a:t>电气特性</a:t>
            </a:r>
            <a:r>
              <a:rPr lang="zh-CN" altLang="en-US" sz="2000" b="1" dirty="0">
                <a:latin typeface="Helvetica" pitchFamily="34" charset="0"/>
                <a:ea typeface="宋体" panose="02010600030101010101" pitchFamily="2" charset="-122"/>
              </a:rPr>
              <a:t>定义每根传输线上信号的</a:t>
            </a:r>
            <a:r>
              <a:rPr lang="zh-CN" altLang="en-US" sz="2000" b="1" u="sng" dirty="0">
                <a:solidFill>
                  <a:srgbClr val="0000FF"/>
                </a:solidFill>
                <a:latin typeface="Helvetica" pitchFamily="34" charset="0"/>
                <a:ea typeface="宋体" panose="02010600030101010101" pitchFamily="2" charset="-122"/>
              </a:rPr>
              <a:t>传递方向</a:t>
            </a:r>
            <a:r>
              <a:rPr lang="zh-CN" altLang="en-US" sz="2000" b="1" dirty="0">
                <a:latin typeface="Helvetica" pitchFamily="34" charset="0"/>
                <a:ea typeface="宋体" panose="02010600030101010101" pitchFamily="2" charset="-122"/>
              </a:rPr>
              <a:t>和</a:t>
            </a:r>
            <a:r>
              <a:rPr lang="zh-CN" altLang="en-US" sz="2000" b="1" u="sng" dirty="0">
                <a:solidFill>
                  <a:srgbClr val="0000FF"/>
                </a:solidFill>
                <a:latin typeface="Helvetica" pitchFamily="34" charset="0"/>
                <a:ea typeface="宋体" panose="02010600030101010101" pitchFamily="2" charset="-122"/>
              </a:rPr>
              <a:t>有效电平范围</a:t>
            </a:r>
            <a:r>
              <a:rPr lang="zh-CN" altLang="en-US" sz="2000" b="1" dirty="0">
                <a:latin typeface="Helvetica" pitchFamily="34" charset="0"/>
                <a:ea typeface="宋体" panose="02010600030101010101" pitchFamily="2" charset="-122"/>
              </a:rPr>
              <a:t>。  </a:t>
            </a:r>
          </a:p>
        </p:txBody>
      </p:sp>
      <p:sp>
        <p:nvSpPr>
          <p:cNvPr id="12299" name="Rectangle 6"/>
          <p:cNvSpPr/>
          <p:nvPr/>
        </p:nvSpPr>
        <p:spPr>
          <a:xfrm>
            <a:off x="539750" y="6308725"/>
            <a:ext cx="8066088" cy="2447925"/>
          </a:xfrm>
          <a:prstGeom prst="rect">
            <a:avLst/>
          </a:prstGeom>
          <a:noFill/>
          <a:ln w="9525">
            <a:noFill/>
          </a:ln>
        </p:spPr>
        <p:txBody>
          <a:bodyPr anchor="t" anchorCtr="0"/>
          <a:lstStyle/>
          <a:p>
            <a:pPr marL="342900" indent="-342900" eaLnBrk="0" hangingPunct="0">
              <a:lnSpc>
                <a:spcPct val="130000"/>
              </a:lnSpc>
              <a:buClr>
                <a:schemeClr val="tx2"/>
              </a:buClr>
              <a:buSzPct val="90000"/>
              <a:buFont typeface="Monotype Sorts" pitchFamily="2" charset="2"/>
            </a:pPr>
            <a:endParaRPr lang="zh-CN" altLang="zh-CN" sz="2400" b="1" dirty="0">
              <a:latin typeface="Times New Roman" panose="02020603050405020304" pitchFamily="18" charset="0"/>
              <a:ea typeface="宋体" panose="02010600030101010101" pitchFamily="2" charset="-122"/>
            </a:endParaRPr>
          </a:p>
        </p:txBody>
      </p:sp>
      <p:sp>
        <p:nvSpPr>
          <p:cNvPr id="257040" name="Rectangle 16"/>
          <p:cNvSpPr/>
          <p:nvPr/>
        </p:nvSpPr>
        <p:spPr>
          <a:xfrm>
            <a:off x="881063" y="2492375"/>
            <a:ext cx="5921375" cy="1230313"/>
          </a:xfrm>
          <a:prstGeom prst="rect">
            <a:avLst/>
          </a:prstGeom>
          <a:noFill/>
          <a:ln w="3175">
            <a:noFill/>
          </a:ln>
        </p:spPr>
        <p:txBody>
          <a:bodyPr wrap="none" anchor="t" anchorCtr="0">
            <a:spAutoFit/>
          </a:bodyPr>
          <a:lstStyle/>
          <a:p>
            <a:pPr marL="1143000" indent="-228600" eaLnBrk="0" hangingPunct="0">
              <a:spcBef>
                <a:spcPct val="35000"/>
              </a:spcBef>
              <a:buClr>
                <a:srgbClr val="800000"/>
              </a:buClr>
              <a:buSzPct val="85000"/>
              <a:buFont typeface="Wingdings" panose="05000000000000000000" pitchFamily="2" charset="2"/>
              <a:buChar char="F"/>
            </a:pPr>
            <a:r>
              <a:rPr lang="zh-CN" altLang="en-US" sz="2000" b="1" dirty="0">
                <a:latin typeface="Helvetica" pitchFamily="34" charset="0"/>
                <a:ea typeface="宋体" panose="02010600030101010101" pitchFamily="2" charset="-122"/>
              </a:rPr>
              <a:t>按照允许信息传输的方向分，总线分为：</a:t>
            </a:r>
          </a:p>
          <a:p>
            <a:pPr marL="1143000" indent="-228600" eaLnBrk="0" hangingPunct="0">
              <a:spcBef>
                <a:spcPct val="35000"/>
              </a:spcBef>
              <a:buClr>
                <a:srgbClr val="800000"/>
              </a:buClr>
              <a:buSzPct val="85000"/>
              <a:buFont typeface="Wingdings" panose="05000000000000000000"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①单向总线</a:t>
            </a:r>
            <a:r>
              <a:rPr lang="zh-CN" altLang="en-US" sz="2000" b="1" dirty="0">
                <a:solidFill>
                  <a:srgbClr val="800000"/>
                </a:solidFill>
                <a:latin typeface="Helvetica" pitchFamily="34" charset="0"/>
                <a:ea typeface="宋体" panose="02010600030101010101" pitchFamily="2" charset="-122"/>
              </a:rPr>
              <a:t>和</a:t>
            </a:r>
          </a:p>
          <a:p>
            <a:pPr marL="1143000" indent="-228600" eaLnBrk="0" hangingPunct="0">
              <a:spcBef>
                <a:spcPct val="35000"/>
              </a:spcBef>
              <a:buClr>
                <a:srgbClr val="800000"/>
              </a:buClr>
              <a:buSzPct val="85000"/>
              <a:buFont typeface="Wingdings" panose="05000000000000000000"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②双向总线</a:t>
            </a:r>
            <a:r>
              <a:rPr lang="zh-CN" altLang="en-US" sz="2000" b="1" dirty="0">
                <a:latin typeface="Helvetica" pitchFamily="34" charset="0"/>
                <a:ea typeface="宋体" panose="02010600030101010101" pitchFamily="2" charset="-122"/>
              </a:rPr>
              <a:t>。</a:t>
            </a:r>
          </a:p>
        </p:txBody>
      </p:sp>
      <p:sp>
        <p:nvSpPr>
          <p:cNvPr id="257041" name="Rectangle 17"/>
          <p:cNvSpPr/>
          <p:nvPr/>
        </p:nvSpPr>
        <p:spPr>
          <a:xfrm>
            <a:off x="1042988" y="4695825"/>
            <a:ext cx="5627687" cy="460375"/>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000" b="1" dirty="0">
                <a:solidFill>
                  <a:srgbClr val="0000FF"/>
                </a:solidFill>
                <a:latin typeface="Helvetica" pitchFamily="34" charset="0"/>
                <a:ea typeface="宋体" panose="02010600030101010101" pitchFamily="2" charset="-122"/>
              </a:rPr>
              <a:t>双向总线</a:t>
            </a:r>
            <a:r>
              <a:rPr lang="zh-CN" altLang="en-US" sz="2000" b="1" dirty="0">
                <a:latin typeface="Helvetica" pitchFamily="34" charset="0"/>
                <a:ea typeface="宋体" panose="02010600030101010101" pitchFamily="2" charset="-122"/>
              </a:rPr>
              <a:t>又分为：</a:t>
            </a:r>
            <a:r>
              <a:rPr lang="zh-CN" altLang="en-US" sz="2400" b="1" dirty="0">
                <a:solidFill>
                  <a:srgbClr val="FF0000"/>
                </a:solidFill>
                <a:latin typeface="Helvetica" pitchFamily="34" charset="0"/>
                <a:ea typeface="宋体" panose="02010600030101010101" pitchFamily="2" charset="-122"/>
              </a:rPr>
              <a:t>全双工</a:t>
            </a:r>
            <a:r>
              <a:rPr lang="zh-CN" altLang="en-US" sz="2000" b="1" dirty="0">
                <a:latin typeface="Helvetica" pitchFamily="34" charset="0"/>
                <a:ea typeface="宋体" panose="02010600030101010101" pitchFamily="2" charset="-122"/>
              </a:rPr>
              <a:t> 和 </a:t>
            </a:r>
            <a:r>
              <a:rPr lang="zh-CN" altLang="en-US" sz="2400" b="1" dirty="0">
                <a:solidFill>
                  <a:srgbClr val="FF0000"/>
                </a:solidFill>
                <a:latin typeface="Helvetica" pitchFamily="34" charset="0"/>
                <a:ea typeface="宋体" panose="02010600030101010101" pitchFamily="2" charset="-122"/>
              </a:rPr>
              <a:t>半双工</a:t>
            </a:r>
            <a:r>
              <a:rPr lang="zh-CN" altLang="en-US" sz="2000" b="1" dirty="0">
                <a:latin typeface="Helvetica" pitchFamily="34" charset="0"/>
                <a:ea typeface="宋体" panose="02010600030101010101" pitchFamily="2" charset="-122"/>
              </a:rPr>
              <a:t>。</a:t>
            </a:r>
          </a:p>
        </p:txBody>
      </p:sp>
      <p:sp>
        <p:nvSpPr>
          <p:cNvPr id="257042" name="AutoShape 18"/>
          <p:cNvSpPr/>
          <p:nvPr/>
        </p:nvSpPr>
        <p:spPr>
          <a:xfrm>
            <a:off x="1547813" y="3789363"/>
            <a:ext cx="7127875" cy="2663825"/>
          </a:xfrm>
          <a:prstGeom prst="wedgeRoundRectCallout">
            <a:avLst>
              <a:gd name="adj1" fmla="val -29912"/>
              <a:gd name="adj2" fmla="val -56315"/>
              <a:gd name="adj3" fmla="val 16667"/>
            </a:avLst>
          </a:prstGeom>
          <a:noFill/>
          <a:ln w="3175" cap="flat" cmpd="sng">
            <a:solidFill>
              <a:srgbClr val="008080"/>
            </a:solidFill>
            <a:prstDash val="sysDot"/>
            <a:miter/>
            <a:headEnd type="none" w="med" len="med"/>
            <a:tailEnd type="none" w="med" len="med"/>
          </a:ln>
        </p:spPr>
        <p:txBody>
          <a:bodyPr anchor="t" anchorCtr="0"/>
          <a:lstStyle/>
          <a:p>
            <a:pPr marL="1143000" indent="-228600" algn="ctr" eaLnBrk="0" hangingPunct="0">
              <a:spcBef>
                <a:spcPct val="35000"/>
              </a:spcBef>
              <a:buClr>
                <a:srgbClr val="000099"/>
              </a:buClr>
              <a:buSzPct val="85000"/>
              <a:buFont typeface="Wingdings" panose="05000000000000000000" pitchFamily="2" charset="2"/>
            </a:pPr>
            <a:endParaRPr lang="zh-CN" altLang="zh-CN" sz="2400" b="1" dirty="0">
              <a:latin typeface="Helvetica" pitchFamily="34" charset="0"/>
              <a:ea typeface="宋体" panose="02010600030101010101" pitchFamily="2" charset="-122"/>
            </a:endParaRPr>
          </a:p>
        </p:txBody>
      </p:sp>
      <p:sp>
        <p:nvSpPr>
          <p:cNvPr id="257043" name="Rectangle 19"/>
          <p:cNvSpPr/>
          <p:nvPr/>
        </p:nvSpPr>
        <p:spPr>
          <a:xfrm>
            <a:off x="1339850" y="4005263"/>
            <a:ext cx="6969125" cy="398462"/>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000" b="1" dirty="0">
                <a:latin typeface="Helvetica" pitchFamily="34" charset="0"/>
                <a:ea typeface="宋体" panose="02010600030101010101" pitchFamily="2" charset="-122"/>
              </a:rPr>
              <a:t>全双工是指同一时刻允许信息分别沿两个方向传输，</a:t>
            </a:r>
          </a:p>
        </p:txBody>
      </p:sp>
      <p:sp>
        <p:nvSpPr>
          <p:cNvPr id="257044" name="Rectangle 20"/>
          <p:cNvSpPr/>
          <p:nvPr/>
        </p:nvSpPr>
        <p:spPr>
          <a:xfrm>
            <a:off x="1314450" y="5445125"/>
            <a:ext cx="6713538" cy="892175"/>
          </a:xfrm>
          <a:prstGeom prst="rect">
            <a:avLst/>
          </a:prstGeom>
          <a:noFill/>
          <a:ln w="3175">
            <a:noFill/>
          </a:ln>
        </p:spPr>
        <p:txBody>
          <a:bodyPr wrap="none" anchor="t" anchorCtr="0">
            <a:spAutoFit/>
          </a:bodyPr>
          <a:lstStyle/>
          <a:p>
            <a:pPr marL="1143000" indent="-228600" eaLnBrk="0" hangingPunct="0">
              <a:lnSpc>
                <a:spcPct val="130000"/>
              </a:lnSpc>
              <a:buClr>
                <a:schemeClr val="tx2"/>
              </a:buClr>
              <a:buSzPct val="90000"/>
              <a:buFont typeface="Monotype Sorts" pitchFamily="2" charset="2"/>
            </a:pPr>
            <a:r>
              <a:rPr lang="zh-CN" altLang="en-US" sz="2000" b="1" dirty="0">
                <a:latin typeface="Helvetica" pitchFamily="34" charset="0"/>
                <a:ea typeface="宋体" panose="02010600030101010101" pitchFamily="2" charset="-122"/>
              </a:rPr>
              <a:t>半双工是指同一时刻只允许信息沿一个方向传输而</a:t>
            </a:r>
          </a:p>
          <a:p>
            <a:pPr marL="1143000" indent="-228600" eaLnBrk="0" hangingPunct="0">
              <a:lnSpc>
                <a:spcPct val="130000"/>
              </a:lnSpc>
              <a:buClr>
                <a:schemeClr val="tx2"/>
              </a:buClr>
              <a:buSzPct val="90000"/>
              <a:buFont typeface="Monotype Sorts" pitchFamily="2" charset="2"/>
            </a:pPr>
            <a:r>
              <a:rPr lang="zh-CN" altLang="en-US" sz="2000" b="1" dirty="0">
                <a:latin typeface="Helvetica" pitchFamily="34" charset="0"/>
                <a:ea typeface="宋体" panose="02010600030101010101" pitchFamily="2" charset="-122"/>
              </a:rPr>
              <a:t>另一个方向的信息传输要等到下一时刻。</a:t>
            </a:r>
          </a:p>
        </p:txBody>
      </p:sp>
      <p:sp>
        <p:nvSpPr>
          <p:cNvPr id="257045" name="Rectangle 21"/>
          <p:cNvSpPr/>
          <p:nvPr/>
        </p:nvSpPr>
        <p:spPr>
          <a:xfrm>
            <a:off x="2268538" y="5516563"/>
            <a:ext cx="5903912" cy="792162"/>
          </a:xfrm>
          <a:prstGeom prst="rect">
            <a:avLst/>
          </a:prstGeom>
          <a:noFill/>
          <a:ln w="3175" cap="flat" cmpd="sng">
            <a:solidFill>
              <a:srgbClr val="800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7046" name="Rectangle 22"/>
          <p:cNvSpPr/>
          <p:nvPr/>
        </p:nvSpPr>
        <p:spPr>
          <a:xfrm>
            <a:off x="2268538" y="3932238"/>
            <a:ext cx="5903912" cy="504825"/>
          </a:xfrm>
          <a:prstGeom prst="rect">
            <a:avLst/>
          </a:prstGeom>
          <a:noFill/>
          <a:ln w="3175" cap="flat" cmpd="sng">
            <a:solidFill>
              <a:srgbClr val="800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7047" name="Line 23"/>
          <p:cNvSpPr/>
          <p:nvPr/>
        </p:nvSpPr>
        <p:spPr>
          <a:xfrm flipH="1" flipV="1">
            <a:off x="2268538" y="4437063"/>
            <a:ext cx="1798637" cy="287337"/>
          </a:xfrm>
          <a:prstGeom prst="line">
            <a:avLst/>
          </a:prstGeom>
          <a:ln w="3175" cap="flat" cmpd="sng">
            <a:solidFill>
              <a:srgbClr val="800080"/>
            </a:solidFill>
            <a:prstDash val="solid"/>
            <a:round/>
            <a:headEnd type="none" w="med" len="med"/>
            <a:tailEnd type="triangle" w="med" len="med"/>
          </a:ln>
        </p:spPr>
      </p:sp>
      <p:sp>
        <p:nvSpPr>
          <p:cNvPr id="257048" name="Line 24"/>
          <p:cNvSpPr/>
          <p:nvPr/>
        </p:nvSpPr>
        <p:spPr>
          <a:xfrm flipV="1">
            <a:off x="5003800" y="4437063"/>
            <a:ext cx="3168650" cy="287337"/>
          </a:xfrm>
          <a:prstGeom prst="line">
            <a:avLst/>
          </a:prstGeom>
          <a:ln w="3175" cap="flat" cmpd="sng">
            <a:solidFill>
              <a:srgbClr val="800080"/>
            </a:solidFill>
            <a:prstDash val="solid"/>
            <a:round/>
            <a:headEnd type="none" w="med" len="med"/>
            <a:tailEnd type="triangle" w="med" len="med"/>
          </a:ln>
        </p:spPr>
      </p:sp>
      <p:sp>
        <p:nvSpPr>
          <p:cNvPr id="257049" name="Line 25"/>
          <p:cNvSpPr/>
          <p:nvPr/>
        </p:nvSpPr>
        <p:spPr>
          <a:xfrm flipH="1">
            <a:off x="2268538" y="5157788"/>
            <a:ext cx="3095625" cy="358775"/>
          </a:xfrm>
          <a:prstGeom prst="line">
            <a:avLst/>
          </a:prstGeom>
          <a:ln w="3175" cap="flat" cmpd="sng">
            <a:solidFill>
              <a:srgbClr val="800080"/>
            </a:solidFill>
            <a:prstDash val="solid"/>
            <a:round/>
            <a:headEnd type="none" w="med" len="med"/>
            <a:tailEnd type="triangle" w="med" len="med"/>
          </a:ln>
        </p:spPr>
      </p:sp>
      <p:sp>
        <p:nvSpPr>
          <p:cNvPr id="257050" name="Line 26"/>
          <p:cNvSpPr/>
          <p:nvPr/>
        </p:nvSpPr>
        <p:spPr>
          <a:xfrm>
            <a:off x="6227763" y="5157788"/>
            <a:ext cx="1944687" cy="358775"/>
          </a:xfrm>
          <a:prstGeom prst="line">
            <a:avLst/>
          </a:prstGeom>
          <a:ln w="3175" cap="flat" cmpd="sng">
            <a:solidFill>
              <a:srgbClr val="800080"/>
            </a:solidFill>
            <a:prstDash val="solid"/>
            <a:roun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57035"/>
                                        </p:tgtEl>
                                        <p:attrNameLst>
                                          <p:attrName>style.visibility</p:attrName>
                                        </p:attrNameLst>
                                      </p:cBhvr>
                                      <p:to>
                                        <p:strVal val="visible"/>
                                      </p:to>
                                    </p:set>
                                    <p:animEffect transition="in" filter="strips(downRight)">
                                      <p:cBhvr>
                                        <p:cTn id="7" dur="1000"/>
                                        <p:tgtEl>
                                          <p:spTgt spid="257035"/>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257038"/>
                                        </p:tgtEl>
                                        <p:attrNameLst>
                                          <p:attrName>style.visibility</p:attrName>
                                        </p:attrNameLst>
                                      </p:cBhvr>
                                      <p:to>
                                        <p:strVal val="visible"/>
                                      </p:to>
                                    </p:set>
                                    <p:animEffect transition="in" filter="strips(downRight)">
                                      <p:cBhvr>
                                        <p:cTn id="10" dur="1000"/>
                                        <p:tgtEl>
                                          <p:spTgt spid="257038"/>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257036"/>
                                        </p:tgtEl>
                                        <p:attrNameLst>
                                          <p:attrName>style.visibility</p:attrName>
                                        </p:attrNameLst>
                                      </p:cBhvr>
                                      <p:to>
                                        <p:strVal val="visible"/>
                                      </p:to>
                                    </p:set>
                                    <p:animEffect transition="in" filter="strips(downRight)">
                                      <p:cBhvr>
                                        <p:cTn id="13" dur="1000"/>
                                        <p:tgtEl>
                                          <p:spTgt spid="257036"/>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257034"/>
                                        </p:tgtEl>
                                        <p:attrNameLst>
                                          <p:attrName>style.visibility</p:attrName>
                                        </p:attrNameLst>
                                      </p:cBhvr>
                                      <p:to>
                                        <p:strVal val="visible"/>
                                      </p:to>
                                    </p:set>
                                    <p:animEffect transition="in" filter="strips(downRight)">
                                      <p:cBhvr>
                                        <p:cTn id="16" dur="1000"/>
                                        <p:tgtEl>
                                          <p:spTgt spid="25703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57040"/>
                                        </p:tgtEl>
                                        <p:attrNameLst>
                                          <p:attrName>style.visibility</p:attrName>
                                        </p:attrNameLst>
                                      </p:cBhvr>
                                      <p:to>
                                        <p:strVal val="visible"/>
                                      </p:to>
                                    </p:set>
                                    <p:animEffect transition="in" filter="dissolve">
                                      <p:cBhvr>
                                        <p:cTn id="21" dur="1000"/>
                                        <p:tgtEl>
                                          <p:spTgt spid="25704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257029"/>
                                        </p:tgtEl>
                                        <p:attrNameLst>
                                          <p:attrName>style.visibility</p:attrName>
                                        </p:attrNameLst>
                                      </p:cBhvr>
                                      <p:to>
                                        <p:strVal val="visible"/>
                                      </p:to>
                                    </p:set>
                                    <p:animEffect transition="in" filter="barn(outHorizontal)">
                                      <p:cBhvr>
                                        <p:cTn id="26" dur="1000"/>
                                        <p:tgtEl>
                                          <p:spTgt spid="257029"/>
                                        </p:tgtEl>
                                      </p:cBhvr>
                                    </p:animEffect>
                                  </p:childTnLst>
                                </p:cTn>
                              </p:par>
                              <p:par>
                                <p:cTn id="27" presetID="16" presetClass="entr" presetSubtype="42" fill="hold" grpId="0" nodeType="withEffect">
                                  <p:stCondLst>
                                    <p:cond delay="0"/>
                                  </p:stCondLst>
                                  <p:childTnLst>
                                    <p:set>
                                      <p:cBhvr>
                                        <p:cTn id="28" dur="1" fill="hold">
                                          <p:stCondLst>
                                            <p:cond delay="0"/>
                                          </p:stCondLst>
                                        </p:cTn>
                                        <p:tgtEl>
                                          <p:spTgt spid="257030"/>
                                        </p:tgtEl>
                                        <p:attrNameLst>
                                          <p:attrName>style.visibility</p:attrName>
                                        </p:attrNameLst>
                                      </p:cBhvr>
                                      <p:to>
                                        <p:strVal val="visible"/>
                                      </p:to>
                                    </p:set>
                                    <p:animEffect transition="in" filter="barn(outHorizontal)">
                                      <p:cBhvr>
                                        <p:cTn id="29" dur="1000"/>
                                        <p:tgtEl>
                                          <p:spTgt spid="257030"/>
                                        </p:tgtEl>
                                      </p:cBhvr>
                                    </p:animEffect>
                                  </p:childTnLst>
                                </p:cTn>
                              </p:par>
                              <p:par>
                                <p:cTn id="30" presetID="16" presetClass="entr" presetSubtype="42" fill="hold" grpId="0" nodeType="withEffect">
                                  <p:stCondLst>
                                    <p:cond delay="0"/>
                                  </p:stCondLst>
                                  <p:childTnLst>
                                    <p:set>
                                      <p:cBhvr>
                                        <p:cTn id="31" dur="1" fill="hold">
                                          <p:stCondLst>
                                            <p:cond delay="0"/>
                                          </p:stCondLst>
                                        </p:cTn>
                                        <p:tgtEl>
                                          <p:spTgt spid="257041"/>
                                        </p:tgtEl>
                                        <p:attrNameLst>
                                          <p:attrName>style.visibility</p:attrName>
                                        </p:attrNameLst>
                                      </p:cBhvr>
                                      <p:to>
                                        <p:strVal val="visible"/>
                                      </p:to>
                                    </p:set>
                                    <p:animEffect transition="in" filter="barn(outHorizontal)">
                                      <p:cBhvr>
                                        <p:cTn id="32" dur="1000"/>
                                        <p:tgtEl>
                                          <p:spTgt spid="257041"/>
                                        </p:tgtEl>
                                      </p:cBhvr>
                                    </p:animEffect>
                                  </p:childTnLst>
                                </p:cTn>
                              </p:par>
                              <p:par>
                                <p:cTn id="33" presetID="16" presetClass="entr" presetSubtype="42" fill="hold" grpId="0" nodeType="withEffect">
                                  <p:stCondLst>
                                    <p:cond delay="0"/>
                                  </p:stCondLst>
                                  <p:childTnLst>
                                    <p:set>
                                      <p:cBhvr>
                                        <p:cTn id="34" dur="1" fill="hold">
                                          <p:stCondLst>
                                            <p:cond delay="0"/>
                                          </p:stCondLst>
                                        </p:cTn>
                                        <p:tgtEl>
                                          <p:spTgt spid="257042"/>
                                        </p:tgtEl>
                                        <p:attrNameLst>
                                          <p:attrName>style.visibility</p:attrName>
                                        </p:attrNameLst>
                                      </p:cBhvr>
                                      <p:to>
                                        <p:strVal val="visible"/>
                                      </p:to>
                                    </p:set>
                                    <p:animEffect transition="in" filter="barn(outHorizontal)">
                                      <p:cBhvr>
                                        <p:cTn id="35" dur="1000"/>
                                        <p:tgtEl>
                                          <p:spTgt spid="25704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57046"/>
                                        </p:tgtEl>
                                        <p:attrNameLst>
                                          <p:attrName>style.visibility</p:attrName>
                                        </p:attrNameLst>
                                      </p:cBhvr>
                                      <p:to>
                                        <p:strVal val="visible"/>
                                      </p:to>
                                    </p:set>
                                    <p:animEffect transition="in" filter="wipe(down)">
                                      <p:cBhvr>
                                        <p:cTn id="40" dur="1000"/>
                                        <p:tgtEl>
                                          <p:spTgt spid="257046"/>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57043"/>
                                        </p:tgtEl>
                                        <p:attrNameLst>
                                          <p:attrName>style.visibility</p:attrName>
                                        </p:attrNameLst>
                                      </p:cBhvr>
                                      <p:to>
                                        <p:strVal val="visible"/>
                                      </p:to>
                                    </p:set>
                                    <p:animEffect transition="in" filter="wipe(down)">
                                      <p:cBhvr>
                                        <p:cTn id="43" dur="1000"/>
                                        <p:tgtEl>
                                          <p:spTgt spid="257043"/>
                                        </p:tgtEl>
                                      </p:cBhvr>
                                    </p:animEffect>
                                  </p:childTnLst>
                                </p:cTn>
                              </p:par>
                              <p:par>
                                <p:cTn id="44" presetID="22" presetClass="entr" presetSubtype="4" fill="hold" nodeType="withEffect">
                                  <p:stCondLst>
                                    <p:cond delay="0"/>
                                  </p:stCondLst>
                                  <p:childTnLst>
                                    <p:set>
                                      <p:cBhvr>
                                        <p:cTn id="45" dur="1" fill="hold">
                                          <p:stCondLst>
                                            <p:cond delay="0"/>
                                          </p:stCondLst>
                                        </p:cTn>
                                        <p:tgtEl>
                                          <p:spTgt spid="257047"/>
                                        </p:tgtEl>
                                        <p:attrNameLst>
                                          <p:attrName>style.visibility</p:attrName>
                                        </p:attrNameLst>
                                      </p:cBhvr>
                                      <p:to>
                                        <p:strVal val="visible"/>
                                      </p:to>
                                    </p:set>
                                    <p:animEffect transition="in" filter="wipe(down)">
                                      <p:cBhvr>
                                        <p:cTn id="46" dur="1000"/>
                                        <p:tgtEl>
                                          <p:spTgt spid="257047"/>
                                        </p:tgtEl>
                                      </p:cBhvr>
                                    </p:animEffect>
                                  </p:childTnLst>
                                </p:cTn>
                              </p:par>
                              <p:par>
                                <p:cTn id="47" presetID="22" presetClass="entr" presetSubtype="4" fill="hold" nodeType="withEffect">
                                  <p:stCondLst>
                                    <p:cond delay="0"/>
                                  </p:stCondLst>
                                  <p:childTnLst>
                                    <p:set>
                                      <p:cBhvr>
                                        <p:cTn id="48" dur="1" fill="hold">
                                          <p:stCondLst>
                                            <p:cond delay="0"/>
                                          </p:stCondLst>
                                        </p:cTn>
                                        <p:tgtEl>
                                          <p:spTgt spid="257048"/>
                                        </p:tgtEl>
                                        <p:attrNameLst>
                                          <p:attrName>style.visibility</p:attrName>
                                        </p:attrNameLst>
                                      </p:cBhvr>
                                      <p:to>
                                        <p:strVal val="visible"/>
                                      </p:to>
                                    </p:set>
                                    <p:animEffect transition="in" filter="wipe(down)">
                                      <p:cBhvr>
                                        <p:cTn id="49" dur="1000"/>
                                        <p:tgtEl>
                                          <p:spTgt spid="25704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257045"/>
                                        </p:tgtEl>
                                        <p:attrNameLst>
                                          <p:attrName>style.visibility</p:attrName>
                                        </p:attrNameLst>
                                      </p:cBhvr>
                                      <p:to>
                                        <p:strVal val="visible"/>
                                      </p:to>
                                    </p:set>
                                    <p:animEffect transition="in" filter="wipe(up)">
                                      <p:cBhvr>
                                        <p:cTn id="54" dur="1000"/>
                                        <p:tgtEl>
                                          <p:spTgt spid="257045"/>
                                        </p:tgtEl>
                                      </p:cBhvr>
                                    </p:animEffect>
                                  </p:childTnLst>
                                </p:cTn>
                              </p:par>
                              <p:par>
                                <p:cTn id="55" presetID="22" presetClass="entr" presetSubtype="1" fill="hold" nodeType="withEffect">
                                  <p:stCondLst>
                                    <p:cond delay="0"/>
                                  </p:stCondLst>
                                  <p:childTnLst>
                                    <p:set>
                                      <p:cBhvr>
                                        <p:cTn id="56" dur="1" fill="hold">
                                          <p:stCondLst>
                                            <p:cond delay="0"/>
                                          </p:stCondLst>
                                        </p:cTn>
                                        <p:tgtEl>
                                          <p:spTgt spid="257049"/>
                                        </p:tgtEl>
                                        <p:attrNameLst>
                                          <p:attrName>style.visibility</p:attrName>
                                        </p:attrNameLst>
                                      </p:cBhvr>
                                      <p:to>
                                        <p:strVal val="visible"/>
                                      </p:to>
                                    </p:set>
                                    <p:animEffect transition="in" filter="wipe(up)">
                                      <p:cBhvr>
                                        <p:cTn id="57" dur="1000"/>
                                        <p:tgtEl>
                                          <p:spTgt spid="257049"/>
                                        </p:tgtEl>
                                      </p:cBhvr>
                                    </p:animEffect>
                                  </p:childTnLst>
                                </p:cTn>
                              </p:par>
                              <p:par>
                                <p:cTn id="58" presetID="22" presetClass="entr" presetSubtype="1" fill="hold" nodeType="withEffect">
                                  <p:stCondLst>
                                    <p:cond delay="0"/>
                                  </p:stCondLst>
                                  <p:childTnLst>
                                    <p:set>
                                      <p:cBhvr>
                                        <p:cTn id="59" dur="1" fill="hold">
                                          <p:stCondLst>
                                            <p:cond delay="0"/>
                                          </p:stCondLst>
                                        </p:cTn>
                                        <p:tgtEl>
                                          <p:spTgt spid="257050"/>
                                        </p:tgtEl>
                                        <p:attrNameLst>
                                          <p:attrName>style.visibility</p:attrName>
                                        </p:attrNameLst>
                                      </p:cBhvr>
                                      <p:to>
                                        <p:strVal val="visible"/>
                                      </p:to>
                                    </p:set>
                                    <p:animEffect transition="in" filter="wipe(up)">
                                      <p:cBhvr>
                                        <p:cTn id="60" dur="1000"/>
                                        <p:tgtEl>
                                          <p:spTgt spid="257050"/>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257044"/>
                                        </p:tgtEl>
                                        <p:attrNameLst>
                                          <p:attrName>style.visibility</p:attrName>
                                        </p:attrNameLst>
                                      </p:cBhvr>
                                      <p:to>
                                        <p:strVal val="visible"/>
                                      </p:to>
                                    </p:set>
                                    <p:animEffect transition="in" filter="wipe(up)">
                                      <p:cBhvr>
                                        <p:cTn id="63" dur="1000"/>
                                        <p:tgtEl>
                                          <p:spTgt spid="257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9" grpId="0" animBg="1"/>
      <p:bldP spid="257030" grpId="0" animBg="1"/>
      <p:bldP spid="257034" grpId="0" animBg="1"/>
      <p:bldP spid="257035" grpId="0" animBg="1"/>
      <p:bldP spid="257036" grpId="0"/>
      <p:bldP spid="257038" grpId="0"/>
      <p:bldP spid="257040" grpId="0"/>
      <p:bldP spid="257041" grpId="0"/>
      <p:bldP spid="257042" grpId="0" animBg="1"/>
      <p:bldP spid="257043" grpId="0"/>
      <p:bldP spid="257044" grpId="0"/>
      <p:bldP spid="257045" grpId="0" animBg="1"/>
      <p:bldP spid="25704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AutoShape 5"/>
          <p:cNvSpPr/>
          <p:nvPr/>
        </p:nvSpPr>
        <p:spPr>
          <a:xfrm>
            <a:off x="1331913" y="1744663"/>
            <a:ext cx="7632700" cy="4276725"/>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3314" name="AutoShape 6"/>
          <p:cNvSpPr/>
          <p:nvPr/>
        </p:nvSpPr>
        <p:spPr>
          <a:xfrm>
            <a:off x="179388" y="1773238"/>
            <a:ext cx="1152525" cy="1008062"/>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3315" name="Text Box 7"/>
          <p:cNvSpPr txBox="1"/>
          <p:nvPr/>
        </p:nvSpPr>
        <p:spPr>
          <a:xfrm>
            <a:off x="-754062" y="1820863"/>
            <a:ext cx="2117725" cy="70643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solidFill>
                  <a:srgbClr val="F8F8F8"/>
                </a:solidFill>
                <a:latin typeface="Helvetica" pitchFamily="34" charset="0"/>
                <a:ea typeface="宋体" panose="02010600030101010101" pitchFamily="2" charset="-122"/>
              </a:rPr>
              <a:t>定义</a:t>
            </a:r>
          </a:p>
        </p:txBody>
      </p:sp>
      <p:sp>
        <p:nvSpPr>
          <p:cNvPr id="13316" name="Rectangle 8"/>
          <p:cNvSpPr/>
          <p:nvPr/>
        </p:nvSpPr>
        <p:spPr>
          <a:xfrm>
            <a:off x="-609600" y="1044575"/>
            <a:ext cx="3440113" cy="52228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800" b="1" dirty="0">
                <a:latin typeface="Helvetica" pitchFamily="34" charset="0"/>
                <a:ea typeface="宋体" panose="02010600030101010101" pitchFamily="2" charset="-122"/>
              </a:rPr>
              <a:t>（</a:t>
            </a:r>
            <a:r>
              <a:rPr lang="en-US" altLang="zh-CN" sz="2800" b="1" dirty="0">
                <a:latin typeface="Helvetica" pitchFamily="34" charset="0"/>
                <a:ea typeface="宋体" panose="02010600030101010101" pitchFamily="2" charset="-122"/>
              </a:rPr>
              <a:t>3</a:t>
            </a:r>
            <a:r>
              <a:rPr lang="zh-CN" altLang="en-US" sz="2800" b="1" dirty="0">
                <a:latin typeface="Helvetica" pitchFamily="34" charset="0"/>
                <a:ea typeface="宋体" panose="02010600030101010101" pitchFamily="2" charset="-122"/>
              </a:rPr>
              <a:t>）电气特性</a:t>
            </a:r>
          </a:p>
        </p:txBody>
      </p:sp>
      <p:sp>
        <p:nvSpPr>
          <p:cNvPr id="13317" name="Rectangle 9"/>
          <p:cNvSpPr/>
          <p:nvPr/>
        </p:nvSpPr>
        <p:spPr>
          <a:xfrm>
            <a:off x="801688" y="1819275"/>
            <a:ext cx="8334375" cy="533400"/>
          </a:xfrm>
          <a:prstGeom prst="rect">
            <a:avLst/>
          </a:prstGeom>
          <a:noFill/>
          <a:ln w="3175">
            <a:noFill/>
          </a:ln>
        </p:spPr>
        <p:txBody>
          <a:bodyPr wrap="none" anchor="t" anchorCtr="0">
            <a:spAutoFit/>
          </a:bodyPr>
          <a:lstStyle/>
          <a:p>
            <a:pPr marL="1143000" indent="-228600" eaLnBrk="0" hangingPunct="0">
              <a:lnSpc>
                <a:spcPct val="120000"/>
              </a:lnSpc>
              <a:buClr>
                <a:schemeClr val="tx2"/>
              </a:buClr>
              <a:buSzPct val="90000"/>
              <a:buFont typeface="Monotype Sorts" pitchFamily="2" charset="2"/>
            </a:pPr>
            <a:r>
              <a:rPr lang="zh-CN" altLang="en-US" sz="2400" b="1" dirty="0">
                <a:solidFill>
                  <a:srgbClr val="FF0000"/>
                </a:solidFill>
                <a:latin typeface="Helvetica" pitchFamily="34" charset="0"/>
                <a:ea typeface="宋体" panose="02010600030101010101" pitchFamily="2" charset="-122"/>
              </a:rPr>
              <a:t>电气特性</a:t>
            </a:r>
            <a:r>
              <a:rPr lang="zh-CN" altLang="en-US" sz="2000" b="1" dirty="0">
                <a:latin typeface="Helvetica" pitchFamily="34" charset="0"/>
                <a:ea typeface="宋体" panose="02010600030101010101" pitchFamily="2" charset="-122"/>
              </a:rPr>
              <a:t>定义每根传输线上信号的</a:t>
            </a:r>
            <a:r>
              <a:rPr lang="zh-CN" altLang="en-US" sz="2000" b="1" u="sng" dirty="0">
                <a:solidFill>
                  <a:srgbClr val="0000FF"/>
                </a:solidFill>
                <a:latin typeface="Helvetica" pitchFamily="34" charset="0"/>
                <a:ea typeface="宋体" panose="02010600030101010101" pitchFamily="2" charset="-122"/>
              </a:rPr>
              <a:t>传递方向</a:t>
            </a:r>
            <a:r>
              <a:rPr lang="zh-CN" altLang="en-US" sz="2000" b="1" dirty="0">
                <a:latin typeface="Helvetica" pitchFamily="34" charset="0"/>
                <a:ea typeface="宋体" panose="02010600030101010101" pitchFamily="2" charset="-122"/>
              </a:rPr>
              <a:t>和</a:t>
            </a:r>
            <a:r>
              <a:rPr lang="zh-CN" altLang="en-US" sz="2000" b="1" u="sng" dirty="0">
                <a:solidFill>
                  <a:srgbClr val="0000FF"/>
                </a:solidFill>
                <a:latin typeface="Helvetica" pitchFamily="34" charset="0"/>
                <a:ea typeface="宋体" panose="02010600030101010101" pitchFamily="2" charset="-122"/>
              </a:rPr>
              <a:t>有效电平范围</a:t>
            </a:r>
            <a:r>
              <a:rPr lang="zh-CN" altLang="en-US" sz="2000" b="1" dirty="0">
                <a:latin typeface="Helvetica" pitchFamily="34" charset="0"/>
                <a:ea typeface="宋体" panose="02010600030101010101" pitchFamily="2" charset="-122"/>
              </a:rPr>
              <a:t>。  </a:t>
            </a:r>
          </a:p>
        </p:txBody>
      </p:sp>
      <p:sp>
        <p:nvSpPr>
          <p:cNvPr id="13318" name="Text Box 10"/>
          <p:cNvSpPr txBox="1"/>
          <p:nvPr/>
        </p:nvSpPr>
        <p:spPr>
          <a:xfrm>
            <a:off x="-685800" y="230188"/>
            <a:ext cx="2366963" cy="52228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800" b="1" dirty="0">
                <a:latin typeface="Helvetica" pitchFamily="34" charset="0"/>
                <a:ea typeface="宋体" panose="02010600030101010101" pitchFamily="2" charset="-122"/>
              </a:rPr>
              <a:t>2</a:t>
            </a:r>
            <a:r>
              <a:rPr lang="zh-CN" altLang="en-US" sz="2800" b="1" dirty="0">
                <a:latin typeface="Helvetica" pitchFamily="34" charset="0"/>
                <a:ea typeface="宋体" panose="02010600030101010101" pitchFamily="2" charset="-122"/>
              </a:rPr>
              <a:t>、特性</a:t>
            </a:r>
          </a:p>
        </p:txBody>
      </p:sp>
      <p:sp>
        <p:nvSpPr>
          <p:cNvPr id="13319" name="Rectangle 4"/>
          <p:cNvSpPr/>
          <p:nvPr/>
        </p:nvSpPr>
        <p:spPr>
          <a:xfrm>
            <a:off x="228600" y="685800"/>
            <a:ext cx="7991475" cy="503238"/>
          </a:xfrm>
          <a:prstGeom prst="rect">
            <a:avLst/>
          </a:prstGeom>
          <a:noFill/>
          <a:ln w="9525">
            <a:noFill/>
          </a:ln>
        </p:spPr>
        <p:txBody>
          <a:bodyPr anchor="t" anchorCtr="0"/>
          <a:lstStyle/>
          <a:p>
            <a:pPr marL="342900" indent="-342900" eaLnBrk="0" hangingPunct="0">
              <a:lnSpc>
                <a:spcPct val="120000"/>
              </a:lnSpc>
              <a:buClr>
                <a:srgbClr val="0000FF"/>
              </a:buClr>
              <a:buSzPct val="90000"/>
              <a:buFont typeface="Monotype Sorts" pitchFamily="2" charset="2"/>
              <a:buChar char="@"/>
            </a:pPr>
            <a:r>
              <a:rPr lang="zh-CN" altLang="en-US" sz="2000" b="1" dirty="0">
                <a:latin typeface="Times New Roman" panose="02020603050405020304" pitchFamily="18" charset="0"/>
                <a:ea typeface="宋体" panose="02010600030101010101" pitchFamily="2" charset="-122"/>
              </a:rPr>
              <a:t>总线具有以下</a:t>
            </a:r>
            <a:r>
              <a:rPr lang="en-US" altLang="zh-CN" sz="2000" b="1" dirty="0">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方面特性： </a:t>
            </a:r>
          </a:p>
        </p:txBody>
      </p:sp>
      <p:sp>
        <p:nvSpPr>
          <p:cNvPr id="258060" name="Rectangle 12"/>
          <p:cNvSpPr/>
          <p:nvPr/>
        </p:nvSpPr>
        <p:spPr>
          <a:xfrm>
            <a:off x="827088" y="2478088"/>
            <a:ext cx="7046912" cy="1230312"/>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Monotype Sorts" pitchFamily="2" charset="2"/>
              <a:buChar char="@"/>
            </a:pPr>
            <a:r>
              <a:rPr lang="zh-CN" altLang="en-US" sz="2000" b="1" dirty="0">
                <a:latin typeface="Helvetica" pitchFamily="34" charset="0"/>
                <a:ea typeface="宋体" panose="02010600030101010101" pitchFamily="2" charset="-122"/>
              </a:rPr>
              <a:t>通常规定：</a:t>
            </a:r>
          </a:p>
          <a:p>
            <a:pPr marL="1143000" indent="-228600" eaLnBrk="0" hangingPunct="0">
              <a:spcBef>
                <a:spcPct val="35000"/>
              </a:spcBef>
              <a:buClr>
                <a:srgbClr val="000099"/>
              </a:buClr>
              <a:buSzPct val="85000"/>
              <a:buFont typeface="Monotype Sorts"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①</a:t>
            </a:r>
            <a:r>
              <a:rPr lang="zh-CN" altLang="en-US" sz="2000" b="1" dirty="0">
                <a:solidFill>
                  <a:srgbClr val="FF0000"/>
                </a:solidFill>
                <a:latin typeface="Helvetica" pitchFamily="34" charset="0"/>
                <a:ea typeface="宋体" panose="02010600030101010101" pitchFamily="2" charset="-122"/>
              </a:rPr>
              <a:t>送入</a:t>
            </a:r>
            <a:r>
              <a:rPr lang="zh-CN" altLang="en-US" sz="2000" b="1" dirty="0">
                <a:latin typeface="Helvetica" pitchFamily="34" charset="0"/>
                <a:ea typeface="宋体" panose="02010600030101010101" pitchFamily="2" charset="-122"/>
              </a:rPr>
              <a:t>微处理器的信号为输入信号</a:t>
            </a:r>
            <a:r>
              <a:rPr lang="zh-CN" altLang="en-US" sz="2000" b="1" dirty="0">
                <a:solidFill>
                  <a:srgbClr val="FF0000"/>
                </a:solidFill>
                <a:latin typeface="Helvetica" pitchFamily="34" charset="0"/>
                <a:ea typeface="宋体" panose="02010600030101010101" pitchFamily="2" charset="-122"/>
              </a:rPr>
              <a:t>（</a:t>
            </a:r>
            <a:r>
              <a:rPr lang="en-US" altLang="zh-CN" sz="2000" b="1" dirty="0">
                <a:solidFill>
                  <a:srgbClr val="FF0000"/>
                </a:solidFill>
                <a:latin typeface="Helvetica" pitchFamily="34" charset="0"/>
                <a:ea typeface="宋体" panose="02010600030101010101" pitchFamily="2" charset="-122"/>
              </a:rPr>
              <a:t>IN</a:t>
            </a:r>
            <a:r>
              <a:rPr lang="zh-CN" altLang="en-US" sz="2000" b="1" dirty="0">
                <a:solidFill>
                  <a:srgbClr val="FF0000"/>
                </a:solidFill>
                <a:latin typeface="Helvetica" pitchFamily="34" charset="0"/>
                <a:ea typeface="宋体" panose="02010600030101010101" pitchFamily="2" charset="-122"/>
              </a:rPr>
              <a:t>）</a:t>
            </a:r>
            <a:r>
              <a:rPr lang="zh-CN" altLang="en-US" sz="2000" b="1" dirty="0">
                <a:latin typeface="Helvetica" pitchFamily="34" charset="0"/>
                <a:ea typeface="宋体" panose="02010600030101010101" pitchFamily="2" charset="-122"/>
              </a:rPr>
              <a:t>，</a:t>
            </a:r>
          </a:p>
          <a:p>
            <a:pPr marL="1143000" indent="-228600" eaLnBrk="0" hangingPunct="0">
              <a:spcBef>
                <a:spcPct val="35000"/>
              </a:spcBef>
              <a:buClr>
                <a:srgbClr val="000099"/>
              </a:buClr>
              <a:buSzPct val="85000"/>
              <a:buFont typeface="Monotype Sorts"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②</a:t>
            </a:r>
            <a:r>
              <a:rPr lang="zh-CN" altLang="en-US" sz="2000" b="1" dirty="0">
                <a:latin typeface="Helvetica" pitchFamily="34" charset="0"/>
                <a:ea typeface="宋体" panose="02010600030101010101" pitchFamily="2" charset="-122"/>
              </a:rPr>
              <a:t>从微处理器</a:t>
            </a:r>
            <a:r>
              <a:rPr lang="zh-CN" altLang="en-US" sz="2000" b="1" dirty="0">
                <a:solidFill>
                  <a:srgbClr val="FF0000"/>
                </a:solidFill>
                <a:latin typeface="Helvetica" pitchFamily="34" charset="0"/>
                <a:ea typeface="宋体" panose="02010600030101010101" pitchFamily="2" charset="-122"/>
              </a:rPr>
              <a:t>发出</a:t>
            </a:r>
            <a:r>
              <a:rPr lang="zh-CN" altLang="en-US" sz="2000" b="1" dirty="0">
                <a:latin typeface="Helvetica" pitchFamily="34" charset="0"/>
                <a:ea typeface="宋体" panose="02010600030101010101" pitchFamily="2" charset="-122"/>
              </a:rPr>
              <a:t>的信号为输出信号</a:t>
            </a:r>
            <a:r>
              <a:rPr lang="zh-CN" altLang="en-US" sz="2000" b="1" dirty="0">
                <a:solidFill>
                  <a:srgbClr val="FF0000"/>
                </a:solidFill>
                <a:latin typeface="Helvetica" pitchFamily="34" charset="0"/>
                <a:ea typeface="宋体" panose="02010600030101010101" pitchFamily="2" charset="-122"/>
              </a:rPr>
              <a:t>（</a:t>
            </a:r>
            <a:r>
              <a:rPr lang="en-US" altLang="zh-CN" sz="2000" b="1" dirty="0">
                <a:solidFill>
                  <a:srgbClr val="FF0000"/>
                </a:solidFill>
                <a:latin typeface="Helvetica" pitchFamily="34" charset="0"/>
                <a:ea typeface="宋体" panose="02010600030101010101" pitchFamily="2" charset="-122"/>
              </a:rPr>
              <a:t>OUT</a:t>
            </a:r>
            <a:r>
              <a:rPr lang="zh-CN" altLang="en-US" sz="2000" b="1" dirty="0">
                <a:solidFill>
                  <a:srgbClr val="FF0000"/>
                </a:solidFill>
                <a:latin typeface="Helvetica" pitchFamily="34" charset="0"/>
                <a:ea typeface="宋体" panose="02010600030101010101" pitchFamily="2" charset="-122"/>
              </a:rPr>
              <a:t>）</a:t>
            </a:r>
            <a:r>
              <a:rPr lang="zh-CN" altLang="en-US" sz="2000" b="1" dirty="0">
                <a:latin typeface="Helvetica" pitchFamily="34" charset="0"/>
                <a:ea typeface="宋体" panose="02010600030101010101" pitchFamily="2" charset="-122"/>
              </a:rPr>
              <a:t>。</a:t>
            </a:r>
          </a:p>
        </p:txBody>
      </p:sp>
      <p:sp>
        <p:nvSpPr>
          <p:cNvPr id="258061" name="Rectangle 13"/>
          <p:cNvSpPr/>
          <p:nvPr/>
        </p:nvSpPr>
        <p:spPr>
          <a:xfrm>
            <a:off x="2200275" y="4000500"/>
            <a:ext cx="4097338" cy="460375"/>
          </a:xfrm>
          <a:prstGeom prst="rect">
            <a:avLst/>
          </a:prstGeom>
          <a:noFill/>
          <a:ln w="3175">
            <a:noFill/>
          </a:ln>
        </p:spPr>
        <p:txBody>
          <a:bodyPr wrap="none" anchor="t" anchorCtr="0">
            <a:spAutoFit/>
          </a:bodyPr>
          <a:lstStyle/>
          <a:p>
            <a:pPr marL="1143000" indent="-228600" eaLnBrk="0" hangingPunct="0">
              <a:spcBef>
                <a:spcPct val="35000"/>
              </a:spcBef>
              <a:buClr>
                <a:schemeClr val="tx2"/>
              </a:buClr>
              <a:buSzPct val="85000"/>
              <a:buFont typeface="Wingdings" panose="05000000000000000000" pitchFamily="2" charset="2"/>
              <a:buChar char="F"/>
            </a:pPr>
            <a:r>
              <a:rPr lang="zh-CN" altLang="en-US" sz="2400" b="1" dirty="0">
                <a:solidFill>
                  <a:srgbClr val="FF0000"/>
                </a:solidFill>
                <a:latin typeface="Helvetica" pitchFamily="34" charset="0"/>
                <a:ea typeface="宋体" panose="02010600030101010101" pitchFamily="2" charset="-122"/>
              </a:rPr>
              <a:t>地址总线</a:t>
            </a:r>
            <a:r>
              <a:rPr lang="zh-CN" altLang="en-US" sz="2000" b="1" dirty="0">
                <a:latin typeface="Helvetica" pitchFamily="34" charset="0"/>
                <a:ea typeface="宋体" panose="02010600030101010101" pitchFamily="2" charset="-122"/>
              </a:rPr>
              <a:t>为</a:t>
            </a:r>
            <a:r>
              <a:rPr lang="zh-CN" altLang="en-US" sz="2000" b="1" dirty="0">
                <a:solidFill>
                  <a:srgbClr val="0000FF"/>
                </a:solidFill>
                <a:latin typeface="Helvetica" pitchFamily="34" charset="0"/>
                <a:ea typeface="宋体" panose="02010600030101010101" pitchFamily="2" charset="-122"/>
              </a:rPr>
              <a:t>输出</a:t>
            </a:r>
            <a:r>
              <a:rPr lang="zh-CN" altLang="en-US" sz="2000" b="1" dirty="0">
                <a:latin typeface="Helvetica" pitchFamily="34" charset="0"/>
                <a:ea typeface="宋体" panose="02010600030101010101" pitchFamily="2" charset="-122"/>
              </a:rPr>
              <a:t>信号线</a:t>
            </a:r>
          </a:p>
        </p:txBody>
      </p:sp>
      <p:sp>
        <p:nvSpPr>
          <p:cNvPr id="258062" name="Rectangle 14"/>
          <p:cNvSpPr/>
          <p:nvPr/>
        </p:nvSpPr>
        <p:spPr>
          <a:xfrm>
            <a:off x="2200275" y="4432300"/>
            <a:ext cx="4097338" cy="460375"/>
          </a:xfrm>
          <a:prstGeom prst="rect">
            <a:avLst/>
          </a:prstGeom>
          <a:noFill/>
          <a:ln w="3175">
            <a:noFill/>
          </a:ln>
        </p:spPr>
        <p:txBody>
          <a:bodyPr wrap="none" anchor="t" anchorCtr="0">
            <a:spAutoFit/>
          </a:bodyPr>
          <a:lstStyle/>
          <a:p>
            <a:pPr marL="1143000" indent="-228600" eaLnBrk="0" hangingPunct="0">
              <a:spcBef>
                <a:spcPct val="35000"/>
              </a:spcBef>
              <a:buClr>
                <a:schemeClr val="tx2"/>
              </a:buClr>
              <a:buSzPct val="85000"/>
              <a:buFont typeface="Wingdings" panose="05000000000000000000" pitchFamily="2" charset="2"/>
              <a:buChar char="F"/>
            </a:pPr>
            <a:r>
              <a:rPr lang="zh-CN" altLang="en-US" sz="2400" b="1" dirty="0">
                <a:solidFill>
                  <a:srgbClr val="FF0000"/>
                </a:solidFill>
                <a:latin typeface="Helvetica" pitchFamily="34" charset="0"/>
                <a:ea typeface="宋体" panose="02010600030101010101" pitchFamily="2" charset="-122"/>
              </a:rPr>
              <a:t>数据总线</a:t>
            </a:r>
            <a:r>
              <a:rPr lang="zh-CN" altLang="en-US" sz="2000" b="1" dirty="0">
                <a:latin typeface="Helvetica" pitchFamily="34" charset="0"/>
                <a:ea typeface="宋体" panose="02010600030101010101" pitchFamily="2" charset="-122"/>
              </a:rPr>
              <a:t>为</a:t>
            </a:r>
            <a:r>
              <a:rPr lang="zh-CN" altLang="en-US" sz="2000" b="1" dirty="0">
                <a:solidFill>
                  <a:srgbClr val="0000FF"/>
                </a:solidFill>
                <a:latin typeface="Helvetica" pitchFamily="34" charset="0"/>
                <a:ea typeface="宋体" panose="02010600030101010101" pitchFamily="2" charset="-122"/>
              </a:rPr>
              <a:t>双向</a:t>
            </a:r>
            <a:r>
              <a:rPr lang="zh-CN" altLang="en-US" sz="2000" b="1" dirty="0">
                <a:latin typeface="Helvetica" pitchFamily="34" charset="0"/>
                <a:ea typeface="宋体" panose="02010600030101010101" pitchFamily="2" charset="-122"/>
              </a:rPr>
              <a:t>信号线</a:t>
            </a:r>
          </a:p>
        </p:txBody>
      </p:sp>
      <p:sp>
        <p:nvSpPr>
          <p:cNvPr id="258063" name="Rectangle 15"/>
          <p:cNvSpPr/>
          <p:nvPr/>
        </p:nvSpPr>
        <p:spPr>
          <a:xfrm>
            <a:off x="2200275" y="4937125"/>
            <a:ext cx="6905625" cy="876300"/>
          </a:xfrm>
          <a:prstGeom prst="rect">
            <a:avLst/>
          </a:prstGeom>
          <a:noFill/>
          <a:ln w="3175">
            <a:noFill/>
          </a:ln>
        </p:spPr>
        <p:txBody>
          <a:bodyPr wrap="none" anchor="t" anchorCtr="0">
            <a:spAutoFit/>
          </a:bodyPr>
          <a:lstStyle/>
          <a:p>
            <a:pPr marL="1143000" indent="-228600" eaLnBrk="0" hangingPunct="0">
              <a:spcBef>
                <a:spcPct val="35000"/>
              </a:spcBef>
              <a:buClr>
                <a:schemeClr val="tx2"/>
              </a:buClr>
              <a:buSzPct val="85000"/>
              <a:buFont typeface="Wingdings" panose="05000000000000000000" pitchFamily="2" charset="2"/>
              <a:buChar char="F"/>
            </a:pPr>
            <a:r>
              <a:rPr lang="zh-CN" altLang="en-US" sz="2400" b="1" dirty="0">
                <a:solidFill>
                  <a:srgbClr val="FF0000"/>
                </a:solidFill>
                <a:latin typeface="Helvetica" pitchFamily="34" charset="0"/>
                <a:ea typeface="宋体" panose="02010600030101010101" pitchFamily="2" charset="-122"/>
              </a:rPr>
              <a:t>控制总线</a:t>
            </a:r>
            <a:r>
              <a:rPr lang="zh-CN" altLang="en-US" sz="2000" b="1" dirty="0">
                <a:latin typeface="Helvetica" pitchFamily="34" charset="0"/>
                <a:ea typeface="宋体" panose="02010600030101010101" pitchFamily="2" charset="-122"/>
              </a:rPr>
              <a:t>中既有</a:t>
            </a:r>
            <a:r>
              <a:rPr lang="zh-CN" altLang="en-US" sz="2000" b="1" dirty="0">
                <a:solidFill>
                  <a:srgbClr val="0000FF"/>
                </a:solidFill>
                <a:latin typeface="Helvetica" pitchFamily="34" charset="0"/>
                <a:ea typeface="宋体" panose="02010600030101010101" pitchFamily="2" charset="-122"/>
              </a:rPr>
              <a:t>输出</a:t>
            </a:r>
            <a:r>
              <a:rPr lang="zh-CN" altLang="en-US" sz="2000" b="1" dirty="0">
                <a:latin typeface="Helvetica" pitchFamily="34" charset="0"/>
                <a:ea typeface="宋体" panose="02010600030101010101" pitchFamily="2" charset="-122"/>
              </a:rPr>
              <a:t>信号线，又有</a:t>
            </a:r>
            <a:r>
              <a:rPr lang="zh-CN" altLang="en-US" sz="2000" b="1" dirty="0">
                <a:solidFill>
                  <a:srgbClr val="0000FF"/>
                </a:solidFill>
                <a:latin typeface="Helvetica" pitchFamily="34" charset="0"/>
                <a:ea typeface="宋体" panose="02010600030101010101" pitchFamily="2" charset="-122"/>
              </a:rPr>
              <a:t>输入</a:t>
            </a:r>
            <a:r>
              <a:rPr lang="zh-CN" altLang="en-US" sz="2000" b="1" dirty="0">
                <a:latin typeface="Helvetica" pitchFamily="34" charset="0"/>
                <a:ea typeface="宋体" panose="02010600030101010101" pitchFamily="2" charset="-122"/>
              </a:rPr>
              <a:t>信号线，</a:t>
            </a:r>
          </a:p>
          <a:p>
            <a:pPr marL="1143000" indent="-228600" eaLnBrk="0" hangingPunct="0">
              <a:spcBef>
                <a:spcPct val="35000"/>
              </a:spcBef>
              <a:buClr>
                <a:schemeClr val="tx2"/>
              </a:buClr>
              <a:buSzPct val="85000"/>
              <a:buFont typeface="Wingdings" panose="05000000000000000000" pitchFamily="2" charset="2"/>
            </a:pPr>
            <a:r>
              <a:rPr lang="zh-CN" altLang="en-US" sz="2000" b="1" dirty="0">
                <a:latin typeface="Helvetica" pitchFamily="34" charset="0"/>
                <a:ea typeface="宋体" panose="02010600030101010101" pitchFamily="2" charset="-122"/>
              </a:rPr>
              <a:t>                     但都是单向的</a:t>
            </a:r>
          </a:p>
        </p:txBody>
      </p:sp>
      <p:sp>
        <p:nvSpPr>
          <p:cNvPr id="258064" name="Rectangle 16"/>
          <p:cNvSpPr/>
          <p:nvPr/>
        </p:nvSpPr>
        <p:spPr>
          <a:xfrm>
            <a:off x="3135313" y="4073525"/>
            <a:ext cx="5761037" cy="1727200"/>
          </a:xfrm>
          <a:prstGeom prst="rect">
            <a:avLst/>
          </a:prstGeom>
          <a:noFill/>
          <a:ln w="3175"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8065" name="AutoShape 17"/>
          <p:cNvSpPr/>
          <p:nvPr/>
        </p:nvSpPr>
        <p:spPr>
          <a:xfrm>
            <a:off x="1403350" y="4005263"/>
            <a:ext cx="1728788" cy="1728787"/>
          </a:xfrm>
          <a:custGeom>
            <a:avLst/>
            <a:gdLst/>
            <a:ahLst/>
            <a:cxnLst>
              <a:cxn ang="17694720">
                <a:pos x="2147483647" y="0"/>
              </a:cxn>
              <a:cxn ang="11796480">
                <a:pos x="0" y="2147483647"/>
              </a:cxn>
              <a:cxn ang="5898240">
                <a:pos x="2147483647" y="2147483647"/>
              </a:cxn>
              <a:cxn ang="0">
                <a:pos x="2147483647" y="2147483647"/>
              </a:cxn>
            </a:cxnLst>
            <a:rect l="0" t="0" r="0" b="0"/>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8000"/>
          </a:solidFill>
          <a:ln w="3175">
            <a:noFill/>
          </a:ln>
        </p:spPr>
        <p:txBody>
          <a:bodyPr/>
          <a:lstStyle/>
          <a:p>
            <a:endParaRPr lang="zh-CN" altLang="en-US"/>
          </a:p>
        </p:txBody>
      </p:sp>
      <p:sp>
        <p:nvSpPr>
          <p:cNvPr id="258066" name="Rectangle 18"/>
          <p:cNvSpPr/>
          <p:nvPr/>
        </p:nvSpPr>
        <p:spPr>
          <a:xfrm>
            <a:off x="395288" y="4365625"/>
            <a:ext cx="2695575" cy="936625"/>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5500" b="1" dirty="0">
                <a:solidFill>
                  <a:srgbClr val="FF0000"/>
                </a:solidFill>
                <a:latin typeface="Helvetica" pitchFamily="34" charset="0"/>
                <a:ea typeface="宋体" panose="02010600030101010101" pitchFamily="2" charset="-122"/>
              </a:rPr>
              <a:t> </a:t>
            </a:r>
            <a:r>
              <a:rPr lang="zh-CN" altLang="en-US" sz="5500" b="1" dirty="0">
                <a:solidFill>
                  <a:srgbClr val="FF0000"/>
                </a:solidFill>
                <a:latin typeface="Helvetica" pitchFamily="34" charset="0"/>
                <a:ea typeface="宋体" panose="02010600030101010101" pitchFamily="2" charset="-122"/>
              </a:rPr>
              <a:t>例如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8060"/>
                                        </p:tgtEl>
                                        <p:attrNameLst>
                                          <p:attrName>style.visibility</p:attrName>
                                        </p:attrNameLst>
                                      </p:cBhvr>
                                      <p:to>
                                        <p:strVal val="visible"/>
                                      </p:to>
                                    </p:set>
                                    <p:animEffect transition="in" filter="dissolve">
                                      <p:cBhvr>
                                        <p:cTn id="7" dur="500"/>
                                        <p:tgtEl>
                                          <p:spTgt spid="2580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8061"/>
                                        </p:tgtEl>
                                        <p:attrNameLst>
                                          <p:attrName>style.visibility</p:attrName>
                                        </p:attrNameLst>
                                      </p:cBhvr>
                                      <p:to>
                                        <p:strVal val="visible"/>
                                      </p:to>
                                    </p:set>
                                    <p:animEffect transition="in" filter="wipe(left)">
                                      <p:cBhvr>
                                        <p:cTn id="12" dur="1000"/>
                                        <p:tgtEl>
                                          <p:spTgt spid="25806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58062"/>
                                        </p:tgtEl>
                                        <p:attrNameLst>
                                          <p:attrName>style.visibility</p:attrName>
                                        </p:attrNameLst>
                                      </p:cBhvr>
                                      <p:to>
                                        <p:strVal val="visible"/>
                                      </p:to>
                                    </p:set>
                                    <p:animEffect transition="in" filter="wipe(left)">
                                      <p:cBhvr>
                                        <p:cTn id="15" dur="1000"/>
                                        <p:tgtEl>
                                          <p:spTgt spid="25806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58063"/>
                                        </p:tgtEl>
                                        <p:attrNameLst>
                                          <p:attrName>style.visibility</p:attrName>
                                        </p:attrNameLst>
                                      </p:cBhvr>
                                      <p:to>
                                        <p:strVal val="visible"/>
                                      </p:to>
                                    </p:set>
                                    <p:animEffect transition="in" filter="wipe(left)">
                                      <p:cBhvr>
                                        <p:cTn id="18" dur="1000"/>
                                        <p:tgtEl>
                                          <p:spTgt spid="25806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58064"/>
                                        </p:tgtEl>
                                        <p:attrNameLst>
                                          <p:attrName>style.visibility</p:attrName>
                                        </p:attrNameLst>
                                      </p:cBhvr>
                                      <p:to>
                                        <p:strVal val="visible"/>
                                      </p:to>
                                    </p:set>
                                    <p:animEffect transition="in" filter="wipe(left)">
                                      <p:cBhvr>
                                        <p:cTn id="21" dur="1000"/>
                                        <p:tgtEl>
                                          <p:spTgt spid="258064"/>
                                        </p:tgtEl>
                                      </p:cBhvr>
                                    </p:animEffect>
                                  </p:childTnLst>
                                </p:cTn>
                              </p:par>
                              <p:par>
                                <p:cTn id="22" presetID="22" presetClass="entr" presetSubtype="8" fill="hold" nodeType="withEffect">
                                  <p:stCondLst>
                                    <p:cond delay="0"/>
                                  </p:stCondLst>
                                  <p:childTnLst>
                                    <p:set>
                                      <p:cBhvr>
                                        <p:cTn id="23" dur="1" fill="hold">
                                          <p:stCondLst>
                                            <p:cond delay="0"/>
                                          </p:stCondLst>
                                        </p:cTn>
                                        <p:tgtEl>
                                          <p:spTgt spid="258065"/>
                                        </p:tgtEl>
                                        <p:attrNameLst>
                                          <p:attrName>style.visibility</p:attrName>
                                        </p:attrNameLst>
                                      </p:cBhvr>
                                      <p:to>
                                        <p:strVal val="visible"/>
                                      </p:to>
                                    </p:set>
                                    <p:animEffect transition="in" filter="wipe(left)">
                                      <p:cBhvr>
                                        <p:cTn id="24" dur="1000"/>
                                        <p:tgtEl>
                                          <p:spTgt spid="25806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58066"/>
                                        </p:tgtEl>
                                        <p:attrNameLst>
                                          <p:attrName>style.visibility</p:attrName>
                                        </p:attrNameLst>
                                      </p:cBhvr>
                                      <p:to>
                                        <p:strVal val="visible"/>
                                      </p:to>
                                    </p:set>
                                    <p:animEffect transition="in" filter="wipe(left)">
                                      <p:cBhvr>
                                        <p:cTn id="27" dur="1000"/>
                                        <p:tgtEl>
                                          <p:spTgt spid="258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60" grpId="0"/>
      <p:bldP spid="258061" grpId="0"/>
      <p:bldP spid="258062" grpId="0"/>
      <p:bldP spid="258063" grpId="0"/>
      <p:bldP spid="258064" grpId="0" animBg="1"/>
      <p:bldP spid="25806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4"/>
          <p:cNvSpPr/>
          <p:nvPr/>
        </p:nvSpPr>
        <p:spPr>
          <a:xfrm>
            <a:off x="0" y="5949950"/>
            <a:ext cx="9144000" cy="908050"/>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077" name="AutoShape 5"/>
          <p:cNvSpPr/>
          <p:nvPr/>
        </p:nvSpPr>
        <p:spPr>
          <a:xfrm>
            <a:off x="4614863" y="4827588"/>
            <a:ext cx="1079500"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078" name="AutoShape 6"/>
          <p:cNvSpPr/>
          <p:nvPr/>
        </p:nvSpPr>
        <p:spPr>
          <a:xfrm>
            <a:off x="5364163" y="3933825"/>
            <a:ext cx="1079500"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079" name="AutoShape 7"/>
          <p:cNvSpPr/>
          <p:nvPr/>
        </p:nvSpPr>
        <p:spPr>
          <a:xfrm>
            <a:off x="3635375" y="3933825"/>
            <a:ext cx="936625"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080" name="AutoShape 8"/>
          <p:cNvSpPr/>
          <p:nvPr/>
        </p:nvSpPr>
        <p:spPr>
          <a:xfrm>
            <a:off x="7235825" y="3933825"/>
            <a:ext cx="936625"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081" name="AutoShape 9"/>
          <p:cNvSpPr/>
          <p:nvPr/>
        </p:nvSpPr>
        <p:spPr>
          <a:xfrm>
            <a:off x="2887663" y="4827588"/>
            <a:ext cx="936625"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082" name="AutoShape 10"/>
          <p:cNvSpPr/>
          <p:nvPr/>
        </p:nvSpPr>
        <p:spPr>
          <a:xfrm>
            <a:off x="6488113" y="4827588"/>
            <a:ext cx="936625"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4344" name="AutoShape 12"/>
          <p:cNvSpPr/>
          <p:nvPr/>
        </p:nvSpPr>
        <p:spPr>
          <a:xfrm>
            <a:off x="1331913" y="1744663"/>
            <a:ext cx="7632700" cy="4924425"/>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4345" name="AutoShape 13"/>
          <p:cNvSpPr/>
          <p:nvPr/>
        </p:nvSpPr>
        <p:spPr>
          <a:xfrm>
            <a:off x="179388" y="1773238"/>
            <a:ext cx="1152525" cy="1008062"/>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4346" name="Text Box 14"/>
          <p:cNvSpPr txBox="1"/>
          <p:nvPr/>
        </p:nvSpPr>
        <p:spPr>
          <a:xfrm>
            <a:off x="-754062" y="1820863"/>
            <a:ext cx="2117725" cy="70643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solidFill>
                  <a:srgbClr val="F8F8F8"/>
                </a:solidFill>
                <a:latin typeface="Helvetica" pitchFamily="34" charset="0"/>
                <a:ea typeface="宋体" panose="02010600030101010101" pitchFamily="2" charset="-122"/>
              </a:rPr>
              <a:t>定义</a:t>
            </a:r>
          </a:p>
        </p:txBody>
      </p:sp>
      <p:sp>
        <p:nvSpPr>
          <p:cNvPr id="14347" name="Rectangle 15"/>
          <p:cNvSpPr/>
          <p:nvPr/>
        </p:nvSpPr>
        <p:spPr>
          <a:xfrm>
            <a:off x="-685800" y="1120775"/>
            <a:ext cx="3440113" cy="52228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800" b="1" dirty="0">
                <a:latin typeface="Helvetica" pitchFamily="34" charset="0"/>
                <a:ea typeface="宋体" panose="02010600030101010101" pitchFamily="2" charset="-122"/>
              </a:rPr>
              <a:t>（</a:t>
            </a:r>
            <a:r>
              <a:rPr lang="en-US" altLang="zh-CN" sz="2800" b="1" dirty="0">
                <a:latin typeface="Helvetica" pitchFamily="34" charset="0"/>
                <a:ea typeface="宋体" panose="02010600030101010101" pitchFamily="2" charset="-122"/>
              </a:rPr>
              <a:t>3</a:t>
            </a:r>
            <a:r>
              <a:rPr lang="zh-CN" altLang="en-US" sz="2800" b="1" dirty="0">
                <a:latin typeface="Helvetica" pitchFamily="34" charset="0"/>
                <a:ea typeface="宋体" panose="02010600030101010101" pitchFamily="2" charset="-122"/>
              </a:rPr>
              <a:t>）电气特性</a:t>
            </a:r>
          </a:p>
        </p:txBody>
      </p:sp>
      <p:sp>
        <p:nvSpPr>
          <p:cNvPr id="14348" name="Text Box 16"/>
          <p:cNvSpPr txBox="1"/>
          <p:nvPr/>
        </p:nvSpPr>
        <p:spPr>
          <a:xfrm>
            <a:off x="-685800" y="230188"/>
            <a:ext cx="2366963" cy="52228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800" b="1" dirty="0">
                <a:latin typeface="Helvetica" pitchFamily="34" charset="0"/>
                <a:ea typeface="宋体" panose="02010600030101010101" pitchFamily="2" charset="-122"/>
              </a:rPr>
              <a:t>2</a:t>
            </a:r>
            <a:r>
              <a:rPr lang="zh-CN" altLang="en-US" sz="2800" b="1" dirty="0">
                <a:latin typeface="Helvetica" pitchFamily="34" charset="0"/>
                <a:ea typeface="宋体" panose="02010600030101010101" pitchFamily="2" charset="-122"/>
              </a:rPr>
              <a:t>、特性</a:t>
            </a:r>
          </a:p>
        </p:txBody>
      </p:sp>
      <p:sp>
        <p:nvSpPr>
          <p:cNvPr id="14349" name="Rectangle 4"/>
          <p:cNvSpPr/>
          <p:nvPr/>
        </p:nvSpPr>
        <p:spPr>
          <a:xfrm>
            <a:off x="152400" y="762000"/>
            <a:ext cx="7991475" cy="503238"/>
          </a:xfrm>
          <a:prstGeom prst="rect">
            <a:avLst/>
          </a:prstGeom>
          <a:noFill/>
          <a:ln w="9525">
            <a:noFill/>
          </a:ln>
        </p:spPr>
        <p:txBody>
          <a:bodyPr anchor="t" anchorCtr="0"/>
          <a:lstStyle/>
          <a:p>
            <a:pPr marL="342900" indent="-342900" eaLnBrk="0" hangingPunct="0">
              <a:lnSpc>
                <a:spcPct val="120000"/>
              </a:lnSpc>
              <a:buClr>
                <a:srgbClr val="0000FF"/>
              </a:buClr>
              <a:buSzPct val="90000"/>
              <a:buFont typeface="Monotype Sorts" pitchFamily="2" charset="2"/>
              <a:buChar char="@"/>
            </a:pPr>
            <a:r>
              <a:rPr lang="zh-CN" altLang="en-US" sz="2000" b="1" dirty="0">
                <a:latin typeface="Times New Roman" panose="02020603050405020304" pitchFamily="18" charset="0"/>
                <a:ea typeface="宋体" panose="02010600030101010101" pitchFamily="2" charset="-122"/>
              </a:rPr>
              <a:t>总线具有以下</a:t>
            </a:r>
            <a:r>
              <a:rPr lang="en-US" altLang="zh-CN" sz="2000" b="1" dirty="0">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方面特性： </a:t>
            </a:r>
          </a:p>
        </p:txBody>
      </p:sp>
      <p:sp>
        <p:nvSpPr>
          <p:cNvPr id="259090" name="Rectangle 18"/>
          <p:cNvSpPr/>
          <p:nvPr/>
        </p:nvSpPr>
        <p:spPr>
          <a:xfrm>
            <a:off x="1420813" y="3933825"/>
            <a:ext cx="7254875" cy="1374775"/>
          </a:xfrm>
          <a:prstGeom prst="rect">
            <a:avLst/>
          </a:prstGeom>
          <a:noFill/>
          <a:ln w="3175">
            <a:noFill/>
          </a:ln>
        </p:spPr>
        <p:txBody>
          <a:bodyPr anchor="t" anchorCtr="0">
            <a:spAutoFit/>
          </a:bodyPr>
          <a:lstStyle/>
          <a:p>
            <a:pPr marL="1143000" indent="-228600" eaLnBrk="0" hangingPunct="0">
              <a:spcBef>
                <a:spcPct val="35000"/>
              </a:spcBef>
              <a:buClr>
                <a:srgbClr val="000099"/>
              </a:buClr>
              <a:buSzPct val="85000"/>
              <a:buFont typeface="Monotype Sorts" pitchFamily="2" charset="2"/>
              <a:buChar char="@"/>
            </a:pPr>
            <a:r>
              <a:rPr lang="zh-CN" altLang="en-US" sz="2000" b="1" dirty="0">
                <a:latin typeface="Helvetica" pitchFamily="34" charset="0"/>
                <a:ea typeface="宋体" panose="02010600030101010101" pitchFamily="2" charset="-122"/>
              </a:rPr>
              <a:t>将总线中</a:t>
            </a:r>
            <a:r>
              <a:rPr lang="zh-CN" altLang="en-US" sz="2400" b="1" dirty="0">
                <a:solidFill>
                  <a:srgbClr val="FF0000"/>
                </a:solidFill>
                <a:latin typeface="Helvetica" pitchFamily="34" charset="0"/>
                <a:ea typeface="宋体" panose="02010600030101010101" pitchFamily="2" charset="-122"/>
              </a:rPr>
              <a:t>高电平</a:t>
            </a:r>
            <a:r>
              <a:rPr lang="zh-CN" altLang="en-US" sz="2000" b="1" dirty="0">
                <a:latin typeface="Helvetica" pitchFamily="34" charset="0"/>
                <a:ea typeface="宋体" panose="02010600030101010101" pitchFamily="2" charset="-122"/>
              </a:rPr>
              <a:t>定义为</a:t>
            </a:r>
            <a:r>
              <a:rPr lang="zh-CN" altLang="en-US" sz="2400" b="1" dirty="0">
                <a:solidFill>
                  <a:srgbClr val="FF0000"/>
                </a:solidFill>
                <a:latin typeface="Helvetica" pitchFamily="34" charset="0"/>
                <a:ea typeface="宋体" panose="02010600030101010101" pitchFamily="2" charset="-122"/>
              </a:rPr>
              <a:t>“逻辑</a:t>
            </a:r>
            <a:r>
              <a:rPr lang="en-US" altLang="zh-CN" sz="2400" b="1" dirty="0">
                <a:solidFill>
                  <a:srgbClr val="FF0000"/>
                </a:solidFill>
                <a:latin typeface="Helvetica" pitchFamily="34" charset="0"/>
                <a:ea typeface="宋体" panose="02010600030101010101" pitchFamily="2" charset="-122"/>
              </a:rPr>
              <a:t>1”</a:t>
            </a:r>
            <a:r>
              <a:rPr lang="zh-CN" altLang="en-US" sz="2000" b="1" dirty="0">
                <a:latin typeface="Helvetica" pitchFamily="34" charset="0"/>
                <a:ea typeface="宋体" panose="02010600030101010101" pitchFamily="2" charset="-122"/>
              </a:rPr>
              <a:t>，称为</a:t>
            </a:r>
            <a:r>
              <a:rPr lang="zh-CN" altLang="en-US" sz="2400" b="1" dirty="0">
                <a:solidFill>
                  <a:srgbClr val="FF0000"/>
                </a:solidFill>
                <a:latin typeface="Helvetica" pitchFamily="34" charset="0"/>
                <a:ea typeface="宋体" panose="02010600030101010101" pitchFamily="2" charset="-122"/>
              </a:rPr>
              <a:t>正逻辑</a:t>
            </a:r>
            <a:r>
              <a:rPr lang="zh-CN" altLang="en-US" sz="2000" b="1" dirty="0">
                <a:latin typeface="Helvetica" pitchFamily="34" charset="0"/>
                <a:ea typeface="宋体" panose="02010600030101010101" pitchFamily="2" charset="-122"/>
              </a:rPr>
              <a:t>；</a:t>
            </a:r>
          </a:p>
          <a:p>
            <a:pPr marL="1143000" indent="-228600" eaLnBrk="0" hangingPunct="0">
              <a:spcBef>
                <a:spcPct val="35000"/>
              </a:spcBef>
              <a:buClr>
                <a:srgbClr val="000099"/>
              </a:buClr>
              <a:buSzPct val="85000"/>
              <a:buFont typeface="Wingdings" panose="05000000000000000000" pitchFamily="2" charset="2"/>
            </a:pPr>
            <a:endParaRPr lang="zh-CN" altLang="en-US" sz="2000" b="1" dirty="0">
              <a:latin typeface="Helvetica" pitchFamily="34" charset="0"/>
              <a:ea typeface="宋体" panose="02010600030101010101" pitchFamily="2" charset="-122"/>
            </a:endParaRPr>
          </a:p>
          <a:p>
            <a:pPr marL="1143000" indent="-228600" eaLnBrk="0" hangingPunct="0">
              <a:spcBef>
                <a:spcPct val="35000"/>
              </a:spcBef>
              <a:buClr>
                <a:srgbClr val="000099"/>
              </a:buClr>
              <a:buSzPct val="85000"/>
              <a:buFont typeface="Monotype Sorts" pitchFamily="2" charset="2"/>
              <a:buChar char="@"/>
            </a:pPr>
            <a:r>
              <a:rPr lang="zh-CN" altLang="en-US" sz="2000" b="1" dirty="0">
                <a:latin typeface="Helvetica" pitchFamily="34" charset="0"/>
                <a:ea typeface="宋体" panose="02010600030101010101" pitchFamily="2" charset="-122"/>
              </a:rPr>
              <a:t>将</a:t>
            </a:r>
            <a:r>
              <a:rPr lang="zh-CN" altLang="en-US" sz="2400" b="1" dirty="0">
                <a:solidFill>
                  <a:srgbClr val="FF0000"/>
                </a:solidFill>
                <a:latin typeface="Helvetica" pitchFamily="34" charset="0"/>
                <a:ea typeface="宋体" panose="02010600030101010101" pitchFamily="2" charset="-122"/>
              </a:rPr>
              <a:t>低电平</a:t>
            </a:r>
            <a:r>
              <a:rPr lang="zh-CN" altLang="en-US" sz="2000" b="1" dirty="0">
                <a:latin typeface="Helvetica" pitchFamily="34" charset="0"/>
                <a:ea typeface="宋体" panose="02010600030101010101" pitchFamily="2" charset="-122"/>
              </a:rPr>
              <a:t>定义为</a:t>
            </a:r>
            <a:r>
              <a:rPr lang="zh-CN" altLang="en-US" sz="2400" b="1" dirty="0">
                <a:solidFill>
                  <a:srgbClr val="FF0000"/>
                </a:solidFill>
                <a:latin typeface="Helvetica" pitchFamily="34" charset="0"/>
                <a:ea typeface="宋体" panose="02010600030101010101" pitchFamily="2" charset="-122"/>
              </a:rPr>
              <a:t>“逻辑</a:t>
            </a:r>
            <a:r>
              <a:rPr lang="en-US" altLang="zh-CN" sz="2400" b="1" dirty="0">
                <a:solidFill>
                  <a:srgbClr val="FF0000"/>
                </a:solidFill>
                <a:latin typeface="Helvetica" pitchFamily="34" charset="0"/>
                <a:ea typeface="宋体" panose="02010600030101010101" pitchFamily="2" charset="-122"/>
              </a:rPr>
              <a:t>1”</a:t>
            </a:r>
            <a:r>
              <a:rPr lang="zh-CN" altLang="en-US" sz="2000" b="1" dirty="0">
                <a:latin typeface="Helvetica" pitchFamily="34" charset="0"/>
                <a:ea typeface="宋体" panose="02010600030101010101" pitchFamily="2" charset="-122"/>
              </a:rPr>
              <a:t>，称为</a:t>
            </a:r>
            <a:r>
              <a:rPr lang="zh-CN" altLang="en-US" sz="2400" b="1" dirty="0">
                <a:solidFill>
                  <a:srgbClr val="FF0000"/>
                </a:solidFill>
                <a:latin typeface="Helvetica" pitchFamily="34" charset="0"/>
                <a:ea typeface="宋体" panose="02010600030101010101" pitchFamily="2" charset="-122"/>
              </a:rPr>
              <a:t>负逻辑</a:t>
            </a:r>
            <a:r>
              <a:rPr lang="zh-CN" altLang="en-US" sz="2000" b="1" dirty="0">
                <a:latin typeface="Helvetica" pitchFamily="34" charset="0"/>
                <a:ea typeface="宋体" panose="02010600030101010101" pitchFamily="2" charset="-122"/>
              </a:rPr>
              <a:t>。</a:t>
            </a:r>
          </a:p>
        </p:txBody>
      </p:sp>
      <p:sp>
        <p:nvSpPr>
          <p:cNvPr id="14351" name="Rectangle 19"/>
          <p:cNvSpPr/>
          <p:nvPr/>
        </p:nvSpPr>
        <p:spPr>
          <a:xfrm>
            <a:off x="801688" y="1819275"/>
            <a:ext cx="8334375" cy="533400"/>
          </a:xfrm>
          <a:prstGeom prst="rect">
            <a:avLst/>
          </a:prstGeom>
          <a:noFill/>
          <a:ln w="3175">
            <a:noFill/>
          </a:ln>
        </p:spPr>
        <p:txBody>
          <a:bodyPr wrap="none" anchor="t" anchorCtr="0">
            <a:spAutoFit/>
          </a:bodyPr>
          <a:lstStyle/>
          <a:p>
            <a:pPr marL="1143000" indent="-228600" eaLnBrk="0" hangingPunct="0">
              <a:lnSpc>
                <a:spcPct val="120000"/>
              </a:lnSpc>
              <a:buClr>
                <a:schemeClr val="tx2"/>
              </a:buClr>
              <a:buSzPct val="90000"/>
              <a:buFont typeface="Monotype Sorts" pitchFamily="2" charset="2"/>
            </a:pPr>
            <a:r>
              <a:rPr lang="zh-CN" altLang="en-US" sz="2400" b="1" dirty="0">
                <a:solidFill>
                  <a:srgbClr val="FF0000"/>
                </a:solidFill>
                <a:latin typeface="Helvetica" pitchFamily="34" charset="0"/>
                <a:ea typeface="宋体" panose="02010600030101010101" pitchFamily="2" charset="-122"/>
              </a:rPr>
              <a:t>电气特性</a:t>
            </a:r>
            <a:r>
              <a:rPr lang="zh-CN" altLang="en-US" sz="2000" b="1" dirty="0">
                <a:latin typeface="Helvetica" pitchFamily="34" charset="0"/>
                <a:ea typeface="宋体" panose="02010600030101010101" pitchFamily="2" charset="-122"/>
              </a:rPr>
              <a:t>定义每根传输线上信号的</a:t>
            </a:r>
            <a:r>
              <a:rPr lang="zh-CN" altLang="en-US" sz="2000" b="1" u="sng" dirty="0">
                <a:solidFill>
                  <a:srgbClr val="0000FF"/>
                </a:solidFill>
                <a:latin typeface="Helvetica" pitchFamily="34" charset="0"/>
                <a:ea typeface="宋体" panose="02010600030101010101" pitchFamily="2" charset="-122"/>
              </a:rPr>
              <a:t>传递方向</a:t>
            </a:r>
            <a:r>
              <a:rPr lang="zh-CN" altLang="en-US" sz="2000" b="1" dirty="0">
                <a:latin typeface="Helvetica" pitchFamily="34" charset="0"/>
                <a:ea typeface="宋体" panose="02010600030101010101" pitchFamily="2" charset="-122"/>
              </a:rPr>
              <a:t>和</a:t>
            </a:r>
            <a:r>
              <a:rPr lang="zh-CN" altLang="en-US" sz="2000" b="1" u="sng" dirty="0">
                <a:solidFill>
                  <a:srgbClr val="0000FF"/>
                </a:solidFill>
                <a:latin typeface="Helvetica" pitchFamily="34" charset="0"/>
                <a:ea typeface="宋体" panose="02010600030101010101" pitchFamily="2" charset="-122"/>
              </a:rPr>
              <a:t>有效电平范围</a:t>
            </a:r>
            <a:r>
              <a:rPr lang="zh-CN" altLang="en-US" sz="2000" b="1" dirty="0">
                <a:latin typeface="Helvetica" pitchFamily="34" charset="0"/>
                <a:ea typeface="宋体" panose="02010600030101010101" pitchFamily="2" charset="-122"/>
              </a:rPr>
              <a:t>。  </a:t>
            </a:r>
          </a:p>
        </p:txBody>
      </p:sp>
      <p:sp>
        <p:nvSpPr>
          <p:cNvPr id="259092" name="Rectangle 20"/>
          <p:cNvSpPr/>
          <p:nvPr/>
        </p:nvSpPr>
        <p:spPr>
          <a:xfrm>
            <a:off x="1624013" y="5578475"/>
            <a:ext cx="7197725" cy="814388"/>
          </a:xfrm>
          <a:prstGeom prst="rect">
            <a:avLst/>
          </a:prstGeom>
          <a:noFill/>
          <a:ln w="3175">
            <a:noFill/>
          </a:ln>
        </p:spPr>
        <p:txBody>
          <a:bodyPr wrap="none" anchor="t" anchorCtr="0">
            <a:spAutoFit/>
          </a:bodyPr>
          <a:lstStyle/>
          <a:p>
            <a:pPr marL="1143000" indent="-228600" eaLnBrk="0" hangingPunct="0">
              <a:spcBef>
                <a:spcPct val="35000"/>
              </a:spcBef>
              <a:buClr>
                <a:schemeClr val="tx2"/>
              </a:buClr>
              <a:buSzPct val="85000"/>
              <a:buFont typeface="Wingdings" panose="05000000000000000000" pitchFamily="2" charset="2"/>
              <a:buChar char="F"/>
            </a:pPr>
            <a:r>
              <a:rPr lang="zh-CN" altLang="en-US" sz="2000" b="1" dirty="0">
                <a:latin typeface="Helvetica" pitchFamily="34" charset="0"/>
                <a:ea typeface="宋体" panose="02010600030101010101" pitchFamily="2" charset="-122"/>
              </a:rPr>
              <a:t>大多数总线信号采用正逻辑，但是也有个别总线信号</a:t>
            </a:r>
          </a:p>
          <a:p>
            <a:pPr marL="1143000" indent="-228600" eaLnBrk="0" hangingPunct="0">
              <a:spcBef>
                <a:spcPct val="35000"/>
              </a:spcBef>
              <a:buClr>
                <a:schemeClr val="tx2"/>
              </a:buClr>
              <a:buSzPct val="85000"/>
              <a:buFont typeface="Wingdings" panose="05000000000000000000" pitchFamily="2" charset="2"/>
            </a:pPr>
            <a:r>
              <a:rPr lang="zh-CN" altLang="en-US" sz="2000" b="1" dirty="0">
                <a:latin typeface="Helvetica" pitchFamily="34" charset="0"/>
                <a:ea typeface="宋体" panose="02010600030101010101" pitchFamily="2" charset="-122"/>
              </a:rPr>
              <a:t>   采用负逻辑 。</a:t>
            </a:r>
          </a:p>
        </p:txBody>
      </p:sp>
      <p:sp>
        <p:nvSpPr>
          <p:cNvPr id="259093" name="Rectangle 21"/>
          <p:cNvSpPr/>
          <p:nvPr/>
        </p:nvSpPr>
        <p:spPr>
          <a:xfrm>
            <a:off x="2627313" y="5516563"/>
            <a:ext cx="6121400" cy="939800"/>
          </a:xfrm>
          <a:prstGeom prst="rect">
            <a:avLst/>
          </a:prstGeom>
          <a:noFill/>
          <a:ln w="3175"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4354" name="Rectangle 23"/>
          <p:cNvSpPr/>
          <p:nvPr/>
        </p:nvSpPr>
        <p:spPr>
          <a:xfrm>
            <a:off x="1476375" y="2490788"/>
            <a:ext cx="863600" cy="1225550"/>
          </a:xfrm>
          <a:prstGeom prst="rect">
            <a:avLst/>
          </a:prstGeom>
          <a:solidFill>
            <a:srgbClr val="FF9900">
              <a:alpha val="18039"/>
            </a:srgbClr>
          </a:solidFill>
          <a:ln w="25400" cap="flat" cmpd="sng">
            <a:solidFill>
              <a:srgbClr val="00FF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4355" name="Text Box 24"/>
          <p:cNvSpPr txBox="1"/>
          <p:nvPr/>
        </p:nvSpPr>
        <p:spPr>
          <a:xfrm>
            <a:off x="1547813" y="2851150"/>
            <a:ext cx="719137" cy="398463"/>
          </a:xfrm>
          <a:prstGeom prst="rect">
            <a:avLst/>
          </a:prstGeom>
          <a:noFill/>
          <a:ln w="25400">
            <a:noFill/>
          </a:ln>
        </p:spPr>
        <p:txBody>
          <a:bodyPr wrap="none" anchor="t" anchorCtr="0">
            <a:spAutoFit/>
          </a:bodyPr>
          <a:lstStyle/>
          <a:p>
            <a:pPr marL="342900" indent="-342900">
              <a:spcBef>
                <a:spcPct val="20000"/>
              </a:spcBef>
            </a:pPr>
            <a:r>
              <a:rPr lang="en-US" altLang="zh-CN" sz="2000" b="1" dirty="0">
                <a:solidFill>
                  <a:srgbClr val="FF3300"/>
                </a:solidFill>
                <a:latin typeface="Arial" panose="020B0604020202020204" pitchFamily="34" charset="0"/>
                <a:ea typeface="宋体" panose="02010600030101010101" pitchFamily="2" charset="-122"/>
              </a:rPr>
              <a:t>CPU</a:t>
            </a:r>
          </a:p>
        </p:txBody>
      </p:sp>
      <p:sp>
        <p:nvSpPr>
          <p:cNvPr id="259097" name="Line 25"/>
          <p:cNvSpPr/>
          <p:nvPr/>
        </p:nvSpPr>
        <p:spPr>
          <a:xfrm>
            <a:off x="2339975" y="2779713"/>
            <a:ext cx="827088" cy="0"/>
          </a:xfrm>
          <a:prstGeom prst="line">
            <a:avLst/>
          </a:prstGeom>
          <a:ln w="25400" cap="flat" cmpd="sng">
            <a:solidFill>
              <a:srgbClr val="FF00FF"/>
            </a:solidFill>
            <a:prstDash val="solid"/>
            <a:round/>
            <a:headEnd type="none" w="med" len="med"/>
            <a:tailEnd type="triangle" w="med" len="med"/>
          </a:ln>
        </p:spPr>
      </p:sp>
      <p:sp>
        <p:nvSpPr>
          <p:cNvPr id="259098" name="Text Box 26"/>
          <p:cNvSpPr txBox="1"/>
          <p:nvPr/>
        </p:nvSpPr>
        <p:spPr>
          <a:xfrm>
            <a:off x="3060700" y="2555875"/>
            <a:ext cx="1203325" cy="398463"/>
          </a:xfrm>
          <a:prstGeom prst="rect">
            <a:avLst/>
          </a:prstGeom>
          <a:noFill/>
          <a:ln w="25400">
            <a:noFill/>
          </a:ln>
        </p:spPr>
        <p:txBody>
          <a:bodyPr wrap="none" anchor="t" anchorCtr="0">
            <a:spAutoFit/>
          </a:bodyPr>
          <a:lstStyle/>
          <a:p>
            <a:pPr marL="342900" indent="-342900">
              <a:spcBef>
                <a:spcPct val="20000"/>
              </a:spcBef>
            </a:pPr>
            <a:r>
              <a:rPr lang="zh-CN" altLang="en-US" sz="2000" b="1" dirty="0">
                <a:solidFill>
                  <a:srgbClr val="FF99FF"/>
                </a:solidFill>
                <a:latin typeface="Arial" panose="020B0604020202020204" pitchFamily="34" charset="0"/>
                <a:ea typeface="宋体" panose="02010600030101010101" pitchFamily="2" charset="-122"/>
              </a:rPr>
              <a:t>输出信号</a:t>
            </a:r>
          </a:p>
        </p:txBody>
      </p:sp>
      <p:sp>
        <p:nvSpPr>
          <p:cNvPr id="259099" name="Line 27"/>
          <p:cNvSpPr/>
          <p:nvPr/>
        </p:nvSpPr>
        <p:spPr>
          <a:xfrm flipH="1">
            <a:off x="2339975" y="3427413"/>
            <a:ext cx="827088" cy="0"/>
          </a:xfrm>
          <a:prstGeom prst="line">
            <a:avLst/>
          </a:prstGeom>
          <a:ln w="25400" cap="flat" cmpd="sng">
            <a:solidFill>
              <a:srgbClr val="0000FF"/>
            </a:solidFill>
            <a:prstDash val="solid"/>
            <a:round/>
            <a:headEnd type="none" w="med" len="med"/>
            <a:tailEnd type="triangle" w="med" len="med"/>
          </a:ln>
        </p:spPr>
      </p:sp>
      <p:sp>
        <p:nvSpPr>
          <p:cNvPr id="259100" name="Text Box 28"/>
          <p:cNvSpPr txBox="1"/>
          <p:nvPr/>
        </p:nvSpPr>
        <p:spPr>
          <a:xfrm>
            <a:off x="3060700" y="3276600"/>
            <a:ext cx="1203325" cy="398463"/>
          </a:xfrm>
          <a:prstGeom prst="rect">
            <a:avLst/>
          </a:prstGeom>
          <a:noFill/>
          <a:ln w="25400">
            <a:noFill/>
          </a:ln>
        </p:spPr>
        <p:txBody>
          <a:bodyPr wrap="none" anchor="t" anchorCtr="0">
            <a:spAutoFit/>
          </a:bodyPr>
          <a:lstStyle/>
          <a:p>
            <a:pPr marL="342900" indent="-342900">
              <a:spcBef>
                <a:spcPct val="20000"/>
              </a:spcBef>
            </a:pPr>
            <a:r>
              <a:rPr lang="zh-CN" altLang="en-US" sz="2000" b="1" dirty="0">
                <a:solidFill>
                  <a:srgbClr val="0000FF"/>
                </a:solidFill>
                <a:latin typeface="Arial" panose="020B0604020202020204" pitchFamily="34" charset="0"/>
                <a:ea typeface="宋体" panose="02010600030101010101" pitchFamily="2" charset="-122"/>
              </a:rPr>
              <a:t>输入信号</a:t>
            </a:r>
          </a:p>
        </p:txBody>
      </p:sp>
      <p:sp>
        <p:nvSpPr>
          <p:cNvPr id="259101" name="Rectangle 29"/>
          <p:cNvSpPr/>
          <p:nvPr/>
        </p:nvSpPr>
        <p:spPr>
          <a:xfrm>
            <a:off x="4330700" y="2813050"/>
            <a:ext cx="1549400" cy="522288"/>
          </a:xfrm>
          <a:prstGeom prst="rect">
            <a:avLst/>
          </a:prstGeom>
          <a:noFill/>
          <a:ln w="12700">
            <a:noFill/>
          </a:ln>
        </p:spPr>
        <p:txBody>
          <a:bodyPr wrap="none" anchor="ctr" anchorCtr="0">
            <a:spAutoFit/>
          </a:bodyPr>
          <a:lstStyle/>
          <a:p>
            <a:r>
              <a:rPr lang="en-US" altLang="zh-CN" sz="2800" b="1" dirty="0">
                <a:solidFill>
                  <a:srgbClr val="FF9933"/>
                </a:solidFill>
                <a:latin typeface="Arial" panose="020B0604020202020204" pitchFamily="34" charset="0"/>
                <a:ea typeface="宋体" panose="02010600030101010101" pitchFamily="2" charset="-122"/>
              </a:rPr>
              <a:t>TTL</a:t>
            </a:r>
            <a:r>
              <a:rPr lang="zh-CN" altLang="en-US" sz="2800" b="1" dirty="0">
                <a:solidFill>
                  <a:srgbClr val="FF9933"/>
                </a:solidFill>
                <a:latin typeface="Arial" panose="020B0604020202020204" pitchFamily="34" charset="0"/>
                <a:ea typeface="宋体" panose="02010600030101010101" pitchFamily="2" charset="-122"/>
              </a:rPr>
              <a:t>电平</a:t>
            </a:r>
          </a:p>
        </p:txBody>
      </p:sp>
      <p:sp>
        <p:nvSpPr>
          <p:cNvPr id="259102" name="Rectangle 30"/>
          <p:cNvSpPr/>
          <p:nvPr/>
        </p:nvSpPr>
        <p:spPr>
          <a:xfrm>
            <a:off x="6053138" y="3243263"/>
            <a:ext cx="2541587" cy="430212"/>
          </a:xfrm>
          <a:prstGeom prst="rect">
            <a:avLst/>
          </a:prstGeom>
          <a:noFill/>
          <a:ln w="12700">
            <a:noFill/>
          </a:ln>
        </p:spPr>
        <p:txBody>
          <a:bodyPr wrap="none" anchor="t" anchorCtr="0">
            <a:spAutoFit/>
          </a:bodyPr>
          <a:lstStyle/>
          <a:p>
            <a:pPr marL="342900" indent="-342900" algn="ctr">
              <a:buBlip>
                <a:blip r:embed="rId2"/>
              </a:buBlip>
            </a:pPr>
            <a:r>
              <a:rPr lang="zh-CN" altLang="en-US" sz="2200" b="1" dirty="0">
                <a:solidFill>
                  <a:srgbClr val="FF0000"/>
                </a:solidFill>
                <a:latin typeface="Arial" panose="020B0604020202020204" pitchFamily="34" charset="0"/>
                <a:ea typeface="宋体" panose="02010600030101010101" pitchFamily="2" charset="-122"/>
              </a:rPr>
              <a:t>高电平：</a:t>
            </a:r>
            <a:r>
              <a:rPr lang="en-US" altLang="zh-CN" sz="2200" b="1" dirty="0">
                <a:solidFill>
                  <a:srgbClr val="FF0000"/>
                </a:solidFill>
                <a:latin typeface="Arial" panose="020B0604020202020204" pitchFamily="34" charset="0"/>
                <a:ea typeface="宋体" panose="02010600030101010101" pitchFamily="2" charset="-122"/>
              </a:rPr>
              <a:t>2.4~5V</a:t>
            </a:r>
          </a:p>
        </p:txBody>
      </p:sp>
      <p:sp>
        <p:nvSpPr>
          <p:cNvPr id="259103" name="Rectangle 31"/>
          <p:cNvSpPr/>
          <p:nvPr/>
        </p:nvSpPr>
        <p:spPr>
          <a:xfrm>
            <a:off x="6053138" y="2503488"/>
            <a:ext cx="2805112" cy="430212"/>
          </a:xfrm>
          <a:prstGeom prst="rect">
            <a:avLst/>
          </a:prstGeom>
          <a:noFill/>
          <a:ln w="12700">
            <a:noFill/>
          </a:ln>
        </p:spPr>
        <p:txBody>
          <a:bodyPr wrap="none" anchor="t" anchorCtr="0">
            <a:spAutoFit/>
          </a:bodyPr>
          <a:lstStyle/>
          <a:p>
            <a:pPr marL="342900" indent="-342900" algn="ctr">
              <a:buBlip>
                <a:blip r:embed="rId2"/>
              </a:buBlip>
            </a:pPr>
            <a:r>
              <a:rPr lang="zh-CN" altLang="en-US" sz="2200" b="1" dirty="0">
                <a:solidFill>
                  <a:srgbClr val="0000FF"/>
                </a:solidFill>
                <a:latin typeface="Arial" panose="020B0604020202020204" pitchFamily="34" charset="0"/>
                <a:ea typeface="宋体" panose="02010600030101010101" pitchFamily="2" charset="-122"/>
              </a:rPr>
              <a:t>低电平：</a:t>
            </a:r>
            <a:r>
              <a:rPr lang="en-US" altLang="zh-CN" sz="2200" b="1" dirty="0">
                <a:solidFill>
                  <a:srgbClr val="0000FF"/>
                </a:solidFill>
                <a:latin typeface="Arial" panose="020B0604020202020204" pitchFamily="34" charset="0"/>
                <a:ea typeface="宋体" panose="02010600030101010101" pitchFamily="2" charset="-122"/>
              </a:rPr>
              <a:t>0V~1.4V </a:t>
            </a:r>
          </a:p>
        </p:txBody>
      </p:sp>
      <p:sp>
        <p:nvSpPr>
          <p:cNvPr id="259104" name="AutoShape 32"/>
          <p:cNvSpPr/>
          <p:nvPr/>
        </p:nvSpPr>
        <p:spPr>
          <a:xfrm>
            <a:off x="5845175" y="2703513"/>
            <a:ext cx="266700" cy="771525"/>
          </a:xfrm>
          <a:prstGeom prst="leftBrace">
            <a:avLst>
              <a:gd name="adj1" fmla="val 24013"/>
              <a:gd name="adj2" fmla="val 50000"/>
            </a:avLst>
          </a:prstGeom>
          <a:noFill/>
          <a:ln w="50800"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105" name="Rectangle 33"/>
          <p:cNvSpPr/>
          <p:nvPr/>
        </p:nvSpPr>
        <p:spPr>
          <a:xfrm>
            <a:off x="4419600" y="2479675"/>
            <a:ext cx="4367213" cy="1246188"/>
          </a:xfrm>
          <a:prstGeom prst="rect">
            <a:avLst/>
          </a:prstGeom>
          <a:solidFill>
            <a:srgbClr val="CCFFCC">
              <a:alpha val="10980"/>
            </a:srgbClr>
          </a:solidFill>
          <a:ln w="19050"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59106" name="Line 34"/>
          <p:cNvSpPr/>
          <p:nvPr/>
        </p:nvSpPr>
        <p:spPr>
          <a:xfrm>
            <a:off x="2338388" y="5373688"/>
            <a:ext cx="6121400" cy="0"/>
          </a:xfrm>
          <a:prstGeom prst="line">
            <a:avLst/>
          </a:prstGeom>
          <a:ln w="3175" cap="flat" cmpd="sng">
            <a:solidFill>
              <a:srgbClr val="800000"/>
            </a:solidFill>
            <a:prstDash val="dashDot"/>
            <a:round/>
            <a:headEnd type="none" w="med" len="med"/>
            <a:tailEnd type="none" w="med" len="med"/>
          </a:ln>
        </p:spPr>
      </p:sp>
      <p:sp>
        <p:nvSpPr>
          <p:cNvPr id="259107" name="Line 35"/>
          <p:cNvSpPr/>
          <p:nvPr/>
        </p:nvSpPr>
        <p:spPr>
          <a:xfrm>
            <a:off x="2339975" y="3876675"/>
            <a:ext cx="6121400" cy="0"/>
          </a:xfrm>
          <a:prstGeom prst="line">
            <a:avLst/>
          </a:prstGeom>
          <a:ln w="3175" cap="flat" cmpd="sng">
            <a:solidFill>
              <a:srgbClr val="800000"/>
            </a:solidFill>
            <a:prstDash val="dashDot"/>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259098"/>
                                        </p:tgtEl>
                                        <p:attrNameLst>
                                          <p:attrName>style.visibility</p:attrName>
                                        </p:attrNameLst>
                                      </p:cBhvr>
                                      <p:to>
                                        <p:strVal val="visible"/>
                                      </p:to>
                                    </p:set>
                                    <p:anim calcmode="lin" valueType="num">
                                      <p:cBhvr>
                                        <p:cTn id="7" dur="1000" fill="hold"/>
                                        <p:tgtEl>
                                          <p:spTgt spid="259098"/>
                                        </p:tgtEl>
                                        <p:attrNameLst>
                                          <p:attrName>ppt_w</p:attrName>
                                        </p:attrNameLst>
                                      </p:cBhvr>
                                      <p:tavLst>
                                        <p:tav tm="0">
                                          <p:val>
                                            <p:fltVal val="0"/>
                                          </p:val>
                                        </p:tav>
                                        <p:tav tm="100000">
                                          <p:val>
                                            <p:strVal val="#ppt_w"/>
                                          </p:val>
                                        </p:tav>
                                      </p:tavLst>
                                    </p:anim>
                                    <p:anim calcmode="lin" valueType="num">
                                      <p:cBhvr>
                                        <p:cTn id="8" dur="1000" fill="hold"/>
                                        <p:tgtEl>
                                          <p:spTgt spid="259098"/>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259097"/>
                                        </p:tgtEl>
                                        <p:attrNameLst>
                                          <p:attrName>style.visibility</p:attrName>
                                        </p:attrNameLst>
                                      </p:cBhvr>
                                      <p:to>
                                        <p:strVal val="visible"/>
                                      </p:to>
                                    </p:set>
                                    <p:anim calcmode="lin" valueType="num">
                                      <p:cBhvr>
                                        <p:cTn id="11" dur="1000" fill="hold"/>
                                        <p:tgtEl>
                                          <p:spTgt spid="259097"/>
                                        </p:tgtEl>
                                        <p:attrNameLst>
                                          <p:attrName>ppt_w</p:attrName>
                                        </p:attrNameLst>
                                      </p:cBhvr>
                                      <p:tavLst>
                                        <p:tav tm="0">
                                          <p:val>
                                            <p:fltVal val="0"/>
                                          </p:val>
                                        </p:tav>
                                        <p:tav tm="100000">
                                          <p:val>
                                            <p:strVal val="#ppt_w"/>
                                          </p:val>
                                        </p:tav>
                                      </p:tavLst>
                                    </p:anim>
                                    <p:anim calcmode="lin" valueType="num">
                                      <p:cBhvr>
                                        <p:cTn id="12" dur="1000" fill="hold"/>
                                        <p:tgtEl>
                                          <p:spTgt spid="259097"/>
                                        </p:tgtEl>
                                        <p:attrNameLst>
                                          <p:attrName>ppt_h</p:attrName>
                                        </p:attrNameLst>
                                      </p:cBhvr>
                                      <p:tavLst>
                                        <p:tav tm="0">
                                          <p:val>
                                            <p:strVal val="#ppt_h"/>
                                          </p:val>
                                        </p:tav>
                                        <p:tav tm="100000">
                                          <p:val>
                                            <p:strVal val="#ppt_h"/>
                                          </p:val>
                                        </p:tav>
                                      </p:tavLst>
                                    </p:anim>
                                  </p:childTnLst>
                                </p:cTn>
                              </p:par>
                              <p:par>
                                <p:cTn id="13" presetID="17" presetClass="entr" presetSubtype="10" fill="hold" nodeType="withEffect">
                                  <p:stCondLst>
                                    <p:cond delay="0"/>
                                  </p:stCondLst>
                                  <p:childTnLst>
                                    <p:set>
                                      <p:cBhvr>
                                        <p:cTn id="14" dur="1" fill="hold">
                                          <p:stCondLst>
                                            <p:cond delay="0"/>
                                          </p:stCondLst>
                                        </p:cTn>
                                        <p:tgtEl>
                                          <p:spTgt spid="259099"/>
                                        </p:tgtEl>
                                        <p:attrNameLst>
                                          <p:attrName>style.visibility</p:attrName>
                                        </p:attrNameLst>
                                      </p:cBhvr>
                                      <p:to>
                                        <p:strVal val="visible"/>
                                      </p:to>
                                    </p:set>
                                    <p:anim calcmode="lin" valueType="num">
                                      <p:cBhvr>
                                        <p:cTn id="15" dur="1000" fill="hold"/>
                                        <p:tgtEl>
                                          <p:spTgt spid="259099"/>
                                        </p:tgtEl>
                                        <p:attrNameLst>
                                          <p:attrName>ppt_w</p:attrName>
                                        </p:attrNameLst>
                                      </p:cBhvr>
                                      <p:tavLst>
                                        <p:tav tm="0">
                                          <p:val>
                                            <p:fltVal val="0"/>
                                          </p:val>
                                        </p:tav>
                                        <p:tav tm="100000">
                                          <p:val>
                                            <p:strVal val="#ppt_w"/>
                                          </p:val>
                                        </p:tav>
                                      </p:tavLst>
                                    </p:anim>
                                    <p:anim calcmode="lin" valueType="num">
                                      <p:cBhvr>
                                        <p:cTn id="16" dur="1000" fill="hold"/>
                                        <p:tgtEl>
                                          <p:spTgt spid="259099"/>
                                        </p:tgtEl>
                                        <p:attrNameLst>
                                          <p:attrName>ppt_h</p:attrName>
                                        </p:attrNameLst>
                                      </p:cBhvr>
                                      <p:tavLst>
                                        <p:tav tm="0">
                                          <p:val>
                                            <p:strVal val="#ppt_h"/>
                                          </p:val>
                                        </p:tav>
                                        <p:tav tm="100000">
                                          <p:val>
                                            <p:strVal val="#ppt_h"/>
                                          </p:val>
                                        </p:tav>
                                      </p:tavLst>
                                    </p:anim>
                                  </p:childTnLst>
                                </p:cTn>
                              </p:par>
                              <p:par>
                                <p:cTn id="17" presetID="17" presetClass="entr" presetSubtype="10" fill="hold" grpId="0" nodeType="withEffect">
                                  <p:stCondLst>
                                    <p:cond delay="0"/>
                                  </p:stCondLst>
                                  <p:childTnLst>
                                    <p:set>
                                      <p:cBhvr>
                                        <p:cTn id="18" dur="1" fill="hold">
                                          <p:stCondLst>
                                            <p:cond delay="0"/>
                                          </p:stCondLst>
                                        </p:cTn>
                                        <p:tgtEl>
                                          <p:spTgt spid="259100"/>
                                        </p:tgtEl>
                                        <p:attrNameLst>
                                          <p:attrName>style.visibility</p:attrName>
                                        </p:attrNameLst>
                                      </p:cBhvr>
                                      <p:to>
                                        <p:strVal val="visible"/>
                                      </p:to>
                                    </p:set>
                                    <p:anim calcmode="lin" valueType="num">
                                      <p:cBhvr>
                                        <p:cTn id="19" dur="1000" fill="hold"/>
                                        <p:tgtEl>
                                          <p:spTgt spid="259100"/>
                                        </p:tgtEl>
                                        <p:attrNameLst>
                                          <p:attrName>ppt_w</p:attrName>
                                        </p:attrNameLst>
                                      </p:cBhvr>
                                      <p:tavLst>
                                        <p:tav tm="0">
                                          <p:val>
                                            <p:fltVal val="0"/>
                                          </p:val>
                                        </p:tav>
                                        <p:tav tm="100000">
                                          <p:val>
                                            <p:strVal val="#ppt_w"/>
                                          </p:val>
                                        </p:tav>
                                      </p:tavLst>
                                    </p:anim>
                                    <p:anim calcmode="lin" valueType="num">
                                      <p:cBhvr>
                                        <p:cTn id="20" dur="1000" fill="hold"/>
                                        <p:tgtEl>
                                          <p:spTgt spid="259100"/>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259101"/>
                                        </p:tgtEl>
                                        <p:attrNameLst>
                                          <p:attrName>style.visibility</p:attrName>
                                        </p:attrNameLst>
                                      </p:cBhvr>
                                      <p:to>
                                        <p:strVal val="visible"/>
                                      </p:to>
                                    </p:set>
                                    <p:anim calcmode="lin" valueType="num">
                                      <p:cBhvr>
                                        <p:cTn id="25" dur="1000" fill="hold"/>
                                        <p:tgtEl>
                                          <p:spTgt spid="259101"/>
                                        </p:tgtEl>
                                        <p:attrNameLst>
                                          <p:attrName>ppt_w</p:attrName>
                                        </p:attrNameLst>
                                      </p:cBhvr>
                                      <p:tavLst>
                                        <p:tav tm="0">
                                          <p:val>
                                            <p:fltVal val="0"/>
                                          </p:val>
                                        </p:tav>
                                        <p:tav tm="100000">
                                          <p:val>
                                            <p:strVal val="#ppt_w"/>
                                          </p:val>
                                        </p:tav>
                                      </p:tavLst>
                                    </p:anim>
                                    <p:anim calcmode="lin" valueType="num">
                                      <p:cBhvr>
                                        <p:cTn id="26" dur="1000" fill="hold"/>
                                        <p:tgtEl>
                                          <p:spTgt spid="259101"/>
                                        </p:tgtEl>
                                        <p:attrNameLst>
                                          <p:attrName>ppt_h</p:attrName>
                                        </p:attrNameLst>
                                      </p:cBhvr>
                                      <p:tavLst>
                                        <p:tav tm="0">
                                          <p:val>
                                            <p:strVal val="#ppt_h"/>
                                          </p:val>
                                        </p:tav>
                                        <p:tav tm="100000">
                                          <p:val>
                                            <p:strVal val="#ppt_h"/>
                                          </p:val>
                                        </p:tav>
                                      </p:tavLst>
                                    </p:anim>
                                  </p:childTnLst>
                                </p:cTn>
                              </p:par>
                              <p:par>
                                <p:cTn id="27" presetID="17" presetClass="entr" presetSubtype="10" fill="hold" grpId="0" nodeType="withEffect">
                                  <p:stCondLst>
                                    <p:cond delay="0"/>
                                  </p:stCondLst>
                                  <p:childTnLst>
                                    <p:set>
                                      <p:cBhvr>
                                        <p:cTn id="28" dur="1" fill="hold">
                                          <p:stCondLst>
                                            <p:cond delay="0"/>
                                          </p:stCondLst>
                                        </p:cTn>
                                        <p:tgtEl>
                                          <p:spTgt spid="259102"/>
                                        </p:tgtEl>
                                        <p:attrNameLst>
                                          <p:attrName>style.visibility</p:attrName>
                                        </p:attrNameLst>
                                      </p:cBhvr>
                                      <p:to>
                                        <p:strVal val="visible"/>
                                      </p:to>
                                    </p:set>
                                    <p:anim calcmode="lin" valueType="num">
                                      <p:cBhvr>
                                        <p:cTn id="29" dur="1000" fill="hold"/>
                                        <p:tgtEl>
                                          <p:spTgt spid="259102"/>
                                        </p:tgtEl>
                                        <p:attrNameLst>
                                          <p:attrName>ppt_w</p:attrName>
                                        </p:attrNameLst>
                                      </p:cBhvr>
                                      <p:tavLst>
                                        <p:tav tm="0">
                                          <p:val>
                                            <p:fltVal val="0"/>
                                          </p:val>
                                        </p:tav>
                                        <p:tav tm="100000">
                                          <p:val>
                                            <p:strVal val="#ppt_w"/>
                                          </p:val>
                                        </p:tav>
                                      </p:tavLst>
                                    </p:anim>
                                    <p:anim calcmode="lin" valueType="num">
                                      <p:cBhvr>
                                        <p:cTn id="30" dur="1000" fill="hold"/>
                                        <p:tgtEl>
                                          <p:spTgt spid="259102"/>
                                        </p:tgtEl>
                                        <p:attrNameLst>
                                          <p:attrName>ppt_h</p:attrName>
                                        </p:attrNameLst>
                                      </p:cBhvr>
                                      <p:tavLst>
                                        <p:tav tm="0">
                                          <p:val>
                                            <p:strVal val="#ppt_h"/>
                                          </p:val>
                                        </p:tav>
                                        <p:tav tm="100000">
                                          <p:val>
                                            <p:strVal val="#ppt_h"/>
                                          </p:val>
                                        </p:tav>
                                      </p:tavLst>
                                    </p:anim>
                                  </p:childTnLst>
                                </p:cTn>
                              </p:par>
                              <p:par>
                                <p:cTn id="31" presetID="17" presetClass="entr" presetSubtype="10" fill="hold" grpId="0" nodeType="withEffect">
                                  <p:stCondLst>
                                    <p:cond delay="0"/>
                                  </p:stCondLst>
                                  <p:childTnLst>
                                    <p:set>
                                      <p:cBhvr>
                                        <p:cTn id="32" dur="1" fill="hold">
                                          <p:stCondLst>
                                            <p:cond delay="0"/>
                                          </p:stCondLst>
                                        </p:cTn>
                                        <p:tgtEl>
                                          <p:spTgt spid="259103"/>
                                        </p:tgtEl>
                                        <p:attrNameLst>
                                          <p:attrName>style.visibility</p:attrName>
                                        </p:attrNameLst>
                                      </p:cBhvr>
                                      <p:to>
                                        <p:strVal val="visible"/>
                                      </p:to>
                                    </p:set>
                                    <p:anim calcmode="lin" valueType="num">
                                      <p:cBhvr>
                                        <p:cTn id="33" dur="1000" fill="hold"/>
                                        <p:tgtEl>
                                          <p:spTgt spid="259103"/>
                                        </p:tgtEl>
                                        <p:attrNameLst>
                                          <p:attrName>ppt_w</p:attrName>
                                        </p:attrNameLst>
                                      </p:cBhvr>
                                      <p:tavLst>
                                        <p:tav tm="0">
                                          <p:val>
                                            <p:fltVal val="0"/>
                                          </p:val>
                                        </p:tav>
                                        <p:tav tm="100000">
                                          <p:val>
                                            <p:strVal val="#ppt_w"/>
                                          </p:val>
                                        </p:tav>
                                      </p:tavLst>
                                    </p:anim>
                                    <p:anim calcmode="lin" valueType="num">
                                      <p:cBhvr>
                                        <p:cTn id="34" dur="1000" fill="hold"/>
                                        <p:tgtEl>
                                          <p:spTgt spid="259103"/>
                                        </p:tgtEl>
                                        <p:attrNameLst>
                                          <p:attrName>ppt_h</p:attrName>
                                        </p:attrNameLst>
                                      </p:cBhvr>
                                      <p:tavLst>
                                        <p:tav tm="0">
                                          <p:val>
                                            <p:strVal val="#ppt_h"/>
                                          </p:val>
                                        </p:tav>
                                        <p:tav tm="100000">
                                          <p:val>
                                            <p:strVal val="#ppt_h"/>
                                          </p:val>
                                        </p:tav>
                                      </p:tavLst>
                                    </p:anim>
                                  </p:childTnLst>
                                </p:cTn>
                              </p:par>
                              <p:par>
                                <p:cTn id="35" presetID="17" presetClass="entr" presetSubtype="10" fill="hold" grpId="0" nodeType="withEffect">
                                  <p:stCondLst>
                                    <p:cond delay="0"/>
                                  </p:stCondLst>
                                  <p:childTnLst>
                                    <p:set>
                                      <p:cBhvr>
                                        <p:cTn id="36" dur="1" fill="hold">
                                          <p:stCondLst>
                                            <p:cond delay="0"/>
                                          </p:stCondLst>
                                        </p:cTn>
                                        <p:tgtEl>
                                          <p:spTgt spid="259104"/>
                                        </p:tgtEl>
                                        <p:attrNameLst>
                                          <p:attrName>style.visibility</p:attrName>
                                        </p:attrNameLst>
                                      </p:cBhvr>
                                      <p:to>
                                        <p:strVal val="visible"/>
                                      </p:to>
                                    </p:set>
                                    <p:anim calcmode="lin" valueType="num">
                                      <p:cBhvr>
                                        <p:cTn id="37" dur="1000" fill="hold"/>
                                        <p:tgtEl>
                                          <p:spTgt spid="259104"/>
                                        </p:tgtEl>
                                        <p:attrNameLst>
                                          <p:attrName>ppt_w</p:attrName>
                                        </p:attrNameLst>
                                      </p:cBhvr>
                                      <p:tavLst>
                                        <p:tav tm="0">
                                          <p:val>
                                            <p:fltVal val="0"/>
                                          </p:val>
                                        </p:tav>
                                        <p:tav tm="100000">
                                          <p:val>
                                            <p:strVal val="#ppt_w"/>
                                          </p:val>
                                        </p:tav>
                                      </p:tavLst>
                                    </p:anim>
                                    <p:anim calcmode="lin" valueType="num">
                                      <p:cBhvr>
                                        <p:cTn id="38" dur="1000" fill="hold"/>
                                        <p:tgtEl>
                                          <p:spTgt spid="259104"/>
                                        </p:tgtEl>
                                        <p:attrNameLst>
                                          <p:attrName>ppt_h</p:attrName>
                                        </p:attrNameLst>
                                      </p:cBhvr>
                                      <p:tavLst>
                                        <p:tav tm="0">
                                          <p:val>
                                            <p:strVal val="#ppt_h"/>
                                          </p:val>
                                        </p:tav>
                                        <p:tav tm="100000">
                                          <p:val>
                                            <p:strVal val="#ppt_h"/>
                                          </p:val>
                                        </p:tav>
                                      </p:tavLst>
                                    </p:anim>
                                  </p:childTnLst>
                                </p:cTn>
                              </p:par>
                              <p:par>
                                <p:cTn id="39" presetID="17" presetClass="entr" presetSubtype="10" fill="hold" grpId="0" nodeType="withEffect">
                                  <p:stCondLst>
                                    <p:cond delay="0"/>
                                  </p:stCondLst>
                                  <p:childTnLst>
                                    <p:set>
                                      <p:cBhvr>
                                        <p:cTn id="40" dur="1" fill="hold">
                                          <p:stCondLst>
                                            <p:cond delay="0"/>
                                          </p:stCondLst>
                                        </p:cTn>
                                        <p:tgtEl>
                                          <p:spTgt spid="259105"/>
                                        </p:tgtEl>
                                        <p:attrNameLst>
                                          <p:attrName>style.visibility</p:attrName>
                                        </p:attrNameLst>
                                      </p:cBhvr>
                                      <p:to>
                                        <p:strVal val="visible"/>
                                      </p:to>
                                    </p:set>
                                    <p:anim calcmode="lin" valueType="num">
                                      <p:cBhvr>
                                        <p:cTn id="41" dur="1000" fill="hold"/>
                                        <p:tgtEl>
                                          <p:spTgt spid="259105"/>
                                        </p:tgtEl>
                                        <p:attrNameLst>
                                          <p:attrName>ppt_w</p:attrName>
                                        </p:attrNameLst>
                                      </p:cBhvr>
                                      <p:tavLst>
                                        <p:tav tm="0">
                                          <p:val>
                                            <p:fltVal val="0"/>
                                          </p:val>
                                        </p:tav>
                                        <p:tav tm="100000">
                                          <p:val>
                                            <p:strVal val="#ppt_w"/>
                                          </p:val>
                                        </p:tav>
                                      </p:tavLst>
                                    </p:anim>
                                    <p:anim calcmode="lin" valueType="num">
                                      <p:cBhvr>
                                        <p:cTn id="42" dur="1000" fill="hold"/>
                                        <p:tgtEl>
                                          <p:spTgt spid="259105"/>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59077"/>
                                        </p:tgtEl>
                                        <p:attrNameLst>
                                          <p:attrName>style.visibility</p:attrName>
                                        </p:attrNameLst>
                                      </p:cBhvr>
                                      <p:to>
                                        <p:strVal val="visible"/>
                                      </p:to>
                                    </p:set>
                                    <p:animEffect transition="in" filter="dissolve">
                                      <p:cBhvr>
                                        <p:cTn id="47" dur="1000"/>
                                        <p:tgtEl>
                                          <p:spTgt spid="259077"/>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259078"/>
                                        </p:tgtEl>
                                        <p:attrNameLst>
                                          <p:attrName>style.visibility</p:attrName>
                                        </p:attrNameLst>
                                      </p:cBhvr>
                                      <p:to>
                                        <p:strVal val="visible"/>
                                      </p:to>
                                    </p:set>
                                    <p:animEffect transition="in" filter="dissolve">
                                      <p:cBhvr>
                                        <p:cTn id="50" dur="1000"/>
                                        <p:tgtEl>
                                          <p:spTgt spid="259078"/>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259079"/>
                                        </p:tgtEl>
                                        <p:attrNameLst>
                                          <p:attrName>style.visibility</p:attrName>
                                        </p:attrNameLst>
                                      </p:cBhvr>
                                      <p:to>
                                        <p:strVal val="visible"/>
                                      </p:to>
                                    </p:set>
                                    <p:animEffect transition="in" filter="dissolve">
                                      <p:cBhvr>
                                        <p:cTn id="53" dur="1000"/>
                                        <p:tgtEl>
                                          <p:spTgt spid="259079"/>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259080"/>
                                        </p:tgtEl>
                                        <p:attrNameLst>
                                          <p:attrName>style.visibility</p:attrName>
                                        </p:attrNameLst>
                                      </p:cBhvr>
                                      <p:to>
                                        <p:strVal val="visible"/>
                                      </p:to>
                                    </p:set>
                                    <p:animEffect transition="in" filter="dissolve">
                                      <p:cBhvr>
                                        <p:cTn id="56" dur="1000"/>
                                        <p:tgtEl>
                                          <p:spTgt spid="259080"/>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259081"/>
                                        </p:tgtEl>
                                        <p:attrNameLst>
                                          <p:attrName>style.visibility</p:attrName>
                                        </p:attrNameLst>
                                      </p:cBhvr>
                                      <p:to>
                                        <p:strVal val="visible"/>
                                      </p:to>
                                    </p:set>
                                    <p:animEffect transition="in" filter="dissolve">
                                      <p:cBhvr>
                                        <p:cTn id="59" dur="1000"/>
                                        <p:tgtEl>
                                          <p:spTgt spid="259081"/>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259082"/>
                                        </p:tgtEl>
                                        <p:attrNameLst>
                                          <p:attrName>style.visibility</p:attrName>
                                        </p:attrNameLst>
                                      </p:cBhvr>
                                      <p:to>
                                        <p:strVal val="visible"/>
                                      </p:to>
                                    </p:set>
                                    <p:animEffect transition="in" filter="dissolve">
                                      <p:cBhvr>
                                        <p:cTn id="62" dur="1000"/>
                                        <p:tgtEl>
                                          <p:spTgt spid="259082"/>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259090"/>
                                        </p:tgtEl>
                                        <p:attrNameLst>
                                          <p:attrName>style.visibility</p:attrName>
                                        </p:attrNameLst>
                                      </p:cBhvr>
                                      <p:to>
                                        <p:strVal val="visible"/>
                                      </p:to>
                                    </p:set>
                                    <p:animEffect transition="in" filter="dissolve">
                                      <p:cBhvr>
                                        <p:cTn id="65" dur="1000"/>
                                        <p:tgtEl>
                                          <p:spTgt spid="259090"/>
                                        </p:tgtEl>
                                      </p:cBhvr>
                                    </p:animEffect>
                                  </p:childTnLst>
                                </p:cTn>
                              </p:par>
                              <p:par>
                                <p:cTn id="66" presetID="22" presetClass="entr" presetSubtype="8" fill="hold" nodeType="withEffect">
                                  <p:stCondLst>
                                    <p:cond delay="0"/>
                                  </p:stCondLst>
                                  <p:childTnLst>
                                    <p:set>
                                      <p:cBhvr>
                                        <p:cTn id="67" dur="1" fill="hold">
                                          <p:stCondLst>
                                            <p:cond delay="0"/>
                                          </p:stCondLst>
                                        </p:cTn>
                                        <p:tgtEl>
                                          <p:spTgt spid="259106"/>
                                        </p:tgtEl>
                                        <p:attrNameLst>
                                          <p:attrName>style.visibility</p:attrName>
                                        </p:attrNameLst>
                                      </p:cBhvr>
                                      <p:to>
                                        <p:strVal val="visible"/>
                                      </p:to>
                                    </p:set>
                                    <p:animEffect transition="in" filter="wipe(left)">
                                      <p:cBhvr>
                                        <p:cTn id="68" dur="1000"/>
                                        <p:tgtEl>
                                          <p:spTgt spid="259106"/>
                                        </p:tgtEl>
                                      </p:cBhvr>
                                    </p:animEffect>
                                  </p:childTnLst>
                                </p:cTn>
                              </p:par>
                              <p:par>
                                <p:cTn id="69" presetID="22" presetClass="entr" presetSubtype="8" fill="hold" nodeType="withEffect">
                                  <p:stCondLst>
                                    <p:cond delay="0"/>
                                  </p:stCondLst>
                                  <p:childTnLst>
                                    <p:set>
                                      <p:cBhvr>
                                        <p:cTn id="70" dur="1" fill="hold">
                                          <p:stCondLst>
                                            <p:cond delay="0"/>
                                          </p:stCondLst>
                                        </p:cTn>
                                        <p:tgtEl>
                                          <p:spTgt spid="259107"/>
                                        </p:tgtEl>
                                        <p:attrNameLst>
                                          <p:attrName>style.visibility</p:attrName>
                                        </p:attrNameLst>
                                      </p:cBhvr>
                                      <p:to>
                                        <p:strVal val="visible"/>
                                      </p:to>
                                    </p:set>
                                    <p:animEffect transition="in" filter="wipe(left)">
                                      <p:cBhvr>
                                        <p:cTn id="71" dur="1000"/>
                                        <p:tgtEl>
                                          <p:spTgt spid="259107"/>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259092"/>
                                        </p:tgtEl>
                                        <p:attrNameLst>
                                          <p:attrName>style.visibility</p:attrName>
                                        </p:attrNameLst>
                                      </p:cBhvr>
                                      <p:to>
                                        <p:strVal val="visible"/>
                                      </p:to>
                                    </p:set>
                                    <p:animEffect transition="in" filter="dissolve">
                                      <p:cBhvr>
                                        <p:cTn id="76" dur="1000"/>
                                        <p:tgtEl>
                                          <p:spTgt spid="259092"/>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59093"/>
                                        </p:tgtEl>
                                        <p:attrNameLst>
                                          <p:attrName>style.visibility</p:attrName>
                                        </p:attrNameLst>
                                      </p:cBhvr>
                                      <p:to>
                                        <p:strVal val="visible"/>
                                      </p:to>
                                    </p:set>
                                    <p:animEffect transition="in" filter="dissolve">
                                      <p:cBhvr>
                                        <p:cTn id="79" dur="1000"/>
                                        <p:tgtEl>
                                          <p:spTgt spid="25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7" grpId="0" animBg="1"/>
      <p:bldP spid="259078" grpId="0" animBg="1"/>
      <p:bldP spid="259079" grpId="0" animBg="1"/>
      <p:bldP spid="259080" grpId="0" animBg="1"/>
      <p:bldP spid="259081" grpId="0" animBg="1"/>
      <p:bldP spid="259082" grpId="0" animBg="1"/>
      <p:bldP spid="259090" grpId="0"/>
      <p:bldP spid="259092" grpId="0"/>
      <p:bldP spid="259093" grpId="0" animBg="1"/>
      <p:bldP spid="259098" grpId="0"/>
      <p:bldP spid="259100" grpId="0"/>
      <p:bldP spid="259101" grpId="0"/>
      <p:bldP spid="259102" grpId="0"/>
      <p:bldP spid="259103" grpId="0"/>
      <p:bldP spid="259104" grpId="0" animBg="1"/>
      <p:bldP spid="259105"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100" name="AutoShape 4"/>
          <p:cNvSpPr/>
          <p:nvPr/>
        </p:nvSpPr>
        <p:spPr>
          <a:xfrm>
            <a:off x="3900488" y="3454400"/>
            <a:ext cx="1512887" cy="446088"/>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0101" name="AutoShape 5"/>
          <p:cNvSpPr/>
          <p:nvPr/>
        </p:nvSpPr>
        <p:spPr>
          <a:xfrm>
            <a:off x="1692275" y="2792413"/>
            <a:ext cx="3600450"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0103" name="AutoShape 7"/>
          <p:cNvSpPr/>
          <p:nvPr/>
        </p:nvSpPr>
        <p:spPr>
          <a:xfrm>
            <a:off x="179388" y="2000250"/>
            <a:ext cx="1152525" cy="1008063"/>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15364" name="Text Box 8"/>
          <p:cNvSpPr txBox="1"/>
          <p:nvPr/>
        </p:nvSpPr>
        <p:spPr>
          <a:xfrm>
            <a:off x="-754062" y="2047875"/>
            <a:ext cx="2117725" cy="70643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4000" b="1" dirty="0">
                <a:solidFill>
                  <a:srgbClr val="F8F8F8"/>
                </a:solidFill>
                <a:latin typeface="Helvetica" pitchFamily="34" charset="0"/>
                <a:ea typeface="宋体" panose="02010600030101010101" pitchFamily="2" charset="-122"/>
              </a:rPr>
              <a:t>定义</a:t>
            </a:r>
          </a:p>
        </p:txBody>
      </p:sp>
      <p:sp>
        <p:nvSpPr>
          <p:cNvPr id="15365" name="Rectangle 9"/>
          <p:cNvSpPr/>
          <p:nvPr/>
        </p:nvSpPr>
        <p:spPr>
          <a:xfrm>
            <a:off x="-609600" y="1196975"/>
            <a:ext cx="3440113" cy="52228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800" b="1" dirty="0">
                <a:latin typeface="Helvetica" pitchFamily="34" charset="0"/>
                <a:ea typeface="宋体" panose="02010600030101010101" pitchFamily="2" charset="-122"/>
              </a:rPr>
              <a:t>（</a:t>
            </a:r>
            <a:r>
              <a:rPr lang="en-US" altLang="zh-CN" sz="2800" b="1" dirty="0">
                <a:latin typeface="Helvetica" pitchFamily="34" charset="0"/>
                <a:ea typeface="宋体" panose="02010600030101010101" pitchFamily="2" charset="-122"/>
              </a:rPr>
              <a:t>4</a:t>
            </a:r>
            <a:r>
              <a:rPr lang="zh-CN" altLang="en-US" sz="2800" b="1" dirty="0">
                <a:latin typeface="Helvetica" pitchFamily="34" charset="0"/>
                <a:ea typeface="宋体" panose="02010600030101010101" pitchFamily="2" charset="-122"/>
              </a:rPr>
              <a:t>）时间特性</a:t>
            </a:r>
          </a:p>
        </p:txBody>
      </p:sp>
      <p:sp>
        <p:nvSpPr>
          <p:cNvPr id="15366" name="Text Box 10"/>
          <p:cNvSpPr txBox="1"/>
          <p:nvPr/>
        </p:nvSpPr>
        <p:spPr>
          <a:xfrm>
            <a:off x="-609600" y="230188"/>
            <a:ext cx="2366963" cy="522287"/>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800" b="1" dirty="0">
                <a:latin typeface="Helvetica" pitchFamily="34" charset="0"/>
                <a:ea typeface="宋体" panose="02010600030101010101" pitchFamily="2" charset="-122"/>
              </a:rPr>
              <a:t>2</a:t>
            </a:r>
            <a:r>
              <a:rPr lang="zh-CN" altLang="en-US" sz="2800" b="1" dirty="0">
                <a:latin typeface="Helvetica" pitchFamily="34" charset="0"/>
                <a:ea typeface="宋体" panose="02010600030101010101" pitchFamily="2" charset="-122"/>
              </a:rPr>
              <a:t>、特性</a:t>
            </a:r>
          </a:p>
        </p:txBody>
      </p:sp>
      <p:sp>
        <p:nvSpPr>
          <p:cNvPr id="15367" name="Rectangle 4"/>
          <p:cNvSpPr/>
          <p:nvPr/>
        </p:nvSpPr>
        <p:spPr>
          <a:xfrm>
            <a:off x="152400" y="762000"/>
            <a:ext cx="7991475" cy="503238"/>
          </a:xfrm>
          <a:prstGeom prst="rect">
            <a:avLst/>
          </a:prstGeom>
          <a:noFill/>
          <a:ln w="9525">
            <a:noFill/>
          </a:ln>
        </p:spPr>
        <p:txBody>
          <a:bodyPr anchor="t" anchorCtr="0"/>
          <a:lstStyle/>
          <a:p>
            <a:pPr marL="342900" indent="-342900" eaLnBrk="0" hangingPunct="0">
              <a:lnSpc>
                <a:spcPct val="120000"/>
              </a:lnSpc>
              <a:buClr>
                <a:srgbClr val="0000FF"/>
              </a:buClr>
              <a:buSzPct val="90000"/>
              <a:buFont typeface="Monotype Sorts" pitchFamily="2" charset="2"/>
              <a:buChar char="@"/>
            </a:pPr>
            <a:r>
              <a:rPr lang="zh-CN" altLang="en-US" sz="2000" b="1" dirty="0">
                <a:latin typeface="Times New Roman" panose="02020603050405020304" pitchFamily="18" charset="0"/>
                <a:ea typeface="宋体" panose="02010600030101010101" pitchFamily="2" charset="-122"/>
              </a:rPr>
              <a:t>总线具有以下</a:t>
            </a:r>
            <a:r>
              <a:rPr lang="en-US" altLang="zh-CN" sz="2000" b="1" dirty="0">
                <a:latin typeface="Times New Roman" panose="02020603050405020304" pitchFamily="18" charset="0"/>
                <a:ea typeface="宋体" panose="02010600030101010101" pitchFamily="2" charset="-122"/>
              </a:rPr>
              <a:t>4</a:t>
            </a:r>
            <a:r>
              <a:rPr lang="zh-CN" altLang="en-US" sz="2000" b="1" dirty="0">
                <a:latin typeface="Times New Roman" panose="02020603050405020304" pitchFamily="18" charset="0"/>
                <a:ea typeface="宋体" panose="02010600030101010101" pitchFamily="2" charset="-122"/>
              </a:rPr>
              <a:t>方面特性： </a:t>
            </a:r>
          </a:p>
        </p:txBody>
      </p:sp>
      <p:sp>
        <p:nvSpPr>
          <p:cNvPr id="260108" name="AutoShape 12"/>
          <p:cNvSpPr/>
          <p:nvPr/>
        </p:nvSpPr>
        <p:spPr>
          <a:xfrm>
            <a:off x="1331913" y="1971675"/>
            <a:ext cx="7632700" cy="4276725"/>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60109" name="Rectangle 13"/>
          <p:cNvSpPr/>
          <p:nvPr/>
        </p:nvSpPr>
        <p:spPr>
          <a:xfrm>
            <a:off x="395288" y="2225675"/>
            <a:ext cx="8702675" cy="1050925"/>
          </a:xfrm>
          <a:prstGeom prst="rect">
            <a:avLst/>
          </a:prstGeom>
          <a:noFill/>
          <a:ln w="3175">
            <a:noFill/>
          </a:ln>
        </p:spPr>
        <p:txBody>
          <a:bodyPr wrap="none" anchor="t" anchorCtr="0">
            <a:spAutoFit/>
          </a:bodyPr>
          <a:lstStyle/>
          <a:p>
            <a:pPr marL="1143000" indent="-228600" eaLnBrk="0" hangingPunct="0">
              <a:lnSpc>
                <a:spcPct val="130000"/>
              </a:lnSpc>
              <a:buClr>
                <a:schemeClr val="tx2"/>
              </a:buClr>
              <a:buSzPct val="90000"/>
              <a:buFont typeface="Monotype Sorts" pitchFamily="2" charset="2"/>
            </a:pPr>
            <a:r>
              <a:rPr lang="zh-CN" altLang="en-US" sz="2400" b="1" dirty="0">
                <a:solidFill>
                  <a:srgbClr val="FF0000"/>
                </a:solidFill>
                <a:latin typeface="Helvetica" pitchFamily="34" charset="0"/>
                <a:ea typeface="宋体" panose="02010600030101010101" pitchFamily="2" charset="-122"/>
              </a:rPr>
              <a:t>时间特性</a:t>
            </a:r>
            <a:r>
              <a:rPr lang="zh-CN" altLang="en-US" sz="2000" b="1" dirty="0">
                <a:latin typeface="Helvetica" pitchFamily="34" charset="0"/>
                <a:ea typeface="宋体" panose="02010600030101010101" pitchFamily="2" charset="-122"/>
              </a:rPr>
              <a:t>规定了每一根传输线上的信号在什么时间内才是有效的，</a:t>
            </a:r>
          </a:p>
          <a:p>
            <a:pPr marL="1143000" indent="-228600" eaLnBrk="0" hangingPunct="0">
              <a:lnSpc>
                <a:spcPct val="130000"/>
              </a:lnSpc>
              <a:buClr>
                <a:schemeClr val="tx2"/>
              </a:buClr>
              <a:buSzPct val="90000"/>
              <a:buFont typeface="Monotype Sorts" pitchFamily="2" charset="2"/>
            </a:pPr>
            <a:r>
              <a:rPr lang="zh-CN" altLang="en-US" sz="2000" b="1" dirty="0">
                <a:latin typeface="Helvetica" pitchFamily="34" charset="0"/>
                <a:ea typeface="宋体" panose="02010600030101010101" pitchFamily="2" charset="-122"/>
              </a:rPr>
              <a:t>即</a:t>
            </a:r>
            <a:r>
              <a:rPr lang="zh-CN" altLang="en-US" sz="2400" b="1" dirty="0">
                <a:solidFill>
                  <a:srgbClr val="FF0000"/>
                </a:solidFill>
                <a:latin typeface="Helvetica" pitchFamily="34" charset="0"/>
                <a:ea typeface="宋体" panose="02010600030101010101" pitchFamily="2" charset="-122"/>
              </a:rPr>
              <a:t>总线上各种信号的时序关系</a:t>
            </a:r>
            <a:r>
              <a:rPr lang="zh-CN" altLang="en-US" sz="2000" b="1" dirty="0">
                <a:latin typeface="Helvetica" pitchFamily="34" charset="0"/>
                <a:ea typeface="宋体" panose="02010600030101010101" pitchFamily="2" charset="-122"/>
              </a:rPr>
              <a:t>。</a:t>
            </a:r>
          </a:p>
        </p:txBody>
      </p:sp>
      <p:sp>
        <p:nvSpPr>
          <p:cNvPr id="260110" name="Rectangle 14"/>
          <p:cNvSpPr/>
          <p:nvPr/>
        </p:nvSpPr>
        <p:spPr>
          <a:xfrm>
            <a:off x="755650" y="3367088"/>
            <a:ext cx="6438900" cy="571500"/>
          </a:xfrm>
          <a:prstGeom prst="rect">
            <a:avLst/>
          </a:prstGeom>
          <a:noFill/>
          <a:ln w="3175">
            <a:noFill/>
          </a:ln>
        </p:spPr>
        <p:txBody>
          <a:bodyPr wrap="none" anchor="t" anchorCtr="0">
            <a:spAutoFit/>
          </a:bodyPr>
          <a:lstStyle/>
          <a:p>
            <a:pPr marL="1143000" indent="-228600" eaLnBrk="0" hangingPunct="0">
              <a:lnSpc>
                <a:spcPct val="130000"/>
              </a:lnSpc>
              <a:buClr>
                <a:srgbClr val="0000FF"/>
              </a:buClr>
              <a:buSzPct val="90000"/>
              <a:buFont typeface="Monotype Sorts" pitchFamily="2" charset="2"/>
              <a:buChar char="@"/>
            </a:pPr>
            <a:r>
              <a:rPr lang="en-US" altLang="zh-CN" sz="2000" b="1" dirty="0">
                <a:latin typeface="Helvetica" pitchFamily="34" charset="0"/>
                <a:ea typeface="宋体" panose="02010600030101010101" pitchFamily="2" charset="-122"/>
              </a:rPr>
              <a:t> </a:t>
            </a:r>
            <a:r>
              <a:rPr lang="zh-CN" altLang="en-US" sz="2000" b="1" dirty="0">
                <a:latin typeface="Helvetica" pitchFamily="34" charset="0"/>
                <a:ea typeface="宋体" panose="02010600030101010101" pitchFamily="2" charset="-122"/>
              </a:rPr>
              <a:t>时间特性可以用</a:t>
            </a:r>
            <a:r>
              <a:rPr lang="zh-CN" altLang="en-US" sz="2400" b="1" dirty="0">
                <a:solidFill>
                  <a:srgbClr val="FF0000"/>
                </a:solidFill>
                <a:latin typeface="Helvetica" pitchFamily="34" charset="0"/>
                <a:ea typeface="宋体" panose="02010600030101010101" pitchFamily="2" charset="-122"/>
              </a:rPr>
              <a:t>信号时序图</a:t>
            </a:r>
            <a:r>
              <a:rPr lang="zh-CN" altLang="en-US" sz="2000" b="1" dirty="0">
                <a:latin typeface="Helvetica" pitchFamily="34" charset="0"/>
                <a:ea typeface="宋体" panose="02010600030101010101" pitchFamily="2" charset="-122"/>
              </a:rPr>
              <a:t>来表示。          </a:t>
            </a:r>
          </a:p>
        </p:txBody>
      </p:sp>
      <p:sp>
        <p:nvSpPr>
          <p:cNvPr id="260111" name="Rectangle 15"/>
          <p:cNvSpPr/>
          <p:nvPr/>
        </p:nvSpPr>
        <p:spPr>
          <a:xfrm>
            <a:off x="1619250" y="3368675"/>
            <a:ext cx="6985000" cy="2663825"/>
          </a:xfrm>
          <a:prstGeom prst="rect">
            <a:avLst/>
          </a:prstGeom>
          <a:noFill/>
          <a:ln w="3175"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pic>
        <p:nvPicPr>
          <p:cNvPr id="118788" name="Picture 4"/>
          <p:cNvPicPr>
            <a:picLocks noChangeAspect="1"/>
          </p:cNvPicPr>
          <p:nvPr/>
        </p:nvPicPr>
        <p:blipFill>
          <a:blip r:embed="rId2"/>
          <a:stretch>
            <a:fillRect/>
          </a:stretch>
        </p:blipFill>
        <p:spPr>
          <a:xfrm>
            <a:off x="1757363" y="3944938"/>
            <a:ext cx="6400800" cy="20224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60101"/>
                                        </p:tgtEl>
                                        <p:attrNameLst>
                                          <p:attrName>style.visibility</p:attrName>
                                        </p:attrNameLst>
                                      </p:cBhvr>
                                      <p:to>
                                        <p:strVal val="visible"/>
                                      </p:to>
                                    </p:set>
                                    <p:animEffect transition="in" filter="barn(outHorizontal)">
                                      <p:cBhvr>
                                        <p:cTn id="7" dur="1000"/>
                                        <p:tgtEl>
                                          <p:spTgt spid="260101"/>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260103"/>
                                        </p:tgtEl>
                                        <p:attrNameLst>
                                          <p:attrName>style.visibility</p:attrName>
                                        </p:attrNameLst>
                                      </p:cBhvr>
                                      <p:to>
                                        <p:strVal val="visible"/>
                                      </p:to>
                                    </p:set>
                                    <p:animEffect transition="in" filter="barn(outHorizontal)">
                                      <p:cBhvr>
                                        <p:cTn id="10" dur="1000"/>
                                        <p:tgtEl>
                                          <p:spTgt spid="260103"/>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260109"/>
                                        </p:tgtEl>
                                        <p:attrNameLst>
                                          <p:attrName>style.visibility</p:attrName>
                                        </p:attrNameLst>
                                      </p:cBhvr>
                                      <p:to>
                                        <p:strVal val="visible"/>
                                      </p:to>
                                    </p:set>
                                    <p:animEffect transition="in" filter="barn(outHorizontal)">
                                      <p:cBhvr>
                                        <p:cTn id="13" dur="1000"/>
                                        <p:tgtEl>
                                          <p:spTgt spid="260109"/>
                                        </p:tgtEl>
                                      </p:cBhvr>
                                    </p:animEffect>
                                  </p:childTnLst>
                                </p:cTn>
                              </p:par>
                              <p:par>
                                <p:cTn id="14" presetID="16" presetClass="entr" presetSubtype="42" fill="hold" grpId="0" nodeType="withEffect">
                                  <p:stCondLst>
                                    <p:cond delay="0"/>
                                  </p:stCondLst>
                                  <p:childTnLst>
                                    <p:set>
                                      <p:cBhvr>
                                        <p:cTn id="15" dur="1" fill="hold">
                                          <p:stCondLst>
                                            <p:cond delay="0"/>
                                          </p:stCondLst>
                                        </p:cTn>
                                        <p:tgtEl>
                                          <p:spTgt spid="260108"/>
                                        </p:tgtEl>
                                        <p:attrNameLst>
                                          <p:attrName>style.visibility</p:attrName>
                                        </p:attrNameLst>
                                      </p:cBhvr>
                                      <p:to>
                                        <p:strVal val="visible"/>
                                      </p:to>
                                    </p:set>
                                    <p:animEffect transition="in" filter="barn(outHorizontal)">
                                      <p:cBhvr>
                                        <p:cTn id="16" dur="1000"/>
                                        <p:tgtEl>
                                          <p:spTgt spid="26010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60100"/>
                                        </p:tgtEl>
                                        <p:attrNameLst>
                                          <p:attrName>style.visibility</p:attrName>
                                        </p:attrNameLst>
                                      </p:cBhvr>
                                      <p:to>
                                        <p:strVal val="visible"/>
                                      </p:to>
                                    </p:set>
                                    <p:animEffect transition="in" filter="dissolve">
                                      <p:cBhvr>
                                        <p:cTn id="21" dur="1000"/>
                                        <p:tgtEl>
                                          <p:spTgt spid="260100"/>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60111"/>
                                        </p:tgtEl>
                                        <p:attrNameLst>
                                          <p:attrName>style.visibility</p:attrName>
                                        </p:attrNameLst>
                                      </p:cBhvr>
                                      <p:to>
                                        <p:strVal val="visible"/>
                                      </p:to>
                                    </p:set>
                                    <p:animEffect transition="in" filter="dissolve">
                                      <p:cBhvr>
                                        <p:cTn id="24" dur="1000"/>
                                        <p:tgtEl>
                                          <p:spTgt spid="260111"/>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60110"/>
                                        </p:tgtEl>
                                        <p:attrNameLst>
                                          <p:attrName>style.visibility</p:attrName>
                                        </p:attrNameLst>
                                      </p:cBhvr>
                                      <p:to>
                                        <p:strVal val="visible"/>
                                      </p:to>
                                    </p:set>
                                    <p:animEffect transition="in" filter="dissolve">
                                      <p:cBhvr>
                                        <p:cTn id="27" dur="1000"/>
                                        <p:tgtEl>
                                          <p:spTgt spid="26011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187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animBg="1"/>
      <p:bldP spid="260101" grpId="0" animBg="1"/>
      <p:bldP spid="260103" grpId="0" animBg="1"/>
      <p:bldP spid="260108" grpId="0" animBg="1"/>
      <p:bldP spid="260109" grpId="0"/>
      <p:bldP spid="260110" grpId="0"/>
      <p:bldP spid="2601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idx="4294967295"/>
          </p:nvPr>
        </p:nvSpPr>
        <p:spPr>
          <a:xfrm>
            <a:off x="685800" y="152400"/>
            <a:ext cx="8458200" cy="6096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None/>
              <a:defRPr/>
            </a:pPr>
            <a:r>
              <a:rPr kumimoji="0" lang="en-US" altLang="zh-CN" sz="3600" b="1" i="0" u="none" strike="noStrike" kern="0" cap="none" spc="0" normalizeH="0" baseline="0" noProof="0">
                <a:ln>
                  <a:noFill/>
                </a:ln>
                <a:solidFill>
                  <a:schemeClr val="tx1"/>
                </a:solidFill>
                <a:effectLst/>
                <a:uLnTx/>
                <a:uFillTx/>
                <a:latin typeface="+mn-lt"/>
                <a:ea typeface="+mn-ea"/>
                <a:cs typeface="+mn-cs"/>
              </a:rPr>
              <a:t>3.</a:t>
            </a:r>
            <a:r>
              <a:rPr kumimoji="0" lang="zh-CN" altLang="en-US" sz="3600" b="1" i="0" u="none" strike="noStrike" kern="0" cap="none" spc="0" normalizeH="0" baseline="0" noProof="0">
                <a:ln>
                  <a:noFill/>
                </a:ln>
                <a:solidFill>
                  <a:schemeClr val="tx1"/>
                </a:solidFill>
                <a:effectLst/>
                <a:uLnTx/>
                <a:uFillTx/>
                <a:latin typeface="+mn-lt"/>
                <a:ea typeface="+mn-ea"/>
                <a:cs typeface="+mn-cs"/>
              </a:rPr>
              <a:t>总线技术特点</a:t>
            </a: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262147" name="Text Box 3"/>
          <p:cNvSpPr txBox="1">
            <a:spLocks noChangeArrowheads="1"/>
          </p:cNvSpPr>
          <p:nvPr/>
        </p:nvSpPr>
        <p:spPr bwMode="auto">
          <a:xfrm>
            <a:off x="457200" y="1066800"/>
            <a:ext cx="8534400" cy="396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buNone/>
              <a:defRPr/>
            </a:pPr>
            <a:r>
              <a:rPr kumimoji="0" lang="en-US" altLang="zh-CN" sz="2800" b="1" kern="1200" cap="none" spc="0" normalizeH="0" baseline="0" noProof="0">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en-US" altLang="zh-CN" sz="2800" b="1" kern="1200" cap="none" spc="0" normalizeH="0" baseline="0" noProof="0">
                <a:latin typeface="Arial" panose="020B0604020202020204" pitchFamily="34" charset="0"/>
                <a:ea typeface="宋体" panose="02010600030101010101" pitchFamily="2" charset="-122"/>
                <a:cs typeface="+mn-cs"/>
              </a:rPr>
              <a:t>1</a:t>
            </a:r>
            <a:r>
              <a:rPr kumimoji="0" lang="zh-CN" altLang="en-US" sz="2800" b="1" kern="1200" cap="none" spc="0" normalizeH="0" baseline="0" noProof="0">
                <a:latin typeface="Arial" panose="020B0604020202020204" pitchFamily="34" charset="0"/>
                <a:ea typeface="宋体" panose="02010600030101010101" pitchFamily="2" charset="-122"/>
                <a:cs typeface="+mn-cs"/>
              </a:rPr>
              <a:t>）使系统中的连线大大减少，可靠性高                                                               </a:t>
            </a:r>
          </a:p>
          <a:p>
            <a:pPr marR="0" defTabSz="914400">
              <a:buClrTx/>
              <a:buSzTx/>
              <a:buFontTx/>
              <a:buNone/>
              <a:defRPr/>
            </a:pPr>
            <a:r>
              <a:rPr kumimoji="0" lang="zh-CN" altLang="en-US" sz="2800" b="1" kern="1200" cap="none" spc="0" normalizeH="0" baseline="0" noProof="0">
                <a:latin typeface="Arial" panose="020B0604020202020204" pitchFamily="34" charset="0"/>
                <a:ea typeface="宋体" panose="02010600030101010101" pitchFamily="2" charset="-122"/>
                <a:cs typeface="+mn-cs"/>
              </a:rPr>
              <a:t>   </a:t>
            </a:r>
            <a:r>
              <a:rPr kumimoji="0" lang="en-US" altLang="zh-CN" sz="2800" b="1" kern="1200" cap="none" spc="0" normalizeH="0" baseline="0" noProof="0">
                <a:latin typeface="Arial" panose="020B0604020202020204" pitchFamily="34" charset="0"/>
                <a:ea typeface="宋体" panose="02010600030101010101" pitchFamily="2" charset="-122"/>
                <a:cs typeface="+mn-cs"/>
              </a:rPr>
              <a:t>2</a:t>
            </a:r>
            <a:r>
              <a:rPr kumimoji="0" lang="zh-CN" altLang="en-US" sz="2800" b="1" kern="1200" cap="none" spc="0" normalizeH="0" baseline="0" noProof="0">
                <a:latin typeface="Arial" panose="020B0604020202020204" pitchFamily="34" charset="0"/>
                <a:ea typeface="宋体" panose="02010600030101010101" pitchFamily="2" charset="-122"/>
                <a:cs typeface="+mn-cs"/>
              </a:rPr>
              <a:t>）便于硬件和软件的标准化，便于接口设计</a:t>
            </a:r>
          </a:p>
          <a:p>
            <a:pPr marR="0" defTabSz="914400">
              <a:buClrTx/>
              <a:buSzTx/>
              <a:buFontTx/>
              <a:buNone/>
              <a:defRPr/>
            </a:pPr>
            <a:r>
              <a:rPr kumimoji="0" lang="zh-CN" altLang="en-US" sz="2800" b="1" kern="1200" cap="none" spc="0" normalizeH="0" baseline="0" noProof="0">
                <a:latin typeface="Arial" panose="020B0604020202020204" pitchFamily="34" charset="0"/>
                <a:ea typeface="宋体" panose="02010600030101010101" pitchFamily="2" charset="-122"/>
                <a:cs typeface="+mn-cs"/>
              </a:rPr>
              <a:t>   </a:t>
            </a:r>
            <a:r>
              <a:rPr kumimoji="0" lang="en-US" altLang="zh-CN" sz="2800" b="1" kern="1200" cap="none" spc="0" normalizeH="0" baseline="0" noProof="0">
                <a:latin typeface="Arial" panose="020B0604020202020204" pitchFamily="34" charset="0"/>
                <a:ea typeface="宋体" panose="02010600030101010101" pitchFamily="2" charset="-122"/>
                <a:cs typeface="+mn-cs"/>
              </a:rPr>
              <a:t>3</a:t>
            </a:r>
            <a:r>
              <a:rPr kumimoji="0" lang="zh-CN" altLang="en-US" sz="2800" b="1" kern="1200" cap="none" spc="0" normalizeH="0" baseline="0" noProof="0">
                <a:latin typeface="Arial" panose="020B0604020202020204" pitchFamily="34" charset="0"/>
                <a:ea typeface="宋体" panose="02010600030101010101" pitchFamily="2" charset="-122"/>
                <a:cs typeface="+mn-cs"/>
              </a:rPr>
              <a:t>）易于系统模块化，可替换性好</a:t>
            </a:r>
          </a:p>
          <a:p>
            <a:pPr marR="0" defTabSz="914400">
              <a:buClrTx/>
              <a:buSzTx/>
              <a:buFontTx/>
              <a:buNone/>
              <a:defRPr/>
            </a:pPr>
            <a:r>
              <a:rPr kumimoji="0" lang="zh-CN" altLang="en-US" sz="2800" b="1" kern="1200" cap="none" spc="0" normalizeH="0" baseline="0" noProof="0">
                <a:latin typeface="Arial" panose="020B0604020202020204" pitchFamily="34" charset="0"/>
                <a:ea typeface="宋体" panose="02010600030101010101" pitchFamily="2" charset="-122"/>
                <a:cs typeface="+mn-cs"/>
              </a:rPr>
              <a:t>   </a:t>
            </a:r>
            <a:r>
              <a:rPr kumimoji="0" lang="en-US" altLang="zh-CN" sz="2800" b="1" kern="1200" cap="none" spc="0" normalizeH="0" baseline="0" noProof="0">
                <a:latin typeface="Arial" panose="020B0604020202020204" pitchFamily="34" charset="0"/>
                <a:ea typeface="宋体" panose="02010600030101010101" pitchFamily="2" charset="-122"/>
                <a:cs typeface="+mn-cs"/>
              </a:rPr>
              <a:t>4</a:t>
            </a:r>
            <a:r>
              <a:rPr kumimoji="0" lang="zh-CN" altLang="en-US" sz="2800" b="1" kern="1200" cap="none" spc="0" normalizeH="0" baseline="0" noProof="0">
                <a:latin typeface="Arial" panose="020B0604020202020204" pitchFamily="34" charset="0"/>
                <a:ea typeface="宋体" panose="02010600030101010101" pitchFamily="2" charset="-122"/>
                <a:cs typeface="+mn-cs"/>
              </a:rPr>
              <a:t>）便于维修，即可维护性好</a:t>
            </a:r>
          </a:p>
          <a:p>
            <a:pPr marR="0" defTabSz="914400">
              <a:buClrTx/>
              <a:buSzTx/>
              <a:buFontTx/>
              <a:buNone/>
              <a:defRPr/>
            </a:pPr>
            <a:r>
              <a:rPr kumimoji="0" lang="zh-CN" altLang="en-US" sz="2800" b="1" kern="1200" cap="none" spc="0" normalizeH="0" baseline="0" noProof="0">
                <a:latin typeface="Arial" panose="020B0604020202020204" pitchFamily="34" charset="0"/>
                <a:ea typeface="宋体" panose="02010600030101010101" pitchFamily="2" charset="-122"/>
                <a:cs typeface="+mn-cs"/>
              </a:rPr>
              <a:t>   </a:t>
            </a:r>
            <a:r>
              <a:rPr kumimoji="0" lang="en-US" altLang="zh-CN" sz="2800" b="1" kern="1200" cap="none" spc="0" normalizeH="0" baseline="0" noProof="0">
                <a:latin typeface="Arial" panose="020B0604020202020204" pitchFamily="34" charset="0"/>
                <a:ea typeface="宋体" panose="02010600030101010101" pitchFamily="2" charset="-122"/>
                <a:cs typeface="+mn-cs"/>
              </a:rPr>
              <a:t>5</a:t>
            </a:r>
            <a:r>
              <a:rPr kumimoji="0" lang="zh-CN" altLang="en-US" sz="2800" b="1" kern="1200" cap="none" spc="0" normalizeH="0" baseline="0" noProof="0">
                <a:latin typeface="Arial" panose="020B0604020202020204" pitchFamily="34" charset="0"/>
                <a:ea typeface="宋体" panose="02010600030101010101" pitchFamily="2" charset="-122"/>
                <a:cs typeface="+mn-cs"/>
              </a:rPr>
              <a:t>）</a:t>
            </a:r>
            <a:r>
              <a:rPr kumimoji="0" lang="zh-CN" altLang="en-US" sz="2800" b="1" kern="1200" cap="none" spc="0" normalizeH="0" baseline="0" noProof="0">
                <a:solidFill>
                  <a:srgbClr val="FF0000"/>
                </a:solidFill>
                <a:latin typeface="Arial" panose="020B0604020202020204" pitchFamily="34" charset="0"/>
                <a:ea typeface="宋体" panose="02010600030101010101" pitchFamily="2" charset="-122"/>
                <a:cs typeface="+mn-cs"/>
              </a:rPr>
              <a:t>分时传送，任意时刻只有一个源发送，可由多个部件接收</a:t>
            </a:r>
          </a:p>
          <a:p>
            <a:pPr marR="0" defTabSz="914400">
              <a:buClrTx/>
              <a:buSzTx/>
              <a:buFontTx/>
              <a:buNone/>
              <a:defRPr/>
            </a:pPr>
            <a:r>
              <a:rPr kumimoji="0" lang="zh-CN" altLang="en-US" sz="2800" b="1" kern="1200" cap="none" spc="0" normalizeH="0" baseline="0" noProof="0">
                <a:latin typeface="Arial" panose="020B0604020202020204" pitchFamily="34" charset="0"/>
                <a:ea typeface="宋体" panose="02010600030101010101" pitchFamily="2" charset="-122"/>
                <a:cs typeface="+mn-cs"/>
              </a:rPr>
              <a:t>   </a:t>
            </a:r>
            <a:r>
              <a:rPr kumimoji="0" lang="en-US" altLang="zh-CN" sz="2800" b="1" kern="1200" cap="none" spc="0" normalizeH="0" baseline="0" noProof="0">
                <a:latin typeface="Arial" panose="020B0604020202020204" pitchFamily="34" charset="0"/>
                <a:ea typeface="宋体" panose="02010600030101010101" pitchFamily="2" charset="-122"/>
                <a:cs typeface="+mn-cs"/>
              </a:rPr>
              <a:t>6</a:t>
            </a:r>
            <a:r>
              <a:rPr kumimoji="0" lang="zh-CN" altLang="en-US" sz="2800" b="1" kern="1200" cap="none" spc="0" normalizeH="0" baseline="0" noProof="0">
                <a:latin typeface="Arial" panose="020B0604020202020204" pitchFamily="34" charset="0"/>
                <a:ea typeface="宋体" panose="02010600030101010101" pitchFamily="2" charset="-122"/>
                <a:cs typeface="+mn-cs"/>
              </a:rPr>
              <a:t>）有仲裁机制</a:t>
            </a:r>
          </a:p>
          <a:p>
            <a:pPr marR="0" defTabSz="914400">
              <a:buClrTx/>
              <a:buSzTx/>
              <a:buFontTx/>
              <a:buNone/>
              <a:defRPr/>
            </a:pPr>
            <a:r>
              <a:rPr kumimoji="0" lang="zh-CN" altLang="en-US" sz="2800" b="1" kern="1200" cap="none" spc="0" normalizeH="0" baseline="0" noProof="0">
                <a:latin typeface="Arial" panose="020B0604020202020204" pitchFamily="34" charset="0"/>
                <a:ea typeface="宋体" panose="02010600030101010101" pitchFamily="2" charset="-122"/>
                <a:cs typeface="+mn-cs"/>
              </a:rPr>
              <a:t>   </a:t>
            </a:r>
            <a:r>
              <a:rPr kumimoji="0" lang="en-US" altLang="zh-CN" sz="2800" b="1" kern="1200" cap="none" spc="0" normalizeH="0" baseline="0" noProof="0">
                <a:latin typeface="Arial" panose="020B0604020202020204" pitchFamily="34" charset="0"/>
                <a:ea typeface="宋体" panose="02010600030101010101" pitchFamily="2" charset="-122"/>
                <a:cs typeface="+mn-cs"/>
              </a:rPr>
              <a:t>7</a:t>
            </a:r>
            <a:r>
              <a:rPr kumimoji="0" lang="zh-CN" altLang="en-US" sz="2800" b="1" kern="1200" cap="none" spc="0" normalizeH="0" baseline="0" noProof="0">
                <a:latin typeface="Arial" panose="020B0604020202020204" pitchFamily="34" charset="0"/>
                <a:ea typeface="宋体" panose="02010600030101010101" pitchFamily="2" charset="-122"/>
                <a:cs typeface="+mn-cs"/>
              </a:rPr>
              <a:t>）缺点：传输率受带宽限制，且总线一旦故障，整个系统将瘫痪</a:t>
            </a:r>
            <a:endParaRPr kumimoji="0" lang="zh-CN" altLang="en-US" sz="2800" kern="1200" cap="none" spc="0" normalizeH="0" baseline="0" noProof="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2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62147">
                                            <p:txEl>
                                              <p:pRg st="0" end="0"/>
                                            </p:txEl>
                                          </p:spTgt>
                                        </p:tgtEl>
                                        <p:attrNameLst>
                                          <p:attrName>style.visibility</p:attrName>
                                        </p:attrNameLst>
                                      </p:cBhvr>
                                      <p:to>
                                        <p:strVal val="visible"/>
                                      </p:to>
                                    </p:set>
                                    <p:animEffect transition="in" filter="blinds(horizontal)">
                                      <p:cBhvr>
                                        <p:cTn id="11" dur="500"/>
                                        <p:tgtEl>
                                          <p:spTgt spid="26214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62147">
                                            <p:txEl>
                                              <p:pRg st="1" end="1"/>
                                            </p:txEl>
                                          </p:spTgt>
                                        </p:tgtEl>
                                        <p:attrNameLst>
                                          <p:attrName>style.visibility</p:attrName>
                                        </p:attrNameLst>
                                      </p:cBhvr>
                                      <p:to>
                                        <p:strVal val="visible"/>
                                      </p:to>
                                    </p:set>
                                    <p:animEffect transition="in" filter="blinds(horizontal)">
                                      <p:cBhvr>
                                        <p:cTn id="16" dur="500"/>
                                        <p:tgtEl>
                                          <p:spTgt spid="26214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62147">
                                            <p:txEl>
                                              <p:pRg st="2" end="2"/>
                                            </p:txEl>
                                          </p:spTgt>
                                        </p:tgtEl>
                                        <p:attrNameLst>
                                          <p:attrName>style.visibility</p:attrName>
                                        </p:attrNameLst>
                                      </p:cBhvr>
                                      <p:to>
                                        <p:strVal val="visible"/>
                                      </p:to>
                                    </p:set>
                                    <p:animEffect transition="in" filter="blinds(horizontal)">
                                      <p:cBhvr>
                                        <p:cTn id="21" dur="500"/>
                                        <p:tgtEl>
                                          <p:spTgt spid="262147">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62147">
                                            <p:txEl>
                                              <p:pRg st="3" end="3"/>
                                            </p:txEl>
                                          </p:spTgt>
                                        </p:tgtEl>
                                        <p:attrNameLst>
                                          <p:attrName>style.visibility</p:attrName>
                                        </p:attrNameLst>
                                      </p:cBhvr>
                                      <p:to>
                                        <p:strVal val="visible"/>
                                      </p:to>
                                    </p:set>
                                    <p:animEffect transition="in" filter="blinds(horizontal)">
                                      <p:cBhvr>
                                        <p:cTn id="26" dur="500"/>
                                        <p:tgtEl>
                                          <p:spTgt spid="26214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62147">
                                            <p:txEl>
                                              <p:pRg st="4" end="4"/>
                                            </p:txEl>
                                          </p:spTgt>
                                        </p:tgtEl>
                                        <p:attrNameLst>
                                          <p:attrName>style.visibility</p:attrName>
                                        </p:attrNameLst>
                                      </p:cBhvr>
                                      <p:to>
                                        <p:strVal val="visible"/>
                                      </p:to>
                                    </p:set>
                                    <p:animEffect transition="in" filter="blinds(horizontal)">
                                      <p:cBhvr>
                                        <p:cTn id="31" dur="500"/>
                                        <p:tgtEl>
                                          <p:spTgt spid="262147">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62147">
                                            <p:txEl>
                                              <p:pRg st="5" end="5"/>
                                            </p:txEl>
                                          </p:spTgt>
                                        </p:tgtEl>
                                        <p:attrNameLst>
                                          <p:attrName>style.visibility</p:attrName>
                                        </p:attrNameLst>
                                      </p:cBhvr>
                                      <p:to>
                                        <p:strVal val="visible"/>
                                      </p:to>
                                    </p:set>
                                    <p:animEffect transition="in" filter="blinds(horizontal)">
                                      <p:cBhvr>
                                        <p:cTn id="36" dur="500"/>
                                        <p:tgtEl>
                                          <p:spTgt spid="262147">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62147">
                                            <p:txEl>
                                              <p:pRg st="6" end="6"/>
                                            </p:txEl>
                                          </p:spTgt>
                                        </p:tgtEl>
                                        <p:attrNameLst>
                                          <p:attrName>style.visibility</p:attrName>
                                        </p:attrNameLst>
                                      </p:cBhvr>
                                      <p:to>
                                        <p:strVal val="visible"/>
                                      </p:to>
                                    </p:set>
                                    <p:animEffect transition="in" filter="blinds(horizontal)">
                                      <p:cBhvr>
                                        <p:cTn id="41" dur="500"/>
                                        <p:tgtEl>
                                          <p:spTgt spid="262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idx="4294967295"/>
          </p:nvPr>
        </p:nvSpPr>
        <p:spPr>
          <a:xfrm>
            <a:off x="0" y="277813"/>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1"/>
                </a:solidFill>
                <a:effectLst/>
                <a:uLnTx/>
                <a:uFillTx/>
                <a:latin typeface="+mj-lt"/>
                <a:ea typeface="+mj-ea"/>
                <a:cs typeface="+mj-cs"/>
              </a:rPr>
              <a:t>3.2 </a:t>
            </a:r>
            <a:r>
              <a:rPr kumimoji="0" lang="zh-CN" altLang="en-US" sz="4400" b="1" i="0" u="none" strike="noStrike" kern="0" cap="none" spc="0" normalizeH="0" baseline="0" noProof="0">
                <a:ln>
                  <a:noFill/>
                </a:ln>
                <a:solidFill>
                  <a:schemeClr val="tx1"/>
                </a:solidFill>
                <a:effectLst/>
                <a:uLnTx/>
                <a:uFillTx/>
                <a:latin typeface="+mj-lt"/>
                <a:ea typeface="+mj-ea"/>
                <a:cs typeface="+mj-cs"/>
              </a:rPr>
              <a:t>总线控制</a:t>
            </a:r>
          </a:p>
        </p:txBody>
      </p:sp>
      <p:sp>
        <p:nvSpPr>
          <p:cNvPr id="201731" name="Text Box 3"/>
          <p:cNvSpPr txBox="1"/>
          <p:nvPr/>
        </p:nvSpPr>
        <p:spPr>
          <a:xfrm>
            <a:off x="228600" y="1295400"/>
            <a:ext cx="8686800" cy="5416550"/>
          </a:xfrm>
          <a:prstGeom prst="rect">
            <a:avLst/>
          </a:prstGeom>
          <a:noFill/>
          <a:ln w="9525">
            <a:noFill/>
          </a:ln>
        </p:spPr>
        <p:txBody>
          <a:bodyPr anchor="t" anchorCtr="0">
            <a:spAutoFit/>
          </a:bodyPr>
          <a:lstStyle/>
          <a:p>
            <a:pPr marL="342900" indent="-342900">
              <a:buClrTx/>
              <a:buFontTx/>
            </a:pPr>
            <a:r>
              <a:rPr lang="zh-CN" altLang="en-US" sz="2800" b="1" dirty="0">
                <a:latin typeface="Arial" panose="020B0604020202020204" pitchFamily="34" charset="0"/>
                <a:ea typeface="宋体" panose="02010600030101010101" pitchFamily="2" charset="-122"/>
              </a:rPr>
              <a:t>一、总线控制的功能和特点</a:t>
            </a:r>
          </a:p>
          <a:p>
            <a:pPr marL="342900" indent="-342900">
              <a:buClrTx/>
              <a:buFontTx/>
            </a:pP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、总线控制就是管理总线的使用，包括总线上设备的管理和设备使用总线的过程管理。具体功能如下：</a:t>
            </a:r>
          </a:p>
          <a:p>
            <a:pPr marL="342900" indent="-342900">
              <a:buClrTx/>
              <a:buFontTx/>
            </a:pPr>
            <a:br>
              <a:rPr lang="zh-CN" altLang="en-US" b="1" dirty="0">
                <a:latin typeface="Arial" panose="020B0604020202020204" pitchFamily="34" charset="0"/>
                <a:ea typeface="宋体" panose="02010600030101010101" pitchFamily="2" charset="-122"/>
              </a:rPr>
            </a:br>
            <a:endParaRPr lang="zh-CN" altLang="en-US" b="1" dirty="0">
              <a:latin typeface="Arial" panose="020B0604020202020204" pitchFamily="34" charset="0"/>
              <a:ea typeface="宋体" panose="02010600030101010101" pitchFamily="2" charset="-122"/>
            </a:endParaRPr>
          </a:p>
          <a:p>
            <a:pPr marL="342900" indent="-342900">
              <a:buClrTx/>
              <a:buFontTx/>
            </a:pPr>
            <a:endParaRPr lang="zh-CN" altLang="en-US" b="1" dirty="0">
              <a:latin typeface="Arial" panose="020B0604020202020204" pitchFamily="34" charset="0"/>
              <a:ea typeface="宋体" panose="02010600030101010101" pitchFamily="2" charset="-122"/>
            </a:endParaRPr>
          </a:p>
          <a:p>
            <a:pPr marL="342900" indent="-342900">
              <a:buClrTx/>
              <a:buFontTx/>
            </a:pPr>
            <a:endParaRPr lang="zh-CN" altLang="en-US" b="1" dirty="0">
              <a:latin typeface="Arial" panose="020B0604020202020204" pitchFamily="34" charset="0"/>
              <a:ea typeface="宋体" panose="02010600030101010101" pitchFamily="2" charset="-122"/>
            </a:endParaRPr>
          </a:p>
          <a:p>
            <a:pPr marL="342900" indent="-342900">
              <a:buClrTx/>
              <a:buFontTx/>
            </a:pPr>
            <a:endParaRPr lang="zh-CN" altLang="en-US" b="1" dirty="0">
              <a:latin typeface="Arial" panose="020B0604020202020204" pitchFamily="34" charset="0"/>
              <a:ea typeface="宋体" panose="02010600030101010101" pitchFamily="2" charset="-122"/>
            </a:endParaRPr>
          </a:p>
          <a:p>
            <a:pPr marL="342900" indent="-342900">
              <a:buClrTx/>
              <a:buFontTx/>
            </a:pPr>
            <a:endParaRPr lang="zh-CN" altLang="en-US" b="1" dirty="0">
              <a:latin typeface="Arial" panose="020B0604020202020204" pitchFamily="34" charset="0"/>
              <a:ea typeface="宋体" panose="02010600030101010101" pitchFamily="2" charset="-122"/>
            </a:endParaRPr>
          </a:p>
          <a:p>
            <a:pPr marL="342900" indent="-342900">
              <a:buClrTx/>
              <a:buFontTx/>
            </a:pPr>
            <a:endParaRPr lang="zh-CN" altLang="en-US" b="1" dirty="0">
              <a:latin typeface="Arial" panose="020B0604020202020204" pitchFamily="34" charset="0"/>
              <a:ea typeface="宋体" panose="02010600030101010101" pitchFamily="2" charset="-122"/>
            </a:endParaRPr>
          </a:p>
          <a:p>
            <a:pPr marL="342900" indent="-342900">
              <a:buClrTx/>
              <a:buFontTx/>
            </a:pPr>
            <a:endParaRPr lang="zh-CN" altLang="en-US" sz="2400" b="1" dirty="0">
              <a:latin typeface="Arial" panose="020B0604020202020204" pitchFamily="34" charset="0"/>
              <a:ea typeface="宋体" panose="02010600030101010101" pitchFamily="2" charset="-122"/>
            </a:endParaRPr>
          </a:p>
          <a:p>
            <a:pPr marL="342900" indent="-342900">
              <a:buClrTx/>
              <a:buFontTx/>
            </a:pP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、特点：</a:t>
            </a:r>
          </a:p>
          <a:p>
            <a:pPr marL="342900" indent="-342900">
              <a:buClrTx/>
              <a:buFontTx/>
            </a:pPr>
            <a:r>
              <a:rPr lang="zh-CN" altLang="en-US" sz="2400" b="1" dirty="0">
                <a:latin typeface="Arial" panose="020B0604020202020204" pitchFamily="34" charset="0"/>
                <a:ea typeface="宋体" panose="02010600030101010101" pitchFamily="2" charset="-122"/>
              </a:rPr>
              <a:t>        总线控制的功能由总线控制器来完成。而总线控制器在实现技术上并不一定存在一个独立的控制器模块。它的功能可能分布在总线的各个部件或设备上。</a:t>
            </a:r>
          </a:p>
          <a:p>
            <a:pPr marL="342900" indent="-342900">
              <a:buClrTx/>
              <a:buFontTx/>
            </a:pPr>
            <a:r>
              <a:rPr lang="zh-CN" altLang="en-US" sz="2400" b="1" dirty="0">
                <a:latin typeface="Arial" panose="020B0604020202020204" pitchFamily="34" charset="0"/>
                <a:ea typeface="宋体" panose="02010600030101010101" pitchFamily="2" charset="-122"/>
              </a:rPr>
              <a:t>　</a:t>
            </a:r>
          </a:p>
        </p:txBody>
      </p:sp>
      <p:sp>
        <p:nvSpPr>
          <p:cNvPr id="201732" name="AutoShape 4"/>
          <p:cNvSpPr/>
          <p:nvPr/>
        </p:nvSpPr>
        <p:spPr>
          <a:xfrm>
            <a:off x="609600" y="2667000"/>
            <a:ext cx="381000" cy="1676400"/>
          </a:xfrm>
          <a:prstGeom prst="leftBrace">
            <a:avLst>
              <a:gd name="adj1" fmla="val 36524"/>
              <a:gd name="adj2" fmla="val 50000"/>
            </a:avLst>
          </a:prstGeom>
          <a:noFill/>
          <a:ln w="3810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1733" name="Text Box 5"/>
          <p:cNvSpPr txBox="1"/>
          <p:nvPr/>
        </p:nvSpPr>
        <p:spPr>
          <a:xfrm>
            <a:off x="990600" y="2514600"/>
            <a:ext cx="2209800" cy="398463"/>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总线资源的管理</a:t>
            </a:r>
          </a:p>
        </p:txBody>
      </p:sp>
      <p:sp>
        <p:nvSpPr>
          <p:cNvPr id="201734" name="AutoShape 6"/>
          <p:cNvSpPr/>
          <p:nvPr/>
        </p:nvSpPr>
        <p:spPr>
          <a:xfrm>
            <a:off x="3124200" y="2514600"/>
            <a:ext cx="152400" cy="762000"/>
          </a:xfrm>
          <a:prstGeom prst="leftBrace">
            <a:avLst>
              <a:gd name="adj1" fmla="val 41504"/>
              <a:gd name="adj2" fmla="val 50000"/>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1735" name="Text Box 7"/>
          <p:cNvSpPr txBox="1"/>
          <p:nvPr/>
        </p:nvSpPr>
        <p:spPr>
          <a:xfrm>
            <a:off x="3352800" y="2514600"/>
            <a:ext cx="5334000" cy="368300"/>
          </a:xfrm>
          <a:prstGeom prst="rect">
            <a:avLst/>
          </a:prstGeom>
          <a:noFill/>
          <a:ln w="9525">
            <a:noFill/>
          </a:ln>
        </p:spPr>
        <p:txBody>
          <a:bodyPr anchor="t" anchorCtr="0">
            <a:spAutoFit/>
          </a:bodyPr>
          <a:lstStyle/>
          <a:p>
            <a:pPr>
              <a:spcBef>
                <a:spcPct val="50000"/>
              </a:spcBef>
              <a:buClrTx/>
              <a:buFontTx/>
            </a:pPr>
            <a:r>
              <a:rPr lang="zh-CN" altLang="en-US" b="1" dirty="0">
                <a:latin typeface="Arial" panose="020B0604020202020204" pitchFamily="34" charset="0"/>
                <a:ea typeface="宋体" panose="02010600030101010101" pitchFamily="2" charset="-122"/>
              </a:rPr>
              <a:t>资源：存储空间、</a:t>
            </a:r>
            <a:r>
              <a:rPr lang="en-US" altLang="zh-CN" b="1" dirty="0">
                <a:latin typeface="Arial" panose="020B0604020202020204" pitchFamily="34" charset="0"/>
                <a:ea typeface="宋体" panose="02010600030101010101" pitchFamily="2" charset="-122"/>
              </a:rPr>
              <a:t>I/O</a:t>
            </a:r>
            <a:r>
              <a:rPr lang="zh-CN" altLang="en-US" b="1" dirty="0">
                <a:latin typeface="Arial" panose="020B0604020202020204" pitchFamily="34" charset="0"/>
                <a:ea typeface="宋体" panose="02010600030101010101" pitchFamily="2" charset="-122"/>
              </a:rPr>
              <a:t>空间、中断、通道</a:t>
            </a:r>
          </a:p>
        </p:txBody>
      </p:sp>
      <p:sp>
        <p:nvSpPr>
          <p:cNvPr id="201736" name="Text Box 8"/>
          <p:cNvSpPr txBox="1"/>
          <p:nvPr/>
        </p:nvSpPr>
        <p:spPr>
          <a:xfrm>
            <a:off x="3429000" y="2971800"/>
            <a:ext cx="5486400" cy="368300"/>
          </a:xfrm>
          <a:prstGeom prst="rect">
            <a:avLst/>
          </a:prstGeom>
          <a:noFill/>
          <a:ln w="9525">
            <a:noFill/>
          </a:ln>
        </p:spPr>
        <p:txBody>
          <a:bodyPr anchor="t" anchorCtr="0">
            <a:spAutoFit/>
          </a:bodyPr>
          <a:lstStyle/>
          <a:p>
            <a:pPr>
              <a:spcBef>
                <a:spcPct val="50000"/>
              </a:spcBef>
              <a:buClrTx/>
              <a:buFontTx/>
            </a:pPr>
            <a:r>
              <a:rPr lang="zh-CN" altLang="en-US" b="1" dirty="0">
                <a:latin typeface="Arial" panose="020B0604020202020204" pitchFamily="34" charset="0"/>
                <a:ea typeface="宋体" panose="02010600030101010101" pitchFamily="2" charset="-122"/>
              </a:rPr>
              <a:t>管理：资源分配、冲突判定、设备选择、启动、复位</a:t>
            </a:r>
          </a:p>
        </p:txBody>
      </p:sp>
      <p:sp>
        <p:nvSpPr>
          <p:cNvPr id="201737" name="Text Box 9"/>
          <p:cNvSpPr txBox="1"/>
          <p:nvPr/>
        </p:nvSpPr>
        <p:spPr>
          <a:xfrm>
            <a:off x="990600" y="3276600"/>
            <a:ext cx="4800600" cy="1322388"/>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总线仲裁</a:t>
            </a:r>
          </a:p>
          <a:p>
            <a:pPr>
              <a:spcBef>
                <a:spcPct val="50000"/>
              </a:spcBef>
              <a:buClrTx/>
              <a:buFontTx/>
            </a:pPr>
            <a:r>
              <a:rPr lang="zh-CN" altLang="en-US" sz="2000" b="1" dirty="0">
                <a:latin typeface="Arial" panose="020B0604020202020204" pitchFamily="34" charset="0"/>
                <a:ea typeface="宋体" panose="02010600030101010101" pitchFamily="2" charset="-122"/>
              </a:rPr>
              <a:t>总线定时（通信控制）</a:t>
            </a:r>
          </a:p>
          <a:p>
            <a:pPr>
              <a:spcBef>
                <a:spcPct val="50000"/>
              </a:spcBef>
              <a:buClrTx/>
              <a:buFontTx/>
            </a:pPr>
            <a:r>
              <a:rPr lang="zh-CN" altLang="en-US" sz="2000" b="1" dirty="0">
                <a:latin typeface="Arial" panose="020B0604020202020204" pitchFamily="34" charset="0"/>
                <a:ea typeface="宋体" panose="02010600030101010101" pitchFamily="2" charset="-122"/>
              </a:rPr>
              <a:t>总线连接，实现不同总线协议之间的转换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blinds(horizontal)">
                                      <p:cBhvr>
                                        <p:cTn id="7" dur="500"/>
                                        <p:tgtEl>
                                          <p:spTgt spid="2017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1731">
                                            <p:txEl>
                                              <p:pRg st="0" end="0"/>
                                            </p:txEl>
                                          </p:spTgt>
                                        </p:tgtEl>
                                        <p:attrNameLst>
                                          <p:attrName>style.visibility</p:attrName>
                                        </p:attrNameLst>
                                      </p:cBhvr>
                                      <p:to>
                                        <p:strVal val="visible"/>
                                      </p:to>
                                    </p:set>
                                    <p:animEffect transition="in" filter="blinds(horizontal)">
                                      <p:cBhvr>
                                        <p:cTn id="12" dur="500"/>
                                        <p:tgtEl>
                                          <p:spTgt spid="2017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1731">
                                            <p:txEl>
                                              <p:pRg st="1" end="1"/>
                                            </p:txEl>
                                          </p:spTgt>
                                        </p:tgtEl>
                                        <p:attrNameLst>
                                          <p:attrName>style.visibility</p:attrName>
                                        </p:attrNameLst>
                                      </p:cBhvr>
                                      <p:to>
                                        <p:strVal val="visible"/>
                                      </p:to>
                                    </p:set>
                                    <p:animEffect transition="in" filter="blinds(horizontal)">
                                      <p:cBhvr>
                                        <p:cTn id="17" dur="500"/>
                                        <p:tgtEl>
                                          <p:spTgt spid="20173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1732"/>
                                        </p:tgtEl>
                                        <p:attrNameLst>
                                          <p:attrName>style.visibility</p:attrName>
                                        </p:attrNameLst>
                                      </p:cBhvr>
                                      <p:to>
                                        <p:strVal val="visible"/>
                                      </p:to>
                                    </p:set>
                                    <p:animEffect transition="in" filter="blinds(horizontal)">
                                      <p:cBhvr>
                                        <p:cTn id="22" dur="500"/>
                                        <p:tgtEl>
                                          <p:spTgt spid="20173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01733"/>
                                        </p:tgtEl>
                                        <p:attrNameLst>
                                          <p:attrName>style.visibility</p:attrName>
                                        </p:attrNameLst>
                                      </p:cBhvr>
                                      <p:to>
                                        <p:strVal val="visible"/>
                                      </p:to>
                                    </p:set>
                                    <p:animEffect transition="in" filter="blinds(horizontal)">
                                      <p:cBhvr>
                                        <p:cTn id="25" dur="500"/>
                                        <p:tgtEl>
                                          <p:spTgt spid="20173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01734"/>
                                        </p:tgtEl>
                                        <p:attrNameLst>
                                          <p:attrName>style.visibility</p:attrName>
                                        </p:attrNameLst>
                                      </p:cBhvr>
                                      <p:to>
                                        <p:strVal val="visible"/>
                                      </p:to>
                                    </p:set>
                                    <p:animEffect transition="in" filter="blinds(horizontal)">
                                      <p:cBhvr>
                                        <p:cTn id="30" dur="500"/>
                                        <p:tgtEl>
                                          <p:spTgt spid="201734"/>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01735"/>
                                        </p:tgtEl>
                                        <p:attrNameLst>
                                          <p:attrName>style.visibility</p:attrName>
                                        </p:attrNameLst>
                                      </p:cBhvr>
                                      <p:to>
                                        <p:strVal val="visible"/>
                                      </p:to>
                                    </p:set>
                                    <p:animEffect transition="in" filter="blinds(horizontal)">
                                      <p:cBhvr>
                                        <p:cTn id="33" dur="500"/>
                                        <p:tgtEl>
                                          <p:spTgt spid="20173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01736"/>
                                        </p:tgtEl>
                                        <p:attrNameLst>
                                          <p:attrName>style.visibility</p:attrName>
                                        </p:attrNameLst>
                                      </p:cBhvr>
                                      <p:to>
                                        <p:strVal val="visible"/>
                                      </p:to>
                                    </p:set>
                                    <p:animEffect transition="in" filter="blinds(horizontal)">
                                      <p:cBhvr>
                                        <p:cTn id="36" dur="500"/>
                                        <p:tgtEl>
                                          <p:spTgt spid="20173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01737">
                                            <p:txEl>
                                              <p:pRg st="0" end="0"/>
                                            </p:txEl>
                                          </p:spTgt>
                                        </p:tgtEl>
                                        <p:attrNameLst>
                                          <p:attrName>style.visibility</p:attrName>
                                        </p:attrNameLst>
                                      </p:cBhvr>
                                      <p:to>
                                        <p:strVal val="visible"/>
                                      </p:to>
                                    </p:set>
                                    <p:animEffect transition="in" filter="blinds(horizontal)">
                                      <p:cBhvr>
                                        <p:cTn id="41" dur="500"/>
                                        <p:tgtEl>
                                          <p:spTgt spid="201737">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01737">
                                            <p:txEl>
                                              <p:pRg st="1" end="1"/>
                                            </p:txEl>
                                          </p:spTgt>
                                        </p:tgtEl>
                                        <p:attrNameLst>
                                          <p:attrName>style.visibility</p:attrName>
                                        </p:attrNameLst>
                                      </p:cBhvr>
                                      <p:to>
                                        <p:strVal val="visible"/>
                                      </p:to>
                                    </p:set>
                                    <p:animEffect transition="in" filter="blinds(horizontal)">
                                      <p:cBhvr>
                                        <p:cTn id="46" dur="500"/>
                                        <p:tgtEl>
                                          <p:spTgt spid="201737">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201737">
                                            <p:txEl>
                                              <p:pRg st="2" end="2"/>
                                            </p:txEl>
                                          </p:spTgt>
                                        </p:tgtEl>
                                        <p:attrNameLst>
                                          <p:attrName>style.visibility</p:attrName>
                                        </p:attrNameLst>
                                      </p:cBhvr>
                                      <p:to>
                                        <p:strVal val="visible"/>
                                      </p:to>
                                    </p:set>
                                    <p:animEffect transition="in" filter="blinds(horizontal)">
                                      <p:cBhvr>
                                        <p:cTn id="51" dur="500"/>
                                        <p:tgtEl>
                                          <p:spTgt spid="201737">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01731">
                                            <p:txEl>
                                              <p:pRg st="9" end="9"/>
                                            </p:txEl>
                                          </p:spTgt>
                                        </p:tgtEl>
                                        <p:attrNameLst>
                                          <p:attrName>style.visibility</p:attrName>
                                        </p:attrNameLst>
                                      </p:cBhvr>
                                      <p:to>
                                        <p:strVal val="visible"/>
                                      </p:to>
                                    </p:set>
                                    <p:animEffect transition="in" filter="blinds(horizontal)">
                                      <p:cBhvr>
                                        <p:cTn id="56" dur="500"/>
                                        <p:tgtEl>
                                          <p:spTgt spid="201731">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201731">
                                            <p:txEl>
                                              <p:pRg st="10" end="10"/>
                                            </p:txEl>
                                          </p:spTgt>
                                        </p:tgtEl>
                                        <p:attrNameLst>
                                          <p:attrName>style.visibility</p:attrName>
                                        </p:attrNameLst>
                                      </p:cBhvr>
                                      <p:to>
                                        <p:strVal val="visible"/>
                                      </p:to>
                                    </p:set>
                                    <p:animEffect transition="in" filter="blinds(horizontal)">
                                      <p:cBhvr>
                                        <p:cTn id="61" dur="500"/>
                                        <p:tgtEl>
                                          <p:spTgt spid="201731">
                                            <p:txEl>
                                              <p:pRg st="10" end="10"/>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201731">
                                            <p:txEl>
                                              <p:pRg st="11" end="11"/>
                                            </p:txEl>
                                          </p:spTgt>
                                        </p:tgtEl>
                                        <p:attrNameLst>
                                          <p:attrName>style.visibility</p:attrName>
                                        </p:attrNameLst>
                                      </p:cBhvr>
                                      <p:to>
                                        <p:strVal val="visible"/>
                                      </p:to>
                                    </p:set>
                                    <p:animEffect transition="in" filter="blinds(horizontal)">
                                      <p:cBhvr>
                                        <p:cTn id="64" dur="500"/>
                                        <p:tgtEl>
                                          <p:spTgt spid="20173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bldLvl="0" animBg="1"/>
      <p:bldP spid="201732" grpId="0" bldLvl="0" animBg="1"/>
      <p:bldP spid="201733" grpId="0"/>
      <p:bldP spid="201734" grpId="0" animBg="1"/>
      <p:bldP spid="201735" grpId="0"/>
      <p:bldP spid="2017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ext Box 2"/>
          <p:cNvSpPr txBox="1"/>
          <p:nvPr/>
        </p:nvSpPr>
        <p:spPr>
          <a:xfrm>
            <a:off x="304800" y="228600"/>
            <a:ext cx="7924800" cy="1076325"/>
          </a:xfrm>
          <a:prstGeom prst="rect">
            <a:avLst/>
          </a:prstGeom>
          <a:noFill/>
          <a:ln w="9525">
            <a:noFill/>
          </a:ln>
        </p:spPr>
        <p:txBody>
          <a:bodyPr anchor="t" anchorCtr="0">
            <a:spAutoFit/>
          </a:bodyPr>
          <a:lstStyle/>
          <a:p>
            <a:pPr>
              <a:buClrTx/>
              <a:buFontTx/>
            </a:pPr>
            <a:r>
              <a:rPr lang="zh-CN" altLang="en-US" sz="3200" b="1" dirty="0">
                <a:latin typeface="Arial" panose="020B0604020202020204" pitchFamily="34" charset="0"/>
                <a:ea typeface="宋体" panose="02010600030101010101" pitchFamily="2" charset="-122"/>
              </a:rPr>
              <a:t>二、总线仲裁（总线判优）</a:t>
            </a:r>
          </a:p>
          <a:p>
            <a:pPr>
              <a:buClrTx/>
              <a:buFontTx/>
            </a:pPr>
            <a:r>
              <a:rPr lang="zh-CN" altLang="en-US" sz="3200" b="1" dirty="0">
                <a:latin typeface="Arial" panose="020B0604020202020204" pitchFamily="34"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1</a:t>
            </a:r>
            <a:r>
              <a:rPr lang="zh-CN" altLang="en-US" sz="2800" b="1" dirty="0">
                <a:latin typeface="Arial" panose="020B0604020202020204" pitchFamily="34" charset="0"/>
                <a:ea typeface="宋体" panose="02010600030101010101" pitchFamily="2" charset="-122"/>
              </a:rPr>
              <a:t>、总线设备分类</a:t>
            </a:r>
          </a:p>
        </p:txBody>
      </p:sp>
      <p:sp>
        <p:nvSpPr>
          <p:cNvPr id="202755" name="Text Box 3"/>
          <p:cNvSpPr txBox="1"/>
          <p:nvPr/>
        </p:nvSpPr>
        <p:spPr>
          <a:xfrm>
            <a:off x="762000" y="1600200"/>
            <a:ext cx="15240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控制能力</a:t>
            </a:r>
          </a:p>
        </p:txBody>
      </p:sp>
      <p:sp>
        <p:nvSpPr>
          <p:cNvPr id="202756" name="AutoShape 4"/>
          <p:cNvSpPr/>
          <p:nvPr/>
        </p:nvSpPr>
        <p:spPr>
          <a:xfrm>
            <a:off x="2133600" y="1295400"/>
            <a:ext cx="228600" cy="1066800"/>
          </a:xfrm>
          <a:prstGeom prst="leftBrace">
            <a:avLst>
              <a:gd name="adj1" fmla="val 38737"/>
              <a:gd name="adj2" fmla="val 50000"/>
            </a:avLst>
          </a:prstGeom>
          <a:noFill/>
          <a:ln w="317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2757" name="Text Box 5"/>
          <p:cNvSpPr txBox="1"/>
          <p:nvPr/>
        </p:nvSpPr>
        <p:spPr>
          <a:xfrm>
            <a:off x="2514600" y="1219200"/>
            <a:ext cx="6629400" cy="398463"/>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总线主设备：对总线具有控制能力，信息传送的发起者</a:t>
            </a:r>
          </a:p>
        </p:txBody>
      </p:sp>
      <p:sp>
        <p:nvSpPr>
          <p:cNvPr id="202758" name="Text Box 6"/>
          <p:cNvSpPr txBox="1"/>
          <p:nvPr/>
        </p:nvSpPr>
        <p:spPr>
          <a:xfrm>
            <a:off x="2514600" y="2057400"/>
            <a:ext cx="6400800" cy="398463"/>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总线从设备：没有总线控制权，只能响应总线命令</a:t>
            </a:r>
          </a:p>
        </p:txBody>
      </p:sp>
      <p:sp>
        <p:nvSpPr>
          <p:cNvPr id="202759" name="Text Box 7"/>
          <p:cNvSpPr txBox="1"/>
          <p:nvPr/>
        </p:nvSpPr>
        <p:spPr>
          <a:xfrm>
            <a:off x="762000" y="3048000"/>
            <a:ext cx="15240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信息传送</a:t>
            </a:r>
          </a:p>
        </p:txBody>
      </p:sp>
      <p:sp>
        <p:nvSpPr>
          <p:cNvPr id="202760" name="AutoShape 8"/>
          <p:cNvSpPr/>
          <p:nvPr/>
        </p:nvSpPr>
        <p:spPr>
          <a:xfrm>
            <a:off x="2133600" y="2743200"/>
            <a:ext cx="228600" cy="1143000"/>
          </a:xfrm>
          <a:prstGeom prst="leftBrace">
            <a:avLst>
              <a:gd name="adj1" fmla="val 41504"/>
              <a:gd name="adj2" fmla="val 50000"/>
            </a:avLst>
          </a:prstGeom>
          <a:noFill/>
          <a:ln w="317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2761" name="Text Box 9"/>
          <p:cNvSpPr txBox="1"/>
          <p:nvPr/>
        </p:nvSpPr>
        <p:spPr>
          <a:xfrm>
            <a:off x="2514600" y="2667000"/>
            <a:ext cx="2895600" cy="1276350"/>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总线源设备</a:t>
            </a:r>
          </a:p>
          <a:p>
            <a:pPr>
              <a:spcBef>
                <a:spcPct val="50000"/>
              </a:spcBef>
              <a:buClrTx/>
              <a:buFontTx/>
            </a:pPr>
            <a:endParaRPr lang="zh-CN" altLang="en-US" dirty="0">
              <a:latin typeface="Arial" panose="020B0604020202020204" pitchFamily="34" charset="0"/>
              <a:ea typeface="宋体" panose="02010600030101010101" pitchFamily="2" charset="-122"/>
            </a:endParaRPr>
          </a:p>
          <a:p>
            <a:pPr>
              <a:spcBef>
                <a:spcPct val="50000"/>
              </a:spcBef>
              <a:buClrTx/>
              <a:buFontTx/>
            </a:pPr>
            <a:r>
              <a:rPr lang="zh-CN" altLang="en-US" sz="2000" b="1" dirty="0">
                <a:latin typeface="Arial" panose="020B0604020202020204" pitchFamily="34" charset="0"/>
                <a:ea typeface="宋体" panose="02010600030101010101" pitchFamily="2" charset="-122"/>
              </a:rPr>
              <a:t>总线目的设备</a:t>
            </a:r>
          </a:p>
        </p:txBody>
      </p:sp>
      <p:sp>
        <p:nvSpPr>
          <p:cNvPr id="202762" name="Text Box 10"/>
          <p:cNvSpPr txBox="1"/>
          <p:nvPr/>
        </p:nvSpPr>
        <p:spPr>
          <a:xfrm>
            <a:off x="762000" y="4495800"/>
            <a:ext cx="15240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访问控制</a:t>
            </a:r>
          </a:p>
        </p:txBody>
      </p:sp>
      <p:sp>
        <p:nvSpPr>
          <p:cNvPr id="202763" name="AutoShape 11"/>
          <p:cNvSpPr/>
          <p:nvPr/>
        </p:nvSpPr>
        <p:spPr>
          <a:xfrm>
            <a:off x="2209800" y="4267200"/>
            <a:ext cx="152400" cy="1219200"/>
          </a:xfrm>
          <a:prstGeom prst="leftBrace">
            <a:avLst>
              <a:gd name="adj1" fmla="val 66407"/>
              <a:gd name="adj2" fmla="val 50000"/>
            </a:avLst>
          </a:prstGeom>
          <a:noFill/>
          <a:ln w="317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2764" name="Text Box 12"/>
          <p:cNvSpPr txBox="1"/>
          <p:nvPr/>
        </p:nvSpPr>
        <p:spPr>
          <a:xfrm>
            <a:off x="2590800" y="4267200"/>
            <a:ext cx="2743200" cy="1322388"/>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存储器设备</a:t>
            </a:r>
          </a:p>
          <a:p>
            <a:pPr>
              <a:spcBef>
                <a:spcPct val="50000"/>
              </a:spcBef>
              <a:buClrTx/>
              <a:buFontTx/>
            </a:pPr>
            <a:endParaRPr lang="zh-CN" altLang="en-US" sz="2000" b="1" dirty="0">
              <a:latin typeface="Arial" panose="020B0604020202020204" pitchFamily="34" charset="0"/>
              <a:ea typeface="宋体" panose="02010600030101010101" pitchFamily="2" charset="-122"/>
            </a:endParaRPr>
          </a:p>
          <a:p>
            <a:pPr>
              <a:spcBef>
                <a:spcPct val="50000"/>
              </a:spcBef>
              <a:buClrTx/>
              <a:buFontTx/>
            </a:pPr>
            <a:r>
              <a:rPr lang="en-US" altLang="zh-CN" sz="2000" b="1" dirty="0">
                <a:latin typeface="Arial" panose="020B0604020202020204" pitchFamily="34" charset="0"/>
                <a:ea typeface="宋体" panose="02010600030101010101" pitchFamily="2" charset="-122"/>
              </a:rPr>
              <a:t>I/O</a:t>
            </a:r>
            <a:r>
              <a:rPr lang="zh-CN" altLang="en-US" sz="2000" b="1" dirty="0">
                <a:latin typeface="Arial" panose="020B0604020202020204" pitchFamily="34" charset="0"/>
                <a:ea typeface="宋体" panose="02010600030101010101" pitchFamily="2" charset="-122"/>
              </a:rPr>
              <a:t>设备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2754">
                                            <p:txEl>
                                              <p:pRg st="0" end="0"/>
                                            </p:txEl>
                                          </p:spTgt>
                                        </p:tgtEl>
                                        <p:attrNameLst>
                                          <p:attrName>style.visibility</p:attrName>
                                        </p:attrNameLst>
                                      </p:cBhvr>
                                      <p:to>
                                        <p:strVal val="visible"/>
                                      </p:to>
                                    </p:set>
                                    <p:animEffect transition="in" filter="blinds(horizontal)">
                                      <p:cBhvr>
                                        <p:cTn id="7" dur="500"/>
                                        <p:tgtEl>
                                          <p:spTgt spid="2027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2754">
                                            <p:txEl>
                                              <p:pRg st="1" end="1"/>
                                            </p:txEl>
                                          </p:spTgt>
                                        </p:tgtEl>
                                        <p:attrNameLst>
                                          <p:attrName>style.visibility</p:attrName>
                                        </p:attrNameLst>
                                      </p:cBhvr>
                                      <p:to>
                                        <p:strVal val="visible"/>
                                      </p:to>
                                    </p:set>
                                    <p:animEffect transition="in" filter="blinds(horizontal)">
                                      <p:cBhvr>
                                        <p:cTn id="12" dur="500"/>
                                        <p:tgtEl>
                                          <p:spTgt spid="2027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2755"/>
                                        </p:tgtEl>
                                        <p:attrNameLst>
                                          <p:attrName>style.visibility</p:attrName>
                                        </p:attrNameLst>
                                      </p:cBhvr>
                                      <p:to>
                                        <p:strVal val="visible"/>
                                      </p:to>
                                    </p:set>
                                    <p:animEffect transition="in" filter="blinds(horizontal)">
                                      <p:cBhvr>
                                        <p:cTn id="17" dur="500"/>
                                        <p:tgtEl>
                                          <p:spTgt spid="20275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2756"/>
                                        </p:tgtEl>
                                        <p:attrNameLst>
                                          <p:attrName>style.visibility</p:attrName>
                                        </p:attrNameLst>
                                      </p:cBhvr>
                                      <p:to>
                                        <p:strVal val="visible"/>
                                      </p:to>
                                    </p:set>
                                    <p:animEffect transition="in" filter="blinds(horizontal)">
                                      <p:cBhvr>
                                        <p:cTn id="22" dur="500"/>
                                        <p:tgtEl>
                                          <p:spTgt spid="202756"/>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02757"/>
                                        </p:tgtEl>
                                        <p:attrNameLst>
                                          <p:attrName>style.visibility</p:attrName>
                                        </p:attrNameLst>
                                      </p:cBhvr>
                                      <p:to>
                                        <p:strVal val="visible"/>
                                      </p:to>
                                    </p:set>
                                    <p:animEffect transition="in" filter="blinds(horizontal)">
                                      <p:cBhvr>
                                        <p:cTn id="25" dur="500"/>
                                        <p:tgtEl>
                                          <p:spTgt spid="20275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02758"/>
                                        </p:tgtEl>
                                        <p:attrNameLst>
                                          <p:attrName>style.visibility</p:attrName>
                                        </p:attrNameLst>
                                      </p:cBhvr>
                                      <p:to>
                                        <p:strVal val="visible"/>
                                      </p:to>
                                    </p:set>
                                    <p:animEffect transition="in" filter="blinds(horizontal)">
                                      <p:cBhvr>
                                        <p:cTn id="28" dur="500"/>
                                        <p:tgtEl>
                                          <p:spTgt spid="20275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02759"/>
                                        </p:tgtEl>
                                        <p:attrNameLst>
                                          <p:attrName>style.visibility</p:attrName>
                                        </p:attrNameLst>
                                      </p:cBhvr>
                                      <p:to>
                                        <p:strVal val="visible"/>
                                      </p:to>
                                    </p:set>
                                    <p:animEffect transition="in" filter="blinds(horizontal)">
                                      <p:cBhvr>
                                        <p:cTn id="33" dur="500"/>
                                        <p:tgtEl>
                                          <p:spTgt spid="20275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02760"/>
                                        </p:tgtEl>
                                        <p:attrNameLst>
                                          <p:attrName>style.visibility</p:attrName>
                                        </p:attrNameLst>
                                      </p:cBhvr>
                                      <p:to>
                                        <p:strVal val="visible"/>
                                      </p:to>
                                    </p:set>
                                    <p:animEffect transition="in" filter="blinds(horizontal)">
                                      <p:cBhvr>
                                        <p:cTn id="38" dur="500"/>
                                        <p:tgtEl>
                                          <p:spTgt spid="202760"/>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02761"/>
                                        </p:tgtEl>
                                        <p:attrNameLst>
                                          <p:attrName>style.visibility</p:attrName>
                                        </p:attrNameLst>
                                      </p:cBhvr>
                                      <p:to>
                                        <p:strVal val="visible"/>
                                      </p:to>
                                    </p:set>
                                    <p:animEffect transition="in" filter="blinds(horizontal)">
                                      <p:cBhvr>
                                        <p:cTn id="41" dur="500"/>
                                        <p:tgtEl>
                                          <p:spTgt spid="20276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02762"/>
                                        </p:tgtEl>
                                        <p:attrNameLst>
                                          <p:attrName>style.visibility</p:attrName>
                                        </p:attrNameLst>
                                      </p:cBhvr>
                                      <p:to>
                                        <p:strVal val="visible"/>
                                      </p:to>
                                    </p:set>
                                    <p:animEffect transition="in" filter="blinds(horizontal)">
                                      <p:cBhvr>
                                        <p:cTn id="46" dur="500"/>
                                        <p:tgtEl>
                                          <p:spTgt spid="20276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02763"/>
                                        </p:tgtEl>
                                        <p:attrNameLst>
                                          <p:attrName>style.visibility</p:attrName>
                                        </p:attrNameLst>
                                      </p:cBhvr>
                                      <p:to>
                                        <p:strVal val="visible"/>
                                      </p:to>
                                    </p:set>
                                    <p:animEffect transition="in" filter="blinds(horizontal)">
                                      <p:cBhvr>
                                        <p:cTn id="51" dur="500"/>
                                        <p:tgtEl>
                                          <p:spTgt spid="202763"/>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02764"/>
                                        </p:tgtEl>
                                        <p:attrNameLst>
                                          <p:attrName>style.visibility</p:attrName>
                                        </p:attrNameLst>
                                      </p:cBhvr>
                                      <p:to>
                                        <p:strVal val="visible"/>
                                      </p:to>
                                    </p:set>
                                    <p:animEffect transition="in" filter="blinds(horizontal)">
                                      <p:cBhvr>
                                        <p:cTn id="54" dur="500"/>
                                        <p:tgtEl>
                                          <p:spTgt spid="202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P spid="202756" grpId="0" bldLvl="0" animBg="1"/>
      <p:bldP spid="202757" grpId="0"/>
      <p:bldP spid="202758" grpId="0"/>
      <p:bldP spid="202759" grpId="0"/>
      <p:bldP spid="202760" grpId="0" bldLvl="0" animBg="1"/>
      <p:bldP spid="202761" grpId="0"/>
      <p:bldP spid="202762" grpId="0"/>
      <p:bldP spid="202763" grpId="0" bldLvl="0" animBg="1"/>
      <p:bldP spid="2027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2"/>
          <p:cNvSpPr txBox="1"/>
          <p:nvPr/>
        </p:nvSpPr>
        <p:spPr>
          <a:xfrm>
            <a:off x="304800" y="228600"/>
            <a:ext cx="7620000" cy="952500"/>
          </a:xfrm>
          <a:prstGeom prst="rect">
            <a:avLst/>
          </a:prstGeom>
          <a:noFill/>
          <a:ln w="9525">
            <a:noFill/>
          </a:ln>
        </p:spPr>
        <p:txBody>
          <a:bodyPr anchor="t" anchorCtr="0">
            <a:spAutoFit/>
          </a:bodyPr>
          <a:lstStyle/>
          <a:p>
            <a:pPr>
              <a:buClrTx/>
              <a:buFontTx/>
            </a:pPr>
            <a:r>
              <a:rPr lang="en-US" altLang="zh-CN" sz="3200" b="1" dirty="0">
                <a:latin typeface="Arial" panose="020B0604020202020204" pitchFamily="34" charset="0"/>
                <a:ea typeface="宋体" panose="02010600030101010101" pitchFamily="2" charset="-122"/>
              </a:rPr>
              <a:t>2</a:t>
            </a:r>
            <a:r>
              <a:rPr lang="zh-CN" altLang="en-US" sz="3200" b="1" dirty="0">
                <a:latin typeface="Arial" panose="020B0604020202020204" pitchFamily="34" charset="0"/>
                <a:ea typeface="宋体" panose="02010600030101010101" pitchFamily="2" charset="-122"/>
              </a:rPr>
              <a:t>、总线仲裁方式的分类</a:t>
            </a:r>
            <a:endParaRPr lang="zh-CN" altLang="en-US" sz="32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从不同角度有不同的分类方法</a:t>
            </a:r>
          </a:p>
        </p:txBody>
      </p:sp>
      <p:sp>
        <p:nvSpPr>
          <p:cNvPr id="203779" name="Text Box 3"/>
          <p:cNvSpPr txBox="1"/>
          <p:nvPr/>
        </p:nvSpPr>
        <p:spPr>
          <a:xfrm>
            <a:off x="685800" y="1524000"/>
            <a:ext cx="25908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从仲裁电路结构</a:t>
            </a:r>
          </a:p>
        </p:txBody>
      </p:sp>
      <p:sp>
        <p:nvSpPr>
          <p:cNvPr id="203780" name="AutoShape 4"/>
          <p:cNvSpPr/>
          <p:nvPr/>
        </p:nvSpPr>
        <p:spPr>
          <a:xfrm>
            <a:off x="3048000" y="1219200"/>
            <a:ext cx="228600" cy="1219200"/>
          </a:xfrm>
          <a:prstGeom prst="leftBrace">
            <a:avLst>
              <a:gd name="adj1" fmla="val 44271"/>
              <a:gd name="adj2" fmla="val 50000"/>
            </a:avLst>
          </a:prstGeom>
          <a:noFill/>
          <a:ln w="317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3781" name="Text Box 5"/>
          <p:cNvSpPr txBox="1"/>
          <p:nvPr/>
        </p:nvSpPr>
        <p:spPr>
          <a:xfrm>
            <a:off x="3429000" y="1143000"/>
            <a:ext cx="2057400" cy="1322388"/>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串行仲裁</a:t>
            </a:r>
          </a:p>
          <a:p>
            <a:pPr>
              <a:spcBef>
                <a:spcPct val="50000"/>
              </a:spcBef>
              <a:buClrTx/>
              <a:buFontTx/>
            </a:pPr>
            <a:endParaRPr lang="zh-CN" altLang="en-US" sz="2000" b="1" dirty="0">
              <a:latin typeface="Arial" panose="020B0604020202020204" pitchFamily="34" charset="0"/>
              <a:ea typeface="宋体" panose="02010600030101010101" pitchFamily="2" charset="-122"/>
            </a:endParaRPr>
          </a:p>
          <a:p>
            <a:pPr>
              <a:spcBef>
                <a:spcPct val="50000"/>
              </a:spcBef>
              <a:buClrTx/>
              <a:buFontTx/>
            </a:pPr>
            <a:r>
              <a:rPr lang="zh-CN" altLang="en-US" sz="2000" b="1" dirty="0">
                <a:latin typeface="Arial" panose="020B0604020202020204" pitchFamily="34" charset="0"/>
                <a:ea typeface="宋体" panose="02010600030101010101" pitchFamily="2" charset="-122"/>
              </a:rPr>
              <a:t>并行仲裁</a:t>
            </a:r>
          </a:p>
        </p:txBody>
      </p:sp>
      <p:sp>
        <p:nvSpPr>
          <p:cNvPr id="203782" name="Text Box 6"/>
          <p:cNvSpPr txBox="1"/>
          <p:nvPr/>
        </p:nvSpPr>
        <p:spPr>
          <a:xfrm>
            <a:off x="685800" y="2895600"/>
            <a:ext cx="20574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优先排队策略</a:t>
            </a:r>
          </a:p>
        </p:txBody>
      </p:sp>
      <p:sp>
        <p:nvSpPr>
          <p:cNvPr id="203783" name="AutoShape 7"/>
          <p:cNvSpPr/>
          <p:nvPr/>
        </p:nvSpPr>
        <p:spPr>
          <a:xfrm>
            <a:off x="2895600" y="2590800"/>
            <a:ext cx="152400" cy="1143000"/>
          </a:xfrm>
          <a:prstGeom prst="leftBrace">
            <a:avLst>
              <a:gd name="adj1" fmla="val 62500"/>
              <a:gd name="adj2" fmla="val 50000"/>
            </a:avLst>
          </a:prstGeom>
          <a:noFill/>
          <a:ln w="317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3784" name="Text Box 8"/>
          <p:cNvSpPr txBox="1"/>
          <p:nvPr/>
        </p:nvSpPr>
        <p:spPr>
          <a:xfrm>
            <a:off x="3200400" y="2438400"/>
            <a:ext cx="1676400" cy="1322388"/>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固定优先级</a:t>
            </a:r>
          </a:p>
          <a:p>
            <a:pPr>
              <a:spcBef>
                <a:spcPct val="50000"/>
              </a:spcBef>
              <a:buClrTx/>
              <a:buFontTx/>
            </a:pPr>
            <a:endParaRPr lang="zh-CN" altLang="en-US" sz="2000" b="1" dirty="0">
              <a:latin typeface="Arial" panose="020B0604020202020204" pitchFamily="34" charset="0"/>
              <a:ea typeface="宋体" panose="02010600030101010101" pitchFamily="2" charset="-122"/>
            </a:endParaRPr>
          </a:p>
          <a:p>
            <a:pPr>
              <a:spcBef>
                <a:spcPct val="50000"/>
              </a:spcBef>
              <a:buClrTx/>
              <a:buFontTx/>
            </a:pPr>
            <a:r>
              <a:rPr lang="zh-CN" altLang="en-US" sz="2000" b="1" dirty="0">
                <a:latin typeface="Arial" panose="020B0604020202020204" pitchFamily="34" charset="0"/>
                <a:ea typeface="宋体" panose="02010600030101010101" pitchFamily="2" charset="-122"/>
              </a:rPr>
              <a:t>动态优先级</a:t>
            </a:r>
          </a:p>
        </p:txBody>
      </p:sp>
      <p:sp>
        <p:nvSpPr>
          <p:cNvPr id="203785" name="Text Box 9"/>
          <p:cNvSpPr txBox="1"/>
          <p:nvPr/>
        </p:nvSpPr>
        <p:spPr>
          <a:xfrm>
            <a:off x="685800" y="4114800"/>
            <a:ext cx="21336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仲裁电路分布</a:t>
            </a:r>
          </a:p>
        </p:txBody>
      </p:sp>
      <p:sp>
        <p:nvSpPr>
          <p:cNvPr id="203786" name="AutoShape 10"/>
          <p:cNvSpPr/>
          <p:nvPr/>
        </p:nvSpPr>
        <p:spPr>
          <a:xfrm>
            <a:off x="3048000" y="3962400"/>
            <a:ext cx="228600" cy="990600"/>
          </a:xfrm>
          <a:prstGeom prst="leftBrace">
            <a:avLst>
              <a:gd name="adj1" fmla="val 35970"/>
              <a:gd name="adj2" fmla="val 50000"/>
            </a:avLst>
          </a:prstGeom>
          <a:noFill/>
          <a:ln w="317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3787" name="Text Box 11"/>
          <p:cNvSpPr txBox="1"/>
          <p:nvPr/>
        </p:nvSpPr>
        <p:spPr>
          <a:xfrm>
            <a:off x="3429000" y="3717925"/>
            <a:ext cx="2590800" cy="1322388"/>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集中仲裁</a:t>
            </a:r>
          </a:p>
          <a:p>
            <a:pPr>
              <a:spcBef>
                <a:spcPct val="50000"/>
              </a:spcBef>
              <a:buClrTx/>
              <a:buFontTx/>
            </a:pPr>
            <a:endParaRPr lang="zh-CN" altLang="en-US" sz="2000" b="1" dirty="0">
              <a:latin typeface="Arial" panose="020B0604020202020204" pitchFamily="34" charset="0"/>
              <a:ea typeface="宋体" panose="02010600030101010101" pitchFamily="2" charset="-122"/>
            </a:endParaRPr>
          </a:p>
          <a:p>
            <a:pPr>
              <a:spcBef>
                <a:spcPct val="50000"/>
              </a:spcBef>
              <a:buClrTx/>
              <a:buFontTx/>
            </a:pPr>
            <a:r>
              <a:rPr lang="zh-CN" altLang="en-US" sz="2000" b="1" dirty="0">
                <a:latin typeface="Arial" panose="020B0604020202020204" pitchFamily="34" charset="0"/>
                <a:ea typeface="宋体" panose="02010600030101010101" pitchFamily="2" charset="-122"/>
              </a:rPr>
              <a:t>分布仲裁</a:t>
            </a:r>
          </a:p>
        </p:txBody>
      </p:sp>
      <p:sp>
        <p:nvSpPr>
          <p:cNvPr id="203788" name="Text Box 12"/>
          <p:cNvSpPr txBox="1"/>
          <p:nvPr/>
        </p:nvSpPr>
        <p:spPr>
          <a:xfrm>
            <a:off x="1143000" y="5562600"/>
            <a:ext cx="16002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设备状态</a:t>
            </a:r>
          </a:p>
        </p:txBody>
      </p:sp>
      <p:sp>
        <p:nvSpPr>
          <p:cNvPr id="203789" name="AutoShape 13"/>
          <p:cNvSpPr/>
          <p:nvPr/>
        </p:nvSpPr>
        <p:spPr>
          <a:xfrm>
            <a:off x="2819400" y="5257800"/>
            <a:ext cx="228600" cy="990600"/>
          </a:xfrm>
          <a:prstGeom prst="leftBrace">
            <a:avLst>
              <a:gd name="adj1" fmla="val 35970"/>
              <a:gd name="adj2" fmla="val 50000"/>
            </a:avLst>
          </a:prstGeom>
          <a:noFill/>
          <a:ln w="317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03790" name="Text Box 14"/>
          <p:cNvSpPr txBox="1"/>
          <p:nvPr/>
        </p:nvSpPr>
        <p:spPr>
          <a:xfrm>
            <a:off x="3352800" y="5105400"/>
            <a:ext cx="5181600" cy="1322388"/>
          </a:xfrm>
          <a:prstGeom prst="rect">
            <a:avLst/>
          </a:prstGeom>
          <a:noFill/>
          <a:ln w="9525">
            <a:noFill/>
          </a:ln>
        </p:spPr>
        <p:txBody>
          <a:bodyPr anchor="t" anchorCtr="0">
            <a:spAutoFit/>
          </a:bodyPr>
          <a:lstStyle/>
          <a:p>
            <a:pPr>
              <a:spcBef>
                <a:spcPct val="50000"/>
              </a:spcBef>
              <a:buClrTx/>
              <a:buFontTx/>
            </a:pPr>
            <a:r>
              <a:rPr lang="zh-CN" altLang="en-US" sz="2000" b="1" dirty="0">
                <a:latin typeface="Arial" panose="020B0604020202020204" pitchFamily="34" charset="0"/>
                <a:ea typeface="宋体" panose="02010600030101010101" pitchFamily="2" charset="-122"/>
              </a:rPr>
              <a:t>设备请求方式    主动</a:t>
            </a:r>
          </a:p>
          <a:p>
            <a:pPr>
              <a:spcBef>
                <a:spcPct val="50000"/>
              </a:spcBef>
              <a:buClrTx/>
              <a:buFontTx/>
            </a:pPr>
            <a:endParaRPr lang="zh-CN" altLang="en-US" sz="2000" b="1" dirty="0">
              <a:latin typeface="Arial" panose="020B0604020202020204" pitchFamily="34" charset="0"/>
              <a:ea typeface="宋体" panose="02010600030101010101" pitchFamily="2" charset="-122"/>
            </a:endParaRPr>
          </a:p>
          <a:p>
            <a:pPr>
              <a:spcBef>
                <a:spcPct val="50000"/>
              </a:spcBef>
              <a:buClrTx/>
              <a:buFontTx/>
            </a:pPr>
            <a:r>
              <a:rPr lang="zh-CN" altLang="en-US" sz="2000" b="1" dirty="0">
                <a:latin typeface="Arial" panose="020B0604020202020204" pitchFamily="34" charset="0"/>
                <a:ea typeface="宋体" panose="02010600030101010101" pitchFamily="2" charset="-122"/>
              </a:rPr>
              <a:t>控制器查询方式   被动 “请求</a:t>
            </a:r>
            <a:r>
              <a:rPr lang="en-US" altLang="zh-CN" sz="2000" b="1" dirty="0">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查询</a:t>
            </a:r>
            <a:r>
              <a:rPr lang="en-US" altLang="zh-CN" sz="2000" b="1" dirty="0">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应答”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3778">
                                            <p:txEl>
                                              <p:pRg st="0" end="0"/>
                                            </p:txEl>
                                          </p:spTgt>
                                        </p:tgtEl>
                                        <p:attrNameLst>
                                          <p:attrName>style.visibility</p:attrName>
                                        </p:attrNameLst>
                                      </p:cBhvr>
                                      <p:to>
                                        <p:strVal val="visible"/>
                                      </p:to>
                                    </p:set>
                                    <p:animEffect transition="in" filter="blinds(horizontal)">
                                      <p:cBhvr>
                                        <p:cTn id="7" dur="500"/>
                                        <p:tgtEl>
                                          <p:spTgt spid="2037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3778">
                                            <p:txEl>
                                              <p:pRg st="1" end="1"/>
                                            </p:txEl>
                                          </p:spTgt>
                                        </p:tgtEl>
                                        <p:attrNameLst>
                                          <p:attrName>style.visibility</p:attrName>
                                        </p:attrNameLst>
                                      </p:cBhvr>
                                      <p:to>
                                        <p:strVal val="visible"/>
                                      </p:to>
                                    </p:set>
                                    <p:animEffect transition="in" filter="blinds(horizontal)">
                                      <p:cBhvr>
                                        <p:cTn id="12" dur="500"/>
                                        <p:tgtEl>
                                          <p:spTgt spid="2037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3779"/>
                                        </p:tgtEl>
                                        <p:attrNameLst>
                                          <p:attrName>style.visibility</p:attrName>
                                        </p:attrNameLst>
                                      </p:cBhvr>
                                      <p:to>
                                        <p:strVal val="visible"/>
                                      </p:to>
                                    </p:set>
                                    <p:animEffect transition="in" filter="blinds(horizontal)">
                                      <p:cBhvr>
                                        <p:cTn id="17" dur="500"/>
                                        <p:tgtEl>
                                          <p:spTgt spid="20377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3780"/>
                                        </p:tgtEl>
                                        <p:attrNameLst>
                                          <p:attrName>style.visibility</p:attrName>
                                        </p:attrNameLst>
                                      </p:cBhvr>
                                      <p:to>
                                        <p:strVal val="visible"/>
                                      </p:to>
                                    </p:set>
                                    <p:animEffect transition="in" filter="blinds(horizontal)">
                                      <p:cBhvr>
                                        <p:cTn id="22" dur="500"/>
                                        <p:tgtEl>
                                          <p:spTgt spid="20378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03781"/>
                                        </p:tgtEl>
                                        <p:attrNameLst>
                                          <p:attrName>style.visibility</p:attrName>
                                        </p:attrNameLst>
                                      </p:cBhvr>
                                      <p:to>
                                        <p:strVal val="visible"/>
                                      </p:to>
                                    </p:set>
                                    <p:animEffect transition="in" filter="blinds(horizontal)">
                                      <p:cBhvr>
                                        <p:cTn id="25" dur="500"/>
                                        <p:tgtEl>
                                          <p:spTgt spid="20378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03782"/>
                                        </p:tgtEl>
                                        <p:attrNameLst>
                                          <p:attrName>style.visibility</p:attrName>
                                        </p:attrNameLst>
                                      </p:cBhvr>
                                      <p:to>
                                        <p:strVal val="visible"/>
                                      </p:to>
                                    </p:set>
                                    <p:animEffect transition="in" filter="blinds(horizontal)">
                                      <p:cBhvr>
                                        <p:cTn id="30" dur="500"/>
                                        <p:tgtEl>
                                          <p:spTgt spid="20378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03783"/>
                                        </p:tgtEl>
                                        <p:attrNameLst>
                                          <p:attrName>style.visibility</p:attrName>
                                        </p:attrNameLst>
                                      </p:cBhvr>
                                      <p:to>
                                        <p:strVal val="visible"/>
                                      </p:to>
                                    </p:set>
                                    <p:animEffect transition="in" filter="blinds(horizontal)">
                                      <p:cBhvr>
                                        <p:cTn id="35" dur="500"/>
                                        <p:tgtEl>
                                          <p:spTgt spid="20378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03784"/>
                                        </p:tgtEl>
                                        <p:attrNameLst>
                                          <p:attrName>style.visibility</p:attrName>
                                        </p:attrNameLst>
                                      </p:cBhvr>
                                      <p:to>
                                        <p:strVal val="visible"/>
                                      </p:to>
                                    </p:set>
                                    <p:animEffect transition="in" filter="blinds(horizontal)">
                                      <p:cBhvr>
                                        <p:cTn id="38" dur="500"/>
                                        <p:tgtEl>
                                          <p:spTgt spid="20378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03785"/>
                                        </p:tgtEl>
                                        <p:attrNameLst>
                                          <p:attrName>style.visibility</p:attrName>
                                        </p:attrNameLst>
                                      </p:cBhvr>
                                      <p:to>
                                        <p:strVal val="visible"/>
                                      </p:to>
                                    </p:set>
                                    <p:animEffect transition="in" filter="blinds(horizontal)">
                                      <p:cBhvr>
                                        <p:cTn id="43" dur="500"/>
                                        <p:tgtEl>
                                          <p:spTgt spid="20378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03786"/>
                                        </p:tgtEl>
                                        <p:attrNameLst>
                                          <p:attrName>style.visibility</p:attrName>
                                        </p:attrNameLst>
                                      </p:cBhvr>
                                      <p:to>
                                        <p:strVal val="visible"/>
                                      </p:to>
                                    </p:set>
                                    <p:animEffect transition="in" filter="blinds(horizontal)">
                                      <p:cBhvr>
                                        <p:cTn id="48" dur="500"/>
                                        <p:tgtEl>
                                          <p:spTgt spid="203786"/>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03787"/>
                                        </p:tgtEl>
                                        <p:attrNameLst>
                                          <p:attrName>style.visibility</p:attrName>
                                        </p:attrNameLst>
                                      </p:cBhvr>
                                      <p:to>
                                        <p:strVal val="visible"/>
                                      </p:to>
                                    </p:set>
                                    <p:animEffect transition="in" filter="blinds(horizontal)">
                                      <p:cBhvr>
                                        <p:cTn id="51" dur="500"/>
                                        <p:tgtEl>
                                          <p:spTgt spid="203787"/>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03788"/>
                                        </p:tgtEl>
                                        <p:attrNameLst>
                                          <p:attrName>style.visibility</p:attrName>
                                        </p:attrNameLst>
                                      </p:cBhvr>
                                      <p:to>
                                        <p:strVal val="visible"/>
                                      </p:to>
                                    </p:set>
                                    <p:animEffect transition="in" filter="blinds(horizontal)">
                                      <p:cBhvr>
                                        <p:cTn id="56" dur="500"/>
                                        <p:tgtEl>
                                          <p:spTgt spid="203788"/>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03789"/>
                                        </p:tgtEl>
                                        <p:attrNameLst>
                                          <p:attrName>style.visibility</p:attrName>
                                        </p:attrNameLst>
                                      </p:cBhvr>
                                      <p:to>
                                        <p:strVal val="visible"/>
                                      </p:to>
                                    </p:set>
                                    <p:animEffect transition="in" filter="blinds(horizontal)">
                                      <p:cBhvr>
                                        <p:cTn id="61" dur="500"/>
                                        <p:tgtEl>
                                          <p:spTgt spid="203789"/>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203790"/>
                                        </p:tgtEl>
                                        <p:attrNameLst>
                                          <p:attrName>style.visibility</p:attrName>
                                        </p:attrNameLst>
                                      </p:cBhvr>
                                      <p:to>
                                        <p:strVal val="visible"/>
                                      </p:to>
                                    </p:set>
                                    <p:animEffect transition="in" filter="blinds(horizontal)">
                                      <p:cBhvr>
                                        <p:cTn id="64" dur="500"/>
                                        <p:tgtEl>
                                          <p:spTgt spid="203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p:bldP spid="203780" grpId="0" bldLvl="0" animBg="1"/>
      <p:bldP spid="203781" grpId="0"/>
      <p:bldP spid="203782" grpId="0"/>
      <p:bldP spid="203783" grpId="0" bldLvl="0" animBg="1"/>
      <p:bldP spid="203784" grpId="0"/>
      <p:bldP spid="203785" grpId="0"/>
      <p:bldP spid="203786" grpId="0" bldLvl="0" animBg="1"/>
      <p:bldP spid="203787" grpId="0"/>
      <p:bldP spid="203788" grpId="0"/>
      <p:bldP spid="203789" grpId="0" bldLvl="0" animBg="1"/>
      <p:bldP spid="20379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2"/>
          <p:cNvSpPr txBox="1"/>
          <p:nvPr/>
        </p:nvSpPr>
        <p:spPr>
          <a:xfrm>
            <a:off x="381000" y="152400"/>
            <a:ext cx="5943600" cy="641350"/>
          </a:xfrm>
          <a:prstGeom prst="rect">
            <a:avLst/>
          </a:prstGeom>
          <a:noFill/>
          <a:ln w="9525">
            <a:noFill/>
          </a:ln>
        </p:spPr>
        <p:txBody>
          <a:bodyPr anchor="t" anchorCtr="0">
            <a:spAutoFit/>
          </a:bodyPr>
          <a:lstStyle/>
          <a:p>
            <a:pPr>
              <a:spcBef>
                <a:spcPct val="50000"/>
              </a:spcBef>
              <a:buClrTx/>
              <a:buFontTx/>
            </a:pPr>
            <a:r>
              <a:rPr lang="en-US" altLang="zh-CN" sz="3600" b="1" dirty="0">
                <a:latin typeface="Arial" panose="020B0604020202020204" pitchFamily="34" charset="0"/>
                <a:ea typeface="宋体" panose="02010600030101010101" pitchFamily="2" charset="-122"/>
              </a:rPr>
              <a:t>3</a:t>
            </a:r>
            <a:r>
              <a:rPr lang="zh-CN" altLang="en-US" sz="3600" b="1" dirty="0">
                <a:latin typeface="Arial" panose="020B0604020202020204" pitchFamily="34" charset="0"/>
                <a:ea typeface="宋体" panose="02010600030101010101" pitchFamily="2" charset="-122"/>
              </a:rPr>
              <a:t>、集中仲裁的方式和特点</a:t>
            </a:r>
            <a:r>
              <a:rPr lang="zh-CN" altLang="en-US" dirty="0">
                <a:latin typeface="Arial" panose="020B0604020202020204" pitchFamily="34" charset="0"/>
                <a:ea typeface="宋体" panose="02010600030101010101" pitchFamily="2" charset="-122"/>
              </a:rPr>
              <a:t> </a:t>
            </a:r>
          </a:p>
        </p:txBody>
      </p:sp>
      <p:sp>
        <p:nvSpPr>
          <p:cNvPr id="204803" name="Text Box 3"/>
          <p:cNvSpPr txBox="1"/>
          <p:nvPr/>
        </p:nvSpPr>
        <p:spPr>
          <a:xfrm>
            <a:off x="76200" y="838200"/>
            <a:ext cx="9144000" cy="884238"/>
          </a:xfrm>
          <a:prstGeom prst="rect">
            <a:avLst/>
          </a:prstGeom>
          <a:noFill/>
          <a:ln w="9525">
            <a:noFill/>
          </a:ln>
        </p:spPr>
        <p:txBody>
          <a:bodyPr anchor="t" anchorCtr="0">
            <a:spAutoFit/>
          </a:bodyPr>
          <a:lstStyle/>
          <a:p>
            <a:pPr>
              <a:spcBef>
                <a:spcPct val="50000"/>
              </a:spcBef>
              <a:buClrTx/>
              <a:buFontTx/>
            </a:pPr>
            <a:r>
              <a:rPr lang="en-US" altLang="zh-CN" sz="2800" b="1" dirty="0">
                <a:latin typeface="Arial" panose="020B0604020202020204" pitchFamily="34" charset="0"/>
                <a:ea typeface="宋体" panose="02010600030101010101" pitchFamily="2" charset="-122"/>
              </a:rPr>
              <a:t>1</a:t>
            </a:r>
            <a:r>
              <a:rPr lang="zh-CN" altLang="en-US" sz="2800" b="1" dirty="0">
                <a:latin typeface="Arial" panose="020B0604020202020204" pitchFamily="34" charset="0"/>
                <a:ea typeface="宋体" panose="02010600030101010101" pitchFamily="2" charset="-122"/>
              </a:rPr>
              <a:t>）链式查询</a:t>
            </a:r>
            <a:r>
              <a:rPr lang="zh-CN" altLang="en-US" sz="28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通过一条判优链路（优先链）对所有主设备逐个串行进行查询。</a:t>
            </a:r>
          </a:p>
        </p:txBody>
      </p:sp>
      <p:grpSp>
        <p:nvGrpSpPr>
          <p:cNvPr id="204804" name="Group 4"/>
          <p:cNvGrpSpPr/>
          <p:nvPr/>
        </p:nvGrpSpPr>
        <p:grpSpPr>
          <a:xfrm>
            <a:off x="381000" y="1066800"/>
            <a:ext cx="8686800" cy="5608638"/>
            <a:chOff x="288" y="403"/>
            <a:chExt cx="5472" cy="3533"/>
          </a:xfrm>
        </p:grpSpPr>
        <p:sp>
          <p:nvSpPr>
            <p:cNvPr id="20484" name="Rectangle 5"/>
            <p:cNvSpPr/>
            <p:nvPr/>
          </p:nvSpPr>
          <p:spPr>
            <a:xfrm>
              <a:off x="288" y="1152"/>
              <a:ext cx="624" cy="2784"/>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zh-CN" altLang="en-US" sz="3200" b="1" dirty="0">
                  <a:latin typeface="Times New Roman" panose="02020603050405020304" pitchFamily="18" charset="0"/>
                  <a:ea typeface="宋体" panose="02010600030101010101" pitchFamily="2" charset="-122"/>
                </a:rPr>
                <a:t>总</a:t>
              </a:r>
            </a:p>
            <a:p>
              <a:pPr algn="ctr">
                <a:buClrTx/>
                <a:buFontTx/>
              </a:pPr>
              <a:r>
                <a:rPr lang="zh-CN" altLang="en-US" sz="3200" b="1" dirty="0">
                  <a:latin typeface="Times New Roman" panose="02020603050405020304" pitchFamily="18" charset="0"/>
                  <a:ea typeface="宋体" panose="02010600030101010101" pitchFamily="2" charset="-122"/>
                </a:rPr>
                <a:t>线</a:t>
              </a:r>
            </a:p>
            <a:p>
              <a:pPr algn="ctr">
                <a:buClrTx/>
                <a:buFontTx/>
              </a:pPr>
              <a:r>
                <a:rPr lang="zh-CN" altLang="en-US" sz="3200" b="1" dirty="0">
                  <a:latin typeface="Times New Roman" panose="02020603050405020304" pitchFamily="18" charset="0"/>
                  <a:ea typeface="宋体" panose="02010600030101010101" pitchFamily="2" charset="-122"/>
                </a:rPr>
                <a:t>控</a:t>
              </a:r>
            </a:p>
            <a:p>
              <a:pPr algn="ctr">
                <a:buClrTx/>
                <a:buFontTx/>
              </a:pPr>
              <a:r>
                <a:rPr lang="zh-CN" altLang="en-US" sz="3200" b="1" dirty="0">
                  <a:latin typeface="Times New Roman" panose="02020603050405020304" pitchFamily="18" charset="0"/>
                  <a:ea typeface="宋体" panose="02010600030101010101" pitchFamily="2" charset="-122"/>
                </a:rPr>
                <a:t>制</a:t>
              </a:r>
            </a:p>
            <a:p>
              <a:pPr algn="ctr">
                <a:buClrTx/>
                <a:buFontTx/>
              </a:pPr>
              <a:r>
                <a:rPr lang="zh-CN" altLang="en-US" sz="3200" b="1" dirty="0">
                  <a:latin typeface="Times New Roman" panose="02020603050405020304" pitchFamily="18" charset="0"/>
                  <a:ea typeface="宋体" panose="02010600030101010101" pitchFamily="2" charset="-122"/>
                </a:rPr>
                <a:t>部</a:t>
              </a:r>
            </a:p>
            <a:p>
              <a:pPr algn="ctr">
                <a:buClrTx/>
                <a:buFontTx/>
              </a:pPr>
              <a:r>
                <a:rPr lang="zh-CN" altLang="en-US" sz="3200" b="1" dirty="0">
                  <a:latin typeface="Times New Roman" panose="02020603050405020304" pitchFamily="18" charset="0"/>
                  <a:ea typeface="宋体" panose="02010600030101010101" pitchFamily="2" charset="-122"/>
                </a:rPr>
                <a:t>件</a:t>
              </a:r>
            </a:p>
          </p:txBody>
        </p:sp>
        <p:sp>
          <p:nvSpPr>
            <p:cNvPr id="20485" name="Line 6"/>
            <p:cNvSpPr/>
            <p:nvPr/>
          </p:nvSpPr>
          <p:spPr>
            <a:xfrm>
              <a:off x="912" y="1440"/>
              <a:ext cx="4032" cy="0"/>
            </a:xfrm>
            <a:prstGeom prst="line">
              <a:avLst/>
            </a:prstGeom>
            <a:ln w="38100" cap="flat" cmpd="sng">
              <a:solidFill>
                <a:srgbClr val="008AE8"/>
              </a:solidFill>
              <a:prstDash val="solid"/>
              <a:round/>
              <a:headEnd type="none" w="med" len="med"/>
              <a:tailEnd type="none" w="med" len="med"/>
            </a:ln>
          </p:spPr>
        </p:sp>
        <p:sp>
          <p:nvSpPr>
            <p:cNvPr id="20486" name="Line 7"/>
            <p:cNvSpPr/>
            <p:nvPr/>
          </p:nvSpPr>
          <p:spPr>
            <a:xfrm>
              <a:off x="912" y="1776"/>
              <a:ext cx="4032" cy="0"/>
            </a:xfrm>
            <a:prstGeom prst="line">
              <a:avLst/>
            </a:prstGeom>
            <a:ln w="38100" cap="flat" cmpd="sng">
              <a:solidFill>
                <a:srgbClr val="008AE8"/>
              </a:solidFill>
              <a:prstDash val="solid"/>
              <a:round/>
              <a:headEnd type="none" w="med" len="med"/>
              <a:tailEnd type="none" w="med" len="med"/>
            </a:ln>
          </p:spPr>
        </p:sp>
        <p:sp>
          <p:nvSpPr>
            <p:cNvPr id="20487" name="Line 8"/>
            <p:cNvSpPr/>
            <p:nvPr/>
          </p:nvSpPr>
          <p:spPr>
            <a:xfrm>
              <a:off x="912" y="2112"/>
              <a:ext cx="4032" cy="0"/>
            </a:xfrm>
            <a:prstGeom prst="line">
              <a:avLst/>
            </a:prstGeom>
            <a:ln w="38100" cap="flat" cmpd="sng">
              <a:solidFill>
                <a:srgbClr val="008AE8"/>
              </a:solidFill>
              <a:prstDash val="solid"/>
              <a:round/>
              <a:headEnd type="stealth" w="lg" len="lg"/>
              <a:tailEnd type="none" w="med" len="med"/>
            </a:ln>
          </p:spPr>
        </p:sp>
        <p:sp>
          <p:nvSpPr>
            <p:cNvPr id="20488" name="Line 9"/>
            <p:cNvSpPr/>
            <p:nvPr/>
          </p:nvSpPr>
          <p:spPr>
            <a:xfrm>
              <a:off x="912" y="2448"/>
              <a:ext cx="4032" cy="0"/>
            </a:xfrm>
            <a:prstGeom prst="line">
              <a:avLst/>
            </a:prstGeom>
            <a:ln w="38100" cap="flat" cmpd="sng">
              <a:solidFill>
                <a:srgbClr val="008AE8"/>
              </a:solidFill>
              <a:prstDash val="solid"/>
              <a:round/>
              <a:headEnd type="stealth" w="lg" len="lg"/>
              <a:tailEnd type="none" w="med" len="med"/>
            </a:ln>
          </p:spPr>
        </p:sp>
        <p:sp>
          <p:nvSpPr>
            <p:cNvPr id="20489" name="Rectangle 10"/>
            <p:cNvSpPr/>
            <p:nvPr/>
          </p:nvSpPr>
          <p:spPr>
            <a:xfrm>
              <a:off x="1440" y="2832"/>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400" b="1" dirty="0">
                  <a:latin typeface="Times New Roman" panose="02020603050405020304" pitchFamily="18" charset="0"/>
                  <a:ea typeface="宋体" panose="02010600030101010101" pitchFamily="2" charset="-122"/>
                </a:rPr>
                <a:t>I/O</a:t>
              </a:r>
              <a:r>
                <a:rPr lang="zh-CN" altLang="en-US" sz="2400" b="1" dirty="0">
                  <a:latin typeface="Times New Roman" panose="02020603050405020304" pitchFamily="18" charset="0"/>
                  <a:ea typeface="宋体" panose="02010600030101010101" pitchFamily="2" charset="-122"/>
                </a:rPr>
                <a:t>接口</a:t>
              </a:r>
              <a:r>
                <a:rPr lang="en-US" altLang="zh-CN" sz="2400" b="1" dirty="0">
                  <a:latin typeface="Times New Roman" panose="02020603050405020304" pitchFamily="18" charset="0"/>
                  <a:ea typeface="宋体" panose="02010600030101010101" pitchFamily="2" charset="-122"/>
                </a:rPr>
                <a:t>0</a:t>
              </a:r>
            </a:p>
          </p:txBody>
        </p:sp>
        <p:sp>
          <p:nvSpPr>
            <p:cNvPr id="20490" name="Text Box 11"/>
            <p:cNvSpPr txBox="1"/>
            <p:nvPr/>
          </p:nvSpPr>
          <p:spPr>
            <a:xfrm>
              <a:off x="3708" y="2880"/>
              <a:ext cx="372" cy="365"/>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a:t>
              </a:r>
            </a:p>
          </p:txBody>
        </p:sp>
        <p:sp>
          <p:nvSpPr>
            <p:cNvPr id="20491" name="Line 12"/>
            <p:cNvSpPr/>
            <p:nvPr/>
          </p:nvSpPr>
          <p:spPr>
            <a:xfrm flipV="1">
              <a:off x="1584" y="2448"/>
              <a:ext cx="0" cy="384"/>
            </a:xfrm>
            <a:prstGeom prst="line">
              <a:avLst/>
            </a:prstGeom>
            <a:ln w="38100" cap="flat" cmpd="sng">
              <a:solidFill>
                <a:srgbClr val="008AE8"/>
              </a:solidFill>
              <a:prstDash val="solid"/>
              <a:round/>
              <a:headEnd type="none" w="med" len="med"/>
              <a:tailEnd type="stealth" w="lg" len="lg"/>
            </a:ln>
          </p:spPr>
        </p:sp>
        <p:sp>
          <p:nvSpPr>
            <p:cNvPr id="20492" name="Line 13"/>
            <p:cNvSpPr/>
            <p:nvPr/>
          </p:nvSpPr>
          <p:spPr>
            <a:xfrm flipV="1">
              <a:off x="1824" y="2112"/>
              <a:ext cx="0" cy="720"/>
            </a:xfrm>
            <a:prstGeom prst="line">
              <a:avLst/>
            </a:prstGeom>
            <a:ln w="38100" cap="flat" cmpd="sng">
              <a:solidFill>
                <a:srgbClr val="008AE8"/>
              </a:solidFill>
              <a:prstDash val="solid"/>
              <a:round/>
              <a:headEnd type="none" w="med" len="med"/>
              <a:tailEnd type="stealth" w="lg" len="lg"/>
            </a:ln>
          </p:spPr>
        </p:sp>
        <p:sp>
          <p:nvSpPr>
            <p:cNvPr id="20493" name="Line 14"/>
            <p:cNvSpPr/>
            <p:nvPr/>
          </p:nvSpPr>
          <p:spPr>
            <a:xfrm>
              <a:off x="2064" y="1776"/>
              <a:ext cx="0" cy="1056"/>
            </a:xfrm>
            <a:prstGeom prst="line">
              <a:avLst/>
            </a:prstGeom>
            <a:ln w="38100" cap="flat" cmpd="sng">
              <a:solidFill>
                <a:srgbClr val="008AE8"/>
              </a:solidFill>
              <a:prstDash val="solid"/>
              <a:round/>
              <a:headEnd type="oval" w="med" len="med"/>
              <a:tailEnd type="stealth" w="lg" len="lg"/>
            </a:ln>
          </p:spPr>
        </p:sp>
        <p:sp>
          <p:nvSpPr>
            <p:cNvPr id="20494" name="Line 15"/>
            <p:cNvSpPr/>
            <p:nvPr/>
          </p:nvSpPr>
          <p:spPr>
            <a:xfrm>
              <a:off x="2304" y="1440"/>
              <a:ext cx="0" cy="1392"/>
            </a:xfrm>
            <a:prstGeom prst="line">
              <a:avLst/>
            </a:prstGeom>
            <a:ln w="38100" cap="flat" cmpd="sng">
              <a:solidFill>
                <a:srgbClr val="008AE8"/>
              </a:solidFill>
              <a:prstDash val="solid"/>
              <a:round/>
              <a:headEnd type="oval" w="med" len="med"/>
              <a:tailEnd type="stealth" w="lg" len="lg"/>
            </a:ln>
          </p:spPr>
        </p:sp>
        <p:sp>
          <p:nvSpPr>
            <p:cNvPr id="20495" name="Line 16"/>
            <p:cNvSpPr/>
            <p:nvPr/>
          </p:nvSpPr>
          <p:spPr>
            <a:xfrm flipV="1">
              <a:off x="2736" y="2448"/>
              <a:ext cx="0" cy="384"/>
            </a:xfrm>
            <a:prstGeom prst="line">
              <a:avLst/>
            </a:prstGeom>
            <a:ln w="38100" cap="flat" cmpd="sng">
              <a:solidFill>
                <a:srgbClr val="008AE8"/>
              </a:solidFill>
              <a:prstDash val="solid"/>
              <a:round/>
              <a:headEnd type="none" w="med" len="med"/>
              <a:tailEnd type="stealth" w="lg" len="lg"/>
            </a:ln>
          </p:spPr>
        </p:sp>
        <p:sp>
          <p:nvSpPr>
            <p:cNvPr id="20496" name="Line 17"/>
            <p:cNvSpPr/>
            <p:nvPr/>
          </p:nvSpPr>
          <p:spPr>
            <a:xfrm flipV="1">
              <a:off x="2976" y="2112"/>
              <a:ext cx="0" cy="720"/>
            </a:xfrm>
            <a:prstGeom prst="line">
              <a:avLst/>
            </a:prstGeom>
            <a:ln w="38100" cap="flat" cmpd="sng">
              <a:solidFill>
                <a:srgbClr val="008AE8"/>
              </a:solidFill>
              <a:prstDash val="solid"/>
              <a:round/>
              <a:headEnd type="none" w="med" len="med"/>
              <a:tailEnd type="stealth" w="lg" len="lg"/>
            </a:ln>
          </p:spPr>
        </p:sp>
        <p:sp>
          <p:nvSpPr>
            <p:cNvPr id="20497" name="Line 18"/>
            <p:cNvSpPr/>
            <p:nvPr/>
          </p:nvSpPr>
          <p:spPr>
            <a:xfrm>
              <a:off x="3216" y="1776"/>
              <a:ext cx="0" cy="1056"/>
            </a:xfrm>
            <a:prstGeom prst="line">
              <a:avLst/>
            </a:prstGeom>
            <a:ln w="38100" cap="flat" cmpd="sng">
              <a:solidFill>
                <a:srgbClr val="008AE8"/>
              </a:solidFill>
              <a:prstDash val="solid"/>
              <a:round/>
              <a:headEnd type="oval" w="med" len="med"/>
              <a:tailEnd type="stealth" w="lg" len="lg"/>
            </a:ln>
          </p:spPr>
        </p:sp>
        <p:sp>
          <p:nvSpPr>
            <p:cNvPr id="20498" name="Line 19"/>
            <p:cNvSpPr/>
            <p:nvPr/>
          </p:nvSpPr>
          <p:spPr>
            <a:xfrm>
              <a:off x="3456" y="1440"/>
              <a:ext cx="0" cy="1392"/>
            </a:xfrm>
            <a:prstGeom prst="line">
              <a:avLst/>
            </a:prstGeom>
            <a:ln w="38100" cap="flat" cmpd="sng">
              <a:solidFill>
                <a:srgbClr val="008AE8"/>
              </a:solidFill>
              <a:prstDash val="solid"/>
              <a:round/>
              <a:headEnd type="oval" w="med" len="med"/>
              <a:tailEnd type="stealth" w="lg" len="lg"/>
            </a:ln>
          </p:spPr>
        </p:sp>
        <p:sp>
          <p:nvSpPr>
            <p:cNvPr id="20499" name="Line 20"/>
            <p:cNvSpPr/>
            <p:nvPr/>
          </p:nvSpPr>
          <p:spPr>
            <a:xfrm flipV="1">
              <a:off x="4128" y="2448"/>
              <a:ext cx="0" cy="384"/>
            </a:xfrm>
            <a:prstGeom prst="line">
              <a:avLst/>
            </a:prstGeom>
            <a:ln w="38100" cap="flat" cmpd="sng">
              <a:solidFill>
                <a:srgbClr val="008AE8"/>
              </a:solidFill>
              <a:prstDash val="solid"/>
              <a:round/>
              <a:headEnd type="none" w="med" len="med"/>
              <a:tailEnd type="stealth" w="lg" len="lg"/>
            </a:ln>
          </p:spPr>
        </p:sp>
        <p:sp>
          <p:nvSpPr>
            <p:cNvPr id="20500" name="Line 21"/>
            <p:cNvSpPr/>
            <p:nvPr/>
          </p:nvSpPr>
          <p:spPr>
            <a:xfrm flipV="1">
              <a:off x="4368" y="2112"/>
              <a:ext cx="0" cy="720"/>
            </a:xfrm>
            <a:prstGeom prst="line">
              <a:avLst/>
            </a:prstGeom>
            <a:ln w="38100" cap="flat" cmpd="sng">
              <a:solidFill>
                <a:srgbClr val="008AE8"/>
              </a:solidFill>
              <a:prstDash val="solid"/>
              <a:round/>
              <a:headEnd type="none" w="med" len="med"/>
              <a:tailEnd type="stealth" w="lg" len="lg"/>
            </a:ln>
          </p:spPr>
        </p:sp>
        <p:sp>
          <p:nvSpPr>
            <p:cNvPr id="20501" name="Line 22"/>
            <p:cNvSpPr/>
            <p:nvPr/>
          </p:nvSpPr>
          <p:spPr>
            <a:xfrm>
              <a:off x="4608" y="1776"/>
              <a:ext cx="0" cy="1056"/>
            </a:xfrm>
            <a:prstGeom prst="line">
              <a:avLst/>
            </a:prstGeom>
            <a:ln w="38100" cap="flat" cmpd="sng">
              <a:solidFill>
                <a:srgbClr val="008AE8"/>
              </a:solidFill>
              <a:prstDash val="solid"/>
              <a:round/>
              <a:headEnd type="oval" w="med" len="med"/>
              <a:tailEnd type="stealth" w="lg" len="lg"/>
            </a:ln>
          </p:spPr>
        </p:sp>
        <p:sp>
          <p:nvSpPr>
            <p:cNvPr id="20502" name="Line 23"/>
            <p:cNvSpPr/>
            <p:nvPr/>
          </p:nvSpPr>
          <p:spPr>
            <a:xfrm>
              <a:off x="4848" y="1440"/>
              <a:ext cx="0" cy="1392"/>
            </a:xfrm>
            <a:prstGeom prst="line">
              <a:avLst/>
            </a:prstGeom>
            <a:ln w="38100" cap="flat" cmpd="sng">
              <a:solidFill>
                <a:srgbClr val="008AE8"/>
              </a:solidFill>
              <a:prstDash val="solid"/>
              <a:round/>
              <a:headEnd type="oval" w="med" len="med"/>
              <a:tailEnd type="stealth" w="lg" len="lg"/>
            </a:ln>
          </p:spPr>
        </p:sp>
        <p:sp>
          <p:nvSpPr>
            <p:cNvPr id="20503" name="Text Box 24"/>
            <p:cNvSpPr txBox="1"/>
            <p:nvPr/>
          </p:nvSpPr>
          <p:spPr>
            <a:xfrm>
              <a:off x="1146" y="1817"/>
              <a:ext cx="351"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BS</a:t>
              </a:r>
            </a:p>
          </p:txBody>
        </p:sp>
        <p:sp>
          <p:nvSpPr>
            <p:cNvPr id="20504" name="Text Box 25"/>
            <p:cNvSpPr txBox="1"/>
            <p:nvPr/>
          </p:nvSpPr>
          <p:spPr>
            <a:xfrm>
              <a:off x="1157" y="2153"/>
              <a:ext cx="383"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BR</a:t>
              </a:r>
            </a:p>
          </p:txBody>
        </p:sp>
        <p:sp>
          <p:nvSpPr>
            <p:cNvPr id="20505" name="Freeform 26"/>
            <p:cNvSpPr/>
            <p:nvPr/>
          </p:nvSpPr>
          <p:spPr>
            <a:xfrm>
              <a:off x="912" y="3360"/>
              <a:ext cx="720" cy="432"/>
            </a:xfrm>
            <a:custGeom>
              <a:avLst/>
              <a:gdLst/>
              <a:ahLst/>
              <a:cxnLst>
                <a:cxn ang="0">
                  <a:pos x="0" y="1400"/>
                </a:cxn>
                <a:cxn ang="0">
                  <a:pos x="720" y="1400"/>
                </a:cxn>
                <a:cxn ang="0">
                  <a:pos x="720" y="0"/>
                </a:cxn>
              </a:cxnLst>
              <a:rect l="0" t="0" r="0" b="0"/>
              <a:pathLst>
                <a:path w="720" h="240">
                  <a:moveTo>
                    <a:pt x="0" y="240"/>
                  </a:moveTo>
                  <a:lnTo>
                    <a:pt x="720" y="240"/>
                  </a:lnTo>
                  <a:lnTo>
                    <a:pt x="720" y="0"/>
                  </a:lnTo>
                </a:path>
              </a:pathLst>
            </a:custGeom>
            <a:noFill/>
            <a:ln w="38100" cap="flat" cmpd="sng">
              <a:solidFill>
                <a:srgbClr val="008AE8"/>
              </a:solidFill>
              <a:prstDash val="solid"/>
              <a:round/>
              <a:headEnd type="none" w="med" len="med"/>
              <a:tailEnd type="stealth" w="lg" len="lg"/>
            </a:ln>
          </p:spPr>
          <p:txBody>
            <a:bodyPr/>
            <a:lstStyle/>
            <a:p>
              <a:endParaRPr lang="zh-CN" altLang="en-US"/>
            </a:p>
          </p:txBody>
        </p:sp>
        <p:sp>
          <p:nvSpPr>
            <p:cNvPr id="20506" name="Rectangle 27"/>
            <p:cNvSpPr/>
            <p:nvPr/>
          </p:nvSpPr>
          <p:spPr>
            <a:xfrm>
              <a:off x="2640" y="2832"/>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400" b="1" dirty="0">
                  <a:latin typeface="Times New Roman" panose="02020603050405020304" pitchFamily="18" charset="0"/>
                  <a:ea typeface="宋体" panose="02010600030101010101" pitchFamily="2" charset="-122"/>
                </a:rPr>
                <a:t>I/O</a:t>
              </a:r>
              <a:r>
                <a:rPr lang="zh-CN" altLang="en-US" sz="2400" b="1" dirty="0">
                  <a:latin typeface="Times New Roman" panose="02020603050405020304" pitchFamily="18" charset="0"/>
                  <a:ea typeface="宋体" panose="02010600030101010101" pitchFamily="2" charset="-122"/>
                </a:rPr>
                <a:t>接口</a:t>
              </a:r>
              <a:r>
                <a:rPr lang="en-US" altLang="zh-CN" sz="2400" b="1" dirty="0">
                  <a:latin typeface="Times New Roman" panose="02020603050405020304" pitchFamily="18" charset="0"/>
                  <a:ea typeface="宋体" panose="02010600030101010101" pitchFamily="2" charset="-122"/>
                </a:rPr>
                <a:t>1</a:t>
              </a:r>
            </a:p>
          </p:txBody>
        </p:sp>
        <p:sp>
          <p:nvSpPr>
            <p:cNvPr id="20507" name="Rectangle 28"/>
            <p:cNvSpPr/>
            <p:nvPr/>
          </p:nvSpPr>
          <p:spPr>
            <a:xfrm>
              <a:off x="4032" y="2832"/>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400" b="1" dirty="0">
                  <a:latin typeface="Times New Roman" panose="02020603050405020304" pitchFamily="18" charset="0"/>
                  <a:ea typeface="宋体" panose="02010600030101010101" pitchFamily="2" charset="-122"/>
                </a:rPr>
                <a:t>I/O</a:t>
              </a:r>
              <a:r>
                <a:rPr lang="zh-CN" altLang="en-US" sz="2400" b="1" dirty="0">
                  <a:latin typeface="Times New Roman" panose="02020603050405020304" pitchFamily="18" charset="0"/>
                  <a:ea typeface="宋体" panose="02010600030101010101" pitchFamily="2" charset="-122"/>
                </a:rPr>
                <a:t>接口</a:t>
              </a:r>
              <a:r>
                <a:rPr lang="en-US" altLang="zh-CN" sz="2400" b="1" i="1" dirty="0">
                  <a:latin typeface="Times New Roman" panose="02020603050405020304" pitchFamily="18" charset="0"/>
                  <a:ea typeface="宋体" panose="02010600030101010101" pitchFamily="2" charset="-122"/>
                </a:rPr>
                <a:t>n</a:t>
              </a:r>
            </a:p>
          </p:txBody>
        </p:sp>
        <p:sp>
          <p:nvSpPr>
            <p:cNvPr id="20508" name="Freeform 29"/>
            <p:cNvSpPr/>
            <p:nvPr/>
          </p:nvSpPr>
          <p:spPr>
            <a:xfrm>
              <a:off x="1632" y="3216"/>
              <a:ext cx="672" cy="144"/>
            </a:xfrm>
            <a:custGeom>
              <a:avLst/>
              <a:gdLst/>
              <a:ahLst/>
              <a:cxnLst>
                <a:cxn ang="0">
                  <a:pos x="0" y="144"/>
                </a:cxn>
                <a:cxn ang="0">
                  <a:pos x="99" y="48"/>
                </a:cxn>
                <a:cxn ang="0">
                  <a:pos x="594" y="0"/>
                </a:cxn>
                <a:cxn ang="0">
                  <a:pos x="990" y="48"/>
                </a:cxn>
                <a:cxn ang="0">
                  <a:pos x="1088" y="144"/>
                </a:cxn>
              </a:cxnLst>
              <a:rect l="0" t="0" r="0" b="0"/>
              <a:pathLst>
                <a:path w="528" h="144">
                  <a:moveTo>
                    <a:pt x="0" y="144"/>
                  </a:moveTo>
                  <a:cubicBezTo>
                    <a:pt x="0" y="108"/>
                    <a:pt x="0" y="72"/>
                    <a:pt x="48" y="48"/>
                  </a:cubicBezTo>
                  <a:cubicBezTo>
                    <a:pt x="96" y="24"/>
                    <a:pt x="216" y="0"/>
                    <a:pt x="288" y="0"/>
                  </a:cubicBezTo>
                  <a:cubicBezTo>
                    <a:pt x="360" y="0"/>
                    <a:pt x="440" y="24"/>
                    <a:pt x="480" y="48"/>
                  </a:cubicBezTo>
                  <a:cubicBezTo>
                    <a:pt x="520" y="72"/>
                    <a:pt x="520" y="128"/>
                    <a:pt x="528" y="144"/>
                  </a:cubicBezTo>
                </a:path>
              </a:pathLst>
            </a:custGeom>
            <a:noFill/>
            <a:ln w="38100" cap="flat" cmpd="sng">
              <a:solidFill>
                <a:srgbClr val="008AE8"/>
              </a:solidFill>
              <a:prstDash val="solid"/>
              <a:round/>
              <a:headEnd type="none" w="med" len="med"/>
              <a:tailEnd type="none" w="med" len="med"/>
            </a:ln>
          </p:spPr>
          <p:txBody>
            <a:bodyPr/>
            <a:lstStyle/>
            <a:p>
              <a:endParaRPr lang="zh-CN" altLang="en-US"/>
            </a:p>
          </p:txBody>
        </p:sp>
        <p:sp>
          <p:nvSpPr>
            <p:cNvPr id="20509" name="Freeform 30"/>
            <p:cNvSpPr/>
            <p:nvPr/>
          </p:nvSpPr>
          <p:spPr>
            <a:xfrm>
              <a:off x="2304" y="3360"/>
              <a:ext cx="528" cy="432"/>
            </a:xfrm>
            <a:custGeom>
              <a:avLst/>
              <a:gdLst/>
              <a:ahLst/>
              <a:cxnLst>
                <a:cxn ang="0">
                  <a:pos x="0" y="1400"/>
                </a:cxn>
                <a:cxn ang="0">
                  <a:pos x="284" y="1400"/>
                </a:cxn>
                <a:cxn ang="0">
                  <a:pos x="284" y="0"/>
                </a:cxn>
              </a:cxnLst>
              <a:rect l="0" t="0" r="0" b="0"/>
              <a:pathLst>
                <a:path w="720" h="240">
                  <a:moveTo>
                    <a:pt x="0" y="240"/>
                  </a:moveTo>
                  <a:lnTo>
                    <a:pt x="720" y="240"/>
                  </a:lnTo>
                  <a:lnTo>
                    <a:pt x="720" y="0"/>
                  </a:lnTo>
                </a:path>
              </a:pathLst>
            </a:custGeom>
            <a:noFill/>
            <a:ln w="38100" cap="flat" cmpd="sng">
              <a:solidFill>
                <a:srgbClr val="008AE8"/>
              </a:solidFill>
              <a:prstDash val="solid"/>
              <a:round/>
              <a:headEnd type="none" w="med" len="med"/>
              <a:tailEnd type="stealth" w="lg" len="lg"/>
            </a:ln>
          </p:spPr>
          <p:txBody>
            <a:bodyPr/>
            <a:lstStyle/>
            <a:p>
              <a:endParaRPr lang="zh-CN" altLang="en-US"/>
            </a:p>
          </p:txBody>
        </p:sp>
        <p:sp>
          <p:nvSpPr>
            <p:cNvPr id="20510" name="Line 31"/>
            <p:cNvSpPr/>
            <p:nvPr/>
          </p:nvSpPr>
          <p:spPr>
            <a:xfrm>
              <a:off x="2304" y="3360"/>
              <a:ext cx="0" cy="432"/>
            </a:xfrm>
            <a:prstGeom prst="line">
              <a:avLst/>
            </a:prstGeom>
            <a:ln w="38100" cap="flat" cmpd="sng">
              <a:solidFill>
                <a:srgbClr val="008AE8"/>
              </a:solidFill>
              <a:prstDash val="solid"/>
              <a:round/>
              <a:headEnd type="none" w="med" len="med"/>
              <a:tailEnd type="stealth" w="lg" len="lg"/>
            </a:ln>
          </p:spPr>
        </p:sp>
        <p:sp>
          <p:nvSpPr>
            <p:cNvPr id="20511" name="Freeform 32"/>
            <p:cNvSpPr/>
            <p:nvPr/>
          </p:nvSpPr>
          <p:spPr>
            <a:xfrm>
              <a:off x="2832" y="3216"/>
              <a:ext cx="672" cy="144"/>
            </a:xfrm>
            <a:custGeom>
              <a:avLst/>
              <a:gdLst/>
              <a:ahLst/>
              <a:cxnLst>
                <a:cxn ang="0">
                  <a:pos x="0" y="144"/>
                </a:cxn>
                <a:cxn ang="0">
                  <a:pos x="99" y="48"/>
                </a:cxn>
                <a:cxn ang="0">
                  <a:pos x="594" y="0"/>
                </a:cxn>
                <a:cxn ang="0">
                  <a:pos x="990" y="48"/>
                </a:cxn>
                <a:cxn ang="0">
                  <a:pos x="1088" y="144"/>
                </a:cxn>
              </a:cxnLst>
              <a:rect l="0" t="0" r="0" b="0"/>
              <a:pathLst>
                <a:path w="528" h="144">
                  <a:moveTo>
                    <a:pt x="0" y="144"/>
                  </a:moveTo>
                  <a:cubicBezTo>
                    <a:pt x="0" y="108"/>
                    <a:pt x="0" y="72"/>
                    <a:pt x="48" y="48"/>
                  </a:cubicBezTo>
                  <a:cubicBezTo>
                    <a:pt x="96" y="24"/>
                    <a:pt x="216" y="0"/>
                    <a:pt x="288" y="0"/>
                  </a:cubicBezTo>
                  <a:cubicBezTo>
                    <a:pt x="360" y="0"/>
                    <a:pt x="440" y="24"/>
                    <a:pt x="480" y="48"/>
                  </a:cubicBezTo>
                  <a:cubicBezTo>
                    <a:pt x="520" y="72"/>
                    <a:pt x="520" y="128"/>
                    <a:pt x="528" y="144"/>
                  </a:cubicBezTo>
                </a:path>
              </a:pathLst>
            </a:custGeom>
            <a:noFill/>
            <a:ln w="38100" cap="flat" cmpd="sng">
              <a:solidFill>
                <a:srgbClr val="008AE8"/>
              </a:solidFill>
              <a:prstDash val="solid"/>
              <a:round/>
              <a:headEnd type="none" w="med" len="med"/>
              <a:tailEnd type="none" w="med" len="med"/>
            </a:ln>
          </p:spPr>
          <p:txBody>
            <a:bodyPr/>
            <a:lstStyle/>
            <a:p>
              <a:endParaRPr lang="zh-CN" altLang="en-US"/>
            </a:p>
          </p:txBody>
        </p:sp>
        <p:sp>
          <p:nvSpPr>
            <p:cNvPr id="20512" name="Freeform 33"/>
            <p:cNvSpPr/>
            <p:nvPr/>
          </p:nvSpPr>
          <p:spPr>
            <a:xfrm>
              <a:off x="4224" y="3216"/>
              <a:ext cx="672" cy="144"/>
            </a:xfrm>
            <a:custGeom>
              <a:avLst/>
              <a:gdLst/>
              <a:ahLst/>
              <a:cxnLst>
                <a:cxn ang="0">
                  <a:pos x="0" y="144"/>
                </a:cxn>
                <a:cxn ang="0">
                  <a:pos x="99" y="48"/>
                </a:cxn>
                <a:cxn ang="0">
                  <a:pos x="594" y="0"/>
                </a:cxn>
                <a:cxn ang="0">
                  <a:pos x="990" y="48"/>
                </a:cxn>
                <a:cxn ang="0">
                  <a:pos x="1088" y="144"/>
                </a:cxn>
              </a:cxnLst>
              <a:rect l="0" t="0" r="0" b="0"/>
              <a:pathLst>
                <a:path w="528" h="144">
                  <a:moveTo>
                    <a:pt x="0" y="144"/>
                  </a:moveTo>
                  <a:cubicBezTo>
                    <a:pt x="0" y="108"/>
                    <a:pt x="0" y="72"/>
                    <a:pt x="48" y="48"/>
                  </a:cubicBezTo>
                  <a:cubicBezTo>
                    <a:pt x="96" y="24"/>
                    <a:pt x="216" y="0"/>
                    <a:pt x="288" y="0"/>
                  </a:cubicBezTo>
                  <a:cubicBezTo>
                    <a:pt x="360" y="0"/>
                    <a:pt x="440" y="24"/>
                    <a:pt x="480" y="48"/>
                  </a:cubicBezTo>
                  <a:cubicBezTo>
                    <a:pt x="520" y="72"/>
                    <a:pt x="520" y="128"/>
                    <a:pt x="528" y="144"/>
                  </a:cubicBezTo>
                </a:path>
              </a:pathLst>
            </a:custGeom>
            <a:noFill/>
            <a:ln w="38100" cap="flat" cmpd="sng">
              <a:solidFill>
                <a:srgbClr val="008AE8"/>
              </a:solidFill>
              <a:prstDash val="solid"/>
              <a:round/>
              <a:headEnd type="none" w="med" len="med"/>
              <a:tailEnd type="none" w="med" len="med"/>
            </a:ln>
          </p:spPr>
          <p:txBody>
            <a:bodyPr/>
            <a:lstStyle/>
            <a:p>
              <a:endParaRPr lang="zh-CN" altLang="en-US"/>
            </a:p>
          </p:txBody>
        </p:sp>
        <p:sp>
          <p:nvSpPr>
            <p:cNvPr id="20513" name="Line 34"/>
            <p:cNvSpPr/>
            <p:nvPr/>
          </p:nvSpPr>
          <p:spPr>
            <a:xfrm>
              <a:off x="3504" y="3360"/>
              <a:ext cx="0" cy="432"/>
            </a:xfrm>
            <a:prstGeom prst="line">
              <a:avLst/>
            </a:prstGeom>
            <a:ln w="38100" cap="flat" cmpd="sng">
              <a:solidFill>
                <a:srgbClr val="008AE8"/>
              </a:solidFill>
              <a:prstDash val="solid"/>
              <a:round/>
              <a:headEnd type="none" w="med" len="med"/>
              <a:tailEnd type="stealth" w="lg" len="lg"/>
            </a:ln>
          </p:spPr>
        </p:sp>
        <p:sp>
          <p:nvSpPr>
            <p:cNvPr id="20514" name="Line 35"/>
            <p:cNvSpPr/>
            <p:nvPr/>
          </p:nvSpPr>
          <p:spPr>
            <a:xfrm>
              <a:off x="4896" y="3360"/>
              <a:ext cx="0" cy="432"/>
            </a:xfrm>
            <a:prstGeom prst="line">
              <a:avLst/>
            </a:prstGeom>
            <a:ln w="38100" cap="flat" cmpd="sng">
              <a:solidFill>
                <a:srgbClr val="008AE8"/>
              </a:solidFill>
              <a:prstDash val="solid"/>
              <a:round/>
              <a:headEnd type="none" w="med" len="med"/>
              <a:tailEnd type="stealth" w="lg" len="lg"/>
            </a:ln>
          </p:spPr>
        </p:sp>
        <p:sp>
          <p:nvSpPr>
            <p:cNvPr id="20515" name="Line 36"/>
            <p:cNvSpPr/>
            <p:nvPr/>
          </p:nvSpPr>
          <p:spPr>
            <a:xfrm>
              <a:off x="4896" y="3792"/>
              <a:ext cx="480" cy="0"/>
            </a:xfrm>
            <a:prstGeom prst="line">
              <a:avLst/>
            </a:prstGeom>
            <a:ln w="38100" cap="flat" cmpd="sng">
              <a:solidFill>
                <a:srgbClr val="008AE8"/>
              </a:solidFill>
              <a:prstDash val="solid"/>
              <a:round/>
              <a:headEnd type="none" w="med" len="med"/>
              <a:tailEnd type="stealth" w="lg" len="lg"/>
            </a:ln>
          </p:spPr>
        </p:sp>
        <p:sp>
          <p:nvSpPr>
            <p:cNvPr id="20516" name="Text Box 37"/>
            <p:cNvSpPr txBox="1"/>
            <p:nvPr/>
          </p:nvSpPr>
          <p:spPr>
            <a:xfrm>
              <a:off x="5388" y="3552"/>
              <a:ext cx="372" cy="365"/>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a:t>
              </a:r>
            </a:p>
          </p:txBody>
        </p:sp>
        <p:sp>
          <p:nvSpPr>
            <p:cNvPr id="20517" name="Text Box 38"/>
            <p:cNvSpPr txBox="1"/>
            <p:nvPr/>
          </p:nvSpPr>
          <p:spPr>
            <a:xfrm>
              <a:off x="1056" y="3545"/>
              <a:ext cx="393"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BG</a:t>
              </a:r>
            </a:p>
          </p:txBody>
        </p:sp>
        <p:sp>
          <p:nvSpPr>
            <p:cNvPr id="20518" name="Line 39"/>
            <p:cNvSpPr/>
            <p:nvPr/>
          </p:nvSpPr>
          <p:spPr>
            <a:xfrm>
              <a:off x="3504" y="3792"/>
              <a:ext cx="720" cy="0"/>
            </a:xfrm>
            <a:prstGeom prst="line">
              <a:avLst/>
            </a:prstGeom>
            <a:ln w="38100" cap="flat" cmpd="sng">
              <a:solidFill>
                <a:srgbClr val="008AE8"/>
              </a:solidFill>
              <a:prstDash val="solid"/>
              <a:round/>
              <a:headEnd type="none" w="med" len="med"/>
              <a:tailEnd type="none" w="med" len="med"/>
            </a:ln>
          </p:spPr>
        </p:sp>
        <p:sp>
          <p:nvSpPr>
            <p:cNvPr id="20519" name="Line 40"/>
            <p:cNvSpPr/>
            <p:nvPr/>
          </p:nvSpPr>
          <p:spPr>
            <a:xfrm flipV="1">
              <a:off x="4224" y="3360"/>
              <a:ext cx="0" cy="432"/>
            </a:xfrm>
            <a:prstGeom prst="line">
              <a:avLst/>
            </a:prstGeom>
            <a:ln w="38100" cap="flat" cmpd="sng">
              <a:solidFill>
                <a:srgbClr val="008AE8"/>
              </a:solidFill>
              <a:prstDash val="solid"/>
              <a:round/>
              <a:headEnd type="none" w="med" len="med"/>
              <a:tailEnd type="stealth" w="lg" len="lg"/>
            </a:ln>
          </p:spPr>
        </p:sp>
        <p:grpSp>
          <p:nvGrpSpPr>
            <p:cNvPr id="20520" name="Group 41"/>
            <p:cNvGrpSpPr/>
            <p:nvPr/>
          </p:nvGrpSpPr>
          <p:grpSpPr>
            <a:xfrm>
              <a:off x="3168" y="403"/>
              <a:ext cx="2471" cy="1493"/>
              <a:chOff x="3168" y="403"/>
              <a:chExt cx="2471" cy="1493"/>
            </a:xfrm>
          </p:grpSpPr>
          <p:sp>
            <p:nvSpPr>
              <p:cNvPr id="20521" name="Text Box 42"/>
              <p:cNvSpPr txBox="1"/>
              <p:nvPr/>
            </p:nvSpPr>
            <p:spPr>
              <a:xfrm>
                <a:off x="4944" y="1272"/>
                <a:ext cx="695" cy="288"/>
              </a:xfrm>
              <a:prstGeom prst="rect">
                <a:avLst/>
              </a:prstGeom>
              <a:noFill/>
              <a:ln w="9525">
                <a:noFill/>
              </a:ln>
            </p:spPr>
            <p:txBody>
              <a:bodyPr wrap="none" anchor="t" anchorCtr="0">
                <a:spAutoFit/>
              </a:bodyPr>
              <a:lstStyle/>
              <a:p>
                <a:pPr>
                  <a:buClrTx/>
                  <a:buFontTx/>
                </a:pPr>
                <a:r>
                  <a:rPr lang="zh-CN" altLang="en-US" sz="2400" b="1" dirty="0">
                    <a:latin typeface="Times New Roman" panose="02020603050405020304" pitchFamily="18" charset="0"/>
                    <a:ea typeface="宋体" panose="02010600030101010101" pitchFamily="2" charset="-122"/>
                  </a:rPr>
                  <a:t>数据线</a:t>
                </a:r>
              </a:p>
            </p:txBody>
          </p:sp>
          <p:sp>
            <p:nvSpPr>
              <p:cNvPr id="20522" name="Text Box 43"/>
              <p:cNvSpPr txBox="1"/>
              <p:nvPr/>
            </p:nvSpPr>
            <p:spPr>
              <a:xfrm>
                <a:off x="4944" y="1608"/>
                <a:ext cx="695" cy="288"/>
              </a:xfrm>
              <a:prstGeom prst="rect">
                <a:avLst/>
              </a:prstGeom>
              <a:noFill/>
              <a:ln w="9525">
                <a:noFill/>
              </a:ln>
            </p:spPr>
            <p:txBody>
              <a:bodyPr wrap="none" anchor="t" anchorCtr="0">
                <a:spAutoFit/>
              </a:bodyPr>
              <a:lstStyle/>
              <a:p>
                <a:pPr>
                  <a:buClrTx/>
                  <a:buFontTx/>
                </a:pPr>
                <a:r>
                  <a:rPr lang="zh-CN" altLang="en-US" sz="2400" b="1" dirty="0">
                    <a:latin typeface="Times New Roman" panose="02020603050405020304" pitchFamily="18" charset="0"/>
                    <a:ea typeface="宋体" panose="02010600030101010101" pitchFamily="2" charset="-122"/>
                  </a:rPr>
                  <a:t>地址线</a:t>
                </a:r>
              </a:p>
            </p:txBody>
          </p:sp>
          <p:sp>
            <p:nvSpPr>
              <p:cNvPr id="20523" name="Text Box 44"/>
              <p:cNvSpPr txBox="1"/>
              <p:nvPr/>
            </p:nvSpPr>
            <p:spPr>
              <a:xfrm>
                <a:off x="3168" y="403"/>
                <a:ext cx="1044" cy="864"/>
              </a:xfrm>
              <a:prstGeom prst="rect">
                <a:avLst/>
              </a:prstGeom>
              <a:noFill/>
              <a:ln w="9525">
                <a:noFill/>
              </a:ln>
            </p:spPr>
            <p:txBody>
              <a:bodyPr wrap="none" anchor="t" anchorCtr="0">
                <a:spAutoFit/>
              </a:bodyPr>
              <a:lstStyle/>
              <a:p>
                <a:pPr>
                  <a:buClrTx/>
                  <a:buFontTx/>
                </a:pPr>
                <a:endParaRPr lang="en-US" altLang="zh-CN" sz="2400" b="1" dirty="0">
                  <a:latin typeface="Times New Roman" panose="02020603050405020304" pitchFamily="18" charset="0"/>
                  <a:ea typeface="宋体" panose="02010600030101010101" pitchFamily="2" charset="-122"/>
                </a:endParaRPr>
              </a:p>
              <a:p>
                <a:pPr>
                  <a:buClrTx/>
                  <a:buFontTx/>
                </a:pPr>
                <a:r>
                  <a:rPr lang="en-US" altLang="zh-CN" sz="2000" b="1" dirty="0">
                    <a:latin typeface="Times New Roman" panose="02020603050405020304" pitchFamily="18" charset="0"/>
                    <a:ea typeface="宋体" panose="02010600030101010101" pitchFamily="2" charset="-122"/>
                  </a:rPr>
                  <a:t>BS  -</a:t>
                </a:r>
                <a:r>
                  <a:rPr lang="zh-CN" altLang="en-US" sz="2000" b="1" dirty="0">
                    <a:latin typeface="Times New Roman" panose="02020603050405020304" pitchFamily="18" charset="0"/>
                    <a:ea typeface="宋体" panose="02010600030101010101" pitchFamily="2" charset="-122"/>
                  </a:rPr>
                  <a:t>总线忙</a:t>
                </a:r>
              </a:p>
              <a:p>
                <a:pPr>
                  <a:buClrTx/>
                  <a:buFontTx/>
                </a:pPr>
                <a:r>
                  <a:rPr lang="en-US" altLang="zh-CN" sz="2000" b="1" dirty="0">
                    <a:latin typeface="Times New Roman" panose="02020603050405020304" pitchFamily="18" charset="0"/>
                    <a:ea typeface="宋体" panose="02010600030101010101" pitchFamily="2" charset="-122"/>
                  </a:rPr>
                  <a:t>BR-</a:t>
                </a:r>
                <a:r>
                  <a:rPr lang="zh-CN" altLang="en-US" sz="2000" b="1" dirty="0">
                    <a:latin typeface="Times New Roman" panose="02020603050405020304" pitchFamily="18" charset="0"/>
                    <a:ea typeface="宋体" panose="02010600030101010101" pitchFamily="2" charset="-122"/>
                  </a:rPr>
                  <a:t>总线请求</a:t>
                </a:r>
              </a:p>
              <a:p>
                <a:pPr>
                  <a:buClrTx/>
                  <a:buFontTx/>
                </a:pPr>
                <a:r>
                  <a:rPr lang="en-US" altLang="zh-CN" sz="2000" b="1" dirty="0">
                    <a:latin typeface="Times New Roman" panose="02020603050405020304" pitchFamily="18" charset="0"/>
                    <a:ea typeface="宋体" panose="02010600030101010101" pitchFamily="2" charset="-122"/>
                  </a:rPr>
                  <a:t>BG-</a:t>
                </a:r>
                <a:r>
                  <a:rPr lang="zh-CN" altLang="en-US" sz="2000" b="1" dirty="0">
                    <a:latin typeface="Times New Roman" panose="02020603050405020304" pitchFamily="18" charset="0"/>
                    <a:ea typeface="宋体" panose="02010600030101010101" pitchFamily="2" charset="-122"/>
                  </a:rPr>
                  <a:t>总线同意</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blinds(horizontal)">
                                      <p:cBhvr>
                                        <p:cTn id="7" dur="500"/>
                                        <p:tgtEl>
                                          <p:spTgt spid="20480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4803"/>
                                        </p:tgtEl>
                                        <p:attrNameLst>
                                          <p:attrName>style.visibility</p:attrName>
                                        </p:attrNameLst>
                                      </p:cBhvr>
                                      <p:to>
                                        <p:strVal val="visible"/>
                                      </p:to>
                                    </p:set>
                                    <p:animEffect transition="in" filter="blinds(horizontal)">
                                      <p:cBhvr>
                                        <p:cTn id="12" dur="500"/>
                                        <p:tgtEl>
                                          <p:spTgt spid="20480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4804"/>
                                        </p:tgtEl>
                                        <p:attrNameLst>
                                          <p:attrName>style.visibility</p:attrName>
                                        </p:attrNameLst>
                                      </p:cBhvr>
                                      <p:to>
                                        <p:strVal val="visible"/>
                                      </p:to>
                                    </p:set>
                                    <p:animEffect transition="in" filter="blinds(horizontal)">
                                      <p:cBhvr>
                                        <p:cTn id="17" dur="500"/>
                                        <p:tgtEl>
                                          <p:spTgt spid="204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p:bldP spid="20480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p:cNvSpPr txBox="1"/>
          <p:nvPr/>
        </p:nvSpPr>
        <p:spPr>
          <a:xfrm>
            <a:off x="152400" y="152400"/>
            <a:ext cx="8229600" cy="2676525"/>
          </a:xfrm>
          <a:prstGeom prst="rect">
            <a:avLst/>
          </a:prstGeom>
          <a:noFill/>
          <a:ln w="9525">
            <a:noFill/>
          </a:ln>
        </p:spPr>
        <p:txBody>
          <a:bodyPr anchor="t" anchorCtr="0">
            <a:spAutoFit/>
          </a:bodyPr>
          <a:lstStyle/>
          <a:p>
            <a:pPr>
              <a:spcBef>
                <a:spcPct val="50000"/>
              </a:spcBef>
              <a:buClrTx/>
              <a:buFontTx/>
            </a:pPr>
            <a:r>
              <a:rPr lang="zh-CN" altLang="en-US" sz="2800" b="1" dirty="0">
                <a:latin typeface="Arial" panose="020B0604020202020204" pitchFamily="34" charset="0"/>
                <a:ea typeface="宋体" panose="02010600030101010101" pitchFamily="2" charset="-122"/>
              </a:rPr>
              <a:t>查询方法</a:t>
            </a:r>
            <a:r>
              <a:rPr lang="zh-CN" altLang="en-US" sz="2800"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从离总线控制部件最近的设备开始查起。首先查到的一定是所有提出请求的设备中优先权最高的一个。查到最高优请求设备后，该设备通过总线忙信号</a:t>
            </a:r>
            <a:r>
              <a:rPr lang="en-US" altLang="zh-CN" sz="2800" b="1" dirty="0">
                <a:latin typeface="Arial" panose="020B0604020202020204" pitchFamily="34" charset="0"/>
                <a:ea typeface="宋体" panose="02010600030101010101" pitchFamily="2" charset="-122"/>
              </a:rPr>
              <a:t>BS</a:t>
            </a:r>
            <a:r>
              <a:rPr lang="zh-CN" altLang="en-US" sz="2800" b="1" dirty="0">
                <a:latin typeface="Arial" panose="020B0604020202020204" pitchFamily="34" charset="0"/>
                <a:ea typeface="宋体" panose="02010600030101010101" pitchFamily="2" charset="-122"/>
              </a:rPr>
              <a:t>卡断判优链路，从而占用总线。当操作结束后，该设备要及时释放总线，此时总线控制部件可以继续对其他请求设备进行判优。</a:t>
            </a:r>
          </a:p>
        </p:txBody>
      </p:sp>
      <p:sp>
        <p:nvSpPr>
          <p:cNvPr id="205827" name="Text Box 3"/>
          <p:cNvSpPr txBox="1"/>
          <p:nvPr/>
        </p:nvSpPr>
        <p:spPr>
          <a:xfrm>
            <a:off x="228600" y="3276600"/>
            <a:ext cx="8686800" cy="2060575"/>
          </a:xfrm>
          <a:prstGeom prst="rect">
            <a:avLst/>
          </a:prstGeom>
          <a:noFill/>
          <a:ln w="9525">
            <a:noFill/>
          </a:ln>
        </p:spPr>
        <p:txBody>
          <a:bodyPr anchor="t" anchorCtr="0">
            <a:spAutoFit/>
          </a:bodyPr>
          <a:lstStyle/>
          <a:p>
            <a:pPr>
              <a:buClrTx/>
              <a:buFontTx/>
            </a:pPr>
            <a:r>
              <a:rPr lang="zh-CN" altLang="en-US" sz="3200" b="1" dirty="0">
                <a:latin typeface="Arial" panose="020B0604020202020204" pitchFamily="34" charset="0"/>
                <a:ea typeface="宋体" panose="02010600030101010101" pitchFamily="2" charset="-122"/>
              </a:rPr>
              <a:t>特点：</a:t>
            </a:r>
            <a:endParaRPr lang="zh-CN" altLang="en-US" sz="3200" dirty="0">
              <a:latin typeface="Arial" panose="020B0604020202020204" pitchFamily="34" charset="0"/>
              <a:ea typeface="宋体" panose="02010600030101010101" pitchFamily="2" charset="-122"/>
            </a:endParaRPr>
          </a:p>
          <a:p>
            <a:pPr>
              <a:buClrTx/>
              <a:buFontTx/>
            </a:pPr>
            <a:r>
              <a:rPr lang="zh-CN" altLang="en-US" sz="3200" b="1" dirty="0">
                <a:latin typeface="Arial" panose="020B0604020202020204" pitchFamily="34" charset="0"/>
                <a:ea typeface="宋体" panose="02010600030101010101" pitchFamily="2" charset="-122"/>
              </a:rPr>
              <a:t>①结构简单，易于扩充设备</a:t>
            </a:r>
          </a:p>
          <a:p>
            <a:pPr>
              <a:buClrTx/>
              <a:buFontTx/>
            </a:pPr>
            <a:r>
              <a:rPr lang="zh-CN" altLang="en-US" sz="3200" b="1" dirty="0">
                <a:latin typeface="Arial" panose="020B0604020202020204" pitchFamily="34" charset="0"/>
                <a:ea typeface="宋体" panose="02010600030101010101" pitchFamily="2" charset="-122"/>
              </a:rPr>
              <a:t>②对电路故障很敏感</a:t>
            </a:r>
          </a:p>
          <a:p>
            <a:pPr>
              <a:buClrTx/>
              <a:buFontTx/>
            </a:pPr>
            <a:r>
              <a:rPr lang="zh-CN" altLang="en-US" sz="3200" b="1" dirty="0">
                <a:latin typeface="Arial" panose="020B0604020202020204" pitchFamily="34" charset="0"/>
                <a:ea typeface="宋体" panose="02010600030101010101" pitchFamily="2" charset="-122"/>
              </a:rPr>
              <a:t>③仲裁公平性差，固定优先级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blinds(horizontal)">
                                      <p:cBhvr>
                                        <p:cTn id="7" dur="500"/>
                                        <p:tgtEl>
                                          <p:spTgt spid="2058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5827">
                                            <p:txEl>
                                              <p:pRg st="0" end="0"/>
                                            </p:txEl>
                                          </p:spTgt>
                                        </p:tgtEl>
                                        <p:attrNameLst>
                                          <p:attrName>style.visibility</p:attrName>
                                        </p:attrNameLst>
                                      </p:cBhvr>
                                      <p:to>
                                        <p:strVal val="visible"/>
                                      </p:to>
                                    </p:set>
                                    <p:animEffect transition="in" filter="blinds(horizontal)">
                                      <p:cBhvr>
                                        <p:cTn id="12" dur="500"/>
                                        <p:tgtEl>
                                          <p:spTgt spid="2058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5827">
                                            <p:txEl>
                                              <p:pRg st="1" end="1"/>
                                            </p:txEl>
                                          </p:spTgt>
                                        </p:tgtEl>
                                        <p:attrNameLst>
                                          <p:attrName>style.visibility</p:attrName>
                                        </p:attrNameLst>
                                      </p:cBhvr>
                                      <p:to>
                                        <p:strVal val="visible"/>
                                      </p:to>
                                    </p:set>
                                    <p:animEffect transition="in" filter="blinds(horizontal)">
                                      <p:cBhvr>
                                        <p:cTn id="17" dur="500"/>
                                        <p:tgtEl>
                                          <p:spTgt spid="2058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5827">
                                            <p:txEl>
                                              <p:pRg st="2" end="2"/>
                                            </p:txEl>
                                          </p:spTgt>
                                        </p:tgtEl>
                                        <p:attrNameLst>
                                          <p:attrName>style.visibility</p:attrName>
                                        </p:attrNameLst>
                                      </p:cBhvr>
                                      <p:to>
                                        <p:strVal val="visible"/>
                                      </p:to>
                                    </p:set>
                                    <p:animEffect transition="in" filter="blinds(horizontal)">
                                      <p:cBhvr>
                                        <p:cTn id="22" dur="500"/>
                                        <p:tgtEl>
                                          <p:spTgt spid="2058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5827">
                                            <p:txEl>
                                              <p:pRg st="3" end="3"/>
                                            </p:txEl>
                                          </p:spTgt>
                                        </p:tgtEl>
                                        <p:attrNameLst>
                                          <p:attrName>style.visibility</p:attrName>
                                        </p:attrNameLst>
                                      </p:cBhvr>
                                      <p:to>
                                        <p:strVal val="visible"/>
                                      </p:to>
                                    </p:set>
                                    <p:animEffect transition="in" filter="blinds(horizontal)">
                                      <p:cBhvr>
                                        <p:cTn id="27" dur="500"/>
                                        <p:tgtEl>
                                          <p:spTgt spid="2058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2"/>
          <p:cNvSpPr txBox="1"/>
          <p:nvPr/>
        </p:nvSpPr>
        <p:spPr>
          <a:xfrm>
            <a:off x="0" y="150813"/>
            <a:ext cx="6096000" cy="579437"/>
          </a:xfrm>
          <a:prstGeom prst="rect">
            <a:avLst/>
          </a:prstGeom>
          <a:noFill/>
          <a:ln w="9525">
            <a:noFill/>
          </a:ln>
        </p:spPr>
        <p:txBody>
          <a:bodyPr anchor="t" anchorCtr="0">
            <a:spAutoFit/>
          </a:bodyPr>
          <a:lstStyle/>
          <a:p>
            <a:pPr>
              <a:spcBef>
                <a:spcPct val="50000"/>
              </a:spcBef>
              <a:buClrTx/>
              <a:buFontTx/>
            </a:pPr>
            <a:r>
              <a:rPr lang="en-US" altLang="zh-CN" sz="3200" b="1" dirty="0">
                <a:latin typeface="Arial" panose="020B0604020202020204" pitchFamily="34" charset="0"/>
                <a:ea typeface="宋体" panose="02010600030101010101" pitchFamily="2" charset="-122"/>
              </a:rPr>
              <a:t>2</a:t>
            </a:r>
            <a:r>
              <a:rPr lang="zh-CN" altLang="en-US" sz="3200" b="1" dirty="0">
                <a:latin typeface="Arial" panose="020B0604020202020204" pitchFamily="34" charset="0"/>
                <a:ea typeface="宋体" panose="02010600030101010101" pitchFamily="2" charset="-122"/>
              </a:rPr>
              <a:t>）计数器定时查询：</a:t>
            </a:r>
            <a:endParaRPr lang="zh-CN" altLang="en-US" b="1" dirty="0">
              <a:latin typeface="Arial" panose="020B0604020202020204" pitchFamily="34" charset="0"/>
              <a:ea typeface="宋体" panose="02010600030101010101" pitchFamily="2" charset="-122"/>
            </a:endParaRPr>
          </a:p>
        </p:txBody>
      </p:sp>
      <p:grpSp>
        <p:nvGrpSpPr>
          <p:cNvPr id="206851" name="Group 3"/>
          <p:cNvGrpSpPr/>
          <p:nvPr/>
        </p:nvGrpSpPr>
        <p:grpSpPr>
          <a:xfrm>
            <a:off x="914400" y="760413"/>
            <a:ext cx="7848600" cy="5761037"/>
            <a:chOff x="816" y="403"/>
            <a:chExt cx="4944" cy="3629"/>
          </a:xfrm>
        </p:grpSpPr>
        <p:sp>
          <p:nvSpPr>
            <p:cNvPr id="22531" name="Text Box 4"/>
            <p:cNvSpPr txBox="1"/>
            <p:nvPr/>
          </p:nvSpPr>
          <p:spPr>
            <a:xfrm>
              <a:off x="3264" y="403"/>
              <a:ext cx="1219" cy="748"/>
            </a:xfrm>
            <a:prstGeom prst="rect">
              <a:avLst/>
            </a:prstGeom>
            <a:noFill/>
            <a:ln w="9525">
              <a:noFill/>
            </a:ln>
          </p:spPr>
          <p:txBody>
            <a:bodyPr wrap="none" anchor="t" anchorCtr="0">
              <a:spAutoFit/>
            </a:bodyPr>
            <a:lstStyle/>
            <a:p>
              <a:pPr>
                <a:buClrTx/>
                <a:buFontTx/>
              </a:pPr>
              <a:endParaRPr lang="en-US" altLang="zh-CN" sz="2400" b="1" dirty="0">
                <a:latin typeface="Times New Roman" panose="02020603050405020304" pitchFamily="18" charset="0"/>
                <a:ea typeface="宋体" panose="02010600030101010101" pitchFamily="2" charset="-122"/>
              </a:endParaRPr>
            </a:p>
            <a:p>
              <a:pPr>
                <a:buClrTx/>
                <a:buFontTx/>
              </a:pPr>
              <a:r>
                <a:rPr lang="en-US" altLang="zh-CN" sz="2400" b="1" dirty="0">
                  <a:latin typeface="Times New Roman" panose="02020603050405020304" pitchFamily="18" charset="0"/>
                  <a:ea typeface="宋体" panose="02010600030101010101" pitchFamily="2" charset="-122"/>
                </a:rPr>
                <a:t>BS</a:t>
              </a:r>
              <a:r>
                <a:rPr lang="en-US" altLang="zh-CN" sz="8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总线忙</a:t>
              </a:r>
            </a:p>
            <a:p>
              <a:pPr>
                <a:buClrTx/>
                <a:buFontTx/>
              </a:pPr>
              <a:r>
                <a:rPr lang="en-US" altLang="zh-CN" sz="2400" b="1" dirty="0">
                  <a:latin typeface="Times New Roman" panose="02020603050405020304" pitchFamily="18" charset="0"/>
                  <a:ea typeface="宋体" panose="02010600030101010101" pitchFamily="2" charset="-122"/>
                </a:rPr>
                <a:t>BR-</a:t>
              </a:r>
              <a:r>
                <a:rPr lang="zh-CN" altLang="en-US" sz="2400" b="1" dirty="0">
                  <a:latin typeface="Times New Roman" panose="02020603050405020304" pitchFamily="18" charset="0"/>
                  <a:ea typeface="宋体" panose="02010600030101010101" pitchFamily="2" charset="-122"/>
                </a:rPr>
                <a:t>总线请求</a:t>
              </a:r>
            </a:p>
          </p:txBody>
        </p:sp>
        <p:sp>
          <p:nvSpPr>
            <p:cNvPr id="22532" name="Rectangle 5"/>
            <p:cNvSpPr/>
            <p:nvPr/>
          </p:nvSpPr>
          <p:spPr>
            <a:xfrm>
              <a:off x="816" y="864"/>
              <a:ext cx="576" cy="316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zh-CN" altLang="en-US" sz="3200" b="1" dirty="0">
                  <a:latin typeface="Times New Roman" panose="02020603050405020304" pitchFamily="18" charset="0"/>
                  <a:ea typeface="宋体" panose="02010600030101010101" pitchFamily="2" charset="-122"/>
                </a:rPr>
                <a:t>总</a:t>
              </a:r>
            </a:p>
            <a:p>
              <a:pPr algn="ctr">
                <a:buClrTx/>
                <a:buFontTx/>
              </a:pPr>
              <a:r>
                <a:rPr lang="zh-CN" altLang="en-US" sz="3200" b="1" dirty="0">
                  <a:latin typeface="Times New Roman" panose="02020603050405020304" pitchFamily="18" charset="0"/>
                  <a:ea typeface="宋体" panose="02010600030101010101" pitchFamily="2" charset="-122"/>
                </a:rPr>
                <a:t>线</a:t>
              </a:r>
            </a:p>
            <a:p>
              <a:pPr algn="ctr">
                <a:buClrTx/>
                <a:buFontTx/>
              </a:pPr>
              <a:r>
                <a:rPr lang="zh-CN" altLang="en-US" sz="3200" b="1" dirty="0">
                  <a:latin typeface="Times New Roman" panose="02020603050405020304" pitchFamily="18" charset="0"/>
                  <a:ea typeface="宋体" panose="02010600030101010101" pitchFamily="2" charset="-122"/>
                </a:rPr>
                <a:t>控</a:t>
              </a:r>
            </a:p>
            <a:p>
              <a:pPr algn="ctr">
                <a:buClrTx/>
                <a:buFontTx/>
              </a:pPr>
              <a:r>
                <a:rPr lang="zh-CN" altLang="en-US" sz="3200" b="1" dirty="0">
                  <a:latin typeface="Times New Roman" panose="02020603050405020304" pitchFamily="18" charset="0"/>
                  <a:ea typeface="宋体" panose="02010600030101010101" pitchFamily="2" charset="-122"/>
                </a:rPr>
                <a:t>制</a:t>
              </a:r>
            </a:p>
            <a:p>
              <a:pPr algn="ctr">
                <a:buClrTx/>
                <a:buFontTx/>
              </a:pPr>
              <a:r>
                <a:rPr lang="zh-CN" altLang="en-US" sz="3200" b="1" dirty="0">
                  <a:latin typeface="Times New Roman" panose="02020603050405020304" pitchFamily="18" charset="0"/>
                  <a:ea typeface="宋体" panose="02010600030101010101" pitchFamily="2" charset="-122"/>
                </a:rPr>
                <a:t>部</a:t>
              </a:r>
            </a:p>
            <a:p>
              <a:pPr algn="ctr">
                <a:buClrTx/>
                <a:buFontTx/>
              </a:pPr>
              <a:r>
                <a:rPr lang="zh-CN" altLang="en-US" sz="3200" b="1" dirty="0">
                  <a:latin typeface="Times New Roman" panose="02020603050405020304" pitchFamily="18" charset="0"/>
                  <a:ea typeface="宋体" panose="02010600030101010101" pitchFamily="2" charset="-122"/>
                </a:rPr>
                <a:t>件</a:t>
              </a:r>
            </a:p>
          </p:txBody>
        </p:sp>
        <p:sp>
          <p:nvSpPr>
            <p:cNvPr id="22533" name="Line 6"/>
            <p:cNvSpPr/>
            <p:nvPr/>
          </p:nvSpPr>
          <p:spPr>
            <a:xfrm>
              <a:off x="1392" y="1536"/>
              <a:ext cx="4368" cy="0"/>
            </a:xfrm>
            <a:prstGeom prst="line">
              <a:avLst/>
            </a:prstGeom>
            <a:ln w="38100" cap="flat" cmpd="sng">
              <a:solidFill>
                <a:srgbClr val="008AE8"/>
              </a:solidFill>
              <a:prstDash val="solid"/>
              <a:round/>
              <a:headEnd type="none" w="med" len="med"/>
              <a:tailEnd type="none" w="med" len="med"/>
            </a:ln>
          </p:spPr>
        </p:sp>
        <p:sp>
          <p:nvSpPr>
            <p:cNvPr id="22534" name="Text Box 7"/>
            <p:cNvSpPr txBox="1"/>
            <p:nvPr/>
          </p:nvSpPr>
          <p:spPr>
            <a:xfrm>
              <a:off x="4608" y="866"/>
              <a:ext cx="647" cy="269"/>
            </a:xfrm>
            <a:prstGeom prst="rect">
              <a:avLst/>
            </a:prstGeom>
            <a:noFill/>
            <a:ln w="9525">
              <a:noFill/>
            </a:ln>
          </p:spPr>
          <p:txBody>
            <a:bodyPr wrap="none" anchor="t" anchorCtr="0">
              <a:spAutoFit/>
            </a:bodyPr>
            <a:lstStyle/>
            <a:p>
              <a:pPr>
                <a:buClrTx/>
                <a:buFontTx/>
              </a:pPr>
              <a:r>
                <a:rPr lang="zh-CN" altLang="en-US" sz="2200" b="1" dirty="0">
                  <a:latin typeface="Times New Roman" panose="02020603050405020304" pitchFamily="18" charset="0"/>
                  <a:ea typeface="宋体" panose="02010600030101010101" pitchFamily="2" charset="-122"/>
                </a:rPr>
                <a:t>数据线</a:t>
              </a:r>
            </a:p>
          </p:txBody>
        </p:sp>
        <p:sp>
          <p:nvSpPr>
            <p:cNvPr id="22535" name="Line 8"/>
            <p:cNvSpPr/>
            <p:nvPr/>
          </p:nvSpPr>
          <p:spPr>
            <a:xfrm>
              <a:off x="1392" y="1920"/>
              <a:ext cx="4368" cy="0"/>
            </a:xfrm>
            <a:prstGeom prst="line">
              <a:avLst/>
            </a:prstGeom>
            <a:ln w="38100" cap="flat" cmpd="sng">
              <a:solidFill>
                <a:srgbClr val="008AE8"/>
              </a:solidFill>
              <a:prstDash val="solid"/>
              <a:round/>
              <a:headEnd type="none" w="med" len="med"/>
              <a:tailEnd type="none" w="med" len="med"/>
            </a:ln>
          </p:spPr>
        </p:sp>
        <p:sp>
          <p:nvSpPr>
            <p:cNvPr id="22536" name="Text Box 9"/>
            <p:cNvSpPr txBox="1"/>
            <p:nvPr/>
          </p:nvSpPr>
          <p:spPr>
            <a:xfrm>
              <a:off x="4608" y="1250"/>
              <a:ext cx="647" cy="269"/>
            </a:xfrm>
            <a:prstGeom prst="rect">
              <a:avLst/>
            </a:prstGeom>
            <a:noFill/>
            <a:ln w="9525">
              <a:noFill/>
            </a:ln>
          </p:spPr>
          <p:txBody>
            <a:bodyPr wrap="none" anchor="t" anchorCtr="0">
              <a:spAutoFit/>
            </a:bodyPr>
            <a:lstStyle/>
            <a:p>
              <a:pPr>
                <a:buClrTx/>
                <a:buFontTx/>
              </a:pPr>
              <a:r>
                <a:rPr lang="zh-CN" altLang="en-US" sz="2200" b="1" dirty="0">
                  <a:latin typeface="Times New Roman" panose="02020603050405020304" pitchFamily="18" charset="0"/>
                  <a:ea typeface="宋体" panose="02010600030101010101" pitchFamily="2" charset="-122"/>
                </a:rPr>
                <a:t>地址线</a:t>
              </a:r>
            </a:p>
          </p:txBody>
        </p:sp>
        <p:sp>
          <p:nvSpPr>
            <p:cNvPr id="22537" name="Line 10"/>
            <p:cNvSpPr/>
            <p:nvPr/>
          </p:nvSpPr>
          <p:spPr>
            <a:xfrm>
              <a:off x="1392" y="2304"/>
              <a:ext cx="4368" cy="0"/>
            </a:xfrm>
            <a:prstGeom prst="line">
              <a:avLst/>
            </a:prstGeom>
            <a:ln w="38100" cap="flat" cmpd="sng">
              <a:solidFill>
                <a:srgbClr val="008AE8"/>
              </a:solidFill>
              <a:prstDash val="solid"/>
              <a:round/>
              <a:headEnd type="stealth" w="lg" len="lg"/>
              <a:tailEnd type="none" w="med" len="med"/>
            </a:ln>
          </p:spPr>
        </p:sp>
        <p:sp>
          <p:nvSpPr>
            <p:cNvPr id="22538" name="Line 11"/>
            <p:cNvSpPr/>
            <p:nvPr/>
          </p:nvSpPr>
          <p:spPr>
            <a:xfrm>
              <a:off x="1392" y="2688"/>
              <a:ext cx="4368" cy="0"/>
            </a:xfrm>
            <a:prstGeom prst="line">
              <a:avLst/>
            </a:prstGeom>
            <a:ln w="38100" cap="flat" cmpd="sng">
              <a:solidFill>
                <a:srgbClr val="008AE8"/>
              </a:solidFill>
              <a:prstDash val="solid"/>
              <a:round/>
              <a:headEnd type="stealth" w="lg" len="lg"/>
              <a:tailEnd type="none" w="med" len="med"/>
            </a:ln>
          </p:spPr>
        </p:sp>
        <p:sp>
          <p:nvSpPr>
            <p:cNvPr id="22539" name="Rectangle 12"/>
            <p:cNvSpPr/>
            <p:nvPr/>
          </p:nvSpPr>
          <p:spPr>
            <a:xfrm>
              <a:off x="1920" y="3264"/>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400" b="1" dirty="0">
                  <a:latin typeface="Times New Roman" panose="02020603050405020304" pitchFamily="18" charset="0"/>
                  <a:ea typeface="宋体" panose="02010600030101010101" pitchFamily="2" charset="-122"/>
                </a:rPr>
                <a:t>I/O</a:t>
              </a:r>
              <a:r>
                <a:rPr lang="zh-CN" altLang="en-US" sz="2400" b="1" dirty="0">
                  <a:latin typeface="Times New Roman" panose="02020603050405020304" pitchFamily="18" charset="0"/>
                  <a:ea typeface="宋体" panose="02010600030101010101" pitchFamily="2" charset="-122"/>
                </a:rPr>
                <a:t>接口</a:t>
              </a:r>
              <a:r>
                <a:rPr lang="en-US" altLang="zh-CN" sz="2400" b="1" dirty="0">
                  <a:latin typeface="Times New Roman" panose="02020603050405020304" pitchFamily="18" charset="0"/>
                  <a:ea typeface="宋体" panose="02010600030101010101" pitchFamily="2" charset="-122"/>
                </a:rPr>
                <a:t>0</a:t>
              </a:r>
            </a:p>
          </p:txBody>
        </p:sp>
        <p:sp>
          <p:nvSpPr>
            <p:cNvPr id="22540" name="Text Box 13"/>
            <p:cNvSpPr txBox="1"/>
            <p:nvPr/>
          </p:nvSpPr>
          <p:spPr>
            <a:xfrm>
              <a:off x="4188" y="3312"/>
              <a:ext cx="372" cy="365"/>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a:t>
              </a:r>
            </a:p>
          </p:txBody>
        </p:sp>
        <p:sp>
          <p:nvSpPr>
            <p:cNvPr id="22541" name="Text Box 14"/>
            <p:cNvSpPr txBox="1"/>
            <p:nvPr/>
          </p:nvSpPr>
          <p:spPr>
            <a:xfrm>
              <a:off x="1626" y="2048"/>
              <a:ext cx="351"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BS</a:t>
              </a:r>
            </a:p>
          </p:txBody>
        </p:sp>
        <p:sp>
          <p:nvSpPr>
            <p:cNvPr id="22542" name="Text Box 15"/>
            <p:cNvSpPr txBox="1"/>
            <p:nvPr/>
          </p:nvSpPr>
          <p:spPr>
            <a:xfrm>
              <a:off x="1637" y="2432"/>
              <a:ext cx="383"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BR</a:t>
              </a:r>
            </a:p>
          </p:txBody>
        </p:sp>
        <p:sp>
          <p:nvSpPr>
            <p:cNvPr id="22543" name="Rectangle 16"/>
            <p:cNvSpPr/>
            <p:nvPr/>
          </p:nvSpPr>
          <p:spPr>
            <a:xfrm>
              <a:off x="3120" y="3264"/>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400" b="1" dirty="0">
                  <a:latin typeface="Times New Roman" panose="02020603050405020304" pitchFamily="18" charset="0"/>
                  <a:ea typeface="宋体" panose="02010600030101010101" pitchFamily="2" charset="-122"/>
                </a:rPr>
                <a:t>I/O</a:t>
              </a:r>
              <a:r>
                <a:rPr lang="zh-CN" altLang="en-US" sz="2400" b="1" dirty="0">
                  <a:latin typeface="Times New Roman" panose="02020603050405020304" pitchFamily="18" charset="0"/>
                  <a:ea typeface="宋体" panose="02010600030101010101" pitchFamily="2" charset="-122"/>
                </a:rPr>
                <a:t>接口</a:t>
              </a:r>
              <a:r>
                <a:rPr lang="en-US" altLang="zh-CN" sz="2400" b="1" dirty="0">
                  <a:latin typeface="Times New Roman" panose="02020603050405020304" pitchFamily="18" charset="0"/>
                  <a:ea typeface="宋体" panose="02010600030101010101" pitchFamily="2" charset="-122"/>
                </a:rPr>
                <a:t>1</a:t>
              </a:r>
            </a:p>
          </p:txBody>
        </p:sp>
        <p:sp>
          <p:nvSpPr>
            <p:cNvPr id="22544" name="Rectangle 17"/>
            <p:cNvSpPr/>
            <p:nvPr/>
          </p:nvSpPr>
          <p:spPr>
            <a:xfrm>
              <a:off x="4512" y="3264"/>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400" b="1" dirty="0">
                  <a:latin typeface="Times New Roman" panose="02020603050405020304" pitchFamily="18" charset="0"/>
                  <a:ea typeface="宋体" panose="02010600030101010101" pitchFamily="2" charset="-122"/>
                </a:rPr>
                <a:t>I/O</a:t>
              </a:r>
              <a:r>
                <a:rPr lang="zh-CN" altLang="en-US" sz="2400" b="1" dirty="0">
                  <a:latin typeface="Times New Roman" panose="02020603050405020304" pitchFamily="18" charset="0"/>
                  <a:ea typeface="宋体" panose="02010600030101010101" pitchFamily="2" charset="-122"/>
                </a:rPr>
                <a:t>接口</a:t>
              </a:r>
              <a:r>
                <a:rPr lang="en-US" altLang="zh-CN" sz="2400" b="1" i="1" dirty="0">
                  <a:latin typeface="Times New Roman" panose="02020603050405020304" pitchFamily="18" charset="0"/>
                  <a:ea typeface="宋体" panose="02010600030101010101" pitchFamily="2" charset="-122"/>
                </a:rPr>
                <a:t>n</a:t>
              </a:r>
            </a:p>
          </p:txBody>
        </p:sp>
        <p:sp>
          <p:nvSpPr>
            <p:cNvPr id="22545" name="Line 18"/>
            <p:cNvSpPr/>
            <p:nvPr/>
          </p:nvSpPr>
          <p:spPr>
            <a:xfrm>
              <a:off x="1392" y="1152"/>
              <a:ext cx="4368" cy="0"/>
            </a:xfrm>
            <a:prstGeom prst="line">
              <a:avLst/>
            </a:prstGeom>
            <a:ln w="38100" cap="flat" cmpd="sng">
              <a:solidFill>
                <a:srgbClr val="008AE8"/>
              </a:solidFill>
              <a:prstDash val="solid"/>
              <a:round/>
              <a:headEnd type="none" w="med" len="med"/>
              <a:tailEnd type="none" w="med" len="med"/>
            </a:ln>
          </p:spPr>
        </p:sp>
        <p:sp>
          <p:nvSpPr>
            <p:cNvPr id="22546" name="Text Box 19"/>
            <p:cNvSpPr txBox="1"/>
            <p:nvPr/>
          </p:nvSpPr>
          <p:spPr>
            <a:xfrm>
              <a:off x="4220" y="1634"/>
              <a:ext cx="824" cy="269"/>
            </a:xfrm>
            <a:prstGeom prst="rect">
              <a:avLst/>
            </a:prstGeom>
            <a:noFill/>
            <a:ln w="9525">
              <a:noFill/>
            </a:ln>
          </p:spPr>
          <p:txBody>
            <a:bodyPr wrap="none" anchor="t" anchorCtr="0">
              <a:spAutoFit/>
            </a:bodyPr>
            <a:lstStyle/>
            <a:p>
              <a:pPr>
                <a:buClrTx/>
                <a:buFontTx/>
              </a:pPr>
              <a:r>
                <a:rPr lang="zh-CN" altLang="en-US" sz="2200" b="1" dirty="0">
                  <a:latin typeface="Times New Roman" panose="02020603050405020304" pitchFamily="18" charset="0"/>
                  <a:ea typeface="宋体" panose="02010600030101010101" pitchFamily="2" charset="-122"/>
                </a:rPr>
                <a:t>设备地址</a:t>
              </a:r>
            </a:p>
          </p:txBody>
        </p:sp>
        <p:sp>
          <p:nvSpPr>
            <p:cNvPr id="22547" name="Line 20"/>
            <p:cNvSpPr/>
            <p:nvPr/>
          </p:nvSpPr>
          <p:spPr>
            <a:xfrm flipV="1">
              <a:off x="2064" y="2688"/>
              <a:ext cx="0" cy="576"/>
            </a:xfrm>
            <a:prstGeom prst="line">
              <a:avLst/>
            </a:prstGeom>
            <a:ln w="38100" cap="flat" cmpd="sng">
              <a:solidFill>
                <a:srgbClr val="008AE8"/>
              </a:solidFill>
              <a:prstDash val="solid"/>
              <a:round/>
              <a:headEnd type="none" w="med" len="med"/>
              <a:tailEnd type="stealth" w="lg" len="lg"/>
            </a:ln>
          </p:spPr>
        </p:sp>
        <p:sp>
          <p:nvSpPr>
            <p:cNvPr id="22548" name="Line 21"/>
            <p:cNvSpPr/>
            <p:nvPr/>
          </p:nvSpPr>
          <p:spPr>
            <a:xfrm flipV="1">
              <a:off x="2256" y="2304"/>
              <a:ext cx="0" cy="960"/>
            </a:xfrm>
            <a:prstGeom prst="line">
              <a:avLst/>
            </a:prstGeom>
            <a:ln w="38100" cap="flat" cmpd="sng">
              <a:solidFill>
                <a:srgbClr val="008AE8"/>
              </a:solidFill>
              <a:prstDash val="solid"/>
              <a:round/>
              <a:headEnd type="none" w="med" len="med"/>
              <a:tailEnd type="stealth" w="lg" len="lg"/>
            </a:ln>
          </p:spPr>
        </p:sp>
        <p:sp>
          <p:nvSpPr>
            <p:cNvPr id="22549" name="Line 22"/>
            <p:cNvSpPr/>
            <p:nvPr/>
          </p:nvSpPr>
          <p:spPr>
            <a:xfrm>
              <a:off x="2448" y="1920"/>
              <a:ext cx="0" cy="1344"/>
            </a:xfrm>
            <a:prstGeom prst="line">
              <a:avLst/>
            </a:prstGeom>
            <a:ln w="38100" cap="flat" cmpd="sng">
              <a:solidFill>
                <a:srgbClr val="008AE8"/>
              </a:solidFill>
              <a:prstDash val="solid"/>
              <a:round/>
              <a:headEnd type="oval" w="med" len="med"/>
              <a:tailEnd type="stealth" w="lg" len="lg"/>
            </a:ln>
          </p:spPr>
        </p:sp>
        <p:sp>
          <p:nvSpPr>
            <p:cNvPr id="22550" name="Line 23"/>
            <p:cNvSpPr/>
            <p:nvPr/>
          </p:nvSpPr>
          <p:spPr>
            <a:xfrm>
              <a:off x="2640" y="1536"/>
              <a:ext cx="0" cy="1728"/>
            </a:xfrm>
            <a:prstGeom prst="line">
              <a:avLst/>
            </a:prstGeom>
            <a:ln w="38100" cap="flat" cmpd="sng">
              <a:solidFill>
                <a:srgbClr val="008AE8"/>
              </a:solidFill>
              <a:prstDash val="solid"/>
              <a:round/>
              <a:headEnd type="oval" w="med" len="med"/>
              <a:tailEnd type="stealth" w="lg" len="lg"/>
            </a:ln>
          </p:spPr>
        </p:sp>
        <p:sp>
          <p:nvSpPr>
            <p:cNvPr id="22551" name="Line 24"/>
            <p:cNvSpPr/>
            <p:nvPr/>
          </p:nvSpPr>
          <p:spPr>
            <a:xfrm>
              <a:off x="2832" y="1152"/>
              <a:ext cx="0" cy="2112"/>
            </a:xfrm>
            <a:prstGeom prst="line">
              <a:avLst/>
            </a:prstGeom>
            <a:ln w="38100" cap="flat" cmpd="sng">
              <a:solidFill>
                <a:srgbClr val="008AE8"/>
              </a:solidFill>
              <a:prstDash val="solid"/>
              <a:round/>
              <a:headEnd type="oval" w="med" len="med"/>
              <a:tailEnd type="stealth" w="lg" len="lg"/>
            </a:ln>
          </p:spPr>
        </p:sp>
        <p:sp>
          <p:nvSpPr>
            <p:cNvPr id="22552" name="Line 25"/>
            <p:cNvSpPr/>
            <p:nvPr/>
          </p:nvSpPr>
          <p:spPr>
            <a:xfrm flipV="1">
              <a:off x="3264" y="2688"/>
              <a:ext cx="0" cy="576"/>
            </a:xfrm>
            <a:prstGeom prst="line">
              <a:avLst/>
            </a:prstGeom>
            <a:ln w="38100" cap="flat" cmpd="sng">
              <a:solidFill>
                <a:srgbClr val="008AE8"/>
              </a:solidFill>
              <a:prstDash val="solid"/>
              <a:round/>
              <a:headEnd type="none" w="med" len="med"/>
              <a:tailEnd type="stealth" w="lg" len="lg"/>
            </a:ln>
          </p:spPr>
        </p:sp>
        <p:sp>
          <p:nvSpPr>
            <p:cNvPr id="22553" name="Line 26"/>
            <p:cNvSpPr/>
            <p:nvPr/>
          </p:nvSpPr>
          <p:spPr>
            <a:xfrm flipV="1">
              <a:off x="3456" y="2304"/>
              <a:ext cx="0" cy="960"/>
            </a:xfrm>
            <a:prstGeom prst="line">
              <a:avLst/>
            </a:prstGeom>
            <a:ln w="38100" cap="flat" cmpd="sng">
              <a:solidFill>
                <a:srgbClr val="008AE8"/>
              </a:solidFill>
              <a:prstDash val="solid"/>
              <a:round/>
              <a:headEnd type="none" w="med" len="med"/>
              <a:tailEnd type="stealth" w="lg" len="lg"/>
            </a:ln>
          </p:spPr>
        </p:sp>
        <p:sp>
          <p:nvSpPr>
            <p:cNvPr id="22554" name="Line 27"/>
            <p:cNvSpPr/>
            <p:nvPr/>
          </p:nvSpPr>
          <p:spPr>
            <a:xfrm>
              <a:off x="3648" y="1920"/>
              <a:ext cx="0" cy="1344"/>
            </a:xfrm>
            <a:prstGeom prst="line">
              <a:avLst/>
            </a:prstGeom>
            <a:ln w="38100" cap="flat" cmpd="sng">
              <a:solidFill>
                <a:srgbClr val="008AE8"/>
              </a:solidFill>
              <a:prstDash val="solid"/>
              <a:round/>
              <a:headEnd type="oval" w="med" len="med"/>
              <a:tailEnd type="stealth" w="lg" len="lg"/>
            </a:ln>
          </p:spPr>
        </p:sp>
        <p:sp>
          <p:nvSpPr>
            <p:cNvPr id="22555" name="Line 28"/>
            <p:cNvSpPr/>
            <p:nvPr/>
          </p:nvSpPr>
          <p:spPr>
            <a:xfrm>
              <a:off x="3840" y="1536"/>
              <a:ext cx="0" cy="1728"/>
            </a:xfrm>
            <a:prstGeom prst="line">
              <a:avLst/>
            </a:prstGeom>
            <a:ln w="38100" cap="flat" cmpd="sng">
              <a:solidFill>
                <a:srgbClr val="008AE8"/>
              </a:solidFill>
              <a:prstDash val="solid"/>
              <a:round/>
              <a:headEnd type="oval" w="med" len="med"/>
              <a:tailEnd type="stealth" w="lg" len="lg"/>
            </a:ln>
          </p:spPr>
        </p:sp>
        <p:sp>
          <p:nvSpPr>
            <p:cNvPr id="22556" name="Line 29"/>
            <p:cNvSpPr/>
            <p:nvPr/>
          </p:nvSpPr>
          <p:spPr>
            <a:xfrm>
              <a:off x="4032" y="1152"/>
              <a:ext cx="0" cy="2112"/>
            </a:xfrm>
            <a:prstGeom prst="line">
              <a:avLst/>
            </a:prstGeom>
            <a:ln w="38100" cap="flat" cmpd="sng">
              <a:solidFill>
                <a:srgbClr val="008AE8"/>
              </a:solidFill>
              <a:prstDash val="solid"/>
              <a:round/>
              <a:headEnd type="oval" w="med" len="med"/>
              <a:tailEnd type="stealth" w="lg" len="lg"/>
            </a:ln>
          </p:spPr>
        </p:sp>
        <p:sp>
          <p:nvSpPr>
            <p:cNvPr id="22557" name="Line 30"/>
            <p:cNvSpPr/>
            <p:nvPr/>
          </p:nvSpPr>
          <p:spPr>
            <a:xfrm flipV="1">
              <a:off x="4608" y="2688"/>
              <a:ext cx="0" cy="576"/>
            </a:xfrm>
            <a:prstGeom prst="line">
              <a:avLst/>
            </a:prstGeom>
            <a:ln w="38100" cap="flat" cmpd="sng">
              <a:solidFill>
                <a:srgbClr val="008AE8"/>
              </a:solidFill>
              <a:prstDash val="solid"/>
              <a:round/>
              <a:headEnd type="none" w="med" len="med"/>
              <a:tailEnd type="stealth" w="lg" len="lg"/>
            </a:ln>
          </p:spPr>
        </p:sp>
        <p:sp>
          <p:nvSpPr>
            <p:cNvPr id="22558" name="Line 31"/>
            <p:cNvSpPr/>
            <p:nvPr/>
          </p:nvSpPr>
          <p:spPr>
            <a:xfrm flipV="1">
              <a:off x="4800" y="2304"/>
              <a:ext cx="0" cy="960"/>
            </a:xfrm>
            <a:prstGeom prst="line">
              <a:avLst/>
            </a:prstGeom>
            <a:ln w="38100" cap="flat" cmpd="sng">
              <a:solidFill>
                <a:srgbClr val="008AE8"/>
              </a:solidFill>
              <a:prstDash val="solid"/>
              <a:round/>
              <a:headEnd type="none" w="med" len="med"/>
              <a:tailEnd type="stealth" w="lg" len="lg"/>
            </a:ln>
          </p:spPr>
        </p:sp>
        <p:sp>
          <p:nvSpPr>
            <p:cNvPr id="22559" name="Line 32"/>
            <p:cNvSpPr/>
            <p:nvPr/>
          </p:nvSpPr>
          <p:spPr>
            <a:xfrm>
              <a:off x="4992" y="1920"/>
              <a:ext cx="0" cy="1344"/>
            </a:xfrm>
            <a:prstGeom prst="line">
              <a:avLst/>
            </a:prstGeom>
            <a:ln w="38100" cap="flat" cmpd="sng">
              <a:solidFill>
                <a:srgbClr val="008AE8"/>
              </a:solidFill>
              <a:prstDash val="solid"/>
              <a:round/>
              <a:headEnd type="oval" w="med" len="med"/>
              <a:tailEnd type="stealth" w="lg" len="lg"/>
            </a:ln>
          </p:spPr>
        </p:sp>
        <p:sp>
          <p:nvSpPr>
            <p:cNvPr id="22560" name="Line 33"/>
            <p:cNvSpPr/>
            <p:nvPr/>
          </p:nvSpPr>
          <p:spPr>
            <a:xfrm>
              <a:off x="5184" y="1536"/>
              <a:ext cx="0" cy="1728"/>
            </a:xfrm>
            <a:prstGeom prst="line">
              <a:avLst/>
            </a:prstGeom>
            <a:ln w="38100" cap="flat" cmpd="sng">
              <a:solidFill>
                <a:srgbClr val="008AE8"/>
              </a:solidFill>
              <a:prstDash val="solid"/>
              <a:round/>
              <a:headEnd type="oval" w="med" len="med"/>
              <a:tailEnd type="stealth" w="lg" len="lg"/>
            </a:ln>
          </p:spPr>
        </p:sp>
        <p:sp>
          <p:nvSpPr>
            <p:cNvPr id="22561" name="Line 34"/>
            <p:cNvSpPr/>
            <p:nvPr/>
          </p:nvSpPr>
          <p:spPr>
            <a:xfrm>
              <a:off x="5376" y="1152"/>
              <a:ext cx="0" cy="2112"/>
            </a:xfrm>
            <a:prstGeom prst="line">
              <a:avLst/>
            </a:prstGeom>
            <a:ln w="38100" cap="flat" cmpd="sng">
              <a:solidFill>
                <a:srgbClr val="008AE8"/>
              </a:solidFill>
              <a:prstDash val="solid"/>
              <a:round/>
              <a:headEnd type="oval" w="med" len="med"/>
              <a:tailEnd type="stealth" w="lg"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blinds(horizontal)">
                                      <p:cBhvr>
                                        <p:cTn id="7" dur="500"/>
                                        <p:tgtEl>
                                          <p:spTgt spid="2068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6851"/>
                                        </p:tgtEl>
                                        <p:attrNameLst>
                                          <p:attrName>style.visibility</p:attrName>
                                        </p:attrNameLst>
                                      </p:cBhvr>
                                      <p:to>
                                        <p:strVal val="visible"/>
                                      </p:to>
                                    </p:set>
                                    <p:animEffect transition="in" filter="blinds(horizontal)">
                                      <p:cBhvr>
                                        <p:cTn id="12" dur="500"/>
                                        <p:tgtEl>
                                          <p:spTgt spid="206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p:nvPr/>
        </p:nvSpPr>
        <p:spPr>
          <a:xfrm>
            <a:off x="228600" y="609600"/>
            <a:ext cx="8686800" cy="4522788"/>
          </a:xfrm>
          <a:prstGeom prst="rect">
            <a:avLst/>
          </a:prstGeom>
          <a:noFill/>
          <a:ln w="9525">
            <a:noFill/>
          </a:ln>
        </p:spPr>
        <p:txBody>
          <a:bodyPr anchor="t" anchorCtr="0">
            <a:spAutoFit/>
          </a:bodyPr>
          <a:lstStyle/>
          <a:p>
            <a:pPr>
              <a:buClrTx/>
              <a:buFontTx/>
            </a:pPr>
            <a:r>
              <a:rPr lang="zh-CN" altLang="en-US" sz="2400" b="1" dirty="0">
                <a:latin typeface="Arial" panose="020B0604020202020204" pitchFamily="34" charset="0"/>
                <a:ea typeface="宋体" panose="02010600030101010101" pitchFamily="2" charset="-122"/>
              </a:rPr>
              <a:t>查询方法：查询开始，计数器计数。每计一次数，就将</a:t>
            </a:r>
          </a:p>
          <a:p>
            <a:pPr>
              <a:buClrTx/>
              <a:buFontTx/>
            </a:pPr>
            <a:r>
              <a:rPr lang="zh-CN" altLang="en-US" sz="2400" b="1" dirty="0">
                <a:latin typeface="Arial" panose="020B0604020202020204" pitchFamily="34" charset="0"/>
                <a:ea typeface="宋体" panose="02010600030101010101" pitchFamily="2" charset="-122"/>
              </a:rPr>
              <a:t>计数值作为设备地址发往各个设备。每个申请总线的设备对地址进行识别，地址符合的设备获得总线控制权，停止计数。</a:t>
            </a:r>
          </a:p>
          <a:p>
            <a:pPr>
              <a:buClrTx/>
              <a:buFontTx/>
            </a:pPr>
            <a:r>
              <a:rPr lang="zh-CN" altLang="en-US" sz="2400" b="1" dirty="0">
                <a:latin typeface="Arial" panose="020B0604020202020204" pitchFamily="34" charset="0"/>
                <a:ea typeface="宋体" panose="02010600030101010101" pitchFamily="2" charset="-122"/>
              </a:rPr>
              <a:t>    优先级设定：由计数初值决定最高优先级，</a:t>
            </a: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种方法。</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a.</a:t>
            </a:r>
            <a:r>
              <a:rPr lang="zh-CN" altLang="en-US" sz="2400" b="1" dirty="0">
                <a:latin typeface="Arial" panose="020B0604020202020204" pitchFamily="34" charset="0"/>
                <a:ea typeface="宋体" panose="02010600030101010101" pitchFamily="2" charset="-122"/>
              </a:rPr>
              <a:t>查询时计数器从‘</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开始计数，即</a:t>
            </a:r>
            <a:r>
              <a:rPr lang="en-US" altLang="zh-CN" sz="2400" b="1" dirty="0">
                <a:latin typeface="Arial" panose="020B0604020202020204" pitchFamily="34" charset="0"/>
                <a:ea typeface="宋体" panose="02010600030101010101" pitchFamily="2" charset="-122"/>
              </a:rPr>
              <a:t>0</a:t>
            </a:r>
            <a:r>
              <a:rPr lang="zh-CN" altLang="en-US" sz="2400" b="1" dirty="0">
                <a:latin typeface="Arial" panose="020B0604020202020204" pitchFamily="34" charset="0"/>
                <a:ea typeface="宋体" panose="02010600030101010101" pitchFamily="2" charset="-122"/>
              </a:rPr>
              <a:t>号设备的优先级最高；</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b.</a:t>
            </a:r>
            <a:r>
              <a:rPr lang="zh-CN" altLang="en-US" sz="2400" b="1" dirty="0">
                <a:latin typeface="Arial" panose="020B0604020202020204" pitchFamily="34" charset="0"/>
                <a:ea typeface="宋体" panose="02010600030101010101" pitchFamily="2" charset="-122"/>
              </a:rPr>
              <a:t>查询时计数器从上一次查询的终止点开始计数，则终止点优先级最高。此时优先级是循环的；</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c.</a:t>
            </a:r>
            <a:r>
              <a:rPr lang="zh-CN" altLang="en-US" sz="2400" b="1" dirty="0">
                <a:latin typeface="Arial" panose="020B0604020202020204" pitchFamily="34" charset="0"/>
                <a:ea typeface="宋体" panose="02010600030101010101" pitchFamily="2" charset="-122"/>
              </a:rPr>
              <a:t>计数初值由程序设定，此时优先级可编程改变。</a:t>
            </a:r>
          </a:p>
          <a:p>
            <a:pPr>
              <a:buClrTx/>
              <a:buFontTx/>
            </a:pPr>
            <a:r>
              <a:rPr lang="zh-CN" altLang="en-US" sz="2400" b="1" dirty="0">
                <a:latin typeface="Arial" panose="020B0604020202020204" pitchFamily="34" charset="0"/>
                <a:ea typeface="宋体" panose="02010600030101010101" pitchFamily="2" charset="-122"/>
              </a:rPr>
              <a:t>特点：</a:t>
            </a:r>
          </a:p>
          <a:p>
            <a:pPr>
              <a:buClrTx/>
              <a:buFontTx/>
            </a:pPr>
            <a:r>
              <a:rPr lang="zh-CN" altLang="en-US" sz="2400" b="1" dirty="0">
                <a:latin typeface="Arial" panose="020B0604020202020204" pitchFamily="34" charset="0"/>
                <a:ea typeface="宋体" panose="02010600030101010101" pitchFamily="2" charset="-122"/>
              </a:rPr>
              <a:t>①软件查询、优先级控制方式灵活。（固定、动态改变）</a:t>
            </a:r>
          </a:p>
          <a:p>
            <a:pPr>
              <a:buClrTx/>
              <a:buFontTx/>
            </a:pPr>
            <a:r>
              <a:rPr lang="zh-CN" altLang="en-US" sz="2400" b="1" dirty="0">
                <a:latin typeface="Arial" panose="020B0604020202020204" pitchFamily="34" charset="0"/>
                <a:ea typeface="宋体" panose="02010600030101010101" pitchFamily="2" charset="-122"/>
              </a:rPr>
              <a:t>②对电路故障不敏感</a:t>
            </a:r>
          </a:p>
          <a:p>
            <a:pPr>
              <a:buClrTx/>
              <a:buFontTx/>
            </a:pPr>
            <a:r>
              <a:rPr lang="zh-CN" altLang="en-US" sz="2400" b="1" dirty="0">
                <a:latin typeface="Arial" panose="020B0604020202020204" pitchFamily="34" charset="0"/>
                <a:ea typeface="宋体" panose="02010600030101010101" pitchFamily="2" charset="-122"/>
              </a:rPr>
              <a:t>③控制较复杂。（增加设备地址线）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7874">
                                            <p:txEl>
                                              <p:pRg st="0" end="0"/>
                                            </p:txEl>
                                          </p:spTgt>
                                        </p:tgtEl>
                                        <p:attrNameLst>
                                          <p:attrName>style.visibility</p:attrName>
                                        </p:attrNameLst>
                                      </p:cBhvr>
                                      <p:to>
                                        <p:strVal val="visible"/>
                                      </p:to>
                                    </p:set>
                                    <p:animEffect transition="in" filter="blinds(horizontal)">
                                      <p:cBhvr>
                                        <p:cTn id="7" dur="500"/>
                                        <p:tgtEl>
                                          <p:spTgt spid="20787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07874">
                                            <p:txEl>
                                              <p:pRg st="1" end="1"/>
                                            </p:txEl>
                                          </p:spTgt>
                                        </p:tgtEl>
                                        <p:attrNameLst>
                                          <p:attrName>style.visibility</p:attrName>
                                        </p:attrNameLst>
                                      </p:cBhvr>
                                      <p:to>
                                        <p:strVal val="visible"/>
                                      </p:to>
                                    </p:set>
                                    <p:animEffect transition="in" filter="blinds(horizontal)">
                                      <p:cBhvr>
                                        <p:cTn id="10" dur="500"/>
                                        <p:tgtEl>
                                          <p:spTgt spid="20787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07874">
                                            <p:txEl>
                                              <p:pRg st="2" end="2"/>
                                            </p:txEl>
                                          </p:spTgt>
                                        </p:tgtEl>
                                        <p:attrNameLst>
                                          <p:attrName>style.visibility</p:attrName>
                                        </p:attrNameLst>
                                      </p:cBhvr>
                                      <p:to>
                                        <p:strVal val="visible"/>
                                      </p:to>
                                    </p:set>
                                    <p:animEffect transition="in" filter="blinds(horizontal)">
                                      <p:cBhvr>
                                        <p:cTn id="15" dur="500"/>
                                        <p:tgtEl>
                                          <p:spTgt spid="20787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07874">
                                            <p:txEl>
                                              <p:pRg st="3" end="3"/>
                                            </p:txEl>
                                          </p:spTgt>
                                        </p:tgtEl>
                                        <p:attrNameLst>
                                          <p:attrName>style.visibility</p:attrName>
                                        </p:attrNameLst>
                                      </p:cBhvr>
                                      <p:to>
                                        <p:strVal val="visible"/>
                                      </p:to>
                                    </p:set>
                                    <p:animEffect transition="in" filter="blinds(horizontal)">
                                      <p:cBhvr>
                                        <p:cTn id="20" dur="500"/>
                                        <p:tgtEl>
                                          <p:spTgt spid="20787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07874">
                                            <p:txEl>
                                              <p:pRg st="4" end="4"/>
                                            </p:txEl>
                                          </p:spTgt>
                                        </p:tgtEl>
                                        <p:attrNameLst>
                                          <p:attrName>style.visibility</p:attrName>
                                        </p:attrNameLst>
                                      </p:cBhvr>
                                      <p:to>
                                        <p:strVal val="visible"/>
                                      </p:to>
                                    </p:set>
                                    <p:animEffect transition="in" filter="blinds(horizontal)">
                                      <p:cBhvr>
                                        <p:cTn id="25" dur="500"/>
                                        <p:tgtEl>
                                          <p:spTgt spid="20787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07874">
                                            <p:txEl>
                                              <p:pRg st="5" end="5"/>
                                            </p:txEl>
                                          </p:spTgt>
                                        </p:tgtEl>
                                        <p:attrNameLst>
                                          <p:attrName>style.visibility</p:attrName>
                                        </p:attrNameLst>
                                      </p:cBhvr>
                                      <p:to>
                                        <p:strVal val="visible"/>
                                      </p:to>
                                    </p:set>
                                    <p:animEffect transition="in" filter="blinds(horizontal)">
                                      <p:cBhvr>
                                        <p:cTn id="30" dur="500"/>
                                        <p:tgtEl>
                                          <p:spTgt spid="20787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07874">
                                            <p:txEl>
                                              <p:pRg st="6" end="6"/>
                                            </p:txEl>
                                          </p:spTgt>
                                        </p:tgtEl>
                                        <p:attrNameLst>
                                          <p:attrName>style.visibility</p:attrName>
                                        </p:attrNameLst>
                                      </p:cBhvr>
                                      <p:to>
                                        <p:strVal val="visible"/>
                                      </p:to>
                                    </p:set>
                                    <p:animEffect transition="in" filter="blinds(horizontal)">
                                      <p:cBhvr>
                                        <p:cTn id="35" dur="500"/>
                                        <p:tgtEl>
                                          <p:spTgt spid="20787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07874">
                                            <p:txEl>
                                              <p:pRg st="7" end="7"/>
                                            </p:txEl>
                                          </p:spTgt>
                                        </p:tgtEl>
                                        <p:attrNameLst>
                                          <p:attrName>style.visibility</p:attrName>
                                        </p:attrNameLst>
                                      </p:cBhvr>
                                      <p:to>
                                        <p:strVal val="visible"/>
                                      </p:to>
                                    </p:set>
                                    <p:animEffect transition="in" filter="blinds(horizontal)">
                                      <p:cBhvr>
                                        <p:cTn id="40" dur="500"/>
                                        <p:tgtEl>
                                          <p:spTgt spid="207874">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207874">
                                            <p:txEl>
                                              <p:pRg st="8" end="8"/>
                                            </p:txEl>
                                          </p:spTgt>
                                        </p:tgtEl>
                                        <p:attrNameLst>
                                          <p:attrName>style.visibility</p:attrName>
                                        </p:attrNameLst>
                                      </p:cBhvr>
                                      <p:to>
                                        <p:strVal val="visible"/>
                                      </p:to>
                                    </p:set>
                                    <p:animEffect transition="in" filter="blinds(horizontal)">
                                      <p:cBhvr>
                                        <p:cTn id="45" dur="500"/>
                                        <p:tgtEl>
                                          <p:spTgt spid="207874">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07874">
                                            <p:txEl>
                                              <p:pRg st="9" end="9"/>
                                            </p:txEl>
                                          </p:spTgt>
                                        </p:tgtEl>
                                        <p:attrNameLst>
                                          <p:attrName>style.visibility</p:attrName>
                                        </p:attrNameLst>
                                      </p:cBhvr>
                                      <p:to>
                                        <p:strVal val="visible"/>
                                      </p:to>
                                    </p:set>
                                    <p:animEffect transition="in" filter="blinds(horizontal)">
                                      <p:cBhvr>
                                        <p:cTn id="50" dur="500"/>
                                        <p:tgtEl>
                                          <p:spTgt spid="2078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p:cNvSpPr txBox="1"/>
          <p:nvPr/>
        </p:nvSpPr>
        <p:spPr>
          <a:xfrm>
            <a:off x="-76200" y="377825"/>
            <a:ext cx="6096000" cy="579438"/>
          </a:xfrm>
          <a:prstGeom prst="rect">
            <a:avLst/>
          </a:prstGeom>
          <a:noFill/>
          <a:ln w="9525">
            <a:noFill/>
          </a:ln>
        </p:spPr>
        <p:txBody>
          <a:bodyPr anchor="t" anchorCtr="0">
            <a:spAutoFit/>
          </a:bodyPr>
          <a:lstStyle/>
          <a:p>
            <a:pPr>
              <a:spcBef>
                <a:spcPct val="50000"/>
              </a:spcBef>
              <a:buClrTx/>
              <a:buFontTx/>
            </a:pPr>
            <a:r>
              <a:rPr lang="en-US" altLang="zh-CN" sz="3200" b="1" dirty="0">
                <a:latin typeface="Arial" panose="020B0604020202020204" pitchFamily="34" charset="0"/>
                <a:ea typeface="宋体" panose="02010600030101010101" pitchFamily="2" charset="-122"/>
              </a:rPr>
              <a:t>3)</a:t>
            </a:r>
            <a:r>
              <a:rPr lang="zh-CN" altLang="en-US" sz="3200" b="1" dirty="0">
                <a:latin typeface="Arial" panose="020B0604020202020204" pitchFamily="34" charset="0"/>
                <a:ea typeface="宋体" panose="02010600030101010101" pitchFamily="2" charset="-122"/>
              </a:rPr>
              <a:t>独立请求方式：</a:t>
            </a:r>
            <a:r>
              <a:rPr lang="zh-CN" altLang="en-US" dirty="0">
                <a:latin typeface="Arial" panose="020B0604020202020204" pitchFamily="34" charset="0"/>
                <a:ea typeface="宋体" panose="02010600030101010101" pitchFamily="2" charset="-122"/>
              </a:rPr>
              <a:t> </a:t>
            </a:r>
          </a:p>
        </p:txBody>
      </p:sp>
      <p:grpSp>
        <p:nvGrpSpPr>
          <p:cNvPr id="208899" name="Group 3"/>
          <p:cNvGrpSpPr/>
          <p:nvPr/>
        </p:nvGrpSpPr>
        <p:grpSpPr>
          <a:xfrm>
            <a:off x="215900" y="892175"/>
            <a:ext cx="8699500" cy="5276850"/>
            <a:chOff x="184" y="324"/>
            <a:chExt cx="5480" cy="3324"/>
          </a:xfrm>
        </p:grpSpPr>
        <p:sp>
          <p:nvSpPr>
            <p:cNvPr id="24579" name="Rectangle 4"/>
            <p:cNvSpPr/>
            <p:nvPr/>
          </p:nvSpPr>
          <p:spPr>
            <a:xfrm>
              <a:off x="184" y="912"/>
              <a:ext cx="528" cy="2640"/>
            </a:xfrm>
            <a:prstGeom prst="rect">
              <a:avLst/>
            </a:prstGeom>
            <a:noFill/>
            <a:ln w="57150" cap="flat" cmpd="sng">
              <a:solidFill>
                <a:srgbClr val="AFE1FF"/>
              </a:solidFill>
              <a:prstDash val="solid"/>
              <a:miter/>
              <a:headEnd type="none" w="med" len="med"/>
              <a:tailEnd type="none" w="med" len="med"/>
            </a:ln>
          </p:spPr>
          <p:txBody>
            <a:bodyPr wrap="none" anchor="ctr" anchorCtr="0"/>
            <a:lstStyle/>
            <a:p>
              <a:pPr algn="ctr">
                <a:buClrTx/>
                <a:buFontTx/>
              </a:pPr>
              <a:r>
                <a:rPr lang="zh-CN" altLang="en-US" sz="3200" b="1" dirty="0">
                  <a:latin typeface="Times New Roman" panose="02020603050405020304" pitchFamily="18" charset="0"/>
                  <a:ea typeface="宋体" panose="02010600030101010101" pitchFamily="2" charset="-122"/>
                </a:rPr>
                <a:t>总</a:t>
              </a:r>
            </a:p>
            <a:p>
              <a:pPr algn="ctr">
                <a:buClrTx/>
                <a:buFontTx/>
              </a:pPr>
              <a:r>
                <a:rPr lang="zh-CN" altLang="en-US" sz="3200" b="1" dirty="0">
                  <a:latin typeface="Times New Roman" panose="02020603050405020304" pitchFamily="18" charset="0"/>
                  <a:ea typeface="宋体" panose="02010600030101010101" pitchFamily="2" charset="-122"/>
                </a:rPr>
                <a:t>线</a:t>
              </a:r>
            </a:p>
            <a:p>
              <a:pPr algn="ctr">
                <a:buClrTx/>
                <a:buFontTx/>
              </a:pPr>
              <a:r>
                <a:rPr lang="zh-CN" altLang="en-US" sz="3200" b="1" dirty="0">
                  <a:latin typeface="Times New Roman" panose="02020603050405020304" pitchFamily="18" charset="0"/>
                  <a:ea typeface="宋体" panose="02010600030101010101" pitchFamily="2" charset="-122"/>
                </a:rPr>
                <a:t>控</a:t>
              </a:r>
            </a:p>
            <a:p>
              <a:pPr algn="ctr">
                <a:buClrTx/>
                <a:buFontTx/>
              </a:pPr>
              <a:r>
                <a:rPr lang="zh-CN" altLang="en-US" sz="3200" b="1" dirty="0">
                  <a:latin typeface="Times New Roman" panose="02020603050405020304" pitchFamily="18" charset="0"/>
                  <a:ea typeface="宋体" panose="02010600030101010101" pitchFamily="2" charset="-122"/>
                </a:rPr>
                <a:t>制</a:t>
              </a:r>
            </a:p>
            <a:p>
              <a:pPr algn="ctr">
                <a:buClrTx/>
                <a:buFontTx/>
              </a:pPr>
              <a:r>
                <a:rPr lang="zh-CN" altLang="en-US" sz="3200" b="1" dirty="0">
                  <a:latin typeface="Times New Roman" panose="02020603050405020304" pitchFamily="18" charset="0"/>
                  <a:ea typeface="宋体" panose="02010600030101010101" pitchFamily="2" charset="-122"/>
                </a:rPr>
                <a:t>部</a:t>
              </a:r>
            </a:p>
            <a:p>
              <a:pPr algn="ctr">
                <a:buClrTx/>
                <a:buFontTx/>
              </a:pPr>
              <a:r>
                <a:rPr lang="zh-CN" altLang="en-US" sz="3200" b="1" dirty="0">
                  <a:latin typeface="Times New Roman" panose="02020603050405020304" pitchFamily="18" charset="0"/>
                  <a:ea typeface="宋体" panose="02010600030101010101" pitchFamily="2" charset="-122"/>
                </a:rPr>
                <a:t>件</a:t>
              </a:r>
            </a:p>
          </p:txBody>
        </p:sp>
        <p:sp>
          <p:nvSpPr>
            <p:cNvPr id="24580" name="Line 5"/>
            <p:cNvSpPr/>
            <p:nvPr/>
          </p:nvSpPr>
          <p:spPr>
            <a:xfrm>
              <a:off x="712" y="1296"/>
              <a:ext cx="4280" cy="0"/>
            </a:xfrm>
            <a:prstGeom prst="line">
              <a:avLst/>
            </a:prstGeom>
            <a:ln w="38100" cap="flat" cmpd="sng">
              <a:solidFill>
                <a:srgbClr val="008AE8"/>
              </a:solidFill>
              <a:prstDash val="solid"/>
              <a:round/>
              <a:headEnd type="none" w="med" len="med"/>
              <a:tailEnd type="none" w="med" len="med"/>
            </a:ln>
          </p:spPr>
        </p:sp>
        <p:sp>
          <p:nvSpPr>
            <p:cNvPr id="24581" name="Text Box 6"/>
            <p:cNvSpPr txBox="1"/>
            <p:nvPr/>
          </p:nvSpPr>
          <p:spPr>
            <a:xfrm>
              <a:off x="4969" y="885"/>
              <a:ext cx="695" cy="288"/>
            </a:xfrm>
            <a:prstGeom prst="rect">
              <a:avLst/>
            </a:prstGeom>
            <a:noFill/>
            <a:ln w="9525">
              <a:noFill/>
            </a:ln>
          </p:spPr>
          <p:txBody>
            <a:bodyPr wrap="none" anchor="t" anchorCtr="0">
              <a:spAutoFit/>
            </a:bodyPr>
            <a:lstStyle/>
            <a:p>
              <a:pPr>
                <a:buClrTx/>
                <a:buFontTx/>
              </a:pPr>
              <a:r>
                <a:rPr lang="zh-CN" altLang="en-US" sz="2400" b="1" dirty="0">
                  <a:latin typeface="Times New Roman" panose="02020603050405020304" pitchFamily="18" charset="0"/>
                  <a:ea typeface="宋体" panose="02010600030101010101" pitchFamily="2" charset="-122"/>
                </a:rPr>
                <a:t>数据线</a:t>
              </a:r>
            </a:p>
          </p:txBody>
        </p:sp>
        <p:sp>
          <p:nvSpPr>
            <p:cNvPr id="24582" name="Text Box 7"/>
            <p:cNvSpPr txBox="1"/>
            <p:nvPr/>
          </p:nvSpPr>
          <p:spPr>
            <a:xfrm>
              <a:off x="4969" y="1151"/>
              <a:ext cx="695" cy="288"/>
            </a:xfrm>
            <a:prstGeom prst="rect">
              <a:avLst/>
            </a:prstGeom>
            <a:noFill/>
            <a:ln w="9525">
              <a:noFill/>
            </a:ln>
          </p:spPr>
          <p:txBody>
            <a:bodyPr wrap="none" anchor="t" anchorCtr="0">
              <a:spAutoFit/>
            </a:bodyPr>
            <a:lstStyle/>
            <a:p>
              <a:pPr>
                <a:buClrTx/>
                <a:buFontTx/>
              </a:pPr>
              <a:r>
                <a:rPr lang="zh-CN" altLang="en-US" sz="2400" b="1" dirty="0">
                  <a:latin typeface="Times New Roman" panose="02020603050405020304" pitchFamily="18" charset="0"/>
                  <a:ea typeface="宋体" panose="02010600030101010101" pitchFamily="2" charset="-122"/>
                </a:rPr>
                <a:t>地址线</a:t>
              </a:r>
            </a:p>
          </p:txBody>
        </p:sp>
        <p:sp>
          <p:nvSpPr>
            <p:cNvPr id="24583" name="Rectangle 8"/>
            <p:cNvSpPr/>
            <p:nvPr/>
          </p:nvSpPr>
          <p:spPr>
            <a:xfrm>
              <a:off x="1240" y="3120"/>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800" b="1" dirty="0">
                  <a:latin typeface="Times New Roman" panose="02020603050405020304" pitchFamily="18" charset="0"/>
                  <a:ea typeface="宋体" panose="02010600030101010101" pitchFamily="2" charset="-122"/>
                </a:rPr>
                <a:t>I/O</a:t>
              </a:r>
              <a:r>
                <a:rPr lang="zh-CN" altLang="en-US" sz="2800" b="1" dirty="0">
                  <a:latin typeface="Times New Roman" panose="02020603050405020304" pitchFamily="18" charset="0"/>
                  <a:ea typeface="宋体" panose="02010600030101010101" pitchFamily="2" charset="-122"/>
                </a:rPr>
                <a:t>接口</a:t>
              </a:r>
              <a:r>
                <a:rPr lang="en-US" altLang="zh-CN" sz="2800" b="1" dirty="0">
                  <a:latin typeface="Times New Roman" panose="02020603050405020304" pitchFamily="18" charset="0"/>
                  <a:ea typeface="宋体" panose="02010600030101010101" pitchFamily="2" charset="-122"/>
                </a:rPr>
                <a:t>0</a:t>
              </a:r>
            </a:p>
          </p:txBody>
        </p:sp>
        <p:sp>
          <p:nvSpPr>
            <p:cNvPr id="24584" name="Rectangle 9"/>
            <p:cNvSpPr/>
            <p:nvPr/>
          </p:nvSpPr>
          <p:spPr>
            <a:xfrm>
              <a:off x="2440" y="3120"/>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800" b="1" dirty="0">
                  <a:latin typeface="Times New Roman" panose="02020603050405020304" pitchFamily="18" charset="0"/>
                  <a:ea typeface="宋体" panose="02010600030101010101" pitchFamily="2" charset="-122"/>
                </a:rPr>
                <a:t>I/O</a:t>
              </a:r>
              <a:r>
                <a:rPr lang="zh-CN" altLang="en-US" sz="2800" b="1" dirty="0">
                  <a:latin typeface="Times New Roman" panose="02020603050405020304" pitchFamily="18" charset="0"/>
                  <a:ea typeface="宋体" panose="02010600030101010101" pitchFamily="2" charset="-122"/>
                </a:rPr>
                <a:t>接口</a:t>
              </a:r>
              <a:r>
                <a:rPr lang="en-US" altLang="zh-CN" sz="2800" b="1" dirty="0">
                  <a:latin typeface="Times New Roman" panose="02020603050405020304" pitchFamily="18" charset="0"/>
                  <a:ea typeface="宋体" panose="02010600030101010101" pitchFamily="2" charset="-122"/>
                </a:rPr>
                <a:t>1</a:t>
              </a:r>
            </a:p>
          </p:txBody>
        </p:sp>
        <p:sp>
          <p:nvSpPr>
            <p:cNvPr id="24585" name="Rectangle 10"/>
            <p:cNvSpPr/>
            <p:nvPr/>
          </p:nvSpPr>
          <p:spPr>
            <a:xfrm>
              <a:off x="3888" y="3120"/>
              <a:ext cx="1056" cy="528"/>
            </a:xfrm>
            <a:prstGeom prst="rect">
              <a:avLst/>
            </a:prstGeom>
            <a:noFill/>
            <a:ln w="38100" cap="flat" cmpd="sng">
              <a:solidFill>
                <a:srgbClr val="AFE1FF"/>
              </a:solidFill>
              <a:prstDash val="solid"/>
              <a:miter/>
              <a:headEnd type="none" w="med" len="med"/>
              <a:tailEnd type="none" w="med" len="med"/>
            </a:ln>
          </p:spPr>
          <p:txBody>
            <a:bodyPr wrap="none" anchor="ctr" anchorCtr="0"/>
            <a:lstStyle/>
            <a:p>
              <a:pPr algn="ctr">
                <a:buClrTx/>
                <a:buFontTx/>
              </a:pPr>
              <a:r>
                <a:rPr lang="en-US" altLang="zh-CN" sz="2800" b="1" dirty="0">
                  <a:latin typeface="Times New Roman" panose="02020603050405020304" pitchFamily="18" charset="0"/>
                  <a:ea typeface="宋体" panose="02010600030101010101" pitchFamily="2" charset="-122"/>
                </a:rPr>
                <a:t>I/O</a:t>
              </a:r>
              <a:r>
                <a:rPr lang="zh-CN" altLang="en-US" sz="2800" b="1" dirty="0">
                  <a:latin typeface="Times New Roman" panose="02020603050405020304" pitchFamily="18" charset="0"/>
                  <a:ea typeface="宋体" panose="02010600030101010101" pitchFamily="2" charset="-122"/>
                </a:rPr>
                <a:t>接口</a:t>
              </a:r>
              <a:r>
                <a:rPr lang="en-US" altLang="zh-CN" sz="2800" b="1" i="1" dirty="0">
                  <a:latin typeface="Times New Roman" panose="02020603050405020304" pitchFamily="18" charset="0"/>
                  <a:ea typeface="宋体" panose="02010600030101010101" pitchFamily="2" charset="-122"/>
                </a:rPr>
                <a:t>n</a:t>
              </a:r>
            </a:p>
          </p:txBody>
        </p:sp>
        <p:sp>
          <p:nvSpPr>
            <p:cNvPr id="24586" name="Line 11"/>
            <p:cNvSpPr/>
            <p:nvPr/>
          </p:nvSpPr>
          <p:spPr>
            <a:xfrm>
              <a:off x="712" y="1056"/>
              <a:ext cx="4280" cy="0"/>
            </a:xfrm>
            <a:prstGeom prst="line">
              <a:avLst/>
            </a:prstGeom>
            <a:ln w="38100" cap="flat" cmpd="sng">
              <a:solidFill>
                <a:srgbClr val="008AE8"/>
              </a:solidFill>
              <a:prstDash val="solid"/>
              <a:round/>
              <a:headEnd type="none" w="med" len="med"/>
              <a:tailEnd type="none" w="med" len="med"/>
            </a:ln>
          </p:spPr>
        </p:sp>
        <p:sp>
          <p:nvSpPr>
            <p:cNvPr id="24587" name="Freeform 12"/>
            <p:cNvSpPr/>
            <p:nvPr/>
          </p:nvSpPr>
          <p:spPr>
            <a:xfrm>
              <a:off x="720" y="1536"/>
              <a:ext cx="3552" cy="1584"/>
            </a:xfrm>
            <a:custGeom>
              <a:avLst/>
              <a:gdLst/>
              <a:ahLst/>
              <a:cxnLst>
                <a:cxn ang="0">
                  <a:pos x="0" y="0"/>
                </a:cxn>
                <a:cxn ang="0">
                  <a:pos x="3552" y="0"/>
                </a:cxn>
                <a:cxn ang="0">
                  <a:pos x="3552" y="2995"/>
                </a:cxn>
              </a:cxnLst>
              <a:rect l="0" t="0" r="0" b="0"/>
              <a:pathLst>
                <a:path w="3552" h="1152">
                  <a:moveTo>
                    <a:pt x="0" y="0"/>
                  </a:moveTo>
                  <a:lnTo>
                    <a:pt x="3552" y="0"/>
                  </a:lnTo>
                  <a:lnTo>
                    <a:pt x="3552" y="1152"/>
                  </a:lnTo>
                </a:path>
              </a:pathLst>
            </a:custGeom>
            <a:noFill/>
            <a:ln w="38100" cap="flat" cmpd="sng">
              <a:solidFill>
                <a:srgbClr val="008AE8"/>
              </a:solidFill>
              <a:prstDash val="solid"/>
              <a:round/>
              <a:headEnd type="none" w="med" len="med"/>
              <a:tailEnd type="stealth" w="lg" len="lg"/>
            </a:ln>
          </p:spPr>
          <p:txBody>
            <a:bodyPr/>
            <a:lstStyle/>
            <a:p>
              <a:endParaRPr lang="zh-CN" altLang="en-US"/>
            </a:p>
          </p:txBody>
        </p:sp>
        <p:sp>
          <p:nvSpPr>
            <p:cNvPr id="24588" name="Freeform 13"/>
            <p:cNvSpPr/>
            <p:nvPr/>
          </p:nvSpPr>
          <p:spPr>
            <a:xfrm>
              <a:off x="720" y="1776"/>
              <a:ext cx="3312" cy="1344"/>
            </a:xfrm>
            <a:custGeom>
              <a:avLst/>
              <a:gdLst/>
              <a:ahLst/>
              <a:cxnLst>
                <a:cxn ang="0">
                  <a:pos x="0" y="0"/>
                </a:cxn>
                <a:cxn ang="0">
                  <a:pos x="2879" y="0"/>
                </a:cxn>
                <a:cxn ang="0">
                  <a:pos x="2879" y="1829"/>
                </a:cxn>
              </a:cxnLst>
              <a:rect l="0" t="0" r="0" b="0"/>
              <a:pathLst>
                <a:path w="3552" h="1152">
                  <a:moveTo>
                    <a:pt x="0" y="0"/>
                  </a:moveTo>
                  <a:lnTo>
                    <a:pt x="3552" y="0"/>
                  </a:lnTo>
                  <a:lnTo>
                    <a:pt x="3552" y="1152"/>
                  </a:lnTo>
                </a:path>
              </a:pathLst>
            </a:custGeom>
            <a:noFill/>
            <a:ln w="38100" cap="flat" cmpd="sng">
              <a:solidFill>
                <a:srgbClr val="008AE8"/>
              </a:solidFill>
              <a:prstDash val="solid"/>
              <a:round/>
              <a:headEnd type="stealth" w="lg" len="lg"/>
              <a:tailEnd type="none" w="lg" len="lg"/>
            </a:ln>
          </p:spPr>
          <p:txBody>
            <a:bodyPr/>
            <a:lstStyle/>
            <a:p>
              <a:endParaRPr lang="zh-CN" altLang="en-US"/>
            </a:p>
          </p:txBody>
        </p:sp>
        <p:sp>
          <p:nvSpPr>
            <p:cNvPr id="24589" name="Freeform 14"/>
            <p:cNvSpPr/>
            <p:nvPr/>
          </p:nvSpPr>
          <p:spPr>
            <a:xfrm>
              <a:off x="720" y="2736"/>
              <a:ext cx="672" cy="384"/>
            </a:xfrm>
            <a:custGeom>
              <a:avLst/>
              <a:gdLst/>
              <a:ahLst/>
              <a:cxnLst>
                <a:cxn ang="0">
                  <a:pos x="0" y="0"/>
                </a:cxn>
                <a:cxn ang="0">
                  <a:pos x="24" y="0"/>
                </a:cxn>
                <a:cxn ang="0">
                  <a:pos x="24" y="43"/>
                </a:cxn>
              </a:cxnLst>
              <a:rect l="0" t="0" r="0" b="0"/>
              <a:pathLst>
                <a:path w="3552" h="1152">
                  <a:moveTo>
                    <a:pt x="0" y="0"/>
                  </a:moveTo>
                  <a:lnTo>
                    <a:pt x="3552" y="0"/>
                  </a:lnTo>
                  <a:lnTo>
                    <a:pt x="3552" y="1152"/>
                  </a:lnTo>
                </a:path>
              </a:pathLst>
            </a:custGeom>
            <a:noFill/>
            <a:ln w="38100" cap="flat" cmpd="sng">
              <a:solidFill>
                <a:srgbClr val="008AE8"/>
              </a:solidFill>
              <a:prstDash val="solid"/>
              <a:round/>
              <a:headEnd type="stealth" w="lg" len="lg"/>
              <a:tailEnd type="none" w="lg" len="lg"/>
            </a:ln>
          </p:spPr>
          <p:txBody>
            <a:bodyPr/>
            <a:lstStyle/>
            <a:p>
              <a:endParaRPr lang="zh-CN" altLang="en-US"/>
            </a:p>
          </p:txBody>
        </p:sp>
        <p:sp>
          <p:nvSpPr>
            <p:cNvPr id="24590" name="Freeform 15"/>
            <p:cNvSpPr/>
            <p:nvPr/>
          </p:nvSpPr>
          <p:spPr>
            <a:xfrm>
              <a:off x="720" y="2256"/>
              <a:ext cx="1968" cy="864"/>
            </a:xfrm>
            <a:custGeom>
              <a:avLst/>
              <a:gdLst/>
              <a:ahLst/>
              <a:cxnLst>
                <a:cxn ang="0">
                  <a:pos x="0" y="0"/>
                </a:cxn>
                <a:cxn ang="0">
                  <a:pos x="604" y="0"/>
                </a:cxn>
                <a:cxn ang="0">
                  <a:pos x="604" y="486"/>
                </a:cxn>
              </a:cxnLst>
              <a:rect l="0" t="0" r="0" b="0"/>
              <a:pathLst>
                <a:path w="3552" h="1152">
                  <a:moveTo>
                    <a:pt x="0" y="0"/>
                  </a:moveTo>
                  <a:lnTo>
                    <a:pt x="3552" y="0"/>
                  </a:lnTo>
                  <a:lnTo>
                    <a:pt x="3552" y="1152"/>
                  </a:lnTo>
                </a:path>
              </a:pathLst>
            </a:custGeom>
            <a:noFill/>
            <a:ln w="38100" cap="flat" cmpd="sng">
              <a:solidFill>
                <a:srgbClr val="008AE8"/>
              </a:solidFill>
              <a:prstDash val="solid"/>
              <a:round/>
              <a:headEnd type="stealth" w="lg" len="lg"/>
              <a:tailEnd type="none" w="lg" len="lg"/>
            </a:ln>
          </p:spPr>
          <p:txBody>
            <a:bodyPr/>
            <a:lstStyle/>
            <a:p>
              <a:endParaRPr lang="zh-CN" altLang="en-US"/>
            </a:p>
          </p:txBody>
        </p:sp>
        <p:sp>
          <p:nvSpPr>
            <p:cNvPr id="24591" name="Freeform 16"/>
            <p:cNvSpPr/>
            <p:nvPr/>
          </p:nvSpPr>
          <p:spPr>
            <a:xfrm>
              <a:off x="720" y="2016"/>
              <a:ext cx="2160" cy="1104"/>
            </a:xfrm>
            <a:custGeom>
              <a:avLst/>
              <a:gdLst/>
              <a:ahLst/>
              <a:cxnLst>
                <a:cxn ang="0">
                  <a:pos x="0" y="0"/>
                </a:cxn>
                <a:cxn ang="0">
                  <a:pos x="799" y="0"/>
                </a:cxn>
                <a:cxn ang="0">
                  <a:pos x="799" y="1014"/>
                </a:cxn>
              </a:cxnLst>
              <a:rect l="0" t="0" r="0" b="0"/>
              <a:pathLst>
                <a:path w="3552" h="1152">
                  <a:moveTo>
                    <a:pt x="0" y="0"/>
                  </a:moveTo>
                  <a:lnTo>
                    <a:pt x="3552" y="0"/>
                  </a:lnTo>
                  <a:lnTo>
                    <a:pt x="3552" y="1152"/>
                  </a:lnTo>
                </a:path>
              </a:pathLst>
            </a:custGeom>
            <a:noFill/>
            <a:ln w="38100" cap="flat" cmpd="sng">
              <a:solidFill>
                <a:srgbClr val="008AE8"/>
              </a:solidFill>
              <a:prstDash val="solid"/>
              <a:round/>
              <a:headEnd type="none" w="med" len="med"/>
              <a:tailEnd type="stealth" w="lg" len="lg"/>
            </a:ln>
          </p:spPr>
          <p:txBody>
            <a:bodyPr/>
            <a:lstStyle/>
            <a:p>
              <a:endParaRPr lang="zh-CN" altLang="en-US"/>
            </a:p>
          </p:txBody>
        </p:sp>
        <p:sp>
          <p:nvSpPr>
            <p:cNvPr id="24592" name="Freeform 17"/>
            <p:cNvSpPr/>
            <p:nvPr/>
          </p:nvSpPr>
          <p:spPr>
            <a:xfrm>
              <a:off x="720" y="2496"/>
              <a:ext cx="864" cy="624"/>
            </a:xfrm>
            <a:custGeom>
              <a:avLst/>
              <a:gdLst/>
              <a:ahLst/>
              <a:cxnLst>
                <a:cxn ang="0">
                  <a:pos x="0" y="0"/>
                </a:cxn>
                <a:cxn ang="0">
                  <a:pos x="51" y="0"/>
                </a:cxn>
                <a:cxn ang="0">
                  <a:pos x="51" y="183"/>
                </a:cxn>
              </a:cxnLst>
              <a:rect l="0" t="0" r="0" b="0"/>
              <a:pathLst>
                <a:path w="3552" h="1152">
                  <a:moveTo>
                    <a:pt x="0" y="0"/>
                  </a:moveTo>
                  <a:lnTo>
                    <a:pt x="3552" y="0"/>
                  </a:lnTo>
                  <a:lnTo>
                    <a:pt x="3552" y="1152"/>
                  </a:lnTo>
                </a:path>
              </a:pathLst>
            </a:custGeom>
            <a:noFill/>
            <a:ln w="38100" cap="flat" cmpd="sng">
              <a:solidFill>
                <a:srgbClr val="008AE8"/>
              </a:solidFill>
              <a:prstDash val="solid"/>
              <a:round/>
              <a:headEnd type="none" w="med" len="med"/>
              <a:tailEnd type="stealth" w="lg" len="lg"/>
            </a:ln>
          </p:spPr>
          <p:txBody>
            <a:bodyPr/>
            <a:lstStyle/>
            <a:p>
              <a:endParaRPr lang="zh-CN" altLang="en-US"/>
            </a:p>
          </p:txBody>
        </p:sp>
        <p:sp>
          <p:nvSpPr>
            <p:cNvPr id="24593" name="Text Box 18"/>
            <p:cNvSpPr txBox="1"/>
            <p:nvPr/>
          </p:nvSpPr>
          <p:spPr>
            <a:xfrm>
              <a:off x="3504" y="3120"/>
              <a:ext cx="372" cy="365"/>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a:t>
              </a:r>
            </a:p>
          </p:txBody>
        </p:sp>
        <p:sp>
          <p:nvSpPr>
            <p:cNvPr id="24594" name="Text Box 19"/>
            <p:cNvSpPr txBox="1"/>
            <p:nvPr/>
          </p:nvSpPr>
          <p:spPr>
            <a:xfrm>
              <a:off x="1020" y="2527"/>
              <a:ext cx="528" cy="192"/>
            </a:xfrm>
            <a:prstGeom prst="rect">
              <a:avLst/>
            </a:prstGeom>
            <a:noFill/>
            <a:ln w="9525">
              <a:noFill/>
            </a:ln>
          </p:spPr>
          <p:txBody>
            <a:bodyPr lIns="0" tIns="0" rIns="0" bIns="0" anchor="t" anchorCtr="0">
              <a:spAutoFit/>
            </a:bodyPr>
            <a:lstStyle/>
            <a:p>
              <a:pPr>
                <a:spcBef>
                  <a:spcPct val="50000"/>
                </a:spcBef>
                <a:buClrTx/>
                <a:buFontTx/>
              </a:pPr>
              <a:r>
                <a:rPr lang="en-US" altLang="zh-CN" sz="2000" b="1" dirty="0">
                  <a:latin typeface="Times New Roman" panose="02020603050405020304" pitchFamily="18" charset="0"/>
                  <a:ea typeface="宋体" panose="02010600030101010101" pitchFamily="2" charset="-122"/>
                </a:rPr>
                <a:t>BR</a:t>
              </a:r>
              <a:r>
                <a:rPr lang="en-US" altLang="zh-CN" sz="2000" b="1" baseline="-20000" dirty="0">
                  <a:latin typeface="Times New Roman" panose="02020603050405020304" pitchFamily="18" charset="0"/>
                  <a:ea typeface="宋体" panose="02010600030101010101" pitchFamily="2" charset="-122"/>
                </a:rPr>
                <a:t>0</a:t>
              </a:r>
            </a:p>
          </p:txBody>
        </p:sp>
        <p:sp>
          <p:nvSpPr>
            <p:cNvPr id="24595" name="Text Box 20"/>
            <p:cNvSpPr txBox="1"/>
            <p:nvPr/>
          </p:nvSpPr>
          <p:spPr>
            <a:xfrm>
              <a:off x="1152" y="2292"/>
              <a:ext cx="528" cy="192"/>
            </a:xfrm>
            <a:prstGeom prst="rect">
              <a:avLst/>
            </a:prstGeom>
            <a:noFill/>
            <a:ln w="9525">
              <a:noFill/>
            </a:ln>
          </p:spPr>
          <p:txBody>
            <a:bodyPr lIns="0" tIns="0" rIns="0" bIns="0" anchor="t" anchorCtr="0">
              <a:spAutoFit/>
            </a:bodyPr>
            <a:lstStyle/>
            <a:p>
              <a:pPr>
                <a:spcBef>
                  <a:spcPct val="50000"/>
                </a:spcBef>
                <a:buClrTx/>
                <a:buFontTx/>
              </a:pPr>
              <a:r>
                <a:rPr lang="en-US" altLang="zh-CN" sz="2000" b="1" dirty="0">
                  <a:latin typeface="Times New Roman" panose="02020603050405020304" pitchFamily="18" charset="0"/>
                  <a:ea typeface="宋体" panose="02010600030101010101" pitchFamily="2" charset="-122"/>
                </a:rPr>
                <a:t>BG</a:t>
              </a:r>
              <a:r>
                <a:rPr lang="en-US" altLang="zh-CN" sz="2000" b="1" baseline="-20000" dirty="0">
                  <a:latin typeface="Times New Roman" panose="02020603050405020304" pitchFamily="18" charset="0"/>
                  <a:ea typeface="宋体" panose="02010600030101010101" pitchFamily="2" charset="-122"/>
                </a:rPr>
                <a:t>0</a:t>
              </a:r>
            </a:p>
          </p:txBody>
        </p:sp>
        <p:sp>
          <p:nvSpPr>
            <p:cNvPr id="24596" name="Text Box 21"/>
            <p:cNvSpPr txBox="1"/>
            <p:nvPr/>
          </p:nvSpPr>
          <p:spPr>
            <a:xfrm>
              <a:off x="2208" y="2035"/>
              <a:ext cx="528" cy="192"/>
            </a:xfrm>
            <a:prstGeom prst="rect">
              <a:avLst/>
            </a:prstGeom>
            <a:noFill/>
            <a:ln w="9525">
              <a:noFill/>
            </a:ln>
          </p:spPr>
          <p:txBody>
            <a:bodyPr lIns="0" tIns="0" rIns="0" bIns="0" anchor="t" anchorCtr="0">
              <a:spAutoFit/>
            </a:bodyPr>
            <a:lstStyle/>
            <a:p>
              <a:pPr>
                <a:spcBef>
                  <a:spcPct val="50000"/>
                </a:spcBef>
                <a:buClrTx/>
                <a:buFontTx/>
              </a:pPr>
              <a:r>
                <a:rPr lang="en-US" altLang="zh-CN" sz="2000" b="1" dirty="0">
                  <a:latin typeface="Times New Roman" panose="02020603050405020304" pitchFamily="18" charset="0"/>
                  <a:ea typeface="宋体" panose="02010600030101010101" pitchFamily="2" charset="-122"/>
                </a:rPr>
                <a:t>BR</a:t>
              </a:r>
              <a:r>
                <a:rPr lang="en-US" altLang="zh-CN" sz="2000" b="1" baseline="-20000" dirty="0">
                  <a:latin typeface="Times New Roman" panose="02020603050405020304" pitchFamily="18" charset="0"/>
                  <a:ea typeface="宋体" panose="02010600030101010101" pitchFamily="2" charset="-122"/>
                </a:rPr>
                <a:t>1</a:t>
              </a:r>
            </a:p>
          </p:txBody>
        </p:sp>
        <p:sp>
          <p:nvSpPr>
            <p:cNvPr id="24597" name="Text Box 22"/>
            <p:cNvSpPr txBox="1"/>
            <p:nvPr/>
          </p:nvSpPr>
          <p:spPr>
            <a:xfrm>
              <a:off x="2448" y="1795"/>
              <a:ext cx="528" cy="192"/>
            </a:xfrm>
            <a:prstGeom prst="rect">
              <a:avLst/>
            </a:prstGeom>
            <a:noFill/>
            <a:ln w="9525">
              <a:noFill/>
            </a:ln>
          </p:spPr>
          <p:txBody>
            <a:bodyPr lIns="0" tIns="0" rIns="0" bIns="0" anchor="t" anchorCtr="0">
              <a:spAutoFit/>
            </a:bodyPr>
            <a:lstStyle/>
            <a:p>
              <a:pPr>
                <a:spcBef>
                  <a:spcPct val="50000"/>
                </a:spcBef>
                <a:buClrTx/>
                <a:buFontTx/>
              </a:pPr>
              <a:r>
                <a:rPr lang="en-US" altLang="zh-CN" sz="2000" b="1" dirty="0">
                  <a:latin typeface="Times New Roman" panose="02020603050405020304" pitchFamily="18" charset="0"/>
                  <a:ea typeface="宋体" panose="02010600030101010101" pitchFamily="2" charset="-122"/>
                </a:rPr>
                <a:t>BG</a:t>
              </a:r>
              <a:r>
                <a:rPr lang="en-US" altLang="zh-CN" sz="2000" b="1" baseline="-20000" dirty="0">
                  <a:latin typeface="Times New Roman" panose="02020603050405020304" pitchFamily="18" charset="0"/>
                  <a:ea typeface="宋体" panose="02010600030101010101" pitchFamily="2" charset="-122"/>
                </a:rPr>
                <a:t>1</a:t>
              </a:r>
            </a:p>
          </p:txBody>
        </p:sp>
        <p:sp>
          <p:nvSpPr>
            <p:cNvPr id="24598" name="Text Box 23"/>
            <p:cNvSpPr txBox="1"/>
            <p:nvPr/>
          </p:nvSpPr>
          <p:spPr>
            <a:xfrm>
              <a:off x="3600" y="1568"/>
              <a:ext cx="528" cy="192"/>
            </a:xfrm>
            <a:prstGeom prst="rect">
              <a:avLst/>
            </a:prstGeom>
            <a:noFill/>
            <a:ln w="9525">
              <a:noFill/>
            </a:ln>
          </p:spPr>
          <p:txBody>
            <a:bodyPr lIns="0" tIns="0" rIns="0" bIns="0" anchor="t" anchorCtr="0">
              <a:spAutoFit/>
            </a:bodyPr>
            <a:lstStyle/>
            <a:p>
              <a:pPr>
                <a:spcBef>
                  <a:spcPct val="50000"/>
                </a:spcBef>
                <a:buClrTx/>
                <a:buFontTx/>
              </a:pPr>
              <a:r>
                <a:rPr lang="en-US" altLang="zh-CN" sz="2000" b="1" dirty="0">
                  <a:latin typeface="Times New Roman" panose="02020603050405020304" pitchFamily="18" charset="0"/>
                  <a:ea typeface="宋体" panose="02010600030101010101" pitchFamily="2" charset="-122"/>
                </a:rPr>
                <a:t>BR</a:t>
              </a:r>
              <a:r>
                <a:rPr lang="en-US" altLang="zh-CN" sz="2000" b="1" i="1" baseline="-20000" dirty="0">
                  <a:latin typeface="Times New Roman" panose="02020603050405020304" pitchFamily="18" charset="0"/>
                  <a:ea typeface="宋体" panose="02010600030101010101" pitchFamily="2" charset="-122"/>
                </a:rPr>
                <a:t>n</a:t>
              </a:r>
            </a:p>
          </p:txBody>
        </p:sp>
        <p:sp>
          <p:nvSpPr>
            <p:cNvPr id="24599" name="Text Box 24"/>
            <p:cNvSpPr txBox="1"/>
            <p:nvPr/>
          </p:nvSpPr>
          <p:spPr>
            <a:xfrm>
              <a:off x="3840" y="1321"/>
              <a:ext cx="528" cy="192"/>
            </a:xfrm>
            <a:prstGeom prst="rect">
              <a:avLst/>
            </a:prstGeom>
            <a:noFill/>
            <a:ln w="9525">
              <a:noFill/>
            </a:ln>
          </p:spPr>
          <p:txBody>
            <a:bodyPr lIns="0" tIns="0" rIns="0" bIns="0" anchor="t" anchorCtr="0">
              <a:spAutoFit/>
            </a:bodyPr>
            <a:lstStyle/>
            <a:p>
              <a:pPr>
                <a:spcBef>
                  <a:spcPct val="50000"/>
                </a:spcBef>
                <a:buClrTx/>
                <a:buFontTx/>
              </a:pPr>
              <a:r>
                <a:rPr lang="en-US" altLang="zh-CN" sz="2000" b="1" dirty="0">
                  <a:latin typeface="Times New Roman" panose="02020603050405020304" pitchFamily="18" charset="0"/>
                  <a:ea typeface="宋体" panose="02010600030101010101" pitchFamily="2" charset="-122"/>
                </a:rPr>
                <a:t>BG</a:t>
              </a:r>
              <a:r>
                <a:rPr lang="en-US" altLang="zh-CN" sz="2000" b="1" i="1" baseline="-20000" dirty="0">
                  <a:latin typeface="Times New Roman" panose="02020603050405020304" pitchFamily="18" charset="0"/>
                  <a:ea typeface="宋体" panose="02010600030101010101" pitchFamily="2" charset="-122"/>
                </a:rPr>
                <a:t>n</a:t>
              </a:r>
            </a:p>
          </p:txBody>
        </p:sp>
        <p:sp>
          <p:nvSpPr>
            <p:cNvPr id="24600" name="Line 25"/>
            <p:cNvSpPr/>
            <p:nvPr/>
          </p:nvSpPr>
          <p:spPr>
            <a:xfrm>
              <a:off x="1824" y="1296"/>
              <a:ext cx="0" cy="1824"/>
            </a:xfrm>
            <a:prstGeom prst="line">
              <a:avLst/>
            </a:prstGeom>
            <a:ln w="38100" cap="flat" cmpd="sng">
              <a:solidFill>
                <a:srgbClr val="008AE8"/>
              </a:solidFill>
              <a:prstDash val="solid"/>
              <a:round/>
              <a:headEnd type="oval" w="med" len="med"/>
              <a:tailEnd type="stealth" w="lg" len="lg"/>
            </a:ln>
          </p:spPr>
        </p:sp>
        <p:sp>
          <p:nvSpPr>
            <p:cNvPr id="24601" name="Line 26"/>
            <p:cNvSpPr/>
            <p:nvPr/>
          </p:nvSpPr>
          <p:spPr>
            <a:xfrm>
              <a:off x="2064" y="1056"/>
              <a:ext cx="0" cy="2064"/>
            </a:xfrm>
            <a:prstGeom prst="line">
              <a:avLst/>
            </a:prstGeom>
            <a:ln w="38100" cap="flat" cmpd="sng">
              <a:solidFill>
                <a:srgbClr val="008AE8"/>
              </a:solidFill>
              <a:prstDash val="solid"/>
              <a:round/>
              <a:headEnd type="oval" w="med" len="med"/>
              <a:tailEnd type="stealth" w="lg" len="lg"/>
            </a:ln>
          </p:spPr>
        </p:sp>
        <p:sp>
          <p:nvSpPr>
            <p:cNvPr id="24602" name="Line 27"/>
            <p:cNvSpPr/>
            <p:nvPr/>
          </p:nvSpPr>
          <p:spPr>
            <a:xfrm>
              <a:off x="3120" y="1296"/>
              <a:ext cx="0" cy="1824"/>
            </a:xfrm>
            <a:prstGeom prst="line">
              <a:avLst/>
            </a:prstGeom>
            <a:ln w="38100" cap="flat" cmpd="sng">
              <a:solidFill>
                <a:srgbClr val="008AE8"/>
              </a:solidFill>
              <a:prstDash val="solid"/>
              <a:round/>
              <a:headEnd type="oval" w="med" len="med"/>
              <a:tailEnd type="stealth" w="lg" len="lg"/>
            </a:ln>
          </p:spPr>
        </p:sp>
        <p:sp>
          <p:nvSpPr>
            <p:cNvPr id="24603" name="Line 28"/>
            <p:cNvSpPr/>
            <p:nvPr/>
          </p:nvSpPr>
          <p:spPr>
            <a:xfrm>
              <a:off x="4512" y="1296"/>
              <a:ext cx="0" cy="1824"/>
            </a:xfrm>
            <a:prstGeom prst="line">
              <a:avLst/>
            </a:prstGeom>
            <a:ln w="38100" cap="flat" cmpd="sng">
              <a:solidFill>
                <a:srgbClr val="008AE8"/>
              </a:solidFill>
              <a:prstDash val="solid"/>
              <a:round/>
              <a:headEnd type="oval" w="med" len="med"/>
              <a:tailEnd type="stealth" w="lg" len="lg"/>
            </a:ln>
          </p:spPr>
        </p:sp>
        <p:sp>
          <p:nvSpPr>
            <p:cNvPr id="24604" name="Line 29"/>
            <p:cNvSpPr/>
            <p:nvPr/>
          </p:nvSpPr>
          <p:spPr>
            <a:xfrm>
              <a:off x="3360" y="1056"/>
              <a:ext cx="0" cy="2064"/>
            </a:xfrm>
            <a:prstGeom prst="line">
              <a:avLst/>
            </a:prstGeom>
            <a:ln w="38100" cap="flat" cmpd="sng">
              <a:solidFill>
                <a:srgbClr val="008AE8"/>
              </a:solidFill>
              <a:prstDash val="solid"/>
              <a:round/>
              <a:headEnd type="oval" w="med" len="med"/>
              <a:tailEnd type="stealth" w="lg" len="lg"/>
            </a:ln>
          </p:spPr>
        </p:sp>
        <p:sp>
          <p:nvSpPr>
            <p:cNvPr id="24605" name="Line 30"/>
            <p:cNvSpPr/>
            <p:nvPr/>
          </p:nvSpPr>
          <p:spPr>
            <a:xfrm>
              <a:off x="4752" y="1056"/>
              <a:ext cx="0" cy="2064"/>
            </a:xfrm>
            <a:prstGeom prst="line">
              <a:avLst/>
            </a:prstGeom>
            <a:ln w="38100" cap="flat" cmpd="sng">
              <a:solidFill>
                <a:srgbClr val="008AE8"/>
              </a:solidFill>
              <a:prstDash val="solid"/>
              <a:round/>
              <a:headEnd type="oval" w="med" len="med"/>
              <a:tailEnd type="stealth" w="lg" len="lg"/>
            </a:ln>
          </p:spPr>
        </p:sp>
        <p:sp>
          <p:nvSpPr>
            <p:cNvPr id="24606" name="Text Box 31"/>
            <p:cNvSpPr txBox="1"/>
            <p:nvPr/>
          </p:nvSpPr>
          <p:spPr>
            <a:xfrm>
              <a:off x="3072" y="324"/>
              <a:ext cx="1488" cy="748"/>
            </a:xfrm>
            <a:prstGeom prst="rect">
              <a:avLst/>
            </a:prstGeom>
            <a:noFill/>
            <a:ln w="9525">
              <a:noFill/>
            </a:ln>
          </p:spPr>
          <p:txBody>
            <a:bodyPr anchor="t" anchorCtr="0">
              <a:spAutoFit/>
            </a:bodyPr>
            <a:lstStyle/>
            <a:p>
              <a:pPr>
                <a:buClrTx/>
                <a:buFontTx/>
              </a:pPr>
              <a:endParaRPr lang="en-US" altLang="zh-CN" sz="2400" b="1" dirty="0">
                <a:latin typeface="Times New Roman" panose="02020603050405020304" pitchFamily="18" charset="0"/>
                <a:ea typeface="宋体" panose="02010600030101010101" pitchFamily="2" charset="-122"/>
              </a:endParaRPr>
            </a:p>
            <a:p>
              <a:pPr>
                <a:buClrTx/>
                <a:buFontTx/>
              </a:pPr>
              <a:r>
                <a:rPr lang="en-US" altLang="zh-CN" sz="2400" b="1" dirty="0">
                  <a:latin typeface="Times New Roman" panose="02020603050405020304" pitchFamily="18" charset="0"/>
                  <a:ea typeface="宋体" panose="02010600030101010101" pitchFamily="2" charset="-122"/>
                </a:rPr>
                <a:t>BG-</a:t>
              </a:r>
              <a:r>
                <a:rPr lang="zh-CN" altLang="en-US" sz="2400" b="1" dirty="0">
                  <a:latin typeface="Times New Roman" panose="02020603050405020304" pitchFamily="18" charset="0"/>
                  <a:ea typeface="宋体" panose="02010600030101010101" pitchFamily="2" charset="-122"/>
                </a:rPr>
                <a:t>总线同意</a:t>
              </a:r>
            </a:p>
            <a:p>
              <a:pPr>
                <a:buClrTx/>
                <a:buFontTx/>
              </a:pPr>
              <a:r>
                <a:rPr lang="en-US" altLang="zh-CN" sz="2400" b="1" dirty="0">
                  <a:latin typeface="Times New Roman" panose="02020603050405020304" pitchFamily="18" charset="0"/>
                  <a:ea typeface="宋体" panose="02010600030101010101" pitchFamily="2" charset="-122"/>
                </a:rPr>
                <a:t>BR-</a:t>
              </a:r>
              <a:r>
                <a:rPr lang="zh-CN" altLang="en-US" sz="2400" b="1" dirty="0">
                  <a:latin typeface="Times New Roman" panose="02020603050405020304" pitchFamily="18" charset="0"/>
                  <a:ea typeface="宋体" panose="02010600030101010101" pitchFamily="2" charset="-122"/>
                </a:rPr>
                <a:t>总线请求</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8898"/>
                                        </p:tgtEl>
                                        <p:attrNameLst>
                                          <p:attrName>style.visibility</p:attrName>
                                        </p:attrNameLst>
                                      </p:cBhvr>
                                      <p:to>
                                        <p:strVal val="visible"/>
                                      </p:to>
                                    </p:set>
                                    <p:animEffect transition="in" filter="blinds(horizontal)">
                                      <p:cBhvr>
                                        <p:cTn id="7" dur="500"/>
                                        <p:tgtEl>
                                          <p:spTgt spid="2088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8899"/>
                                        </p:tgtEl>
                                        <p:attrNameLst>
                                          <p:attrName>style.visibility</p:attrName>
                                        </p:attrNameLst>
                                      </p:cBhvr>
                                      <p:to>
                                        <p:strVal val="visible"/>
                                      </p:to>
                                    </p:set>
                                    <p:animEffect transition="in" filter="blinds(horizontal)">
                                      <p:cBhvr>
                                        <p:cTn id="12" dur="500"/>
                                        <p:tgtEl>
                                          <p:spTgt spid="208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p:cNvSpPr txBox="1"/>
          <p:nvPr/>
        </p:nvSpPr>
        <p:spPr>
          <a:xfrm>
            <a:off x="381000" y="914400"/>
            <a:ext cx="8305800" cy="2244725"/>
          </a:xfrm>
          <a:prstGeom prst="rect">
            <a:avLst/>
          </a:prstGeom>
          <a:noFill/>
          <a:ln w="9525">
            <a:noFill/>
          </a:ln>
        </p:spPr>
        <p:txBody>
          <a:bodyPr anchor="t" anchorCtr="0">
            <a:spAutoFit/>
          </a:bodyPr>
          <a:lstStyle/>
          <a:p>
            <a:pPr>
              <a:spcBef>
                <a:spcPct val="50000"/>
              </a:spcBef>
              <a:buClrTx/>
              <a:buFontTx/>
            </a:pPr>
            <a:r>
              <a:rPr lang="zh-CN" altLang="en-US" sz="2800" b="1" dirty="0">
                <a:latin typeface="Arial" panose="020B0604020202020204" pitchFamily="34" charset="0"/>
                <a:ea typeface="宋体" panose="02010600030101010101" pitchFamily="2" charset="-122"/>
              </a:rPr>
              <a:t>判优方法：每一个设备专门有一根</a:t>
            </a:r>
            <a:r>
              <a:rPr lang="en-US" altLang="zh-CN" sz="2800" b="1" dirty="0">
                <a:latin typeface="Arial" panose="020B0604020202020204" pitchFamily="34" charset="0"/>
                <a:ea typeface="宋体" panose="02010600030101010101" pitchFamily="2" charset="-122"/>
              </a:rPr>
              <a:t>BR</a:t>
            </a:r>
            <a:r>
              <a:rPr lang="zh-CN" altLang="en-US" sz="2800" b="1" dirty="0">
                <a:latin typeface="Arial" panose="020B0604020202020204" pitchFamily="34" charset="0"/>
                <a:ea typeface="宋体" panose="02010600030101010101" pitchFamily="2" charset="-122"/>
              </a:rPr>
              <a:t>线和</a:t>
            </a:r>
            <a:r>
              <a:rPr lang="en-US" altLang="zh-CN" sz="2800" b="1" dirty="0">
                <a:latin typeface="Arial" panose="020B0604020202020204" pitchFamily="34" charset="0"/>
                <a:ea typeface="宋体" panose="02010600030101010101" pitchFamily="2" charset="-122"/>
              </a:rPr>
              <a:t>BG</a:t>
            </a:r>
            <a:r>
              <a:rPr lang="zh-CN" altLang="en-US" sz="2800" b="1" dirty="0">
                <a:latin typeface="Arial" panose="020B0604020202020204" pitchFamily="34" charset="0"/>
                <a:ea typeface="宋体" panose="02010600030101010101" pitchFamily="2" charset="-122"/>
              </a:rPr>
              <a:t>线，各自通过独立的请求线向总线控制部件发请求，总线控制器里设置并行排队线路，同时接收各设备发来的请求信号并同时进行排队判优，然后通过各自独立的回答线发出总线同意信号。</a:t>
            </a:r>
            <a:r>
              <a:rPr lang="zh-CN" altLang="en-US" b="1" dirty="0">
                <a:latin typeface="Arial" panose="020B0604020202020204" pitchFamily="34" charset="0"/>
                <a:ea typeface="宋体" panose="02010600030101010101" pitchFamily="2" charset="-122"/>
              </a:rPr>
              <a:t> </a:t>
            </a:r>
          </a:p>
        </p:txBody>
      </p:sp>
      <p:sp>
        <p:nvSpPr>
          <p:cNvPr id="209923" name="Text Box 3"/>
          <p:cNvSpPr txBox="1"/>
          <p:nvPr/>
        </p:nvSpPr>
        <p:spPr>
          <a:xfrm>
            <a:off x="304800" y="3429000"/>
            <a:ext cx="8839200" cy="2676525"/>
          </a:xfrm>
          <a:prstGeom prst="rect">
            <a:avLst/>
          </a:prstGeom>
          <a:noFill/>
          <a:ln w="9525">
            <a:noFill/>
          </a:ln>
        </p:spPr>
        <p:txBody>
          <a:bodyPr anchor="t" anchorCtr="0">
            <a:spAutoFit/>
          </a:bodyPr>
          <a:lstStyle/>
          <a:p>
            <a:pPr marL="342900" indent="-342900">
              <a:buClrTx/>
              <a:buFontTx/>
            </a:pPr>
            <a:r>
              <a:rPr lang="zh-CN" altLang="en-US" sz="2800" b="1" dirty="0">
                <a:latin typeface="Arial" panose="020B0604020202020204" pitchFamily="34" charset="0"/>
                <a:ea typeface="宋体" panose="02010600030101010101" pitchFamily="2" charset="-122"/>
              </a:rPr>
              <a:t>特点：</a:t>
            </a:r>
          </a:p>
          <a:p>
            <a:pPr marL="342900" indent="-342900">
              <a:buClrTx/>
              <a:buFontTx/>
            </a:pPr>
            <a:r>
              <a:rPr lang="zh-CN" altLang="en-US" sz="2800" b="1" dirty="0">
                <a:latin typeface="Arial" panose="020B0604020202020204" pitchFamily="34" charset="0"/>
                <a:ea typeface="宋体" panose="02010600030101010101" pitchFamily="2" charset="-122"/>
              </a:rPr>
              <a:t>响应速度快</a:t>
            </a:r>
          </a:p>
          <a:p>
            <a:pPr marL="342900" indent="-342900">
              <a:buClrTx/>
              <a:buFontTx/>
            </a:pPr>
            <a:r>
              <a:rPr lang="zh-CN" altLang="en-US" sz="2800" b="1" dirty="0">
                <a:latin typeface="Arial" panose="020B0604020202020204" pitchFamily="34" charset="0"/>
                <a:ea typeface="宋体" panose="02010600030101010101" pitchFamily="2" charset="-122"/>
              </a:rPr>
              <a:t>优先级控制灵活</a:t>
            </a:r>
          </a:p>
          <a:p>
            <a:pPr marL="342900" indent="-342900">
              <a:buClrTx/>
              <a:buFontTx/>
            </a:pPr>
            <a:r>
              <a:rPr lang="zh-CN" altLang="en-US" sz="2800" b="1" dirty="0">
                <a:latin typeface="Arial" panose="020B0604020202020204" pitchFamily="34" charset="0"/>
                <a:ea typeface="宋体" panose="02010600030101010101" pitchFamily="2" charset="-122"/>
              </a:rPr>
              <a:t>不适合多设备的场合</a:t>
            </a:r>
          </a:p>
          <a:p>
            <a:pPr marL="342900" indent="-342900">
              <a:buClrTx/>
              <a:buFontTx/>
            </a:pPr>
            <a:r>
              <a:rPr lang="zh-CN" altLang="en-US" sz="2800" b="1" dirty="0">
                <a:latin typeface="Arial" panose="020B0604020202020204" pitchFamily="34" charset="0"/>
                <a:ea typeface="宋体" panose="02010600030101010101" pitchFamily="2" charset="-122"/>
              </a:rPr>
              <a:t>注：系统中设备较多时，可以采用多种仲裁方式相结合的形式</a:t>
            </a:r>
            <a:r>
              <a:rPr lang="zh-CN" altLang="en-US" sz="2800" dirty="0">
                <a:latin typeface="Arial" panose="020B0604020202020204" pitchFamily="34" charset="0"/>
                <a:ea typeface="宋体" panose="02010600030101010101" pitchFamily="2" charset="-122"/>
              </a:rPr>
              <a:t>。如多链结构，链内串行，链间并行。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9922"/>
                                        </p:tgtEl>
                                        <p:attrNameLst>
                                          <p:attrName>style.visibility</p:attrName>
                                        </p:attrNameLst>
                                      </p:cBhvr>
                                      <p:to>
                                        <p:strVal val="visible"/>
                                      </p:to>
                                    </p:set>
                                    <p:animEffect transition="in" filter="blinds(horizontal)">
                                      <p:cBhvr>
                                        <p:cTn id="7" dur="500"/>
                                        <p:tgtEl>
                                          <p:spTgt spid="20992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9923">
                                            <p:txEl>
                                              <p:pRg st="0" end="0"/>
                                            </p:txEl>
                                          </p:spTgt>
                                        </p:tgtEl>
                                        <p:attrNameLst>
                                          <p:attrName>style.visibility</p:attrName>
                                        </p:attrNameLst>
                                      </p:cBhvr>
                                      <p:to>
                                        <p:strVal val="visible"/>
                                      </p:to>
                                    </p:set>
                                    <p:animEffect transition="in" filter="blinds(horizontal)">
                                      <p:cBhvr>
                                        <p:cTn id="12" dur="500"/>
                                        <p:tgtEl>
                                          <p:spTgt spid="2099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9923">
                                            <p:txEl>
                                              <p:pRg st="1" end="1"/>
                                            </p:txEl>
                                          </p:spTgt>
                                        </p:tgtEl>
                                        <p:attrNameLst>
                                          <p:attrName>style.visibility</p:attrName>
                                        </p:attrNameLst>
                                      </p:cBhvr>
                                      <p:to>
                                        <p:strVal val="visible"/>
                                      </p:to>
                                    </p:set>
                                    <p:animEffect transition="in" filter="blinds(horizontal)">
                                      <p:cBhvr>
                                        <p:cTn id="17" dur="500"/>
                                        <p:tgtEl>
                                          <p:spTgt spid="2099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9923">
                                            <p:txEl>
                                              <p:pRg st="2" end="2"/>
                                            </p:txEl>
                                          </p:spTgt>
                                        </p:tgtEl>
                                        <p:attrNameLst>
                                          <p:attrName>style.visibility</p:attrName>
                                        </p:attrNameLst>
                                      </p:cBhvr>
                                      <p:to>
                                        <p:strVal val="visible"/>
                                      </p:to>
                                    </p:set>
                                    <p:animEffect transition="in" filter="blinds(horizontal)">
                                      <p:cBhvr>
                                        <p:cTn id="22" dur="500"/>
                                        <p:tgtEl>
                                          <p:spTgt spid="2099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9923">
                                            <p:txEl>
                                              <p:pRg st="3" end="3"/>
                                            </p:txEl>
                                          </p:spTgt>
                                        </p:tgtEl>
                                        <p:attrNameLst>
                                          <p:attrName>style.visibility</p:attrName>
                                        </p:attrNameLst>
                                      </p:cBhvr>
                                      <p:to>
                                        <p:strVal val="visible"/>
                                      </p:to>
                                    </p:set>
                                    <p:animEffect transition="in" filter="blinds(horizontal)">
                                      <p:cBhvr>
                                        <p:cTn id="27" dur="500"/>
                                        <p:tgtEl>
                                          <p:spTgt spid="20992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09923">
                                            <p:txEl>
                                              <p:pRg st="4" end="4"/>
                                            </p:txEl>
                                          </p:spTgt>
                                        </p:tgtEl>
                                        <p:attrNameLst>
                                          <p:attrName>style.visibility</p:attrName>
                                        </p:attrNameLst>
                                      </p:cBhvr>
                                      <p:to>
                                        <p:strVal val="visible"/>
                                      </p:to>
                                    </p:set>
                                    <p:animEffect transition="in" filter="blinds(horizontal)">
                                      <p:cBhvr>
                                        <p:cTn id="32" dur="500"/>
                                        <p:tgtEl>
                                          <p:spTgt spid="209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4" name="Text Box 4"/>
          <p:cNvSpPr txBox="1"/>
          <p:nvPr/>
        </p:nvSpPr>
        <p:spPr>
          <a:xfrm>
            <a:off x="228600" y="228600"/>
            <a:ext cx="3856038" cy="644525"/>
          </a:xfrm>
          <a:prstGeom prst="rect">
            <a:avLst/>
          </a:prstGeom>
          <a:noFill/>
          <a:ln w="9525">
            <a:noFill/>
          </a:ln>
        </p:spPr>
        <p:txBody>
          <a:bodyPr wrap="none" anchor="t" anchorCtr="0">
            <a:spAutoFit/>
          </a:bodyPr>
          <a:lstStyle/>
          <a:p>
            <a:pPr>
              <a:buClrTx/>
              <a:buFontTx/>
            </a:pPr>
            <a:r>
              <a:rPr lang="zh-CN" altLang="en-US" sz="3600" b="1" dirty="0">
                <a:latin typeface="Times New Roman" panose="02020603050405020304" pitchFamily="18" charset="0"/>
                <a:ea typeface="宋体" panose="02010600030101010101" pitchFamily="2" charset="-122"/>
              </a:rPr>
              <a:t>三、总线通信控制</a:t>
            </a:r>
          </a:p>
        </p:txBody>
      </p:sp>
      <p:sp>
        <p:nvSpPr>
          <p:cNvPr id="271365" name="Text Box 5"/>
          <p:cNvSpPr txBox="1"/>
          <p:nvPr/>
        </p:nvSpPr>
        <p:spPr>
          <a:xfrm>
            <a:off x="228600" y="990600"/>
            <a:ext cx="8915400" cy="1198563"/>
          </a:xfrm>
          <a:prstGeom prst="rect">
            <a:avLst/>
          </a:prstGeom>
          <a:noFill/>
          <a:ln w="9525">
            <a:noFill/>
          </a:ln>
        </p:spPr>
        <p:txBody>
          <a:bodyPr anchor="t" anchorCtr="0">
            <a:spAutoFit/>
          </a:bodyPr>
          <a:lstStyle/>
          <a:p>
            <a:pPr>
              <a:spcBef>
                <a:spcPct val="50000"/>
              </a:spcBef>
              <a:buClrTx/>
              <a:buFontTx/>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为了完成一次有效的通信，源设备与目的设备之间需要进行一系列有时序限制的操作。为此，通信双方需要“感知”对方的操作及操作效果，这个“感知”由</a:t>
            </a:r>
            <a:r>
              <a:rPr lang="zh-CN" altLang="en-US" sz="2400" b="1" dirty="0">
                <a:solidFill>
                  <a:srgbClr val="FF0000"/>
                </a:solidFill>
                <a:latin typeface="Arial" panose="020B0604020202020204" pitchFamily="34" charset="0"/>
                <a:ea typeface="宋体" panose="02010600030101010101" pitchFamily="2" charset="-122"/>
              </a:rPr>
              <a:t>总线通信控制</a:t>
            </a:r>
            <a:r>
              <a:rPr lang="zh-CN" altLang="en-US" sz="2400" b="1" dirty="0">
                <a:latin typeface="Arial" panose="020B0604020202020204" pitchFamily="34" charset="0"/>
                <a:ea typeface="宋体" panose="02010600030101010101" pitchFamily="2" charset="-122"/>
              </a:rPr>
              <a:t>来实现的。</a:t>
            </a:r>
          </a:p>
        </p:txBody>
      </p:sp>
      <p:sp>
        <p:nvSpPr>
          <p:cNvPr id="271366" name="Text Box 6"/>
          <p:cNvSpPr txBox="1"/>
          <p:nvPr/>
        </p:nvSpPr>
        <p:spPr>
          <a:xfrm>
            <a:off x="228600" y="2057400"/>
            <a:ext cx="8610600" cy="2589213"/>
          </a:xfrm>
          <a:prstGeom prst="rect">
            <a:avLst/>
          </a:prstGeom>
          <a:noFill/>
          <a:ln w="9525">
            <a:noFill/>
          </a:ln>
        </p:spPr>
        <p:txBody>
          <a:bodyPr anchor="t" anchorCtr="0">
            <a:spAutoFit/>
          </a:bodyPr>
          <a:lstStyle/>
          <a:p>
            <a:pPr eaLnBrk="0" hangingPunct="0">
              <a:lnSpc>
                <a:spcPct val="145000"/>
              </a:lnSpc>
              <a:buClr>
                <a:schemeClr val="tx2"/>
              </a:buClr>
              <a:buSzPct val="90000"/>
              <a:buFont typeface="Monotype Sorts" pitchFamily="2" charset="2"/>
            </a:pP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总线通信控制的方法主要分两大类：</a:t>
            </a:r>
            <a:r>
              <a:rPr lang="zh-CN" altLang="en-US" sz="2800" b="1" dirty="0">
                <a:solidFill>
                  <a:srgbClr val="FF0000"/>
                </a:solidFill>
                <a:latin typeface="Arial" panose="020B0604020202020204" pitchFamily="34" charset="0"/>
                <a:ea typeface="宋体" panose="02010600030101010101" pitchFamily="2" charset="-122"/>
              </a:rPr>
              <a:t>无须感知</a:t>
            </a:r>
            <a:r>
              <a:rPr lang="zh-CN" altLang="en-US" sz="2800" b="1" dirty="0">
                <a:latin typeface="Arial" panose="020B0604020202020204" pitchFamily="34" charset="0"/>
                <a:ea typeface="宋体" panose="02010600030101010101" pitchFamily="2" charset="-122"/>
              </a:rPr>
              <a:t>和</a:t>
            </a:r>
            <a:r>
              <a:rPr lang="zh-CN" altLang="en-US" sz="2800" b="1" dirty="0">
                <a:solidFill>
                  <a:srgbClr val="FF0000"/>
                </a:solidFill>
                <a:latin typeface="Arial" panose="020B0604020202020204" pitchFamily="34" charset="0"/>
                <a:ea typeface="宋体" panose="02010600030101010101" pitchFamily="2" charset="-122"/>
              </a:rPr>
              <a:t>需要感知</a:t>
            </a:r>
            <a:r>
              <a:rPr lang="zh-CN" altLang="en-US" sz="2800" b="1" dirty="0">
                <a:latin typeface="Arial" panose="020B0604020202020204" pitchFamily="34" charset="0"/>
                <a:ea typeface="宋体" panose="02010600030101010101" pitchFamily="2" charset="-122"/>
              </a:rPr>
              <a:t>。无须感知表示通信双方是相互信任的，每一个通信步骤都会在规定的时间内正确完成。如果通信双方不能完全相互信任，那么就需要感知了。</a:t>
            </a:r>
            <a:endParaRPr lang="zh-CN" altLang="en-US" sz="2800" dirty="0">
              <a:latin typeface="Arial" panose="020B0604020202020204" pitchFamily="34" charset="0"/>
              <a:ea typeface="宋体" panose="02010600030101010101" pitchFamily="2" charset="-122"/>
            </a:endParaRPr>
          </a:p>
        </p:txBody>
      </p:sp>
      <p:sp>
        <p:nvSpPr>
          <p:cNvPr id="271367" name="Text Box 7"/>
          <p:cNvSpPr txBox="1"/>
          <p:nvPr/>
        </p:nvSpPr>
        <p:spPr>
          <a:xfrm>
            <a:off x="381000" y="4724400"/>
            <a:ext cx="8229600" cy="1965325"/>
          </a:xfrm>
          <a:prstGeom prst="rect">
            <a:avLst/>
          </a:prstGeom>
          <a:noFill/>
          <a:ln w="9525">
            <a:noFill/>
          </a:ln>
        </p:spPr>
        <p:txBody>
          <a:bodyPr anchor="t" anchorCtr="0">
            <a:spAutoFit/>
          </a:bodyPr>
          <a:lstStyle/>
          <a:p>
            <a:pPr eaLnBrk="0" hangingPunct="0">
              <a:lnSpc>
                <a:spcPct val="145000"/>
              </a:lnSpc>
              <a:buClr>
                <a:schemeClr val="tx2"/>
              </a:buClr>
              <a:buSzPct val="90000"/>
              <a:buFont typeface="Monotype Sorts" pitchFamily="2" charset="2"/>
            </a:pP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基于“无须感知”观点进行总线通信控制的通信称为</a:t>
            </a:r>
            <a:r>
              <a:rPr lang="zh-CN" altLang="en-US" sz="2800" b="1" dirty="0">
                <a:solidFill>
                  <a:srgbClr val="FF0000"/>
                </a:solidFill>
                <a:latin typeface="Arial" panose="020B0604020202020204" pitchFamily="34" charset="0"/>
                <a:ea typeface="宋体" panose="02010600030101010101" pitchFamily="2" charset="-122"/>
              </a:rPr>
              <a:t>同步通信</a:t>
            </a:r>
            <a:r>
              <a:rPr lang="zh-CN" altLang="en-US" sz="2800" b="1" dirty="0">
                <a:latin typeface="Arial" panose="020B0604020202020204" pitchFamily="34" charset="0"/>
                <a:ea typeface="宋体" panose="02010600030101010101" pitchFamily="2" charset="-122"/>
              </a:rPr>
              <a:t>，基于“需要感知”观点进行总线通信控制的通信称为</a:t>
            </a:r>
            <a:r>
              <a:rPr lang="zh-CN" altLang="en-US" sz="2800" b="1" dirty="0">
                <a:solidFill>
                  <a:srgbClr val="FF0000"/>
                </a:solidFill>
                <a:latin typeface="Arial" panose="020B0604020202020204" pitchFamily="34" charset="0"/>
                <a:ea typeface="宋体" panose="02010600030101010101" pitchFamily="2" charset="-122"/>
              </a:rPr>
              <a:t>异步通信</a:t>
            </a:r>
            <a:r>
              <a:rPr lang="zh-CN" altLang="en-US" sz="2800" b="1" dirty="0">
                <a:latin typeface="Arial" panose="020B0604020202020204" pitchFamily="34" charset="0"/>
                <a:ea typeface="宋体" panose="02010600030101010101" pitchFamily="2" charset="-122"/>
              </a:rPr>
              <a:t>。</a:t>
            </a:r>
            <a:endParaRPr lang="zh-CN" altLang="en-US" sz="28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364"/>
                                        </p:tgtEl>
                                        <p:attrNameLst>
                                          <p:attrName>style.visibility</p:attrName>
                                        </p:attrNameLst>
                                      </p:cBhvr>
                                      <p:to>
                                        <p:strVal val="visible"/>
                                      </p:to>
                                    </p:set>
                                    <p:animEffect transition="in" filter="blinds(horizontal)">
                                      <p:cBhvr>
                                        <p:cTn id="7" dur="500"/>
                                        <p:tgtEl>
                                          <p:spTgt spid="2713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1365"/>
                                        </p:tgtEl>
                                        <p:attrNameLst>
                                          <p:attrName>style.visibility</p:attrName>
                                        </p:attrNameLst>
                                      </p:cBhvr>
                                      <p:to>
                                        <p:strVal val="visible"/>
                                      </p:to>
                                    </p:set>
                                    <p:animEffect transition="in" filter="blinds(horizontal)">
                                      <p:cBhvr>
                                        <p:cTn id="12" dur="500"/>
                                        <p:tgtEl>
                                          <p:spTgt spid="2713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1366"/>
                                        </p:tgtEl>
                                        <p:attrNameLst>
                                          <p:attrName>style.visibility</p:attrName>
                                        </p:attrNameLst>
                                      </p:cBhvr>
                                      <p:to>
                                        <p:strVal val="visible"/>
                                      </p:to>
                                    </p:set>
                                    <p:animEffect transition="in" filter="blinds(horizontal)">
                                      <p:cBhvr>
                                        <p:cTn id="17" dur="500"/>
                                        <p:tgtEl>
                                          <p:spTgt spid="27136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1367"/>
                                        </p:tgtEl>
                                        <p:attrNameLst>
                                          <p:attrName>style.visibility</p:attrName>
                                        </p:attrNameLst>
                                      </p:cBhvr>
                                      <p:to>
                                        <p:strVal val="visible"/>
                                      </p:to>
                                    </p:set>
                                    <p:animEffect transition="in" filter="blinds(horizontal)">
                                      <p:cBhvr>
                                        <p:cTn id="22" dur="500"/>
                                        <p:tgtEl>
                                          <p:spTgt spid="271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4" grpId="0"/>
      <p:bldP spid="271365" grpId="0"/>
      <p:bldP spid="271366" grpId="0"/>
      <p:bldP spid="27136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p:cNvSpPr txBox="1"/>
          <p:nvPr/>
        </p:nvSpPr>
        <p:spPr>
          <a:xfrm>
            <a:off x="79375" y="533400"/>
            <a:ext cx="3854450" cy="641350"/>
          </a:xfrm>
          <a:prstGeom prst="rect">
            <a:avLst/>
          </a:prstGeom>
          <a:noFill/>
          <a:ln w="9525">
            <a:noFill/>
          </a:ln>
        </p:spPr>
        <p:txBody>
          <a:bodyPr wrap="none" anchor="t" anchorCtr="0">
            <a:spAutoFit/>
          </a:bodyPr>
          <a:lstStyle/>
          <a:p>
            <a:pPr>
              <a:buClrTx/>
              <a:buFontTx/>
            </a:pPr>
            <a:r>
              <a:rPr lang="zh-CN" altLang="en-US" sz="3600" b="1" dirty="0">
                <a:latin typeface="Times New Roman" panose="02020603050405020304" pitchFamily="18" charset="0"/>
                <a:ea typeface="宋体" panose="02010600030101010101" pitchFamily="2" charset="-122"/>
              </a:rPr>
              <a:t>三、总线通信控制</a:t>
            </a:r>
          </a:p>
        </p:txBody>
      </p:sp>
      <p:sp>
        <p:nvSpPr>
          <p:cNvPr id="210947" name="Text Box 3"/>
          <p:cNvSpPr txBox="1"/>
          <p:nvPr/>
        </p:nvSpPr>
        <p:spPr>
          <a:xfrm>
            <a:off x="365125" y="1398588"/>
            <a:ext cx="1406525" cy="579437"/>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1. </a:t>
            </a:r>
            <a:r>
              <a:rPr lang="zh-CN" altLang="en-US" sz="3200" b="1" dirty="0">
                <a:latin typeface="Times New Roman" panose="02020603050405020304" pitchFamily="18" charset="0"/>
                <a:ea typeface="宋体" panose="02010600030101010101" pitchFamily="2" charset="-122"/>
              </a:rPr>
              <a:t>目的</a:t>
            </a:r>
          </a:p>
        </p:txBody>
      </p:sp>
      <p:sp>
        <p:nvSpPr>
          <p:cNvPr id="210948" name="Text Box 4"/>
          <p:cNvSpPr txBox="1"/>
          <p:nvPr/>
        </p:nvSpPr>
        <p:spPr>
          <a:xfrm>
            <a:off x="365125" y="2316163"/>
            <a:ext cx="3038475" cy="579437"/>
          </a:xfrm>
          <a:prstGeom prst="rect">
            <a:avLst/>
          </a:prstGeom>
          <a:noFill/>
          <a:ln w="9525">
            <a:noFill/>
          </a:ln>
        </p:spPr>
        <p:txBody>
          <a:bodyPr wrap="none"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2. </a:t>
            </a:r>
            <a:r>
              <a:rPr lang="zh-CN" altLang="en-US" sz="3200" b="1" dirty="0">
                <a:latin typeface="Times New Roman" panose="02020603050405020304" pitchFamily="18" charset="0"/>
                <a:ea typeface="宋体" panose="02010600030101010101" pitchFamily="2" charset="-122"/>
              </a:rPr>
              <a:t>总线传输周期</a:t>
            </a:r>
          </a:p>
        </p:txBody>
      </p:sp>
      <p:sp>
        <p:nvSpPr>
          <p:cNvPr id="210949" name="Text Box 5"/>
          <p:cNvSpPr txBox="1"/>
          <p:nvPr/>
        </p:nvSpPr>
        <p:spPr>
          <a:xfrm>
            <a:off x="3203575" y="3138488"/>
            <a:ext cx="5410200" cy="519112"/>
          </a:xfrm>
          <a:prstGeom prst="rect">
            <a:avLst/>
          </a:prstGeom>
          <a:noFill/>
          <a:ln w="9525">
            <a:noFill/>
          </a:ln>
        </p:spPr>
        <p:txBody>
          <a:bodyPr anchor="t" anchorCtr="0">
            <a:spAutoFit/>
          </a:bodyPr>
          <a:lstStyle/>
          <a:p>
            <a:pPr>
              <a:spcBef>
                <a:spcPct val="50000"/>
              </a:spcBef>
              <a:buClrTx/>
              <a:buFontTx/>
            </a:pPr>
            <a:r>
              <a:rPr lang="zh-CN" altLang="en-US" sz="2800" b="1" dirty="0">
                <a:solidFill>
                  <a:srgbClr val="FF0000"/>
                </a:solidFill>
                <a:latin typeface="Times New Roman" panose="02020603050405020304" pitchFamily="18" charset="0"/>
                <a:ea typeface="宋体" panose="02010600030101010101" pitchFamily="2" charset="-122"/>
              </a:rPr>
              <a:t>主模块申请，</a:t>
            </a:r>
            <a:r>
              <a:rPr lang="zh-CN" altLang="en-US" sz="2800" b="1" dirty="0">
                <a:latin typeface="Times New Roman" panose="02020603050405020304" pitchFamily="18" charset="0"/>
                <a:ea typeface="宋体" panose="02010600030101010101" pitchFamily="2" charset="-122"/>
              </a:rPr>
              <a:t>总线仲裁决定</a:t>
            </a:r>
          </a:p>
        </p:txBody>
      </p:sp>
      <p:sp>
        <p:nvSpPr>
          <p:cNvPr id="210950" name="Text Box 6"/>
          <p:cNvSpPr txBox="1"/>
          <p:nvPr/>
        </p:nvSpPr>
        <p:spPr>
          <a:xfrm>
            <a:off x="3203575" y="3994150"/>
            <a:ext cx="6553200" cy="519113"/>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主模块向从模块 </a:t>
            </a:r>
            <a:r>
              <a:rPr lang="zh-CN" altLang="en-US" sz="2800" b="1" dirty="0">
                <a:solidFill>
                  <a:srgbClr val="FF0000"/>
                </a:solidFill>
                <a:latin typeface="Times New Roman" panose="02020603050405020304" pitchFamily="18" charset="0"/>
                <a:ea typeface="宋体" panose="02010600030101010101" pitchFamily="2" charset="-122"/>
              </a:rPr>
              <a:t>给出地址</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和 </a:t>
            </a:r>
            <a:r>
              <a:rPr lang="zh-CN" altLang="en-US" sz="2800" b="1" dirty="0">
                <a:solidFill>
                  <a:srgbClr val="FF0000"/>
                </a:solidFill>
                <a:latin typeface="Times New Roman" panose="02020603050405020304" pitchFamily="18" charset="0"/>
                <a:ea typeface="宋体" panose="02010600030101010101" pitchFamily="2" charset="-122"/>
              </a:rPr>
              <a:t>命令</a:t>
            </a:r>
          </a:p>
        </p:txBody>
      </p:sp>
      <p:sp>
        <p:nvSpPr>
          <p:cNvPr id="210951" name="Text Box 7"/>
          <p:cNvSpPr txBox="1"/>
          <p:nvPr/>
        </p:nvSpPr>
        <p:spPr>
          <a:xfrm>
            <a:off x="3203575" y="4843463"/>
            <a:ext cx="6553200" cy="519112"/>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主模块和从模块 </a:t>
            </a:r>
            <a:r>
              <a:rPr lang="zh-CN" altLang="en-US" sz="2800" b="1" dirty="0">
                <a:solidFill>
                  <a:srgbClr val="FF0000"/>
                </a:solidFill>
                <a:latin typeface="Times New Roman" panose="02020603050405020304" pitchFamily="18" charset="0"/>
                <a:ea typeface="宋体" panose="02010600030101010101" pitchFamily="2" charset="-122"/>
              </a:rPr>
              <a:t>交换数据</a:t>
            </a:r>
          </a:p>
        </p:txBody>
      </p:sp>
      <p:sp>
        <p:nvSpPr>
          <p:cNvPr id="210952" name="Text Box 8"/>
          <p:cNvSpPr txBox="1"/>
          <p:nvPr/>
        </p:nvSpPr>
        <p:spPr>
          <a:xfrm>
            <a:off x="3203575" y="5681663"/>
            <a:ext cx="6553200" cy="519112"/>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主模块 </a:t>
            </a:r>
            <a:r>
              <a:rPr lang="zh-CN" altLang="en-US" sz="2800" b="1" dirty="0">
                <a:solidFill>
                  <a:srgbClr val="FF0000"/>
                </a:solidFill>
                <a:latin typeface="Times New Roman" panose="02020603050405020304" pitchFamily="18" charset="0"/>
                <a:ea typeface="宋体" panose="02010600030101010101" pitchFamily="2" charset="-122"/>
              </a:rPr>
              <a:t>撤销有关信息</a:t>
            </a:r>
            <a:r>
              <a:rPr lang="zh-CN" altLang="en-US" sz="2800" b="1" dirty="0">
                <a:solidFill>
                  <a:schemeClr val="folHlink"/>
                </a:solidFill>
                <a:latin typeface="Times New Roman" panose="02020603050405020304" pitchFamily="18" charset="0"/>
                <a:ea typeface="宋体" panose="02010600030101010101" pitchFamily="2" charset="-122"/>
              </a:rPr>
              <a:t> </a:t>
            </a:r>
          </a:p>
        </p:txBody>
      </p:sp>
      <p:grpSp>
        <p:nvGrpSpPr>
          <p:cNvPr id="210953" name="Group 9"/>
          <p:cNvGrpSpPr/>
          <p:nvPr/>
        </p:nvGrpSpPr>
        <p:grpSpPr>
          <a:xfrm>
            <a:off x="688975" y="3138488"/>
            <a:ext cx="3200400" cy="3033712"/>
            <a:chOff x="624" y="1977"/>
            <a:chExt cx="2016" cy="1911"/>
          </a:xfrm>
        </p:grpSpPr>
        <p:sp>
          <p:nvSpPr>
            <p:cNvPr id="27657" name="Text Box 10"/>
            <p:cNvSpPr txBox="1"/>
            <p:nvPr/>
          </p:nvSpPr>
          <p:spPr>
            <a:xfrm>
              <a:off x="624" y="1977"/>
              <a:ext cx="2016" cy="327"/>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申请分配阶段</a:t>
              </a:r>
            </a:p>
          </p:txBody>
        </p:sp>
        <p:sp>
          <p:nvSpPr>
            <p:cNvPr id="27658" name="Text Box 11"/>
            <p:cNvSpPr txBox="1"/>
            <p:nvPr/>
          </p:nvSpPr>
          <p:spPr>
            <a:xfrm>
              <a:off x="624" y="2505"/>
              <a:ext cx="1728" cy="327"/>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寻址阶段</a:t>
              </a:r>
            </a:p>
          </p:txBody>
        </p:sp>
        <p:sp>
          <p:nvSpPr>
            <p:cNvPr id="27659" name="Text Box 12"/>
            <p:cNvSpPr txBox="1"/>
            <p:nvPr/>
          </p:nvSpPr>
          <p:spPr>
            <a:xfrm>
              <a:off x="624" y="3033"/>
              <a:ext cx="1440" cy="327"/>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传数阶段</a:t>
              </a:r>
            </a:p>
          </p:txBody>
        </p:sp>
        <p:sp>
          <p:nvSpPr>
            <p:cNvPr id="27660" name="Text Box 13"/>
            <p:cNvSpPr txBox="1"/>
            <p:nvPr/>
          </p:nvSpPr>
          <p:spPr>
            <a:xfrm>
              <a:off x="624" y="3561"/>
              <a:ext cx="1392" cy="327"/>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结束阶段</a:t>
              </a:r>
              <a:endParaRPr lang="zh-CN" altLang="en-US" sz="2800" dirty="0">
                <a:latin typeface="Times New Roman" panose="02020603050405020304" pitchFamily="18" charset="0"/>
                <a:ea typeface="宋体" panose="02010600030101010101" pitchFamily="2" charset="-122"/>
              </a:endParaRPr>
            </a:p>
          </p:txBody>
        </p:sp>
      </p:grpSp>
      <p:sp>
        <p:nvSpPr>
          <p:cNvPr id="210958" name="AutoShape 14"/>
          <p:cNvSpPr/>
          <p:nvPr/>
        </p:nvSpPr>
        <p:spPr>
          <a:xfrm>
            <a:off x="384175" y="3429000"/>
            <a:ext cx="228600" cy="2590800"/>
          </a:xfrm>
          <a:prstGeom prst="leftBrace">
            <a:avLst>
              <a:gd name="adj1" fmla="val 94287"/>
              <a:gd name="adj2" fmla="val 49264"/>
            </a:avLst>
          </a:prstGeom>
          <a:noFill/>
          <a:ln w="3810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10959" name="Text Box 15"/>
          <p:cNvSpPr txBox="1"/>
          <p:nvPr/>
        </p:nvSpPr>
        <p:spPr>
          <a:xfrm>
            <a:off x="1908175" y="1428750"/>
            <a:ext cx="5638800" cy="519113"/>
          </a:xfrm>
          <a:prstGeom prst="rect">
            <a:avLst/>
          </a:prstGeom>
          <a:noFill/>
          <a:ln w="38100">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解决通信双方 </a:t>
            </a:r>
            <a:r>
              <a:rPr lang="zh-CN" altLang="en-US" sz="2800" b="1" dirty="0">
                <a:solidFill>
                  <a:srgbClr val="FF0000"/>
                </a:solidFill>
                <a:latin typeface="Times New Roman" panose="02020603050405020304" pitchFamily="18" charset="0"/>
                <a:ea typeface="宋体" panose="02010600030101010101" pitchFamily="2" charset="-122"/>
              </a:rPr>
              <a:t>协调配合</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0946"/>
                                        </p:tgtEl>
                                        <p:attrNameLst>
                                          <p:attrName>style.visibility</p:attrName>
                                        </p:attrNameLst>
                                      </p:cBhvr>
                                      <p:to>
                                        <p:strVal val="visible"/>
                                      </p:to>
                                    </p:set>
                                    <p:animEffect transition="in" filter="blinds(horizontal)">
                                      <p:cBhvr>
                                        <p:cTn id="7" dur="500"/>
                                        <p:tgtEl>
                                          <p:spTgt spid="2109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0947"/>
                                        </p:tgtEl>
                                        <p:attrNameLst>
                                          <p:attrName>style.visibility</p:attrName>
                                        </p:attrNameLst>
                                      </p:cBhvr>
                                      <p:to>
                                        <p:strVal val="visible"/>
                                      </p:to>
                                    </p:set>
                                    <p:animEffect transition="in" filter="blinds(horizontal)">
                                      <p:cBhvr>
                                        <p:cTn id="12" dur="500"/>
                                        <p:tgtEl>
                                          <p:spTgt spid="2109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0959"/>
                                        </p:tgtEl>
                                        <p:attrNameLst>
                                          <p:attrName>style.visibility</p:attrName>
                                        </p:attrNameLst>
                                      </p:cBhvr>
                                      <p:to>
                                        <p:strVal val="visible"/>
                                      </p:to>
                                    </p:set>
                                    <p:animEffect transition="in" filter="blinds(horizontal)">
                                      <p:cBhvr>
                                        <p:cTn id="17" dur="500"/>
                                        <p:tgtEl>
                                          <p:spTgt spid="21095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0948"/>
                                        </p:tgtEl>
                                        <p:attrNameLst>
                                          <p:attrName>style.visibility</p:attrName>
                                        </p:attrNameLst>
                                      </p:cBhvr>
                                      <p:to>
                                        <p:strVal val="visible"/>
                                      </p:to>
                                    </p:set>
                                    <p:animEffect transition="in" filter="blinds(horizontal)">
                                      <p:cBhvr>
                                        <p:cTn id="22" dur="500"/>
                                        <p:tgtEl>
                                          <p:spTgt spid="21094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0958"/>
                                        </p:tgtEl>
                                        <p:attrNameLst>
                                          <p:attrName>style.visibility</p:attrName>
                                        </p:attrNameLst>
                                      </p:cBhvr>
                                      <p:to>
                                        <p:strVal val="visible"/>
                                      </p:to>
                                    </p:set>
                                    <p:animEffect transition="in" filter="blinds(horizontal)">
                                      <p:cBhvr>
                                        <p:cTn id="27" dur="500"/>
                                        <p:tgtEl>
                                          <p:spTgt spid="21095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0953"/>
                                        </p:tgtEl>
                                        <p:attrNameLst>
                                          <p:attrName>style.visibility</p:attrName>
                                        </p:attrNameLst>
                                      </p:cBhvr>
                                      <p:to>
                                        <p:strVal val="visible"/>
                                      </p:to>
                                    </p:set>
                                    <p:animEffect transition="in" filter="blinds(horizontal)">
                                      <p:cBhvr>
                                        <p:cTn id="32" dur="500"/>
                                        <p:tgtEl>
                                          <p:spTgt spid="21095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0949"/>
                                        </p:tgtEl>
                                        <p:attrNameLst>
                                          <p:attrName>style.visibility</p:attrName>
                                        </p:attrNameLst>
                                      </p:cBhvr>
                                      <p:to>
                                        <p:strVal val="visible"/>
                                      </p:to>
                                    </p:set>
                                    <p:animEffect transition="in" filter="blinds(horizontal)">
                                      <p:cBhvr>
                                        <p:cTn id="37" dur="500"/>
                                        <p:tgtEl>
                                          <p:spTgt spid="21094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0950"/>
                                        </p:tgtEl>
                                        <p:attrNameLst>
                                          <p:attrName>style.visibility</p:attrName>
                                        </p:attrNameLst>
                                      </p:cBhvr>
                                      <p:to>
                                        <p:strVal val="visible"/>
                                      </p:to>
                                    </p:set>
                                    <p:animEffect transition="in" filter="blinds(horizontal)">
                                      <p:cBhvr>
                                        <p:cTn id="42" dur="500"/>
                                        <p:tgtEl>
                                          <p:spTgt spid="21095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0951"/>
                                        </p:tgtEl>
                                        <p:attrNameLst>
                                          <p:attrName>style.visibility</p:attrName>
                                        </p:attrNameLst>
                                      </p:cBhvr>
                                      <p:to>
                                        <p:strVal val="visible"/>
                                      </p:to>
                                    </p:set>
                                    <p:animEffect transition="in" filter="blinds(horizontal)">
                                      <p:cBhvr>
                                        <p:cTn id="47" dur="500"/>
                                        <p:tgtEl>
                                          <p:spTgt spid="21095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10952"/>
                                        </p:tgtEl>
                                        <p:attrNameLst>
                                          <p:attrName>style.visibility</p:attrName>
                                        </p:attrNameLst>
                                      </p:cBhvr>
                                      <p:to>
                                        <p:strVal val="visible"/>
                                      </p:to>
                                    </p:set>
                                    <p:animEffect transition="in" filter="blinds(horizontal)">
                                      <p:cBhvr>
                                        <p:cTn id="52" dur="500"/>
                                        <p:tgtEl>
                                          <p:spTgt spid="210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p:bldP spid="210947" grpId="0"/>
      <p:bldP spid="210948" grpId="0"/>
      <p:bldP spid="210949" grpId="0"/>
      <p:bldP spid="210950" grpId="0"/>
      <p:bldP spid="210951" grpId="0"/>
      <p:bldP spid="210952" grpId="0"/>
      <p:bldP spid="210958" grpId="0" bldLvl="0" animBg="1"/>
      <p:bldP spid="21095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Text Box 3"/>
          <p:cNvSpPr txBox="1"/>
          <p:nvPr/>
        </p:nvSpPr>
        <p:spPr>
          <a:xfrm>
            <a:off x="0" y="685800"/>
            <a:ext cx="9601200" cy="5384800"/>
          </a:xfrm>
          <a:prstGeom prst="rect">
            <a:avLst/>
          </a:prstGeom>
          <a:noFill/>
          <a:ln w="9525">
            <a:noFill/>
          </a:ln>
        </p:spPr>
        <p:txBody>
          <a:bodyPr anchor="t" anchorCtr="0">
            <a:spAutoFit/>
          </a:bodyPr>
          <a:lstStyle/>
          <a:p>
            <a:pPr>
              <a:buClrTx/>
              <a:buFontTx/>
            </a:pPr>
            <a:r>
              <a:rPr lang="zh-CN" altLang="en-US" sz="3200" b="1" dirty="0">
                <a:latin typeface="Arial" panose="020B0604020202020204" pitchFamily="34" charset="0"/>
                <a:ea typeface="宋体" panose="02010600030101010101" pitchFamily="2" charset="-122"/>
              </a:rPr>
              <a:t>总线周期的概念：</a:t>
            </a:r>
          </a:p>
          <a:p>
            <a:pPr>
              <a:buClrTx/>
              <a:buFontTx/>
            </a:pPr>
            <a:r>
              <a:rPr lang="zh-CN" altLang="en-US" sz="3200" b="1" dirty="0">
                <a:latin typeface="Arial" panose="020B0604020202020204" pitchFamily="34" charset="0"/>
                <a:ea typeface="宋体" panose="02010600030101010101" pitchFamily="2" charset="-122"/>
              </a:rPr>
              <a:t>   一次完整的总线传送操作所需时间称为总线周期。</a:t>
            </a:r>
            <a:endParaRPr lang="zh-CN" altLang="en-US" sz="3200" dirty="0">
              <a:latin typeface="Arial" panose="020B0604020202020204" pitchFamily="34" charset="0"/>
              <a:ea typeface="宋体" panose="02010600030101010101" pitchFamily="2" charset="-122"/>
            </a:endParaRPr>
          </a:p>
          <a:p>
            <a:pPr>
              <a:buClrTx/>
              <a:buFontTx/>
            </a:pPr>
            <a:r>
              <a:rPr lang="zh-CN" altLang="en-US"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总线周期的基本类型</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内存读   内存写  外设读  外设写</a:t>
            </a:r>
          </a:p>
          <a:p>
            <a:pPr>
              <a:buClrTx/>
              <a:buFontTx/>
            </a:pPr>
            <a:r>
              <a:rPr lang="zh-CN" altLang="en-US" sz="2800" b="1" dirty="0">
                <a:latin typeface="Arial" panose="020B0604020202020204" pitchFamily="34" charset="0"/>
                <a:ea typeface="宋体" panose="02010600030101010101" pitchFamily="2" charset="-122"/>
              </a:rPr>
              <a:t>   正常总线周期：由一次地址传送时间和一次数据传送时</a:t>
            </a:r>
          </a:p>
          <a:p>
            <a:pPr>
              <a:buClrTx/>
              <a:buFontTx/>
            </a:pPr>
            <a:r>
              <a:rPr lang="zh-CN" altLang="en-US" sz="2800" b="1" dirty="0">
                <a:latin typeface="Arial" panose="020B0604020202020204" pitchFamily="34" charset="0"/>
                <a:ea typeface="宋体" panose="02010600030101010101" pitchFamily="2" charset="-122"/>
              </a:rPr>
              <a:t>间组成 。 </a:t>
            </a:r>
          </a:p>
          <a:p>
            <a:pPr>
              <a:buClrTx/>
              <a:buFontTx/>
            </a:pPr>
            <a:r>
              <a:rPr lang="zh-CN" altLang="en-US" sz="2800" b="1" dirty="0">
                <a:latin typeface="Arial" panose="020B0604020202020204" pitchFamily="34"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BURST</a:t>
            </a:r>
            <a:r>
              <a:rPr lang="zh-CN" altLang="en-US" sz="2800" b="1" dirty="0">
                <a:latin typeface="Arial" panose="020B0604020202020204" pitchFamily="34" charset="0"/>
                <a:ea typeface="宋体" panose="02010600030101010101" pitchFamily="2" charset="-122"/>
              </a:rPr>
              <a:t>（猝发）总线周期：由一次地址传送时间和多次</a:t>
            </a:r>
          </a:p>
          <a:p>
            <a:pPr>
              <a:buClrTx/>
              <a:buFontTx/>
            </a:pPr>
            <a:r>
              <a:rPr lang="zh-CN" altLang="en-US" sz="2800" b="1" dirty="0">
                <a:latin typeface="Arial" panose="020B0604020202020204" pitchFamily="34" charset="0"/>
                <a:ea typeface="宋体" panose="02010600030101010101" pitchFamily="2" charset="-122"/>
              </a:rPr>
              <a:t>数据传送时间组成。</a:t>
            </a:r>
            <a:endParaRPr lang="zh-CN" altLang="en-US" sz="2800" b="1" u="sng" dirty="0">
              <a:latin typeface="Arial" panose="020B0604020202020204" pitchFamily="34" charset="0"/>
              <a:ea typeface="宋体" panose="02010600030101010101" pitchFamily="2" charset="-122"/>
            </a:endParaRPr>
          </a:p>
          <a:p>
            <a:pPr>
              <a:buClrTx/>
              <a:buFontTx/>
            </a:pPr>
            <a:r>
              <a:rPr lang="zh-CN" altLang="en-US" sz="2800" b="1" u="sng" dirty="0">
                <a:solidFill>
                  <a:srgbClr val="FF0000"/>
                </a:solidFill>
                <a:latin typeface="Arial" panose="020B0604020202020204" pitchFamily="34" charset="0"/>
                <a:ea typeface="宋体" panose="02010600030101010101" pitchFamily="2" charset="-122"/>
              </a:rPr>
              <a:t>总线上数据的读</a:t>
            </a:r>
            <a:r>
              <a:rPr lang="en-US" altLang="zh-CN" sz="2800" b="1" u="sng" dirty="0">
                <a:solidFill>
                  <a:srgbClr val="FF0000"/>
                </a:solidFill>
                <a:latin typeface="Arial" panose="020B0604020202020204" pitchFamily="34" charset="0"/>
                <a:ea typeface="宋体" panose="02010600030101010101" pitchFamily="2" charset="-122"/>
              </a:rPr>
              <a:t>/</a:t>
            </a:r>
            <a:r>
              <a:rPr lang="zh-CN" altLang="en-US" sz="2800" b="1" u="sng" dirty="0">
                <a:solidFill>
                  <a:srgbClr val="FF0000"/>
                </a:solidFill>
                <a:latin typeface="Arial" panose="020B0604020202020204" pitchFamily="34" charset="0"/>
                <a:ea typeface="宋体" panose="02010600030101010101" pitchFamily="2" charset="-122"/>
              </a:rPr>
              <a:t>写方向是相对于主模块而言的，即：</a:t>
            </a:r>
            <a:endParaRPr lang="zh-CN" altLang="en-US" sz="2800" dirty="0">
              <a:latin typeface="Arial" panose="020B0604020202020204" pitchFamily="34" charset="0"/>
              <a:ea typeface="宋体" panose="02010600030101010101" pitchFamily="2" charset="-122"/>
            </a:endParaRPr>
          </a:p>
          <a:p>
            <a:pPr>
              <a:buClrTx/>
              <a:buFontTx/>
            </a:pPr>
            <a:r>
              <a:rPr lang="zh-CN" altLang="en-US" sz="2800" b="1" dirty="0">
                <a:latin typeface="Arial" panose="020B0604020202020204" pitchFamily="34" charset="0"/>
                <a:ea typeface="宋体" panose="02010600030101010101" pitchFamily="2" charset="-122"/>
              </a:rPr>
              <a:t>读：由从模块发送，主模块接收。即从主模块的角度看是</a:t>
            </a:r>
          </a:p>
          <a:p>
            <a:pPr>
              <a:buClrTx/>
              <a:buFontTx/>
            </a:pPr>
            <a:r>
              <a:rPr lang="zh-CN" altLang="en-US" sz="2800" b="1" dirty="0">
                <a:latin typeface="Arial" panose="020B0604020202020204" pitchFamily="34" charset="0"/>
                <a:ea typeface="宋体" panose="02010600030101010101" pitchFamily="2" charset="-122"/>
              </a:rPr>
              <a:t>读入（接收）；</a:t>
            </a:r>
          </a:p>
          <a:p>
            <a:pPr>
              <a:buClrTx/>
              <a:buFontTx/>
            </a:pPr>
            <a:r>
              <a:rPr lang="zh-CN" altLang="en-US" sz="2800" b="1" dirty="0">
                <a:latin typeface="Arial" panose="020B0604020202020204" pitchFamily="34" charset="0"/>
                <a:ea typeface="宋体" panose="02010600030101010101" pitchFamily="2" charset="-122"/>
              </a:rPr>
              <a:t> 写：由主模块发送，从模块接收。即从主模块的角度看是</a:t>
            </a:r>
          </a:p>
          <a:p>
            <a:pPr>
              <a:buClrTx/>
              <a:buFontTx/>
            </a:pPr>
            <a:r>
              <a:rPr lang="zh-CN" altLang="en-US" sz="2800" b="1" dirty="0">
                <a:latin typeface="Arial" panose="020B0604020202020204" pitchFamily="34" charset="0"/>
                <a:ea typeface="宋体" panose="02010600030101010101" pitchFamily="2" charset="-122"/>
              </a:rPr>
              <a:t>向对方写（发送）。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2995">
                                            <p:txEl>
                                              <p:pRg st="0" end="0"/>
                                            </p:txEl>
                                          </p:spTgt>
                                        </p:tgtEl>
                                        <p:attrNameLst>
                                          <p:attrName>style.visibility</p:attrName>
                                        </p:attrNameLst>
                                      </p:cBhvr>
                                      <p:to>
                                        <p:strVal val="visible"/>
                                      </p:to>
                                    </p:set>
                                    <p:animEffect transition="in" filter="blinds(horizontal)">
                                      <p:cBhvr>
                                        <p:cTn id="7" dur="500"/>
                                        <p:tgtEl>
                                          <p:spTgt spid="212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2995">
                                            <p:txEl>
                                              <p:pRg st="1" end="1"/>
                                            </p:txEl>
                                          </p:spTgt>
                                        </p:tgtEl>
                                        <p:attrNameLst>
                                          <p:attrName>style.visibility</p:attrName>
                                        </p:attrNameLst>
                                      </p:cBhvr>
                                      <p:to>
                                        <p:strVal val="visible"/>
                                      </p:to>
                                    </p:set>
                                    <p:animEffect transition="in" filter="blinds(horizontal)">
                                      <p:cBhvr>
                                        <p:cTn id="12" dur="500"/>
                                        <p:tgtEl>
                                          <p:spTgt spid="2129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2995">
                                            <p:txEl>
                                              <p:pRg st="2" end="2"/>
                                            </p:txEl>
                                          </p:spTgt>
                                        </p:tgtEl>
                                        <p:attrNameLst>
                                          <p:attrName>style.visibility</p:attrName>
                                        </p:attrNameLst>
                                      </p:cBhvr>
                                      <p:to>
                                        <p:strVal val="visible"/>
                                      </p:to>
                                    </p:set>
                                    <p:animEffect transition="in" filter="blinds(horizontal)">
                                      <p:cBhvr>
                                        <p:cTn id="17" dur="500"/>
                                        <p:tgtEl>
                                          <p:spTgt spid="2129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2995">
                                            <p:txEl>
                                              <p:pRg st="3" end="3"/>
                                            </p:txEl>
                                          </p:spTgt>
                                        </p:tgtEl>
                                        <p:attrNameLst>
                                          <p:attrName>style.visibility</p:attrName>
                                        </p:attrNameLst>
                                      </p:cBhvr>
                                      <p:to>
                                        <p:strVal val="visible"/>
                                      </p:to>
                                    </p:set>
                                    <p:animEffect transition="in" filter="blinds(horizontal)">
                                      <p:cBhvr>
                                        <p:cTn id="22" dur="500"/>
                                        <p:tgtEl>
                                          <p:spTgt spid="212995">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12995">
                                            <p:txEl>
                                              <p:pRg st="4" end="4"/>
                                            </p:txEl>
                                          </p:spTgt>
                                        </p:tgtEl>
                                        <p:attrNameLst>
                                          <p:attrName>style.visibility</p:attrName>
                                        </p:attrNameLst>
                                      </p:cBhvr>
                                      <p:to>
                                        <p:strVal val="visible"/>
                                      </p:to>
                                    </p:set>
                                    <p:animEffect transition="in" filter="blinds(horizontal)">
                                      <p:cBhvr>
                                        <p:cTn id="25" dur="500"/>
                                        <p:tgtEl>
                                          <p:spTgt spid="21299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12995">
                                            <p:txEl>
                                              <p:pRg st="5" end="5"/>
                                            </p:txEl>
                                          </p:spTgt>
                                        </p:tgtEl>
                                        <p:attrNameLst>
                                          <p:attrName>style.visibility</p:attrName>
                                        </p:attrNameLst>
                                      </p:cBhvr>
                                      <p:to>
                                        <p:strVal val="visible"/>
                                      </p:to>
                                    </p:set>
                                    <p:animEffect transition="in" filter="blinds(horizontal)">
                                      <p:cBhvr>
                                        <p:cTn id="30" dur="500"/>
                                        <p:tgtEl>
                                          <p:spTgt spid="212995">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212995">
                                            <p:txEl>
                                              <p:pRg st="6" end="6"/>
                                            </p:txEl>
                                          </p:spTgt>
                                        </p:tgtEl>
                                        <p:attrNameLst>
                                          <p:attrName>style.visibility</p:attrName>
                                        </p:attrNameLst>
                                      </p:cBhvr>
                                      <p:to>
                                        <p:strVal val="visible"/>
                                      </p:to>
                                    </p:set>
                                    <p:animEffect transition="in" filter="blinds(horizontal)">
                                      <p:cBhvr>
                                        <p:cTn id="33" dur="500"/>
                                        <p:tgtEl>
                                          <p:spTgt spid="21299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12995">
                                            <p:txEl>
                                              <p:pRg st="7" end="7"/>
                                            </p:txEl>
                                          </p:spTgt>
                                        </p:tgtEl>
                                        <p:attrNameLst>
                                          <p:attrName>style.visibility</p:attrName>
                                        </p:attrNameLst>
                                      </p:cBhvr>
                                      <p:to>
                                        <p:strVal val="visible"/>
                                      </p:to>
                                    </p:set>
                                    <p:animEffect transition="in" filter="blinds(horizontal)">
                                      <p:cBhvr>
                                        <p:cTn id="38" dur="500"/>
                                        <p:tgtEl>
                                          <p:spTgt spid="212995">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12995">
                                            <p:txEl>
                                              <p:pRg st="8" end="8"/>
                                            </p:txEl>
                                          </p:spTgt>
                                        </p:tgtEl>
                                        <p:attrNameLst>
                                          <p:attrName>style.visibility</p:attrName>
                                        </p:attrNameLst>
                                      </p:cBhvr>
                                      <p:to>
                                        <p:strVal val="visible"/>
                                      </p:to>
                                    </p:set>
                                    <p:animEffect transition="in" filter="blinds(horizontal)">
                                      <p:cBhvr>
                                        <p:cTn id="43" dur="500"/>
                                        <p:tgtEl>
                                          <p:spTgt spid="212995">
                                            <p:txEl>
                                              <p:pRg st="8" end="8"/>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212995">
                                            <p:txEl>
                                              <p:pRg st="9" end="9"/>
                                            </p:txEl>
                                          </p:spTgt>
                                        </p:tgtEl>
                                        <p:attrNameLst>
                                          <p:attrName>style.visibility</p:attrName>
                                        </p:attrNameLst>
                                      </p:cBhvr>
                                      <p:to>
                                        <p:strVal val="visible"/>
                                      </p:to>
                                    </p:set>
                                    <p:animEffect transition="in" filter="blinds(horizontal)">
                                      <p:cBhvr>
                                        <p:cTn id="46" dur="500"/>
                                        <p:tgtEl>
                                          <p:spTgt spid="212995">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212995">
                                            <p:txEl>
                                              <p:pRg st="10" end="10"/>
                                            </p:txEl>
                                          </p:spTgt>
                                        </p:tgtEl>
                                        <p:attrNameLst>
                                          <p:attrName>style.visibility</p:attrName>
                                        </p:attrNameLst>
                                      </p:cBhvr>
                                      <p:to>
                                        <p:strVal val="visible"/>
                                      </p:to>
                                    </p:set>
                                    <p:animEffect transition="in" filter="blinds(horizontal)">
                                      <p:cBhvr>
                                        <p:cTn id="51" dur="500"/>
                                        <p:tgtEl>
                                          <p:spTgt spid="212995">
                                            <p:txEl>
                                              <p:pRg st="10" end="10"/>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212995">
                                            <p:txEl>
                                              <p:pRg st="11" end="11"/>
                                            </p:txEl>
                                          </p:spTgt>
                                        </p:tgtEl>
                                        <p:attrNameLst>
                                          <p:attrName>style.visibility</p:attrName>
                                        </p:attrNameLst>
                                      </p:cBhvr>
                                      <p:to>
                                        <p:strVal val="visible"/>
                                      </p:to>
                                    </p:set>
                                    <p:animEffect transition="in" filter="blinds(horizontal)">
                                      <p:cBhvr>
                                        <p:cTn id="54" dur="500"/>
                                        <p:tgtEl>
                                          <p:spTgt spid="21299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2"/>
          <p:cNvSpPr txBox="1"/>
          <p:nvPr/>
        </p:nvSpPr>
        <p:spPr>
          <a:xfrm>
            <a:off x="3276600" y="1931988"/>
            <a:ext cx="5334000" cy="522287"/>
          </a:xfrm>
          <a:prstGeom prst="rect">
            <a:avLst/>
          </a:prstGeom>
          <a:noFill/>
          <a:ln w="9525">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由 </a:t>
            </a:r>
            <a:r>
              <a:rPr lang="zh-CN" altLang="en-US" sz="2800" b="1" dirty="0">
                <a:solidFill>
                  <a:srgbClr val="FF0000"/>
                </a:solidFill>
                <a:latin typeface="Times New Roman" panose="02020603050405020304" pitchFamily="18" charset="0"/>
                <a:ea typeface="宋体" panose="02010600030101010101" pitchFamily="2" charset="-122"/>
              </a:rPr>
              <a:t>统一时钟信号 </a:t>
            </a:r>
            <a:r>
              <a:rPr lang="zh-CN" altLang="en-US" sz="2800" b="1" dirty="0">
                <a:latin typeface="Times New Roman" panose="02020603050405020304" pitchFamily="18" charset="0"/>
                <a:ea typeface="宋体" panose="02010600030101010101" pitchFamily="2" charset="-122"/>
              </a:rPr>
              <a:t>控制数据传送</a:t>
            </a:r>
          </a:p>
        </p:txBody>
      </p:sp>
      <p:sp>
        <p:nvSpPr>
          <p:cNvPr id="211971" name="Text Box 3"/>
          <p:cNvSpPr txBox="1"/>
          <p:nvPr/>
        </p:nvSpPr>
        <p:spPr>
          <a:xfrm>
            <a:off x="3276600" y="4967288"/>
            <a:ext cx="6248400" cy="522287"/>
          </a:xfrm>
          <a:prstGeom prst="rect">
            <a:avLst/>
          </a:prstGeom>
          <a:noFill/>
          <a:ln w="9525">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充分 </a:t>
            </a:r>
            <a:r>
              <a:rPr lang="zh-CN" altLang="en-US" sz="2800" b="1" dirty="0">
                <a:solidFill>
                  <a:srgbClr val="FF0000"/>
                </a:solidFill>
                <a:latin typeface="Times New Roman" panose="02020603050405020304" pitchFamily="18" charset="0"/>
                <a:ea typeface="宋体" panose="02010600030101010101" pitchFamily="2" charset="-122"/>
              </a:rPr>
              <a:t>挖掘</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系统 </a:t>
            </a:r>
            <a:r>
              <a:rPr lang="zh-CN" altLang="en-US" sz="2800" b="1" dirty="0">
                <a:solidFill>
                  <a:srgbClr val="FF0000"/>
                </a:solidFill>
                <a:latin typeface="Times New Roman" panose="02020603050405020304" pitchFamily="18" charset="0"/>
                <a:ea typeface="宋体" panose="02010600030101010101" pitchFamily="2" charset="-122"/>
              </a:rPr>
              <a:t>总线每瞬间</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的 </a:t>
            </a:r>
            <a:r>
              <a:rPr lang="zh-CN" altLang="en-US" sz="2800" b="1" dirty="0">
                <a:solidFill>
                  <a:srgbClr val="FF0000"/>
                </a:solidFill>
                <a:latin typeface="Times New Roman" panose="02020603050405020304" pitchFamily="18" charset="0"/>
                <a:ea typeface="宋体" panose="02010600030101010101" pitchFamily="2" charset="-122"/>
              </a:rPr>
              <a:t>潜力</a:t>
            </a:r>
          </a:p>
        </p:txBody>
      </p:sp>
      <p:grpSp>
        <p:nvGrpSpPr>
          <p:cNvPr id="211972" name="Group 4"/>
          <p:cNvGrpSpPr/>
          <p:nvPr/>
        </p:nvGrpSpPr>
        <p:grpSpPr>
          <a:xfrm>
            <a:off x="900113" y="1931988"/>
            <a:ext cx="3900487" cy="3592512"/>
            <a:chOff x="567" y="1217"/>
            <a:chExt cx="2457" cy="2263"/>
          </a:xfrm>
        </p:grpSpPr>
        <p:sp>
          <p:nvSpPr>
            <p:cNvPr id="29700" name="Text Box 5"/>
            <p:cNvSpPr txBox="1"/>
            <p:nvPr/>
          </p:nvSpPr>
          <p:spPr>
            <a:xfrm>
              <a:off x="567" y="1217"/>
              <a:ext cx="1497" cy="365"/>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同步通信 </a:t>
              </a:r>
            </a:p>
          </p:txBody>
        </p:sp>
        <p:sp>
          <p:nvSpPr>
            <p:cNvPr id="29701" name="Text Box 6"/>
            <p:cNvSpPr txBox="1"/>
            <p:nvPr/>
          </p:nvSpPr>
          <p:spPr>
            <a:xfrm>
              <a:off x="567" y="1810"/>
              <a:ext cx="1641" cy="404"/>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异步通信</a:t>
              </a:r>
              <a:r>
                <a:rPr lang="zh-CN" altLang="en-US" sz="3600" b="1" dirty="0">
                  <a:solidFill>
                    <a:schemeClr val="folHlink"/>
                  </a:solidFill>
                  <a:latin typeface="Times New Roman" panose="02020603050405020304" pitchFamily="18" charset="0"/>
                  <a:ea typeface="宋体" panose="02010600030101010101" pitchFamily="2" charset="-122"/>
                </a:rPr>
                <a:t> </a:t>
              </a:r>
            </a:p>
          </p:txBody>
        </p:sp>
        <p:sp>
          <p:nvSpPr>
            <p:cNvPr id="29702" name="Text Box 7"/>
            <p:cNvSpPr txBox="1"/>
            <p:nvPr/>
          </p:nvSpPr>
          <p:spPr>
            <a:xfrm>
              <a:off x="567" y="2443"/>
              <a:ext cx="1833" cy="404"/>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半同步通信</a:t>
              </a:r>
              <a:r>
                <a:rPr lang="zh-CN" altLang="en-US" sz="3600" b="1" dirty="0">
                  <a:solidFill>
                    <a:schemeClr val="folHlink"/>
                  </a:solidFill>
                  <a:latin typeface="Times New Roman" panose="02020603050405020304" pitchFamily="18" charset="0"/>
                  <a:ea typeface="宋体" panose="02010600030101010101" pitchFamily="2" charset="-122"/>
                </a:rPr>
                <a:t> </a:t>
              </a:r>
            </a:p>
          </p:txBody>
        </p:sp>
        <p:sp>
          <p:nvSpPr>
            <p:cNvPr id="29703" name="Text Box 8"/>
            <p:cNvSpPr txBox="1"/>
            <p:nvPr/>
          </p:nvSpPr>
          <p:spPr>
            <a:xfrm>
              <a:off x="567" y="3076"/>
              <a:ext cx="2457" cy="404"/>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分离式通信</a:t>
              </a:r>
              <a:r>
                <a:rPr lang="zh-CN" altLang="en-US" sz="3600" b="1" dirty="0">
                  <a:solidFill>
                    <a:schemeClr val="folHlink"/>
                  </a:solidFill>
                  <a:latin typeface="Times New Roman" panose="02020603050405020304" pitchFamily="18" charset="0"/>
                  <a:ea typeface="宋体" panose="02010600030101010101" pitchFamily="2" charset="-122"/>
                </a:rPr>
                <a:t> </a:t>
              </a:r>
            </a:p>
          </p:txBody>
        </p:sp>
      </p:grpSp>
      <p:sp>
        <p:nvSpPr>
          <p:cNvPr id="211977" name="AutoShape 9"/>
          <p:cNvSpPr/>
          <p:nvPr/>
        </p:nvSpPr>
        <p:spPr>
          <a:xfrm>
            <a:off x="609600" y="2133600"/>
            <a:ext cx="304800" cy="3200400"/>
          </a:xfrm>
          <a:prstGeom prst="leftBrace">
            <a:avLst>
              <a:gd name="adj1" fmla="val 87500"/>
              <a:gd name="adj2" fmla="val 50000"/>
            </a:avLst>
          </a:prstGeom>
          <a:noFill/>
          <a:ln w="3810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11978" name="Text Box 10"/>
          <p:cNvSpPr txBox="1"/>
          <p:nvPr/>
        </p:nvSpPr>
        <p:spPr>
          <a:xfrm>
            <a:off x="609600" y="533400"/>
            <a:ext cx="5486400" cy="644525"/>
          </a:xfrm>
          <a:prstGeom prst="rect">
            <a:avLst/>
          </a:prstGeom>
          <a:noFill/>
          <a:ln w="9525">
            <a:noFill/>
          </a:ln>
        </p:spPr>
        <p:txBody>
          <a:bodyPr anchor="t" anchorCtr="0">
            <a:spAutoFit/>
          </a:bodyPr>
          <a:lstStyle/>
          <a:p>
            <a:pPr>
              <a:buClrTx/>
              <a:buFontTx/>
            </a:pPr>
            <a:r>
              <a:rPr lang="en-US" altLang="zh-CN" sz="3600" b="1" dirty="0">
                <a:latin typeface="Times New Roman" panose="02020603050405020304" pitchFamily="18" charset="0"/>
                <a:ea typeface="宋体" panose="02010600030101010101" pitchFamily="2" charset="-122"/>
              </a:rPr>
              <a:t>3. </a:t>
            </a:r>
            <a:r>
              <a:rPr lang="zh-CN" altLang="en-US" sz="3600" b="1" dirty="0">
                <a:latin typeface="Times New Roman" panose="02020603050405020304" pitchFamily="18" charset="0"/>
                <a:ea typeface="宋体" panose="02010600030101010101" pitchFamily="2" charset="-122"/>
              </a:rPr>
              <a:t>总线通信的四种方式</a:t>
            </a:r>
          </a:p>
        </p:txBody>
      </p:sp>
      <p:sp>
        <p:nvSpPr>
          <p:cNvPr id="211979" name="Text Box 11"/>
          <p:cNvSpPr txBox="1"/>
          <p:nvPr/>
        </p:nvSpPr>
        <p:spPr>
          <a:xfrm>
            <a:off x="3276600" y="2971800"/>
            <a:ext cx="6400800" cy="522288"/>
          </a:xfrm>
          <a:prstGeom prst="rect">
            <a:avLst/>
          </a:prstGeom>
          <a:noFill/>
          <a:ln w="9525">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采用 </a:t>
            </a:r>
            <a:r>
              <a:rPr lang="zh-CN" altLang="en-US" sz="2800" b="1" dirty="0">
                <a:solidFill>
                  <a:srgbClr val="FF0000"/>
                </a:solidFill>
                <a:latin typeface="Times New Roman" panose="02020603050405020304" pitchFamily="18" charset="0"/>
                <a:ea typeface="宋体" panose="02010600030101010101" pitchFamily="2" charset="-122"/>
              </a:rPr>
              <a:t>应答方式</a:t>
            </a:r>
            <a:r>
              <a:rPr lang="zh-CN" altLang="en-US" sz="2800" b="1" dirty="0">
                <a:latin typeface="Times New Roman" panose="02020603050405020304" pitchFamily="18" charset="0"/>
                <a:ea typeface="宋体" panose="02010600030101010101" pitchFamily="2" charset="-122"/>
              </a:rPr>
              <a:t>，没有公共时钟标准</a:t>
            </a:r>
          </a:p>
        </p:txBody>
      </p:sp>
      <p:sp>
        <p:nvSpPr>
          <p:cNvPr id="211980" name="Text Box 12"/>
          <p:cNvSpPr txBox="1"/>
          <p:nvPr/>
        </p:nvSpPr>
        <p:spPr>
          <a:xfrm>
            <a:off x="3276600" y="3925888"/>
            <a:ext cx="5334000" cy="522287"/>
          </a:xfrm>
          <a:prstGeom prst="rect">
            <a:avLst/>
          </a:prstGeom>
          <a:noFill/>
          <a:ln w="9525">
            <a:noFill/>
          </a:ln>
        </p:spPr>
        <p:txBody>
          <a:bodyPr anchor="t" anchorCtr="0">
            <a:spAutoFit/>
          </a:bodyPr>
          <a:lstStyle/>
          <a:p>
            <a:pPr>
              <a:buClrTx/>
              <a:buFontTx/>
            </a:pPr>
            <a:r>
              <a:rPr lang="zh-CN" altLang="en-US" sz="2800" b="1" dirty="0">
                <a:solidFill>
                  <a:srgbClr val="FF0000"/>
                </a:solidFill>
                <a:latin typeface="Times New Roman" panose="02020603050405020304" pitchFamily="18" charset="0"/>
                <a:ea typeface="宋体" panose="02010600030101010101" pitchFamily="2" charset="-122"/>
              </a:rPr>
              <a:t>同步、异步结合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11978"/>
                                        </p:tgtEl>
                                        <p:attrNameLst>
                                          <p:attrName>style.visibility</p:attrName>
                                        </p:attrNameLst>
                                      </p:cBhvr>
                                      <p:to>
                                        <p:strVal val="visible"/>
                                      </p:to>
                                    </p:set>
                                    <p:animEffect transition="in" filter="blinds(horizontal)">
                                      <p:cBhvr>
                                        <p:cTn id="7" dur="500"/>
                                        <p:tgtEl>
                                          <p:spTgt spid="21197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2"/>
                                        </p:tgtEl>
                                        <p:attrNameLst>
                                          <p:attrName>style.visibility</p:attrName>
                                        </p:attrNameLst>
                                      </p:cBhvr>
                                      <p:to>
                                        <p:strVal val="visible"/>
                                      </p:to>
                                    </p:set>
                                    <p:animEffect transition="in" filter="blinds(horizontal)">
                                      <p:cBhvr>
                                        <p:cTn id="12" dur="500"/>
                                        <p:tgtEl>
                                          <p:spTgt spid="21197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11977"/>
                                        </p:tgtEl>
                                        <p:attrNameLst>
                                          <p:attrName>style.visibility</p:attrName>
                                        </p:attrNameLst>
                                      </p:cBhvr>
                                      <p:to>
                                        <p:strVal val="visible"/>
                                      </p:to>
                                    </p:set>
                                    <p:animEffect transition="in" filter="blinds(horizontal)">
                                      <p:cBhvr>
                                        <p:cTn id="15" dur="500"/>
                                        <p:tgtEl>
                                          <p:spTgt spid="21197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11970"/>
                                        </p:tgtEl>
                                        <p:attrNameLst>
                                          <p:attrName>style.visibility</p:attrName>
                                        </p:attrNameLst>
                                      </p:cBhvr>
                                      <p:to>
                                        <p:strVal val="visible"/>
                                      </p:to>
                                    </p:set>
                                    <p:animEffect transition="in" filter="blinds(horizontal)">
                                      <p:cBhvr>
                                        <p:cTn id="20" dur="500"/>
                                        <p:tgtEl>
                                          <p:spTgt spid="21197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1979"/>
                                        </p:tgtEl>
                                        <p:attrNameLst>
                                          <p:attrName>style.visibility</p:attrName>
                                        </p:attrNameLst>
                                      </p:cBhvr>
                                      <p:to>
                                        <p:strVal val="visible"/>
                                      </p:to>
                                    </p:set>
                                    <p:animEffect transition="in" filter="blinds(horizontal)">
                                      <p:cBhvr>
                                        <p:cTn id="25" dur="500"/>
                                        <p:tgtEl>
                                          <p:spTgt spid="21197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11980"/>
                                        </p:tgtEl>
                                        <p:attrNameLst>
                                          <p:attrName>style.visibility</p:attrName>
                                        </p:attrNameLst>
                                      </p:cBhvr>
                                      <p:to>
                                        <p:strVal val="visible"/>
                                      </p:to>
                                    </p:set>
                                    <p:animEffect transition="in" filter="blinds(horizontal)">
                                      <p:cBhvr>
                                        <p:cTn id="30" dur="500"/>
                                        <p:tgtEl>
                                          <p:spTgt spid="21198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11971"/>
                                        </p:tgtEl>
                                        <p:attrNameLst>
                                          <p:attrName>style.visibility</p:attrName>
                                        </p:attrNameLst>
                                      </p:cBhvr>
                                      <p:to>
                                        <p:strVal val="visible"/>
                                      </p:to>
                                    </p:set>
                                    <p:animEffect transition="in" filter="blinds(horizontal)">
                                      <p:cBhvr>
                                        <p:cTn id="35" dur="500"/>
                                        <p:tgtEl>
                                          <p:spTgt spid="211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p:bldP spid="211971" grpId="0"/>
      <p:bldP spid="211977" grpId="0" animBg="1"/>
      <p:bldP spid="211978" grpId="0"/>
      <p:bldP spid="211979" grpId="0"/>
      <p:bldP spid="21198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96" name="Text Box 12"/>
          <p:cNvSpPr txBox="1"/>
          <p:nvPr/>
        </p:nvSpPr>
        <p:spPr>
          <a:xfrm>
            <a:off x="82550" y="3833813"/>
            <a:ext cx="6388100" cy="460375"/>
          </a:xfrm>
          <a:prstGeom prst="rect">
            <a:avLst/>
          </a:prstGeom>
          <a:noFill/>
          <a:ln w="25400">
            <a:noFill/>
          </a:ln>
        </p:spPr>
        <p:txBody>
          <a:bodyPr wrap="none" anchor="t" anchorCtr="0">
            <a:spAutoFit/>
          </a:bodyPr>
          <a:lstStyle/>
          <a:p>
            <a:pPr marL="342900" indent="-342900">
              <a:spcBef>
                <a:spcPct val="20000"/>
              </a:spcBef>
              <a:buClrTx/>
              <a:buFontTx/>
            </a:pPr>
            <a:r>
              <a:rPr lang="zh-CN" altLang="zh-CN" sz="2400" b="1" dirty="0">
                <a:latin typeface="Arial" panose="020B0604020202020204" pitchFamily="34" charset="0"/>
                <a:ea typeface="宋体" panose="02010600030101010101" pitchFamily="2" charset="-122"/>
              </a:rPr>
              <a:t>①</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强制性同步，采用</a:t>
            </a:r>
            <a:r>
              <a:rPr lang="zh-CN" altLang="en-US" sz="2400" b="1" u="sng" dirty="0">
                <a:solidFill>
                  <a:srgbClr val="FF0000"/>
                </a:solidFill>
                <a:latin typeface="Arial" panose="020B0604020202020204" pitchFamily="34" charset="0"/>
                <a:ea typeface="宋体" panose="02010600030101010101" pitchFamily="2" charset="-122"/>
              </a:rPr>
              <a:t>统一时钟</a:t>
            </a:r>
            <a:r>
              <a:rPr lang="zh-CN" altLang="en-US" sz="2400" b="1" dirty="0">
                <a:latin typeface="Arial" panose="020B0604020202020204" pitchFamily="34" charset="0"/>
                <a:ea typeface="宋体" panose="02010600030101010101" pitchFamily="2" charset="-122"/>
              </a:rPr>
              <a:t>；简单易控制。</a:t>
            </a:r>
          </a:p>
        </p:txBody>
      </p:sp>
      <p:sp>
        <p:nvSpPr>
          <p:cNvPr id="272397" name="Text Box 13"/>
          <p:cNvSpPr txBox="1"/>
          <p:nvPr/>
        </p:nvSpPr>
        <p:spPr>
          <a:xfrm>
            <a:off x="82550" y="4332288"/>
            <a:ext cx="9448800" cy="460375"/>
          </a:xfrm>
          <a:prstGeom prst="rect">
            <a:avLst/>
          </a:prstGeom>
          <a:noFill/>
          <a:ln w="25400">
            <a:noFill/>
          </a:ln>
        </p:spPr>
        <p:txBody>
          <a:bodyPr wrap="none" anchor="t" anchorCtr="0">
            <a:spAutoFit/>
          </a:bodyPr>
          <a:lstStyle/>
          <a:p>
            <a:pPr marL="342900" indent="-342900">
              <a:spcBef>
                <a:spcPct val="20000"/>
              </a:spcBef>
              <a:buClrTx/>
              <a:buFontTx/>
            </a:pPr>
            <a:r>
              <a:rPr lang="en-US" altLang="zh-CN" sz="2400" b="1" dirty="0">
                <a:latin typeface="Arial" panose="020B0604020202020204" pitchFamily="34" charset="0"/>
                <a:ea typeface="宋体" panose="02010600030101010101" pitchFamily="2" charset="-122"/>
              </a:rPr>
              <a:t>② </a:t>
            </a:r>
            <a:r>
              <a:rPr lang="zh-CN" altLang="en-US" sz="2400" b="1" dirty="0">
                <a:latin typeface="Arial" panose="020B0604020202020204" pitchFamily="34" charset="0"/>
                <a:ea typeface="宋体" panose="02010600030101010101" pitchFamily="2" charset="-122"/>
              </a:rPr>
              <a:t>对于每一个操作，每一时间都有</a:t>
            </a:r>
            <a:r>
              <a:rPr lang="zh-CN" altLang="en-US" sz="2400" b="1" u="sng" dirty="0">
                <a:solidFill>
                  <a:srgbClr val="FF0000"/>
                </a:solidFill>
                <a:latin typeface="Arial" panose="020B0604020202020204" pitchFamily="34" charset="0"/>
                <a:ea typeface="宋体" panose="02010600030101010101" pitchFamily="2" charset="-122"/>
              </a:rPr>
              <a:t>明确的规定</a:t>
            </a:r>
            <a:r>
              <a:rPr lang="zh-CN" altLang="en-US" sz="2400" b="1" dirty="0">
                <a:latin typeface="Arial" panose="020B0604020202020204" pitchFamily="34" charset="0"/>
                <a:ea typeface="宋体" panose="02010600030101010101" pitchFamily="2" charset="-122"/>
              </a:rPr>
              <a:t>，显得比较“死板”。</a:t>
            </a:r>
          </a:p>
        </p:txBody>
      </p:sp>
      <p:sp>
        <p:nvSpPr>
          <p:cNvPr id="272398" name="Text Box 14"/>
          <p:cNvSpPr txBox="1"/>
          <p:nvPr/>
        </p:nvSpPr>
        <p:spPr>
          <a:xfrm>
            <a:off x="82550" y="4878388"/>
            <a:ext cx="6388100" cy="460375"/>
          </a:xfrm>
          <a:prstGeom prst="rect">
            <a:avLst/>
          </a:prstGeom>
          <a:noFill/>
          <a:ln w="25400">
            <a:noFill/>
          </a:ln>
        </p:spPr>
        <p:txBody>
          <a:bodyPr wrap="none" anchor="t" anchorCtr="0">
            <a:spAutoFit/>
          </a:bodyPr>
          <a:lstStyle/>
          <a:p>
            <a:pPr marL="342900" indent="-342900">
              <a:spcBef>
                <a:spcPct val="20000"/>
              </a:spcBef>
              <a:buClrTx/>
              <a:buFontTx/>
            </a:pPr>
            <a:r>
              <a:rPr lang="zh-CN" altLang="zh-CN" sz="2400" b="1" dirty="0">
                <a:latin typeface="Arial" panose="020B0604020202020204" pitchFamily="34" charset="0"/>
                <a:ea typeface="宋体" panose="02010600030101010101" pitchFamily="2" charset="-122"/>
              </a:rPr>
              <a:t>③</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必须按照工作</a:t>
            </a:r>
            <a:r>
              <a:rPr lang="zh-CN" altLang="en-US" sz="2400" b="1" u="sng" dirty="0">
                <a:solidFill>
                  <a:srgbClr val="FF0000"/>
                </a:solidFill>
                <a:latin typeface="Arial" panose="020B0604020202020204" pitchFamily="34" charset="0"/>
                <a:ea typeface="宋体" panose="02010600030101010101" pitchFamily="2" charset="-122"/>
              </a:rPr>
              <a:t>速度最慢</a:t>
            </a:r>
            <a:r>
              <a:rPr lang="zh-CN" altLang="en-US" sz="2400" b="1" dirty="0">
                <a:latin typeface="Arial" panose="020B0604020202020204" pitchFamily="34" charset="0"/>
                <a:ea typeface="宋体" panose="02010600030101010101" pitchFamily="2" charset="-122"/>
              </a:rPr>
              <a:t>的部件来设计时钟。</a:t>
            </a:r>
          </a:p>
        </p:txBody>
      </p:sp>
      <p:sp>
        <p:nvSpPr>
          <p:cNvPr id="272399" name="Text Box 15"/>
          <p:cNvSpPr txBox="1"/>
          <p:nvPr/>
        </p:nvSpPr>
        <p:spPr>
          <a:xfrm>
            <a:off x="80963" y="5418138"/>
            <a:ext cx="9448800" cy="460375"/>
          </a:xfrm>
          <a:prstGeom prst="rect">
            <a:avLst/>
          </a:prstGeom>
          <a:noFill/>
          <a:ln w="25400">
            <a:noFill/>
          </a:ln>
        </p:spPr>
        <p:txBody>
          <a:bodyPr wrap="none" anchor="t" anchorCtr="0">
            <a:spAutoFit/>
          </a:bodyPr>
          <a:lstStyle/>
          <a:p>
            <a:pPr marL="342900" indent="-342900">
              <a:spcBef>
                <a:spcPct val="20000"/>
              </a:spcBef>
              <a:buClrTx/>
              <a:buFontTx/>
            </a:pPr>
            <a:r>
              <a:rPr lang="en-US" altLang="zh-CN" sz="2400" b="1" dirty="0">
                <a:latin typeface="Arial" panose="020B0604020202020204" pitchFamily="34" charset="0"/>
                <a:ea typeface="宋体" panose="02010600030101010101" pitchFamily="2" charset="-122"/>
              </a:rPr>
              <a:t>④ </a:t>
            </a:r>
            <a:r>
              <a:rPr lang="zh-CN" altLang="en-US" sz="2400" b="1" dirty="0">
                <a:latin typeface="Arial" panose="020B0604020202020204" pitchFamily="34" charset="0"/>
                <a:ea typeface="宋体" panose="02010600030101010101" pitchFamily="2" charset="-122"/>
              </a:rPr>
              <a:t>当各个模块的存取时间相差较大时，会大大损失总线的工作效率。</a:t>
            </a:r>
          </a:p>
        </p:txBody>
      </p:sp>
      <p:sp>
        <p:nvSpPr>
          <p:cNvPr id="272400" name="Text Box 16"/>
          <p:cNvSpPr txBox="1"/>
          <p:nvPr/>
        </p:nvSpPr>
        <p:spPr>
          <a:xfrm>
            <a:off x="76200" y="5943600"/>
            <a:ext cx="8837613" cy="460375"/>
          </a:xfrm>
          <a:prstGeom prst="rect">
            <a:avLst/>
          </a:prstGeom>
          <a:noFill/>
          <a:ln w="25400">
            <a:noFill/>
          </a:ln>
        </p:spPr>
        <p:txBody>
          <a:bodyPr wrap="none" anchor="t" anchorCtr="0">
            <a:spAutoFit/>
          </a:bodyPr>
          <a:lstStyle/>
          <a:p>
            <a:pPr marL="342900" indent="-342900">
              <a:spcBef>
                <a:spcPct val="20000"/>
              </a:spcBef>
              <a:buClrTx/>
              <a:buFontTx/>
            </a:pPr>
            <a:r>
              <a:rPr lang="zh-CN" altLang="zh-CN" sz="2400" b="1" dirty="0">
                <a:latin typeface="Arial" panose="020B0604020202020204" pitchFamily="34" charset="0"/>
                <a:ea typeface="宋体" panose="02010600030101010101" pitchFamily="2" charset="-122"/>
              </a:rPr>
              <a:t>⑤</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适用于</a:t>
            </a:r>
            <a:r>
              <a:rPr lang="zh-CN" altLang="en-US" sz="2400" b="1" u="sng" dirty="0">
                <a:solidFill>
                  <a:srgbClr val="FF0000"/>
                </a:solidFill>
                <a:latin typeface="Arial" panose="020B0604020202020204" pitchFamily="34" charset="0"/>
                <a:ea typeface="宋体" panose="02010600030101010101" pitchFamily="2" charset="-122"/>
              </a:rPr>
              <a:t>总线长度较短</a:t>
            </a:r>
            <a:r>
              <a:rPr lang="zh-CN" altLang="en-US" sz="2400" b="1" dirty="0">
                <a:latin typeface="Arial" panose="020B0604020202020204" pitchFamily="34" charset="0"/>
                <a:ea typeface="宋体" panose="02010600030101010101" pitchFamily="2" charset="-122"/>
              </a:rPr>
              <a:t>，各模块部件存取时间比较一致的场合。</a:t>
            </a:r>
          </a:p>
        </p:txBody>
      </p:sp>
      <p:sp>
        <p:nvSpPr>
          <p:cNvPr id="272405" name="Text Box 21"/>
          <p:cNvSpPr txBox="1"/>
          <p:nvPr/>
        </p:nvSpPr>
        <p:spPr>
          <a:xfrm>
            <a:off x="228600" y="3290888"/>
            <a:ext cx="1828800" cy="522287"/>
          </a:xfrm>
          <a:prstGeom prst="rect">
            <a:avLst/>
          </a:prstGeom>
          <a:noFill/>
          <a:ln w="25400">
            <a:noFill/>
          </a:ln>
        </p:spPr>
        <p:txBody>
          <a:bodyPr anchor="t" anchorCtr="0">
            <a:spAutoFit/>
          </a:bodyPr>
          <a:lstStyle/>
          <a:p>
            <a:pPr marL="342900" indent="-342900">
              <a:spcBef>
                <a:spcPct val="20000"/>
              </a:spcBef>
              <a:buClrTx/>
              <a:buFontTx/>
            </a:pPr>
            <a:r>
              <a:rPr lang="zh-CN" altLang="en-US" sz="2800" b="1" dirty="0">
                <a:solidFill>
                  <a:srgbClr val="F8F8F8"/>
                </a:solidFill>
                <a:latin typeface="Arial" panose="020B0604020202020204" pitchFamily="34" charset="0"/>
                <a:ea typeface="宋体" panose="02010600030101010101" pitchFamily="2" charset="-122"/>
              </a:rPr>
              <a:t>特点：</a:t>
            </a:r>
          </a:p>
        </p:txBody>
      </p:sp>
      <p:sp>
        <p:nvSpPr>
          <p:cNvPr id="272408" name="Text Box 24"/>
          <p:cNvSpPr txBox="1"/>
          <p:nvPr/>
        </p:nvSpPr>
        <p:spPr>
          <a:xfrm>
            <a:off x="304800" y="654050"/>
            <a:ext cx="8077200" cy="952500"/>
          </a:xfrm>
          <a:prstGeom prst="rect">
            <a:avLst/>
          </a:prstGeom>
          <a:noFill/>
          <a:ln w="9525">
            <a:noFill/>
          </a:ln>
        </p:spPr>
        <p:txBody>
          <a:bodyPr anchor="t" anchorCtr="0">
            <a:spAutoFit/>
          </a:bodyPr>
          <a:lstStyle/>
          <a:p>
            <a:pPr eaLnBrk="0" hangingPunct="0">
              <a:buClr>
                <a:schemeClr val="tx2"/>
              </a:buClr>
              <a:buSzPct val="90000"/>
              <a:buFont typeface="Monotype Sorts" pitchFamily="2" charset="2"/>
            </a:pPr>
            <a:r>
              <a:rPr lang="en-US" altLang="zh-CN" sz="2800" b="1" dirty="0">
                <a:solidFill>
                  <a:schemeClr val="hlink"/>
                </a:solidFill>
                <a:latin typeface="Arial" panose="020B0604020202020204" pitchFamily="34" charset="0"/>
                <a:ea typeface="宋体" panose="02010600030101010101" pitchFamily="2" charset="-122"/>
              </a:rPr>
              <a:t>        </a:t>
            </a:r>
            <a:r>
              <a:rPr lang="zh-CN" altLang="en-US" sz="2800" b="1" dirty="0">
                <a:solidFill>
                  <a:srgbClr val="FF0000"/>
                </a:solidFill>
                <a:latin typeface="Arial" panose="020B0604020202020204" pitchFamily="34" charset="0"/>
                <a:ea typeface="宋体" panose="02010600030101010101" pitchFamily="2" charset="-122"/>
              </a:rPr>
              <a:t>同步通信</a:t>
            </a:r>
            <a:r>
              <a:rPr lang="zh-CN" altLang="en-US" sz="2800" b="1" dirty="0">
                <a:latin typeface="Arial" panose="020B0604020202020204" pitchFamily="34" charset="0"/>
                <a:ea typeface="宋体" panose="02010600030101010101" pitchFamily="2" charset="-122"/>
              </a:rPr>
              <a:t>是指参与通信的两个部件之间的信息传送是由</a:t>
            </a:r>
            <a:r>
              <a:rPr lang="zh-CN" altLang="en-US" sz="2800" b="1" u="sng" dirty="0">
                <a:solidFill>
                  <a:srgbClr val="FF0000"/>
                </a:solidFill>
                <a:latin typeface="Arial" panose="020B0604020202020204" pitchFamily="34" charset="0"/>
                <a:ea typeface="宋体" panose="02010600030101010101" pitchFamily="2" charset="-122"/>
              </a:rPr>
              <a:t>定宽、定距的时标</a:t>
            </a:r>
            <a:r>
              <a:rPr lang="zh-CN" altLang="en-US" sz="2800" b="1" dirty="0">
                <a:latin typeface="Arial" panose="020B0604020202020204" pitchFamily="34" charset="0"/>
                <a:ea typeface="宋体" panose="02010600030101010101" pitchFamily="2" charset="-122"/>
              </a:rPr>
              <a:t>来控制的。</a:t>
            </a:r>
            <a:endParaRPr lang="zh-CN" altLang="en-US" sz="2800" dirty="0">
              <a:latin typeface="Arial" panose="020B0604020202020204" pitchFamily="34" charset="0"/>
              <a:ea typeface="宋体" panose="02010600030101010101" pitchFamily="2" charset="-122"/>
            </a:endParaRPr>
          </a:p>
        </p:txBody>
      </p:sp>
      <p:sp>
        <p:nvSpPr>
          <p:cNvPr id="272409" name="Text Box 25"/>
          <p:cNvSpPr txBox="1"/>
          <p:nvPr/>
        </p:nvSpPr>
        <p:spPr>
          <a:xfrm>
            <a:off x="304800" y="1647825"/>
            <a:ext cx="8305800" cy="1568450"/>
          </a:xfrm>
          <a:prstGeom prst="rect">
            <a:avLst/>
          </a:prstGeom>
          <a:noFill/>
          <a:ln w="9525">
            <a:noFill/>
          </a:ln>
        </p:spPr>
        <p:txBody>
          <a:bodyPr anchor="t" anchorCtr="0">
            <a:spAutoFit/>
          </a:bodyPr>
          <a:lstStyle/>
          <a:p>
            <a:pPr>
              <a:buClrTx/>
              <a:buFontTx/>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每隔一个时标，源设备就向总线发送一个数据，而不去对目的设备是否收到数据进行确认； 同样地，目的设备每隔一个时标就对总线进行采样来获取数据，而 不去确认数据是否已发出，也不向源设备确认收到的数据是正确的。</a:t>
            </a:r>
          </a:p>
        </p:txBody>
      </p:sp>
      <p:pic>
        <p:nvPicPr>
          <p:cNvPr id="30729" name="Picture 26"/>
          <p:cNvPicPr>
            <a:picLocks noChangeAspect="1"/>
          </p:cNvPicPr>
          <p:nvPr/>
        </p:nvPicPr>
        <p:blipFill>
          <a:blip r:embed="rId2"/>
          <a:stretch>
            <a:fillRect/>
          </a:stretch>
        </p:blipFill>
        <p:spPr>
          <a:xfrm>
            <a:off x="76200" y="50800"/>
            <a:ext cx="2732088" cy="7604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2408"/>
                                        </p:tgtEl>
                                        <p:attrNameLst>
                                          <p:attrName>style.visibility</p:attrName>
                                        </p:attrNameLst>
                                      </p:cBhvr>
                                      <p:to>
                                        <p:strVal val="visible"/>
                                      </p:to>
                                    </p:set>
                                    <p:animEffect transition="in" filter="blinds(horizontal)">
                                      <p:cBhvr>
                                        <p:cTn id="7" dur="500"/>
                                        <p:tgtEl>
                                          <p:spTgt spid="2724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2409"/>
                                        </p:tgtEl>
                                        <p:attrNameLst>
                                          <p:attrName>style.visibility</p:attrName>
                                        </p:attrNameLst>
                                      </p:cBhvr>
                                      <p:to>
                                        <p:strVal val="visible"/>
                                      </p:to>
                                    </p:set>
                                    <p:animEffect transition="in" filter="blinds(horizontal)">
                                      <p:cBhvr>
                                        <p:cTn id="12" dur="500"/>
                                        <p:tgtEl>
                                          <p:spTgt spid="27240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2405"/>
                                        </p:tgtEl>
                                        <p:attrNameLst>
                                          <p:attrName>style.visibility</p:attrName>
                                        </p:attrNameLst>
                                      </p:cBhvr>
                                      <p:to>
                                        <p:strVal val="visible"/>
                                      </p:to>
                                    </p:set>
                                    <p:animEffect transition="in" filter="blinds(horizontal)">
                                      <p:cBhvr>
                                        <p:cTn id="17" dur="500"/>
                                        <p:tgtEl>
                                          <p:spTgt spid="27240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72396"/>
                                        </p:tgtEl>
                                        <p:attrNameLst>
                                          <p:attrName>style.visibility</p:attrName>
                                        </p:attrNameLst>
                                      </p:cBhvr>
                                      <p:to>
                                        <p:strVal val="visible"/>
                                      </p:to>
                                    </p:set>
                                    <p:animEffect transition="in" filter="dissolve">
                                      <p:cBhvr>
                                        <p:cTn id="22" dur="1000"/>
                                        <p:tgtEl>
                                          <p:spTgt spid="27239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72397"/>
                                        </p:tgtEl>
                                        <p:attrNameLst>
                                          <p:attrName>style.visibility</p:attrName>
                                        </p:attrNameLst>
                                      </p:cBhvr>
                                      <p:to>
                                        <p:strVal val="visible"/>
                                      </p:to>
                                    </p:set>
                                    <p:animEffect transition="in" filter="dissolve">
                                      <p:cBhvr>
                                        <p:cTn id="27" dur="1000"/>
                                        <p:tgtEl>
                                          <p:spTgt spid="27239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72398"/>
                                        </p:tgtEl>
                                        <p:attrNameLst>
                                          <p:attrName>style.visibility</p:attrName>
                                        </p:attrNameLst>
                                      </p:cBhvr>
                                      <p:to>
                                        <p:strVal val="visible"/>
                                      </p:to>
                                    </p:set>
                                    <p:animEffect transition="in" filter="dissolve">
                                      <p:cBhvr>
                                        <p:cTn id="32" dur="1000"/>
                                        <p:tgtEl>
                                          <p:spTgt spid="27239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72399"/>
                                        </p:tgtEl>
                                        <p:attrNameLst>
                                          <p:attrName>style.visibility</p:attrName>
                                        </p:attrNameLst>
                                      </p:cBhvr>
                                      <p:to>
                                        <p:strVal val="visible"/>
                                      </p:to>
                                    </p:set>
                                    <p:animEffect transition="in" filter="dissolve">
                                      <p:cBhvr>
                                        <p:cTn id="37" dur="1000"/>
                                        <p:tgtEl>
                                          <p:spTgt spid="27239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72400"/>
                                        </p:tgtEl>
                                        <p:attrNameLst>
                                          <p:attrName>style.visibility</p:attrName>
                                        </p:attrNameLst>
                                      </p:cBhvr>
                                      <p:to>
                                        <p:strVal val="visible"/>
                                      </p:to>
                                    </p:set>
                                    <p:animEffect transition="in" filter="dissolve">
                                      <p:cBhvr>
                                        <p:cTn id="42" dur="1000"/>
                                        <p:tgtEl>
                                          <p:spTgt spid="272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6" grpId="0"/>
      <p:bldP spid="272397" grpId="0"/>
      <p:bldP spid="272398" grpId="0"/>
      <p:bldP spid="272399" grpId="0"/>
      <p:bldP spid="272400" grpId="0"/>
      <p:bldP spid="272405" grpId="0"/>
      <p:bldP spid="272408" grpId="0"/>
      <p:bldP spid="27240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2"/>
          <p:cNvSpPr txBox="1"/>
          <p:nvPr/>
        </p:nvSpPr>
        <p:spPr>
          <a:xfrm>
            <a:off x="685800" y="425450"/>
            <a:ext cx="4724400" cy="644525"/>
          </a:xfrm>
          <a:prstGeom prst="rect">
            <a:avLst/>
          </a:prstGeom>
          <a:noFill/>
          <a:ln w="9525">
            <a:noFill/>
          </a:ln>
        </p:spPr>
        <p:txBody>
          <a:bodyPr anchor="t" anchorCtr="0">
            <a:spAutoFit/>
          </a:bodyPr>
          <a:lstStyle/>
          <a:p>
            <a:pPr>
              <a:buClrTx/>
              <a:buFontTx/>
            </a:pPr>
            <a:r>
              <a:rPr lang="zh-CN" altLang="en-US" sz="3600" b="1" dirty="0">
                <a:latin typeface="Times New Roman" panose="02020603050405020304" pitchFamily="18" charset="0"/>
                <a:ea typeface="宋体" panose="02010600030101010101" pitchFamily="2" charset="-122"/>
              </a:rPr>
              <a:t>同步式数据输入</a:t>
            </a:r>
          </a:p>
        </p:txBody>
      </p:sp>
      <p:grpSp>
        <p:nvGrpSpPr>
          <p:cNvPr id="214019" name="Group 3"/>
          <p:cNvGrpSpPr/>
          <p:nvPr/>
        </p:nvGrpSpPr>
        <p:grpSpPr>
          <a:xfrm>
            <a:off x="76200" y="1493838"/>
            <a:ext cx="8915400" cy="1633537"/>
            <a:chOff x="48" y="941"/>
            <a:chExt cx="5616" cy="1029"/>
          </a:xfrm>
        </p:grpSpPr>
        <p:grpSp>
          <p:nvGrpSpPr>
            <p:cNvPr id="31747" name="Group 4"/>
            <p:cNvGrpSpPr/>
            <p:nvPr/>
          </p:nvGrpSpPr>
          <p:grpSpPr>
            <a:xfrm>
              <a:off x="480" y="941"/>
              <a:ext cx="5184" cy="1029"/>
              <a:chOff x="480" y="941"/>
              <a:chExt cx="5184" cy="1029"/>
            </a:xfrm>
          </p:grpSpPr>
          <p:sp>
            <p:nvSpPr>
              <p:cNvPr id="31748" name="Rectangle 5"/>
              <p:cNvSpPr/>
              <p:nvPr/>
            </p:nvSpPr>
            <p:spPr>
              <a:xfrm>
                <a:off x="1505"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1</a:t>
                </a:r>
              </a:p>
            </p:txBody>
          </p:sp>
          <p:sp>
            <p:nvSpPr>
              <p:cNvPr id="31749" name="Line 6"/>
              <p:cNvSpPr/>
              <p:nvPr/>
            </p:nvSpPr>
            <p:spPr>
              <a:xfrm>
                <a:off x="2938" y="1779"/>
                <a:ext cx="1" cy="187"/>
              </a:xfrm>
              <a:prstGeom prst="line">
                <a:avLst/>
              </a:prstGeom>
              <a:ln w="15875" cap="flat" cmpd="sng">
                <a:solidFill>
                  <a:schemeClr val="tx1"/>
                </a:solidFill>
                <a:prstDash val="solid"/>
                <a:round/>
                <a:headEnd type="none" w="med" len="med"/>
                <a:tailEnd type="none" w="med" len="med"/>
              </a:ln>
            </p:spPr>
          </p:sp>
          <p:sp>
            <p:nvSpPr>
              <p:cNvPr id="31750" name="Line 7"/>
              <p:cNvSpPr/>
              <p:nvPr/>
            </p:nvSpPr>
            <p:spPr>
              <a:xfrm>
                <a:off x="3850" y="1779"/>
                <a:ext cx="2" cy="187"/>
              </a:xfrm>
              <a:prstGeom prst="line">
                <a:avLst/>
              </a:prstGeom>
              <a:ln w="15875" cap="flat" cmpd="sng">
                <a:solidFill>
                  <a:schemeClr val="tx1"/>
                </a:solidFill>
                <a:prstDash val="solid"/>
                <a:round/>
                <a:headEnd type="none" w="med" len="med"/>
                <a:tailEnd type="none" w="med" len="med"/>
              </a:ln>
            </p:spPr>
          </p:sp>
          <p:sp>
            <p:nvSpPr>
              <p:cNvPr id="31751" name="Line 8"/>
              <p:cNvSpPr/>
              <p:nvPr/>
            </p:nvSpPr>
            <p:spPr>
              <a:xfrm>
                <a:off x="4751" y="1779"/>
                <a:ext cx="1" cy="187"/>
              </a:xfrm>
              <a:prstGeom prst="line">
                <a:avLst/>
              </a:prstGeom>
              <a:ln w="15875" cap="flat" cmpd="sng">
                <a:solidFill>
                  <a:schemeClr val="tx1"/>
                </a:solidFill>
                <a:prstDash val="solid"/>
                <a:round/>
                <a:headEnd type="none" w="med" len="med"/>
                <a:tailEnd type="none" w="med" len="med"/>
              </a:ln>
            </p:spPr>
          </p:sp>
          <p:sp>
            <p:nvSpPr>
              <p:cNvPr id="31752" name="Rectangle 9"/>
              <p:cNvSpPr/>
              <p:nvPr/>
            </p:nvSpPr>
            <p:spPr>
              <a:xfrm>
                <a:off x="2508" y="1008"/>
                <a:ext cx="1365" cy="368"/>
              </a:xfrm>
              <a:prstGeom prst="rect">
                <a:avLst/>
              </a:prstGeom>
              <a:noFill/>
              <a:ln w="9525">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1753" name="Line 10"/>
              <p:cNvSpPr/>
              <p:nvPr/>
            </p:nvSpPr>
            <p:spPr>
              <a:xfrm>
                <a:off x="4749" y="1008"/>
                <a:ext cx="1" cy="186"/>
              </a:xfrm>
              <a:prstGeom prst="line">
                <a:avLst/>
              </a:prstGeom>
              <a:ln w="15875" cap="flat" cmpd="sng">
                <a:solidFill>
                  <a:schemeClr val="tx1"/>
                </a:solidFill>
                <a:prstDash val="solid"/>
                <a:round/>
                <a:headEnd type="none" w="med" len="med"/>
                <a:tailEnd type="none" w="med" len="med"/>
              </a:ln>
            </p:spPr>
          </p:sp>
          <p:sp>
            <p:nvSpPr>
              <p:cNvPr id="31754" name="Rectangle 11"/>
              <p:cNvSpPr/>
              <p:nvPr/>
            </p:nvSpPr>
            <p:spPr>
              <a:xfrm>
                <a:off x="2250" y="941"/>
                <a:ext cx="1536" cy="307"/>
              </a:xfrm>
              <a:prstGeom prst="rect">
                <a:avLst/>
              </a:prstGeom>
              <a:noFill/>
              <a:ln w="9525">
                <a:noFill/>
              </a:ln>
            </p:spPr>
            <p:txBody>
              <a:bodyPr wrap="none" lIns="0" tIns="0" rIns="0" bIns="0" anchor="t" anchorCtr="0">
                <a:spAutoFit/>
              </a:bodyPr>
              <a:lstStyle/>
              <a:p>
                <a:pPr>
                  <a:buClrTx/>
                  <a:buFontTx/>
                </a:pPr>
                <a:r>
                  <a:rPr lang="zh-CN" altLang="en-US" sz="3200" b="1" dirty="0">
                    <a:solidFill>
                      <a:srgbClr val="FF0000"/>
                    </a:solidFill>
                    <a:latin typeface="宋体" panose="02010600030101010101" pitchFamily="2" charset="-122"/>
                    <a:ea typeface="宋体" panose="02010600030101010101" pitchFamily="2" charset="-122"/>
                  </a:rPr>
                  <a:t>总线传输周期</a:t>
                </a:r>
              </a:p>
            </p:txBody>
          </p:sp>
          <p:sp>
            <p:nvSpPr>
              <p:cNvPr id="31755" name="Line 12"/>
              <p:cNvSpPr/>
              <p:nvPr/>
            </p:nvSpPr>
            <p:spPr>
              <a:xfrm>
                <a:off x="1094" y="1776"/>
                <a:ext cx="2" cy="186"/>
              </a:xfrm>
              <a:prstGeom prst="line">
                <a:avLst/>
              </a:prstGeom>
              <a:ln w="15875" cap="flat" cmpd="sng">
                <a:solidFill>
                  <a:schemeClr val="tx1"/>
                </a:solidFill>
                <a:prstDash val="solid"/>
                <a:round/>
                <a:headEnd type="none" w="med" len="med"/>
                <a:tailEnd type="none" w="med" len="med"/>
              </a:ln>
            </p:spPr>
          </p:sp>
          <p:sp>
            <p:nvSpPr>
              <p:cNvPr id="31756" name="Freeform 13"/>
              <p:cNvSpPr/>
              <p:nvPr/>
            </p:nvSpPr>
            <p:spPr>
              <a:xfrm>
                <a:off x="1104"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1757" name="Freeform 14"/>
              <p:cNvSpPr/>
              <p:nvPr/>
            </p:nvSpPr>
            <p:spPr>
              <a:xfrm>
                <a:off x="2928"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1758" name="Freeform 15"/>
              <p:cNvSpPr/>
              <p:nvPr/>
            </p:nvSpPr>
            <p:spPr>
              <a:xfrm>
                <a:off x="3840"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cxnSp>
            <p:nvCxnSpPr>
              <p:cNvPr id="31759" name="AutoShape 16"/>
              <p:cNvCxnSpPr/>
              <p:nvPr/>
            </p:nvCxnSpPr>
            <p:spPr>
              <a:xfrm flipH="1">
                <a:off x="480" y="1728"/>
                <a:ext cx="624" cy="0"/>
              </a:xfrm>
              <a:prstGeom prst="straightConnector1">
                <a:avLst/>
              </a:prstGeom>
              <a:ln w="38100" cap="flat" cmpd="sng">
                <a:solidFill>
                  <a:schemeClr val="tx1"/>
                </a:solidFill>
                <a:prstDash val="solid"/>
                <a:round/>
                <a:headEnd type="none" w="med" len="med"/>
                <a:tailEnd type="none" w="med" len="med"/>
              </a:ln>
            </p:spPr>
          </p:cxnSp>
          <p:sp>
            <p:nvSpPr>
              <p:cNvPr id="31760" name="Freeform 17"/>
              <p:cNvSpPr/>
              <p:nvPr/>
            </p:nvSpPr>
            <p:spPr>
              <a:xfrm>
                <a:off x="4752"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1761" name="Freeform 18"/>
              <p:cNvSpPr/>
              <p:nvPr/>
            </p:nvSpPr>
            <p:spPr>
              <a:xfrm>
                <a:off x="2016"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1762" name="Rectangle 19"/>
              <p:cNvSpPr/>
              <p:nvPr/>
            </p:nvSpPr>
            <p:spPr>
              <a:xfrm>
                <a:off x="2385"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2</a:t>
                </a:r>
              </a:p>
            </p:txBody>
          </p:sp>
          <p:sp>
            <p:nvSpPr>
              <p:cNvPr id="31763" name="Rectangle 20"/>
              <p:cNvSpPr/>
              <p:nvPr/>
            </p:nvSpPr>
            <p:spPr>
              <a:xfrm>
                <a:off x="3345"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3</a:t>
                </a:r>
              </a:p>
            </p:txBody>
          </p:sp>
          <p:sp>
            <p:nvSpPr>
              <p:cNvPr id="31764" name="Rectangle 21"/>
              <p:cNvSpPr/>
              <p:nvPr/>
            </p:nvSpPr>
            <p:spPr>
              <a:xfrm>
                <a:off x="4224"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4</a:t>
                </a:r>
              </a:p>
            </p:txBody>
          </p:sp>
          <p:sp>
            <p:nvSpPr>
              <p:cNvPr id="31765" name="Line 22"/>
              <p:cNvSpPr/>
              <p:nvPr/>
            </p:nvSpPr>
            <p:spPr>
              <a:xfrm>
                <a:off x="1104" y="1104"/>
                <a:ext cx="1152" cy="0"/>
              </a:xfrm>
              <a:prstGeom prst="line">
                <a:avLst/>
              </a:prstGeom>
              <a:ln w="28575" cap="flat" cmpd="sng">
                <a:solidFill>
                  <a:schemeClr val="tx1"/>
                </a:solidFill>
                <a:prstDash val="solid"/>
                <a:round/>
                <a:headEnd type="stealth" w="lg" len="lg"/>
                <a:tailEnd type="none" w="med" len="med"/>
              </a:ln>
            </p:spPr>
          </p:sp>
          <p:sp>
            <p:nvSpPr>
              <p:cNvPr id="31766" name="Line 23"/>
              <p:cNvSpPr/>
              <p:nvPr/>
            </p:nvSpPr>
            <p:spPr>
              <a:xfrm>
                <a:off x="1103" y="1008"/>
                <a:ext cx="1" cy="186"/>
              </a:xfrm>
              <a:prstGeom prst="line">
                <a:avLst/>
              </a:prstGeom>
              <a:ln w="15875" cap="flat" cmpd="sng">
                <a:solidFill>
                  <a:schemeClr val="tx1"/>
                </a:solidFill>
                <a:prstDash val="solid"/>
                <a:round/>
                <a:headEnd type="none" w="med" len="med"/>
                <a:tailEnd type="none" w="med" len="med"/>
              </a:ln>
            </p:spPr>
          </p:sp>
          <p:sp>
            <p:nvSpPr>
              <p:cNvPr id="31767" name="Line 24"/>
              <p:cNvSpPr/>
              <p:nvPr/>
            </p:nvSpPr>
            <p:spPr>
              <a:xfrm>
                <a:off x="3840" y="1104"/>
                <a:ext cx="912" cy="0"/>
              </a:xfrm>
              <a:prstGeom prst="line">
                <a:avLst/>
              </a:prstGeom>
              <a:ln w="28575" cap="flat" cmpd="sng">
                <a:solidFill>
                  <a:schemeClr val="tx1"/>
                </a:solidFill>
                <a:prstDash val="solid"/>
                <a:round/>
                <a:headEnd type="none" w="lg" len="lg"/>
                <a:tailEnd type="stealth" w="lg" len="lg"/>
              </a:ln>
            </p:spPr>
          </p:sp>
          <p:sp>
            <p:nvSpPr>
              <p:cNvPr id="31768" name="Line 25"/>
              <p:cNvSpPr/>
              <p:nvPr/>
            </p:nvSpPr>
            <p:spPr>
              <a:xfrm>
                <a:off x="1680" y="1872"/>
                <a:ext cx="336" cy="0"/>
              </a:xfrm>
              <a:prstGeom prst="line">
                <a:avLst/>
              </a:prstGeom>
              <a:ln w="28575" cap="flat" cmpd="sng">
                <a:solidFill>
                  <a:schemeClr val="tx1"/>
                </a:solidFill>
                <a:prstDash val="solid"/>
                <a:round/>
                <a:headEnd type="none" w="med" len="med"/>
                <a:tailEnd type="stealth" w="lg" len="lg"/>
              </a:ln>
            </p:spPr>
          </p:sp>
          <p:sp>
            <p:nvSpPr>
              <p:cNvPr id="31769" name="Line 26"/>
              <p:cNvSpPr/>
              <p:nvPr/>
            </p:nvSpPr>
            <p:spPr>
              <a:xfrm>
                <a:off x="2016" y="1781"/>
                <a:ext cx="1" cy="187"/>
              </a:xfrm>
              <a:prstGeom prst="line">
                <a:avLst/>
              </a:prstGeom>
              <a:ln w="15875" cap="flat" cmpd="sng">
                <a:solidFill>
                  <a:schemeClr val="tx1"/>
                </a:solidFill>
                <a:prstDash val="solid"/>
                <a:round/>
                <a:headEnd type="none" w="med" len="med"/>
                <a:tailEnd type="none" w="med" len="med"/>
              </a:ln>
            </p:spPr>
          </p:sp>
          <p:sp>
            <p:nvSpPr>
              <p:cNvPr id="31770" name="Line 27"/>
              <p:cNvSpPr/>
              <p:nvPr/>
            </p:nvSpPr>
            <p:spPr>
              <a:xfrm>
                <a:off x="2592" y="1872"/>
                <a:ext cx="336" cy="0"/>
              </a:xfrm>
              <a:prstGeom prst="line">
                <a:avLst/>
              </a:prstGeom>
              <a:ln w="28575" cap="flat" cmpd="sng">
                <a:solidFill>
                  <a:schemeClr val="tx1"/>
                </a:solidFill>
                <a:prstDash val="solid"/>
                <a:round/>
                <a:headEnd type="none" w="med" len="med"/>
                <a:tailEnd type="stealth" w="lg" len="lg"/>
              </a:ln>
            </p:spPr>
          </p:sp>
          <p:sp>
            <p:nvSpPr>
              <p:cNvPr id="31771" name="Line 28"/>
              <p:cNvSpPr/>
              <p:nvPr/>
            </p:nvSpPr>
            <p:spPr>
              <a:xfrm>
                <a:off x="3504" y="1872"/>
                <a:ext cx="336" cy="0"/>
              </a:xfrm>
              <a:prstGeom prst="line">
                <a:avLst/>
              </a:prstGeom>
              <a:ln w="28575" cap="flat" cmpd="sng">
                <a:solidFill>
                  <a:schemeClr val="tx1"/>
                </a:solidFill>
                <a:prstDash val="solid"/>
                <a:round/>
                <a:headEnd type="none" w="med" len="med"/>
                <a:tailEnd type="stealth" w="lg" len="lg"/>
              </a:ln>
            </p:spPr>
          </p:sp>
          <p:sp>
            <p:nvSpPr>
              <p:cNvPr id="31772" name="Line 29"/>
              <p:cNvSpPr/>
              <p:nvPr/>
            </p:nvSpPr>
            <p:spPr>
              <a:xfrm>
                <a:off x="4416" y="1872"/>
                <a:ext cx="336" cy="0"/>
              </a:xfrm>
              <a:prstGeom prst="line">
                <a:avLst/>
              </a:prstGeom>
              <a:ln w="28575" cap="flat" cmpd="sng">
                <a:solidFill>
                  <a:schemeClr val="tx1"/>
                </a:solidFill>
                <a:prstDash val="solid"/>
                <a:round/>
                <a:headEnd type="none" w="med" len="med"/>
                <a:tailEnd type="stealth" w="lg" len="lg"/>
              </a:ln>
            </p:spPr>
          </p:sp>
          <p:sp>
            <p:nvSpPr>
              <p:cNvPr id="31773" name="Line 30"/>
              <p:cNvSpPr/>
              <p:nvPr/>
            </p:nvSpPr>
            <p:spPr>
              <a:xfrm>
                <a:off x="1104" y="1872"/>
                <a:ext cx="336" cy="0"/>
              </a:xfrm>
              <a:prstGeom prst="line">
                <a:avLst/>
              </a:prstGeom>
              <a:ln w="28575" cap="flat" cmpd="sng">
                <a:solidFill>
                  <a:schemeClr val="tx1"/>
                </a:solidFill>
                <a:prstDash val="solid"/>
                <a:round/>
                <a:headEnd type="stealth" w="lg" len="lg"/>
                <a:tailEnd type="none" w="lg" len="lg"/>
              </a:ln>
            </p:spPr>
          </p:sp>
          <p:sp>
            <p:nvSpPr>
              <p:cNvPr id="31774" name="Line 31"/>
              <p:cNvSpPr/>
              <p:nvPr/>
            </p:nvSpPr>
            <p:spPr>
              <a:xfrm>
                <a:off x="2016" y="1872"/>
                <a:ext cx="336" cy="0"/>
              </a:xfrm>
              <a:prstGeom prst="line">
                <a:avLst/>
              </a:prstGeom>
              <a:ln w="28575" cap="flat" cmpd="sng">
                <a:solidFill>
                  <a:schemeClr val="tx1"/>
                </a:solidFill>
                <a:prstDash val="solid"/>
                <a:round/>
                <a:headEnd type="stealth" w="lg" len="lg"/>
                <a:tailEnd type="none" w="lg" len="lg"/>
              </a:ln>
            </p:spPr>
          </p:sp>
          <p:sp>
            <p:nvSpPr>
              <p:cNvPr id="31775" name="Line 32"/>
              <p:cNvSpPr/>
              <p:nvPr/>
            </p:nvSpPr>
            <p:spPr>
              <a:xfrm>
                <a:off x="2928" y="1872"/>
                <a:ext cx="336" cy="0"/>
              </a:xfrm>
              <a:prstGeom prst="line">
                <a:avLst/>
              </a:prstGeom>
              <a:ln w="28575" cap="flat" cmpd="sng">
                <a:solidFill>
                  <a:schemeClr val="tx1"/>
                </a:solidFill>
                <a:prstDash val="solid"/>
                <a:round/>
                <a:headEnd type="stealth" w="lg" len="lg"/>
                <a:tailEnd type="none" w="lg" len="lg"/>
              </a:ln>
            </p:spPr>
          </p:sp>
          <p:sp>
            <p:nvSpPr>
              <p:cNvPr id="31776" name="Line 33"/>
              <p:cNvSpPr/>
              <p:nvPr/>
            </p:nvSpPr>
            <p:spPr>
              <a:xfrm>
                <a:off x="3840" y="1872"/>
                <a:ext cx="336" cy="0"/>
              </a:xfrm>
              <a:prstGeom prst="line">
                <a:avLst/>
              </a:prstGeom>
              <a:ln w="28575" cap="flat" cmpd="sng">
                <a:solidFill>
                  <a:schemeClr val="tx1"/>
                </a:solidFill>
                <a:prstDash val="solid"/>
                <a:round/>
                <a:headEnd type="stealth" w="lg" len="lg"/>
                <a:tailEnd type="none" w="lg" len="lg"/>
              </a:ln>
            </p:spPr>
          </p:sp>
        </p:grpSp>
        <p:sp>
          <p:nvSpPr>
            <p:cNvPr id="31777" name="Text Box 34"/>
            <p:cNvSpPr txBox="1"/>
            <p:nvPr/>
          </p:nvSpPr>
          <p:spPr>
            <a:xfrm>
              <a:off x="48" y="1440"/>
              <a:ext cx="576" cy="288"/>
            </a:xfrm>
            <a:prstGeom prst="rect">
              <a:avLst/>
            </a:prstGeom>
            <a:noFill/>
            <a:ln w="9525">
              <a:noFill/>
            </a:ln>
          </p:spPr>
          <p:txBody>
            <a:bodyPr lIns="0"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时钟</a:t>
              </a:r>
            </a:p>
          </p:txBody>
        </p:sp>
      </p:grpSp>
      <p:grpSp>
        <p:nvGrpSpPr>
          <p:cNvPr id="214051" name="Group 35"/>
          <p:cNvGrpSpPr/>
          <p:nvPr/>
        </p:nvGrpSpPr>
        <p:grpSpPr>
          <a:xfrm>
            <a:off x="76200" y="3276600"/>
            <a:ext cx="8921750" cy="773113"/>
            <a:chOff x="48" y="2064"/>
            <a:chExt cx="5620" cy="487"/>
          </a:xfrm>
        </p:grpSpPr>
        <p:sp>
          <p:nvSpPr>
            <p:cNvPr id="31779" name="Freeform 36"/>
            <p:cNvSpPr/>
            <p:nvPr/>
          </p:nvSpPr>
          <p:spPr>
            <a:xfrm>
              <a:off x="931" y="2208"/>
              <a:ext cx="3857" cy="343"/>
            </a:xfrm>
            <a:custGeom>
              <a:avLst/>
              <a:gdLst/>
              <a:ahLst/>
              <a:cxnLst>
                <a:cxn ang="0">
                  <a:pos x="170" y="0"/>
                </a:cxn>
                <a:cxn ang="0">
                  <a:pos x="0" y="170"/>
                </a:cxn>
                <a:cxn ang="0">
                  <a:pos x="173" y="342"/>
                </a:cxn>
                <a:cxn ang="0">
                  <a:pos x="1343" y="343"/>
                </a:cxn>
                <a:cxn ang="0">
                  <a:pos x="3686" y="342"/>
                </a:cxn>
                <a:cxn ang="0">
                  <a:pos x="3857" y="171"/>
                </a:cxn>
                <a:cxn ang="0">
                  <a:pos x="3686" y="0"/>
                </a:cxn>
                <a:cxn ang="0">
                  <a:pos x="170" y="0"/>
                </a:cxn>
              </a:cxnLst>
              <a:rect l="0" t="0" r="0" b="0"/>
              <a:pathLst>
                <a:path w="3857" h="343">
                  <a:moveTo>
                    <a:pt x="170" y="0"/>
                  </a:moveTo>
                  <a:lnTo>
                    <a:pt x="0" y="170"/>
                  </a:lnTo>
                  <a:lnTo>
                    <a:pt x="173" y="342"/>
                  </a:lnTo>
                  <a:lnTo>
                    <a:pt x="1343" y="343"/>
                  </a:lnTo>
                  <a:lnTo>
                    <a:pt x="3686" y="342"/>
                  </a:lnTo>
                  <a:lnTo>
                    <a:pt x="3857" y="171"/>
                  </a:lnTo>
                  <a:lnTo>
                    <a:pt x="3686" y="0"/>
                  </a:lnTo>
                  <a:lnTo>
                    <a:pt x="170" y="0"/>
                  </a:lnTo>
                  <a:close/>
                </a:path>
              </a:pathLst>
            </a:custGeom>
            <a:noFill/>
            <a:ln w="31750" cap="flat" cmpd="sng">
              <a:solidFill>
                <a:schemeClr val="tx1"/>
              </a:solidFill>
              <a:prstDash val="solid"/>
              <a:round/>
              <a:headEnd type="none" w="med" len="med"/>
              <a:tailEnd type="none" w="med" len="med"/>
            </a:ln>
          </p:spPr>
          <p:txBody>
            <a:bodyPr/>
            <a:lstStyle/>
            <a:p>
              <a:endParaRPr lang="zh-CN" altLang="en-US"/>
            </a:p>
          </p:txBody>
        </p:sp>
        <p:sp>
          <p:nvSpPr>
            <p:cNvPr id="31780" name="Line 37"/>
            <p:cNvSpPr/>
            <p:nvPr/>
          </p:nvSpPr>
          <p:spPr>
            <a:xfrm flipH="1">
              <a:off x="482" y="2378"/>
              <a:ext cx="478" cy="0"/>
            </a:xfrm>
            <a:prstGeom prst="line">
              <a:avLst/>
            </a:prstGeom>
            <a:ln w="38100" cap="flat" cmpd="sng">
              <a:solidFill>
                <a:schemeClr val="tx1"/>
              </a:solidFill>
              <a:prstDash val="solid"/>
              <a:round/>
              <a:headEnd type="none" w="med" len="med"/>
              <a:tailEnd type="none" w="med" len="med"/>
            </a:ln>
          </p:spPr>
        </p:sp>
        <p:sp>
          <p:nvSpPr>
            <p:cNvPr id="31781" name="Line 38"/>
            <p:cNvSpPr/>
            <p:nvPr/>
          </p:nvSpPr>
          <p:spPr>
            <a:xfrm>
              <a:off x="4800" y="2378"/>
              <a:ext cx="868" cy="0"/>
            </a:xfrm>
            <a:prstGeom prst="line">
              <a:avLst/>
            </a:prstGeom>
            <a:ln w="38100" cap="flat" cmpd="sng">
              <a:solidFill>
                <a:schemeClr val="tx1"/>
              </a:solidFill>
              <a:prstDash val="solid"/>
              <a:round/>
              <a:headEnd type="none" w="med" len="med"/>
              <a:tailEnd type="none" w="med" len="med"/>
            </a:ln>
          </p:spPr>
        </p:sp>
        <p:sp>
          <p:nvSpPr>
            <p:cNvPr id="31782" name="Text Box 39"/>
            <p:cNvSpPr txBox="1"/>
            <p:nvPr/>
          </p:nvSpPr>
          <p:spPr>
            <a:xfrm>
              <a:off x="48" y="2064"/>
              <a:ext cx="576" cy="288"/>
            </a:xfrm>
            <a:prstGeom prst="rect">
              <a:avLst/>
            </a:prstGeom>
            <a:noFill/>
            <a:ln w="9525">
              <a:noFill/>
            </a:ln>
          </p:spPr>
          <p:txBody>
            <a:bodyPr lIns="0"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地址</a:t>
              </a:r>
            </a:p>
          </p:txBody>
        </p:sp>
      </p:grpSp>
      <p:grpSp>
        <p:nvGrpSpPr>
          <p:cNvPr id="214056" name="Group 40"/>
          <p:cNvGrpSpPr/>
          <p:nvPr/>
        </p:nvGrpSpPr>
        <p:grpSpPr>
          <a:xfrm>
            <a:off x="152400" y="4114800"/>
            <a:ext cx="8847138" cy="1143000"/>
            <a:chOff x="96" y="2592"/>
            <a:chExt cx="5573" cy="720"/>
          </a:xfrm>
        </p:grpSpPr>
        <p:grpSp>
          <p:nvGrpSpPr>
            <p:cNvPr id="31784" name="Group 41"/>
            <p:cNvGrpSpPr/>
            <p:nvPr/>
          </p:nvGrpSpPr>
          <p:grpSpPr>
            <a:xfrm>
              <a:off x="480" y="2745"/>
              <a:ext cx="5189" cy="567"/>
              <a:chOff x="480" y="2745"/>
              <a:chExt cx="5189" cy="567"/>
            </a:xfrm>
          </p:grpSpPr>
          <p:sp>
            <p:nvSpPr>
              <p:cNvPr id="31785" name="Freeform 42"/>
              <p:cNvSpPr/>
              <p:nvPr/>
            </p:nvSpPr>
            <p:spPr>
              <a:xfrm>
                <a:off x="480" y="2831"/>
                <a:ext cx="1129" cy="1"/>
              </a:xfrm>
              <a:custGeom>
                <a:avLst/>
                <a:gdLst/>
                <a:ahLst/>
                <a:cxnLst>
                  <a:cxn ang="0">
                    <a:pos x="0" y="1"/>
                  </a:cxn>
                  <a:cxn ang="0">
                    <a:pos x="1044" y="0"/>
                  </a:cxn>
                </a:cxnLst>
                <a:rect l="0" t="0" r="0" b="0"/>
                <a:pathLst>
                  <a:path w="1174" h="1">
                    <a:moveTo>
                      <a:pt x="0" y="1"/>
                    </a:moveTo>
                    <a:lnTo>
                      <a:pt x="1174" y="0"/>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1786" name="Line 43"/>
              <p:cNvSpPr/>
              <p:nvPr/>
            </p:nvSpPr>
            <p:spPr>
              <a:xfrm rot="8100000">
                <a:off x="1776" y="2745"/>
                <a:ext cx="0" cy="567"/>
              </a:xfrm>
              <a:prstGeom prst="line">
                <a:avLst/>
              </a:prstGeom>
              <a:ln w="38100" cap="flat" cmpd="sng">
                <a:solidFill>
                  <a:schemeClr val="tx1"/>
                </a:solidFill>
                <a:prstDash val="solid"/>
                <a:round/>
                <a:headEnd type="none" w="med" len="med"/>
                <a:tailEnd type="none" w="med" len="med"/>
              </a:ln>
            </p:spPr>
          </p:sp>
          <p:sp>
            <p:nvSpPr>
              <p:cNvPr id="31787" name="Line 44"/>
              <p:cNvSpPr/>
              <p:nvPr/>
            </p:nvSpPr>
            <p:spPr>
              <a:xfrm rot="2700000">
                <a:off x="3636" y="2733"/>
                <a:ext cx="0" cy="567"/>
              </a:xfrm>
              <a:prstGeom prst="line">
                <a:avLst/>
              </a:prstGeom>
              <a:ln w="38100" cap="flat" cmpd="sng">
                <a:solidFill>
                  <a:schemeClr val="tx1"/>
                </a:solidFill>
                <a:prstDash val="solid"/>
                <a:round/>
                <a:headEnd type="none" w="med" len="med"/>
                <a:tailEnd type="none" w="med" len="med"/>
              </a:ln>
            </p:spPr>
          </p:sp>
          <p:sp>
            <p:nvSpPr>
              <p:cNvPr id="31788" name="Line 45"/>
              <p:cNvSpPr/>
              <p:nvPr/>
            </p:nvSpPr>
            <p:spPr>
              <a:xfrm>
                <a:off x="1968" y="3216"/>
                <a:ext cx="1488" cy="0"/>
              </a:xfrm>
              <a:prstGeom prst="line">
                <a:avLst/>
              </a:prstGeom>
              <a:ln w="38100" cap="flat" cmpd="sng">
                <a:solidFill>
                  <a:schemeClr val="tx1"/>
                </a:solidFill>
                <a:prstDash val="solid"/>
                <a:round/>
                <a:headEnd type="none" w="med" len="med"/>
                <a:tailEnd type="none" w="med" len="med"/>
              </a:ln>
            </p:spPr>
          </p:sp>
          <p:sp>
            <p:nvSpPr>
              <p:cNvPr id="31789" name="Line 46"/>
              <p:cNvSpPr/>
              <p:nvPr/>
            </p:nvSpPr>
            <p:spPr>
              <a:xfrm>
                <a:off x="3840" y="2832"/>
                <a:ext cx="1829" cy="0"/>
              </a:xfrm>
              <a:prstGeom prst="line">
                <a:avLst/>
              </a:prstGeom>
              <a:ln w="38100" cap="flat" cmpd="sng">
                <a:solidFill>
                  <a:schemeClr val="tx1"/>
                </a:solidFill>
                <a:prstDash val="solid"/>
                <a:round/>
                <a:headEnd type="none" w="med" len="med"/>
                <a:tailEnd type="none" w="med" len="med"/>
              </a:ln>
            </p:spPr>
          </p:sp>
        </p:grpSp>
        <p:sp>
          <p:nvSpPr>
            <p:cNvPr id="31790" name="Text Box 47"/>
            <p:cNvSpPr txBox="1"/>
            <p:nvPr/>
          </p:nvSpPr>
          <p:spPr>
            <a:xfrm>
              <a:off x="96" y="2592"/>
              <a:ext cx="576" cy="518"/>
            </a:xfrm>
            <a:prstGeom prst="rect">
              <a:avLst/>
            </a:prstGeom>
            <a:noFill/>
            <a:ln w="9525">
              <a:noFill/>
            </a:ln>
          </p:spPr>
          <p:txBody>
            <a:bodyPr lIns="0"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读</a:t>
              </a:r>
            </a:p>
            <a:p>
              <a:pPr>
                <a:buClrTx/>
                <a:buFontTx/>
              </a:pPr>
              <a:r>
                <a:rPr lang="zh-CN" altLang="en-US" sz="2400" b="1" dirty="0">
                  <a:latin typeface="Times New Roman" panose="02020603050405020304" pitchFamily="18" charset="0"/>
                  <a:ea typeface="宋体" panose="02010600030101010101" pitchFamily="2" charset="-122"/>
                </a:rPr>
                <a:t>命令</a:t>
              </a:r>
            </a:p>
          </p:txBody>
        </p:sp>
      </p:grpSp>
      <p:grpSp>
        <p:nvGrpSpPr>
          <p:cNvPr id="214064" name="Group 48"/>
          <p:cNvGrpSpPr/>
          <p:nvPr/>
        </p:nvGrpSpPr>
        <p:grpSpPr>
          <a:xfrm>
            <a:off x="76200" y="5334000"/>
            <a:ext cx="8991600" cy="833438"/>
            <a:chOff x="48" y="3360"/>
            <a:chExt cx="5664" cy="525"/>
          </a:xfrm>
        </p:grpSpPr>
        <p:sp>
          <p:nvSpPr>
            <p:cNvPr id="31792" name="Line 49"/>
            <p:cNvSpPr/>
            <p:nvPr/>
          </p:nvSpPr>
          <p:spPr>
            <a:xfrm>
              <a:off x="480" y="3696"/>
              <a:ext cx="2282" cy="0"/>
            </a:xfrm>
            <a:prstGeom prst="line">
              <a:avLst/>
            </a:prstGeom>
            <a:ln w="38100" cap="flat" cmpd="sng">
              <a:solidFill>
                <a:schemeClr val="tx1"/>
              </a:solidFill>
              <a:prstDash val="solid"/>
              <a:round/>
              <a:headEnd type="none" w="med" len="med"/>
              <a:tailEnd type="none" w="med" len="med"/>
            </a:ln>
          </p:spPr>
        </p:sp>
        <p:sp>
          <p:nvSpPr>
            <p:cNvPr id="31793" name="Line 50"/>
            <p:cNvSpPr/>
            <p:nvPr/>
          </p:nvSpPr>
          <p:spPr>
            <a:xfrm>
              <a:off x="3809" y="3695"/>
              <a:ext cx="1903" cy="1"/>
            </a:xfrm>
            <a:prstGeom prst="line">
              <a:avLst/>
            </a:prstGeom>
            <a:ln w="38100" cap="flat" cmpd="sng">
              <a:solidFill>
                <a:schemeClr val="tx1"/>
              </a:solidFill>
              <a:prstDash val="solid"/>
              <a:round/>
              <a:headEnd type="none" w="med" len="med"/>
              <a:tailEnd type="none" w="med" len="med"/>
            </a:ln>
          </p:spPr>
        </p:sp>
        <p:sp>
          <p:nvSpPr>
            <p:cNvPr id="31794" name="Freeform 51"/>
            <p:cNvSpPr/>
            <p:nvPr/>
          </p:nvSpPr>
          <p:spPr>
            <a:xfrm>
              <a:off x="2763" y="3552"/>
              <a:ext cx="1046" cy="333"/>
            </a:xfrm>
            <a:custGeom>
              <a:avLst/>
              <a:gdLst/>
              <a:ahLst/>
              <a:cxnLst>
                <a:cxn ang="0">
                  <a:pos x="0" y="144"/>
                </a:cxn>
                <a:cxn ang="0">
                  <a:pos x="141" y="0"/>
                </a:cxn>
                <a:cxn ang="0">
                  <a:pos x="886" y="0"/>
                </a:cxn>
                <a:cxn ang="0">
                  <a:pos x="1026" y="144"/>
                </a:cxn>
                <a:cxn ang="0">
                  <a:pos x="856" y="333"/>
                </a:cxn>
                <a:cxn ang="0">
                  <a:pos x="164" y="333"/>
                </a:cxn>
                <a:cxn ang="0">
                  <a:pos x="0" y="144"/>
                </a:cxn>
              </a:cxnLst>
              <a:rect l="0" t="0" r="0" b="0"/>
              <a:pathLst>
                <a:path w="1056" h="333">
                  <a:moveTo>
                    <a:pt x="0" y="144"/>
                  </a:moveTo>
                  <a:lnTo>
                    <a:pt x="144" y="0"/>
                  </a:lnTo>
                  <a:lnTo>
                    <a:pt x="912" y="0"/>
                  </a:lnTo>
                  <a:lnTo>
                    <a:pt x="1056" y="144"/>
                  </a:lnTo>
                  <a:lnTo>
                    <a:pt x="880" y="333"/>
                  </a:lnTo>
                  <a:lnTo>
                    <a:pt x="170" y="333"/>
                  </a:lnTo>
                  <a:lnTo>
                    <a:pt x="0" y="144"/>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1795" name="Text Box 52"/>
            <p:cNvSpPr txBox="1"/>
            <p:nvPr/>
          </p:nvSpPr>
          <p:spPr>
            <a:xfrm>
              <a:off x="48" y="3360"/>
              <a:ext cx="576" cy="288"/>
            </a:xfrm>
            <a:prstGeom prst="rect">
              <a:avLst/>
            </a:prstGeom>
            <a:noFill/>
            <a:ln w="9525">
              <a:noFill/>
            </a:ln>
          </p:spPr>
          <p:txBody>
            <a:bodyPr lIns="0" anchor="t" anchorCtr="0">
              <a:spAutoFit/>
            </a:bodyPr>
            <a:lstStyle/>
            <a:p>
              <a:pPr>
                <a:spcBef>
                  <a:spcPct val="50000"/>
                </a:spcBef>
                <a:buClrTx/>
                <a:buFontTx/>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数据</a:t>
              </a:r>
            </a:p>
          </p:txBody>
        </p:sp>
      </p:grpSp>
      <p:grpSp>
        <p:nvGrpSpPr>
          <p:cNvPr id="214069" name="Group 53"/>
          <p:cNvGrpSpPr/>
          <p:nvPr/>
        </p:nvGrpSpPr>
        <p:grpSpPr>
          <a:xfrm>
            <a:off x="762000" y="3505200"/>
            <a:ext cx="1030288" cy="2663825"/>
            <a:chOff x="480" y="2208"/>
            <a:chExt cx="649" cy="1678"/>
          </a:xfrm>
        </p:grpSpPr>
        <p:sp>
          <p:nvSpPr>
            <p:cNvPr id="31797" name="Rectangle 54"/>
            <p:cNvSpPr/>
            <p:nvPr/>
          </p:nvSpPr>
          <p:spPr>
            <a:xfrm>
              <a:off x="480" y="2832"/>
              <a:ext cx="624" cy="408"/>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1798" name="Rectangle 55"/>
            <p:cNvSpPr/>
            <p:nvPr/>
          </p:nvSpPr>
          <p:spPr>
            <a:xfrm>
              <a:off x="480" y="3528"/>
              <a:ext cx="624" cy="358"/>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1799" name="Line 56"/>
            <p:cNvSpPr/>
            <p:nvPr/>
          </p:nvSpPr>
          <p:spPr>
            <a:xfrm>
              <a:off x="480" y="2832"/>
              <a:ext cx="624" cy="0"/>
            </a:xfrm>
            <a:prstGeom prst="line">
              <a:avLst/>
            </a:prstGeom>
            <a:ln w="76200" cap="flat" cmpd="sng">
              <a:solidFill>
                <a:schemeClr val="folHlink"/>
              </a:solidFill>
              <a:prstDash val="solid"/>
              <a:round/>
              <a:headEnd type="none" w="med" len="med"/>
              <a:tailEnd type="none" w="med" len="med"/>
            </a:ln>
          </p:spPr>
        </p:sp>
        <p:sp>
          <p:nvSpPr>
            <p:cNvPr id="31800" name="Line 57"/>
            <p:cNvSpPr/>
            <p:nvPr/>
          </p:nvSpPr>
          <p:spPr>
            <a:xfrm>
              <a:off x="480" y="3696"/>
              <a:ext cx="624" cy="0"/>
            </a:xfrm>
            <a:prstGeom prst="line">
              <a:avLst/>
            </a:prstGeom>
            <a:ln w="76200" cap="flat" cmpd="sng">
              <a:solidFill>
                <a:schemeClr val="folHlink"/>
              </a:solidFill>
              <a:prstDash val="solid"/>
              <a:round/>
              <a:headEnd type="none" w="med" len="med"/>
              <a:tailEnd type="none" w="med" len="med"/>
            </a:ln>
          </p:spPr>
        </p:sp>
        <p:grpSp>
          <p:nvGrpSpPr>
            <p:cNvPr id="31801" name="Group 58"/>
            <p:cNvGrpSpPr/>
            <p:nvPr/>
          </p:nvGrpSpPr>
          <p:grpSpPr>
            <a:xfrm>
              <a:off x="480" y="2208"/>
              <a:ext cx="649" cy="386"/>
              <a:chOff x="478" y="2206"/>
              <a:chExt cx="649" cy="386"/>
            </a:xfrm>
          </p:grpSpPr>
          <p:sp>
            <p:nvSpPr>
              <p:cNvPr id="31802" name="Freeform 59"/>
              <p:cNvSpPr/>
              <p:nvPr/>
            </p:nvSpPr>
            <p:spPr>
              <a:xfrm>
                <a:off x="478" y="2206"/>
                <a:ext cx="613" cy="355"/>
              </a:xfrm>
              <a:custGeom>
                <a:avLst/>
                <a:gdLst/>
                <a:ahLst/>
                <a:cxnLst>
                  <a:cxn ang="0">
                    <a:pos x="453" y="196"/>
                  </a:cxn>
                  <a:cxn ang="0">
                    <a:pos x="581" y="2"/>
                  </a:cxn>
                  <a:cxn ang="0">
                    <a:pos x="0" y="0"/>
                  </a:cxn>
                  <a:cxn ang="0">
                    <a:pos x="0" y="355"/>
                  </a:cxn>
                  <a:cxn ang="0">
                    <a:pos x="613" y="355"/>
                  </a:cxn>
                </a:cxnLst>
                <a:rect l="0" t="0" r="0" b="0"/>
                <a:pathLst>
                  <a:path w="613" h="355">
                    <a:moveTo>
                      <a:pt x="453" y="196"/>
                    </a:moveTo>
                    <a:lnTo>
                      <a:pt x="581" y="2"/>
                    </a:lnTo>
                    <a:lnTo>
                      <a:pt x="0" y="0"/>
                    </a:lnTo>
                    <a:lnTo>
                      <a:pt x="0" y="355"/>
                    </a:lnTo>
                    <a:lnTo>
                      <a:pt x="613" y="355"/>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1803" name="Line 60"/>
              <p:cNvSpPr/>
              <p:nvPr/>
            </p:nvSpPr>
            <p:spPr>
              <a:xfrm>
                <a:off x="480" y="2208"/>
                <a:ext cx="624" cy="0"/>
              </a:xfrm>
              <a:prstGeom prst="line">
                <a:avLst/>
              </a:prstGeom>
              <a:ln w="76200" cap="flat" cmpd="sng">
                <a:solidFill>
                  <a:schemeClr val="folHlink"/>
                </a:solidFill>
                <a:prstDash val="solid"/>
                <a:round/>
                <a:headEnd type="none" w="med" len="med"/>
                <a:tailEnd type="none" w="med" len="med"/>
              </a:ln>
            </p:spPr>
          </p:sp>
          <p:sp>
            <p:nvSpPr>
              <p:cNvPr id="31804" name="Line 61"/>
              <p:cNvSpPr/>
              <p:nvPr/>
            </p:nvSpPr>
            <p:spPr>
              <a:xfrm>
                <a:off x="480" y="2544"/>
                <a:ext cx="624" cy="0"/>
              </a:xfrm>
              <a:prstGeom prst="line">
                <a:avLst/>
              </a:prstGeom>
              <a:ln w="76200" cap="flat" cmpd="sng">
                <a:solidFill>
                  <a:schemeClr val="folHlink"/>
                </a:solidFill>
                <a:prstDash val="solid"/>
                <a:round/>
                <a:headEnd type="none" w="med" len="med"/>
                <a:tailEnd type="none" w="med" len="med"/>
              </a:ln>
            </p:spPr>
          </p:sp>
          <p:sp>
            <p:nvSpPr>
              <p:cNvPr id="31805" name="Line 62"/>
              <p:cNvSpPr/>
              <p:nvPr/>
            </p:nvSpPr>
            <p:spPr>
              <a:xfrm rot="8100000">
                <a:off x="1008" y="2329"/>
                <a:ext cx="0" cy="263"/>
              </a:xfrm>
              <a:prstGeom prst="line">
                <a:avLst/>
              </a:prstGeom>
              <a:ln w="76200" cap="flat" cmpd="sng">
                <a:solidFill>
                  <a:schemeClr val="folHlink"/>
                </a:solidFill>
                <a:prstDash val="solid"/>
                <a:round/>
                <a:headEnd type="none" w="med" len="med"/>
                <a:tailEnd type="none" w="med" len="med"/>
              </a:ln>
            </p:spPr>
          </p:sp>
          <p:sp>
            <p:nvSpPr>
              <p:cNvPr id="31806" name="Line 63"/>
              <p:cNvSpPr/>
              <p:nvPr/>
            </p:nvSpPr>
            <p:spPr>
              <a:xfrm rot="2700000">
                <a:off x="988" y="2165"/>
                <a:ext cx="0" cy="263"/>
              </a:xfrm>
              <a:prstGeom prst="line">
                <a:avLst/>
              </a:prstGeom>
              <a:ln w="76200" cap="flat" cmpd="sng">
                <a:solidFill>
                  <a:schemeClr val="folHlink"/>
                </a:solidFill>
                <a:prstDash val="solid"/>
                <a:round/>
                <a:headEnd type="none" w="med" len="med"/>
                <a:tailEnd type="none" w="med" len="med"/>
              </a:ln>
            </p:spPr>
          </p:sp>
        </p:grpSp>
      </p:grpSp>
      <p:sp>
        <p:nvSpPr>
          <p:cNvPr id="214080" name="Line 64"/>
          <p:cNvSpPr/>
          <p:nvPr/>
        </p:nvSpPr>
        <p:spPr>
          <a:xfrm>
            <a:off x="1752600" y="3048000"/>
            <a:ext cx="0" cy="3703638"/>
          </a:xfrm>
          <a:prstGeom prst="line">
            <a:avLst/>
          </a:prstGeom>
          <a:ln w="38100" cap="flat" cmpd="sng">
            <a:solidFill>
              <a:schemeClr val="tx1"/>
            </a:solidFill>
            <a:prstDash val="dash"/>
            <a:round/>
            <a:headEnd type="none" w="med" len="med"/>
            <a:tailEnd type="none" w="med" len="med"/>
          </a:ln>
        </p:spPr>
      </p:sp>
      <p:grpSp>
        <p:nvGrpSpPr>
          <p:cNvPr id="214081" name="Group 65"/>
          <p:cNvGrpSpPr/>
          <p:nvPr/>
        </p:nvGrpSpPr>
        <p:grpSpPr>
          <a:xfrm>
            <a:off x="1731963" y="3505200"/>
            <a:ext cx="1481137" cy="2667000"/>
            <a:chOff x="1091" y="2208"/>
            <a:chExt cx="933" cy="1680"/>
          </a:xfrm>
        </p:grpSpPr>
        <p:sp>
          <p:nvSpPr>
            <p:cNvPr id="31809" name="Freeform 66"/>
            <p:cNvSpPr/>
            <p:nvPr/>
          </p:nvSpPr>
          <p:spPr>
            <a:xfrm>
              <a:off x="1091" y="2835"/>
              <a:ext cx="893" cy="406"/>
            </a:xfrm>
            <a:custGeom>
              <a:avLst/>
              <a:gdLst/>
              <a:ahLst/>
              <a:cxnLst>
                <a:cxn ang="0">
                  <a:pos x="0" y="363"/>
                </a:cxn>
                <a:cxn ang="0">
                  <a:pos x="891" y="363"/>
                </a:cxn>
                <a:cxn ang="0">
                  <a:pos x="499" y="0"/>
                </a:cxn>
                <a:cxn ang="0">
                  <a:pos x="23" y="10"/>
                </a:cxn>
              </a:cxnLst>
              <a:rect l="0" t="0" r="0" b="0"/>
              <a:pathLst>
                <a:path w="894" h="429">
                  <a:moveTo>
                    <a:pt x="0" y="429"/>
                  </a:moveTo>
                  <a:lnTo>
                    <a:pt x="894" y="429"/>
                  </a:lnTo>
                  <a:lnTo>
                    <a:pt x="502" y="0"/>
                  </a:lnTo>
                  <a:lnTo>
                    <a:pt x="23" y="13"/>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1810" name="Line 67"/>
            <p:cNvSpPr/>
            <p:nvPr/>
          </p:nvSpPr>
          <p:spPr>
            <a:xfrm>
              <a:off x="1104" y="2219"/>
              <a:ext cx="920" cy="0"/>
            </a:xfrm>
            <a:prstGeom prst="line">
              <a:avLst/>
            </a:prstGeom>
            <a:ln w="38100" cap="flat" cmpd="sng">
              <a:solidFill>
                <a:schemeClr val="folHlink"/>
              </a:solidFill>
              <a:prstDash val="solid"/>
              <a:round/>
              <a:headEnd type="none" w="med" len="med"/>
              <a:tailEnd type="none" w="med" len="med"/>
            </a:ln>
          </p:spPr>
        </p:sp>
        <p:sp>
          <p:nvSpPr>
            <p:cNvPr id="31811" name="Rectangle 68"/>
            <p:cNvSpPr/>
            <p:nvPr/>
          </p:nvSpPr>
          <p:spPr>
            <a:xfrm>
              <a:off x="1104" y="3530"/>
              <a:ext cx="912" cy="358"/>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1812" name="Line 69"/>
            <p:cNvSpPr/>
            <p:nvPr/>
          </p:nvSpPr>
          <p:spPr>
            <a:xfrm>
              <a:off x="1104" y="2566"/>
              <a:ext cx="920" cy="0"/>
            </a:xfrm>
            <a:prstGeom prst="line">
              <a:avLst/>
            </a:prstGeom>
            <a:ln w="38100" cap="flat" cmpd="sng">
              <a:solidFill>
                <a:schemeClr val="folHlink"/>
              </a:solidFill>
              <a:prstDash val="solid"/>
              <a:round/>
              <a:headEnd type="none" w="med" len="med"/>
              <a:tailEnd type="none" w="med" len="med"/>
            </a:ln>
          </p:spPr>
        </p:sp>
        <p:sp>
          <p:nvSpPr>
            <p:cNvPr id="31813" name="Line 70"/>
            <p:cNvSpPr/>
            <p:nvPr/>
          </p:nvSpPr>
          <p:spPr>
            <a:xfrm>
              <a:off x="1104" y="2832"/>
              <a:ext cx="480" cy="0"/>
            </a:xfrm>
            <a:prstGeom prst="line">
              <a:avLst/>
            </a:prstGeom>
            <a:ln w="76200" cap="flat" cmpd="sng">
              <a:solidFill>
                <a:schemeClr val="folHlink"/>
              </a:solidFill>
              <a:prstDash val="solid"/>
              <a:round/>
              <a:headEnd type="none" w="med" len="med"/>
              <a:tailEnd type="none" w="med" len="med"/>
            </a:ln>
          </p:spPr>
        </p:sp>
        <p:sp>
          <p:nvSpPr>
            <p:cNvPr id="31814" name="Line 71"/>
            <p:cNvSpPr/>
            <p:nvPr/>
          </p:nvSpPr>
          <p:spPr>
            <a:xfrm>
              <a:off x="1104" y="2208"/>
              <a:ext cx="912" cy="0"/>
            </a:xfrm>
            <a:prstGeom prst="line">
              <a:avLst/>
            </a:prstGeom>
            <a:ln w="76200" cap="flat" cmpd="sng">
              <a:solidFill>
                <a:schemeClr val="folHlink"/>
              </a:solidFill>
              <a:prstDash val="solid"/>
              <a:round/>
              <a:headEnd type="none" w="med" len="med"/>
              <a:tailEnd type="none" w="med" len="med"/>
            </a:ln>
          </p:spPr>
        </p:sp>
        <p:sp>
          <p:nvSpPr>
            <p:cNvPr id="31815" name="Line 72"/>
            <p:cNvSpPr/>
            <p:nvPr/>
          </p:nvSpPr>
          <p:spPr>
            <a:xfrm>
              <a:off x="1104" y="2544"/>
              <a:ext cx="912" cy="0"/>
            </a:xfrm>
            <a:prstGeom prst="line">
              <a:avLst/>
            </a:prstGeom>
            <a:ln w="76200" cap="flat" cmpd="sng">
              <a:solidFill>
                <a:schemeClr val="folHlink"/>
              </a:solidFill>
              <a:prstDash val="solid"/>
              <a:round/>
              <a:headEnd type="none" w="med" len="med"/>
              <a:tailEnd type="none" w="med" len="med"/>
            </a:ln>
          </p:spPr>
        </p:sp>
        <p:sp>
          <p:nvSpPr>
            <p:cNvPr id="31816" name="Line 73"/>
            <p:cNvSpPr/>
            <p:nvPr/>
          </p:nvSpPr>
          <p:spPr>
            <a:xfrm>
              <a:off x="1104" y="3696"/>
              <a:ext cx="912" cy="0"/>
            </a:xfrm>
            <a:prstGeom prst="line">
              <a:avLst/>
            </a:prstGeom>
            <a:ln w="76200" cap="flat" cmpd="sng">
              <a:solidFill>
                <a:schemeClr val="folHlink"/>
              </a:solidFill>
              <a:prstDash val="solid"/>
              <a:round/>
              <a:headEnd type="none" w="med" len="med"/>
              <a:tailEnd type="none" w="med" len="med"/>
            </a:ln>
          </p:spPr>
        </p:sp>
      </p:grpSp>
      <p:sp>
        <p:nvSpPr>
          <p:cNvPr id="214090" name="Line 74"/>
          <p:cNvSpPr/>
          <p:nvPr/>
        </p:nvSpPr>
        <p:spPr>
          <a:xfrm rot="8100000">
            <a:off x="2819400" y="4343400"/>
            <a:ext cx="0" cy="900113"/>
          </a:xfrm>
          <a:prstGeom prst="line">
            <a:avLst/>
          </a:prstGeom>
          <a:ln w="76200" cap="flat" cmpd="sng">
            <a:solidFill>
              <a:schemeClr val="folHlink"/>
            </a:solidFill>
            <a:prstDash val="solid"/>
            <a:round/>
            <a:headEnd type="none" w="med" len="med"/>
            <a:tailEnd type="none" w="med" len="med"/>
          </a:ln>
        </p:spPr>
      </p:sp>
      <p:sp>
        <p:nvSpPr>
          <p:cNvPr id="214091" name="Line 75"/>
          <p:cNvSpPr/>
          <p:nvPr/>
        </p:nvSpPr>
        <p:spPr>
          <a:xfrm>
            <a:off x="3200400" y="3048000"/>
            <a:ext cx="0" cy="3733800"/>
          </a:xfrm>
          <a:prstGeom prst="line">
            <a:avLst/>
          </a:prstGeom>
          <a:ln w="38100" cap="flat" cmpd="sng">
            <a:solidFill>
              <a:schemeClr val="tx1"/>
            </a:solidFill>
            <a:prstDash val="dash"/>
            <a:round/>
            <a:headEnd type="none" w="med" len="med"/>
            <a:tailEnd type="none" w="med" len="med"/>
          </a:ln>
        </p:spPr>
      </p:sp>
      <p:grpSp>
        <p:nvGrpSpPr>
          <p:cNvPr id="214092" name="Group 76"/>
          <p:cNvGrpSpPr/>
          <p:nvPr/>
        </p:nvGrpSpPr>
        <p:grpSpPr>
          <a:xfrm>
            <a:off x="3124200" y="3505200"/>
            <a:ext cx="1600200" cy="2667000"/>
            <a:chOff x="1968" y="2208"/>
            <a:chExt cx="1008" cy="1680"/>
          </a:xfrm>
        </p:grpSpPr>
        <p:grpSp>
          <p:nvGrpSpPr>
            <p:cNvPr id="31820" name="Group 77"/>
            <p:cNvGrpSpPr/>
            <p:nvPr/>
          </p:nvGrpSpPr>
          <p:grpSpPr>
            <a:xfrm>
              <a:off x="2008" y="2219"/>
              <a:ext cx="920" cy="347"/>
              <a:chOff x="2008" y="2219"/>
              <a:chExt cx="920" cy="347"/>
            </a:xfrm>
          </p:grpSpPr>
          <p:sp>
            <p:nvSpPr>
              <p:cNvPr id="31821" name="Line 78"/>
              <p:cNvSpPr/>
              <p:nvPr/>
            </p:nvSpPr>
            <p:spPr>
              <a:xfrm>
                <a:off x="2008" y="2219"/>
                <a:ext cx="920" cy="0"/>
              </a:xfrm>
              <a:prstGeom prst="line">
                <a:avLst/>
              </a:prstGeom>
              <a:ln w="38100" cap="flat" cmpd="sng">
                <a:solidFill>
                  <a:schemeClr val="folHlink"/>
                </a:solidFill>
                <a:prstDash val="solid"/>
                <a:round/>
                <a:headEnd type="none" w="med" len="med"/>
                <a:tailEnd type="none" w="med" len="med"/>
              </a:ln>
            </p:spPr>
          </p:sp>
          <p:sp>
            <p:nvSpPr>
              <p:cNvPr id="31822" name="Line 79"/>
              <p:cNvSpPr/>
              <p:nvPr/>
            </p:nvSpPr>
            <p:spPr>
              <a:xfrm>
                <a:off x="2008" y="2566"/>
                <a:ext cx="920" cy="0"/>
              </a:xfrm>
              <a:prstGeom prst="line">
                <a:avLst/>
              </a:prstGeom>
              <a:ln w="38100" cap="flat" cmpd="sng">
                <a:solidFill>
                  <a:schemeClr val="folHlink"/>
                </a:solidFill>
                <a:prstDash val="solid"/>
                <a:round/>
                <a:headEnd type="none" w="med" len="med"/>
                <a:tailEnd type="none" w="med" len="med"/>
              </a:ln>
            </p:spPr>
          </p:sp>
        </p:grpSp>
        <p:sp>
          <p:nvSpPr>
            <p:cNvPr id="31823" name="Line 80"/>
            <p:cNvSpPr/>
            <p:nvPr/>
          </p:nvSpPr>
          <p:spPr>
            <a:xfrm>
              <a:off x="2016" y="3696"/>
              <a:ext cx="816" cy="0"/>
            </a:xfrm>
            <a:prstGeom prst="line">
              <a:avLst/>
            </a:prstGeom>
            <a:ln w="76200" cap="flat" cmpd="sng">
              <a:solidFill>
                <a:schemeClr val="folHlink"/>
              </a:solidFill>
              <a:prstDash val="solid"/>
              <a:round/>
              <a:headEnd type="none" w="med" len="med"/>
              <a:tailEnd type="none" w="med" len="med"/>
            </a:ln>
          </p:spPr>
        </p:sp>
        <p:sp>
          <p:nvSpPr>
            <p:cNvPr id="31824" name="Line 81"/>
            <p:cNvSpPr/>
            <p:nvPr/>
          </p:nvSpPr>
          <p:spPr>
            <a:xfrm>
              <a:off x="2016" y="2208"/>
              <a:ext cx="912" cy="0"/>
            </a:xfrm>
            <a:prstGeom prst="line">
              <a:avLst/>
            </a:prstGeom>
            <a:ln w="76200" cap="flat" cmpd="sng">
              <a:solidFill>
                <a:schemeClr val="folHlink"/>
              </a:solidFill>
              <a:prstDash val="solid"/>
              <a:round/>
              <a:headEnd type="none" w="med" len="med"/>
              <a:tailEnd type="none" w="med" len="med"/>
            </a:ln>
          </p:spPr>
        </p:sp>
        <p:sp>
          <p:nvSpPr>
            <p:cNvPr id="31825" name="Line 82"/>
            <p:cNvSpPr/>
            <p:nvPr/>
          </p:nvSpPr>
          <p:spPr>
            <a:xfrm>
              <a:off x="2016" y="2544"/>
              <a:ext cx="912" cy="0"/>
            </a:xfrm>
            <a:prstGeom prst="line">
              <a:avLst/>
            </a:prstGeom>
            <a:ln w="76200" cap="flat" cmpd="sng">
              <a:solidFill>
                <a:schemeClr val="folHlink"/>
              </a:solidFill>
              <a:prstDash val="solid"/>
              <a:round/>
              <a:headEnd type="none" w="med" len="med"/>
              <a:tailEnd type="none" w="med" len="med"/>
            </a:ln>
          </p:spPr>
        </p:sp>
        <p:sp>
          <p:nvSpPr>
            <p:cNvPr id="31826" name="Line 83"/>
            <p:cNvSpPr/>
            <p:nvPr/>
          </p:nvSpPr>
          <p:spPr>
            <a:xfrm>
              <a:off x="1968" y="3216"/>
              <a:ext cx="986" cy="0"/>
            </a:xfrm>
            <a:prstGeom prst="line">
              <a:avLst/>
            </a:prstGeom>
            <a:ln w="76200" cap="flat" cmpd="sng">
              <a:solidFill>
                <a:schemeClr val="folHlink"/>
              </a:solidFill>
              <a:prstDash val="solid"/>
              <a:round/>
              <a:headEnd type="none" w="med" len="med"/>
              <a:tailEnd type="none" w="med" len="med"/>
            </a:ln>
          </p:spPr>
        </p:sp>
        <p:sp>
          <p:nvSpPr>
            <p:cNvPr id="31827" name="Freeform 84"/>
            <p:cNvSpPr/>
            <p:nvPr/>
          </p:nvSpPr>
          <p:spPr>
            <a:xfrm>
              <a:off x="2010" y="3530"/>
              <a:ext cx="931" cy="358"/>
            </a:xfrm>
            <a:custGeom>
              <a:avLst/>
              <a:gdLst/>
              <a:ahLst/>
              <a:cxnLst>
                <a:cxn ang="0">
                  <a:pos x="0" y="0"/>
                </a:cxn>
                <a:cxn ang="0">
                  <a:pos x="931" y="0"/>
                </a:cxn>
                <a:cxn ang="0">
                  <a:pos x="774" y="166"/>
                </a:cxn>
                <a:cxn ang="0">
                  <a:pos x="931" y="355"/>
                </a:cxn>
                <a:cxn ang="0">
                  <a:pos x="6" y="358"/>
                </a:cxn>
              </a:cxnLst>
              <a:rect l="0" t="0" r="0" b="0"/>
              <a:pathLst>
                <a:path w="931" h="358">
                  <a:moveTo>
                    <a:pt x="0" y="0"/>
                  </a:moveTo>
                  <a:lnTo>
                    <a:pt x="931" y="0"/>
                  </a:lnTo>
                  <a:lnTo>
                    <a:pt x="774" y="166"/>
                  </a:lnTo>
                  <a:lnTo>
                    <a:pt x="931" y="355"/>
                  </a:lnTo>
                  <a:lnTo>
                    <a:pt x="6" y="358"/>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1828" name="Line 85"/>
            <p:cNvSpPr/>
            <p:nvPr/>
          </p:nvSpPr>
          <p:spPr>
            <a:xfrm flipV="1">
              <a:off x="2784" y="3552"/>
              <a:ext cx="144" cy="144"/>
            </a:xfrm>
            <a:prstGeom prst="line">
              <a:avLst/>
            </a:prstGeom>
            <a:ln w="76200" cap="flat" cmpd="sng">
              <a:solidFill>
                <a:schemeClr val="folHlink"/>
              </a:solidFill>
              <a:prstDash val="solid"/>
              <a:round/>
              <a:headEnd type="none" w="med" len="med"/>
              <a:tailEnd type="none" w="med" len="med"/>
            </a:ln>
          </p:spPr>
        </p:sp>
        <p:sp>
          <p:nvSpPr>
            <p:cNvPr id="31829" name="Line 86"/>
            <p:cNvSpPr/>
            <p:nvPr/>
          </p:nvSpPr>
          <p:spPr>
            <a:xfrm rot="5400000" flipV="1">
              <a:off x="2784" y="3696"/>
              <a:ext cx="192" cy="192"/>
            </a:xfrm>
            <a:prstGeom prst="line">
              <a:avLst/>
            </a:prstGeom>
            <a:ln w="76200" cap="flat" cmpd="sng">
              <a:solidFill>
                <a:schemeClr val="folHlink"/>
              </a:solidFill>
              <a:prstDash val="solid"/>
              <a:round/>
              <a:headEnd type="none" w="med" len="med"/>
              <a:tailEnd type="none" w="med" len="med"/>
            </a:ln>
          </p:spPr>
        </p:sp>
      </p:grpSp>
      <p:sp>
        <p:nvSpPr>
          <p:cNvPr id="214103" name="Line 87"/>
          <p:cNvSpPr/>
          <p:nvPr/>
        </p:nvSpPr>
        <p:spPr>
          <a:xfrm>
            <a:off x="4648200" y="3048000"/>
            <a:ext cx="0" cy="3733800"/>
          </a:xfrm>
          <a:prstGeom prst="line">
            <a:avLst/>
          </a:prstGeom>
          <a:ln w="38100" cap="flat" cmpd="sng">
            <a:solidFill>
              <a:schemeClr val="tx1"/>
            </a:solidFill>
            <a:prstDash val="dash"/>
            <a:round/>
            <a:headEnd type="none" w="med" len="med"/>
            <a:tailEnd type="none" w="med" len="med"/>
          </a:ln>
        </p:spPr>
      </p:sp>
      <p:grpSp>
        <p:nvGrpSpPr>
          <p:cNvPr id="214104" name="Group 88"/>
          <p:cNvGrpSpPr/>
          <p:nvPr/>
        </p:nvGrpSpPr>
        <p:grpSpPr>
          <a:xfrm>
            <a:off x="4648200" y="3505200"/>
            <a:ext cx="838200" cy="2667000"/>
            <a:chOff x="2928" y="2208"/>
            <a:chExt cx="528" cy="1680"/>
          </a:xfrm>
        </p:grpSpPr>
        <p:sp>
          <p:nvSpPr>
            <p:cNvPr id="31832" name="Line 89"/>
            <p:cNvSpPr/>
            <p:nvPr/>
          </p:nvSpPr>
          <p:spPr>
            <a:xfrm>
              <a:off x="2928" y="3216"/>
              <a:ext cx="528" cy="0"/>
            </a:xfrm>
            <a:prstGeom prst="line">
              <a:avLst/>
            </a:prstGeom>
            <a:ln w="76200" cap="flat" cmpd="sng">
              <a:solidFill>
                <a:schemeClr val="folHlink"/>
              </a:solidFill>
              <a:prstDash val="solid"/>
              <a:round/>
              <a:headEnd type="none" w="med" len="med"/>
              <a:tailEnd type="none" w="med" len="med"/>
            </a:ln>
          </p:spPr>
        </p:sp>
        <p:sp>
          <p:nvSpPr>
            <p:cNvPr id="31833" name="Line 90"/>
            <p:cNvSpPr/>
            <p:nvPr/>
          </p:nvSpPr>
          <p:spPr>
            <a:xfrm>
              <a:off x="2928" y="3552"/>
              <a:ext cx="528" cy="0"/>
            </a:xfrm>
            <a:prstGeom prst="line">
              <a:avLst/>
            </a:prstGeom>
            <a:ln w="76200" cap="flat" cmpd="sng">
              <a:solidFill>
                <a:schemeClr val="folHlink"/>
              </a:solidFill>
              <a:prstDash val="solid"/>
              <a:round/>
              <a:headEnd type="none" w="med" len="med"/>
              <a:tailEnd type="none" w="med" len="med"/>
            </a:ln>
          </p:spPr>
        </p:sp>
        <p:sp>
          <p:nvSpPr>
            <p:cNvPr id="31834" name="Line 91"/>
            <p:cNvSpPr/>
            <p:nvPr/>
          </p:nvSpPr>
          <p:spPr>
            <a:xfrm>
              <a:off x="2928" y="2208"/>
              <a:ext cx="528" cy="0"/>
            </a:xfrm>
            <a:prstGeom prst="line">
              <a:avLst/>
            </a:prstGeom>
            <a:ln w="76200" cap="flat" cmpd="sng">
              <a:solidFill>
                <a:schemeClr val="folHlink"/>
              </a:solidFill>
              <a:prstDash val="solid"/>
              <a:round/>
              <a:headEnd type="none" w="med" len="med"/>
              <a:tailEnd type="none" w="med" len="med"/>
            </a:ln>
          </p:spPr>
        </p:sp>
        <p:sp>
          <p:nvSpPr>
            <p:cNvPr id="31835" name="Line 92"/>
            <p:cNvSpPr/>
            <p:nvPr/>
          </p:nvSpPr>
          <p:spPr>
            <a:xfrm>
              <a:off x="2928" y="2544"/>
              <a:ext cx="528" cy="0"/>
            </a:xfrm>
            <a:prstGeom prst="line">
              <a:avLst/>
            </a:prstGeom>
            <a:ln w="76200" cap="flat" cmpd="sng">
              <a:solidFill>
                <a:schemeClr val="folHlink"/>
              </a:solidFill>
              <a:prstDash val="solid"/>
              <a:round/>
              <a:headEnd type="none" w="med" len="med"/>
              <a:tailEnd type="none" w="med" len="med"/>
            </a:ln>
          </p:spPr>
        </p:sp>
        <p:sp>
          <p:nvSpPr>
            <p:cNvPr id="31836" name="Line 93"/>
            <p:cNvSpPr/>
            <p:nvPr/>
          </p:nvSpPr>
          <p:spPr>
            <a:xfrm>
              <a:off x="2928" y="3888"/>
              <a:ext cx="528" cy="0"/>
            </a:xfrm>
            <a:prstGeom prst="line">
              <a:avLst/>
            </a:prstGeom>
            <a:ln w="76200" cap="flat" cmpd="sng">
              <a:solidFill>
                <a:schemeClr val="folHlink"/>
              </a:solidFill>
              <a:prstDash val="solid"/>
              <a:round/>
              <a:headEnd type="none" w="med" len="med"/>
              <a:tailEnd type="none" w="med" len="med"/>
            </a:ln>
          </p:spPr>
        </p:sp>
      </p:grpSp>
      <p:sp>
        <p:nvSpPr>
          <p:cNvPr id="214110" name="Line 94"/>
          <p:cNvSpPr/>
          <p:nvPr/>
        </p:nvSpPr>
        <p:spPr>
          <a:xfrm rot="2700000">
            <a:off x="5795963" y="4348163"/>
            <a:ext cx="0" cy="900112"/>
          </a:xfrm>
          <a:prstGeom prst="line">
            <a:avLst/>
          </a:prstGeom>
          <a:ln w="76200" cap="flat" cmpd="sng">
            <a:solidFill>
              <a:schemeClr val="folHlink"/>
            </a:solidFill>
            <a:prstDash val="solid"/>
            <a:round/>
            <a:headEnd type="none" w="med" len="med"/>
            <a:tailEnd type="none" w="med" len="med"/>
          </a:ln>
        </p:spPr>
      </p:sp>
      <p:grpSp>
        <p:nvGrpSpPr>
          <p:cNvPr id="214111" name="Group 95"/>
          <p:cNvGrpSpPr/>
          <p:nvPr/>
        </p:nvGrpSpPr>
        <p:grpSpPr>
          <a:xfrm>
            <a:off x="5410200" y="3505200"/>
            <a:ext cx="698500" cy="2700338"/>
            <a:chOff x="3408" y="2208"/>
            <a:chExt cx="440" cy="1701"/>
          </a:xfrm>
        </p:grpSpPr>
        <p:sp>
          <p:nvSpPr>
            <p:cNvPr id="31839" name="Line 96"/>
            <p:cNvSpPr/>
            <p:nvPr/>
          </p:nvSpPr>
          <p:spPr>
            <a:xfrm>
              <a:off x="3456" y="2208"/>
              <a:ext cx="384" cy="0"/>
            </a:xfrm>
            <a:prstGeom prst="line">
              <a:avLst/>
            </a:prstGeom>
            <a:ln w="76200" cap="flat" cmpd="sng">
              <a:solidFill>
                <a:schemeClr val="folHlink"/>
              </a:solidFill>
              <a:prstDash val="solid"/>
              <a:round/>
              <a:headEnd type="none" w="med" len="med"/>
              <a:tailEnd type="none" w="med" len="med"/>
            </a:ln>
          </p:spPr>
        </p:sp>
        <p:sp>
          <p:nvSpPr>
            <p:cNvPr id="31840" name="Line 97"/>
            <p:cNvSpPr/>
            <p:nvPr/>
          </p:nvSpPr>
          <p:spPr>
            <a:xfrm flipV="1">
              <a:off x="3648" y="3696"/>
              <a:ext cx="192" cy="192"/>
            </a:xfrm>
            <a:prstGeom prst="line">
              <a:avLst/>
            </a:prstGeom>
            <a:ln w="76200" cap="flat" cmpd="sng">
              <a:solidFill>
                <a:schemeClr val="folHlink"/>
              </a:solidFill>
              <a:prstDash val="solid"/>
              <a:round/>
              <a:headEnd type="none" w="med" len="med"/>
              <a:tailEnd type="none" w="med" len="med"/>
            </a:ln>
          </p:spPr>
        </p:sp>
        <p:sp>
          <p:nvSpPr>
            <p:cNvPr id="31841" name="Line 98"/>
            <p:cNvSpPr/>
            <p:nvPr/>
          </p:nvSpPr>
          <p:spPr>
            <a:xfrm rot="5400000" flipV="1">
              <a:off x="3696" y="3552"/>
              <a:ext cx="144" cy="144"/>
            </a:xfrm>
            <a:prstGeom prst="line">
              <a:avLst/>
            </a:prstGeom>
            <a:ln w="76200" cap="flat" cmpd="sng">
              <a:solidFill>
                <a:schemeClr val="folHlink"/>
              </a:solidFill>
              <a:prstDash val="solid"/>
              <a:round/>
              <a:headEnd type="none" w="med" len="med"/>
              <a:tailEnd type="none" w="med" len="med"/>
            </a:ln>
          </p:spPr>
        </p:sp>
        <p:sp>
          <p:nvSpPr>
            <p:cNvPr id="31842" name="Freeform 99"/>
            <p:cNvSpPr/>
            <p:nvPr/>
          </p:nvSpPr>
          <p:spPr>
            <a:xfrm>
              <a:off x="3423" y="2806"/>
              <a:ext cx="417" cy="431"/>
            </a:xfrm>
            <a:custGeom>
              <a:avLst/>
              <a:gdLst/>
              <a:ahLst/>
              <a:cxnLst>
                <a:cxn ang="0">
                  <a:pos x="0" y="410"/>
                </a:cxn>
                <a:cxn ang="0">
                  <a:pos x="417" y="410"/>
                </a:cxn>
                <a:cxn ang="0">
                  <a:pos x="417" y="0"/>
                </a:cxn>
                <a:cxn ang="0">
                  <a:pos x="0" y="410"/>
                </a:cxn>
              </a:cxnLst>
              <a:rect l="0" t="0" r="0" b="0"/>
              <a:pathLst>
                <a:path w="417" h="442">
                  <a:moveTo>
                    <a:pt x="0" y="442"/>
                  </a:moveTo>
                  <a:lnTo>
                    <a:pt x="417" y="442"/>
                  </a:lnTo>
                  <a:lnTo>
                    <a:pt x="417" y="0"/>
                  </a:lnTo>
                  <a:lnTo>
                    <a:pt x="0" y="442"/>
                  </a:lnTo>
                  <a:close/>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1843" name="Line 100"/>
            <p:cNvSpPr/>
            <p:nvPr/>
          </p:nvSpPr>
          <p:spPr>
            <a:xfrm>
              <a:off x="3456" y="2544"/>
              <a:ext cx="384" cy="0"/>
            </a:xfrm>
            <a:prstGeom prst="line">
              <a:avLst/>
            </a:prstGeom>
            <a:ln w="76200" cap="flat" cmpd="sng">
              <a:solidFill>
                <a:schemeClr val="folHlink"/>
              </a:solidFill>
              <a:prstDash val="solid"/>
              <a:round/>
              <a:headEnd type="none" w="med" len="med"/>
              <a:tailEnd type="none" w="med" len="med"/>
            </a:ln>
          </p:spPr>
        </p:sp>
        <p:sp>
          <p:nvSpPr>
            <p:cNvPr id="31844" name="Line 101"/>
            <p:cNvSpPr/>
            <p:nvPr/>
          </p:nvSpPr>
          <p:spPr>
            <a:xfrm>
              <a:off x="3456" y="3552"/>
              <a:ext cx="240" cy="0"/>
            </a:xfrm>
            <a:prstGeom prst="line">
              <a:avLst/>
            </a:prstGeom>
            <a:ln w="76200" cap="flat" cmpd="sng">
              <a:solidFill>
                <a:schemeClr val="folHlink"/>
              </a:solidFill>
              <a:prstDash val="solid"/>
              <a:round/>
              <a:headEnd type="none" w="med" len="med"/>
              <a:tailEnd type="none" w="med" len="med"/>
            </a:ln>
          </p:spPr>
        </p:sp>
        <p:sp>
          <p:nvSpPr>
            <p:cNvPr id="31845" name="Line 102"/>
            <p:cNvSpPr/>
            <p:nvPr/>
          </p:nvSpPr>
          <p:spPr>
            <a:xfrm>
              <a:off x="3408" y="3888"/>
              <a:ext cx="240" cy="0"/>
            </a:xfrm>
            <a:prstGeom prst="line">
              <a:avLst/>
            </a:prstGeom>
            <a:ln w="76200" cap="flat" cmpd="sng">
              <a:solidFill>
                <a:schemeClr val="folHlink"/>
              </a:solidFill>
              <a:prstDash val="solid"/>
              <a:round/>
              <a:headEnd type="none" w="med" len="med"/>
              <a:tailEnd type="none" w="med" len="med"/>
            </a:ln>
          </p:spPr>
        </p:sp>
        <p:sp>
          <p:nvSpPr>
            <p:cNvPr id="31846" name="Freeform 103"/>
            <p:cNvSpPr/>
            <p:nvPr/>
          </p:nvSpPr>
          <p:spPr>
            <a:xfrm>
              <a:off x="3591" y="3530"/>
              <a:ext cx="257" cy="379"/>
            </a:xfrm>
            <a:custGeom>
              <a:avLst/>
              <a:gdLst/>
              <a:ahLst/>
              <a:cxnLst>
                <a:cxn ang="0">
                  <a:pos x="249" y="166"/>
                </a:cxn>
                <a:cxn ang="0">
                  <a:pos x="0" y="0"/>
                </a:cxn>
                <a:cxn ang="0">
                  <a:pos x="245" y="0"/>
                </a:cxn>
                <a:cxn ang="0">
                  <a:pos x="257" y="379"/>
                </a:cxn>
                <a:cxn ang="0">
                  <a:pos x="61" y="379"/>
                </a:cxn>
              </a:cxnLst>
              <a:rect l="0" t="0" r="0" b="0"/>
              <a:pathLst>
                <a:path w="257" h="379">
                  <a:moveTo>
                    <a:pt x="249" y="166"/>
                  </a:moveTo>
                  <a:lnTo>
                    <a:pt x="0" y="0"/>
                  </a:lnTo>
                  <a:lnTo>
                    <a:pt x="245" y="0"/>
                  </a:lnTo>
                  <a:lnTo>
                    <a:pt x="257" y="379"/>
                  </a:lnTo>
                  <a:lnTo>
                    <a:pt x="61" y="379"/>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grpSp>
      <p:sp>
        <p:nvSpPr>
          <p:cNvPr id="214120" name="Line 104"/>
          <p:cNvSpPr/>
          <p:nvPr/>
        </p:nvSpPr>
        <p:spPr>
          <a:xfrm>
            <a:off x="6096000" y="3048000"/>
            <a:ext cx="0" cy="3733800"/>
          </a:xfrm>
          <a:prstGeom prst="line">
            <a:avLst/>
          </a:prstGeom>
          <a:ln w="38100" cap="flat" cmpd="sng">
            <a:solidFill>
              <a:schemeClr val="tx1"/>
            </a:solidFill>
            <a:prstDash val="dash"/>
            <a:round/>
            <a:headEnd type="none" w="med" len="med"/>
            <a:tailEnd type="none" w="med" len="med"/>
          </a:ln>
        </p:spPr>
      </p:sp>
      <p:grpSp>
        <p:nvGrpSpPr>
          <p:cNvPr id="214121" name="Group 105"/>
          <p:cNvGrpSpPr/>
          <p:nvPr/>
        </p:nvGrpSpPr>
        <p:grpSpPr>
          <a:xfrm>
            <a:off x="6096000" y="3487738"/>
            <a:ext cx="1600200" cy="2724150"/>
            <a:chOff x="3840" y="2197"/>
            <a:chExt cx="1008" cy="1716"/>
          </a:xfrm>
        </p:grpSpPr>
        <p:grpSp>
          <p:nvGrpSpPr>
            <p:cNvPr id="31849" name="Group 106"/>
            <p:cNvGrpSpPr/>
            <p:nvPr/>
          </p:nvGrpSpPr>
          <p:grpSpPr>
            <a:xfrm>
              <a:off x="3840" y="2208"/>
              <a:ext cx="912" cy="1488"/>
              <a:chOff x="3840" y="2208"/>
              <a:chExt cx="912" cy="1488"/>
            </a:xfrm>
          </p:grpSpPr>
          <p:sp>
            <p:nvSpPr>
              <p:cNvPr id="31850" name="Line 107"/>
              <p:cNvSpPr/>
              <p:nvPr/>
            </p:nvSpPr>
            <p:spPr>
              <a:xfrm>
                <a:off x="3840" y="2832"/>
                <a:ext cx="912" cy="0"/>
              </a:xfrm>
              <a:prstGeom prst="line">
                <a:avLst/>
              </a:prstGeom>
              <a:ln w="76200" cap="flat" cmpd="sng">
                <a:solidFill>
                  <a:schemeClr val="folHlink"/>
                </a:solidFill>
                <a:prstDash val="solid"/>
                <a:round/>
                <a:headEnd type="none" w="med" len="med"/>
                <a:tailEnd type="none" w="med" len="med"/>
              </a:ln>
            </p:spPr>
          </p:sp>
          <p:sp>
            <p:nvSpPr>
              <p:cNvPr id="31851" name="Line 108"/>
              <p:cNvSpPr/>
              <p:nvPr/>
            </p:nvSpPr>
            <p:spPr>
              <a:xfrm>
                <a:off x="3840" y="3696"/>
                <a:ext cx="912" cy="0"/>
              </a:xfrm>
              <a:prstGeom prst="line">
                <a:avLst/>
              </a:prstGeom>
              <a:ln w="76200" cap="flat" cmpd="sng">
                <a:solidFill>
                  <a:schemeClr val="folHlink"/>
                </a:solidFill>
                <a:prstDash val="solid"/>
                <a:round/>
                <a:headEnd type="none" w="med" len="med"/>
                <a:tailEnd type="none" w="med" len="med"/>
              </a:ln>
            </p:spPr>
          </p:sp>
          <p:sp>
            <p:nvSpPr>
              <p:cNvPr id="31852" name="Line 109"/>
              <p:cNvSpPr/>
              <p:nvPr/>
            </p:nvSpPr>
            <p:spPr>
              <a:xfrm>
                <a:off x="3840" y="2208"/>
                <a:ext cx="912" cy="0"/>
              </a:xfrm>
              <a:prstGeom prst="line">
                <a:avLst/>
              </a:prstGeom>
              <a:ln w="76200" cap="flat" cmpd="sng">
                <a:solidFill>
                  <a:schemeClr val="folHlink"/>
                </a:solidFill>
                <a:prstDash val="solid"/>
                <a:round/>
                <a:headEnd type="none" w="med" len="med"/>
                <a:tailEnd type="none" w="med" len="med"/>
              </a:ln>
            </p:spPr>
          </p:sp>
          <p:sp>
            <p:nvSpPr>
              <p:cNvPr id="31853" name="Line 110"/>
              <p:cNvSpPr/>
              <p:nvPr/>
            </p:nvSpPr>
            <p:spPr>
              <a:xfrm>
                <a:off x="3840" y="2544"/>
                <a:ext cx="912" cy="0"/>
              </a:xfrm>
              <a:prstGeom prst="line">
                <a:avLst/>
              </a:prstGeom>
              <a:ln w="76200" cap="flat" cmpd="sng">
                <a:solidFill>
                  <a:schemeClr val="folHlink"/>
                </a:solidFill>
                <a:prstDash val="solid"/>
                <a:round/>
                <a:headEnd type="none" w="med" len="med"/>
                <a:tailEnd type="none" w="med" len="med"/>
              </a:ln>
            </p:spPr>
          </p:sp>
        </p:grpSp>
        <p:sp>
          <p:nvSpPr>
            <p:cNvPr id="31854" name="Line 111"/>
            <p:cNvSpPr/>
            <p:nvPr/>
          </p:nvSpPr>
          <p:spPr>
            <a:xfrm rot="2700000">
              <a:off x="4709" y="2309"/>
              <a:ext cx="0" cy="263"/>
            </a:xfrm>
            <a:prstGeom prst="line">
              <a:avLst/>
            </a:prstGeom>
            <a:ln w="76200" cap="flat" cmpd="sng">
              <a:solidFill>
                <a:schemeClr val="folHlink"/>
              </a:solidFill>
              <a:prstDash val="solid"/>
              <a:round/>
              <a:headEnd type="none" w="med" len="med"/>
              <a:tailEnd type="none" w="med" len="med"/>
            </a:ln>
          </p:spPr>
        </p:sp>
        <p:sp>
          <p:nvSpPr>
            <p:cNvPr id="31855" name="Line 112"/>
            <p:cNvSpPr/>
            <p:nvPr/>
          </p:nvSpPr>
          <p:spPr>
            <a:xfrm rot="8100000">
              <a:off x="4728" y="2197"/>
              <a:ext cx="0" cy="192"/>
            </a:xfrm>
            <a:prstGeom prst="line">
              <a:avLst/>
            </a:prstGeom>
            <a:ln w="76200" cap="flat" cmpd="sng">
              <a:solidFill>
                <a:schemeClr val="folHlink"/>
              </a:solidFill>
              <a:prstDash val="solid"/>
              <a:round/>
              <a:headEnd type="none" w="med" len="med"/>
              <a:tailEnd type="none" w="med" len="med"/>
            </a:ln>
          </p:spPr>
        </p:sp>
        <p:sp>
          <p:nvSpPr>
            <p:cNvPr id="31856" name="Rectangle 113"/>
            <p:cNvSpPr/>
            <p:nvPr/>
          </p:nvSpPr>
          <p:spPr>
            <a:xfrm>
              <a:off x="3840" y="2832"/>
              <a:ext cx="912" cy="406"/>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1857" name="Rectangle 114"/>
            <p:cNvSpPr/>
            <p:nvPr/>
          </p:nvSpPr>
          <p:spPr>
            <a:xfrm>
              <a:off x="3840" y="3530"/>
              <a:ext cx="912" cy="383"/>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grpSp>
        <p:nvGrpSpPr>
          <p:cNvPr id="214131" name="Group 115"/>
          <p:cNvGrpSpPr/>
          <p:nvPr/>
        </p:nvGrpSpPr>
        <p:grpSpPr>
          <a:xfrm>
            <a:off x="7239000" y="3505200"/>
            <a:ext cx="1816100" cy="2706688"/>
            <a:chOff x="4571" y="2208"/>
            <a:chExt cx="1144" cy="1705"/>
          </a:xfrm>
        </p:grpSpPr>
        <p:grpSp>
          <p:nvGrpSpPr>
            <p:cNvPr id="31859" name="Group 116"/>
            <p:cNvGrpSpPr/>
            <p:nvPr/>
          </p:nvGrpSpPr>
          <p:grpSpPr>
            <a:xfrm>
              <a:off x="4752" y="2208"/>
              <a:ext cx="957" cy="1488"/>
              <a:chOff x="4752" y="2208"/>
              <a:chExt cx="912" cy="1488"/>
            </a:xfrm>
          </p:grpSpPr>
          <p:sp>
            <p:nvSpPr>
              <p:cNvPr id="31860" name="Line 117"/>
              <p:cNvSpPr/>
              <p:nvPr/>
            </p:nvSpPr>
            <p:spPr>
              <a:xfrm>
                <a:off x="4752" y="3696"/>
                <a:ext cx="912" cy="0"/>
              </a:xfrm>
              <a:prstGeom prst="line">
                <a:avLst/>
              </a:prstGeom>
              <a:ln w="76200" cap="flat" cmpd="sng">
                <a:solidFill>
                  <a:schemeClr val="folHlink"/>
                </a:solidFill>
                <a:prstDash val="solid"/>
                <a:round/>
                <a:headEnd type="none" w="med" len="med"/>
                <a:tailEnd type="none" w="med" len="med"/>
              </a:ln>
            </p:spPr>
          </p:sp>
          <p:sp>
            <p:nvSpPr>
              <p:cNvPr id="31861" name="Line 118"/>
              <p:cNvSpPr/>
              <p:nvPr/>
            </p:nvSpPr>
            <p:spPr>
              <a:xfrm>
                <a:off x="4752" y="2832"/>
                <a:ext cx="912" cy="0"/>
              </a:xfrm>
              <a:prstGeom prst="line">
                <a:avLst/>
              </a:prstGeom>
              <a:ln w="76200" cap="flat" cmpd="sng">
                <a:solidFill>
                  <a:schemeClr val="folHlink"/>
                </a:solidFill>
                <a:prstDash val="solid"/>
                <a:round/>
                <a:headEnd type="none" w="med" len="med"/>
                <a:tailEnd type="none" w="med" len="med"/>
              </a:ln>
            </p:spPr>
          </p:sp>
          <p:sp>
            <p:nvSpPr>
              <p:cNvPr id="31862" name="Line 119"/>
              <p:cNvSpPr/>
              <p:nvPr/>
            </p:nvSpPr>
            <p:spPr>
              <a:xfrm>
                <a:off x="4752" y="2208"/>
                <a:ext cx="912" cy="0"/>
              </a:xfrm>
              <a:prstGeom prst="line">
                <a:avLst/>
              </a:prstGeom>
              <a:ln w="76200" cap="flat" cmpd="sng">
                <a:solidFill>
                  <a:schemeClr val="folHlink"/>
                </a:solidFill>
                <a:prstDash val="solid"/>
                <a:round/>
                <a:headEnd type="none" w="med" len="med"/>
                <a:tailEnd type="none" w="med" len="med"/>
              </a:ln>
            </p:spPr>
          </p:sp>
          <p:sp>
            <p:nvSpPr>
              <p:cNvPr id="31863" name="Line 120"/>
              <p:cNvSpPr/>
              <p:nvPr/>
            </p:nvSpPr>
            <p:spPr>
              <a:xfrm>
                <a:off x="4752" y="2544"/>
                <a:ext cx="912" cy="0"/>
              </a:xfrm>
              <a:prstGeom prst="line">
                <a:avLst/>
              </a:prstGeom>
              <a:ln w="76200" cap="flat" cmpd="sng">
                <a:solidFill>
                  <a:schemeClr val="folHlink"/>
                </a:solidFill>
                <a:prstDash val="solid"/>
                <a:round/>
                <a:headEnd type="none" w="med" len="med"/>
                <a:tailEnd type="none" w="med" len="med"/>
              </a:ln>
            </p:spPr>
          </p:sp>
        </p:grpSp>
        <p:sp>
          <p:nvSpPr>
            <p:cNvPr id="31864" name="Freeform 121"/>
            <p:cNvSpPr/>
            <p:nvPr/>
          </p:nvSpPr>
          <p:spPr>
            <a:xfrm>
              <a:off x="4571" y="2208"/>
              <a:ext cx="1140" cy="353"/>
            </a:xfrm>
            <a:custGeom>
              <a:avLst/>
              <a:gdLst/>
              <a:ahLst/>
              <a:cxnLst>
                <a:cxn ang="0">
                  <a:pos x="85" y="0"/>
                </a:cxn>
                <a:cxn ang="0">
                  <a:pos x="1140" y="10"/>
                </a:cxn>
                <a:cxn ang="0">
                  <a:pos x="1140" y="353"/>
                </a:cxn>
                <a:cxn ang="0">
                  <a:pos x="0" y="353"/>
                </a:cxn>
                <a:cxn ang="0">
                  <a:pos x="229" y="144"/>
                </a:cxn>
              </a:cxnLst>
              <a:rect l="0" t="0" r="0" b="0"/>
              <a:pathLst>
                <a:path w="1140" h="353">
                  <a:moveTo>
                    <a:pt x="85" y="0"/>
                  </a:moveTo>
                  <a:lnTo>
                    <a:pt x="1140" y="10"/>
                  </a:lnTo>
                  <a:lnTo>
                    <a:pt x="1140" y="353"/>
                  </a:lnTo>
                  <a:lnTo>
                    <a:pt x="0" y="353"/>
                  </a:lnTo>
                  <a:lnTo>
                    <a:pt x="229" y="144"/>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1865" name="Rectangle 122"/>
            <p:cNvSpPr/>
            <p:nvPr/>
          </p:nvSpPr>
          <p:spPr>
            <a:xfrm>
              <a:off x="4752" y="2829"/>
              <a:ext cx="963" cy="410"/>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1866" name="Rectangle 123"/>
            <p:cNvSpPr/>
            <p:nvPr/>
          </p:nvSpPr>
          <p:spPr>
            <a:xfrm>
              <a:off x="4752" y="3529"/>
              <a:ext cx="963" cy="384"/>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14019"/>
                                        </p:tgtEl>
                                        <p:attrNameLst>
                                          <p:attrName>style.visibility</p:attrName>
                                        </p:attrNameLst>
                                      </p:cBhvr>
                                      <p:to>
                                        <p:strVal val="visible"/>
                                      </p:to>
                                    </p:set>
                                    <p:animEffect transition="in" filter="strips(downRight)">
                                      <p:cBhvr>
                                        <p:cTn id="7" dur="500"/>
                                        <p:tgtEl>
                                          <p:spTgt spid="21401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14051"/>
                                        </p:tgtEl>
                                        <p:attrNameLst>
                                          <p:attrName>style.visibility</p:attrName>
                                        </p:attrNameLst>
                                      </p:cBhvr>
                                      <p:to>
                                        <p:strVal val="visible"/>
                                      </p:to>
                                    </p:set>
                                    <p:animEffect transition="in" filter="strips(downRight)">
                                      <p:cBhvr>
                                        <p:cTn id="12" dur="500"/>
                                        <p:tgtEl>
                                          <p:spTgt spid="21405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214056"/>
                                        </p:tgtEl>
                                        <p:attrNameLst>
                                          <p:attrName>style.visibility</p:attrName>
                                        </p:attrNameLst>
                                      </p:cBhvr>
                                      <p:to>
                                        <p:strVal val="visible"/>
                                      </p:to>
                                    </p:set>
                                    <p:animEffect transition="in" filter="strips(downRight)">
                                      <p:cBhvr>
                                        <p:cTn id="17" dur="500"/>
                                        <p:tgtEl>
                                          <p:spTgt spid="21405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214064"/>
                                        </p:tgtEl>
                                        <p:attrNameLst>
                                          <p:attrName>style.visibility</p:attrName>
                                        </p:attrNameLst>
                                      </p:cBhvr>
                                      <p:to>
                                        <p:strVal val="visible"/>
                                      </p:to>
                                    </p:set>
                                    <p:animEffect transition="in" filter="strips(downRight)">
                                      <p:cBhvr>
                                        <p:cTn id="22" dur="500"/>
                                        <p:tgtEl>
                                          <p:spTgt spid="214064"/>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214069"/>
                                        </p:tgtEl>
                                        <p:attrNameLst>
                                          <p:attrName>style.visibility</p:attrName>
                                        </p:attrNameLst>
                                      </p:cBhvr>
                                      <p:to>
                                        <p:strVal val="visible"/>
                                      </p:to>
                                    </p:set>
                                    <p:animEffect transition="in" filter="slide(fromLeft)">
                                      <p:cBhvr>
                                        <p:cTn id="27" dur="500"/>
                                        <p:tgtEl>
                                          <p:spTgt spid="21406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214080"/>
                                        </p:tgtEl>
                                        <p:attrNameLst>
                                          <p:attrName>style.visibility</p:attrName>
                                        </p:attrNameLst>
                                      </p:cBhvr>
                                      <p:to>
                                        <p:strVal val="visible"/>
                                      </p:to>
                                    </p:set>
                                    <p:animEffect transition="in" filter="strips(downLeft)">
                                      <p:cBhvr>
                                        <p:cTn id="32" dur="500"/>
                                        <p:tgtEl>
                                          <p:spTgt spid="21408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nodeType="clickEffect">
                                  <p:stCondLst>
                                    <p:cond delay="0"/>
                                  </p:stCondLst>
                                  <p:childTnLst>
                                    <p:set>
                                      <p:cBhvr>
                                        <p:cTn id="36" dur="1" fill="hold">
                                          <p:stCondLst>
                                            <p:cond delay="0"/>
                                          </p:stCondLst>
                                        </p:cTn>
                                        <p:tgtEl>
                                          <p:spTgt spid="214081"/>
                                        </p:tgtEl>
                                        <p:attrNameLst>
                                          <p:attrName>style.visibility</p:attrName>
                                        </p:attrNameLst>
                                      </p:cBhvr>
                                      <p:to>
                                        <p:strVal val="visible"/>
                                      </p:to>
                                    </p:set>
                                    <p:animEffect transition="in" filter="slide(fromLeft)">
                                      <p:cBhvr>
                                        <p:cTn id="37" dur="500"/>
                                        <p:tgtEl>
                                          <p:spTgt spid="214081"/>
                                        </p:tgtEl>
                                      </p:cBhvr>
                                    </p:animEffect>
                                  </p:childTnLst>
                                </p:cTn>
                              </p:par>
                            </p:childTnLst>
                          </p:cTn>
                        </p:par>
                        <p:par>
                          <p:cTn id="38" fill="hold">
                            <p:stCondLst>
                              <p:cond delay="500"/>
                            </p:stCondLst>
                            <p:childTnLst>
                              <p:par>
                                <p:cTn id="39" presetID="18" presetClass="entr" presetSubtype="6" fill="hold" nodeType="afterEffect">
                                  <p:stCondLst>
                                    <p:cond delay="0"/>
                                  </p:stCondLst>
                                  <p:childTnLst>
                                    <p:set>
                                      <p:cBhvr>
                                        <p:cTn id="40" dur="1" fill="hold">
                                          <p:stCondLst>
                                            <p:cond delay="0"/>
                                          </p:stCondLst>
                                        </p:cTn>
                                        <p:tgtEl>
                                          <p:spTgt spid="214090"/>
                                        </p:tgtEl>
                                        <p:attrNameLst>
                                          <p:attrName>style.visibility</p:attrName>
                                        </p:attrNameLst>
                                      </p:cBhvr>
                                      <p:to>
                                        <p:strVal val="visible"/>
                                      </p:to>
                                    </p:set>
                                    <p:animEffect transition="in" filter="strips(downRight)">
                                      <p:cBhvr>
                                        <p:cTn id="41" dur="500"/>
                                        <p:tgtEl>
                                          <p:spTgt spid="214090"/>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12" fill="hold" nodeType="clickEffect">
                                  <p:stCondLst>
                                    <p:cond delay="0"/>
                                  </p:stCondLst>
                                  <p:childTnLst>
                                    <p:set>
                                      <p:cBhvr>
                                        <p:cTn id="45" dur="1" fill="hold">
                                          <p:stCondLst>
                                            <p:cond delay="0"/>
                                          </p:stCondLst>
                                        </p:cTn>
                                        <p:tgtEl>
                                          <p:spTgt spid="214091"/>
                                        </p:tgtEl>
                                        <p:attrNameLst>
                                          <p:attrName>style.visibility</p:attrName>
                                        </p:attrNameLst>
                                      </p:cBhvr>
                                      <p:to>
                                        <p:strVal val="visible"/>
                                      </p:to>
                                    </p:set>
                                    <p:animEffect transition="in" filter="strips(downLeft)">
                                      <p:cBhvr>
                                        <p:cTn id="46" dur="500"/>
                                        <p:tgtEl>
                                          <p:spTgt spid="214091"/>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nodeType="clickEffect">
                                  <p:stCondLst>
                                    <p:cond delay="0"/>
                                  </p:stCondLst>
                                  <p:childTnLst>
                                    <p:set>
                                      <p:cBhvr>
                                        <p:cTn id="50" dur="1" fill="hold">
                                          <p:stCondLst>
                                            <p:cond delay="0"/>
                                          </p:stCondLst>
                                        </p:cTn>
                                        <p:tgtEl>
                                          <p:spTgt spid="214092"/>
                                        </p:tgtEl>
                                        <p:attrNameLst>
                                          <p:attrName>style.visibility</p:attrName>
                                        </p:attrNameLst>
                                      </p:cBhvr>
                                      <p:to>
                                        <p:strVal val="visible"/>
                                      </p:to>
                                    </p:set>
                                    <p:animEffect transition="in" filter="slide(fromLeft)">
                                      <p:cBhvr>
                                        <p:cTn id="51" dur="500"/>
                                        <p:tgtEl>
                                          <p:spTgt spid="214092"/>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214103"/>
                                        </p:tgtEl>
                                        <p:attrNameLst>
                                          <p:attrName>style.visibility</p:attrName>
                                        </p:attrNameLst>
                                      </p:cBhvr>
                                      <p:to>
                                        <p:strVal val="visible"/>
                                      </p:to>
                                    </p:set>
                                    <p:animEffect transition="in" filter="strips(downLeft)">
                                      <p:cBhvr>
                                        <p:cTn id="56" dur="500"/>
                                        <p:tgtEl>
                                          <p:spTgt spid="214103"/>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214104"/>
                                        </p:tgtEl>
                                        <p:attrNameLst>
                                          <p:attrName>style.visibility</p:attrName>
                                        </p:attrNameLst>
                                      </p:cBhvr>
                                      <p:to>
                                        <p:strVal val="visible"/>
                                      </p:to>
                                    </p:set>
                                    <p:animEffect transition="in" filter="slide(fromLeft)">
                                      <p:cBhvr>
                                        <p:cTn id="61" dur="500"/>
                                        <p:tgtEl>
                                          <p:spTgt spid="214104"/>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3" fill="hold" nodeType="clickEffect">
                                  <p:stCondLst>
                                    <p:cond delay="0"/>
                                  </p:stCondLst>
                                  <p:childTnLst>
                                    <p:set>
                                      <p:cBhvr>
                                        <p:cTn id="65" dur="1" fill="hold">
                                          <p:stCondLst>
                                            <p:cond delay="0"/>
                                          </p:stCondLst>
                                        </p:cTn>
                                        <p:tgtEl>
                                          <p:spTgt spid="214110"/>
                                        </p:tgtEl>
                                        <p:attrNameLst>
                                          <p:attrName>style.visibility</p:attrName>
                                        </p:attrNameLst>
                                      </p:cBhvr>
                                      <p:to>
                                        <p:strVal val="visible"/>
                                      </p:to>
                                    </p:set>
                                    <p:animEffect transition="in" filter="strips(upRight)">
                                      <p:cBhvr>
                                        <p:cTn id="66" dur="500"/>
                                        <p:tgtEl>
                                          <p:spTgt spid="214110"/>
                                        </p:tgtEl>
                                      </p:cBhvr>
                                    </p:animEffect>
                                  </p:childTnLst>
                                </p:cTn>
                              </p:par>
                            </p:childTnLst>
                          </p:cTn>
                        </p:par>
                        <p:par>
                          <p:cTn id="67" fill="hold">
                            <p:stCondLst>
                              <p:cond delay="500"/>
                            </p:stCondLst>
                            <p:childTnLst>
                              <p:par>
                                <p:cTn id="68" presetID="18" presetClass="entr" presetSubtype="6" fill="hold" nodeType="afterEffect">
                                  <p:stCondLst>
                                    <p:cond delay="0"/>
                                  </p:stCondLst>
                                  <p:childTnLst>
                                    <p:set>
                                      <p:cBhvr>
                                        <p:cTn id="69" dur="1" fill="hold">
                                          <p:stCondLst>
                                            <p:cond delay="0"/>
                                          </p:stCondLst>
                                        </p:cTn>
                                        <p:tgtEl>
                                          <p:spTgt spid="214111"/>
                                        </p:tgtEl>
                                        <p:attrNameLst>
                                          <p:attrName>style.visibility</p:attrName>
                                        </p:attrNameLst>
                                      </p:cBhvr>
                                      <p:to>
                                        <p:strVal val="visible"/>
                                      </p:to>
                                    </p:set>
                                    <p:animEffect transition="in" filter="strips(downRight)">
                                      <p:cBhvr>
                                        <p:cTn id="70" dur="500"/>
                                        <p:tgtEl>
                                          <p:spTgt spid="214111"/>
                                        </p:tgtEl>
                                      </p:cBhvr>
                                    </p:animEffect>
                                  </p:childTnLst>
                                </p:cTn>
                              </p:par>
                            </p:childTnLst>
                          </p:cTn>
                        </p:par>
                      </p:childTnLst>
                    </p:cTn>
                  </p:par>
                  <p:par>
                    <p:cTn id="71" fill="hold">
                      <p:stCondLst>
                        <p:cond delay="indefinite"/>
                      </p:stCondLst>
                      <p:childTnLst>
                        <p:par>
                          <p:cTn id="72" fill="hold">
                            <p:stCondLst>
                              <p:cond delay="0"/>
                            </p:stCondLst>
                            <p:childTnLst>
                              <p:par>
                                <p:cTn id="73" presetID="18" presetClass="entr" presetSubtype="12" fill="hold" nodeType="clickEffect">
                                  <p:stCondLst>
                                    <p:cond delay="0"/>
                                  </p:stCondLst>
                                  <p:childTnLst>
                                    <p:set>
                                      <p:cBhvr>
                                        <p:cTn id="74" dur="1" fill="hold">
                                          <p:stCondLst>
                                            <p:cond delay="0"/>
                                          </p:stCondLst>
                                        </p:cTn>
                                        <p:tgtEl>
                                          <p:spTgt spid="214120"/>
                                        </p:tgtEl>
                                        <p:attrNameLst>
                                          <p:attrName>style.visibility</p:attrName>
                                        </p:attrNameLst>
                                      </p:cBhvr>
                                      <p:to>
                                        <p:strVal val="visible"/>
                                      </p:to>
                                    </p:set>
                                    <p:animEffect transition="in" filter="strips(downLeft)">
                                      <p:cBhvr>
                                        <p:cTn id="75" dur="500"/>
                                        <p:tgtEl>
                                          <p:spTgt spid="214120"/>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8" fill="hold" nodeType="clickEffect">
                                  <p:stCondLst>
                                    <p:cond delay="0"/>
                                  </p:stCondLst>
                                  <p:childTnLst>
                                    <p:set>
                                      <p:cBhvr>
                                        <p:cTn id="79" dur="1" fill="hold">
                                          <p:stCondLst>
                                            <p:cond delay="0"/>
                                          </p:stCondLst>
                                        </p:cTn>
                                        <p:tgtEl>
                                          <p:spTgt spid="214121"/>
                                        </p:tgtEl>
                                        <p:attrNameLst>
                                          <p:attrName>style.visibility</p:attrName>
                                        </p:attrNameLst>
                                      </p:cBhvr>
                                      <p:to>
                                        <p:strVal val="visible"/>
                                      </p:to>
                                    </p:set>
                                    <p:animEffect transition="in" filter="slide(fromLeft)">
                                      <p:cBhvr>
                                        <p:cTn id="80" dur="500"/>
                                        <p:tgtEl>
                                          <p:spTgt spid="214121"/>
                                        </p:tgtEl>
                                      </p:cBhvr>
                                    </p:animEffect>
                                  </p:childTnLst>
                                </p:cTn>
                              </p:par>
                            </p:childTnLst>
                          </p:cTn>
                        </p:par>
                      </p:childTnLst>
                    </p:cTn>
                  </p:par>
                  <p:par>
                    <p:cTn id="81" fill="hold">
                      <p:stCondLst>
                        <p:cond delay="indefinite"/>
                      </p:stCondLst>
                      <p:childTnLst>
                        <p:par>
                          <p:cTn id="82" fill="hold">
                            <p:stCondLst>
                              <p:cond delay="0"/>
                            </p:stCondLst>
                            <p:childTnLst>
                              <p:par>
                                <p:cTn id="83" presetID="18" presetClass="entr" presetSubtype="6" fill="hold" nodeType="clickEffect">
                                  <p:stCondLst>
                                    <p:cond delay="0"/>
                                  </p:stCondLst>
                                  <p:childTnLst>
                                    <p:set>
                                      <p:cBhvr>
                                        <p:cTn id="84" dur="1" fill="hold">
                                          <p:stCondLst>
                                            <p:cond delay="0"/>
                                          </p:stCondLst>
                                        </p:cTn>
                                        <p:tgtEl>
                                          <p:spTgt spid="214131"/>
                                        </p:tgtEl>
                                        <p:attrNameLst>
                                          <p:attrName>style.visibility</p:attrName>
                                        </p:attrNameLst>
                                      </p:cBhvr>
                                      <p:to>
                                        <p:strVal val="visible"/>
                                      </p:to>
                                    </p:set>
                                    <p:animEffect transition="in" filter="strips(downRight)">
                                      <p:cBhvr>
                                        <p:cTn id="85" dur="500"/>
                                        <p:tgtEl>
                                          <p:spTgt spid="214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2"/>
          <p:cNvSpPr txBox="1"/>
          <p:nvPr/>
        </p:nvSpPr>
        <p:spPr>
          <a:xfrm>
            <a:off x="685800" y="425450"/>
            <a:ext cx="3511550" cy="644525"/>
          </a:xfrm>
          <a:prstGeom prst="rect">
            <a:avLst/>
          </a:prstGeom>
          <a:noFill/>
          <a:ln w="9525">
            <a:noFill/>
          </a:ln>
        </p:spPr>
        <p:txBody>
          <a:bodyPr wrap="none" anchor="t" anchorCtr="0">
            <a:spAutoFit/>
          </a:bodyPr>
          <a:lstStyle/>
          <a:p>
            <a:pPr>
              <a:buClrTx/>
              <a:buFontTx/>
            </a:pPr>
            <a:r>
              <a:rPr lang="en-US" altLang="zh-CN" sz="3600" b="1" dirty="0">
                <a:latin typeface="Times New Roman" panose="02020603050405020304" pitchFamily="18" charset="0"/>
                <a:ea typeface="宋体" panose="02010600030101010101" pitchFamily="2" charset="-122"/>
              </a:rPr>
              <a:t> </a:t>
            </a:r>
            <a:r>
              <a:rPr lang="zh-CN" altLang="en-US" sz="3600" b="1" dirty="0">
                <a:latin typeface="Times New Roman" panose="02020603050405020304" pitchFamily="18" charset="0"/>
                <a:ea typeface="宋体" panose="02010600030101010101" pitchFamily="2" charset="-122"/>
              </a:rPr>
              <a:t>同步式数据输出</a:t>
            </a:r>
          </a:p>
        </p:txBody>
      </p:sp>
      <p:grpSp>
        <p:nvGrpSpPr>
          <p:cNvPr id="215043" name="Group 3"/>
          <p:cNvGrpSpPr/>
          <p:nvPr/>
        </p:nvGrpSpPr>
        <p:grpSpPr>
          <a:xfrm>
            <a:off x="228600" y="1493838"/>
            <a:ext cx="8763000" cy="1633537"/>
            <a:chOff x="144" y="941"/>
            <a:chExt cx="5520" cy="1029"/>
          </a:xfrm>
        </p:grpSpPr>
        <p:sp>
          <p:nvSpPr>
            <p:cNvPr id="32771" name="Rectangle 4"/>
            <p:cNvSpPr/>
            <p:nvPr/>
          </p:nvSpPr>
          <p:spPr>
            <a:xfrm>
              <a:off x="1505"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1</a:t>
              </a:r>
            </a:p>
          </p:txBody>
        </p:sp>
        <p:sp>
          <p:nvSpPr>
            <p:cNvPr id="32772" name="Line 5"/>
            <p:cNvSpPr/>
            <p:nvPr/>
          </p:nvSpPr>
          <p:spPr>
            <a:xfrm>
              <a:off x="2938" y="1779"/>
              <a:ext cx="1" cy="187"/>
            </a:xfrm>
            <a:prstGeom prst="line">
              <a:avLst/>
            </a:prstGeom>
            <a:ln w="15875" cap="flat" cmpd="sng">
              <a:solidFill>
                <a:schemeClr val="tx1"/>
              </a:solidFill>
              <a:prstDash val="solid"/>
              <a:round/>
              <a:headEnd type="none" w="med" len="med"/>
              <a:tailEnd type="none" w="med" len="med"/>
            </a:ln>
          </p:spPr>
        </p:sp>
        <p:sp>
          <p:nvSpPr>
            <p:cNvPr id="32773" name="Line 6"/>
            <p:cNvSpPr/>
            <p:nvPr/>
          </p:nvSpPr>
          <p:spPr>
            <a:xfrm>
              <a:off x="3850" y="1779"/>
              <a:ext cx="2" cy="187"/>
            </a:xfrm>
            <a:prstGeom prst="line">
              <a:avLst/>
            </a:prstGeom>
            <a:ln w="15875" cap="flat" cmpd="sng">
              <a:solidFill>
                <a:schemeClr val="tx1"/>
              </a:solidFill>
              <a:prstDash val="solid"/>
              <a:round/>
              <a:headEnd type="none" w="med" len="med"/>
              <a:tailEnd type="none" w="med" len="med"/>
            </a:ln>
          </p:spPr>
        </p:sp>
        <p:sp>
          <p:nvSpPr>
            <p:cNvPr id="32774" name="Line 7"/>
            <p:cNvSpPr/>
            <p:nvPr/>
          </p:nvSpPr>
          <p:spPr>
            <a:xfrm>
              <a:off x="4751" y="1779"/>
              <a:ext cx="1" cy="187"/>
            </a:xfrm>
            <a:prstGeom prst="line">
              <a:avLst/>
            </a:prstGeom>
            <a:ln w="15875" cap="flat" cmpd="sng">
              <a:solidFill>
                <a:schemeClr val="tx1"/>
              </a:solidFill>
              <a:prstDash val="solid"/>
              <a:round/>
              <a:headEnd type="none" w="med" len="med"/>
              <a:tailEnd type="none" w="med" len="med"/>
            </a:ln>
          </p:spPr>
        </p:sp>
        <p:sp>
          <p:nvSpPr>
            <p:cNvPr id="32775" name="Rectangle 8"/>
            <p:cNvSpPr/>
            <p:nvPr/>
          </p:nvSpPr>
          <p:spPr>
            <a:xfrm>
              <a:off x="2508" y="1008"/>
              <a:ext cx="1365" cy="368"/>
            </a:xfrm>
            <a:prstGeom prst="rect">
              <a:avLst/>
            </a:prstGeom>
            <a:noFill/>
            <a:ln w="9525">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776" name="Line 9"/>
            <p:cNvSpPr/>
            <p:nvPr/>
          </p:nvSpPr>
          <p:spPr>
            <a:xfrm>
              <a:off x="4749" y="1008"/>
              <a:ext cx="1" cy="186"/>
            </a:xfrm>
            <a:prstGeom prst="line">
              <a:avLst/>
            </a:prstGeom>
            <a:ln w="15875" cap="flat" cmpd="sng">
              <a:solidFill>
                <a:schemeClr val="tx1"/>
              </a:solidFill>
              <a:prstDash val="solid"/>
              <a:round/>
              <a:headEnd type="none" w="med" len="med"/>
              <a:tailEnd type="none" w="med" len="med"/>
            </a:ln>
          </p:spPr>
        </p:sp>
        <p:sp>
          <p:nvSpPr>
            <p:cNvPr id="32777" name="Rectangle 10"/>
            <p:cNvSpPr/>
            <p:nvPr/>
          </p:nvSpPr>
          <p:spPr>
            <a:xfrm>
              <a:off x="2250" y="941"/>
              <a:ext cx="1536" cy="307"/>
            </a:xfrm>
            <a:prstGeom prst="rect">
              <a:avLst/>
            </a:prstGeom>
            <a:noFill/>
            <a:ln w="9525">
              <a:noFill/>
            </a:ln>
          </p:spPr>
          <p:txBody>
            <a:bodyPr wrap="none" lIns="0" tIns="0" rIns="0" bIns="0" anchor="t" anchorCtr="0">
              <a:spAutoFit/>
            </a:bodyPr>
            <a:lstStyle/>
            <a:p>
              <a:pPr>
                <a:buClrTx/>
                <a:buFontTx/>
              </a:pPr>
              <a:r>
                <a:rPr lang="zh-CN" altLang="en-US" sz="3200" b="1" dirty="0">
                  <a:solidFill>
                    <a:srgbClr val="FF0000"/>
                  </a:solidFill>
                  <a:latin typeface="宋体" panose="02010600030101010101" pitchFamily="2" charset="-122"/>
                  <a:ea typeface="宋体" panose="02010600030101010101" pitchFamily="2" charset="-122"/>
                </a:rPr>
                <a:t>总线传输周期</a:t>
              </a:r>
            </a:p>
          </p:txBody>
        </p:sp>
        <p:sp>
          <p:nvSpPr>
            <p:cNvPr id="32778" name="Line 11"/>
            <p:cNvSpPr/>
            <p:nvPr/>
          </p:nvSpPr>
          <p:spPr>
            <a:xfrm>
              <a:off x="1094" y="1776"/>
              <a:ext cx="2" cy="186"/>
            </a:xfrm>
            <a:prstGeom prst="line">
              <a:avLst/>
            </a:prstGeom>
            <a:ln w="15875" cap="flat" cmpd="sng">
              <a:solidFill>
                <a:schemeClr val="tx1"/>
              </a:solidFill>
              <a:prstDash val="solid"/>
              <a:round/>
              <a:headEnd type="none" w="med" len="med"/>
              <a:tailEnd type="none" w="med" len="med"/>
            </a:ln>
          </p:spPr>
        </p:sp>
        <p:sp>
          <p:nvSpPr>
            <p:cNvPr id="32779" name="Freeform 12"/>
            <p:cNvSpPr/>
            <p:nvPr/>
          </p:nvSpPr>
          <p:spPr>
            <a:xfrm>
              <a:off x="1104"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2780" name="Freeform 13"/>
            <p:cNvSpPr/>
            <p:nvPr/>
          </p:nvSpPr>
          <p:spPr>
            <a:xfrm>
              <a:off x="2928"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2781" name="Freeform 14"/>
            <p:cNvSpPr/>
            <p:nvPr/>
          </p:nvSpPr>
          <p:spPr>
            <a:xfrm>
              <a:off x="3840"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cxnSp>
          <p:nvCxnSpPr>
            <p:cNvPr id="32782" name="AutoShape 15"/>
            <p:cNvCxnSpPr/>
            <p:nvPr/>
          </p:nvCxnSpPr>
          <p:spPr>
            <a:xfrm flipH="1">
              <a:off x="624" y="1728"/>
              <a:ext cx="480" cy="0"/>
            </a:xfrm>
            <a:prstGeom prst="straightConnector1">
              <a:avLst/>
            </a:prstGeom>
            <a:ln w="38100" cap="flat" cmpd="sng">
              <a:solidFill>
                <a:schemeClr val="tx1"/>
              </a:solidFill>
              <a:prstDash val="solid"/>
              <a:round/>
              <a:headEnd type="none" w="med" len="med"/>
              <a:tailEnd type="none" w="med" len="med"/>
            </a:ln>
          </p:spPr>
        </p:cxnSp>
        <p:sp>
          <p:nvSpPr>
            <p:cNvPr id="32783" name="Freeform 16"/>
            <p:cNvSpPr/>
            <p:nvPr/>
          </p:nvSpPr>
          <p:spPr>
            <a:xfrm>
              <a:off x="4752"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2784" name="Freeform 17"/>
            <p:cNvSpPr/>
            <p:nvPr/>
          </p:nvSpPr>
          <p:spPr>
            <a:xfrm>
              <a:off x="2016" y="1344"/>
              <a:ext cx="912" cy="384"/>
            </a:xfrm>
            <a:custGeom>
              <a:avLst/>
              <a:gdLst/>
              <a:ahLst/>
              <a:cxnLst>
                <a:cxn ang="0">
                  <a:pos x="0" y="384"/>
                </a:cxn>
                <a:cxn ang="0">
                  <a:pos x="0" y="0"/>
                </a:cxn>
                <a:cxn ang="0">
                  <a:pos x="432" y="0"/>
                </a:cxn>
                <a:cxn ang="0">
                  <a:pos x="432" y="384"/>
                </a:cxn>
                <a:cxn ang="0">
                  <a:pos x="912" y="384"/>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2785" name="Rectangle 18"/>
            <p:cNvSpPr/>
            <p:nvPr/>
          </p:nvSpPr>
          <p:spPr>
            <a:xfrm>
              <a:off x="2385"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2</a:t>
              </a:r>
            </a:p>
          </p:txBody>
        </p:sp>
        <p:sp>
          <p:nvSpPr>
            <p:cNvPr id="32786" name="Rectangle 19"/>
            <p:cNvSpPr/>
            <p:nvPr/>
          </p:nvSpPr>
          <p:spPr>
            <a:xfrm>
              <a:off x="3345"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3</a:t>
              </a:r>
            </a:p>
          </p:txBody>
        </p:sp>
        <p:sp>
          <p:nvSpPr>
            <p:cNvPr id="32787" name="Rectangle 20"/>
            <p:cNvSpPr/>
            <p:nvPr/>
          </p:nvSpPr>
          <p:spPr>
            <a:xfrm>
              <a:off x="4224" y="1768"/>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4</a:t>
              </a:r>
            </a:p>
          </p:txBody>
        </p:sp>
        <p:sp>
          <p:nvSpPr>
            <p:cNvPr id="32788" name="Line 21"/>
            <p:cNvSpPr/>
            <p:nvPr/>
          </p:nvSpPr>
          <p:spPr>
            <a:xfrm>
              <a:off x="1104" y="1104"/>
              <a:ext cx="1152" cy="0"/>
            </a:xfrm>
            <a:prstGeom prst="line">
              <a:avLst/>
            </a:prstGeom>
            <a:ln w="28575" cap="flat" cmpd="sng">
              <a:solidFill>
                <a:schemeClr val="tx1"/>
              </a:solidFill>
              <a:prstDash val="solid"/>
              <a:round/>
              <a:headEnd type="stealth" w="lg" len="lg"/>
              <a:tailEnd type="none" w="med" len="med"/>
            </a:ln>
          </p:spPr>
        </p:sp>
        <p:sp>
          <p:nvSpPr>
            <p:cNvPr id="32789" name="Line 22"/>
            <p:cNvSpPr/>
            <p:nvPr/>
          </p:nvSpPr>
          <p:spPr>
            <a:xfrm>
              <a:off x="1103" y="1008"/>
              <a:ext cx="1" cy="186"/>
            </a:xfrm>
            <a:prstGeom prst="line">
              <a:avLst/>
            </a:prstGeom>
            <a:ln w="15875" cap="flat" cmpd="sng">
              <a:solidFill>
                <a:schemeClr val="tx1"/>
              </a:solidFill>
              <a:prstDash val="solid"/>
              <a:round/>
              <a:headEnd type="none" w="med" len="med"/>
              <a:tailEnd type="none" w="med" len="med"/>
            </a:ln>
          </p:spPr>
        </p:sp>
        <p:sp>
          <p:nvSpPr>
            <p:cNvPr id="32790" name="Line 23"/>
            <p:cNvSpPr/>
            <p:nvPr/>
          </p:nvSpPr>
          <p:spPr>
            <a:xfrm>
              <a:off x="3840" y="1104"/>
              <a:ext cx="912" cy="0"/>
            </a:xfrm>
            <a:prstGeom prst="line">
              <a:avLst/>
            </a:prstGeom>
            <a:ln w="28575" cap="flat" cmpd="sng">
              <a:solidFill>
                <a:schemeClr val="tx1"/>
              </a:solidFill>
              <a:prstDash val="solid"/>
              <a:round/>
              <a:headEnd type="none" w="lg" len="lg"/>
              <a:tailEnd type="stealth" w="lg" len="lg"/>
            </a:ln>
          </p:spPr>
        </p:sp>
        <p:sp>
          <p:nvSpPr>
            <p:cNvPr id="32791" name="Line 24"/>
            <p:cNvSpPr/>
            <p:nvPr/>
          </p:nvSpPr>
          <p:spPr>
            <a:xfrm>
              <a:off x="1680" y="1872"/>
              <a:ext cx="336" cy="0"/>
            </a:xfrm>
            <a:prstGeom prst="line">
              <a:avLst/>
            </a:prstGeom>
            <a:ln w="28575" cap="flat" cmpd="sng">
              <a:solidFill>
                <a:schemeClr val="tx1"/>
              </a:solidFill>
              <a:prstDash val="solid"/>
              <a:round/>
              <a:headEnd type="none" w="med" len="med"/>
              <a:tailEnd type="stealth" w="lg" len="lg"/>
            </a:ln>
          </p:spPr>
        </p:sp>
        <p:sp>
          <p:nvSpPr>
            <p:cNvPr id="32792" name="Line 25"/>
            <p:cNvSpPr/>
            <p:nvPr/>
          </p:nvSpPr>
          <p:spPr>
            <a:xfrm>
              <a:off x="2016" y="1781"/>
              <a:ext cx="1" cy="187"/>
            </a:xfrm>
            <a:prstGeom prst="line">
              <a:avLst/>
            </a:prstGeom>
            <a:ln w="15875" cap="flat" cmpd="sng">
              <a:solidFill>
                <a:schemeClr val="tx1"/>
              </a:solidFill>
              <a:prstDash val="solid"/>
              <a:round/>
              <a:headEnd type="none" w="med" len="med"/>
              <a:tailEnd type="none" w="med" len="med"/>
            </a:ln>
          </p:spPr>
        </p:sp>
        <p:sp>
          <p:nvSpPr>
            <p:cNvPr id="32793" name="Line 26"/>
            <p:cNvSpPr/>
            <p:nvPr/>
          </p:nvSpPr>
          <p:spPr>
            <a:xfrm>
              <a:off x="2592" y="1872"/>
              <a:ext cx="336" cy="0"/>
            </a:xfrm>
            <a:prstGeom prst="line">
              <a:avLst/>
            </a:prstGeom>
            <a:ln w="28575" cap="flat" cmpd="sng">
              <a:solidFill>
                <a:schemeClr val="tx1"/>
              </a:solidFill>
              <a:prstDash val="solid"/>
              <a:round/>
              <a:headEnd type="none" w="med" len="med"/>
              <a:tailEnd type="stealth" w="lg" len="lg"/>
            </a:ln>
          </p:spPr>
        </p:sp>
        <p:sp>
          <p:nvSpPr>
            <p:cNvPr id="32794" name="Line 27"/>
            <p:cNvSpPr/>
            <p:nvPr/>
          </p:nvSpPr>
          <p:spPr>
            <a:xfrm>
              <a:off x="3504" y="1872"/>
              <a:ext cx="336" cy="0"/>
            </a:xfrm>
            <a:prstGeom prst="line">
              <a:avLst/>
            </a:prstGeom>
            <a:ln w="28575" cap="flat" cmpd="sng">
              <a:solidFill>
                <a:schemeClr val="tx1"/>
              </a:solidFill>
              <a:prstDash val="solid"/>
              <a:round/>
              <a:headEnd type="none" w="med" len="med"/>
              <a:tailEnd type="stealth" w="lg" len="lg"/>
            </a:ln>
          </p:spPr>
        </p:sp>
        <p:sp>
          <p:nvSpPr>
            <p:cNvPr id="32795" name="Line 28"/>
            <p:cNvSpPr/>
            <p:nvPr/>
          </p:nvSpPr>
          <p:spPr>
            <a:xfrm>
              <a:off x="4416" y="1872"/>
              <a:ext cx="336" cy="0"/>
            </a:xfrm>
            <a:prstGeom prst="line">
              <a:avLst/>
            </a:prstGeom>
            <a:ln w="28575" cap="flat" cmpd="sng">
              <a:solidFill>
                <a:schemeClr val="tx1"/>
              </a:solidFill>
              <a:prstDash val="solid"/>
              <a:round/>
              <a:headEnd type="none" w="med" len="med"/>
              <a:tailEnd type="stealth" w="lg" len="lg"/>
            </a:ln>
          </p:spPr>
        </p:sp>
        <p:sp>
          <p:nvSpPr>
            <p:cNvPr id="32796" name="Line 29"/>
            <p:cNvSpPr/>
            <p:nvPr/>
          </p:nvSpPr>
          <p:spPr>
            <a:xfrm>
              <a:off x="1104" y="1872"/>
              <a:ext cx="336" cy="0"/>
            </a:xfrm>
            <a:prstGeom prst="line">
              <a:avLst/>
            </a:prstGeom>
            <a:ln w="28575" cap="flat" cmpd="sng">
              <a:solidFill>
                <a:schemeClr val="tx1"/>
              </a:solidFill>
              <a:prstDash val="solid"/>
              <a:round/>
              <a:headEnd type="stealth" w="lg" len="lg"/>
              <a:tailEnd type="none" w="lg" len="lg"/>
            </a:ln>
          </p:spPr>
        </p:sp>
        <p:sp>
          <p:nvSpPr>
            <p:cNvPr id="32797" name="Line 30"/>
            <p:cNvSpPr/>
            <p:nvPr/>
          </p:nvSpPr>
          <p:spPr>
            <a:xfrm>
              <a:off x="2016" y="1872"/>
              <a:ext cx="336" cy="0"/>
            </a:xfrm>
            <a:prstGeom prst="line">
              <a:avLst/>
            </a:prstGeom>
            <a:ln w="28575" cap="flat" cmpd="sng">
              <a:solidFill>
                <a:schemeClr val="tx1"/>
              </a:solidFill>
              <a:prstDash val="solid"/>
              <a:round/>
              <a:headEnd type="stealth" w="lg" len="lg"/>
              <a:tailEnd type="none" w="lg" len="lg"/>
            </a:ln>
          </p:spPr>
        </p:sp>
        <p:sp>
          <p:nvSpPr>
            <p:cNvPr id="32798" name="Line 31"/>
            <p:cNvSpPr/>
            <p:nvPr/>
          </p:nvSpPr>
          <p:spPr>
            <a:xfrm>
              <a:off x="2928" y="1872"/>
              <a:ext cx="336" cy="0"/>
            </a:xfrm>
            <a:prstGeom prst="line">
              <a:avLst/>
            </a:prstGeom>
            <a:ln w="28575" cap="flat" cmpd="sng">
              <a:solidFill>
                <a:schemeClr val="tx1"/>
              </a:solidFill>
              <a:prstDash val="solid"/>
              <a:round/>
              <a:headEnd type="stealth" w="lg" len="lg"/>
              <a:tailEnd type="none" w="lg" len="lg"/>
            </a:ln>
          </p:spPr>
        </p:sp>
        <p:sp>
          <p:nvSpPr>
            <p:cNvPr id="32799" name="Line 32"/>
            <p:cNvSpPr/>
            <p:nvPr/>
          </p:nvSpPr>
          <p:spPr>
            <a:xfrm>
              <a:off x="3840" y="1872"/>
              <a:ext cx="336" cy="0"/>
            </a:xfrm>
            <a:prstGeom prst="line">
              <a:avLst/>
            </a:prstGeom>
            <a:ln w="28575" cap="flat" cmpd="sng">
              <a:solidFill>
                <a:schemeClr val="tx1"/>
              </a:solidFill>
              <a:prstDash val="solid"/>
              <a:round/>
              <a:headEnd type="stealth" w="lg" len="lg"/>
              <a:tailEnd type="none" w="lg" len="lg"/>
            </a:ln>
          </p:spPr>
        </p:sp>
        <p:sp>
          <p:nvSpPr>
            <p:cNvPr id="32800" name="Text Box 33"/>
            <p:cNvSpPr txBox="1"/>
            <p:nvPr/>
          </p:nvSpPr>
          <p:spPr>
            <a:xfrm>
              <a:off x="144" y="1488"/>
              <a:ext cx="576" cy="288"/>
            </a:xfrm>
            <a:prstGeom prst="rect">
              <a:avLst/>
            </a:prstGeom>
            <a:noFill/>
            <a:ln w="9525">
              <a:noFill/>
            </a:ln>
          </p:spPr>
          <p:txBody>
            <a:bodyPr lIns="0" anchor="t" anchorCtr="0">
              <a:spAutoFit/>
            </a:bodyPr>
            <a:lstStyle/>
            <a:p>
              <a:pPr eaLnBrk="0" hangingPunct="0">
                <a:buClrTx/>
                <a:buFontTx/>
              </a:pPr>
              <a:r>
                <a:rPr lang="en-US" altLang="zh-CN"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时钟</a:t>
              </a:r>
            </a:p>
          </p:txBody>
        </p:sp>
      </p:grpSp>
      <p:grpSp>
        <p:nvGrpSpPr>
          <p:cNvPr id="215074" name="Group 34"/>
          <p:cNvGrpSpPr/>
          <p:nvPr/>
        </p:nvGrpSpPr>
        <p:grpSpPr>
          <a:xfrm>
            <a:off x="228600" y="3352800"/>
            <a:ext cx="8534400" cy="685800"/>
            <a:chOff x="144" y="2112"/>
            <a:chExt cx="5376" cy="432"/>
          </a:xfrm>
        </p:grpSpPr>
        <p:grpSp>
          <p:nvGrpSpPr>
            <p:cNvPr id="32802" name="Group 35"/>
            <p:cNvGrpSpPr/>
            <p:nvPr/>
          </p:nvGrpSpPr>
          <p:grpSpPr>
            <a:xfrm>
              <a:off x="624" y="2208"/>
              <a:ext cx="4896" cy="336"/>
              <a:chOff x="672" y="2208"/>
              <a:chExt cx="4725" cy="336"/>
            </a:xfrm>
          </p:grpSpPr>
          <p:sp>
            <p:nvSpPr>
              <p:cNvPr id="32803" name="Line 36"/>
              <p:cNvSpPr/>
              <p:nvPr/>
            </p:nvSpPr>
            <p:spPr>
              <a:xfrm>
                <a:off x="4656" y="2375"/>
                <a:ext cx="741" cy="1"/>
              </a:xfrm>
              <a:prstGeom prst="line">
                <a:avLst/>
              </a:prstGeom>
              <a:ln w="31750" cap="flat" cmpd="sng">
                <a:solidFill>
                  <a:schemeClr val="tx1"/>
                </a:solidFill>
                <a:prstDash val="solid"/>
                <a:round/>
                <a:headEnd type="none" w="med" len="med"/>
                <a:tailEnd type="none" w="med" len="med"/>
              </a:ln>
            </p:spPr>
          </p:sp>
          <p:sp>
            <p:nvSpPr>
              <p:cNvPr id="32804" name="Line 37"/>
              <p:cNvSpPr/>
              <p:nvPr/>
            </p:nvSpPr>
            <p:spPr>
              <a:xfrm>
                <a:off x="672" y="2373"/>
                <a:ext cx="239" cy="2"/>
              </a:xfrm>
              <a:prstGeom prst="line">
                <a:avLst/>
              </a:prstGeom>
              <a:ln w="31750" cap="flat" cmpd="sng">
                <a:solidFill>
                  <a:schemeClr val="tx1"/>
                </a:solidFill>
                <a:prstDash val="solid"/>
                <a:round/>
                <a:headEnd type="none" w="med" len="med"/>
                <a:tailEnd type="none" w="med" len="med"/>
              </a:ln>
            </p:spPr>
          </p:sp>
          <p:sp>
            <p:nvSpPr>
              <p:cNvPr id="32805" name="Freeform 38"/>
              <p:cNvSpPr/>
              <p:nvPr/>
            </p:nvSpPr>
            <p:spPr>
              <a:xfrm>
                <a:off x="912" y="2208"/>
                <a:ext cx="3744" cy="336"/>
              </a:xfrm>
              <a:custGeom>
                <a:avLst/>
                <a:gdLst/>
                <a:ahLst/>
                <a:cxnLst>
                  <a:cxn ang="0">
                    <a:pos x="72" y="0"/>
                  </a:cxn>
                  <a:cxn ang="0">
                    <a:pos x="0" y="20"/>
                  </a:cxn>
                  <a:cxn ang="0">
                    <a:pos x="68" y="39"/>
                  </a:cxn>
                  <a:cxn ang="0">
                    <a:pos x="1781" y="40"/>
                  </a:cxn>
                  <a:cxn ang="0">
                    <a:pos x="1849" y="20"/>
                  </a:cxn>
                  <a:cxn ang="0">
                    <a:pos x="1779" y="0"/>
                  </a:cxn>
                  <a:cxn ang="0">
                    <a:pos x="72" y="0"/>
                  </a:cxn>
                </a:cxnLst>
                <a:rect l="0" t="0" r="0" b="0"/>
                <a:pathLst>
                  <a:path w="5328" h="977">
                    <a:moveTo>
                      <a:pt x="206" y="0"/>
                    </a:moveTo>
                    <a:lnTo>
                      <a:pt x="0" y="486"/>
                    </a:lnTo>
                    <a:lnTo>
                      <a:pt x="196" y="964"/>
                    </a:lnTo>
                    <a:lnTo>
                      <a:pt x="5132" y="977"/>
                    </a:lnTo>
                    <a:lnTo>
                      <a:pt x="5328" y="486"/>
                    </a:lnTo>
                    <a:lnTo>
                      <a:pt x="5126" y="0"/>
                    </a:lnTo>
                    <a:lnTo>
                      <a:pt x="206" y="0"/>
                    </a:lnTo>
                    <a:close/>
                  </a:path>
                </a:pathLst>
              </a:custGeom>
              <a:noFill/>
              <a:ln w="31750" cap="flat" cmpd="sng">
                <a:solidFill>
                  <a:schemeClr val="tx1"/>
                </a:solidFill>
                <a:prstDash val="solid"/>
                <a:round/>
                <a:headEnd type="none" w="med" len="med"/>
                <a:tailEnd type="none" w="med" len="med"/>
              </a:ln>
            </p:spPr>
            <p:txBody>
              <a:bodyPr/>
              <a:lstStyle/>
              <a:p>
                <a:endParaRPr lang="zh-CN" altLang="en-US"/>
              </a:p>
            </p:txBody>
          </p:sp>
        </p:grpSp>
        <p:sp>
          <p:nvSpPr>
            <p:cNvPr id="32806" name="Text Box 39"/>
            <p:cNvSpPr txBox="1"/>
            <p:nvPr/>
          </p:nvSpPr>
          <p:spPr>
            <a:xfrm>
              <a:off x="144" y="2112"/>
              <a:ext cx="576" cy="288"/>
            </a:xfrm>
            <a:prstGeom prst="rect">
              <a:avLst/>
            </a:prstGeom>
            <a:noFill/>
            <a:ln w="9525">
              <a:noFill/>
            </a:ln>
          </p:spPr>
          <p:txBody>
            <a:bodyPr lIns="0" anchor="t" anchorCtr="0">
              <a:spAutoFit/>
            </a:bodyPr>
            <a:lstStyle/>
            <a:p>
              <a:pPr eaLnBrk="0" hangingPunct="0">
                <a:buClrTx/>
                <a:buFontTx/>
              </a:pPr>
              <a:r>
                <a:rPr lang="en-US" altLang="zh-CN"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地址</a:t>
              </a:r>
            </a:p>
          </p:txBody>
        </p:sp>
      </p:grpSp>
      <p:grpSp>
        <p:nvGrpSpPr>
          <p:cNvPr id="215080" name="Group 40"/>
          <p:cNvGrpSpPr/>
          <p:nvPr/>
        </p:nvGrpSpPr>
        <p:grpSpPr>
          <a:xfrm>
            <a:off x="304800" y="5257800"/>
            <a:ext cx="8382000" cy="838200"/>
            <a:chOff x="192" y="3312"/>
            <a:chExt cx="5280" cy="528"/>
          </a:xfrm>
        </p:grpSpPr>
        <p:sp>
          <p:nvSpPr>
            <p:cNvPr id="32808" name="Freeform 41"/>
            <p:cNvSpPr/>
            <p:nvPr/>
          </p:nvSpPr>
          <p:spPr>
            <a:xfrm>
              <a:off x="624" y="3600"/>
              <a:ext cx="4848" cy="240"/>
            </a:xfrm>
            <a:custGeom>
              <a:avLst/>
              <a:gdLst/>
              <a:ahLst/>
              <a:cxnLst>
                <a:cxn ang="0">
                  <a:pos x="0" y="0"/>
                </a:cxn>
                <a:cxn ang="0">
                  <a:pos x="1152" y="0"/>
                </a:cxn>
                <a:cxn ang="0">
                  <a:pos x="1392" y="240"/>
                </a:cxn>
                <a:cxn ang="0">
                  <a:pos x="2976" y="240"/>
                </a:cxn>
                <a:cxn ang="0">
                  <a:pos x="3216" y="0"/>
                </a:cxn>
                <a:cxn ang="0">
                  <a:pos x="4848" y="0"/>
                </a:cxn>
              </a:cxnLst>
              <a:rect l="0" t="0" r="0" b="0"/>
              <a:pathLst>
                <a:path w="4848" h="240">
                  <a:moveTo>
                    <a:pt x="0" y="0"/>
                  </a:moveTo>
                  <a:lnTo>
                    <a:pt x="1152" y="0"/>
                  </a:lnTo>
                  <a:lnTo>
                    <a:pt x="1392" y="240"/>
                  </a:lnTo>
                  <a:lnTo>
                    <a:pt x="2976" y="240"/>
                  </a:lnTo>
                  <a:lnTo>
                    <a:pt x="3216" y="0"/>
                  </a:lnTo>
                  <a:lnTo>
                    <a:pt x="4848" y="0"/>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2809" name="Text Box 42"/>
            <p:cNvSpPr txBox="1"/>
            <p:nvPr/>
          </p:nvSpPr>
          <p:spPr>
            <a:xfrm>
              <a:off x="192" y="3312"/>
              <a:ext cx="576" cy="518"/>
            </a:xfrm>
            <a:prstGeom prst="rect">
              <a:avLst/>
            </a:prstGeom>
            <a:noFill/>
            <a:ln w="9525">
              <a:noFill/>
            </a:ln>
          </p:spPr>
          <p:txBody>
            <a:bodyPr lIns="0" anchor="t" anchorCtr="0">
              <a:spAutoFit/>
            </a:bodyPr>
            <a:lstStyle/>
            <a:p>
              <a:pPr eaLnBrk="0" hangingPunct="0">
                <a:buClrTx/>
                <a:buFontTx/>
              </a:pPr>
              <a:r>
                <a:rPr lang="en-US" altLang="zh-CN"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写</a:t>
              </a:r>
            </a:p>
            <a:p>
              <a:pPr eaLnBrk="0" hangingPunct="0">
                <a:buClrTx/>
                <a:buFontTx/>
              </a:pPr>
              <a:r>
                <a:rPr lang="zh-CN" altLang="en-US" sz="2400" b="1" dirty="0">
                  <a:latin typeface="Times New Roman" panose="02020603050405020304" pitchFamily="18" charset="0"/>
                  <a:ea typeface="宋体" panose="02010600030101010101" pitchFamily="2" charset="-122"/>
                </a:rPr>
                <a:t>命令</a:t>
              </a:r>
            </a:p>
          </p:txBody>
        </p:sp>
      </p:grpSp>
      <p:grpSp>
        <p:nvGrpSpPr>
          <p:cNvPr id="215083" name="Group 43"/>
          <p:cNvGrpSpPr/>
          <p:nvPr/>
        </p:nvGrpSpPr>
        <p:grpSpPr>
          <a:xfrm>
            <a:off x="228600" y="4419600"/>
            <a:ext cx="8458200" cy="847725"/>
            <a:chOff x="144" y="2784"/>
            <a:chExt cx="5328" cy="534"/>
          </a:xfrm>
        </p:grpSpPr>
        <p:grpSp>
          <p:nvGrpSpPr>
            <p:cNvPr id="32811" name="Group 44"/>
            <p:cNvGrpSpPr/>
            <p:nvPr/>
          </p:nvGrpSpPr>
          <p:grpSpPr>
            <a:xfrm>
              <a:off x="1208" y="2832"/>
              <a:ext cx="2680" cy="486"/>
              <a:chOff x="1160" y="2976"/>
              <a:chExt cx="2584" cy="486"/>
            </a:xfrm>
          </p:grpSpPr>
          <p:sp>
            <p:nvSpPr>
              <p:cNvPr id="32812" name="Line 45"/>
              <p:cNvSpPr/>
              <p:nvPr/>
            </p:nvSpPr>
            <p:spPr>
              <a:xfrm>
                <a:off x="1392" y="3408"/>
                <a:ext cx="2112" cy="0"/>
              </a:xfrm>
              <a:prstGeom prst="line">
                <a:avLst/>
              </a:prstGeom>
              <a:ln w="38100" cap="flat" cmpd="sng">
                <a:solidFill>
                  <a:schemeClr val="tx1"/>
                </a:solidFill>
                <a:prstDash val="solid"/>
                <a:round/>
                <a:headEnd type="none" w="med" len="med"/>
                <a:tailEnd type="none" w="med" len="med"/>
              </a:ln>
            </p:spPr>
          </p:sp>
          <p:sp>
            <p:nvSpPr>
              <p:cNvPr id="32813" name="Line 46"/>
              <p:cNvSpPr/>
              <p:nvPr/>
            </p:nvSpPr>
            <p:spPr>
              <a:xfrm>
                <a:off x="1392" y="3024"/>
                <a:ext cx="2112" cy="0"/>
              </a:xfrm>
              <a:prstGeom prst="line">
                <a:avLst/>
              </a:prstGeom>
              <a:ln w="38100" cap="flat" cmpd="sng">
                <a:solidFill>
                  <a:schemeClr val="tx1"/>
                </a:solidFill>
                <a:prstDash val="solid"/>
                <a:round/>
                <a:headEnd type="none" w="med" len="med"/>
                <a:tailEnd type="none" w="med" len="med"/>
              </a:ln>
            </p:spPr>
          </p:sp>
          <p:sp>
            <p:nvSpPr>
              <p:cNvPr id="32814" name="Line 47"/>
              <p:cNvSpPr/>
              <p:nvPr/>
            </p:nvSpPr>
            <p:spPr>
              <a:xfrm rot="2700000">
                <a:off x="1303" y="2966"/>
                <a:ext cx="0" cy="286"/>
              </a:xfrm>
              <a:prstGeom prst="line">
                <a:avLst/>
              </a:prstGeom>
              <a:ln w="38100" cap="flat" cmpd="sng">
                <a:solidFill>
                  <a:schemeClr val="tx1"/>
                </a:solidFill>
                <a:prstDash val="solid"/>
                <a:round/>
                <a:headEnd type="none" w="med" len="med"/>
                <a:tailEnd type="none" w="med" len="med"/>
              </a:ln>
            </p:spPr>
          </p:sp>
          <p:sp>
            <p:nvSpPr>
              <p:cNvPr id="32815" name="Line 48"/>
              <p:cNvSpPr/>
              <p:nvPr/>
            </p:nvSpPr>
            <p:spPr>
              <a:xfrm rot="8100000">
                <a:off x="1311" y="3167"/>
                <a:ext cx="0" cy="295"/>
              </a:xfrm>
              <a:prstGeom prst="line">
                <a:avLst/>
              </a:prstGeom>
              <a:ln w="38100" cap="flat" cmpd="sng">
                <a:solidFill>
                  <a:schemeClr val="tx1"/>
                </a:solidFill>
                <a:prstDash val="solid"/>
                <a:round/>
                <a:headEnd type="none" w="med" len="med"/>
                <a:tailEnd type="none" w="med" len="med"/>
              </a:ln>
            </p:spPr>
          </p:sp>
          <p:sp>
            <p:nvSpPr>
              <p:cNvPr id="32816" name="Line 49"/>
              <p:cNvSpPr/>
              <p:nvPr/>
            </p:nvSpPr>
            <p:spPr>
              <a:xfrm rot="8100000">
                <a:off x="3600" y="2976"/>
                <a:ext cx="0" cy="295"/>
              </a:xfrm>
              <a:prstGeom prst="line">
                <a:avLst/>
              </a:prstGeom>
              <a:ln w="38100" cap="flat" cmpd="sng">
                <a:solidFill>
                  <a:schemeClr val="tx1"/>
                </a:solidFill>
                <a:prstDash val="solid"/>
                <a:round/>
                <a:headEnd type="none" w="med" len="med"/>
                <a:tailEnd type="none" w="med" len="med"/>
              </a:ln>
            </p:spPr>
          </p:sp>
          <p:sp>
            <p:nvSpPr>
              <p:cNvPr id="32817" name="Line 50"/>
              <p:cNvSpPr/>
              <p:nvPr/>
            </p:nvSpPr>
            <p:spPr>
              <a:xfrm rot="2700000">
                <a:off x="3601" y="3169"/>
                <a:ext cx="0" cy="286"/>
              </a:xfrm>
              <a:prstGeom prst="line">
                <a:avLst/>
              </a:prstGeom>
              <a:ln w="38100" cap="flat" cmpd="sng">
                <a:solidFill>
                  <a:schemeClr val="tx1"/>
                </a:solidFill>
                <a:prstDash val="solid"/>
                <a:round/>
                <a:headEnd type="none" w="med" len="med"/>
                <a:tailEnd type="none" w="med" len="med"/>
              </a:ln>
            </p:spPr>
          </p:sp>
        </p:grpSp>
        <p:sp>
          <p:nvSpPr>
            <p:cNvPr id="32818" name="Rectangle 51"/>
            <p:cNvSpPr/>
            <p:nvPr/>
          </p:nvSpPr>
          <p:spPr>
            <a:xfrm>
              <a:off x="732" y="2878"/>
              <a:ext cx="4740" cy="291"/>
            </a:xfrm>
            <a:prstGeom prst="rect">
              <a:avLst/>
            </a:prstGeom>
            <a:noFill/>
            <a:ln w="9525">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19" name="Line 52"/>
            <p:cNvSpPr/>
            <p:nvPr/>
          </p:nvSpPr>
          <p:spPr>
            <a:xfrm>
              <a:off x="624" y="3060"/>
              <a:ext cx="646" cy="0"/>
            </a:xfrm>
            <a:prstGeom prst="line">
              <a:avLst/>
            </a:prstGeom>
            <a:ln w="31750" cap="flat" cmpd="sng">
              <a:solidFill>
                <a:schemeClr val="tx1"/>
              </a:solidFill>
              <a:prstDash val="solid"/>
              <a:round/>
              <a:headEnd type="none" w="med" len="med"/>
              <a:tailEnd type="none" w="med" len="med"/>
            </a:ln>
          </p:spPr>
        </p:sp>
        <p:sp>
          <p:nvSpPr>
            <p:cNvPr id="32820" name="Line 53"/>
            <p:cNvSpPr/>
            <p:nvPr/>
          </p:nvSpPr>
          <p:spPr>
            <a:xfrm>
              <a:off x="3824" y="3071"/>
              <a:ext cx="1642" cy="1"/>
            </a:xfrm>
            <a:prstGeom prst="line">
              <a:avLst/>
            </a:prstGeom>
            <a:ln w="31750" cap="flat" cmpd="sng">
              <a:solidFill>
                <a:schemeClr val="tx1"/>
              </a:solidFill>
              <a:prstDash val="solid"/>
              <a:round/>
              <a:headEnd type="none" w="med" len="med"/>
              <a:tailEnd type="none" w="med" len="med"/>
            </a:ln>
          </p:spPr>
        </p:sp>
        <p:sp>
          <p:nvSpPr>
            <p:cNvPr id="32821" name="Text Box 54"/>
            <p:cNvSpPr txBox="1"/>
            <p:nvPr/>
          </p:nvSpPr>
          <p:spPr>
            <a:xfrm>
              <a:off x="144" y="2784"/>
              <a:ext cx="576" cy="288"/>
            </a:xfrm>
            <a:prstGeom prst="rect">
              <a:avLst/>
            </a:prstGeom>
            <a:noFill/>
            <a:ln w="9525">
              <a:noFill/>
            </a:ln>
          </p:spPr>
          <p:txBody>
            <a:bodyPr lIns="0" anchor="t" anchorCtr="0">
              <a:spAutoFit/>
            </a:bodyPr>
            <a:lstStyle/>
            <a:p>
              <a:pPr eaLnBrk="0" hangingPunct="0">
                <a:buClrTx/>
                <a:buFontTx/>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数据</a:t>
              </a:r>
            </a:p>
          </p:txBody>
        </p:sp>
      </p:grpSp>
      <p:grpSp>
        <p:nvGrpSpPr>
          <p:cNvPr id="215095" name="Group 55"/>
          <p:cNvGrpSpPr/>
          <p:nvPr/>
        </p:nvGrpSpPr>
        <p:grpSpPr>
          <a:xfrm>
            <a:off x="976313" y="3505200"/>
            <a:ext cx="806450" cy="2590800"/>
            <a:chOff x="615" y="2208"/>
            <a:chExt cx="508" cy="1632"/>
          </a:xfrm>
        </p:grpSpPr>
        <p:grpSp>
          <p:nvGrpSpPr>
            <p:cNvPr id="32823" name="Group 56"/>
            <p:cNvGrpSpPr/>
            <p:nvPr/>
          </p:nvGrpSpPr>
          <p:grpSpPr>
            <a:xfrm>
              <a:off x="615" y="2208"/>
              <a:ext cx="489" cy="384"/>
              <a:chOff x="615" y="2208"/>
              <a:chExt cx="489" cy="384"/>
            </a:xfrm>
          </p:grpSpPr>
          <p:sp>
            <p:nvSpPr>
              <p:cNvPr id="32824" name="Freeform 57"/>
              <p:cNvSpPr/>
              <p:nvPr/>
            </p:nvSpPr>
            <p:spPr>
              <a:xfrm>
                <a:off x="616" y="2208"/>
                <a:ext cx="437" cy="358"/>
              </a:xfrm>
              <a:custGeom>
                <a:avLst/>
                <a:gdLst/>
                <a:ahLst/>
                <a:cxnLst>
                  <a:cxn ang="0">
                    <a:pos x="245" y="167"/>
                  </a:cxn>
                  <a:cxn ang="0">
                    <a:pos x="435" y="0"/>
                  </a:cxn>
                  <a:cxn ang="0">
                    <a:pos x="0" y="1"/>
                  </a:cxn>
                  <a:cxn ang="0">
                    <a:pos x="0" y="358"/>
                  </a:cxn>
                  <a:cxn ang="0">
                    <a:pos x="437" y="358"/>
                  </a:cxn>
                </a:cxnLst>
                <a:rect l="0" t="0" r="0" b="0"/>
                <a:pathLst>
                  <a:path w="437" h="358">
                    <a:moveTo>
                      <a:pt x="245" y="167"/>
                    </a:moveTo>
                    <a:lnTo>
                      <a:pt x="435" y="0"/>
                    </a:lnTo>
                    <a:lnTo>
                      <a:pt x="0" y="1"/>
                    </a:lnTo>
                    <a:lnTo>
                      <a:pt x="0" y="358"/>
                    </a:lnTo>
                    <a:lnTo>
                      <a:pt x="437" y="358"/>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2825" name="Line 58"/>
              <p:cNvSpPr/>
              <p:nvPr/>
            </p:nvSpPr>
            <p:spPr>
              <a:xfrm rot="2700000">
                <a:off x="946" y="2177"/>
                <a:ext cx="0" cy="240"/>
              </a:xfrm>
              <a:prstGeom prst="line">
                <a:avLst/>
              </a:prstGeom>
              <a:ln w="76200" cap="flat" cmpd="sng">
                <a:solidFill>
                  <a:schemeClr val="folHlink"/>
                </a:solidFill>
                <a:prstDash val="solid"/>
                <a:round/>
                <a:headEnd type="none" w="med" len="med"/>
                <a:tailEnd type="none" w="med" len="med"/>
              </a:ln>
            </p:spPr>
          </p:sp>
          <p:sp>
            <p:nvSpPr>
              <p:cNvPr id="32826" name="Line 59"/>
              <p:cNvSpPr/>
              <p:nvPr/>
            </p:nvSpPr>
            <p:spPr>
              <a:xfrm rot="8100000">
                <a:off x="944" y="2329"/>
                <a:ext cx="0" cy="263"/>
              </a:xfrm>
              <a:prstGeom prst="line">
                <a:avLst/>
              </a:prstGeom>
              <a:ln w="76200" cap="flat" cmpd="sng">
                <a:solidFill>
                  <a:schemeClr val="folHlink"/>
                </a:solidFill>
                <a:prstDash val="solid"/>
                <a:round/>
                <a:headEnd type="none" w="med" len="med"/>
                <a:tailEnd type="none" w="med" len="med"/>
              </a:ln>
            </p:spPr>
          </p:sp>
          <p:sp>
            <p:nvSpPr>
              <p:cNvPr id="32827" name="Line 60"/>
              <p:cNvSpPr/>
              <p:nvPr/>
            </p:nvSpPr>
            <p:spPr>
              <a:xfrm>
                <a:off x="615" y="2208"/>
                <a:ext cx="489" cy="0"/>
              </a:xfrm>
              <a:prstGeom prst="line">
                <a:avLst/>
              </a:prstGeom>
              <a:ln w="76200" cap="flat" cmpd="sng">
                <a:solidFill>
                  <a:schemeClr val="folHlink"/>
                </a:solidFill>
                <a:prstDash val="solid"/>
                <a:round/>
                <a:headEnd type="none" w="med" len="med"/>
                <a:tailEnd type="none" w="med" len="med"/>
              </a:ln>
            </p:spPr>
          </p:sp>
          <p:sp>
            <p:nvSpPr>
              <p:cNvPr id="32828" name="Line 61"/>
              <p:cNvSpPr/>
              <p:nvPr/>
            </p:nvSpPr>
            <p:spPr>
              <a:xfrm>
                <a:off x="615" y="2544"/>
                <a:ext cx="489" cy="0"/>
              </a:xfrm>
              <a:prstGeom prst="line">
                <a:avLst/>
              </a:prstGeom>
              <a:ln w="76200" cap="flat" cmpd="sng">
                <a:solidFill>
                  <a:schemeClr val="folHlink"/>
                </a:solidFill>
                <a:prstDash val="solid"/>
                <a:round/>
                <a:headEnd type="none" w="med" len="med"/>
                <a:tailEnd type="none" w="med" len="med"/>
              </a:ln>
            </p:spPr>
          </p:sp>
        </p:grpSp>
        <p:sp>
          <p:nvSpPr>
            <p:cNvPr id="32829" name="Rectangle 62"/>
            <p:cNvSpPr/>
            <p:nvPr/>
          </p:nvSpPr>
          <p:spPr>
            <a:xfrm>
              <a:off x="624" y="2863"/>
              <a:ext cx="480" cy="422"/>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30" name="Line 63"/>
            <p:cNvSpPr/>
            <p:nvPr/>
          </p:nvSpPr>
          <p:spPr>
            <a:xfrm>
              <a:off x="624" y="3072"/>
              <a:ext cx="499" cy="0"/>
            </a:xfrm>
            <a:prstGeom prst="line">
              <a:avLst/>
            </a:prstGeom>
            <a:ln w="76200" cap="flat" cmpd="sng">
              <a:solidFill>
                <a:schemeClr val="folHlink"/>
              </a:solidFill>
              <a:prstDash val="solid"/>
              <a:round/>
              <a:headEnd type="none" w="med" len="med"/>
              <a:tailEnd type="none" w="med" len="med"/>
            </a:ln>
          </p:spPr>
        </p:sp>
        <p:grpSp>
          <p:nvGrpSpPr>
            <p:cNvPr id="32831" name="Group 64"/>
            <p:cNvGrpSpPr/>
            <p:nvPr/>
          </p:nvGrpSpPr>
          <p:grpSpPr>
            <a:xfrm>
              <a:off x="624" y="3600"/>
              <a:ext cx="499" cy="240"/>
              <a:chOff x="624" y="3600"/>
              <a:chExt cx="499" cy="384"/>
            </a:xfrm>
          </p:grpSpPr>
          <p:sp>
            <p:nvSpPr>
              <p:cNvPr id="32832" name="Rectangle 65"/>
              <p:cNvSpPr/>
              <p:nvPr/>
            </p:nvSpPr>
            <p:spPr>
              <a:xfrm>
                <a:off x="624" y="3600"/>
                <a:ext cx="480" cy="384"/>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33" name="Line 66"/>
              <p:cNvSpPr/>
              <p:nvPr/>
            </p:nvSpPr>
            <p:spPr>
              <a:xfrm>
                <a:off x="624" y="3600"/>
                <a:ext cx="499" cy="0"/>
              </a:xfrm>
              <a:prstGeom prst="line">
                <a:avLst/>
              </a:prstGeom>
              <a:ln w="76200" cap="flat" cmpd="sng">
                <a:solidFill>
                  <a:schemeClr val="folHlink"/>
                </a:solidFill>
                <a:prstDash val="solid"/>
                <a:round/>
                <a:headEnd type="none" w="med" len="med"/>
                <a:tailEnd type="none" w="med" len="med"/>
              </a:ln>
            </p:spPr>
          </p:sp>
        </p:grpSp>
      </p:grpSp>
      <p:grpSp>
        <p:nvGrpSpPr>
          <p:cNvPr id="215107" name="Group 67"/>
          <p:cNvGrpSpPr/>
          <p:nvPr/>
        </p:nvGrpSpPr>
        <p:grpSpPr>
          <a:xfrm>
            <a:off x="1752600" y="3505200"/>
            <a:ext cx="723900" cy="2590800"/>
            <a:chOff x="1104" y="2208"/>
            <a:chExt cx="456" cy="1632"/>
          </a:xfrm>
        </p:grpSpPr>
        <p:grpSp>
          <p:nvGrpSpPr>
            <p:cNvPr id="32835" name="Group 68"/>
            <p:cNvGrpSpPr/>
            <p:nvPr/>
          </p:nvGrpSpPr>
          <p:grpSpPr>
            <a:xfrm>
              <a:off x="1104" y="3600"/>
              <a:ext cx="456" cy="240"/>
              <a:chOff x="624" y="3600"/>
              <a:chExt cx="499" cy="384"/>
            </a:xfrm>
          </p:grpSpPr>
          <p:sp>
            <p:nvSpPr>
              <p:cNvPr id="32836" name="Rectangle 69"/>
              <p:cNvSpPr/>
              <p:nvPr/>
            </p:nvSpPr>
            <p:spPr>
              <a:xfrm>
                <a:off x="624" y="3600"/>
                <a:ext cx="480" cy="384"/>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37" name="Line 70"/>
              <p:cNvSpPr/>
              <p:nvPr/>
            </p:nvSpPr>
            <p:spPr>
              <a:xfrm>
                <a:off x="624" y="3600"/>
                <a:ext cx="499" cy="0"/>
              </a:xfrm>
              <a:prstGeom prst="line">
                <a:avLst/>
              </a:prstGeom>
              <a:ln w="76200" cap="flat" cmpd="sng">
                <a:solidFill>
                  <a:schemeClr val="folHlink"/>
                </a:solidFill>
                <a:prstDash val="solid"/>
                <a:round/>
                <a:headEnd type="none" w="med" len="med"/>
                <a:tailEnd type="none" w="med" len="med"/>
              </a:ln>
            </p:spPr>
          </p:sp>
        </p:grpSp>
        <p:sp>
          <p:nvSpPr>
            <p:cNvPr id="32838" name="Line 71"/>
            <p:cNvSpPr/>
            <p:nvPr/>
          </p:nvSpPr>
          <p:spPr>
            <a:xfrm>
              <a:off x="1104" y="2208"/>
              <a:ext cx="432" cy="0"/>
            </a:xfrm>
            <a:prstGeom prst="line">
              <a:avLst/>
            </a:prstGeom>
            <a:ln w="76200" cap="flat" cmpd="sng">
              <a:solidFill>
                <a:schemeClr val="folHlink"/>
              </a:solidFill>
              <a:prstDash val="solid"/>
              <a:round/>
              <a:headEnd type="none" w="med" len="med"/>
              <a:tailEnd type="none" w="med" len="med"/>
            </a:ln>
          </p:spPr>
        </p:sp>
        <p:sp>
          <p:nvSpPr>
            <p:cNvPr id="32839" name="Line 72"/>
            <p:cNvSpPr/>
            <p:nvPr/>
          </p:nvSpPr>
          <p:spPr>
            <a:xfrm>
              <a:off x="1104" y="2544"/>
              <a:ext cx="432" cy="0"/>
            </a:xfrm>
            <a:prstGeom prst="line">
              <a:avLst/>
            </a:prstGeom>
            <a:ln w="76200" cap="flat" cmpd="sng">
              <a:solidFill>
                <a:schemeClr val="folHlink"/>
              </a:solidFill>
              <a:prstDash val="solid"/>
              <a:round/>
              <a:headEnd type="none" w="med" len="med"/>
              <a:tailEnd type="none" w="med" len="med"/>
            </a:ln>
          </p:spPr>
        </p:sp>
        <p:sp>
          <p:nvSpPr>
            <p:cNvPr id="32840" name="Freeform 73"/>
            <p:cNvSpPr/>
            <p:nvPr/>
          </p:nvSpPr>
          <p:spPr>
            <a:xfrm>
              <a:off x="1104" y="2863"/>
              <a:ext cx="367" cy="422"/>
            </a:xfrm>
            <a:custGeom>
              <a:avLst/>
              <a:gdLst/>
              <a:ahLst/>
              <a:cxnLst>
                <a:cxn ang="0">
                  <a:pos x="367" y="0"/>
                </a:cxn>
                <a:cxn ang="0">
                  <a:pos x="0" y="0"/>
                </a:cxn>
                <a:cxn ang="0">
                  <a:pos x="0" y="510"/>
                </a:cxn>
                <a:cxn ang="0">
                  <a:pos x="336" y="510"/>
                </a:cxn>
                <a:cxn ang="0">
                  <a:pos x="134" y="244"/>
                </a:cxn>
              </a:cxnLst>
              <a:rect l="0" t="0" r="0" b="0"/>
              <a:pathLst>
                <a:path w="367" h="384">
                  <a:moveTo>
                    <a:pt x="367" y="0"/>
                  </a:moveTo>
                  <a:lnTo>
                    <a:pt x="0" y="0"/>
                  </a:lnTo>
                  <a:lnTo>
                    <a:pt x="0" y="384"/>
                  </a:lnTo>
                  <a:lnTo>
                    <a:pt x="336" y="384"/>
                  </a:lnTo>
                  <a:lnTo>
                    <a:pt x="134" y="184"/>
                  </a:lnTo>
                </a:path>
              </a:pathLst>
            </a:custGeom>
            <a:solidFill>
              <a:schemeClr val="folHlink">
                <a:alpha val="50195"/>
              </a:schemeClr>
            </a:solidFill>
            <a:ln w="9525" cap="flat" cmpd="sng">
              <a:solidFill>
                <a:schemeClr val="tx1"/>
              </a:solidFill>
              <a:prstDash val="solid"/>
              <a:round/>
              <a:headEnd type="none" w="med" len="med"/>
              <a:tailEnd type="none" w="med" len="med"/>
            </a:ln>
          </p:spPr>
          <p:txBody>
            <a:bodyPr/>
            <a:lstStyle/>
            <a:p>
              <a:endParaRPr lang="zh-CN" altLang="en-US"/>
            </a:p>
          </p:txBody>
        </p:sp>
        <p:sp>
          <p:nvSpPr>
            <p:cNvPr id="32841" name="Line 74"/>
            <p:cNvSpPr/>
            <p:nvPr/>
          </p:nvSpPr>
          <p:spPr>
            <a:xfrm>
              <a:off x="1104" y="3072"/>
              <a:ext cx="144" cy="0"/>
            </a:xfrm>
            <a:prstGeom prst="line">
              <a:avLst/>
            </a:prstGeom>
            <a:ln w="76200" cap="flat" cmpd="sng">
              <a:solidFill>
                <a:schemeClr val="folHlink"/>
              </a:solidFill>
              <a:prstDash val="solid"/>
              <a:round/>
              <a:headEnd type="none" w="med" len="med"/>
              <a:tailEnd type="none" w="med" len="med"/>
            </a:ln>
          </p:spPr>
        </p:sp>
        <p:sp>
          <p:nvSpPr>
            <p:cNvPr id="32842" name="Line 75"/>
            <p:cNvSpPr/>
            <p:nvPr/>
          </p:nvSpPr>
          <p:spPr>
            <a:xfrm rot="2700000">
              <a:off x="1345" y="2833"/>
              <a:ext cx="0" cy="286"/>
            </a:xfrm>
            <a:prstGeom prst="line">
              <a:avLst/>
            </a:prstGeom>
            <a:ln w="76200" cap="flat" cmpd="sng">
              <a:solidFill>
                <a:schemeClr val="folHlink"/>
              </a:solidFill>
              <a:prstDash val="solid"/>
              <a:round/>
              <a:headEnd type="none" w="med" len="med"/>
              <a:tailEnd type="none" w="med" len="med"/>
            </a:ln>
          </p:spPr>
        </p:sp>
        <p:sp>
          <p:nvSpPr>
            <p:cNvPr id="32843" name="Line 76"/>
            <p:cNvSpPr/>
            <p:nvPr/>
          </p:nvSpPr>
          <p:spPr>
            <a:xfrm rot="8100000">
              <a:off x="1344" y="3017"/>
              <a:ext cx="0" cy="295"/>
            </a:xfrm>
            <a:prstGeom prst="line">
              <a:avLst/>
            </a:prstGeom>
            <a:ln w="76200" cap="flat" cmpd="sng">
              <a:solidFill>
                <a:schemeClr val="folHlink"/>
              </a:solidFill>
              <a:prstDash val="solid"/>
              <a:round/>
              <a:headEnd type="none" w="med" len="med"/>
              <a:tailEnd type="none" w="med" len="med"/>
            </a:ln>
          </p:spPr>
        </p:sp>
        <p:sp>
          <p:nvSpPr>
            <p:cNvPr id="32844" name="Line 77"/>
            <p:cNvSpPr/>
            <p:nvPr/>
          </p:nvSpPr>
          <p:spPr>
            <a:xfrm>
              <a:off x="1414" y="3264"/>
              <a:ext cx="122" cy="0"/>
            </a:xfrm>
            <a:prstGeom prst="line">
              <a:avLst/>
            </a:prstGeom>
            <a:ln w="76200" cap="flat" cmpd="sng">
              <a:solidFill>
                <a:schemeClr val="folHlink"/>
              </a:solidFill>
              <a:prstDash val="solid"/>
              <a:round/>
              <a:headEnd type="none" w="med" len="med"/>
              <a:tailEnd type="none" w="med" len="med"/>
            </a:ln>
          </p:spPr>
        </p:sp>
        <p:sp>
          <p:nvSpPr>
            <p:cNvPr id="32845" name="Line 78"/>
            <p:cNvSpPr/>
            <p:nvPr/>
          </p:nvSpPr>
          <p:spPr>
            <a:xfrm>
              <a:off x="1414" y="2880"/>
              <a:ext cx="122" cy="0"/>
            </a:xfrm>
            <a:prstGeom prst="line">
              <a:avLst/>
            </a:prstGeom>
            <a:ln w="76200" cap="flat" cmpd="sng">
              <a:solidFill>
                <a:schemeClr val="folHlink"/>
              </a:solidFill>
              <a:prstDash val="solid"/>
              <a:round/>
              <a:headEnd type="none" w="med" len="med"/>
              <a:tailEnd type="none" w="med" len="med"/>
            </a:ln>
          </p:spPr>
        </p:sp>
      </p:grpSp>
      <p:sp>
        <p:nvSpPr>
          <p:cNvPr id="215119" name="Line 79"/>
          <p:cNvSpPr/>
          <p:nvPr/>
        </p:nvSpPr>
        <p:spPr>
          <a:xfrm>
            <a:off x="2438400" y="2819400"/>
            <a:ext cx="0" cy="3959225"/>
          </a:xfrm>
          <a:prstGeom prst="line">
            <a:avLst/>
          </a:prstGeom>
          <a:ln w="38100" cap="flat" cmpd="sng">
            <a:solidFill>
              <a:schemeClr val="tx1"/>
            </a:solidFill>
            <a:prstDash val="dash"/>
            <a:round/>
            <a:headEnd type="none" w="med" len="med"/>
            <a:tailEnd type="none" w="med" len="med"/>
          </a:ln>
        </p:spPr>
      </p:sp>
      <p:grpSp>
        <p:nvGrpSpPr>
          <p:cNvPr id="215120" name="Group 80"/>
          <p:cNvGrpSpPr/>
          <p:nvPr/>
        </p:nvGrpSpPr>
        <p:grpSpPr>
          <a:xfrm>
            <a:off x="2438400" y="3505200"/>
            <a:ext cx="762000" cy="2590800"/>
            <a:chOff x="1536" y="2208"/>
            <a:chExt cx="480" cy="1632"/>
          </a:xfrm>
        </p:grpSpPr>
        <p:sp>
          <p:nvSpPr>
            <p:cNvPr id="32848" name="Line 81"/>
            <p:cNvSpPr/>
            <p:nvPr/>
          </p:nvSpPr>
          <p:spPr>
            <a:xfrm>
              <a:off x="1536" y="2208"/>
              <a:ext cx="480" cy="0"/>
            </a:xfrm>
            <a:prstGeom prst="line">
              <a:avLst/>
            </a:prstGeom>
            <a:ln w="76200" cap="flat" cmpd="sng">
              <a:solidFill>
                <a:schemeClr val="folHlink"/>
              </a:solidFill>
              <a:prstDash val="solid"/>
              <a:round/>
              <a:headEnd type="none" w="med" len="med"/>
              <a:tailEnd type="none" w="med" len="med"/>
            </a:ln>
          </p:spPr>
        </p:sp>
        <p:sp>
          <p:nvSpPr>
            <p:cNvPr id="32849" name="Line 82"/>
            <p:cNvSpPr/>
            <p:nvPr/>
          </p:nvSpPr>
          <p:spPr>
            <a:xfrm>
              <a:off x="1536" y="2544"/>
              <a:ext cx="480" cy="0"/>
            </a:xfrm>
            <a:prstGeom prst="line">
              <a:avLst/>
            </a:prstGeom>
            <a:ln w="76200" cap="flat" cmpd="sng">
              <a:solidFill>
                <a:schemeClr val="folHlink"/>
              </a:solidFill>
              <a:prstDash val="solid"/>
              <a:round/>
              <a:headEnd type="none" w="med" len="med"/>
              <a:tailEnd type="none" w="med" len="med"/>
            </a:ln>
          </p:spPr>
        </p:sp>
        <p:sp>
          <p:nvSpPr>
            <p:cNvPr id="32850" name="Line 83"/>
            <p:cNvSpPr/>
            <p:nvPr/>
          </p:nvSpPr>
          <p:spPr>
            <a:xfrm>
              <a:off x="1536" y="2880"/>
              <a:ext cx="480" cy="0"/>
            </a:xfrm>
            <a:prstGeom prst="line">
              <a:avLst/>
            </a:prstGeom>
            <a:ln w="76200" cap="flat" cmpd="sng">
              <a:solidFill>
                <a:schemeClr val="folHlink"/>
              </a:solidFill>
              <a:prstDash val="solid"/>
              <a:round/>
              <a:headEnd type="none" w="med" len="med"/>
              <a:tailEnd type="none" w="med" len="med"/>
            </a:ln>
          </p:spPr>
        </p:sp>
        <p:sp>
          <p:nvSpPr>
            <p:cNvPr id="32851" name="Line 84"/>
            <p:cNvSpPr/>
            <p:nvPr/>
          </p:nvSpPr>
          <p:spPr>
            <a:xfrm>
              <a:off x="1536" y="3264"/>
              <a:ext cx="480" cy="0"/>
            </a:xfrm>
            <a:prstGeom prst="line">
              <a:avLst/>
            </a:prstGeom>
            <a:ln w="76200" cap="flat" cmpd="sng">
              <a:solidFill>
                <a:schemeClr val="folHlink"/>
              </a:solidFill>
              <a:prstDash val="solid"/>
              <a:round/>
              <a:headEnd type="none" w="med" len="med"/>
              <a:tailEnd type="none" w="med" len="med"/>
            </a:ln>
          </p:spPr>
        </p:sp>
        <p:sp>
          <p:nvSpPr>
            <p:cNvPr id="32852" name="Freeform 85"/>
            <p:cNvSpPr/>
            <p:nvPr/>
          </p:nvSpPr>
          <p:spPr>
            <a:xfrm>
              <a:off x="1536" y="3600"/>
              <a:ext cx="480" cy="240"/>
            </a:xfrm>
            <a:custGeom>
              <a:avLst/>
              <a:gdLst/>
              <a:ahLst/>
              <a:cxnLst>
                <a:cxn ang="0">
                  <a:pos x="0" y="0"/>
                </a:cxn>
                <a:cxn ang="0">
                  <a:pos x="240" y="0"/>
                </a:cxn>
                <a:cxn ang="0">
                  <a:pos x="480" y="94"/>
                </a:cxn>
                <a:cxn ang="0">
                  <a:pos x="0" y="94"/>
                </a:cxn>
              </a:cxnLst>
              <a:rect l="0" t="0" r="0" b="0"/>
              <a:pathLst>
                <a:path w="480" h="384">
                  <a:moveTo>
                    <a:pt x="0" y="0"/>
                  </a:moveTo>
                  <a:lnTo>
                    <a:pt x="240" y="0"/>
                  </a:lnTo>
                  <a:lnTo>
                    <a:pt x="480" y="384"/>
                  </a:lnTo>
                  <a:lnTo>
                    <a:pt x="0" y="384"/>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2853" name="Line 86"/>
            <p:cNvSpPr/>
            <p:nvPr/>
          </p:nvSpPr>
          <p:spPr>
            <a:xfrm>
              <a:off x="1536" y="3600"/>
              <a:ext cx="263" cy="0"/>
            </a:xfrm>
            <a:prstGeom prst="line">
              <a:avLst/>
            </a:prstGeom>
            <a:ln w="76200" cap="flat" cmpd="sng">
              <a:solidFill>
                <a:schemeClr val="folHlink"/>
              </a:solidFill>
              <a:prstDash val="solid"/>
              <a:round/>
              <a:headEnd type="none" w="med" len="med"/>
              <a:tailEnd type="none" w="med" len="med"/>
            </a:ln>
          </p:spPr>
        </p:sp>
      </p:grpSp>
      <p:sp>
        <p:nvSpPr>
          <p:cNvPr id="215127" name="Line 87"/>
          <p:cNvSpPr/>
          <p:nvPr/>
        </p:nvSpPr>
        <p:spPr>
          <a:xfrm>
            <a:off x="2819400" y="5715000"/>
            <a:ext cx="381000" cy="381000"/>
          </a:xfrm>
          <a:prstGeom prst="line">
            <a:avLst/>
          </a:prstGeom>
          <a:ln w="76200" cap="flat" cmpd="sng">
            <a:solidFill>
              <a:schemeClr val="folHlink"/>
            </a:solidFill>
            <a:prstDash val="solid"/>
            <a:round/>
            <a:headEnd type="none" w="med" len="med"/>
            <a:tailEnd type="none" w="med" len="med"/>
          </a:ln>
        </p:spPr>
      </p:sp>
      <p:sp>
        <p:nvSpPr>
          <p:cNvPr id="215128" name="Line 88"/>
          <p:cNvSpPr/>
          <p:nvPr/>
        </p:nvSpPr>
        <p:spPr>
          <a:xfrm>
            <a:off x="3200400" y="2819400"/>
            <a:ext cx="0" cy="3959225"/>
          </a:xfrm>
          <a:prstGeom prst="line">
            <a:avLst/>
          </a:prstGeom>
          <a:ln w="38100" cap="flat" cmpd="sng">
            <a:solidFill>
              <a:schemeClr val="tx1"/>
            </a:solidFill>
            <a:prstDash val="dash"/>
            <a:round/>
            <a:headEnd type="none" w="med" len="med"/>
            <a:tailEnd type="none" w="med" len="med"/>
          </a:ln>
        </p:spPr>
      </p:sp>
      <p:grpSp>
        <p:nvGrpSpPr>
          <p:cNvPr id="215129" name="Group 89"/>
          <p:cNvGrpSpPr/>
          <p:nvPr/>
        </p:nvGrpSpPr>
        <p:grpSpPr>
          <a:xfrm>
            <a:off x="3200400" y="3505200"/>
            <a:ext cx="1447800" cy="2590800"/>
            <a:chOff x="2016" y="2208"/>
            <a:chExt cx="912" cy="1632"/>
          </a:xfrm>
        </p:grpSpPr>
        <p:sp>
          <p:nvSpPr>
            <p:cNvPr id="32857" name="Line 90"/>
            <p:cNvSpPr/>
            <p:nvPr/>
          </p:nvSpPr>
          <p:spPr>
            <a:xfrm>
              <a:off x="2016" y="2208"/>
              <a:ext cx="912" cy="0"/>
            </a:xfrm>
            <a:prstGeom prst="line">
              <a:avLst/>
            </a:prstGeom>
            <a:ln w="76200" cap="flat" cmpd="sng">
              <a:solidFill>
                <a:schemeClr val="folHlink"/>
              </a:solidFill>
              <a:prstDash val="solid"/>
              <a:round/>
              <a:headEnd type="none" w="med" len="med"/>
              <a:tailEnd type="none" w="med" len="med"/>
            </a:ln>
          </p:spPr>
        </p:sp>
        <p:sp>
          <p:nvSpPr>
            <p:cNvPr id="32858" name="Line 91"/>
            <p:cNvSpPr/>
            <p:nvPr/>
          </p:nvSpPr>
          <p:spPr>
            <a:xfrm>
              <a:off x="2016" y="2544"/>
              <a:ext cx="912" cy="0"/>
            </a:xfrm>
            <a:prstGeom prst="line">
              <a:avLst/>
            </a:prstGeom>
            <a:ln w="76200" cap="flat" cmpd="sng">
              <a:solidFill>
                <a:schemeClr val="folHlink"/>
              </a:solidFill>
              <a:prstDash val="solid"/>
              <a:round/>
              <a:headEnd type="none" w="med" len="med"/>
              <a:tailEnd type="none" w="med" len="med"/>
            </a:ln>
          </p:spPr>
        </p:sp>
        <p:sp>
          <p:nvSpPr>
            <p:cNvPr id="32859" name="Line 92"/>
            <p:cNvSpPr/>
            <p:nvPr/>
          </p:nvSpPr>
          <p:spPr>
            <a:xfrm>
              <a:off x="2016" y="2880"/>
              <a:ext cx="912" cy="0"/>
            </a:xfrm>
            <a:prstGeom prst="line">
              <a:avLst/>
            </a:prstGeom>
            <a:ln w="76200" cap="flat" cmpd="sng">
              <a:solidFill>
                <a:schemeClr val="folHlink"/>
              </a:solidFill>
              <a:prstDash val="solid"/>
              <a:round/>
              <a:headEnd type="none" w="med" len="med"/>
              <a:tailEnd type="none" w="med" len="med"/>
            </a:ln>
          </p:spPr>
        </p:sp>
        <p:sp>
          <p:nvSpPr>
            <p:cNvPr id="32860" name="Line 93"/>
            <p:cNvSpPr/>
            <p:nvPr/>
          </p:nvSpPr>
          <p:spPr>
            <a:xfrm>
              <a:off x="2016" y="3264"/>
              <a:ext cx="912" cy="0"/>
            </a:xfrm>
            <a:prstGeom prst="line">
              <a:avLst/>
            </a:prstGeom>
            <a:ln w="76200" cap="flat" cmpd="sng">
              <a:solidFill>
                <a:schemeClr val="folHlink"/>
              </a:solidFill>
              <a:prstDash val="solid"/>
              <a:round/>
              <a:headEnd type="none" w="med" len="med"/>
              <a:tailEnd type="none" w="med" len="med"/>
            </a:ln>
          </p:spPr>
        </p:sp>
        <p:sp>
          <p:nvSpPr>
            <p:cNvPr id="32861" name="Line 94"/>
            <p:cNvSpPr/>
            <p:nvPr/>
          </p:nvSpPr>
          <p:spPr>
            <a:xfrm>
              <a:off x="2016" y="3840"/>
              <a:ext cx="912" cy="0"/>
            </a:xfrm>
            <a:prstGeom prst="line">
              <a:avLst/>
            </a:prstGeom>
            <a:ln w="76200" cap="flat" cmpd="sng">
              <a:solidFill>
                <a:schemeClr val="folHlink"/>
              </a:solidFill>
              <a:prstDash val="solid"/>
              <a:round/>
              <a:headEnd type="none" w="med" len="med"/>
              <a:tailEnd type="none" w="med" len="med"/>
            </a:ln>
          </p:spPr>
        </p:sp>
      </p:grpSp>
      <p:grpSp>
        <p:nvGrpSpPr>
          <p:cNvPr id="215135" name="Group 95"/>
          <p:cNvGrpSpPr/>
          <p:nvPr/>
        </p:nvGrpSpPr>
        <p:grpSpPr>
          <a:xfrm>
            <a:off x="4648200" y="3505200"/>
            <a:ext cx="1143000" cy="2590800"/>
            <a:chOff x="2928" y="2208"/>
            <a:chExt cx="720" cy="1632"/>
          </a:xfrm>
        </p:grpSpPr>
        <p:sp>
          <p:nvSpPr>
            <p:cNvPr id="32863" name="Line 96"/>
            <p:cNvSpPr/>
            <p:nvPr/>
          </p:nvSpPr>
          <p:spPr>
            <a:xfrm>
              <a:off x="2928" y="2880"/>
              <a:ext cx="720" cy="0"/>
            </a:xfrm>
            <a:prstGeom prst="line">
              <a:avLst/>
            </a:prstGeom>
            <a:ln w="76200" cap="flat" cmpd="sng">
              <a:solidFill>
                <a:schemeClr val="folHlink"/>
              </a:solidFill>
              <a:prstDash val="solid"/>
              <a:round/>
              <a:headEnd type="none" w="med" len="med"/>
              <a:tailEnd type="none" w="med" len="med"/>
            </a:ln>
          </p:spPr>
        </p:sp>
        <p:sp>
          <p:nvSpPr>
            <p:cNvPr id="32864" name="Line 97"/>
            <p:cNvSpPr/>
            <p:nvPr/>
          </p:nvSpPr>
          <p:spPr>
            <a:xfrm>
              <a:off x="2928" y="3264"/>
              <a:ext cx="720" cy="0"/>
            </a:xfrm>
            <a:prstGeom prst="line">
              <a:avLst/>
            </a:prstGeom>
            <a:ln w="76200" cap="flat" cmpd="sng">
              <a:solidFill>
                <a:schemeClr val="folHlink"/>
              </a:solidFill>
              <a:prstDash val="solid"/>
              <a:round/>
              <a:headEnd type="none" w="med" len="med"/>
              <a:tailEnd type="none" w="med" len="med"/>
            </a:ln>
          </p:spPr>
        </p:sp>
        <p:sp>
          <p:nvSpPr>
            <p:cNvPr id="32865" name="Line 98"/>
            <p:cNvSpPr/>
            <p:nvPr/>
          </p:nvSpPr>
          <p:spPr>
            <a:xfrm>
              <a:off x="2928" y="3840"/>
              <a:ext cx="720" cy="0"/>
            </a:xfrm>
            <a:prstGeom prst="line">
              <a:avLst/>
            </a:prstGeom>
            <a:ln w="76200" cap="flat" cmpd="sng">
              <a:solidFill>
                <a:schemeClr val="folHlink"/>
              </a:solidFill>
              <a:prstDash val="solid"/>
              <a:round/>
              <a:headEnd type="none" w="med" len="med"/>
              <a:tailEnd type="none" w="med" len="med"/>
            </a:ln>
          </p:spPr>
        </p:sp>
        <p:sp>
          <p:nvSpPr>
            <p:cNvPr id="32866" name="Line 99"/>
            <p:cNvSpPr/>
            <p:nvPr/>
          </p:nvSpPr>
          <p:spPr>
            <a:xfrm>
              <a:off x="2928" y="2208"/>
              <a:ext cx="720" cy="0"/>
            </a:xfrm>
            <a:prstGeom prst="line">
              <a:avLst/>
            </a:prstGeom>
            <a:ln w="76200" cap="flat" cmpd="sng">
              <a:solidFill>
                <a:schemeClr val="folHlink"/>
              </a:solidFill>
              <a:prstDash val="solid"/>
              <a:round/>
              <a:headEnd type="none" w="med" len="med"/>
              <a:tailEnd type="none" w="med" len="med"/>
            </a:ln>
          </p:spPr>
        </p:sp>
        <p:sp>
          <p:nvSpPr>
            <p:cNvPr id="32867" name="Line 100"/>
            <p:cNvSpPr/>
            <p:nvPr/>
          </p:nvSpPr>
          <p:spPr>
            <a:xfrm>
              <a:off x="2928" y="2544"/>
              <a:ext cx="720" cy="0"/>
            </a:xfrm>
            <a:prstGeom prst="line">
              <a:avLst/>
            </a:prstGeom>
            <a:ln w="76200" cap="flat" cmpd="sng">
              <a:solidFill>
                <a:schemeClr val="folHlink"/>
              </a:solidFill>
              <a:prstDash val="solid"/>
              <a:round/>
              <a:headEnd type="none" w="med" len="med"/>
              <a:tailEnd type="none" w="med" len="med"/>
            </a:ln>
          </p:spPr>
        </p:sp>
      </p:grpSp>
      <p:grpSp>
        <p:nvGrpSpPr>
          <p:cNvPr id="215141" name="Group 101"/>
          <p:cNvGrpSpPr/>
          <p:nvPr/>
        </p:nvGrpSpPr>
        <p:grpSpPr>
          <a:xfrm>
            <a:off x="5638800" y="4532313"/>
            <a:ext cx="466725" cy="1595437"/>
            <a:chOff x="3552" y="2855"/>
            <a:chExt cx="294" cy="1005"/>
          </a:xfrm>
        </p:grpSpPr>
        <p:sp>
          <p:nvSpPr>
            <p:cNvPr id="32869" name="Freeform 102"/>
            <p:cNvSpPr/>
            <p:nvPr/>
          </p:nvSpPr>
          <p:spPr>
            <a:xfrm>
              <a:off x="3600" y="2855"/>
              <a:ext cx="245" cy="429"/>
            </a:xfrm>
            <a:custGeom>
              <a:avLst/>
              <a:gdLst/>
              <a:ahLst/>
              <a:cxnLst>
                <a:cxn ang="0">
                  <a:pos x="0" y="0"/>
                </a:cxn>
                <a:cxn ang="0">
                  <a:pos x="245" y="0"/>
                </a:cxn>
                <a:cxn ang="0">
                  <a:pos x="233" y="429"/>
                </a:cxn>
                <a:cxn ang="0">
                  <a:pos x="25" y="429"/>
                </a:cxn>
                <a:cxn ang="0">
                  <a:pos x="237" y="202"/>
                </a:cxn>
                <a:cxn ang="0">
                  <a:pos x="0" y="0"/>
                </a:cxn>
              </a:cxnLst>
              <a:rect l="0" t="0" r="0" b="0"/>
              <a:pathLst>
                <a:path w="245" h="429">
                  <a:moveTo>
                    <a:pt x="0" y="0"/>
                  </a:moveTo>
                  <a:lnTo>
                    <a:pt x="245" y="0"/>
                  </a:lnTo>
                  <a:lnTo>
                    <a:pt x="233" y="429"/>
                  </a:lnTo>
                  <a:lnTo>
                    <a:pt x="25" y="429"/>
                  </a:lnTo>
                  <a:lnTo>
                    <a:pt x="237" y="202"/>
                  </a:lnTo>
                  <a:lnTo>
                    <a:pt x="0" y="0"/>
                  </a:lnTo>
                  <a:close/>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2870" name="Freeform 103"/>
            <p:cNvSpPr/>
            <p:nvPr/>
          </p:nvSpPr>
          <p:spPr>
            <a:xfrm>
              <a:off x="3552" y="3591"/>
              <a:ext cx="294" cy="269"/>
            </a:xfrm>
            <a:custGeom>
              <a:avLst/>
              <a:gdLst/>
              <a:ahLst/>
              <a:cxnLst>
                <a:cxn ang="0">
                  <a:pos x="282" y="0"/>
                </a:cxn>
                <a:cxn ang="0">
                  <a:pos x="0" y="269"/>
                </a:cxn>
                <a:cxn ang="0">
                  <a:pos x="294" y="269"/>
                </a:cxn>
              </a:cxnLst>
              <a:rect l="0" t="0" r="0" b="0"/>
              <a:pathLst>
                <a:path w="294" h="269">
                  <a:moveTo>
                    <a:pt x="282" y="0"/>
                  </a:moveTo>
                  <a:lnTo>
                    <a:pt x="0" y="269"/>
                  </a:lnTo>
                  <a:lnTo>
                    <a:pt x="294" y="269"/>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grpSp>
      <p:grpSp>
        <p:nvGrpSpPr>
          <p:cNvPr id="215144" name="Group 104"/>
          <p:cNvGrpSpPr/>
          <p:nvPr/>
        </p:nvGrpSpPr>
        <p:grpSpPr>
          <a:xfrm>
            <a:off x="5715000" y="3505200"/>
            <a:ext cx="454025" cy="2590800"/>
            <a:chOff x="3600" y="2208"/>
            <a:chExt cx="286" cy="1632"/>
          </a:xfrm>
        </p:grpSpPr>
        <p:sp>
          <p:nvSpPr>
            <p:cNvPr id="32872" name="Line 105"/>
            <p:cNvSpPr/>
            <p:nvPr/>
          </p:nvSpPr>
          <p:spPr>
            <a:xfrm>
              <a:off x="3646" y="2208"/>
              <a:ext cx="192" cy="0"/>
            </a:xfrm>
            <a:prstGeom prst="line">
              <a:avLst/>
            </a:prstGeom>
            <a:ln w="76200" cap="flat" cmpd="sng">
              <a:solidFill>
                <a:schemeClr val="folHlink"/>
              </a:solidFill>
              <a:prstDash val="solid"/>
              <a:round/>
              <a:headEnd type="none" w="med" len="med"/>
              <a:tailEnd type="none" w="med" len="med"/>
            </a:ln>
          </p:spPr>
        </p:sp>
        <p:sp>
          <p:nvSpPr>
            <p:cNvPr id="32873" name="Line 106"/>
            <p:cNvSpPr/>
            <p:nvPr/>
          </p:nvSpPr>
          <p:spPr>
            <a:xfrm>
              <a:off x="3646" y="2544"/>
              <a:ext cx="192" cy="0"/>
            </a:xfrm>
            <a:prstGeom prst="line">
              <a:avLst/>
            </a:prstGeom>
            <a:ln w="76200" cap="flat" cmpd="sng">
              <a:solidFill>
                <a:schemeClr val="folHlink"/>
              </a:solidFill>
              <a:prstDash val="solid"/>
              <a:round/>
              <a:headEnd type="none" w="med" len="med"/>
              <a:tailEnd type="none" w="med" len="med"/>
            </a:ln>
          </p:spPr>
        </p:sp>
        <p:sp>
          <p:nvSpPr>
            <p:cNvPr id="32874" name="Line 107"/>
            <p:cNvSpPr/>
            <p:nvPr/>
          </p:nvSpPr>
          <p:spPr>
            <a:xfrm rot="8100000">
              <a:off x="3742" y="2832"/>
              <a:ext cx="0" cy="295"/>
            </a:xfrm>
            <a:prstGeom prst="line">
              <a:avLst/>
            </a:prstGeom>
            <a:ln w="76200" cap="flat" cmpd="sng">
              <a:solidFill>
                <a:schemeClr val="folHlink"/>
              </a:solidFill>
              <a:prstDash val="solid"/>
              <a:round/>
              <a:headEnd type="none" w="med" len="med"/>
              <a:tailEnd type="none" w="med" len="med"/>
            </a:ln>
          </p:spPr>
        </p:sp>
        <p:sp>
          <p:nvSpPr>
            <p:cNvPr id="32875" name="Line 108"/>
            <p:cNvSpPr/>
            <p:nvPr/>
          </p:nvSpPr>
          <p:spPr>
            <a:xfrm rot="2700000">
              <a:off x="3743" y="3025"/>
              <a:ext cx="0" cy="286"/>
            </a:xfrm>
            <a:prstGeom prst="line">
              <a:avLst/>
            </a:prstGeom>
            <a:ln w="76200" cap="flat" cmpd="sng">
              <a:solidFill>
                <a:schemeClr val="folHlink"/>
              </a:solidFill>
              <a:prstDash val="solid"/>
              <a:round/>
              <a:headEnd type="none" w="med" len="med"/>
              <a:tailEnd type="none" w="med" len="med"/>
            </a:ln>
          </p:spPr>
        </p:sp>
        <p:sp>
          <p:nvSpPr>
            <p:cNvPr id="32876" name="Line 109"/>
            <p:cNvSpPr/>
            <p:nvPr/>
          </p:nvSpPr>
          <p:spPr>
            <a:xfrm rot="5400000">
              <a:off x="3600" y="3600"/>
              <a:ext cx="240" cy="240"/>
            </a:xfrm>
            <a:prstGeom prst="line">
              <a:avLst/>
            </a:prstGeom>
            <a:ln w="76200" cap="flat" cmpd="sng">
              <a:solidFill>
                <a:schemeClr val="folHlink"/>
              </a:solidFill>
              <a:prstDash val="solid"/>
              <a:round/>
              <a:headEnd type="none" w="med" len="med"/>
              <a:tailEnd type="none" w="med" len="med"/>
            </a:ln>
          </p:spPr>
        </p:sp>
      </p:grpSp>
      <p:grpSp>
        <p:nvGrpSpPr>
          <p:cNvPr id="215150" name="Group 110"/>
          <p:cNvGrpSpPr/>
          <p:nvPr/>
        </p:nvGrpSpPr>
        <p:grpSpPr>
          <a:xfrm>
            <a:off x="6094413" y="3505200"/>
            <a:ext cx="1220787" cy="2630488"/>
            <a:chOff x="3840" y="2208"/>
            <a:chExt cx="769" cy="1657"/>
          </a:xfrm>
        </p:grpSpPr>
        <p:sp>
          <p:nvSpPr>
            <p:cNvPr id="32878" name="Line 111"/>
            <p:cNvSpPr/>
            <p:nvPr/>
          </p:nvSpPr>
          <p:spPr>
            <a:xfrm>
              <a:off x="3840" y="2208"/>
              <a:ext cx="769" cy="0"/>
            </a:xfrm>
            <a:prstGeom prst="line">
              <a:avLst/>
            </a:prstGeom>
            <a:ln w="76200" cap="flat" cmpd="sng">
              <a:solidFill>
                <a:schemeClr val="folHlink"/>
              </a:solidFill>
              <a:prstDash val="solid"/>
              <a:round/>
              <a:headEnd type="none" w="med" len="med"/>
              <a:tailEnd type="none" w="med" len="med"/>
            </a:ln>
          </p:spPr>
        </p:sp>
        <p:sp>
          <p:nvSpPr>
            <p:cNvPr id="32879" name="Line 112"/>
            <p:cNvSpPr/>
            <p:nvPr/>
          </p:nvSpPr>
          <p:spPr>
            <a:xfrm>
              <a:off x="3840" y="3600"/>
              <a:ext cx="769" cy="0"/>
            </a:xfrm>
            <a:prstGeom prst="line">
              <a:avLst/>
            </a:prstGeom>
            <a:ln w="76200" cap="flat" cmpd="sng">
              <a:solidFill>
                <a:schemeClr val="folHlink"/>
              </a:solidFill>
              <a:prstDash val="solid"/>
              <a:round/>
              <a:headEnd type="none" w="med" len="med"/>
              <a:tailEnd type="none" w="med" len="med"/>
            </a:ln>
          </p:spPr>
        </p:sp>
        <p:sp>
          <p:nvSpPr>
            <p:cNvPr id="32880" name="Rectangle 113"/>
            <p:cNvSpPr/>
            <p:nvPr/>
          </p:nvSpPr>
          <p:spPr>
            <a:xfrm>
              <a:off x="3840" y="2854"/>
              <a:ext cx="768" cy="428"/>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81" name="Rectangle 114"/>
            <p:cNvSpPr/>
            <p:nvPr/>
          </p:nvSpPr>
          <p:spPr>
            <a:xfrm>
              <a:off x="3840" y="3600"/>
              <a:ext cx="769" cy="265"/>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82" name="Line 115"/>
            <p:cNvSpPr/>
            <p:nvPr/>
          </p:nvSpPr>
          <p:spPr>
            <a:xfrm>
              <a:off x="3840" y="2544"/>
              <a:ext cx="769" cy="0"/>
            </a:xfrm>
            <a:prstGeom prst="line">
              <a:avLst/>
            </a:prstGeom>
            <a:ln w="76200" cap="flat" cmpd="sng">
              <a:solidFill>
                <a:schemeClr val="folHlink"/>
              </a:solidFill>
              <a:prstDash val="solid"/>
              <a:round/>
              <a:headEnd type="none" w="med" len="med"/>
              <a:tailEnd type="none" w="med" len="med"/>
            </a:ln>
          </p:spPr>
        </p:sp>
        <p:sp>
          <p:nvSpPr>
            <p:cNvPr id="32883" name="Line 116"/>
            <p:cNvSpPr/>
            <p:nvPr/>
          </p:nvSpPr>
          <p:spPr>
            <a:xfrm>
              <a:off x="3840" y="3072"/>
              <a:ext cx="768" cy="0"/>
            </a:xfrm>
            <a:prstGeom prst="line">
              <a:avLst/>
            </a:prstGeom>
            <a:ln w="76200" cap="flat" cmpd="sng">
              <a:solidFill>
                <a:schemeClr val="folHlink"/>
              </a:solidFill>
              <a:prstDash val="solid"/>
              <a:round/>
              <a:headEnd type="none" w="med" len="med"/>
              <a:tailEnd type="none" w="med" len="med"/>
            </a:ln>
          </p:spPr>
        </p:sp>
      </p:grpSp>
      <p:grpSp>
        <p:nvGrpSpPr>
          <p:cNvPr id="215157" name="Group 117"/>
          <p:cNvGrpSpPr/>
          <p:nvPr/>
        </p:nvGrpSpPr>
        <p:grpSpPr>
          <a:xfrm>
            <a:off x="7212013" y="3429000"/>
            <a:ext cx="407987" cy="2706688"/>
            <a:chOff x="4543" y="2160"/>
            <a:chExt cx="257" cy="1705"/>
          </a:xfrm>
        </p:grpSpPr>
        <p:sp>
          <p:nvSpPr>
            <p:cNvPr id="32885" name="Line 118"/>
            <p:cNvSpPr/>
            <p:nvPr/>
          </p:nvSpPr>
          <p:spPr>
            <a:xfrm>
              <a:off x="4543" y="2208"/>
              <a:ext cx="209" cy="0"/>
            </a:xfrm>
            <a:prstGeom prst="line">
              <a:avLst/>
            </a:prstGeom>
            <a:ln w="76200" cap="flat" cmpd="sng">
              <a:solidFill>
                <a:schemeClr val="folHlink"/>
              </a:solidFill>
              <a:prstDash val="solid"/>
              <a:round/>
              <a:headEnd type="none" w="med" len="med"/>
              <a:tailEnd type="none" w="med" len="med"/>
            </a:ln>
          </p:spPr>
        </p:sp>
        <p:sp>
          <p:nvSpPr>
            <p:cNvPr id="32886" name="Freeform 119"/>
            <p:cNvSpPr/>
            <p:nvPr/>
          </p:nvSpPr>
          <p:spPr>
            <a:xfrm>
              <a:off x="4559" y="2197"/>
              <a:ext cx="208" cy="347"/>
            </a:xfrm>
            <a:custGeom>
              <a:avLst/>
              <a:gdLst/>
              <a:ahLst/>
              <a:cxnLst>
                <a:cxn ang="0">
                  <a:pos x="37" y="0"/>
                </a:cxn>
                <a:cxn ang="0">
                  <a:pos x="196" y="0"/>
                </a:cxn>
                <a:cxn ang="0">
                  <a:pos x="196" y="270"/>
                </a:cxn>
                <a:cxn ang="0">
                  <a:pos x="0" y="270"/>
                </a:cxn>
                <a:cxn ang="0">
                  <a:pos x="208" y="144"/>
                </a:cxn>
              </a:cxnLst>
              <a:rect l="0" t="0" r="0" b="0"/>
              <a:pathLst>
                <a:path w="208" h="393">
                  <a:moveTo>
                    <a:pt x="37" y="0"/>
                  </a:moveTo>
                  <a:lnTo>
                    <a:pt x="196" y="0"/>
                  </a:lnTo>
                  <a:lnTo>
                    <a:pt x="196" y="393"/>
                  </a:lnTo>
                  <a:lnTo>
                    <a:pt x="0" y="393"/>
                  </a:lnTo>
                  <a:lnTo>
                    <a:pt x="208" y="209"/>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32887" name="Rectangle 120"/>
            <p:cNvSpPr/>
            <p:nvPr/>
          </p:nvSpPr>
          <p:spPr>
            <a:xfrm>
              <a:off x="4608" y="2854"/>
              <a:ext cx="144" cy="428"/>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88" name="Line 121"/>
            <p:cNvSpPr/>
            <p:nvPr/>
          </p:nvSpPr>
          <p:spPr>
            <a:xfrm>
              <a:off x="4608" y="3072"/>
              <a:ext cx="144" cy="0"/>
            </a:xfrm>
            <a:prstGeom prst="line">
              <a:avLst/>
            </a:prstGeom>
            <a:ln w="76200" cap="flat" cmpd="sng">
              <a:solidFill>
                <a:schemeClr val="folHlink"/>
              </a:solidFill>
              <a:prstDash val="solid"/>
              <a:round/>
              <a:headEnd type="none" w="med" len="med"/>
              <a:tailEnd type="none" w="med" len="med"/>
            </a:ln>
          </p:spPr>
        </p:sp>
        <p:sp>
          <p:nvSpPr>
            <p:cNvPr id="32889" name="Line 122"/>
            <p:cNvSpPr/>
            <p:nvPr/>
          </p:nvSpPr>
          <p:spPr>
            <a:xfrm>
              <a:off x="4608" y="3600"/>
              <a:ext cx="144" cy="0"/>
            </a:xfrm>
            <a:prstGeom prst="line">
              <a:avLst/>
            </a:prstGeom>
            <a:ln w="76200" cap="flat" cmpd="sng">
              <a:solidFill>
                <a:schemeClr val="folHlink"/>
              </a:solidFill>
              <a:prstDash val="solid"/>
              <a:round/>
              <a:headEnd type="none" w="med" len="med"/>
              <a:tailEnd type="none" w="med" len="med"/>
            </a:ln>
          </p:spPr>
        </p:sp>
        <p:sp>
          <p:nvSpPr>
            <p:cNvPr id="32890" name="Rectangle 123"/>
            <p:cNvSpPr/>
            <p:nvPr/>
          </p:nvSpPr>
          <p:spPr>
            <a:xfrm>
              <a:off x="4608" y="3600"/>
              <a:ext cx="144" cy="265"/>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91" name="Line 124"/>
            <p:cNvSpPr/>
            <p:nvPr/>
          </p:nvSpPr>
          <p:spPr>
            <a:xfrm rot="2700000">
              <a:off x="4680" y="2328"/>
              <a:ext cx="0" cy="240"/>
            </a:xfrm>
            <a:prstGeom prst="line">
              <a:avLst/>
            </a:prstGeom>
            <a:ln w="76200" cap="flat" cmpd="sng">
              <a:solidFill>
                <a:schemeClr val="folHlink"/>
              </a:solidFill>
              <a:prstDash val="solid"/>
              <a:round/>
              <a:headEnd type="none" w="med" len="med"/>
              <a:tailEnd type="none" w="med" len="med"/>
            </a:ln>
          </p:spPr>
        </p:sp>
        <p:sp>
          <p:nvSpPr>
            <p:cNvPr id="32892" name="Line 125"/>
            <p:cNvSpPr/>
            <p:nvPr/>
          </p:nvSpPr>
          <p:spPr>
            <a:xfrm rot="8100000">
              <a:off x="4656" y="2160"/>
              <a:ext cx="0" cy="263"/>
            </a:xfrm>
            <a:prstGeom prst="line">
              <a:avLst/>
            </a:prstGeom>
            <a:ln w="76200" cap="flat" cmpd="sng">
              <a:solidFill>
                <a:schemeClr val="folHlink"/>
              </a:solidFill>
              <a:prstDash val="solid"/>
              <a:round/>
              <a:headEnd type="none" w="med" len="med"/>
              <a:tailEnd type="none" w="med" len="med"/>
            </a:ln>
          </p:spPr>
        </p:sp>
        <p:sp>
          <p:nvSpPr>
            <p:cNvPr id="32893" name="Line 126"/>
            <p:cNvSpPr/>
            <p:nvPr/>
          </p:nvSpPr>
          <p:spPr>
            <a:xfrm>
              <a:off x="4560" y="2544"/>
              <a:ext cx="209" cy="0"/>
            </a:xfrm>
            <a:prstGeom prst="line">
              <a:avLst/>
            </a:prstGeom>
            <a:ln w="76200" cap="flat" cmpd="sng">
              <a:solidFill>
                <a:schemeClr val="folHlink"/>
              </a:solidFill>
              <a:prstDash val="solid"/>
              <a:round/>
              <a:headEnd type="none" w="med" len="med"/>
              <a:tailEnd type="none" w="med" len="med"/>
            </a:ln>
          </p:spPr>
        </p:sp>
      </p:grpSp>
      <p:grpSp>
        <p:nvGrpSpPr>
          <p:cNvPr id="215167" name="Group 127"/>
          <p:cNvGrpSpPr/>
          <p:nvPr/>
        </p:nvGrpSpPr>
        <p:grpSpPr>
          <a:xfrm>
            <a:off x="7543800" y="3505200"/>
            <a:ext cx="1447800" cy="2625725"/>
            <a:chOff x="4752" y="2208"/>
            <a:chExt cx="912" cy="1654"/>
          </a:xfrm>
        </p:grpSpPr>
        <p:sp>
          <p:nvSpPr>
            <p:cNvPr id="32895" name="Rectangle 128"/>
            <p:cNvSpPr/>
            <p:nvPr/>
          </p:nvSpPr>
          <p:spPr>
            <a:xfrm>
              <a:off x="4752" y="2233"/>
              <a:ext cx="909" cy="311"/>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896" name="Line 129"/>
            <p:cNvSpPr/>
            <p:nvPr/>
          </p:nvSpPr>
          <p:spPr>
            <a:xfrm>
              <a:off x="5376" y="3600"/>
              <a:ext cx="288" cy="0"/>
            </a:xfrm>
            <a:prstGeom prst="line">
              <a:avLst/>
            </a:prstGeom>
            <a:ln w="9525" cap="flat" cmpd="sng">
              <a:solidFill>
                <a:schemeClr val="tx1"/>
              </a:solidFill>
              <a:prstDash val="solid"/>
              <a:round/>
              <a:headEnd type="none" w="med" len="med"/>
              <a:tailEnd type="none" w="med" len="med"/>
            </a:ln>
          </p:spPr>
        </p:sp>
        <p:sp>
          <p:nvSpPr>
            <p:cNvPr id="32897" name="Line 130"/>
            <p:cNvSpPr/>
            <p:nvPr/>
          </p:nvSpPr>
          <p:spPr>
            <a:xfrm>
              <a:off x="5376" y="3072"/>
              <a:ext cx="288" cy="0"/>
            </a:xfrm>
            <a:prstGeom prst="line">
              <a:avLst/>
            </a:prstGeom>
            <a:ln w="38100" cap="flat" cmpd="sng">
              <a:solidFill>
                <a:schemeClr val="tx1"/>
              </a:solidFill>
              <a:prstDash val="solid"/>
              <a:round/>
              <a:headEnd type="none" w="med" len="med"/>
              <a:tailEnd type="none" w="med" len="med"/>
            </a:ln>
          </p:spPr>
        </p:sp>
        <p:sp>
          <p:nvSpPr>
            <p:cNvPr id="32898" name="Line 131"/>
            <p:cNvSpPr/>
            <p:nvPr/>
          </p:nvSpPr>
          <p:spPr>
            <a:xfrm>
              <a:off x="5424" y="2375"/>
              <a:ext cx="240" cy="0"/>
            </a:xfrm>
            <a:prstGeom prst="line">
              <a:avLst/>
            </a:prstGeom>
            <a:ln w="38100" cap="flat" cmpd="sng">
              <a:solidFill>
                <a:schemeClr val="tx1"/>
              </a:solidFill>
              <a:prstDash val="solid"/>
              <a:round/>
              <a:headEnd type="none" w="med" len="med"/>
              <a:tailEnd type="none" w="med" len="med"/>
            </a:ln>
          </p:spPr>
        </p:sp>
        <p:sp>
          <p:nvSpPr>
            <p:cNvPr id="32899" name="Line 132"/>
            <p:cNvSpPr/>
            <p:nvPr/>
          </p:nvSpPr>
          <p:spPr>
            <a:xfrm>
              <a:off x="4752" y="2544"/>
              <a:ext cx="909" cy="0"/>
            </a:xfrm>
            <a:prstGeom prst="line">
              <a:avLst/>
            </a:prstGeom>
            <a:ln w="76200" cap="flat" cmpd="sng">
              <a:solidFill>
                <a:schemeClr val="folHlink"/>
              </a:solidFill>
              <a:prstDash val="solid"/>
              <a:round/>
              <a:headEnd type="none" w="med" len="med"/>
              <a:tailEnd type="none" w="med" len="med"/>
            </a:ln>
          </p:spPr>
        </p:sp>
        <p:sp>
          <p:nvSpPr>
            <p:cNvPr id="32900" name="Line 133"/>
            <p:cNvSpPr/>
            <p:nvPr/>
          </p:nvSpPr>
          <p:spPr>
            <a:xfrm>
              <a:off x="4752" y="2208"/>
              <a:ext cx="909" cy="0"/>
            </a:xfrm>
            <a:prstGeom prst="line">
              <a:avLst/>
            </a:prstGeom>
            <a:ln w="76200" cap="flat" cmpd="sng">
              <a:solidFill>
                <a:schemeClr val="folHlink"/>
              </a:solidFill>
              <a:prstDash val="solid"/>
              <a:round/>
              <a:headEnd type="none" w="med" len="med"/>
              <a:tailEnd type="none" w="med" len="med"/>
            </a:ln>
          </p:spPr>
        </p:sp>
        <p:sp>
          <p:nvSpPr>
            <p:cNvPr id="32901" name="Line 134"/>
            <p:cNvSpPr/>
            <p:nvPr/>
          </p:nvSpPr>
          <p:spPr>
            <a:xfrm>
              <a:off x="4752" y="3072"/>
              <a:ext cx="909" cy="0"/>
            </a:xfrm>
            <a:prstGeom prst="line">
              <a:avLst/>
            </a:prstGeom>
            <a:ln w="76200" cap="flat" cmpd="sng">
              <a:solidFill>
                <a:schemeClr val="folHlink"/>
              </a:solidFill>
              <a:prstDash val="solid"/>
              <a:round/>
              <a:headEnd type="none" w="med" len="med"/>
              <a:tailEnd type="none" w="med" len="med"/>
            </a:ln>
          </p:spPr>
        </p:sp>
        <p:sp>
          <p:nvSpPr>
            <p:cNvPr id="32902" name="Line 135"/>
            <p:cNvSpPr/>
            <p:nvPr/>
          </p:nvSpPr>
          <p:spPr>
            <a:xfrm>
              <a:off x="4752" y="3600"/>
              <a:ext cx="909" cy="0"/>
            </a:xfrm>
            <a:prstGeom prst="line">
              <a:avLst/>
            </a:prstGeom>
            <a:ln w="76200" cap="flat" cmpd="sng">
              <a:solidFill>
                <a:schemeClr val="folHlink"/>
              </a:solidFill>
              <a:prstDash val="solid"/>
              <a:round/>
              <a:headEnd type="none" w="med" len="med"/>
              <a:tailEnd type="none" w="med" len="med"/>
            </a:ln>
          </p:spPr>
        </p:sp>
        <p:sp>
          <p:nvSpPr>
            <p:cNvPr id="32903" name="Rectangle 136"/>
            <p:cNvSpPr/>
            <p:nvPr/>
          </p:nvSpPr>
          <p:spPr>
            <a:xfrm>
              <a:off x="4752" y="2854"/>
              <a:ext cx="909" cy="428"/>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2904" name="Rectangle 137"/>
            <p:cNvSpPr/>
            <p:nvPr/>
          </p:nvSpPr>
          <p:spPr>
            <a:xfrm>
              <a:off x="4752" y="3622"/>
              <a:ext cx="909" cy="240"/>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sp>
        <p:nvSpPr>
          <p:cNvPr id="215178" name="Line 138"/>
          <p:cNvSpPr/>
          <p:nvPr/>
        </p:nvSpPr>
        <p:spPr>
          <a:xfrm>
            <a:off x="1752600" y="2819400"/>
            <a:ext cx="0" cy="3959225"/>
          </a:xfrm>
          <a:prstGeom prst="line">
            <a:avLst/>
          </a:prstGeom>
          <a:ln w="38100" cap="flat" cmpd="sng">
            <a:solidFill>
              <a:schemeClr val="tx1"/>
            </a:solidFill>
            <a:prstDash val="dash"/>
            <a:round/>
            <a:headEnd type="none" w="med" len="med"/>
            <a:tailEnd type="none" w="med" len="med"/>
          </a:ln>
        </p:spPr>
      </p:sp>
      <p:sp>
        <p:nvSpPr>
          <p:cNvPr id="215179" name="Line 139"/>
          <p:cNvSpPr/>
          <p:nvPr/>
        </p:nvSpPr>
        <p:spPr>
          <a:xfrm>
            <a:off x="6096000" y="2819400"/>
            <a:ext cx="0" cy="3959225"/>
          </a:xfrm>
          <a:prstGeom prst="line">
            <a:avLst/>
          </a:prstGeom>
          <a:ln w="38100" cap="flat" cmpd="sng">
            <a:solidFill>
              <a:schemeClr val="tx1"/>
            </a:solidFill>
            <a:prstDash val="dash"/>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15043"/>
                                        </p:tgtEl>
                                        <p:attrNameLst>
                                          <p:attrName>style.visibility</p:attrName>
                                        </p:attrNameLst>
                                      </p:cBhvr>
                                      <p:to>
                                        <p:strVal val="visible"/>
                                      </p:to>
                                    </p:set>
                                    <p:animEffect transition="in" filter="strips(downRight)">
                                      <p:cBhvr>
                                        <p:cTn id="7" dur="500"/>
                                        <p:tgtEl>
                                          <p:spTgt spid="21504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15074"/>
                                        </p:tgtEl>
                                        <p:attrNameLst>
                                          <p:attrName>style.visibility</p:attrName>
                                        </p:attrNameLst>
                                      </p:cBhvr>
                                      <p:to>
                                        <p:strVal val="visible"/>
                                      </p:to>
                                    </p:set>
                                    <p:animEffect transition="in" filter="strips(downRight)">
                                      <p:cBhvr>
                                        <p:cTn id="12" dur="500"/>
                                        <p:tgtEl>
                                          <p:spTgt spid="21507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215083"/>
                                        </p:tgtEl>
                                        <p:attrNameLst>
                                          <p:attrName>style.visibility</p:attrName>
                                        </p:attrNameLst>
                                      </p:cBhvr>
                                      <p:to>
                                        <p:strVal val="visible"/>
                                      </p:to>
                                    </p:set>
                                    <p:animEffect transition="in" filter="strips(downRight)">
                                      <p:cBhvr>
                                        <p:cTn id="17" dur="500"/>
                                        <p:tgtEl>
                                          <p:spTgt spid="21508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215080"/>
                                        </p:tgtEl>
                                        <p:attrNameLst>
                                          <p:attrName>style.visibility</p:attrName>
                                        </p:attrNameLst>
                                      </p:cBhvr>
                                      <p:to>
                                        <p:strVal val="visible"/>
                                      </p:to>
                                    </p:set>
                                    <p:animEffect transition="in" filter="strips(downRight)">
                                      <p:cBhvr>
                                        <p:cTn id="22" dur="500"/>
                                        <p:tgtEl>
                                          <p:spTgt spid="21508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215095"/>
                                        </p:tgtEl>
                                        <p:attrNameLst>
                                          <p:attrName>style.visibility</p:attrName>
                                        </p:attrNameLst>
                                      </p:cBhvr>
                                      <p:to>
                                        <p:strVal val="visible"/>
                                      </p:to>
                                    </p:set>
                                    <p:animEffect transition="in" filter="slide(fromLeft)">
                                      <p:cBhvr>
                                        <p:cTn id="27" dur="500"/>
                                        <p:tgtEl>
                                          <p:spTgt spid="215095"/>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215178"/>
                                        </p:tgtEl>
                                        <p:attrNameLst>
                                          <p:attrName>style.visibility</p:attrName>
                                        </p:attrNameLst>
                                      </p:cBhvr>
                                      <p:to>
                                        <p:strVal val="visible"/>
                                      </p:to>
                                    </p:set>
                                    <p:animEffect transition="in" filter="strips(downLeft)">
                                      <p:cBhvr>
                                        <p:cTn id="32" dur="500"/>
                                        <p:tgtEl>
                                          <p:spTgt spid="215178"/>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nodeType="clickEffect">
                                  <p:stCondLst>
                                    <p:cond delay="0"/>
                                  </p:stCondLst>
                                  <p:childTnLst>
                                    <p:set>
                                      <p:cBhvr>
                                        <p:cTn id="36" dur="1" fill="hold">
                                          <p:stCondLst>
                                            <p:cond delay="0"/>
                                          </p:stCondLst>
                                        </p:cTn>
                                        <p:tgtEl>
                                          <p:spTgt spid="215107"/>
                                        </p:tgtEl>
                                        <p:attrNameLst>
                                          <p:attrName>style.visibility</p:attrName>
                                        </p:attrNameLst>
                                      </p:cBhvr>
                                      <p:to>
                                        <p:strVal val="visible"/>
                                      </p:to>
                                    </p:set>
                                    <p:animEffect transition="in" filter="slide(fromLeft)">
                                      <p:cBhvr>
                                        <p:cTn id="37" dur="500"/>
                                        <p:tgtEl>
                                          <p:spTgt spid="215107"/>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215119"/>
                                        </p:tgtEl>
                                        <p:attrNameLst>
                                          <p:attrName>style.visibility</p:attrName>
                                        </p:attrNameLst>
                                      </p:cBhvr>
                                      <p:to>
                                        <p:strVal val="visible"/>
                                      </p:to>
                                    </p:set>
                                    <p:animEffect transition="in" filter="strips(downLeft)">
                                      <p:cBhvr>
                                        <p:cTn id="42" dur="500"/>
                                        <p:tgtEl>
                                          <p:spTgt spid="215119"/>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nodeType="clickEffect">
                                  <p:stCondLst>
                                    <p:cond delay="0"/>
                                  </p:stCondLst>
                                  <p:childTnLst>
                                    <p:set>
                                      <p:cBhvr>
                                        <p:cTn id="46" dur="1" fill="hold">
                                          <p:stCondLst>
                                            <p:cond delay="0"/>
                                          </p:stCondLst>
                                        </p:cTn>
                                        <p:tgtEl>
                                          <p:spTgt spid="215120"/>
                                        </p:tgtEl>
                                        <p:attrNameLst>
                                          <p:attrName>style.visibility</p:attrName>
                                        </p:attrNameLst>
                                      </p:cBhvr>
                                      <p:to>
                                        <p:strVal val="visible"/>
                                      </p:to>
                                    </p:set>
                                    <p:animEffect transition="in" filter="slide(fromLeft)">
                                      <p:cBhvr>
                                        <p:cTn id="47" dur="500"/>
                                        <p:tgtEl>
                                          <p:spTgt spid="215120"/>
                                        </p:tgtEl>
                                      </p:cBhvr>
                                    </p:animEffect>
                                  </p:childTnLst>
                                </p:cTn>
                              </p:par>
                            </p:childTnLst>
                          </p:cTn>
                        </p:par>
                        <p:par>
                          <p:cTn id="48" fill="hold">
                            <p:stCondLst>
                              <p:cond delay="500"/>
                            </p:stCondLst>
                            <p:childTnLst>
                              <p:par>
                                <p:cTn id="49" presetID="18" presetClass="entr" presetSubtype="6" fill="hold" nodeType="afterEffect">
                                  <p:stCondLst>
                                    <p:cond delay="0"/>
                                  </p:stCondLst>
                                  <p:childTnLst>
                                    <p:set>
                                      <p:cBhvr>
                                        <p:cTn id="50" dur="1" fill="hold">
                                          <p:stCondLst>
                                            <p:cond delay="0"/>
                                          </p:stCondLst>
                                        </p:cTn>
                                        <p:tgtEl>
                                          <p:spTgt spid="215127"/>
                                        </p:tgtEl>
                                        <p:attrNameLst>
                                          <p:attrName>style.visibility</p:attrName>
                                        </p:attrNameLst>
                                      </p:cBhvr>
                                      <p:to>
                                        <p:strVal val="visible"/>
                                      </p:to>
                                    </p:set>
                                    <p:animEffect transition="in" filter="strips(downRight)">
                                      <p:cBhvr>
                                        <p:cTn id="51" dur="500"/>
                                        <p:tgtEl>
                                          <p:spTgt spid="215127"/>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215128"/>
                                        </p:tgtEl>
                                        <p:attrNameLst>
                                          <p:attrName>style.visibility</p:attrName>
                                        </p:attrNameLst>
                                      </p:cBhvr>
                                      <p:to>
                                        <p:strVal val="visible"/>
                                      </p:to>
                                    </p:set>
                                    <p:animEffect transition="in" filter="strips(downLeft)">
                                      <p:cBhvr>
                                        <p:cTn id="56" dur="500"/>
                                        <p:tgtEl>
                                          <p:spTgt spid="215128"/>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215129"/>
                                        </p:tgtEl>
                                        <p:attrNameLst>
                                          <p:attrName>style.visibility</p:attrName>
                                        </p:attrNameLst>
                                      </p:cBhvr>
                                      <p:to>
                                        <p:strVal val="visible"/>
                                      </p:to>
                                    </p:set>
                                    <p:animEffect transition="in" filter="slide(fromLeft)">
                                      <p:cBhvr>
                                        <p:cTn id="61" dur="500"/>
                                        <p:tgtEl>
                                          <p:spTgt spid="215129"/>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nodeType="clickEffect">
                                  <p:stCondLst>
                                    <p:cond delay="0"/>
                                  </p:stCondLst>
                                  <p:childTnLst>
                                    <p:set>
                                      <p:cBhvr>
                                        <p:cTn id="65" dur="1" fill="hold">
                                          <p:stCondLst>
                                            <p:cond delay="0"/>
                                          </p:stCondLst>
                                        </p:cTn>
                                        <p:tgtEl>
                                          <p:spTgt spid="215135"/>
                                        </p:tgtEl>
                                        <p:attrNameLst>
                                          <p:attrName>style.visibility</p:attrName>
                                        </p:attrNameLst>
                                      </p:cBhvr>
                                      <p:to>
                                        <p:strVal val="visible"/>
                                      </p:to>
                                    </p:set>
                                    <p:animEffect transition="in" filter="slide(fromLeft)">
                                      <p:cBhvr>
                                        <p:cTn id="66" dur="500"/>
                                        <p:tgtEl>
                                          <p:spTgt spid="215135"/>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3" fill="hold" nodeType="clickEffect">
                                  <p:stCondLst>
                                    <p:cond delay="0"/>
                                  </p:stCondLst>
                                  <p:childTnLst>
                                    <p:set>
                                      <p:cBhvr>
                                        <p:cTn id="70" dur="1" fill="hold">
                                          <p:stCondLst>
                                            <p:cond delay="0"/>
                                          </p:stCondLst>
                                        </p:cTn>
                                        <p:tgtEl>
                                          <p:spTgt spid="215144"/>
                                        </p:tgtEl>
                                        <p:attrNameLst>
                                          <p:attrName>style.visibility</p:attrName>
                                        </p:attrNameLst>
                                      </p:cBhvr>
                                      <p:to>
                                        <p:strVal val="visible"/>
                                      </p:to>
                                    </p:set>
                                    <p:animEffect transition="in" filter="strips(upRight)">
                                      <p:cBhvr>
                                        <p:cTn id="71" dur="500"/>
                                        <p:tgtEl>
                                          <p:spTgt spid="215144"/>
                                        </p:tgtEl>
                                      </p:cBhvr>
                                    </p:animEffect>
                                  </p:childTnLst>
                                </p:cTn>
                              </p:par>
                            </p:childTnLst>
                          </p:cTn>
                        </p:par>
                        <p:par>
                          <p:cTn id="72" fill="hold">
                            <p:stCondLst>
                              <p:cond delay="500"/>
                            </p:stCondLst>
                            <p:childTnLst>
                              <p:par>
                                <p:cTn id="73" presetID="18" presetClass="entr" presetSubtype="6" fill="hold" nodeType="afterEffect">
                                  <p:stCondLst>
                                    <p:cond delay="0"/>
                                  </p:stCondLst>
                                  <p:childTnLst>
                                    <p:set>
                                      <p:cBhvr>
                                        <p:cTn id="74" dur="1" fill="hold">
                                          <p:stCondLst>
                                            <p:cond delay="0"/>
                                          </p:stCondLst>
                                        </p:cTn>
                                        <p:tgtEl>
                                          <p:spTgt spid="215141"/>
                                        </p:tgtEl>
                                        <p:attrNameLst>
                                          <p:attrName>style.visibility</p:attrName>
                                        </p:attrNameLst>
                                      </p:cBhvr>
                                      <p:to>
                                        <p:strVal val="visible"/>
                                      </p:to>
                                    </p:set>
                                    <p:animEffect transition="in" filter="strips(downRight)">
                                      <p:cBhvr>
                                        <p:cTn id="75" dur="500"/>
                                        <p:tgtEl>
                                          <p:spTgt spid="215141"/>
                                        </p:tgtEl>
                                      </p:cBhvr>
                                    </p:animEffect>
                                  </p:childTnLst>
                                </p:cTn>
                              </p:par>
                            </p:childTnLst>
                          </p:cTn>
                        </p:par>
                      </p:childTnLst>
                    </p:cTn>
                  </p:par>
                  <p:par>
                    <p:cTn id="76" fill="hold">
                      <p:stCondLst>
                        <p:cond delay="indefinite"/>
                      </p:stCondLst>
                      <p:childTnLst>
                        <p:par>
                          <p:cTn id="77" fill="hold">
                            <p:stCondLst>
                              <p:cond delay="0"/>
                            </p:stCondLst>
                            <p:childTnLst>
                              <p:par>
                                <p:cTn id="78" presetID="18" presetClass="entr" presetSubtype="12" fill="hold" nodeType="clickEffect">
                                  <p:stCondLst>
                                    <p:cond delay="0"/>
                                  </p:stCondLst>
                                  <p:childTnLst>
                                    <p:set>
                                      <p:cBhvr>
                                        <p:cTn id="79" dur="1" fill="hold">
                                          <p:stCondLst>
                                            <p:cond delay="0"/>
                                          </p:stCondLst>
                                        </p:cTn>
                                        <p:tgtEl>
                                          <p:spTgt spid="215179"/>
                                        </p:tgtEl>
                                        <p:attrNameLst>
                                          <p:attrName>style.visibility</p:attrName>
                                        </p:attrNameLst>
                                      </p:cBhvr>
                                      <p:to>
                                        <p:strVal val="visible"/>
                                      </p:to>
                                    </p:set>
                                    <p:animEffect transition="in" filter="strips(downLeft)">
                                      <p:cBhvr>
                                        <p:cTn id="80" dur="500"/>
                                        <p:tgtEl>
                                          <p:spTgt spid="215179"/>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8" fill="hold" nodeType="clickEffect">
                                  <p:stCondLst>
                                    <p:cond delay="0"/>
                                  </p:stCondLst>
                                  <p:childTnLst>
                                    <p:set>
                                      <p:cBhvr>
                                        <p:cTn id="84" dur="1" fill="hold">
                                          <p:stCondLst>
                                            <p:cond delay="0"/>
                                          </p:stCondLst>
                                        </p:cTn>
                                        <p:tgtEl>
                                          <p:spTgt spid="215150"/>
                                        </p:tgtEl>
                                        <p:attrNameLst>
                                          <p:attrName>style.visibility</p:attrName>
                                        </p:attrNameLst>
                                      </p:cBhvr>
                                      <p:to>
                                        <p:strVal val="visible"/>
                                      </p:to>
                                    </p:set>
                                    <p:animEffect transition="in" filter="slide(fromLeft)">
                                      <p:cBhvr>
                                        <p:cTn id="85" dur="500"/>
                                        <p:tgtEl>
                                          <p:spTgt spid="215150"/>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8" fill="hold" nodeType="clickEffect">
                                  <p:stCondLst>
                                    <p:cond delay="0"/>
                                  </p:stCondLst>
                                  <p:childTnLst>
                                    <p:set>
                                      <p:cBhvr>
                                        <p:cTn id="89" dur="1" fill="hold">
                                          <p:stCondLst>
                                            <p:cond delay="0"/>
                                          </p:stCondLst>
                                        </p:cTn>
                                        <p:tgtEl>
                                          <p:spTgt spid="215157"/>
                                        </p:tgtEl>
                                        <p:attrNameLst>
                                          <p:attrName>style.visibility</p:attrName>
                                        </p:attrNameLst>
                                      </p:cBhvr>
                                      <p:to>
                                        <p:strVal val="visible"/>
                                      </p:to>
                                    </p:set>
                                    <p:animEffect transition="in" filter="slide(fromLeft)">
                                      <p:cBhvr>
                                        <p:cTn id="90" dur="500"/>
                                        <p:tgtEl>
                                          <p:spTgt spid="215157"/>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8" fill="hold" nodeType="clickEffect">
                                  <p:stCondLst>
                                    <p:cond delay="0"/>
                                  </p:stCondLst>
                                  <p:childTnLst>
                                    <p:set>
                                      <p:cBhvr>
                                        <p:cTn id="94" dur="1" fill="hold">
                                          <p:stCondLst>
                                            <p:cond delay="0"/>
                                          </p:stCondLst>
                                        </p:cTn>
                                        <p:tgtEl>
                                          <p:spTgt spid="215167"/>
                                        </p:tgtEl>
                                        <p:attrNameLst>
                                          <p:attrName>style.visibility</p:attrName>
                                        </p:attrNameLst>
                                      </p:cBhvr>
                                      <p:to>
                                        <p:strVal val="visible"/>
                                      </p:to>
                                    </p:set>
                                    <p:animEffect transition="in" filter="slide(fromLeft)">
                                      <p:cBhvr>
                                        <p:cTn id="95" dur="500"/>
                                        <p:tgtEl>
                                          <p:spTgt spid="215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AutoShape 4"/>
          <p:cNvSpPr/>
          <p:nvPr/>
        </p:nvSpPr>
        <p:spPr>
          <a:xfrm>
            <a:off x="3352800" y="2000250"/>
            <a:ext cx="1295400"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4677" name="AutoShape 5"/>
          <p:cNvSpPr/>
          <p:nvPr/>
        </p:nvSpPr>
        <p:spPr>
          <a:xfrm>
            <a:off x="2541588" y="5373688"/>
            <a:ext cx="1295400"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4678" name="AutoShape 6"/>
          <p:cNvSpPr/>
          <p:nvPr/>
        </p:nvSpPr>
        <p:spPr>
          <a:xfrm>
            <a:off x="2555875" y="4437063"/>
            <a:ext cx="1295400" cy="431800"/>
          </a:xfrm>
          <a:prstGeom prst="roundRect">
            <a:avLst>
              <a:gd name="adj" fmla="val 16667"/>
            </a:avLst>
          </a:prstGeom>
          <a:solidFill>
            <a:srgbClr val="FFFF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3796" name="Text Box 9"/>
          <p:cNvSpPr txBox="1"/>
          <p:nvPr/>
        </p:nvSpPr>
        <p:spPr>
          <a:xfrm>
            <a:off x="-609600" y="381000"/>
            <a:ext cx="4038600" cy="584200"/>
          </a:xfrm>
          <a:prstGeom prst="rect">
            <a:avLst/>
          </a:prstGeom>
          <a:noFill/>
          <a:ln w="3175">
            <a:noFill/>
          </a:ln>
        </p:spPr>
        <p:txBody>
          <a:bodyPr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3200" b="1" dirty="0">
                <a:latin typeface="Helvetica" pitchFamily="34" charset="0"/>
                <a:ea typeface="宋体" panose="02010600030101010101" pitchFamily="2" charset="-122"/>
              </a:rPr>
              <a:t>2</a:t>
            </a:r>
            <a:r>
              <a:rPr lang="zh-CN" altLang="en-US" sz="3200" b="1" dirty="0">
                <a:latin typeface="Helvetica" pitchFamily="34" charset="0"/>
                <a:ea typeface="宋体" panose="02010600030101010101" pitchFamily="2" charset="-122"/>
              </a:rPr>
              <a:t>）异步通信</a:t>
            </a:r>
          </a:p>
        </p:txBody>
      </p:sp>
      <p:sp>
        <p:nvSpPr>
          <p:cNvPr id="284682" name="AutoShape 10"/>
          <p:cNvSpPr/>
          <p:nvPr/>
        </p:nvSpPr>
        <p:spPr>
          <a:xfrm>
            <a:off x="174625" y="1585913"/>
            <a:ext cx="958850" cy="757237"/>
          </a:xfrm>
          <a:prstGeom prst="roundRect">
            <a:avLst>
              <a:gd name="adj" fmla="val 16667"/>
            </a:avLst>
          </a:prstGeom>
          <a:solidFill>
            <a:srgbClr val="3366FF"/>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4683" name="Text Box 11"/>
          <p:cNvSpPr txBox="1"/>
          <p:nvPr/>
        </p:nvSpPr>
        <p:spPr>
          <a:xfrm>
            <a:off x="34925" y="1574800"/>
            <a:ext cx="1203325" cy="706438"/>
          </a:xfrm>
          <a:prstGeom prst="rect">
            <a:avLst/>
          </a:prstGeom>
          <a:noFill/>
          <a:ln w="25400">
            <a:noFill/>
          </a:ln>
        </p:spPr>
        <p:txBody>
          <a:bodyPr wrap="none" anchor="t" anchorCtr="0">
            <a:spAutoFit/>
          </a:bodyPr>
          <a:lstStyle/>
          <a:p>
            <a:pPr marL="342900" indent="-342900">
              <a:spcBef>
                <a:spcPct val="20000"/>
              </a:spcBef>
            </a:pPr>
            <a:r>
              <a:rPr lang="zh-CN" altLang="en-US" sz="4000" b="1" dirty="0">
                <a:solidFill>
                  <a:srgbClr val="F8F8F8"/>
                </a:solidFill>
                <a:latin typeface="Arial" panose="020B0604020202020204" pitchFamily="34" charset="0"/>
                <a:ea typeface="宋体" panose="02010600030101010101" pitchFamily="2" charset="-122"/>
              </a:rPr>
              <a:t>含义</a:t>
            </a:r>
          </a:p>
        </p:txBody>
      </p:sp>
      <p:sp>
        <p:nvSpPr>
          <p:cNvPr id="284684" name="AutoShape 12"/>
          <p:cNvSpPr/>
          <p:nvPr/>
        </p:nvSpPr>
        <p:spPr>
          <a:xfrm>
            <a:off x="1141413" y="1592263"/>
            <a:ext cx="7910512" cy="2268537"/>
          </a:xfrm>
          <a:prstGeom prst="roundRect">
            <a:avLst>
              <a:gd name="adj" fmla="val 16667"/>
            </a:avLst>
          </a:prstGeom>
          <a:noFill/>
          <a:ln w="6350"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4685" name="Rectangle 13"/>
          <p:cNvSpPr/>
          <p:nvPr/>
        </p:nvSpPr>
        <p:spPr>
          <a:xfrm>
            <a:off x="304800" y="1484313"/>
            <a:ext cx="8702675" cy="1038225"/>
          </a:xfrm>
          <a:prstGeom prst="rect">
            <a:avLst/>
          </a:prstGeom>
          <a:noFill/>
          <a:ln w="3175">
            <a:noFill/>
          </a:ln>
        </p:spPr>
        <p:txBody>
          <a:bodyPr wrap="none" anchor="t" anchorCtr="0">
            <a:spAutoFit/>
          </a:bodyPr>
          <a:lstStyle/>
          <a:p>
            <a:pPr marL="1143000" indent="-228600" eaLnBrk="0" hangingPunct="0">
              <a:lnSpc>
                <a:spcPct val="140000"/>
              </a:lnSpc>
              <a:buClr>
                <a:schemeClr val="tx2"/>
              </a:buClr>
              <a:buSzPct val="90000"/>
              <a:buFont typeface="Monotype Sorts" pitchFamily="2" charset="2"/>
            </a:pPr>
            <a:r>
              <a:rPr lang="zh-CN" altLang="en-US" sz="2400" b="1" dirty="0">
                <a:solidFill>
                  <a:srgbClr val="FF0000"/>
                </a:solidFill>
                <a:latin typeface="Helvetica" pitchFamily="34" charset="0"/>
                <a:ea typeface="宋体" panose="02010600030101010101" pitchFamily="2" charset="-122"/>
              </a:rPr>
              <a:t>异步通信</a:t>
            </a:r>
            <a:r>
              <a:rPr lang="zh-CN" altLang="en-US" sz="2000" b="1" dirty="0">
                <a:latin typeface="Helvetica" pitchFamily="34" charset="0"/>
                <a:ea typeface="宋体" panose="02010600030101010101" pitchFamily="2" charset="-122"/>
              </a:rPr>
              <a:t>是指参与通信的两个部件需要“感知”对方的操作，这个</a:t>
            </a:r>
          </a:p>
          <a:p>
            <a:pPr marL="1143000" indent="-228600" eaLnBrk="0" hangingPunct="0">
              <a:lnSpc>
                <a:spcPct val="140000"/>
              </a:lnSpc>
              <a:buClr>
                <a:schemeClr val="tx2"/>
              </a:buClr>
              <a:buSzPct val="90000"/>
              <a:buFont typeface="Monotype Sorts" pitchFamily="2" charset="2"/>
            </a:pPr>
            <a:r>
              <a:rPr lang="zh-CN" altLang="en-US" sz="2000" b="1" dirty="0">
                <a:latin typeface="Helvetica" pitchFamily="34" charset="0"/>
                <a:ea typeface="宋体" panose="02010600030101010101" pitchFamily="2" charset="-122"/>
              </a:rPr>
              <a:t>“感知”是通过</a:t>
            </a:r>
            <a:r>
              <a:rPr lang="zh-CN" altLang="en-US" sz="2000" b="1" dirty="0">
                <a:solidFill>
                  <a:srgbClr val="FF0000"/>
                </a:solidFill>
                <a:latin typeface="Helvetica" pitchFamily="34" charset="0"/>
                <a:ea typeface="宋体" panose="02010600030101010101" pitchFamily="2" charset="-122"/>
              </a:rPr>
              <a:t>“握手”信号</a:t>
            </a:r>
            <a:r>
              <a:rPr lang="zh-CN" altLang="en-US" sz="2000" b="1" dirty="0">
                <a:latin typeface="Helvetica" pitchFamily="34" charset="0"/>
                <a:ea typeface="宋体" panose="02010600030101010101" pitchFamily="2" charset="-122"/>
              </a:rPr>
              <a:t>实现的。</a:t>
            </a:r>
          </a:p>
        </p:txBody>
      </p:sp>
      <p:sp>
        <p:nvSpPr>
          <p:cNvPr id="284686" name="Rectangle 14"/>
          <p:cNvSpPr/>
          <p:nvPr/>
        </p:nvSpPr>
        <p:spPr>
          <a:xfrm>
            <a:off x="395288" y="2487613"/>
            <a:ext cx="8440737" cy="1384300"/>
          </a:xfrm>
          <a:prstGeom prst="rect">
            <a:avLst/>
          </a:prstGeom>
          <a:noFill/>
          <a:ln w="3175">
            <a:noFill/>
          </a:ln>
        </p:spPr>
        <p:txBody>
          <a:bodyPr wrap="none" anchor="t" anchorCtr="0">
            <a:spAutoFit/>
          </a:bodyPr>
          <a:lstStyle/>
          <a:p>
            <a:pPr marL="1143000" indent="-228600" eaLnBrk="0" hangingPunct="0">
              <a:lnSpc>
                <a:spcPct val="140000"/>
              </a:lnSpc>
              <a:buClr>
                <a:srgbClr val="0000FF"/>
              </a:buClr>
              <a:buSzPct val="90000"/>
              <a:buFont typeface="Monotype Sorts" pitchFamily="2" charset="2"/>
              <a:buChar char="@"/>
            </a:pPr>
            <a:r>
              <a:rPr lang="zh-CN" altLang="en-US" sz="2000" b="1" dirty="0">
                <a:latin typeface="Helvetica" pitchFamily="34" charset="0"/>
                <a:ea typeface="宋体" panose="02010600030101010101" pitchFamily="2" charset="-122"/>
              </a:rPr>
              <a:t>异步通信主要应用于：</a:t>
            </a:r>
          </a:p>
          <a:p>
            <a:pPr marL="1143000" indent="-228600" eaLnBrk="0" hangingPunct="0">
              <a:lnSpc>
                <a:spcPct val="140000"/>
              </a:lnSpc>
              <a:buClr>
                <a:srgbClr val="0000FF"/>
              </a:buClr>
              <a:buSzPct val="90000"/>
              <a:buFont typeface="Monotype Sorts"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①</a:t>
            </a:r>
            <a:r>
              <a:rPr lang="zh-CN" altLang="en-US" sz="2000" b="1" dirty="0">
                <a:latin typeface="Helvetica" pitchFamily="34" charset="0"/>
                <a:ea typeface="宋体" panose="02010600030101010101" pitchFamily="2" charset="-122"/>
              </a:rPr>
              <a:t>工作速率不同的部件之间相互通信或者</a:t>
            </a:r>
          </a:p>
          <a:p>
            <a:pPr marL="1143000" indent="-228600" eaLnBrk="0" hangingPunct="0">
              <a:lnSpc>
                <a:spcPct val="140000"/>
              </a:lnSpc>
              <a:buClr>
                <a:srgbClr val="0000FF"/>
              </a:buClr>
              <a:buSzPct val="90000"/>
              <a:buFont typeface="Monotype Sorts" pitchFamily="2" charset="2"/>
            </a:pPr>
            <a:r>
              <a:rPr lang="zh-CN" altLang="en-US" sz="2000" b="1" dirty="0">
                <a:latin typeface="Helvetica" pitchFamily="34" charset="0"/>
                <a:ea typeface="宋体" panose="02010600030101010101" pitchFamily="2" charset="-122"/>
              </a:rPr>
              <a:t>                                       </a:t>
            </a:r>
            <a:r>
              <a:rPr lang="zh-CN" altLang="en-US" sz="2000" b="1" dirty="0">
                <a:solidFill>
                  <a:srgbClr val="0000FF"/>
                </a:solidFill>
                <a:latin typeface="Helvetica" pitchFamily="34" charset="0"/>
                <a:ea typeface="宋体" panose="02010600030101010101" pitchFamily="2" charset="-122"/>
              </a:rPr>
              <a:t>②</a:t>
            </a:r>
            <a:r>
              <a:rPr lang="zh-CN" altLang="en-US" sz="2000" b="1" dirty="0">
                <a:latin typeface="Helvetica" pitchFamily="34" charset="0"/>
                <a:ea typeface="宋体" panose="02010600030101010101" pitchFamily="2" charset="-122"/>
              </a:rPr>
              <a:t>通信线路受到干扰的场合。</a:t>
            </a:r>
          </a:p>
        </p:txBody>
      </p:sp>
      <p:sp>
        <p:nvSpPr>
          <p:cNvPr id="284687" name="AutoShape 15"/>
          <p:cNvSpPr/>
          <p:nvPr/>
        </p:nvSpPr>
        <p:spPr>
          <a:xfrm>
            <a:off x="174625" y="4016375"/>
            <a:ext cx="958850" cy="757238"/>
          </a:xfrm>
          <a:prstGeom prst="roundRect">
            <a:avLst>
              <a:gd name="adj" fmla="val 16667"/>
            </a:avLst>
          </a:prstGeom>
          <a:solidFill>
            <a:srgbClr val="3366FF"/>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4688" name="Text Box 16"/>
          <p:cNvSpPr txBox="1"/>
          <p:nvPr/>
        </p:nvSpPr>
        <p:spPr>
          <a:xfrm>
            <a:off x="34925" y="4005263"/>
            <a:ext cx="1203325" cy="706437"/>
          </a:xfrm>
          <a:prstGeom prst="rect">
            <a:avLst/>
          </a:prstGeom>
          <a:noFill/>
          <a:ln w="25400">
            <a:noFill/>
          </a:ln>
        </p:spPr>
        <p:txBody>
          <a:bodyPr wrap="none" anchor="t" anchorCtr="0">
            <a:spAutoFit/>
          </a:bodyPr>
          <a:lstStyle/>
          <a:p>
            <a:pPr marL="342900" indent="-342900">
              <a:spcBef>
                <a:spcPct val="20000"/>
              </a:spcBef>
            </a:pPr>
            <a:r>
              <a:rPr lang="zh-CN" altLang="en-US" sz="4000" b="1" dirty="0">
                <a:solidFill>
                  <a:srgbClr val="F8F8F8"/>
                </a:solidFill>
                <a:latin typeface="Arial" panose="020B0604020202020204" pitchFamily="34" charset="0"/>
                <a:ea typeface="宋体" panose="02010600030101010101" pitchFamily="2" charset="-122"/>
              </a:rPr>
              <a:t>分类</a:t>
            </a:r>
          </a:p>
        </p:txBody>
      </p:sp>
      <p:sp>
        <p:nvSpPr>
          <p:cNvPr id="284689" name="AutoShape 17"/>
          <p:cNvSpPr/>
          <p:nvPr/>
        </p:nvSpPr>
        <p:spPr>
          <a:xfrm>
            <a:off x="1141413" y="4022725"/>
            <a:ext cx="7910512" cy="2070100"/>
          </a:xfrm>
          <a:prstGeom prst="roundRect">
            <a:avLst>
              <a:gd name="adj" fmla="val 16667"/>
            </a:avLst>
          </a:prstGeom>
          <a:noFill/>
          <a:ln w="6350" cap="flat" cmpd="sng">
            <a:solidFill>
              <a:srgbClr val="0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4690" name="Rectangle 18"/>
          <p:cNvSpPr/>
          <p:nvPr/>
        </p:nvSpPr>
        <p:spPr>
          <a:xfrm>
            <a:off x="468313" y="4076700"/>
            <a:ext cx="4899025" cy="398463"/>
          </a:xfrm>
          <a:prstGeom prst="rect">
            <a:avLst/>
          </a:prstGeom>
          <a:noFill/>
          <a:ln w="3175">
            <a:noFill/>
          </a:ln>
        </p:spPr>
        <p:txBody>
          <a:bodyPr wrap="none" anchor="t" anchorCtr="0">
            <a:spAutoFit/>
          </a:bodyPr>
          <a:lstStyle/>
          <a:p>
            <a:pPr marL="1143000" indent="-228600" eaLnBrk="0" hangingPunct="0">
              <a:spcBef>
                <a:spcPct val="35000"/>
              </a:spcBef>
              <a:buClr>
                <a:srgbClr val="0000FF"/>
              </a:buClr>
              <a:buSzPct val="85000"/>
              <a:buFont typeface="Monotype Sorts" pitchFamily="2" charset="2"/>
              <a:buChar char="@"/>
            </a:pPr>
            <a:r>
              <a:rPr lang="zh-CN" altLang="en-US" sz="2000" b="1" dirty="0">
                <a:latin typeface="Helvetica" pitchFamily="34" charset="0"/>
                <a:ea typeface="宋体" panose="02010600030101010101" pitchFamily="2" charset="-122"/>
              </a:rPr>
              <a:t>异步通信的</a:t>
            </a:r>
            <a:r>
              <a:rPr lang="zh-CN" altLang="en-US" sz="2000" b="1" u="sng" dirty="0">
                <a:solidFill>
                  <a:srgbClr val="FF0000"/>
                </a:solidFill>
                <a:latin typeface="Helvetica" pitchFamily="34" charset="0"/>
                <a:ea typeface="宋体" panose="02010600030101010101" pitchFamily="2" charset="-122"/>
              </a:rPr>
              <a:t>“握手”协议</a:t>
            </a:r>
            <a:r>
              <a:rPr lang="zh-CN" altLang="en-US" sz="2000" b="1" dirty="0">
                <a:latin typeface="Helvetica" pitchFamily="34" charset="0"/>
                <a:ea typeface="宋体" panose="02010600030101010101" pitchFamily="2" charset="-122"/>
              </a:rPr>
              <a:t>分为：</a:t>
            </a:r>
          </a:p>
        </p:txBody>
      </p:sp>
      <p:sp>
        <p:nvSpPr>
          <p:cNvPr id="284691" name="Rectangle 19"/>
          <p:cNvSpPr/>
          <p:nvPr/>
        </p:nvSpPr>
        <p:spPr>
          <a:xfrm>
            <a:off x="1187450" y="4437063"/>
            <a:ext cx="2879725" cy="460375"/>
          </a:xfrm>
          <a:prstGeom prst="rect">
            <a:avLst/>
          </a:prstGeom>
          <a:noFill/>
          <a:ln w="3175">
            <a:noFill/>
          </a:ln>
        </p:spPr>
        <p:txBody>
          <a:bodyPr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400" b="1" dirty="0">
                <a:latin typeface="Helvetica" pitchFamily="34" charset="0"/>
                <a:ea typeface="宋体" panose="02010600030101010101" pitchFamily="2" charset="-122"/>
              </a:rPr>
              <a:t> </a:t>
            </a:r>
            <a:r>
              <a:rPr lang="en-US" altLang="zh-CN" sz="2000" b="1" dirty="0">
                <a:solidFill>
                  <a:srgbClr val="0000FF"/>
                </a:solidFill>
                <a:latin typeface="Helvetica" pitchFamily="34" charset="0"/>
                <a:ea typeface="宋体" panose="02010600030101010101" pitchFamily="2" charset="-122"/>
              </a:rPr>
              <a:t>①</a:t>
            </a:r>
            <a:r>
              <a:rPr lang="zh-CN" altLang="en-US" sz="2400" b="1" dirty="0">
                <a:solidFill>
                  <a:srgbClr val="FF0000"/>
                </a:solidFill>
                <a:latin typeface="Helvetica" pitchFamily="34" charset="0"/>
                <a:ea typeface="宋体" panose="02010600030101010101" pitchFamily="2" charset="-122"/>
              </a:rPr>
              <a:t>单边控制</a:t>
            </a:r>
          </a:p>
        </p:txBody>
      </p:sp>
      <p:sp>
        <p:nvSpPr>
          <p:cNvPr id="284692" name="Rectangle 20"/>
          <p:cNvSpPr/>
          <p:nvPr/>
        </p:nvSpPr>
        <p:spPr>
          <a:xfrm>
            <a:off x="1258888" y="5348288"/>
            <a:ext cx="2576512" cy="460375"/>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000" b="1" dirty="0">
                <a:solidFill>
                  <a:srgbClr val="0000FF"/>
                </a:solidFill>
                <a:latin typeface="Helvetica" pitchFamily="34" charset="0"/>
                <a:ea typeface="宋体" panose="02010600030101010101" pitchFamily="2" charset="-122"/>
              </a:rPr>
              <a:t>②</a:t>
            </a:r>
            <a:r>
              <a:rPr lang="zh-CN" altLang="en-US" sz="2400" b="1" dirty="0">
                <a:solidFill>
                  <a:srgbClr val="FF0000"/>
                </a:solidFill>
                <a:latin typeface="Helvetica" pitchFamily="34" charset="0"/>
                <a:ea typeface="宋体" panose="02010600030101010101" pitchFamily="2" charset="-122"/>
              </a:rPr>
              <a:t>双边控制</a:t>
            </a:r>
          </a:p>
        </p:txBody>
      </p:sp>
      <p:sp>
        <p:nvSpPr>
          <p:cNvPr id="284693" name="Rectangle 21"/>
          <p:cNvSpPr>
            <a:spLocks noChangeArrowheads="1"/>
          </p:cNvSpPr>
          <p:nvPr/>
        </p:nvSpPr>
        <p:spPr bwMode="auto">
          <a:xfrm>
            <a:off x="1763713" y="4903788"/>
            <a:ext cx="6713538"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8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1143000"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143000" marR="0" lvl="0" indent="-228600" algn="l" defTabSz="914400" rtl="0" eaLnBrk="0" fontAlgn="base" latinLnBrk="0" hangingPunct="0">
              <a:lnSpc>
                <a:spcPct val="100000"/>
              </a:lnSpc>
              <a:spcBef>
                <a:spcPct val="35000"/>
              </a:spcBef>
              <a:spcAft>
                <a:spcPct val="0"/>
              </a:spcAft>
              <a:buClr>
                <a:srgbClr val="000099"/>
              </a:buClr>
              <a:buSzPct val="85000"/>
              <a:buFont typeface="Wingdings" panose="05000000000000000000" pitchFamily="2" charset="2"/>
              <a:buNone/>
              <a:defRPr/>
            </a:pPr>
            <a:r>
              <a:rPr kumimoji="1" lang="zh-CN" altLang="en-US" sz="2000" b="1" i="0" u="none" strike="noStrike" kern="1200" cap="none" spc="0" normalizeH="0" baseline="0" noProof="0">
                <a:ln>
                  <a:noFill/>
                </a:ln>
                <a:solidFill>
                  <a:schemeClr val="tx1"/>
                </a:solidFill>
                <a:effectLst/>
                <a:uLnTx/>
                <a:uFillTx/>
                <a:latin typeface="Helvetica" pitchFamily="34" charset="0"/>
                <a:ea typeface="宋体" panose="02010600030101010101" pitchFamily="2" charset="-122"/>
                <a:cs typeface="+mn-cs"/>
              </a:rPr>
              <a:t>单边控制是指通信过程是由</a:t>
            </a:r>
            <a:r>
              <a:rPr kumimoji="1" lang="zh-CN" altLang="en-US" sz="2000" b="1" i="0" u="none" strike="noStrike" kern="1200" cap="none" spc="0" normalizeH="0" baseline="0" noProof="0">
                <a:ln>
                  <a:noFill/>
                </a:ln>
                <a:solidFill>
                  <a:srgbClr val="0000FF"/>
                </a:solidFill>
                <a:effectLst/>
                <a:uLnTx/>
                <a:uFillTx/>
                <a:latin typeface="Helvetica" pitchFamily="34" charset="0"/>
                <a:ea typeface="宋体" panose="02010600030101010101" pitchFamily="2" charset="-122"/>
                <a:cs typeface="+mn-cs"/>
              </a:rPr>
              <a:t>源部件</a:t>
            </a:r>
            <a:r>
              <a:rPr kumimoji="1" lang="zh-CN" altLang="en-US" sz="2000" b="1" i="0" u="sng" strike="noStrike" kern="1200" cap="none" spc="0" normalizeH="0" baseline="0" noProof="0">
                <a:ln>
                  <a:noFill/>
                </a:ln>
                <a:solidFill>
                  <a:srgbClr val="FF0000"/>
                </a:solidFill>
                <a:effectLst>
                  <a:outerShdw blurRad="38100" dist="38100" dir="2700000" algn="tl">
                    <a:srgbClr val="C0C0C0"/>
                  </a:outerShdw>
                </a:effectLst>
                <a:uLnTx/>
                <a:uFillTx/>
                <a:latin typeface="Helvetica" pitchFamily="34" charset="0"/>
                <a:ea typeface="宋体" panose="02010600030101010101" pitchFamily="2" charset="-122"/>
                <a:cs typeface="+mn-cs"/>
              </a:rPr>
              <a:t>或</a:t>
            </a:r>
            <a:r>
              <a:rPr kumimoji="1" lang="zh-CN" altLang="en-US" sz="2000" b="1" i="0" u="none" strike="noStrike" kern="1200" cap="none" spc="0" normalizeH="0" baseline="0" noProof="0">
                <a:ln>
                  <a:noFill/>
                </a:ln>
                <a:solidFill>
                  <a:srgbClr val="800000"/>
                </a:solidFill>
                <a:effectLst/>
                <a:uLnTx/>
                <a:uFillTx/>
                <a:latin typeface="Helvetica" pitchFamily="34" charset="0"/>
                <a:ea typeface="宋体" panose="02010600030101010101" pitchFamily="2" charset="-122"/>
                <a:cs typeface="+mn-cs"/>
              </a:rPr>
              <a:t>目的部件</a:t>
            </a:r>
            <a:r>
              <a:rPr kumimoji="1" lang="zh-CN" altLang="en-US" sz="2000" b="1" i="0" u="none" strike="noStrike" kern="1200" cap="none" spc="0" normalizeH="0" baseline="0" noProof="0">
                <a:ln>
                  <a:noFill/>
                </a:ln>
                <a:solidFill>
                  <a:schemeClr val="tx1"/>
                </a:solidFill>
                <a:effectLst/>
                <a:uLnTx/>
                <a:uFillTx/>
                <a:latin typeface="Helvetica" pitchFamily="34" charset="0"/>
                <a:ea typeface="宋体" panose="02010600030101010101" pitchFamily="2" charset="-122"/>
                <a:cs typeface="+mn-cs"/>
              </a:rPr>
              <a:t>控制</a:t>
            </a:r>
          </a:p>
        </p:txBody>
      </p:sp>
      <p:sp>
        <p:nvSpPr>
          <p:cNvPr id="284694" name="Rectangle 22"/>
          <p:cNvSpPr>
            <a:spLocks noChangeArrowheads="1"/>
          </p:cNvSpPr>
          <p:nvPr/>
        </p:nvSpPr>
        <p:spPr bwMode="auto">
          <a:xfrm>
            <a:off x="2220913" y="5618163"/>
            <a:ext cx="6511925"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8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1143000" indent="-228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1" indent="0" algn="l" defTabSz="914400" rtl="0" eaLnBrk="0" fontAlgn="base" latinLnBrk="0" hangingPunct="0">
              <a:lnSpc>
                <a:spcPct val="140000"/>
              </a:lnSpc>
              <a:spcBef>
                <a:spcPct val="0"/>
              </a:spcBef>
              <a:spcAft>
                <a:spcPct val="0"/>
              </a:spcAft>
              <a:buClr>
                <a:srgbClr val="CC6600"/>
              </a:buClr>
              <a:buSzPct val="105000"/>
              <a:buFont typeface="Wingdings 2" panose="05020102010507070707" pitchFamily="18" charset="2"/>
              <a:buNone/>
              <a:defRPr/>
            </a:pPr>
            <a:r>
              <a:rPr kumimoji="1" lang="zh-CN" altLang="en-US" sz="2000" b="1" i="0" u="none" strike="noStrike" kern="1200" cap="none" spc="0" normalizeH="0" baseline="0" noProof="0">
                <a:ln>
                  <a:noFill/>
                </a:ln>
                <a:solidFill>
                  <a:schemeClr val="tx1"/>
                </a:solidFill>
                <a:effectLst/>
                <a:uLnTx/>
                <a:uFillTx/>
                <a:latin typeface="Helvetica" pitchFamily="34" charset="0"/>
                <a:ea typeface="宋体" panose="02010600030101010101" pitchFamily="2" charset="-122"/>
                <a:cs typeface="+mn-cs"/>
              </a:rPr>
              <a:t>双边控制是指通信过程由</a:t>
            </a:r>
            <a:r>
              <a:rPr kumimoji="1" lang="zh-CN" altLang="en-US" sz="2000" b="1" i="0" u="none" strike="noStrike" kern="1200" cap="none" spc="0" normalizeH="0" baseline="0" noProof="0">
                <a:ln>
                  <a:noFill/>
                </a:ln>
                <a:solidFill>
                  <a:srgbClr val="0000FF"/>
                </a:solidFill>
                <a:effectLst/>
                <a:uLnTx/>
                <a:uFillTx/>
                <a:latin typeface="Helvetica" pitchFamily="34" charset="0"/>
                <a:ea typeface="宋体" panose="02010600030101010101" pitchFamily="2" charset="-122"/>
                <a:cs typeface="+mn-cs"/>
              </a:rPr>
              <a:t>源部件</a:t>
            </a:r>
            <a:r>
              <a:rPr kumimoji="1" lang="zh-CN" altLang="en-US" sz="2000" b="1" i="0" u="sng" strike="noStrike" kern="1200" cap="none" spc="0" normalizeH="0" baseline="0" noProof="0">
                <a:ln>
                  <a:noFill/>
                </a:ln>
                <a:solidFill>
                  <a:srgbClr val="FF0000"/>
                </a:solidFill>
                <a:effectLst>
                  <a:outerShdw blurRad="38100" dist="38100" dir="2700000" algn="tl">
                    <a:srgbClr val="C0C0C0"/>
                  </a:outerShdw>
                </a:effectLst>
                <a:uLnTx/>
                <a:uFillTx/>
                <a:latin typeface="Helvetica" pitchFamily="34" charset="0"/>
                <a:ea typeface="宋体" panose="02010600030101010101" pitchFamily="2" charset="-122"/>
                <a:cs typeface="+mn-cs"/>
              </a:rPr>
              <a:t>和</a:t>
            </a:r>
            <a:r>
              <a:rPr kumimoji="1" lang="zh-CN" altLang="en-US" sz="2000" b="1" i="0" u="none" strike="noStrike" kern="1200" cap="none" spc="0" normalizeH="0" baseline="0" noProof="0">
                <a:ln>
                  <a:noFill/>
                </a:ln>
                <a:solidFill>
                  <a:srgbClr val="800000"/>
                </a:solidFill>
                <a:effectLst/>
                <a:uLnTx/>
                <a:uFillTx/>
                <a:latin typeface="Helvetica" pitchFamily="34" charset="0"/>
                <a:ea typeface="宋体" panose="02010600030101010101" pitchFamily="2" charset="-122"/>
                <a:cs typeface="+mn-cs"/>
              </a:rPr>
              <a:t>目的部件</a:t>
            </a:r>
            <a:r>
              <a:rPr kumimoji="1" lang="zh-CN" altLang="en-US" sz="2000" b="1" i="0" u="none" strike="noStrike" kern="1200" cap="none" spc="0" normalizeH="0" baseline="0" noProof="0">
                <a:ln>
                  <a:noFill/>
                </a:ln>
                <a:solidFill>
                  <a:schemeClr val="tx1"/>
                </a:solidFill>
                <a:effectLst/>
                <a:uLnTx/>
                <a:uFillTx/>
                <a:latin typeface="Helvetica" pitchFamily="34" charset="0"/>
                <a:ea typeface="宋体" panose="02010600030101010101" pitchFamily="2" charset="-122"/>
                <a:cs typeface="+mn-cs"/>
              </a:rPr>
              <a:t>共同控制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84676"/>
                                        </p:tgtEl>
                                        <p:attrNameLst>
                                          <p:attrName>style.visibility</p:attrName>
                                        </p:attrNameLst>
                                      </p:cBhvr>
                                      <p:to>
                                        <p:strVal val="visible"/>
                                      </p:to>
                                    </p:set>
                                    <p:anim calcmode="lin" valueType="num">
                                      <p:cBhvr>
                                        <p:cTn id="7" dur="1000" fill="hold"/>
                                        <p:tgtEl>
                                          <p:spTgt spid="284676"/>
                                        </p:tgtEl>
                                        <p:attrNameLst>
                                          <p:attrName>ppt_w</p:attrName>
                                        </p:attrNameLst>
                                      </p:cBhvr>
                                      <p:tavLst>
                                        <p:tav tm="0">
                                          <p:val>
                                            <p:fltVal val="0"/>
                                          </p:val>
                                        </p:tav>
                                        <p:tav tm="100000">
                                          <p:val>
                                            <p:strVal val="#ppt_w"/>
                                          </p:val>
                                        </p:tav>
                                      </p:tavLst>
                                    </p:anim>
                                    <p:anim calcmode="lin" valueType="num">
                                      <p:cBhvr>
                                        <p:cTn id="8" dur="1000" fill="hold"/>
                                        <p:tgtEl>
                                          <p:spTgt spid="284676"/>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284682"/>
                                        </p:tgtEl>
                                        <p:attrNameLst>
                                          <p:attrName>style.visibility</p:attrName>
                                        </p:attrNameLst>
                                      </p:cBhvr>
                                      <p:to>
                                        <p:strVal val="visible"/>
                                      </p:to>
                                    </p:set>
                                    <p:anim calcmode="lin" valueType="num">
                                      <p:cBhvr>
                                        <p:cTn id="11" dur="1000" fill="hold"/>
                                        <p:tgtEl>
                                          <p:spTgt spid="284682"/>
                                        </p:tgtEl>
                                        <p:attrNameLst>
                                          <p:attrName>ppt_w</p:attrName>
                                        </p:attrNameLst>
                                      </p:cBhvr>
                                      <p:tavLst>
                                        <p:tav tm="0">
                                          <p:val>
                                            <p:fltVal val="0"/>
                                          </p:val>
                                        </p:tav>
                                        <p:tav tm="100000">
                                          <p:val>
                                            <p:strVal val="#ppt_w"/>
                                          </p:val>
                                        </p:tav>
                                      </p:tavLst>
                                    </p:anim>
                                    <p:anim calcmode="lin" valueType="num">
                                      <p:cBhvr>
                                        <p:cTn id="12" dur="1000" fill="hold"/>
                                        <p:tgtEl>
                                          <p:spTgt spid="284682"/>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284683"/>
                                        </p:tgtEl>
                                        <p:attrNameLst>
                                          <p:attrName>style.visibility</p:attrName>
                                        </p:attrNameLst>
                                      </p:cBhvr>
                                      <p:to>
                                        <p:strVal val="visible"/>
                                      </p:to>
                                    </p:set>
                                    <p:anim calcmode="lin" valueType="num">
                                      <p:cBhvr>
                                        <p:cTn id="15" dur="1000" fill="hold"/>
                                        <p:tgtEl>
                                          <p:spTgt spid="284683"/>
                                        </p:tgtEl>
                                        <p:attrNameLst>
                                          <p:attrName>ppt_w</p:attrName>
                                        </p:attrNameLst>
                                      </p:cBhvr>
                                      <p:tavLst>
                                        <p:tav tm="0">
                                          <p:val>
                                            <p:fltVal val="0"/>
                                          </p:val>
                                        </p:tav>
                                        <p:tav tm="100000">
                                          <p:val>
                                            <p:strVal val="#ppt_w"/>
                                          </p:val>
                                        </p:tav>
                                      </p:tavLst>
                                    </p:anim>
                                    <p:anim calcmode="lin" valueType="num">
                                      <p:cBhvr>
                                        <p:cTn id="16" dur="1000" fill="hold"/>
                                        <p:tgtEl>
                                          <p:spTgt spid="284683"/>
                                        </p:tgtEl>
                                        <p:attrNameLst>
                                          <p:attrName>ppt_h</p:attrName>
                                        </p:attrNameLst>
                                      </p:cBhvr>
                                      <p:tavLst>
                                        <p:tav tm="0">
                                          <p:val>
                                            <p:strVal val="#ppt_h"/>
                                          </p:val>
                                        </p:tav>
                                        <p:tav tm="100000">
                                          <p:val>
                                            <p:strVal val="#ppt_h"/>
                                          </p:val>
                                        </p:tav>
                                      </p:tavLst>
                                    </p:anim>
                                  </p:childTnLst>
                                </p:cTn>
                              </p:par>
                              <p:par>
                                <p:cTn id="17" presetID="17" presetClass="entr" presetSubtype="10" fill="hold" grpId="0" nodeType="withEffect">
                                  <p:stCondLst>
                                    <p:cond delay="0"/>
                                  </p:stCondLst>
                                  <p:childTnLst>
                                    <p:set>
                                      <p:cBhvr>
                                        <p:cTn id="18" dur="1" fill="hold">
                                          <p:stCondLst>
                                            <p:cond delay="0"/>
                                          </p:stCondLst>
                                        </p:cTn>
                                        <p:tgtEl>
                                          <p:spTgt spid="284685"/>
                                        </p:tgtEl>
                                        <p:attrNameLst>
                                          <p:attrName>style.visibility</p:attrName>
                                        </p:attrNameLst>
                                      </p:cBhvr>
                                      <p:to>
                                        <p:strVal val="visible"/>
                                      </p:to>
                                    </p:set>
                                    <p:anim calcmode="lin" valueType="num">
                                      <p:cBhvr>
                                        <p:cTn id="19" dur="1000" fill="hold"/>
                                        <p:tgtEl>
                                          <p:spTgt spid="284685"/>
                                        </p:tgtEl>
                                        <p:attrNameLst>
                                          <p:attrName>ppt_w</p:attrName>
                                        </p:attrNameLst>
                                      </p:cBhvr>
                                      <p:tavLst>
                                        <p:tav tm="0">
                                          <p:val>
                                            <p:fltVal val="0"/>
                                          </p:val>
                                        </p:tav>
                                        <p:tav tm="100000">
                                          <p:val>
                                            <p:strVal val="#ppt_w"/>
                                          </p:val>
                                        </p:tav>
                                      </p:tavLst>
                                    </p:anim>
                                    <p:anim calcmode="lin" valueType="num">
                                      <p:cBhvr>
                                        <p:cTn id="20" dur="1000" fill="hold"/>
                                        <p:tgtEl>
                                          <p:spTgt spid="284685"/>
                                        </p:tgtEl>
                                        <p:attrNameLst>
                                          <p:attrName>ppt_h</p:attrName>
                                        </p:attrNameLst>
                                      </p:cBhvr>
                                      <p:tavLst>
                                        <p:tav tm="0">
                                          <p:val>
                                            <p:strVal val="#ppt_h"/>
                                          </p:val>
                                        </p:tav>
                                        <p:tav tm="100000">
                                          <p:val>
                                            <p:strVal val="#ppt_h"/>
                                          </p:val>
                                        </p:tav>
                                      </p:tavLst>
                                    </p:anim>
                                  </p:childTnLst>
                                </p:cTn>
                              </p:par>
                              <p:par>
                                <p:cTn id="21" presetID="17" presetClass="entr" presetSubtype="10" fill="hold" grpId="0" nodeType="withEffect">
                                  <p:stCondLst>
                                    <p:cond delay="0"/>
                                  </p:stCondLst>
                                  <p:childTnLst>
                                    <p:set>
                                      <p:cBhvr>
                                        <p:cTn id="22" dur="1" fill="hold">
                                          <p:stCondLst>
                                            <p:cond delay="0"/>
                                          </p:stCondLst>
                                        </p:cTn>
                                        <p:tgtEl>
                                          <p:spTgt spid="284684"/>
                                        </p:tgtEl>
                                        <p:attrNameLst>
                                          <p:attrName>style.visibility</p:attrName>
                                        </p:attrNameLst>
                                      </p:cBhvr>
                                      <p:to>
                                        <p:strVal val="visible"/>
                                      </p:to>
                                    </p:set>
                                    <p:anim calcmode="lin" valueType="num">
                                      <p:cBhvr>
                                        <p:cTn id="23" dur="1000" fill="hold"/>
                                        <p:tgtEl>
                                          <p:spTgt spid="284684"/>
                                        </p:tgtEl>
                                        <p:attrNameLst>
                                          <p:attrName>ppt_w</p:attrName>
                                        </p:attrNameLst>
                                      </p:cBhvr>
                                      <p:tavLst>
                                        <p:tav tm="0">
                                          <p:val>
                                            <p:fltVal val="0"/>
                                          </p:val>
                                        </p:tav>
                                        <p:tav tm="100000">
                                          <p:val>
                                            <p:strVal val="#ppt_w"/>
                                          </p:val>
                                        </p:tav>
                                      </p:tavLst>
                                    </p:anim>
                                    <p:anim calcmode="lin" valueType="num">
                                      <p:cBhvr>
                                        <p:cTn id="24" dur="1000" fill="hold"/>
                                        <p:tgtEl>
                                          <p:spTgt spid="284684"/>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84686"/>
                                        </p:tgtEl>
                                        <p:attrNameLst>
                                          <p:attrName>style.visibility</p:attrName>
                                        </p:attrNameLst>
                                      </p:cBhvr>
                                      <p:to>
                                        <p:strVal val="visible"/>
                                      </p:to>
                                    </p:set>
                                    <p:animEffect transition="in" filter="dissolve">
                                      <p:cBhvr>
                                        <p:cTn id="29" dur="1000"/>
                                        <p:tgtEl>
                                          <p:spTgt spid="28468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284677"/>
                                        </p:tgtEl>
                                        <p:attrNameLst>
                                          <p:attrName>style.visibility</p:attrName>
                                        </p:attrNameLst>
                                      </p:cBhvr>
                                      <p:to>
                                        <p:strVal val="visible"/>
                                      </p:to>
                                    </p:set>
                                    <p:animEffect transition="in" filter="dissolve">
                                      <p:cBhvr>
                                        <p:cTn id="34" dur="1000"/>
                                        <p:tgtEl>
                                          <p:spTgt spid="284677"/>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84678"/>
                                        </p:tgtEl>
                                        <p:attrNameLst>
                                          <p:attrName>style.visibility</p:attrName>
                                        </p:attrNameLst>
                                      </p:cBhvr>
                                      <p:to>
                                        <p:strVal val="visible"/>
                                      </p:to>
                                    </p:set>
                                    <p:animEffect transition="in" filter="dissolve">
                                      <p:cBhvr>
                                        <p:cTn id="37" dur="1000"/>
                                        <p:tgtEl>
                                          <p:spTgt spid="284678"/>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84687"/>
                                        </p:tgtEl>
                                        <p:attrNameLst>
                                          <p:attrName>style.visibility</p:attrName>
                                        </p:attrNameLst>
                                      </p:cBhvr>
                                      <p:to>
                                        <p:strVal val="visible"/>
                                      </p:to>
                                    </p:set>
                                    <p:animEffect transition="in" filter="dissolve">
                                      <p:cBhvr>
                                        <p:cTn id="40" dur="1000"/>
                                        <p:tgtEl>
                                          <p:spTgt spid="284687"/>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84688"/>
                                        </p:tgtEl>
                                        <p:attrNameLst>
                                          <p:attrName>style.visibility</p:attrName>
                                        </p:attrNameLst>
                                      </p:cBhvr>
                                      <p:to>
                                        <p:strVal val="visible"/>
                                      </p:to>
                                    </p:set>
                                    <p:animEffect transition="in" filter="dissolve">
                                      <p:cBhvr>
                                        <p:cTn id="43" dur="1000"/>
                                        <p:tgtEl>
                                          <p:spTgt spid="284688"/>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84689"/>
                                        </p:tgtEl>
                                        <p:attrNameLst>
                                          <p:attrName>style.visibility</p:attrName>
                                        </p:attrNameLst>
                                      </p:cBhvr>
                                      <p:to>
                                        <p:strVal val="visible"/>
                                      </p:to>
                                    </p:set>
                                    <p:animEffect transition="in" filter="dissolve">
                                      <p:cBhvr>
                                        <p:cTn id="46" dur="1000"/>
                                        <p:tgtEl>
                                          <p:spTgt spid="284689"/>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84690"/>
                                        </p:tgtEl>
                                        <p:attrNameLst>
                                          <p:attrName>style.visibility</p:attrName>
                                        </p:attrNameLst>
                                      </p:cBhvr>
                                      <p:to>
                                        <p:strVal val="visible"/>
                                      </p:to>
                                    </p:set>
                                    <p:animEffect transition="in" filter="dissolve">
                                      <p:cBhvr>
                                        <p:cTn id="49" dur="1000"/>
                                        <p:tgtEl>
                                          <p:spTgt spid="28469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84691"/>
                                        </p:tgtEl>
                                        <p:attrNameLst>
                                          <p:attrName>style.visibility</p:attrName>
                                        </p:attrNameLst>
                                      </p:cBhvr>
                                      <p:to>
                                        <p:strVal val="visible"/>
                                      </p:to>
                                    </p:set>
                                    <p:animEffect transition="in" filter="dissolve">
                                      <p:cBhvr>
                                        <p:cTn id="52" dur="1000"/>
                                        <p:tgtEl>
                                          <p:spTgt spid="284691"/>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84692"/>
                                        </p:tgtEl>
                                        <p:attrNameLst>
                                          <p:attrName>style.visibility</p:attrName>
                                        </p:attrNameLst>
                                      </p:cBhvr>
                                      <p:to>
                                        <p:strVal val="visible"/>
                                      </p:to>
                                    </p:set>
                                    <p:animEffect transition="in" filter="dissolve">
                                      <p:cBhvr>
                                        <p:cTn id="55" dur="1000"/>
                                        <p:tgtEl>
                                          <p:spTgt spid="284692"/>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84693"/>
                                        </p:tgtEl>
                                        <p:attrNameLst>
                                          <p:attrName>style.visibility</p:attrName>
                                        </p:attrNameLst>
                                      </p:cBhvr>
                                      <p:to>
                                        <p:strVal val="visible"/>
                                      </p:to>
                                    </p:set>
                                    <p:animEffect transition="in" filter="dissolve">
                                      <p:cBhvr>
                                        <p:cTn id="58" dur="1000"/>
                                        <p:tgtEl>
                                          <p:spTgt spid="284693"/>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84694"/>
                                        </p:tgtEl>
                                        <p:attrNameLst>
                                          <p:attrName>style.visibility</p:attrName>
                                        </p:attrNameLst>
                                      </p:cBhvr>
                                      <p:to>
                                        <p:strVal val="visible"/>
                                      </p:to>
                                    </p:set>
                                    <p:animEffect transition="in" filter="dissolve">
                                      <p:cBhvr>
                                        <p:cTn id="61" dur="1000"/>
                                        <p:tgtEl>
                                          <p:spTgt spid="284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6" grpId="0" animBg="1"/>
      <p:bldP spid="284677" grpId="0" animBg="1"/>
      <p:bldP spid="284678" grpId="0" animBg="1"/>
      <p:bldP spid="284682" grpId="0" animBg="1"/>
      <p:bldP spid="284683" grpId="0"/>
      <p:bldP spid="284684" grpId="0" animBg="1"/>
      <p:bldP spid="284685" grpId="0"/>
      <p:bldP spid="284686" grpId="0"/>
      <p:bldP spid="284687" grpId="0" animBg="1"/>
      <p:bldP spid="284688" grpId="0"/>
      <p:bldP spid="284689" grpId="0" animBg="1"/>
      <p:bldP spid="284690" grpId="0"/>
      <p:bldP spid="284691" grpId="0"/>
      <p:bldP spid="284692" grpId="0"/>
      <p:bldP spid="284693" grpId="0" bldLvl="0" animBg="1"/>
      <p:bldP spid="284694"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4"/>
          <p:cNvSpPr/>
          <p:nvPr/>
        </p:nvSpPr>
        <p:spPr>
          <a:xfrm>
            <a:off x="0" y="5516563"/>
            <a:ext cx="9144000" cy="1341437"/>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4818" name="Rectangle 5"/>
          <p:cNvSpPr/>
          <p:nvPr/>
        </p:nvSpPr>
        <p:spPr>
          <a:xfrm>
            <a:off x="0" y="0"/>
            <a:ext cx="9144000" cy="1341438"/>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50" name="AutoShape 6"/>
          <p:cNvSpPr/>
          <p:nvPr/>
        </p:nvSpPr>
        <p:spPr>
          <a:xfrm>
            <a:off x="511175" y="5194300"/>
            <a:ext cx="3844925" cy="346075"/>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4820" name="Rectangle 4"/>
          <p:cNvSpPr/>
          <p:nvPr/>
        </p:nvSpPr>
        <p:spPr>
          <a:xfrm>
            <a:off x="152400" y="228600"/>
            <a:ext cx="2735263" cy="647700"/>
          </a:xfrm>
          <a:prstGeom prst="rect">
            <a:avLst/>
          </a:prstGeom>
          <a:noFill/>
          <a:ln w="9525">
            <a:noFill/>
          </a:ln>
        </p:spPr>
        <p:txBody>
          <a:bodyPr anchor="t" anchorCtr="0"/>
          <a:lstStyle/>
          <a:p>
            <a:pPr marL="342900" indent="-342900" eaLnBrk="0" hangingPunct="0">
              <a:lnSpc>
                <a:spcPct val="140000"/>
              </a:lnSpc>
              <a:buClr>
                <a:schemeClr val="tx2"/>
              </a:buClr>
              <a:buSzPct val="90000"/>
              <a:buFont typeface="Monotype Sorts" pitchFamily="2" charset="2"/>
            </a:pPr>
            <a:r>
              <a:rPr lang="zh-CN" altLang="en-US" sz="2800" b="1" dirty="0">
                <a:latin typeface="Times New Roman" panose="02020603050405020304" pitchFamily="18" charset="0"/>
                <a:ea typeface="宋体" panose="02010600030101010101" pitchFamily="2" charset="-122"/>
              </a:rPr>
              <a:t>异步单边控制</a:t>
            </a:r>
          </a:p>
        </p:txBody>
      </p:sp>
      <p:pic>
        <p:nvPicPr>
          <p:cNvPr id="645125" name="Picture 5" descr="5A12"/>
          <p:cNvPicPr>
            <a:picLocks noChangeAspect="1"/>
          </p:cNvPicPr>
          <p:nvPr/>
        </p:nvPicPr>
        <p:blipFill>
          <a:blip r:embed="rId2"/>
          <a:stretch>
            <a:fillRect/>
          </a:stretch>
        </p:blipFill>
        <p:spPr>
          <a:xfrm>
            <a:off x="468313" y="1370013"/>
            <a:ext cx="8280400" cy="2303462"/>
          </a:xfrm>
          <a:prstGeom prst="rect">
            <a:avLst/>
          </a:prstGeom>
          <a:noFill/>
          <a:ln w="9525">
            <a:noFill/>
          </a:ln>
        </p:spPr>
      </p:pic>
      <p:sp>
        <p:nvSpPr>
          <p:cNvPr id="34822" name="AutoShape 11"/>
          <p:cNvSpPr/>
          <p:nvPr/>
        </p:nvSpPr>
        <p:spPr>
          <a:xfrm>
            <a:off x="100013" y="1225550"/>
            <a:ext cx="8893175" cy="4610100"/>
          </a:xfrm>
          <a:prstGeom prst="roundRect">
            <a:avLst>
              <a:gd name="adj" fmla="val 16667"/>
            </a:avLst>
          </a:prstGeom>
          <a:noFill/>
          <a:ln w="3175" cap="flat" cmpd="sng">
            <a:solidFill>
              <a:srgbClr val="808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56" name="Line 12"/>
          <p:cNvSpPr/>
          <p:nvPr/>
        </p:nvSpPr>
        <p:spPr>
          <a:xfrm>
            <a:off x="4616450" y="1657350"/>
            <a:ext cx="0" cy="3959225"/>
          </a:xfrm>
          <a:prstGeom prst="line">
            <a:avLst/>
          </a:prstGeom>
          <a:ln w="3175" cap="flat" cmpd="sng">
            <a:solidFill>
              <a:srgbClr val="808000"/>
            </a:solidFill>
            <a:prstDash val="solid"/>
            <a:round/>
            <a:headEnd type="none" w="med" len="med"/>
            <a:tailEnd type="none" w="med" len="med"/>
          </a:ln>
        </p:spPr>
      </p:sp>
      <p:sp>
        <p:nvSpPr>
          <p:cNvPr id="287757" name="Text Box 13"/>
          <p:cNvSpPr txBox="1"/>
          <p:nvPr/>
        </p:nvSpPr>
        <p:spPr>
          <a:xfrm>
            <a:off x="-509587" y="5165725"/>
            <a:ext cx="4926012" cy="398463"/>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000" b="1" dirty="0">
                <a:solidFill>
                  <a:srgbClr val="F8F8F8"/>
                </a:solidFill>
                <a:latin typeface="Helvetica" pitchFamily="34" charset="0"/>
                <a:ea typeface="宋体" panose="02010600030101010101" pitchFamily="2" charset="-122"/>
              </a:rPr>
              <a:t>由单边源部件控制的异步通信过程</a:t>
            </a:r>
          </a:p>
        </p:txBody>
      </p:sp>
      <p:sp>
        <p:nvSpPr>
          <p:cNvPr id="287758" name="AutoShape 14"/>
          <p:cNvSpPr/>
          <p:nvPr/>
        </p:nvSpPr>
        <p:spPr>
          <a:xfrm>
            <a:off x="1649413" y="2738438"/>
            <a:ext cx="647700" cy="504825"/>
          </a:xfrm>
          <a:prstGeom prst="roundRect">
            <a:avLst>
              <a:gd name="adj" fmla="val 16667"/>
            </a:avLst>
          </a:prstGeom>
          <a:solidFill>
            <a:srgbClr val="808000">
              <a:alpha val="41176"/>
            </a:srgbClr>
          </a:solidFill>
          <a:ln w="3175" cap="flat" cmpd="sng">
            <a:solidFill>
              <a:srgbClr val="FF0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59" name="AutoShape 15"/>
          <p:cNvSpPr/>
          <p:nvPr/>
        </p:nvSpPr>
        <p:spPr>
          <a:xfrm>
            <a:off x="0" y="3733800"/>
            <a:ext cx="4406900" cy="792163"/>
          </a:xfrm>
          <a:prstGeom prst="wedgeRoundRectCallout">
            <a:avLst>
              <a:gd name="adj1" fmla="val -13903"/>
              <a:gd name="adj2" fmla="val -114931"/>
              <a:gd name="adj3" fmla="val 16667"/>
            </a:avLst>
          </a:prstGeom>
          <a:solidFill>
            <a:srgbClr val="FFFF00">
              <a:alpha val="56078"/>
            </a:srgbClr>
          </a:solidFill>
          <a:ln w="3175" cap="flat" cmpd="sng">
            <a:solidFill>
              <a:srgbClr val="FF0000"/>
            </a:solidFill>
            <a:prstDash val="solid"/>
            <a:miter/>
            <a:headEnd type="none" w="med" len="med"/>
            <a:tailEnd type="none" w="med" len="med"/>
          </a:ln>
        </p:spPr>
        <p:txBody>
          <a:bodyPr anchor="t" anchorCtr="0"/>
          <a:lstStyle/>
          <a:p>
            <a:pPr marL="1143000" indent="-228600" algn="ctr" eaLnBrk="0" hangingPunct="0">
              <a:spcBef>
                <a:spcPct val="35000"/>
              </a:spcBef>
              <a:buClr>
                <a:srgbClr val="000099"/>
              </a:buClr>
              <a:buSzPct val="85000"/>
              <a:buFont typeface="Wingdings" panose="05000000000000000000" pitchFamily="2" charset="2"/>
            </a:pPr>
            <a:endParaRPr lang="zh-CN" altLang="zh-CN" sz="2400" b="1" dirty="0">
              <a:latin typeface="Helvetica" pitchFamily="34" charset="0"/>
              <a:ea typeface="宋体" panose="02010600030101010101" pitchFamily="2" charset="-122"/>
            </a:endParaRPr>
          </a:p>
        </p:txBody>
      </p:sp>
      <p:sp>
        <p:nvSpPr>
          <p:cNvPr id="287760" name="Text Box 16"/>
          <p:cNvSpPr txBox="1"/>
          <p:nvPr/>
        </p:nvSpPr>
        <p:spPr>
          <a:xfrm>
            <a:off x="-914400" y="3702050"/>
            <a:ext cx="5330825" cy="850900"/>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1700" b="1" dirty="0">
                <a:latin typeface="Helvetica" pitchFamily="34" charset="0"/>
                <a:ea typeface="宋体" panose="02010600030101010101" pitchFamily="2" charset="-122"/>
              </a:rPr>
              <a:t>“</a:t>
            </a:r>
            <a:r>
              <a:rPr lang="zh-CN" altLang="en-US" sz="1700" b="1" dirty="0">
                <a:latin typeface="Helvetica" pitchFamily="34" charset="0"/>
                <a:ea typeface="宋体" panose="02010600030101010101" pitchFamily="2" charset="-122"/>
              </a:rPr>
              <a:t>数据就绪”信号比“数据”信号延时一小段</a:t>
            </a:r>
            <a:endParaRPr lang="en-US" altLang="zh-CN" sz="1700" b="1" dirty="0">
              <a:latin typeface="Helvetica" pitchFamily="34" charset="0"/>
              <a:ea typeface="宋体" panose="02010600030101010101" pitchFamily="2" charset="-122"/>
            </a:endParaRPr>
          </a:p>
          <a:p>
            <a:pPr marL="1143000" indent="-228600" eaLnBrk="0" hangingPunct="0">
              <a:spcBef>
                <a:spcPct val="35000"/>
              </a:spcBef>
              <a:buClr>
                <a:srgbClr val="000099"/>
              </a:buClr>
              <a:buSzPct val="85000"/>
              <a:buFont typeface="Wingdings" panose="05000000000000000000" pitchFamily="2" charset="2"/>
            </a:pPr>
            <a:r>
              <a:rPr lang="zh-CN" altLang="en-US" b="1" dirty="0">
                <a:latin typeface="Helvetica" pitchFamily="34" charset="0"/>
                <a:ea typeface="宋体" panose="02010600030101010101" pitchFamily="2" charset="-122"/>
              </a:rPr>
              <a:t>时间</a:t>
            </a:r>
            <a:r>
              <a:rPr lang="en-US" altLang="zh-CN" sz="2400" b="1" i="1" dirty="0">
                <a:solidFill>
                  <a:srgbClr val="FF0000"/>
                </a:solidFill>
                <a:latin typeface="Helvetica" pitchFamily="34" charset="0"/>
                <a:ea typeface="宋体" panose="02010600030101010101" pitchFamily="2" charset="-122"/>
              </a:rPr>
              <a:t>t</a:t>
            </a:r>
            <a:r>
              <a:rPr lang="en-US" altLang="zh-CN" sz="2400" b="1" baseline="-25000" dirty="0">
                <a:solidFill>
                  <a:srgbClr val="FF0000"/>
                </a:solidFill>
                <a:latin typeface="Helvetica" pitchFamily="34" charset="0"/>
                <a:ea typeface="宋体" panose="02010600030101010101" pitchFamily="2" charset="-122"/>
              </a:rPr>
              <a:t>1</a:t>
            </a:r>
            <a:r>
              <a:rPr lang="zh-CN" altLang="en-US" sz="1700" b="1" dirty="0">
                <a:latin typeface="Helvetica" pitchFamily="34" charset="0"/>
                <a:ea typeface="宋体" panose="02010600030101010101" pitchFamily="2" charset="-122"/>
              </a:rPr>
              <a:t>后发出</a:t>
            </a:r>
          </a:p>
        </p:txBody>
      </p:sp>
      <p:sp>
        <p:nvSpPr>
          <p:cNvPr id="287761" name="AutoShape 17"/>
          <p:cNvSpPr/>
          <p:nvPr/>
        </p:nvSpPr>
        <p:spPr>
          <a:xfrm>
            <a:off x="3276600" y="1758950"/>
            <a:ext cx="647700" cy="1439863"/>
          </a:xfrm>
          <a:prstGeom prst="roundRect">
            <a:avLst>
              <a:gd name="adj" fmla="val 16667"/>
            </a:avLst>
          </a:prstGeom>
          <a:solidFill>
            <a:srgbClr val="808000">
              <a:alpha val="41176"/>
            </a:srgbClr>
          </a:solidFill>
          <a:ln w="3175" cap="flat" cmpd="sng">
            <a:solidFill>
              <a:srgbClr val="FF0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62" name="AutoShape 18"/>
          <p:cNvSpPr/>
          <p:nvPr/>
        </p:nvSpPr>
        <p:spPr>
          <a:xfrm>
            <a:off x="2339975" y="44450"/>
            <a:ext cx="4895850" cy="1511300"/>
          </a:xfrm>
          <a:prstGeom prst="wedgeRoundRectCallout">
            <a:avLst>
              <a:gd name="adj1" fmla="val -24352"/>
              <a:gd name="adj2" fmla="val 68069"/>
              <a:gd name="adj3" fmla="val 16667"/>
            </a:avLst>
          </a:prstGeom>
          <a:solidFill>
            <a:srgbClr val="FFFF00">
              <a:alpha val="56078"/>
            </a:srgbClr>
          </a:solidFill>
          <a:ln w="3175" cap="flat" cmpd="sng">
            <a:solidFill>
              <a:srgbClr val="FF0000"/>
            </a:solidFill>
            <a:prstDash val="solid"/>
            <a:miter/>
            <a:headEnd type="none" w="med" len="med"/>
            <a:tailEnd type="none" w="med" len="med"/>
          </a:ln>
        </p:spPr>
        <p:txBody>
          <a:bodyPr anchor="t" anchorCtr="0"/>
          <a:lstStyle/>
          <a:p>
            <a:pPr marL="1143000" indent="-228600" algn="ctr" eaLnBrk="0" hangingPunct="0">
              <a:spcBef>
                <a:spcPct val="35000"/>
              </a:spcBef>
              <a:buClr>
                <a:srgbClr val="000099"/>
              </a:buClr>
              <a:buSzPct val="85000"/>
              <a:buFont typeface="Wingdings" panose="05000000000000000000" pitchFamily="2" charset="2"/>
            </a:pPr>
            <a:endParaRPr lang="zh-CN" altLang="zh-CN" sz="2400" b="1" dirty="0">
              <a:latin typeface="Helvetica" pitchFamily="34" charset="0"/>
              <a:ea typeface="宋体" panose="02010600030101010101" pitchFamily="2" charset="-122"/>
            </a:endParaRPr>
          </a:p>
        </p:txBody>
      </p:sp>
      <p:sp>
        <p:nvSpPr>
          <p:cNvPr id="287763" name="Text Box 19"/>
          <p:cNvSpPr txBox="1"/>
          <p:nvPr/>
        </p:nvSpPr>
        <p:spPr>
          <a:xfrm>
            <a:off x="1344613" y="1066800"/>
            <a:ext cx="5881687" cy="460375"/>
          </a:xfrm>
          <a:prstGeom prst="rect">
            <a:avLst/>
          </a:prstGeom>
          <a:noFill/>
          <a:ln w="3175">
            <a:noFill/>
          </a:ln>
        </p:spPr>
        <p:txBody>
          <a:bodyPr wrap="none" anchor="t" anchorCtr="0">
            <a:spAutoFit/>
          </a:bodyPr>
          <a:lstStyle/>
          <a:p>
            <a:pPr marL="1143000" indent="-228600" eaLnBrk="0" hangingPunct="0">
              <a:spcBef>
                <a:spcPct val="35000"/>
              </a:spcBef>
              <a:buClr>
                <a:srgbClr val="800000"/>
              </a:buClr>
              <a:buSzPct val="85000"/>
              <a:buFont typeface="Wingdings" panose="05000000000000000000" pitchFamily="2" charset="2"/>
              <a:buChar char="F"/>
            </a:pPr>
            <a:r>
              <a:rPr lang="zh-CN" altLang="en-US" sz="1700" b="1" dirty="0">
                <a:latin typeface="Helvetica" pitchFamily="34" charset="0"/>
                <a:ea typeface="宋体" panose="02010600030101010101" pitchFamily="2" charset="-122"/>
              </a:rPr>
              <a:t>连续的两个数据的发送也要间隔一小段</a:t>
            </a:r>
            <a:r>
              <a:rPr lang="en-US" altLang="zh-CN" sz="2400" b="1" i="1" dirty="0">
                <a:solidFill>
                  <a:srgbClr val="FF0000"/>
                </a:solidFill>
                <a:latin typeface="Helvetica" pitchFamily="34" charset="0"/>
                <a:ea typeface="宋体" panose="02010600030101010101" pitchFamily="2" charset="-122"/>
              </a:rPr>
              <a:t>t</a:t>
            </a:r>
            <a:r>
              <a:rPr lang="en-US" altLang="zh-CN" sz="2400" b="1" baseline="-25000" dirty="0">
                <a:solidFill>
                  <a:srgbClr val="FF0000"/>
                </a:solidFill>
                <a:latin typeface="Helvetica" pitchFamily="34" charset="0"/>
                <a:ea typeface="宋体" panose="02010600030101010101" pitchFamily="2" charset="-122"/>
              </a:rPr>
              <a:t>2</a:t>
            </a:r>
            <a:r>
              <a:rPr lang="zh-CN" altLang="en-US" sz="1700" b="1" dirty="0">
                <a:latin typeface="Helvetica" pitchFamily="34" charset="0"/>
                <a:ea typeface="宋体" panose="02010600030101010101" pitchFamily="2" charset="-122"/>
              </a:rPr>
              <a:t>后给出</a:t>
            </a:r>
          </a:p>
        </p:txBody>
      </p:sp>
      <p:sp>
        <p:nvSpPr>
          <p:cNvPr id="287764" name="Text Box 20"/>
          <p:cNvSpPr txBox="1"/>
          <p:nvPr/>
        </p:nvSpPr>
        <p:spPr>
          <a:xfrm>
            <a:off x="1331913" y="115888"/>
            <a:ext cx="6113462" cy="985837"/>
          </a:xfrm>
          <a:prstGeom prst="rect">
            <a:avLst/>
          </a:prstGeom>
          <a:noFill/>
          <a:ln w="3175">
            <a:noFill/>
          </a:ln>
        </p:spPr>
        <p:txBody>
          <a:bodyPr wrap="none" anchor="t" anchorCtr="0">
            <a:spAutoFit/>
          </a:bodyPr>
          <a:lstStyle/>
          <a:p>
            <a:pPr marL="1143000" indent="-228600" eaLnBrk="0" hangingPunct="0">
              <a:lnSpc>
                <a:spcPct val="80000"/>
              </a:lnSpc>
              <a:spcBef>
                <a:spcPct val="35000"/>
              </a:spcBef>
              <a:buClr>
                <a:srgbClr val="800000"/>
              </a:buClr>
              <a:buSzPct val="85000"/>
              <a:buFont typeface="Wingdings" panose="05000000000000000000" pitchFamily="2" charset="2"/>
              <a:buChar char="F"/>
            </a:pPr>
            <a:r>
              <a:rPr lang="zh-CN" altLang="en-US" sz="1700" b="1" dirty="0">
                <a:latin typeface="Helvetica" pitchFamily="34" charset="0"/>
                <a:ea typeface="宋体" panose="02010600030101010101" pitchFamily="2" charset="-122"/>
              </a:rPr>
              <a:t>通信双方都默认在</a:t>
            </a:r>
            <a:r>
              <a:rPr lang="en-US" altLang="zh-CN" sz="2400" b="1" i="1" dirty="0">
                <a:solidFill>
                  <a:srgbClr val="FF0000"/>
                </a:solidFill>
                <a:latin typeface="Helvetica" pitchFamily="34" charset="0"/>
                <a:ea typeface="宋体" panose="02010600030101010101" pitchFamily="2" charset="-122"/>
              </a:rPr>
              <a:t>t</a:t>
            </a:r>
            <a:r>
              <a:rPr lang="en-US" altLang="zh-CN" sz="2400" b="1" baseline="-25000" dirty="0">
                <a:solidFill>
                  <a:srgbClr val="FF0000"/>
                </a:solidFill>
                <a:latin typeface="Helvetica" pitchFamily="34" charset="0"/>
                <a:ea typeface="宋体" panose="02010600030101010101" pitchFamily="2" charset="-122"/>
              </a:rPr>
              <a:t>2</a:t>
            </a:r>
            <a:r>
              <a:rPr lang="zh-CN" altLang="en-US" sz="1700" b="1" dirty="0">
                <a:latin typeface="Helvetica" pitchFamily="34" charset="0"/>
                <a:ea typeface="宋体" panose="02010600030101010101" pitchFamily="2" charset="-122"/>
              </a:rPr>
              <a:t>时间内由源部件完成把新的</a:t>
            </a:r>
          </a:p>
          <a:p>
            <a:pPr marL="1143000" indent="-228600" eaLnBrk="0" hangingPunct="0">
              <a:lnSpc>
                <a:spcPct val="80000"/>
              </a:lnSpc>
              <a:spcBef>
                <a:spcPct val="35000"/>
              </a:spcBef>
              <a:buClr>
                <a:srgbClr val="800000"/>
              </a:buClr>
              <a:buSzPct val="85000"/>
              <a:buFont typeface="Wingdings" panose="05000000000000000000" pitchFamily="2" charset="2"/>
            </a:pPr>
            <a:r>
              <a:rPr lang="zh-CN" altLang="en-US" sz="1700" b="1" dirty="0">
                <a:latin typeface="Helvetica" pitchFamily="34" charset="0"/>
                <a:ea typeface="宋体" panose="02010600030101010101" pitchFamily="2" charset="-122"/>
              </a:rPr>
              <a:t>    待发送数据装入到输出数据寄存器中，</a:t>
            </a:r>
          </a:p>
          <a:p>
            <a:pPr marL="1143000" indent="-228600" eaLnBrk="0" hangingPunct="0">
              <a:lnSpc>
                <a:spcPct val="80000"/>
              </a:lnSpc>
              <a:spcBef>
                <a:spcPct val="35000"/>
              </a:spcBef>
              <a:buClr>
                <a:srgbClr val="800000"/>
              </a:buClr>
              <a:buSzPct val="85000"/>
              <a:buFont typeface="Wingdings" panose="05000000000000000000" pitchFamily="2" charset="2"/>
            </a:pPr>
            <a:r>
              <a:rPr lang="zh-CN" altLang="en-US" sz="1700" b="1" dirty="0">
                <a:latin typeface="Helvetica" pitchFamily="34" charset="0"/>
                <a:ea typeface="宋体" panose="02010600030101010101" pitchFamily="2" charset="-122"/>
              </a:rPr>
              <a:t>    以及总线仲裁器完成对总线的使用权的重新分配。</a:t>
            </a:r>
          </a:p>
        </p:txBody>
      </p:sp>
      <p:sp>
        <p:nvSpPr>
          <p:cNvPr id="287765" name="Line 21"/>
          <p:cNvSpPr/>
          <p:nvPr/>
        </p:nvSpPr>
        <p:spPr>
          <a:xfrm>
            <a:off x="2397125" y="1154113"/>
            <a:ext cx="4679950" cy="0"/>
          </a:xfrm>
          <a:prstGeom prst="line">
            <a:avLst/>
          </a:prstGeom>
          <a:ln w="3175" cap="flat" cmpd="sng">
            <a:solidFill>
              <a:srgbClr val="808000"/>
            </a:solidFill>
            <a:prstDash val="solid"/>
            <a:round/>
            <a:headEnd type="none" w="med" len="med"/>
            <a:tailEnd type="none" w="med" len="med"/>
          </a:ln>
        </p:spPr>
      </p:sp>
      <p:sp>
        <p:nvSpPr>
          <p:cNvPr id="287766" name="AutoShape 22"/>
          <p:cNvSpPr/>
          <p:nvPr/>
        </p:nvSpPr>
        <p:spPr>
          <a:xfrm>
            <a:off x="4675188" y="5186363"/>
            <a:ext cx="4103687" cy="346075"/>
          </a:xfrm>
          <a:prstGeom prst="roundRect">
            <a:avLst>
              <a:gd name="adj" fmla="val 16667"/>
            </a:avLst>
          </a:prstGeom>
          <a:solidFill>
            <a:srgbClr val="3366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67" name="Text Box 23"/>
          <p:cNvSpPr txBox="1"/>
          <p:nvPr/>
        </p:nvSpPr>
        <p:spPr>
          <a:xfrm>
            <a:off x="3649663" y="5157788"/>
            <a:ext cx="5181600" cy="398462"/>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zh-CN" altLang="en-US" sz="2000" b="1" dirty="0">
                <a:solidFill>
                  <a:srgbClr val="F8F8F8"/>
                </a:solidFill>
                <a:latin typeface="Helvetica" pitchFamily="34" charset="0"/>
                <a:ea typeface="宋体" panose="02010600030101010101" pitchFamily="2" charset="-122"/>
              </a:rPr>
              <a:t>由单边目的部件控制的异步通信过程</a:t>
            </a:r>
          </a:p>
        </p:txBody>
      </p:sp>
      <p:sp>
        <p:nvSpPr>
          <p:cNvPr id="287768" name="AutoShape 24"/>
          <p:cNvSpPr/>
          <p:nvPr/>
        </p:nvSpPr>
        <p:spPr>
          <a:xfrm>
            <a:off x="6630988" y="2651125"/>
            <a:ext cx="504825" cy="504825"/>
          </a:xfrm>
          <a:prstGeom prst="roundRect">
            <a:avLst>
              <a:gd name="adj" fmla="val 16667"/>
            </a:avLst>
          </a:prstGeom>
          <a:solidFill>
            <a:srgbClr val="808000">
              <a:alpha val="41176"/>
            </a:srgbClr>
          </a:solidFill>
          <a:ln w="3175" cap="flat" cmpd="sng">
            <a:solidFill>
              <a:srgbClr val="FF0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69" name="AutoShape 25"/>
          <p:cNvSpPr/>
          <p:nvPr/>
        </p:nvSpPr>
        <p:spPr>
          <a:xfrm>
            <a:off x="4495800" y="3314700"/>
            <a:ext cx="2246313" cy="935038"/>
          </a:xfrm>
          <a:prstGeom prst="wedgeRoundRectCallout">
            <a:avLst>
              <a:gd name="adj1" fmla="val 38977"/>
              <a:gd name="adj2" fmla="val -67657"/>
              <a:gd name="adj3" fmla="val 16667"/>
            </a:avLst>
          </a:prstGeom>
          <a:solidFill>
            <a:srgbClr val="FFFF00">
              <a:alpha val="56078"/>
            </a:srgbClr>
          </a:solidFill>
          <a:ln w="3175" cap="flat" cmpd="sng">
            <a:solidFill>
              <a:srgbClr val="FF0000"/>
            </a:solidFill>
            <a:prstDash val="solid"/>
            <a:miter/>
            <a:headEnd type="none" w="med" len="med"/>
            <a:tailEnd type="none" w="med" len="med"/>
          </a:ln>
        </p:spPr>
        <p:txBody>
          <a:bodyPr anchor="t" anchorCtr="0"/>
          <a:lstStyle/>
          <a:p>
            <a:pPr marL="1143000" indent="-228600" algn="ctr" eaLnBrk="0" hangingPunct="0">
              <a:spcBef>
                <a:spcPct val="35000"/>
              </a:spcBef>
              <a:buClr>
                <a:srgbClr val="000099"/>
              </a:buClr>
              <a:buSzPct val="85000"/>
              <a:buFont typeface="Wingdings" panose="05000000000000000000" pitchFamily="2" charset="2"/>
            </a:pPr>
            <a:endParaRPr lang="zh-CN" altLang="zh-CN" sz="2400" b="1" dirty="0">
              <a:latin typeface="Helvetica" pitchFamily="34" charset="0"/>
              <a:ea typeface="宋体" panose="02010600030101010101" pitchFamily="2" charset="-122"/>
            </a:endParaRPr>
          </a:p>
        </p:txBody>
      </p:sp>
      <p:sp>
        <p:nvSpPr>
          <p:cNvPr id="287770" name="AutoShape 26"/>
          <p:cNvSpPr/>
          <p:nvPr/>
        </p:nvSpPr>
        <p:spPr>
          <a:xfrm>
            <a:off x="7162800" y="1341438"/>
            <a:ext cx="504825" cy="1814512"/>
          </a:xfrm>
          <a:prstGeom prst="roundRect">
            <a:avLst>
              <a:gd name="adj" fmla="val 16667"/>
            </a:avLst>
          </a:prstGeom>
          <a:solidFill>
            <a:srgbClr val="808000">
              <a:alpha val="41176"/>
            </a:srgbClr>
          </a:solidFill>
          <a:ln w="3175" cap="flat" cmpd="sng">
            <a:solidFill>
              <a:srgbClr val="FF0000"/>
            </a:solidFill>
            <a:prstDash val="solid"/>
            <a:roun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71" name="Text Box 27"/>
          <p:cNvSpPr txBox="1"/>
          <p:nvPr/>
        </p:nvSpPr>
        <p:spPr>
          <a:xfrm>
            <a:off x="3505200" y="3397250"/>
            <a:ext cx="3346450" cy="844550"/>
          </a:xfrm>
          <a:prstGeom prst="rect">
            <a:avLst/>
          </a:prstGeom>
          <a:noFill/>
          <a:ln w="3175">
            <a:noFill/>
          </a:ln>
        </p:spPr>
        <p:txBody>
          <a:bodyPr wrap="none" anchor="t" anchorCtr="0">
            <a:spAutoFit/>
          </a:bodyPr>
          <a:lstStyle/>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1600" b="1" dirty="0">
                <a:latin typeface="Helvetica" pitchFamily="34" charset="0"/>
                <a:ea typeface="宋体" panose="02010600030101010101" pitchFamily="2" charset="-122"/>
              </a:rPr>
              <a:t>目的部件的“数据请求”</a:t>
            </a:r>
            <a:endParaRPr lang="en-US" altLang="zh-CN" sz="1600" b="1" dirty="0">
              <a:latin typeface="Helvetica" pitchFamily="34" charset="0"/>
              <a:ea typeface="宋体" panose="02010600030101010101" pitchFamily="2" charset="-122"/>
            </a:endParaRPr>
          </a:p>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1600" b="1" dirty="0">
                <a:latin typeface="Helvetica" pitchFamily="34" charset="0"/>
                <a:ea typeface="宋体" panose="02010600030101010101" pitchFamily="2" charset="-122"/>
              </a:rPr>
              <a:t>信号经过线路延时</a:t>
            </a:r>
            <a:r>
              <a:rPr lang="en-US" altLang="zh-CN" sz="2000" b="1" i="1" dirty="0">
                <a:solidFill>
                  <a:srgbClr val="FF0000"/>
                </a:solidFill>
                <a:latin typeface="Helvetica" pitchFamily="34" charset="0"/>
                <a:ea typeface="宋体" panose="02010600030101010101" pitchFamily="2" charset="-122"/>
              </a:rPr>
              <a:t>t</a:t>
            </a:r>
            <a:r>
              <a:rPr lang="zh-CN" altLang="en-US" sz="1600" b="1" dirty="0">
                <a:latin typeface="Helvetica" pitchFamily="34" charset="0"/>
                <a:ea typeface="宋体" panose="02010600030101010101" pitchFamily="2" charset="-122"/>
              </a:rPr>
              <a:t>后到</a:t>
            </a:r>
            <a:endParaRPr lang="en-US" altLang="zh-CN" sz="1600" b="1" dirty="0">
              <a:latin typeface="Helvetica" pitchFamily="34" charset="0"/>
              <a:ea typeface="宋体" panose="02010600030101010101" pitchFamily="2" charset="-122"/>
            </a:endParaRPr>
          </a:p>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1600" b="1" dirty="0">
                <a:latin typeface="Helvetica" pitchFamily="34" charset="0"/>
                <a:ea typeface="宋体" panose="02010600030101010101" pitchFamily="2" charset="-122"/>
              </a:rPr>
              <a:t>达源部件</a:t>
            </a:r>
          </a:p>
        </p:txBody>
      </p:sp>
      <p:sp>
        <p:nvSpPr>
          <p:cNvPr id="34839" name="Rectangle 28"/>
          <p:cNvSpPr/>
          <p:nvPr/>
        </p:nvSpPr>
        <p:spPr>
          <a:xfrm>
            <a:off x="2124075" y="3400425"/>
            <a:ext cx="1295400" cy="288925"/>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34840" name="Rectangle 29"/>
          <p:cNvSpPr/>
          <p:nvPr/>
        </p:nvSpPr>
        <p:spPr>
          <a:xfrm>
            <a:off x="7062788" y="3386138"/>
            <a:ext cx="1541462" cy="288925"/>
          </a:xfrm>
          <a:prstGeom prst="rect">
            <a:avLst/>
          </a:prstGeom>
          <a:solidFill>
            <a:srgbClr val="FFFFFF"/>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74" name="AutoShape 30"/>
          <p:cNvSpPr/>
          <p:nvPr/>
        </p:nvSpPr>
        <p:spPr>
          <a:xfrm>
            <a:off x="6718300" y="4249738"/>
            <a:ext cx="2246313" cy="865187"/>
          </a:xfrm>
          <a:prstGeom prst="wedgeRoundRectCallout">
            <a:avLst>
              <a:gd name="adj1" fmla="val -13394"/>
              <a:gd name="adj2" fmla="val -177157"/>
              <a:gd name="adj3" fmla="val 16667"/>
            </a:avLst>
          </a:prstGeom>
          <a:solidFill>
            <a:srgbClr val="FFFF00">
              <a:alpha val="56078"/>
            </a:srgbClr>
          </a:solidFill>
          <a:ln w="3175" cap="flat" cmpd="sng">
            <a:solidFill>
              <a:srgbClr val="FF0000"/>
            </a:solidFill>
            <a:prstDash val="solid"/>
            <a:miter/>
            <a:headEnd type="none" w="med" len="med"/>
            <a:tailEnd type="none" w="med" len="med"/>
          </a:ln>
        </p:spPr>
        <p:txBody>
          <a:bodyPr anchor="t" anchorCtr="0"/>
          <a:lstStyle/>
          <a:p>
            <a:pPr marL="1143000" indent="-228600" algn="ctr" eaLnBrk="0" hangingPunct="0">
              <a:spcBef>
                <a:spcPct val="35000"/>
              </a:spcBef>
              <a:buClr>
                <a:srgbClr val="000099"/>
              </a:buClr>
              <a:buSzPct val="85000"/>
              <a:buFont typeface="Wingdings" panose="05000000000000000000" pitchFamily="2" charset="2"/>
            </a:pPr>
            <a:endParaRPr lang="zh-CN" altLang="zh-CN" sz="2400" b="1" dirty="0">
              <a:latin typeface="Helvetica" pitchFamily="34" charset="0"/>
              <a:ea typeface="宋体" panose="02010600030101010101" pitchFamily="2" charset="-122"/>
            </a:endParaRPr>
          </a:p>
        </p:txBody>
      </p:sp>
      <p:sp>
        <p:nvSpPr>
          <p:cNvPr id="287775" name="Text Box 31"/>
          <p:cNvSpPr txBox="1"/>
          <p:nvPr/>
        </p:nvSpPr>
        <p:spPr>
          <a:xfrm>
            <a:off x="5710238" y="4303713"/>
            <a:ext cx="3346450" cy="844550"/>
          </a:xfrm>
          <a:prstGeom prst="rect">
            <a:avLst/>
          </a:prstGeom>
          <a:noFill/>
          <a:ln w="3175">
            <a:noFill/>
          </a:ln>
        </p:spPr>
        <p:txBody>
          <a:bodyPr wrap="none" anchor="t" anchorCtr="0">
            <a:spAutoFit/>
          </a:bodyPr>
          <a:lstStyle/>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1600" b="1" dirty="0">
                <a:latin typeface="Helvetica" pitchFamily="34" charset="0"/>
                <a:ea typeface="宋体" panose="02010600030101010101" pitchFamily="2" charset="-122"/>
              </a:rPr>
              <a:t>源部件将数据放到数据通</a:t>
            </a:r>
          </a:p>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1600" b="1" dirty="0">
                <a:latin typeface="Helvetica" pitchFamily="34" charset="0"/>
                <a:ea typeface="宋体" panose="02010600030101010101" pitchFamily="2" charset="-122"/>
              </a:rPr>
              <a:t>信线上，经过线路延时</a:t>
            </a:r>
            <a:r>
              <a:rPr lang="en-US" altLang="zh-CN" sz="2000" b="1" i="1" dirty="0">
                <a:solidFill>
                  <a:srgbClr val="FF0000"/>
                </a:solidFill>
                <a:latin typeface="Helvetica" pitchFamily="34" charset="0"/>
                <a:ea typeface="宋体" panose="02010600030101010101" pitchFamily="2" charset="-122"/>
              </a:rPr>
              <a:t>t</a:t>
            </a:r>
          </a:p>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1600" b="1" dirty="0">
                <a:latin typeface="Helvetica" pitchFamily="34" charset="0"/>
                <a:ea typeface="宋体" panose="02010600030101010101" pitchFamily="2" charset="-122"/>
              </a:rPr>
              <a:t>后，数据到达目的部件</a:t>
            </a:r>
          </a:p>
        </p:txBody>
      </p:sp>
      <p:sp>
        <p:nvSpPr>
          <p:cNvPr id="287776" name="Rectangle 32"/>
          <p:cNvSpPr/>
          <p:nvPr/>
        </p:nvSpPr>
        <p:spPr>
          <a:xfrm>
            <a:off x="685800" y="5891213"/>
            <a:ext cx="8424863" cy="938212"/>
          </a:xfrm>
          <a:prstGeom prst="rect">
            <a:avLst/>
          </a:prstGeom>
          <a:noFill/>
          <a:ln w="3175" cap="flat" cmpd="sng">
            <a:solidFill>
              <a:srgbClr val="8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7777" name="Text Box 33"/>
          <p:cNvSpPr txBox="1"/>
          <p:nvPr/>
        </p:nvSpPr>
        <p:spPr>
          <a:xfrm>
            <a:off x="-280987" y="5907088"/>
            <a:ext cx="9521825" cy="952500"/>
          </a:xfrm>
          <a:prstGeom prst="rect">
            <a:avLst/>
          </a:prstGeom>
          <a:noFill/>
          <a:ln w="3175">
            <a:noFill/>
          </a:ln>
        </p:spPr>
        <p:txBody>
          <a:bodyPr wrap="none" anchor="t" anchorCtr="0">
            <a:spAutoFit/>
          </a:bodyPr>
          <a:lstStyle/>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2000" b="1" dirty="0">
                <a:solidFill>
                  <a:srgbClr val="FF0000"/>
                </a:solidFill>
                <a:latin typeface="Helvetica" pitchFamily="34" charset="0"/>
                <a:ea typeface="宋体" panose="02010600030101010101" pitchFamily="2" charset="-122"/>
              </a:rPr>
              <a:t>单边控制不提供数据传送是否完成的标记</a:t>
            </a:r>
            <a:r>
              <a:rPr lang="zh-CN" altLang="en-US" sz="2000" b="1" dirty="0">
                <a:latin typeface="Helvetica" pitchFamily="34" charset="0"/>
                <a:ea typeface="宋体" panose="02010600030101010101" pitchFamily="2" charset="-122"/>
              </a:rPr>
              <a:t>，所以</a:t>
            </a:r>
            <a:r>
              <a:rPr lang="zh-CN" altLang="en-US" sz="2000" b="1" dirty="0">
                <a:solidFill>
                  <a:srgbClr val="FF0000"/>
                </a:solidFill>
                <a:latin typeface="Helvetica" pitchFamily="34" charset="0"/>
                <a:ea typeface="宋体" panose="02010600030101010101" pitchFamily="2" charset="-122"/>
              </a:rPr>
              <a:t>无法有效保证下一次通信</a:t>
            </a:r>
          </a:p>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2000" b="1" dirty="0">
                <a:solidFill>
                  <a:srgbClr val="FF0000"/>
                </a:solidFill>
                <a:latin typeface="Helvetica" pitchFamily="34" charset="0"/>
                <a:ea typeface="宋体" panose="02010600030101010101" pitchFamily="2" charset="-122"/>
              </a:rPr>
              <a:t>开始时数据线和控制线上所有信号都恢复成初始状态</a:t>
            </a:r>
            <a:r>
              <a:rPr lang="zh-CN" altLang="en-US" sz="2000" b="1" dirty="0">
                <a:latin typeface="Helvetica" pitchFamily="34" charset="0"/>
                <a:ea typeface="宋体" panose="02010600030101010101" pitchFamily="2" charset="-122"/>
              </a:rPr>
              <a:t>，容易造成通信错误。</a:t>
            </a:r>
          </a:p>
          <a:p>
            <a:pPr marL="1143000" indent="-228600" eaLnBrk="0" hangingPunct="0">
              <a:lnSpc>
                <a:spcPct val="70000"/>
              </a:lnSpc>
              <a:spcBef>
                <a:spcPct val="35000"/>
              </a:spcBef>
              <a:buClr>
                <a:srgbClr val="000099"/>
              </a:buClr>
              <a:buSzPct val="85000"/>
              <a:buFont typeface="Wingdings" panose="05000000000000000000" pitchFamily="2" charset="2"/>
            </a:pPr>
            <a:r>
              <a:rPr lang="zh-CN" altLang="en-US" sz="2000" b="1" dirty="0">
                <a:latin typeface="Helvetica" pitchFamily="34" charset="0"/>
                <a:ea typeface="宋体" panose="02010600030101010101" pitchFamily="2" charset="-122"/>
              </a:rPr>
              <a:t>单边控制现在已经不再使用了。</a:t>
            </a:r>
          </a:p>
        </p:txBody>
      </p:sp>
      <p:sp>
        <p:nvSpPr>
          <p:cNvPr id="287778" name="AutoShape 34"/>
          <p:cNvSpPr/>
          <p:nvPr/>
        </p:nvSpPr>
        <p:spPr>
          <a:xfrm>
            <a:off x="236538" y="5759450"/>
            <a:ext cx="433387" cy="1152525"/>
          </a:xfrm>
          <a:prstGeom prst="curvedRightArrow">
            <a:avLst>
              <a:gd name="adj1" fmla="val 46144"/>
              <a:gd name="adj2" fmla="val 106224"/>
              <a:gd name="adj3" fmla="val 33300"/>
            </a:avLst>
          </a:prstGeom>
          <a:solidFill>
            <a:srgbClr val="FF0000"/>
          </a:solidFill>
          <a:ln w="3175">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45125"/>
                                        </p:tgtEl>
                                        <p:attrNameLst>
                                          <p:attrName>style.visibility</p:attrName>
                                        </p:attrNameLst>
                                      </p:cBhvr>
                                      <p:to>
                                        <p:strVal val="visible"/>
                                      </p:to>
                                    </p:set>
                                    <p:animEffect transition="in" filter="barn(outVertical)">
                                      <p:cBhvr>
                                        <p:cTn id="7" dur="1000"/>
                                        <p:tgtEl>
                                          <p:spTgt spid="645125"/>
                                        </p:tgtEl>
                                      </p:cBhvr>
                                    </p:animEffect>
                                  </p:childTnLst>
                                </p:cTn>
                              </p:par>
                              <p:par>
                                <p:cTn id="8" presetID="16" presetClass="entr" presetSubtype="37" fill="hold" nodeType="withEffect">
                                  <p:stCondLst>
                                    <p:cond delay="0"/>
                                  </p:stCondLst>
                                  <p:childTnLst>
                                    <p:set>
                                      <p:cBhvr>
                                        <p:cTn id="9" dur="1" fill="hold">
                                          <p:stCondLst>
                                            <p:cond delay="0"/>
                                          </p:stCondLst>
                                        </p:cTn>
                                        <p:tgtEl>
                                          <p:spTgt spid="287756"/>
                                        </p:tgtEl>
                                        <p:attrNameLst>
                                          <p:attrName>style.visibility</p:attrName>
                                        </p:attrNameLst>
                                      </p:cBhvr>
                                      <p:to>
                                        <p:strVal val="visible"/>
                                      </p:to>
                                    </p:set>
                                    <p:animEffect transition="in" filter="barn(outVertical)">
                                      <p:cBhvr>
                                        <p:cTn id="10" dur="1000"/>
                                        <p:tgtEl>
                                          <p:spTgt spid="28775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87750"/>
                                        </p:tgtEl>
                                        <p:attrNameLst>
                                          <p:attrName>style.visibility</p:attrName>
                                        </p:attrNameLst>
                                      </p:cBhvr>
                                      <p:to>
                                        <p:strVal val="visible"/>
                                      </p:to>
                                    </p:set>
                                    <p:animEffect transition="in" filter="dissolve">
                                      <p:cBhvr>
                                        <p:cTn id="13" dur="1000"/>
                                        <p:tgtEl>
                                          <p:spTgt spid="28775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87757"/>
                                        </p:tgtEl>
                                        <p:attrNameLst>
                                          <p:attrName>style.visibility</p:attrName>
                                        </p:attrNameLst>
                                      </p:cBhvr>
                                      <p:to>
                                        <p:strVal val="visible"/>
                                      </p:to>
                                    </p:set>
                                    <p:animEffect transition="in" filter="dissolve">
                                      <p:cBhvr>
                                        <p:cTn id="16" dur="1000"/>
                                        <p:tgtEl>
                                          <p:spTgt spid="28775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87766"/>
                                        </p:tgtEl>
                                        <p:attrNameLst>
                                          <p:attrName>style.visibility</p:attrName>
                                        </p:attrNameLst>
                                      </p:cBhvr>
                                      <p:to>
                                        <p:strVal val="visible"/>
                                      </p:to>
                                    </p:set>
                                    <p:animEffect transition="in" filter="dissolve">
                                      <p:cBhvr>
                                        <p:cTn id="19" dur="1000"/>
                                        <p:tgtEl>
                                          <p:spTgt spid="28776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87767"/>
                                        </p:tgtEl>
                                        <p:attrNameLst>
                                          <p:attrName>style.visibility</p:attrName>
                                        </p:attrNameLst>
                                      </p:cBhvr>
                                      <p:to>
                                        <p:strVal val="visible"/>
                                      </p:to>
                                    </p:set>
                                    <p:animEffect transition="in" filter="dissolve">
                                      <p:cBhvr>
                                        <p:cTn id="22" dur="1000"/>
                                        <p:tgtEl>
                                          <p:spTgt spid="2877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87758"/>
                                        </p:tgtEl>
                                        <p:attrNameLst>
                                          <p:attrName>style.visibility</p:attrName>
                                        </p:attrNameLst>
                                      </p:cBhvr>
                                      <p:to>
                                        <p:strVal val="visible"/>
                                      </p:to>
                                    </p:set>
                                    <p:animEffect transition="in" filter="wipe(up)">
                                      <p:cBhvr>
                                        <p:cTn id="27" dur="1000"/>
                                        <p:tgtEl>
                                          <p:spTgt spid="287758"/>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87760"/>
                                        </p:tgtEl>
                                        <p:attrNameLst>
                                          <p:attrName>style.visibility</p:attrName>
                                        </p:attrNameLst>
                                      </p:cBhvr>
                                      <p:to>
                                        <p:strVal val="visible"/>
                                      </p:to>
                                    </p:set>
                                    <p:animEffect transition="in" filter="wipe(up)">
                                      <p:cBhvr>
                                        <p:cTn id="30" dur="1000"/>
                                        <p:tgtEl>
                                          <p:spTgt spid="287760"/>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287759"/>
                                        </p:tgtEl>
                                        <p:attrNameLst>
                                          <p:attrName>style.visibility</p:attrName>
                                        </p:attrNameLst>
                                      </p:cBhvr>
                                      <p:to>
                                        <p:strVal val="visible"/>
                                      </p:to>
                                    </p:set>
                                    <p:animEffect transition="in" filter="wipe(up)">
                                      <p:cBhvr>
                                        <p:cTn id="33" dur="1000"/>
                                        <p:tgtEl>
                                          <p:spTgt spid="28775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87762"/>
                                        </p:tgtEl>
                                        <p:attrNameLst>
                                          <p:attrName>style.visibility</p:attrName>
                                        </p:attrNameLst>
                                      </p:cBhvr>
                                      <p:to>
                                        <p:strVal val="visible"/>
                                      </p:to>
                                    </p:set>
                                    <p:animEffect transition="in" filter="wipe(down)">
                                      <p:cBhvr>
                                        <p:cTn id="38" dur="1000"/>
                                        <p:tgtEl>
                                          <p:spTgt spid="287762"/>
                                        </p:tgtEl>
                                      </p:cBhvr>
                                    </p:animEffect>
                                  </p:childTnLst>
                                </p:cTn>
                              </p:par>
                              <p:par>
                                <p:cTn id="39" presetID="22" presetClass="entr" presetSubtype="4" fill="hold" nodeType="withEffect">
                                  <p:stCondLst>
                                    <p:cond delay="0"/>
                                  </p:stCondLst>
                                  <p:childTnLst>
                                    <p:set>
                                      <p:cBhvr>
                                        <p:cTn id="40" dur="1" fill="hold">
                                          <p:stCondLst>
                                            <p:cond delay="0"/>
                                          </p:stCondLst>
                                        </p:cTn>
                                        <p:tgtEl>
                                          <p:spTgt spid="287765"/>
                                        </p:tgtEl>
                                        <p:attrNameLst>
                                          <p:attrName>style.visibility</p:attrName>
                                        </p:attrNameLst>
                                      </p:cBhvr>
                                      <p:to>
                                        <p:strVal val="visible"/>
                                      </p:to>
                                    </p:set>
                                    <p:animEffect transition="in" filter="wipe(down)">
                                      <p:cBhvr>
                                        <p:cTn id="41" dur="1000"/>
                                        <p:tgtEl>
                                          <p:spTgt spid="287765"/>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87763"/>
                                        </p:tgtEl>
                                        <p:attrNameLst>
                                          <p:attrName>style.visibility</p:attrName>
                                        </p:attrNameLst>
                                      </p:cBhvr>
                                      <p:to>
                                        <p:strVal val="visible"/>
                                      </p:to>
                                    </p:set>
                                    <p:animEffect transition="in" filter="wipe(down)">
                                      <p:cBhvr>
                                        <p:cTn id="44" dur="1000"/>
                                        <p:tgtEl>
                                          <p:spTgt spid="287763"/>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87764"/>
                                        </p:tgtEl>
                                        <p:attrNameLst>
                                          <p:attrName>style.visibility</p:attrName>
                                        </p:attrNameLst>
                                      </p:cBhvr>
                                      <p:to>
                                        <p:strVal val="visible"/>
                                      </p:to>
                                    </p:set>
                                    <p:animEffect transition="in" filter="wipe(down)">
                                      <p:cBhvr>
                                        <p:cTn id="47" dur="1000"/>
                                        <p:tgtEl>
                                          <p:spTgt spid="287764"/>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87761"/>
                                        </p:tgtEl>
                                        <p:attrNameLst>
                                          <p:attrName>style.visibility</p:attrName>
                                        </p:attrNameLst>
                                      </p:cBhvr>
                                      <p:to>
                                        <p:strVal val="visible"/>
                                      </p:to>
                                    </p:set>
                                    <p:animEffect transition="in" filter="wipe(down)">
                                      <p:cBhvr>
                                        <p:cTn id="50" dur="1000"/>
                                        <p:tgtEl>
                                          <p:spTgt spid="28776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87771"/>
                                        </p:tgtEl>
                                        <p:attrNameLst>
                                          <p:attrName>style.visibility</p:attrName>
                                        </p:attrNameLst>
                                      </p:cBhvr>
                                      <p:to>
                                        <p:strVal val="visible"/>
                                      </p:to>
                                    </p:set>
                                    <p:animEffect transition="in" filter="wipe(up)">
                                      <p:cBhvr>
                                        <p:cTn id="55" dur="1000"/>
                                        <p:tgtEl>
                                          <p:spTgt spid="287771"/>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287769"/>
                                        </p:tgtEl>
                                        <p:attrNameLst>
                                          <p:attrName>style.visibility</p:attrName>
                                        </p:attrNameLst>
                                      </p:cBhvr>
                                      <p:to>
                                        <p:strVal val="visible"/>
                                      </p:to>
                                    </p:set>
                                    <p:animEffect transition="in" filter="wipe(up)">
                                      <p:cBhvr>
                                        <p:cTn id="58" dur="1000"/>
                                        <p:tgtEl>
                                          <p:spTgt spid="287769"/>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87768"/>
                                        </p:tgtEl>
                                        <p:attrNameLst>
                                          <p:attrName>style.visibility</p:attrName>
                                        </p:attrNameLst>
                                      </p:cBhvr>
                                      <p:to>
                                        <p:strVal val="visible"/>
                                      </p:to>
                                    </p:set>
                                    <p:animEffect transition="in" filter="wipe(up)">
                                      <p:cBhvr>
                                        <p:cTn id="61" dur="1000"/>
                                        <p:tgtEl>
                                          <p:spTgt spid="28776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287775"/>
                                        </p:tgtEl>
                                        <p:attrNameLst>
                                          <p:attrName>style.visibility</p:attrName>
                                        </p:attrNameLst>
                                      </p:cBhvr>
                                      <p:to>
                                        <p:strVal val="visible"/>
                                      </p:to>
                                    </p:set>
                                    <p:animEffect transition="in" filter="wipe(up)">
                                      <p:cBhvr>
                                        <p:cTn id="66" dur="1000"/>
                                        <p:tgtEl>
                                          <p:spTgt spid="287775"/>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287774"/>
                                        </p:tgtEl>
                                        <p:attrNameLst>
                                          <p:attrName>style.visibility</p:attrName>
                                        </p:attrNameLst>
                                      </p:cBhvr>
                                      <p:to>
                                        <p:strVal val="visible"/>
                                      </p:to>
                                    </p:set>
                                    <p:animEffect transition="in" filter="wipe(up)">
                                      <p:cBhvr>
                                        <p:cTn id="69" dur="1000"/>
                                        <p:tgtEl>
                                          <p:spTgt spid="287774"/>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287770"/>
                                        </p:tgtEl>
                                        <p:attrNameLst>
                                          <p:attrName>style.visibility</p:attrName>
                                        </p:attrNameLst>
                                      </p:cBhvr>
                                      <p:to>
                                        <p:strVal val="visible"/>
                                      </p:to>
                                    </p:set>
                                    <p:animEffect transition="in" filter="wipe(up)">
                                      <p:cBhvr>
                                        <p:cTn id="72" dur="1000"/>
                                        <p:tgtEl>
                                          <p:spTgt spid="28777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87776"/>
                                        </p:tgtEl>
                                        <p:attrNameLst>
                                          <p:attrName>style.visibility</p:attrName>
                                        </p:attrNameLst>
                                      </p:cBhvr>
                                      <p:to>
                                        <p:strVal val="visible"/>
                                      </p:to>
                                    </p:set>
                                    <p:animEffect transition="in" filter="wipe(left)">
                                      <p:cBhvr>
                                        <p:cTn id="77" dur="1000"/>
                                        <p:tgtEl>
                                          <p:spTgt spid="28777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87777"/>
                                        </p:tgtEl>
                                        <p:attrNameLst>
                                          <p:attrName>style.visibility</p:attrName>
                                        </p:attrNameLst>
                                      </p:cBhvr>
                                      <p:to>
                                        <p:strVal val="visible"/>
                                      </p:to>
                                    </p:set>
                                    <p:animEffect transition="in" filter="wipe(left)">
                                      <p:cBhvr>
                                        <p:cTn id="80" dur="1000"/>
                                        <p:tgtEl>
                                          <p:spTgt spid="287777"/>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287778"/>
                                        </p:tgtEl>
                                        <p:attrNameLst>
                                          <p:attrName>style.visibility</p:attrName>
                                        </p:attrNameLst>
                                      </p:cBhvr>
                                      <p:to>
                                        <p:strVal val="visible"/>
                                      </p:to>
                                    </p:set>
                                    <p:animEffect transition="in" filter="wipe(left)">
                                      <p:cBhvr>
                                        <p:cTn id="83" dur="1000"/>
                                        <p:tgtEl>
                                          <p:spTgt spid="287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0" grpId="0" animBg="1"/>
      <p:bldP spid="287757" grpId="0"/>
      <p:bldP spid="287758" grpId="0" animBg="1"/>
      <p:bldP spid="287759" grpId="0" animBg="1"/>
      <p:bldP spid="287760" grpId="0"/>
      <p:bldP spid="287761" grpId="0" animBg="1"/>
      <p:bldP spid="287762" grpId="0" animBg="1"/>
      <p:bldP spid="287763" grpId="0"/>
      <p:bldP spid="287764" grpId="0"/>
      <p:bldP spid="287766" grpId="0" animBg="1"/>
      <p:bldP spid="287767" grpId="0"/>
      <p:bldP spid="287768" grpId="0" animBg="1"/>
      <p:bldP spid="287769" grpId="0" animBg="1"/>
      <p:bldP spid="287770" grpId="0" animBg="1"/>
      <p:bldP spid="287771" grpId="0"/>
      <p:bldP spid="287774" grpId="0" animBg="1"/>
      <p:bldP spid="287775" grpId="0"/>
      <p:bldP spid="287776" grpId="0" animBg="1"/>
      <p:bldP spid="287777" grpId="0"/>
      <p:bldP spid="28777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2" name="Rectangle 4"/>
          <p:cNvSpPr/>
          <p:nvPr/>
        </p:nvSpPr>
        <p:spPr>
          <a:xfrm>
            <a:off x="173038" y="2738438"/>
            <a:ext cx="3452812" cy="3390900"/>
          </a:xfrm>
          <a:prstGeom prst="rect">
            <a:avLst/>
          </a:prstGeom>
          <a:solidFill>
            <a:srgbClr val="FFFF99">
              <a:alpha val="3922"/>
            </a:srgbClr>
          </a:solidFill>
          <a:ln w="6350"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773" name="Rectangle 5"/>
          <p:cNvSpPr/>
          <p:nvPr/>
        </p:nvSpPr>
        <p:spPr>
          <a:xfrm>
            <a:off x="3679825" y="2738438"/>
            <a:ext cx="2632075" cy="3390900"/>
          </a:xfrm>
          <a:prstGeom prst="rect">
            <a:avLst/>
          </a:prstGeom>
          <a:solidFill>
            <a:srgbClr val="FFFF99">
              <a:alpha val="3922"/>
            </a:srgbClr>
          </a:solidFill>
          <a:ln w="6350" cap="flat" cmpd="sng">
            <a:solidFill>
              <a:srgbClr val="FF66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774" name="Rectangle 6"/>
          <p:cNvSpPr/>
          <p:nvPr/>
        </p:nvSpPr>
        <p:spPr>
          <a:xfrm>
            <a:off x="6384925" y="2741613"/>
            <a:ext cx="2632075" cy="3390900"/>
          </a:xfrm>
          <a:prstGeom prst="rect">
            <a:avLst/>
          </a:prstGeom>
          <a:solidFill>
            <a:srgbClr val="FFFF99">
              <a:alpha val="3922"/>
            </a:srgbClr>
          </a:solidFill>
          <a:ln w="6350" cap="flat" cmpd="sng">
            <a:solidFill>
              <a:srgbClr val="80008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777" name="Rectangle 9"/>
          <p:cNvSpPr/>
          <p:nvPr/>
        </p:nvSpPr>
        <p:spPr>
          <a:xfrm>
            <a:off x="152400" y="1219200"/>
            <a:ext cx="8820150" cy="1439863"/>
          </a:xfrm>
          <a:prstGeom prst="rect">
            <a:avLst/>
          </a:prstGeom>
          <a:solidFill>
            <a:srgbClr val="FF9900">
              <a:alpha val="7059"/>
            </a:srgbClr>
          </a:solidFill>
          <a:ln w="6350" cap="flat" cmpd="sng">
            <a:solidFill>
              <a:srgbClr val="FF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778" name="Text Box 10"/>
          <p:cNvSpPr txBox="1"/>
          <p:nvPr/>
        </p:nvSpPr>
        <p:spPr>
          <a:xfrm>
            <a:off x="857250" y="5589588"/>
            <a:ext cx="2490788" cy="460375"/>
          </a:xfrm>
          <a:prstGeom prst="rect">
            <a:avLst/>
          </a:prstGeom>
          <a:noFill/>
          <a:ln w="9525">
            <a:noFill/>
          </a:ln>
        </p:spPr>
        <p:txBody>
          <a:bodyPr anchor="t" anchorCtr="0">
            <a:spAutoFit/>
          </a:bodyPr>
          <a:lstStyle/>
          <a:p>
            <a:pPr>
              <a:spcBef>
                <a:spcPct val="50000"/>
              </a:spcBef>
              <a:buClr>
                <a:srgbClr val="0000FF"/>
              </a:buClr>
              <a:buFont typeface="Wingdings" panose="05000000000000000000" pitchFamily="2" charset="2"/>
              <a:buBlip>
                <a:blip r:embed="rId2"/>
              </a:buBlip>
            </a:pPr>
            <a:r>
              <a:rPr lang="zh-CN" altLang="en-US" sz="2400" b="1" dirty="0">
                <a:solidFill>
                  <a:srgbClr val="800000"/>
                </a:solidFill>
                <a:latin typeface="Times New Roman" panose="02020603050405020304" pitchFamily="18" charset="0"/>
                <a:ea typeface="宋体" panose="02010600030101010101" pitchFamily="2" charset="-122"/>
              </a:rPr>
              <a:t>不互锁方式</a:t>
            </a:r>
          </a:p>
        </p:txBody>
      </p:sp>
      <p:sp>
        <p:nvSpPr>
          <p:cNvPr id="288779" name="Text Box 11"/>
          <p:cNvSpPr txBox="1"/>
          <p:nvPr/>
        </p:nvSpPr>
        <p:spPr>
          <a:xfrm>
            <a:off x="3995738" y="5589588"/>
            <a:ext cx="2165350" cy="460375"/>
          </a:xfrm>
          <a:prstGeom prst="rect">
            <a:avLst/>
          </a:prstGeom>
          <a:noFill/>
          <a:ln w="9525">
            <a:noFill/>
          </a:ln>
        </p:spPr>
        <p:txBody>
          <a:bodyPr anchor="t" anchorCtr="0">
            <a:spAutoFit/>
          </a:bodyPr>
          <a:lstStyle/>
          <a:p>
            <a:pPr>
              <a:spcBef>
                <a:spcPct val="50000"/>
              </a:spcBef>
              <a:buClr>
                <a:srgbClr val="0000FF"/>
              </a:buClr>
              <a:buFont typeface="Wingdings" panose="05000000000000000000" pitchFamily="2" charset="2"/>
              <a:buBlip>
                <a:blip r:embed="rId2"/>
              </a:buBlip>
            </a:pPr>
            <a:r>
              <a:rPr lang="zh-CN" altLang="en-US" sz="2400" b="1" dirty="0">
                <a:solidFill>
                  <a:srgbClr val="800000"/>
                </a:solidFill>
                <a:latin typeface="Times New Roman" panose="02020603050405020304" pitchFamily="18" charset="0"/>
                <a:ea typeface="宋体" panose="02010600030101010101" pitchFamily="2" charset="-122"/>
              </a:rPr>
              <a:t>半互锁方式</a:t>
            </a:r>
          </a:p>
        </p:txBody>
      </p:sp>
      <p:sp>
        <p:nvSpPr>
          <p:cNvPr id="288780" name="Text Box 12"/>
          <p:cNvSpPr txBox="1"/>
          <p:nvPr/>
        </p:nvSpPr>
        <p:spPr>
          <a:xfrm>
            <a:off x="6732588" y="5589588"/>
            <a:ext cx="2160587" cy="460375"/>
          </a:xfrm>
          <a:prstGeom prst="rect">
            <a:avLst/>
          </a:prstGeom>
          <a:noFill/>
          <a:ln w="9525">
            <a:noFill/>
          </a:ln>
        </p:spPr>
        <p:txBody>
          <a:bodyPr anchor="t" anchorCtr="0">
            <a:spAutoFit/>
          </a:bodyPr>
          <a:lstStyle/>
          <a:p>
            <a:pPr>
              <a:spcBef>
                <a:spcPct val="50000"/>
              </a:spcBef>
              <a:buClr>
                <a:srgbClr val="0000FF"/>
              </a:buClr>
              <a:buFont typeface="Wingdings" panose="05000000000000000000" pitchFamily="2" charset="2"/>
              <a:buBlip>
                <a:blip r:embed="rId2"/>
              </a:buBlip>
            </a:pPr>
            <a:r>
              <a:rPr lang="zh-CN" altLang="en-US" sz="2400" b="1" dirty="0">
                <a:solidFill>
                  <a:srgbClr val="800000"/>
                </a:solidFill>
                <a:latin typeface="Times New Roman" panose="02020603050405020304" pitchFamily="18" charset="0"/>
                <a:ea typeface="宋体" panose="02010600030101010101" pitchFamily="2" charset="-122"/>
              </a:rPr>
              <a:t>全互锁方式</a:t>
            </a:r>
          </a:p>
        </p:txBody>
      </p:sp>
      <p:sp>
        <p:nvSpPr>
          <p:cNvPr id="288781" name="Freeform 13"/>
          <p:cNvSpPr/>
          <p:nvPr/>
        </p:nvSpPr>
        <p:spPr>
          <a:xfrm>
            <a:off x="1549400" y="3376613"/>
            <a:ext cx="1588" cy="904875"/>
          </a:xfrm>
          <a:custGeom>
            <a:avLst/>
            <a:gdLst/>
            <a:ahLst/>
            <a:cxnLst>
              <a:cxn ang="0">
                <a:pos x="0" y="0"/>
              </a:cxn>
              <a:cxn ang="0">
                <a:pos x="0" y="2147483647"/>
              </a:cxn>
            </a:cxnLst>
            <a:rect l="0" t="0" r="0" b="0"/>
            <a:pathLst>
              <a:path w="1" h="570">
                <a:moveTo>
                  <a:pt x="0" y="0"/>
                </a:moveTo>
                <a:lnTo>
                  <a:pt x="0" y="570"/>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288782" name="Freeform 14"/>
          <p:cNvSpPr/>
          <p:nvPr/>
        </p:nvSpPr>
        <p:spPr>
          <a:xfrm>
            <a:off x="4176713" y="3324225"/>
            <a:ext cx="1587" cy="966788"/>
          </a:xfrm>
          <a:custGeom>
            <a:avLst/>
            <a:gdLst/>
            <a:ahLst/>
            <a:cxnLst>
              <a:cxn ang="0">
                <a:pos x="0" y="0"/>
              </a:cxn>
              <a:cxn ang="0">
                <a:pos x="2147483647" y="2147483647"/>
              </a:cxn>
            </a:cxnLst>
            <a:rect l="0" t="0" r="0" b="0"/>
            <a:pathLst>
              <a:path w="1" h="609">
                <a:moveTo>
                  <a:pt x="0" y="0"/>
                </a:moveTo>
                <a:lnTo>
                  <a:pt x="1" y="609"/>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grpSp>
        <p:nvGrpSpPr>
          <p:cNvPr id="288783" name="Group 15"/>
          <p:cNvGrpSpPr/>
          <p:nvPr/>
        </p:nvGrpSpPr>
        <p:grpSpPr>
          <a:xfrm>
            <a:off x="4122738" y="3375025"/>
            <a:ext cx="1169987" cy="1460500"/>
            <a:chOff x="2597" y="1664"/>
            <a:chExt cx="737" cy="920"/>
          </a:xfrm>
        </p:grpSpPr>
        <p:sp>
          <p:nvSpPr>
            <p:cNvPr id="35851" name="Freeform 16"/>
            <p:cNvSpPr/>
            <p:nvPr/>
          </p:nvSpPr>
          <p:spPr>
            <a:xfrm>
              <a:off x="2601" y="1997"/>
              <a:ext cx="300" cy="587"/>
            </a:xfrm>
            <a:custGeom>
              <a:avLst/>
              <a:gdLst/>
              <a:ahLst/>
              <a:cxnLst>
                <a:cxn ang="0">
                  <a:pos x="0" y="89"/>
                </a:cxn>
                <a:cxn ang="0">
                  <a:pos x="48" y="58"/>
                </a:cxn>
                <a:cxn ang="0">
                  <a:pos x="15" y="64"/>
                </a:cxn>
                <a:cxn ang="0">
                  <a:pos x="117" y="73"/>
                </a:cxn>
                <a:cxn ang="0">
                  <a:pos x="180" y="502"/>
                </a:cxn>
                <a:cxn ang="0">
                  <a:pos x="300" y="585"/>
                </a:cxn>
              </a:cxnLst>
              <a:rect l="0" t="0" r="0" b="0"/>
              <a:pathLst>
                <a:path w="300" h="587">
                  <a:moveTo>
                    <a:pt x="0" y="89"/>
                  </a:moveTo>
                  <a:cubicBezTo>
                    <a:pt x="8" y="84"/>
                    <a:pt x="45" y="62"/>
                    <a:pt x="48" y="58"/>
                  </a:cubicBezTo>
                  <a:cubicBezTo>
                    <a:pt x="51" y="54"/>
                    <a:pt x="4" y="62"/>
                    <a:pt x="15" y="64"/>
                  </a:cubicBezTo>
                  <a:cubicBezTo>
                    <a:pt x="26" y="66"/>
                    <a:pt x="90" y="0"/>
                    <a:pt x="117" y="73"/>
                  </a:cubicBezTo>
                  <a:cubicBezTo>
                    <a:pt x="144" y="146"/>
                    <a:pt x="149" y="417"/>
                    <a:pt x="180" y="502"/>
                  </a:cubicBezTo>
                  <a:cubicBezTo>
                    <a:pt x="211" y="587"/>
                    <a:pt x="280" y="571"/>
                    <a:pt x="300" y="585"/>
                  </a:cubicBezTo>
                </a:path>
              </a:pathLst>
            </a:custGeom>
            <a:noFill/>
            <a:ln w="57150" cap="flat" cmpd="sng">
              <a:solidFill>
                <a:srgbClr val="3366FF"/>
              </a:solidFill>
              <a:prstDash val="solid"/>
              <a:round/>
              <a:headEnd type="none" w="med" len="med"/>
              <a:tailEnd type="triangle" w="med" len="lg"/>
            </a:ln>
          </p:spPr>
          <p:txBody>
            <a:bodyPr/>
            <a:lstStyle/>
            <a:p>
              <a:endParaRPr lang="zh-CN" altLang="en-US"/>
            </a:p>
          </p:txBody>
        </p:sp>
        <p:sp>
          <p:nvSpPr>
            <p:cNvPr id="35852" name="Freeform 17"/>
            <p:cNvSpPr/>
            <p:nvPr/>
          </p:nvSpPr>
          <p:spPr>
            <a:xfrm>
              <a:off x="2597" y="1664"/>
              <a:ext cx="737" cy="1"/>
            </a:xfrm>
            <a:custGeom>
              <a:avLst/>
              <a:gdLst/>
              <a:ahLst/>
              <a:cxnLst>
                <a:cxn ang="0">
                  <a:pos x="0" y="1"/>
                </a:cxn>
                <a:cxn ang="0">
                  <a:pos x="737" y="0"/>
                </a:cxn>
              </a:cxnLst>
              <a:rect l="0" t="0" r="0" b="0"/>
              <a:pathLst>
                <a:path w="737" h="1">
                  <a:moveTo>
                    <a:pt x="0" y="1"/>
                  </a:moveTo>
                  <a:lnTo>
                    <a:pt x="737" y="0"/>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grpSp>
      <p:sp>
        <p:nvSpPr>
          <p:cNvPr id="288786" name="Freeform 18"/>
          <p:cNvSpPr/>
          <p:nvPr/>
        </p:nvSpPr>
        <p:spPr>
          <a:xfrm>
            <a:off x="5241925" y="3319463"/>
            <a:ext cx="1588" cy="950912"/>
          </a:xfrm>
          <a:custGeom>
            <a:avLst/>
            <a:gdLst/>
            <a:ahLst/>
            <a:cxnLst>
              <a:cxn ang="0">
                <a:pos x="0" y="0"/>
              </a:cxn>
              <a:cxn ang="0">
                <a:pos x="0" y="2147483647"/>
              </a:cxn>
            </a:cxnLst>
            <a:rect l="0" t="0" r="0" b="0"/>
            <a:pathLst>
              <a:path w="1" h="599">
                <a:moveTo>
                  <a:pt x="0" y="0"/>
                </a:moveTo>
                <a:lnTo>
                  <a:pt x="0" y="599"/>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288787" name="Freeform 19"/>
          <p:cNvSpPr/>
          <p:nvPr/>
        </p:nvSpPr>
        <p:spPr>
          <a:xfrm>
            <a:off x="5184775" y="4213225"/>
            <a:ext cx="785813" cy="1588"/>
          </a:xfrm>
          <a:custGeom>
            <a:avLst/>
            <a:gdLst/>
            <a:ahLst/>
            <a:cxnLst>
              <a:cxn ang="0">
                <a:pos x="0" y="0"/>
              </a:cxn>
              <a:cxn ang="0">
                <a:pos x="2147483647" y="2147483647"/>
              </a:cxn>
            </a:cxnLst>
            <a:rect l="0" t="0" r="0" b="0"/>
            <a:pathLst>
              <a:path w="495" h="1">
                <a:moveTo>
                  <a:pt x="0" y="0"/>
                </a:moveTo>
                <a:lnTo>
                  <a:pt x="495" y="1"/>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grpSp>
        <p:nvGrpSpPr>
          <p:cNvPr id="288788" name="Group 20"/>
          <p:cNvGrpSpPr/>
          <p:nvPr/>
        </p:nvGrpSpPr>
        <p:grpSpPr>
          <a:xfrm>
            <a:off x="1489075" y="3394075"/>
            <a:ext cx="1162050" cy="1427163"/>
            <a:chOff x="778" y="1676"/>
            <a:chExt cx="732" cy="899"/>
          </a:xfrm>
        </p:grpSpPr>
        <p:sp>
          <p:nvSpPr>
            <p:cNvPr id="35856" name="Freeform 21"/>
            <p:cNvSpPr/>
            <p:nvPr/>
          </p:nvSpPr>
          <p:spPr>
            <a:xfrm>
              <a:off x="831" y="1995"/>
              <a:ext cx="299" cy="580"/>
            </a:xfrm>
            <a:custGeom>
              <a:avLst/>
              <a:gdLst/>
              <a:ahLst/>
              <a:cxnLst>
                <a:cxn ang="0">
                  <a:pos x="0" y="71"/>
                </a:cxn>
                <a:cxn ang="0">
                  <a:pos x="101" y="71"/>
                </a:cxn>
                <a:cxn ang="0">
                  <a:pos x="170" y="495"/>
                </a:cxn>
                <a:cxn ang="0">
                  <a:pos x="299" y="580"/>
                </a:cxn>
              </a:cxnLst>
              <a:rect l="0" t="0" r="0" b="0"/>
              <a:pathLst>
                <a:path w="299" h="580">
                  <a:moveTo>
                    <a:pt x="0" y="71"/>
                  </a:moveTo>
                  <a:cubicBezTo>
                    <a:pt x="17" y="71"/>
                    <a:pt x="73" y="0"/>
                    <a:pt x="101" y="71"/>
                  </a:cubicBezTo>
                  <a:cubicBezTo>
                    <a:pt x="129" y="142"/>
                    <a:pt x="137" y="410"/>
                    <a:pt x="170" y="495"/>
                  </a:cubicBezTo>
                  <a:cubicBezTo>
                    <a:pt x="203" y="580"/>
                    <a:pt x="272" y="562"/>
                    <a:pt x="299" y="580"/>
                  </a:cubicBezTo>
                </a:path>
              </a:pathLst>
            </a:custGeom>
            <a:noFill/>
            <a:ln w="57150" cap="flat" cmpd="sng">
              <a:solidFill>
                <a:srgbClr val="3366FF"/>
              </a:solidFill>
              <a:prstDash val="solid"/>
              <a:round/>
              <a:headEnd type="none" w="med" len="med"/>
              <a:tailEnd type="triangle" w="med" len="lg"/>
            </a:ln>
          </p:spPr>
          <p:txBody>
            <a:bodyPr/>
            <a:lstStyle/>
            <a:p>
              <a:endParaRPr lang="zh-CN" altLang="en-US"/>
            </a:p>
          </p:txBody>
        </p:sp>
        <p:sp>
          <p:nvSpPr>
            <p:cNvPr id="35857" name="Freeform 22"/>
            <p:cNvSpPr/>
            <p:nvPr/>
          </p:nvSpPr>
          <p:spPr>
            <a:xfrm>
              <a:off x="778" y="1676"/>
              <a:ext cx="732" cy="1"/>
            </a:xfrm>
            <a:custGeom>
              <a:avLst/>
              <a:gdLst/>
              <a:ahLst/>
              <a:cxnLst>
                <a:cxn ang="0">
                  <a:pos x="0" y="0"/>
                </a:cxn>
                <a:cxn ang="0">
                  <a:pos x="732" y="1"/>
                </a:cxn>
              </a:cxnLst>
              <a:rect l="0" t="0" r="0" b="0"/>
              <a:pathLst>
                <a:path w="732" h="1">
                  <a:moveTo>
                    <a:pt x="0" y="0"/>
                  </a:moveTo>
                  <a:lnTo>
                    <a:pt x="732" y="1"/>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grpSp>
      <p:sp>
        <p:nvSpPr>
          <p:cNvPr id="288791" name="Freeform 23"/>
          <p:cNvSpPr/>
          <p:nvPr/>
        </p:nvSpPr>
        <p:spPr>
          <a:xfrm>
            <a:off x="2547938" y="4238625"/>
            <a:ext cx="830262" cy="1588"/>
          </a:xfrm>
          <a:custGeom>
            <a:avLst/>
            <a:gdLst/>
            <a:ahLst/>
            <a:cxnLst>
              <a:cxn ang="0">
                <a:pos x="0" y="0"/>
              </a:cxn>
              <a:cxn ang="0">
                <a:pos x="2147483647" y="0"/>
              </a:cxn>
            </a:cxnLst>
            <a:rect l="0" t="0" r="0" b="0"/>
            <a:pathLst>
              <a:path w="523" h="1">
                <a:moveTo>
                  <a:pt x="0" y="0"/>
                </a:moveTo>
                <a:lnTo>
                  <a:pt x="523" y="0"/>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288792" name="Freeform 24"/>
          <p:cNvSpPr/>
          <p:nvPr/>
        </p:nvSpPr>
        <p:spPr>
          <a:xfrm>
            <a:off x="2601913" y="3341688"/>
            <a:ext cx="3175" cy="925512"/>
          </a:xfrm>
          <a:custGeom>
            <a:avLst/>
            <a:gdLst/>
            <a:ahLst/>
            <a:cxnLst>
              <a:cxn ang="0">
                <a:pos x="0" y="0"/>
              </a:cxn>
              <a:cxn ang="0">
                <a:pos x="2147483647" y="2147483647"/>
              </a:cxn>
            </a:cxnLst>
            <a:rect l="0" t="0" r="0" b="0"/>
            <a:pathLst>
              <a:path w="2" h="583">
                <a:moveTo>
                  <a:pt x="0" y="0"/>
                </a:moveTo>
                <a:lnTo>
                  <a:pt x="2" y="583"/>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288793" name="Freeform 25"/>
          <p:cNvSpPr/>
          <p:nvPr/>
        </p:nvSpPr>
        <p:spPr>
          <a:xfrm>
            <a:off x="2024063" y="4508500"/>
            <a:ext cx="1162050" cy="1588"/>
          </a:xfrm>
          <a:custGeom>
            <a:avLst/>
            <a:gdLst/>
            <a:ahLst/>
            <a:cxnLst>
              <a:cxn ang="0">
                <a:pos x="0" y="0"/>
              </a:cxn>
              <a:cxn ang="0">
                <a:pos x="2147483647" y="2147483647"/>
              </a:cxn>
            </a:cxnLst>
            <a:rect l="0" t="0" r="0" b="0"/>
            <a:pathLst>
              <a:path w="732" h="1">
                <a:moveTo>
                  <a:pt x="0" y="0"/>
                </a:moveTo>
                <a:lnTo>
                  <a:pt x="732" y="1"/>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sp>
        <p:nvSpPr>
          <p:cNvPr id="288794" name="Freeform 26"/>
          <p:cNvSpPr/>
          <p:nvPr/>
        </p:nvSpPr>
        <p:spPr>
          <a:xfrm>
            <a:off x="3128963" y="4456113"/>
            <a:ext cx="3175" cy="925512"/>
          </a:xfrm>
          <a:custGeom>
            <a:avLst/>
            <a:gdLst/>
            <a:ahLst/>
            <a:cxnLst>
              <a:cxn ang="0">
                <a:pos x="0" y="0"/>
              </a:cxn>
              <a:cxn ang="0">
                <a:pos x="2147483647" y="2147483647"/>
              </a:cxn>
            </a:cxnLst>
            <a:rect l="0" t="0" r="0" b="0"/>
            <a:pathLst>
              <a:path w="2" h="583">
                <a:moveTo>
                  <a:pt x="0" y="0"/>
                </a:moveTo>
                <a:lnTo>
                  <a:pt x="2" y="583"/>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sp>
        <p:nvSpPr>
          <p:cNvPr id="288795" name="Freeform 27"/>
          <p:cNvSpPr/>
          <p:nvPr/>
        </p:nvSpPr>
        <p:spPr>
          <a:xfrm>
            <a:off x="2074863" y="4476750"/>
            <a:ext cx="1587" cy="904875"/>
          </a:xfrm>
          <a:custGeom>
            <a:avLst/>
            <a:gdLst/>
            <a:ahLst/>
            <a:cxnLst>
              <a:cxn ang="0">
                <a:pos x="0" y="0"/>
              </a:cxn>
              <a:cxn ang="0">
                <a:pos x="0" y="2147483647"/>
              </a:cxn>
            </a:cxnLst>
            <a:rect l="0" t="0" r="0" b="0"/>
            <a:pathLst>
              <a:path w="1" h="570">
                <a:moveTo>
                  <a:pt x="0" y="0"/>
                </a:moveTo>
                <a:lnTo>
                  <a:pt x="0" y="570"/>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grpSp>
        <p:nvGrpSpPr>
          <p:cNvPr id="288796" name="Group 28"/>
          <p:cNvGrpSpPr/>
          <p:nvPr/>
        </p:nvGrpSpPr>
        <p:grpSpPr>
          <a:xfrm>
            <a:off x="1111250" y="4222750"/>
            <a:ext cx="990600" cy="1108075"/>
            <a:chOff x="540" y="2198"/>
            <a:chExt cx="624" cy="698"/>
          </a:xfrm>
        </p:grpSpPr>
        <p:sp>
          <p:nvSpPr>
            <p:cNvPr id="35864" name="Freeform 29"/>
            <p:cNvSpPr/>
            <p:nvPr/>
          </p:nvSpPr>
          <p:spPr>
            <a:xfrm>
              <a:off x="540" y="2198"/>
              <a:ext cx="311" cy="1"/>
            </a:xfrm>
            <a:custGeom>
              <a:avLst/>
              <a:gdLst/>
              <a:ahLst/>
              <a:cxnLst>
                <a:cxn ang="0">
                  <a:pos x="311" y="0"/>
                </a:cxn>
                <a:cxn ang="0">
                  <a:pos x="0" y="1"/>
                </a:cxn>
              </a:cxnLst>
              <a:rect l="0" t="0" r="0" b="0"/>
              <a:pathLst>
                <a:path w="311" h="1">
                  <a:moveTo>
                    <a:pt x="311" y="0"/>
                  </a:moveTo>
                  <a:lnTo>
                    <a:pt x="0" y="1"/>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35865" name="Line 30"/>
            <p:cNvSpPr/>
            <p:nvPr/>
          </p:nvSpPr>
          <p:spPr>
            <a:xfrm>
              <a:off x="563" y="2896"/>
              <a:ext cx="601" cy="0"/>
            </a:xfrm>
            <a:prstGeom prst="line">
              <a:avLst/>
            </a:prstGeom>
            <a:ln w="114300" cap="flat" cmpd="sng">
              <a:solidFill>
                <a:srgbClr val="3366FF"/>
              </a:solidFill>
              <a:prstDash val="solid"/>
              <a:round/>
              <a:headEnd type="none" w="med" len="med"/>
              <a:tailEnd type="none" w="med" len="med"/>
            </a:ln>
          </p:spPr>
        </p:sp>
      </p:grpSp>
      <p:grpSp>
        <p:nvGrpSpPr>
          <p:cNvPr id="288799" name="Group 31"/>
          <p:cNvGrpSpPr/>
          <p:nvPr/>
        </p:nvGrpSpPr>
        <p:grpSpPr>
          <a:xfrm>
            <a:off x="3703638" y="4232275"/>
            <a:ext cx="992187" cy="1098550"/>
            <a:chOff x="2333" y="2204"/>
            <a:chExt cx="625" cy="692"/>
          </a:xfrm>
        </p:grpSpPr>
        <p:sp>
          <p:nvSpPr>
            <p:cNvPr id="35867" name="Freeform 32"/>
            <p:cNvSpPr/>
            <p:nvPr/>
          </p:nvSpPr>
          <p:spPr>
            <a:xfrm>
              <a:off x="2333" y="2204"/>
              <a:ext cx="332" cy="1"/>
            </a:xfrm>
            <a:custGeom>
              <a:avLst/>
              <a:gdLst/>
              <a:ahLst/>
              <a:cxnLst>
                <a:cxn ang="0">
                  <a:pos x="332" y="0"/>
                </a:cxn>
                <a:cxn ang="0">
                  <a:pos x="0" y="1"/>
                </a:cxn>
              </a:cxnLst>
              <a:rect l="0" t="0" r="0" b="0"/>
              <a:pathLst>
                <a:path w="332" h="1">
                  <a:moveTo>
                    <a:pt x="332" y="0"/>
                  </a:moveTo>
                  <a:lnTo>
                    <a:pt x="0" y="1"/>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35868" name="Line 33"/>
            <p:cNvSpPr/>
            <p:nvPr/>
          </p:nvSpPr>
          <p:spPr>
            <a:xfrm>
              <a:off x="2357" y="2896"/>
              <a:ext cx="601" cy="0"/>
            </a:xfrm>
            <a:prstGeom prst="line">
              <a:avLst/>
            </a:prstGeom>
            <a:ln w="114300" cap="flat" cmpd="sng">
              <a:solidFill>
                <a:srgbClr val="3366FF"/>
              </a:solidFill>
              <a:prstDash val="solid"/>
              <a:round/>
              <a:headEnd type="none" w="med" len="med"/>
              <a:tailEnd type="none" w="med" len="med"/>
            </a:ln>
          </p:spPr>
        </p:sp>
      </p:grpSp>
      <p:sp>
        <p:nvSpPr>
          <p:cNvPr id="288802" name="Line 34"/>
          <p:cNvSpPr/>
          <p:nvPr/>
        </p:nvSpPr>
        <p:spPr>
          <a:xfrm>
            <a:off x="3078163" y="5330825"/>
            <a:ext cx="539750" cy="0"/>
          </a:xfrm>
          <a:prstGeom prst="line">
            <a:avLst/>
          </a:prstGeom>
          <a:ln w="114300" cap="flat" cmpd="sng">
            <a:solidFill>
              <a:schemeClr val="tx1"/>
            </a:solidFill>
            <a:prstDash val="solid"/>
            <a:round/>
            <a:headEnd type="none" w="med" len="med"/>
            <a:tailEnd type="none" w="med" len="med"/>
          </a:ln>
        </p:spPr>
      </p:sp>
      <p:sp>
        <p:nvSpPr>
          <p:cNvPr id="288803" name="Freeform 35"/>
          <p:cNvSpPr/>
          <p:nvPr/>
        </p:nvSpPr>
        <p:spPr>
          <a:xfrm>
            <a:off x="4584700" y="4508500"/>
            <a:ext cx="1162050" cy="1588"/>
          </a:xfrm>
          <a:custGeom>
            <a:avLst/>
            <a:gdLst/>
            <a:ahLst/>
            <a:cxnLst>
              <a:cxn ang="0">
                <a:pos x="0" y="0"/>
              </a:cxn>
              <a:cxn ang="0">
                <a:pos x="2147483647" y="2147483647"/>
              </a:cxn>
            </a:cxnLst>
            <a:rect l="0" t="0" r="0" b="0"/>
            <a:pathLst>
              <a:path w="732" h="1">
                <a:moveTo>
                  <a:pt x="0" y="0"/>
                </a:moveTo>
                <a:lnTo>
                  <a:pt x="732" y="1"/>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sp>
        <p:nvSpPr>
          <p:cNvPr id="288804" name="Freeform 36"/>
          <p:cNvSpPr/>
          <p:nvPr/>
        </p:nvSpPr>
        <p:spPr>
          <a:xfrm>
            <a:off x="5694363" y="4456113"/>
            <a:ext cx="3175" cy="925512"/>
          </a:xfrm>
          <a:custGeom>
            <a:avLst/>
            <a:gdLst/>
            <a:ahLst/>
            <a:cxnLst>
              <a:cxn ang="0">
                <a:pos x="0" y="0"/>
              </a:cxn>
              <a:cxn ang="0">
                <a:pos x="2147483647" y="2147483647"/>
              </a:cxn>
            </a:cxnLst>
            <a:rect l="0" t="0" r="0" b="0"/>
            <a:pathLst>
              <a:path w="2" h="583">
                <a:moveTo>
                  <a:pt x="0" y="0"/>
                </a:moveTo>
                <a:lnTo>
                  <a:pt x="2" y="583"/>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sp>
        <p:nvSpPr>
          <p:cNvPr id="288805" name="Freeform 37"/>
          <p:cNvSpPr/>
          <p:nvPr/>
        </p:nvSpPr>
        <p:spPr>
          <a:xfrm>
            <a:off x="4640263" y="4467225"/>
            <a:ext cx="1587" cy="904875"/>
          </a:xfrm>
          <a:custGeom>
            <a:avLst/>
            <a:gdLst/>
            <a:ahLst/>
            <a:cxnLst>
              <a:cxn ang="0">
                <a:pos x="0" y="0"/>
              </a:cxn>
              <a:cxn ang="0">
                <a:pos x="0" y="2147483647"/>
              </a:cxn>
            </a:cxnLst>
            <a:rect l="0" t="0" r="0" b="0"/>
            <a:pathLst>
              <a:path w="1" h="570">
                <a:moveTo>
                  <a:pt x="0" y="0"/>
                </a:moveTo>
                <a:lnTo>
                  <a:pt x="0" y="570"/>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sp>
        <p:nvSpPr>
          <p:cNvPr id="288806" name="Line 38"/>
          <p:cNvSpPr/>
          <p:nvPr/>
        </p:nvSpPr>
        <p:spPr>
          <a:xfrm>
            <a:off x="5632450" y="5330825"/>
            <a:ext cx="539750" cy="0"/>
          </a:xfrm>
          <a:prstGeom prst="line">
            <a:avLst/>
          </a:prstGeom>
          <a:ln w="114300" cap="flat" cmpd="sng">
            <a:solidFill>
              <a:schemeClr val="tx1"/>
            </a:solidFill>
            <a:prstDash val="solid"/>
            <a:round/>
            <a:headEnd type="none" w="med" len="med"/>
            <a:tailEnd type="none" w="med" len="med"/>
          </a:ln>
        </p:spPr>
      </p:sp>
      <p:sp>
        <p:nvSpPr>
          <p:cNvPr id="288807" name="Freeform 39"/>
          <p:cNvSpPr/>
          <p:nvPr/>
        </p:nvSpPr>
        <p:spPr>
          <a:xfrm>
            <a:off x="6908800" y="3376613"/>
            <a:ext cx="1588" cy="904875"/>
          </a:xfrm>
          <a:custGeom>
            <a:avLst/>
            <a:gdLst/>
            <a:ahLst/>
            <a:cxnLst>
              <a:cxn ang="0">
                <a:pos x="0" y="0"/>
              </a:cxn>
              <a:cxn ang="0">
                <a:pos x="0" y="2147483647"/>
              </a:cxn>
            </a:cxnLst>
            <a:rect l="0" t="0" r="0" b="0"/>
            <a:pathLst>
              <a:path w="1" h="570">
                <a:moveTo>
                  <a:pt x="0" y="0"/>
                </a:moveTo>
                <a:lnTo>
                  <a:pt x="0" y="570"/>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grpSp>
        <p:nvGrpSpPr>
          <p:cNvPr id="288808" name="Group 40"/>
          <p:cNvGrpSpPr/>
          <p:nvPr/>
        </p:nvGrpSpPr>
        <p:grpSpPr>
          <a:xfrm>
            <a:off x="6851650" y="3394075"/>
            <a:ext cx="1162050" cy="1427163"/>
            <a:chOff x="4314" y="1676"/>
            <a:chExt cx="732" cy="899"/>
          </a:xfrm>
        </p:grpSpPr>
        <p:sp>
          <p:nvSpPr>
            <p:cNvPr id="35876" name="Freeform 41"/>
            <p:cNvSpPr/>
            <p:nvPr/>
          </p:nvSpPr>
          <p:spPr>
            <a:xfrm>
              <a:off x="4379" y="1995"/>
              <a:ext cx="299" cy="580"/>
            </a:xfrm>
            <a:custGeom>
              <a:avLst/>
              <a:gdLst/>
              <a:ahLst/>
              <a:cxnLst>
                <a:cxn ang="0">
                  <a:pos x="0" y="71"/>
                </a:cxn>
                <a:cxn ang="0">
                  <a:pos x="101" y="71"/>
                </a:cxn>
                <a:cxn ang="0">
                  <a:pos x="170" y="495"/>
                </a:cxn>
                <a:cxn ang="0">
                  <a:pos x="299" y="580"/>
                </a:cxn>
              </a:cxnLst>
              <a:rect l="0" t="0" r="0" b="0"/>
              <a:pathLst>
                <a:path w="299" h="580">
                  <a:moveTo>
                    <a:pt x="0" y="71"/>
                  </a:moveTo>
                  <a:cubicBezTo>
                    <a:pt x="17" y="71"/>
                    <a:pt x="73" y="0"/>
                    <a:pt x="101" y="71"/>
                  </a:cubicBezTo>
                  <a:cubicBezTo>
                    <a:pt x="129" y="142"/>
                    <a:pt x="137" y="410"/>
                    <a:pt x="170" y="495"/>
                  </a:cubicBezTo>
                  <a:cubicBezTo>
                    <a:pt x="203" y="580"/>
                    <a:pt x="272" y="562"/>
                    <a:pt x="299" y="580"/>
                  </a:cubicBezTo>
                </a:path>
              </a:pathLst>
            </a:custGeom>
            <a:noFill/>
            <a:ln w="57150" cap="flat" cmpd="sng">
              <a:solidFill>
                <a:srgbClr val="3366FF"/>
              </a:solidFill>
              <a:prstDash val="solid"/>
              <a:round/>
              <a:headEnd type="none" w="med" len="med"/>
              <a:tailEnd type="triangle" w="med" len="lg"/>
            </a:ln>
          </p:spPr>
          <p:txBody>
            <a:bodyPr/>
            <a:lstStyle/>
            <a:p>
              <a:endParaRPr lang="zh-CN" altLang="en-US"/>
            </a:p>
          </p:txBody>
        </p:sp>
        <p:sp>
          <p:nvSpPr>
            <p:cNvPr id="35877" name="Freeform 42"/>
            <p:cNvSpPr/>
            <p:nvPr/>
          </p:nvSpPr>
          <p:spPr>
            <a:xfrm>
              <a:off x="4314" y="1676"/>
              <a:ext cx="732" cy="1"/>
            </a:xfrm>
            <a:custGeom>
              <a:avLst/>
              <a:gdLst/>
              <a:ahLst/>
              <a:cxnLst>
                <a:cxn ang="0">
                  <a:pos x="0" y="0"/>
                </a:cxn>
                <a:cxn ang="0">
                  <a:pos x="732" y="1"/>
                </a:cxn>
              </a:cxnLst>
              <a:rect l="0" t="0" r="0" b="0"/>
              <a:pathLst>
                <a:path w="732" h="1">
                  <a:moveTo>
                    <a:pt x="0" y="0"/>
                  </a:moveTo>
                  <a:lnTo>
                    <a:pt x="732" y="1"/>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grpSp>
      <p:sp>
        <p:nvSpPr>
          <p:cNvPr id="288811" name="Freeform 43"/>
          <p:cNvSpPr/>
          <p:nvPr/>
        </p:nvSpPr>
        <p:spPr>
          <a:xfrm>
            <a:off x="7980363" y="3341688"/>
            <a:ext cx="3175" cy="925512"/>
          </a:xfrm>
          <a:custGeom>
            <a:avLst/>
            <a:gdLst/>
            <a:ahLst/>
            <a:cxnLst>
              <a:cxn ang="0">
                <a:pos x="0" y="0"/>
              </a:cxn>
              <a:cxn ang="0">
                <a:pos x="2147483647" y="2147483647"/>
              </a:cxn>
            </a:cxnLst>
            <a:rect l="0" t="0" r="0" b="0"/>
            <a:pathLst>
              <a:path w="2" h="583">
                <a:moveTo>
                  <a:pt x="0" y="0"/>
                </a:moveTo>
                <a:lnTo>
                  <a:pt x="2" y="583"/>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288812" name="Freeform 44"/>
          <p:cNvSpPr/>
          <p:nvPr/>
        </p:nvSpPr>
        <p:spPr>
          <a:xfrm>
            <a:off x="7391400" y="4508500"/>
            <a:ext cx="1162050" cy="1588"/>
          </a:xfrm>
          <a:custGeom>
            <a:avLst/>
            <a:gdLst/>
            <a:ahLst/>
            <a:cxnLst>
              <a:cxn ang="0">
                <a:pos x="0" y="0"/>
              </a:cxn>
              <a:cxn ang="0">
                <a:pos x="2147483647" y="2147483647"/>
              </a:cxn>
            </a:cxnLst>
            <a:rect l="0" t="0" r="0" b="0"/>
            <a:pathLst>
              <a:path w="732" h="1">
                <a:moveTo>
                  <a:pt x="0" y="0"/>
                </a:moveTo>
                <a:lnTo>
                  <a:pt x="732" y="1"/>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sp>
        <p:nvSpPr>
          <p:cNvPr id="288813" name="Freeform 45"/>
          <p:cNvSpPr/>
          <p:nvPr/>
        </p:nvSpPr>
        <p:spPr>
          <a:xfrm>
            <a:off x="8513763" y="4456113"/>
            <a:ext cx="3175" cy="925512"/>
          </a:xfrm>
          <a:custGeom>
            <a:avLst/>
            <a:gdLst/>
            <a:ahLst/>
            <a:cxnLst>
              <a:cxn ang="0">
                <a:pos x="0" y="0"/>
              </a:cxn>
              <a:cxn ang="0">
                <a:pos x="2147483647" y="2147483647"/>
              </a:cxn>
            </a:cxnLst>
            <a:rect l="0" t="0" r="0" b="0"/>
            <a:pathLst>
              <a:path w="2" h="583">
                <a:moveTo>
                  <a:pt x="0" y="0"/>
                </a:moveTo>
                <a:lnTo>
                  <a:pt x="2" y="583"/>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sp>
        <p:nvSpPr>
          <p:cNvPr id="288814" name="Freeform 46"/>
          <p:cNvSpPr/>
          <p:nvPr/>
        </p:nvSpPr>
        <p:spPr>
          <a:xfrm>
            <a:off x="7442200" y="4476750"/>
            <a:ext cx="1588" cy="904875"/>
          </a:xfrm>
          <a:custGeom>
            <a:avLst/>
            <a:gdLst/>
            <a:ahLst/>
            <a:cxnLst>
              <a:cxn ang="0">
                <a:pos x="0" y="0"/>
              </a:cxn>
              <a:cxn ang="0">
                <a:pos x="0" y="2147483647"/>
              </a:cxn>
            </a:cxnLst>
            <a:rect l="0" t="0" r="0" b="0"/>
            <a:pathLst>
              <a:path w="1" h="570">
                <a:moveTo>
                  <a:pt x="0" y="0"/>
                </a:moveTo>
                <a:lnTo>
                  <a:pt x="0" y="570"/>
                </a:lnTo>
              </a:path>
            </a:pathLst>
          </a:custGeom>
          <a:noFill/>
          <a:ln w="114300" cap="flat" cmpd="sng">
            <a:solidFill>
              <a:schemeClr val="tx1"/>
            </a:solidFill>
            <a:prstDash val="solid"/>
            <a:round/>
            <a:headEnd type="none" w="med" len="med"/>
            <a:tailEnd type="none" w="med" len="med"/>
          </a:ln>
        </p:spPr>
        <p:txBody>
          <a:bodyPr/>
          <a:lstStyle/>
          <a:p>
            <a:endParaRPr lang="zh-CN" altLang="en-US"/>
          </a:p>
        </p:txBody>
      </p:sp>
      <p:grpSp>
        <p:nvGrpSpPr>
          <p:cNvPr id="288815" name="Group 47"/>
          <p:cNvGrpSpPr/>
          <p:nvPr/>
        </p:nvGrpSpPr>
        <p:grpSpPr>
          <a:xfrm>
            <a:off x="6470650" y="4222750"/>
            <a:ext cx="996950" cy="1108075"/>
            <a:chOff x="4076" y="2198"/>
            <a:chExt cx="628" cy="698"/>
          </a:xfrm>
        </p:grpSpPr>
        <p:sp>
          <p:nvSpPr>
            <p:cNvPr id="35883" name="Freeform 48"/>
            <p:cNvSpPr/>
            <p:nvPr/>
          </p:nvSpPr>
          <p:spPr>
            <a:xfrm>
              <a:off x="4076" y="2198"/>
              <a:ext cx="311" cy="1"/>
            </a:xfrm>
            <a:custGeom>
              <a:avLst/>
              <a:gdLst/>
              <a:ahLst/>
              <a:cxnLst>
                <a:cxn ang="0">
                  <a:pos x="311" y="0"/>
                </a:cxn>
                <a:cxn ang="0">
                  <a:pos x="0" y="1"/>
                </a:cxn>
              </a:cxnLst>
              <a:rect l="0" t="0" r="0" b="0"/>
              <a:pathLst>
                <a:path w="311" h="1">
                  <a:moveTo>
                    <a:pt x="311" y="0"/>
                  </a:moveTo>
                  <a:lnTo>
                    <a:pt x="0" y="1"/>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35884" name="Line 49"/>
            <p:cNvSpPr/>
            <p:nvPr/>
          </p:nvSpPr>
          <p:spPr>
            <a:xfrm>
              <a:off x="4103" y="2896"/>
              <a:ext cx="601" cy="0"/>
            </a:xfrm>
            <a:prstGeom prst="line">
              <a:avLst/>
            </a:prstGeom>
            <a:ln w="114300" cap="flat" cmpd="sng">
              <a:solidFill>
                <a:srgbClr val="3366FF"/>
              </a:solidFill>
              <a:prstDash val="solid"/>
              <a:round/>
              <a:headEnd type="none" w="med" len="med"/>
              <a:tailEnd type="none" w="med" len="med"/>
            </a:ln>
          </p:spPr>
        </p:sp>
      </p:grpSp>
      <p:sp>
        <p:nvSpPr>
          <p:cNvPr id="288818" name="Line 50"/>
          <p:cNvSpPr/>
          <p:nvPr/>
        </p:nvSpPr>
        <p:spPr>
          <a:xfrm>
            <a:off x="8462963" y="5330825"/>
            <a:ext cx="539750" cy="0"/>
          </a:xfrm>
          <a:prstGeom prst="line">
            <a:avLst/>
          </a:prstGeom>
          <a:ln w="114300" cap="flat" cmpd="sng">
            <a:solidFill>
              <a:schemeClr val="tx1"/>
            </a:solidFill>
            <a:prstDash val="solid"/>
            <a:round/>
            <a:headEnd type="none" w="med" len="med"/>
            <a:tailEnd type="none" w="med" len="med"/>
          </a:ln>
        </p:spPr>
      </p:sp>
      <p:sp>
        <p:nvSpPr>
          <p:cNvPr id="288819" name="Freeform 51"/>
          <p:cNvSpPr/>
          <p:nvPr/>
        </p:nvSpPr>
        <p:spPr>
          <a:xfrm>
            <a:off x="7493000" y="3632200"/>
            <a:ext cx="508000" cy="1365250"/>
          </a:xfrm>
          <a:custGeom>
            <a:avLst/>
            <a:gdLst/>
            <a:ahLst/>
            <a:cxnLst>
              <a:cxn ang="0">
                <a:pos x="0" y="2147483647"/>
              </a:cxn>
              <a:cxn ang="0">
                <a:pos x="2147483647" y="2147483647"/>
              </a:cxn>
              <a:cxn ang="0">
                <a:pos x="2147483647" y="2147483647"/>
              </a:cxn>
              <a:cxn ang="0">
                <a:pos x="2147483647" y="2147483647"/>
              </a:cxn>
            </a:cxnLst>
            <a:rect l="0" t="0" r="0" b="0"/>
            <a:pathLst>
              <a:path w="320" h="860">
                <a:moveTo>
                  <a:pt x="0" y="754"/>
                </a:moveTo>
                <a:cubicBezTo>
                  <a:pt x="16" y="754"/>
                  <a:pt x="53" y="860"/>
                  <a:pt x="91" y="752"/>
                </a:cubicBezTo>
                <a:cubicBezTo>
                  <a:pt x="129" y="644"/>
                  <a:pt x="192" y="212"/>
                  <a:pt x="230" y="106"/>
                </a:cubicBezTo>
                <a:cubicBezTo>
                  <a:pt x="268" y="0"/>
                  <a:pt x="301" y="112"/>
                  <a:pt x="320" y="114"/>
                </a:cubicBezTo>
              </a:path>
            </a:pathLst>
          </a:custGeom>
          <a:noFill/>
          <a:ln w="57150" cap="flat" cmpd="sng">
            <a:solidFill>
              <a:srgbClr val="3366FF"/>
            </a:solidFill>
            <a:prstDash val="solid"/>
            <a:round/>
            <a:headEnd type="none" w="med" len="med"/>
            <a:tailEnd type="triangle" w="med" len="lg"/>
          </a:ln>
        </p:spPr>
        <p:txBody>
          <a:bodyPr/>
          <a:lstStyle/>
          <a:p>
            <a:endParaRPr lang="zh-CN" altLang="en-US"/>
          </a:p>
        </p:txBody>
      </p:sp>
      <p:grpSp>
        <p:nvGrpSpPr>
          <p:cNvPr id="288820" name="Group 52"/>
          <p:cNvGrpSpPr/>
          <p:nvPr/>
        </p:nvGrpSpPr>
        <p:grpSpPr>
          <a:xfrm>
            <a:off x="8012113" y="3730625"/>
            <a:ext cx="827087" cy="1193800"/>
            <a:chOff x="4960" y="1888"/>
            <a:chExt cx="521" cy="752"/>
          </a:xfrm>
        </p:grpSpPr>
        <p:sp>
          <p:nvSpPr>
            <p:cNvPr id="35888" name="Freeform 53"/>
            <p:cNvSpPr/>
            <p:nvPr/>
          </p:nvSpPr>
          <p:spPr>
            <a:xfrm>
              <a:off x="4960" y="2188"/>
              <a:ext cx="521" cy="2"/>
            </a:xfrm>
            <a:custGeom>
              <a:avLst/>
              <a:gdLst/>
              <a:ahLst/>
              <a:cxnLst>
                <a:cxn ang="0">
                  <a:pos x="0" y="2"/>
                </a:cxn>
                <a:cxn ang="0">
                  <a:pos x="521" y="0"/>
                </a:cxn>
              </a:cxnLst>
              <a:rect l="0" t="0" r="0" b="0"/>
              <a:pathLst>
                <a:path w="521" h="2">
                  <a:moveTo>
                    <a:pt x="0" y="2"/>
                  </a:moveTo>
                  <a:lnTo>
                    <a:pt x="521" y="0"/>
                  </a:lnTo>
                </a:path>
              </a:pathLst>
            </a:custGeom>
            <a:noFill/>
            <a:ln w="114300" cap="flat" cmpd="sng">
              <a:solidFill>
                <a:srgbClr val="3366FF"/>
              </a:solidFill>
              <a:prstDash val="solid"/>
              <a:round/>
              <a:headEnd type="none" w="med" len="med"/>
              <a:tailEnd type="none" w="med" len="med"/>
            </a:ln>
          </p:spPr>
          <p:txBody>
            <a:bodyPr/>
            <a:lstStyle/>
            <a:p>
              <a:endParaRPr lang="zh-CN" altLang="en-US"/>
            </a:p>
          </p:txBody>
        </p:sp>
        <p:sp>
          <p:nvSpPr>
            <p:cNvPr id="35889" name="Freeform 54"/>
            <p:cNvSpPr/>
            <p:nvPr/>
          </p:nvSpPr>
          <p:spPr>
            <a:xfrm>
              <a:off x="4976" y="1888"/>
              <a:ext cx="313" cy="752"/>
            </a:xfrm>
            <a:custGeom>
              <a:avLst/>
              <a:gdLst/>
              <a:ahLst/>
              <a:cxnLst>
                <a:cxn ang="0">
                  <a:pos x="0" y="111"/>
                </a:cxn>
                <a:cxn ang="0">
                  <a:pos x="118" y="89"/>
                </a:cxn>
                <a:cxn ang="0">
                  <a:pos x="180" y="645"/>
                </a:cxn>
                <a:cxn ang="0">
                  <a:pos x="294" y="729"/>
                </a:cxn>
                <a:cxn ang="0">
                  <a:pos x="295" y="750"/>
                </a:cxn>
              </a:cxnLst>
              <a:rect l="0" t="0" r="0" b="0"/>
              <a:pathLst>
                <a:path w="313" h="752">
                  <a:moveTo>
                    <a:pt x="0" y="111"/>
                  </a:moveTo>
                  <a:cubicBezTo>
                    <a:pt x="19" y="107"/>
                    <a:pt x="88" y="0"/>
                    <a:pt x="118" y="89"/>
                  </a:cubicBezTo>
                  <a:cubicBezTo>
                    <a:pt x="148" y="178"/>
                    <a:pt x="151" y="538"/>
                    <a:pt x="180" y="645"/>
                  </a:cubicBezTo>
                  <a:cubicBezTo>
                    <a:pt x="209" y="752"/>
                    <a:pt x="275" y="711"/>
                    <a:pt x="294" y="729"/>
                  </a:cubicBezTo>
                  <a:cubicBezTo>
                    <a:pt x="313" y="747"/>
                    <a:pt x="295" y="746"/>
                    <a:pt x="295" y="750"/>
                  </a:cubicBezTo>
                </a:path>
              </a:pathLst>
            </a:custGeom>
            <a:noFill/>
            <a:ln w="57150" cap="flat" cmpd="sng">
              <a:solidFill>
                <a:srgbClr val="3366FF"/>
              </a:solidFill>
              <a:prstDash val="solid"/>
              <a:round/>
              <a:headEnd type="none" w="med" len="med"/>
              <a:tailEnd type="triangle" w="med" len="lg"/>
            </a:ln>
          </p:spPr>
          <p:txBody>
            <a:bodyPr/>
            <a:lstStyle/>
            <a:p>
              <a:endParaRPr lang="zh-CN" altLang="en-US"/>
            </a:p>
          </p:txBody>
        </p:sp>
      </p:grpSp>
      <p:sp>
        <p:nvSpPr>
          <p:cNvPr id="288823" name="Freeform 55"/>
          <p:cNvSpPr/>
          <p:nvPr/>
        </p:nvSpPr>
        <p:spPr>
          <a:xfrm>
            <a:off x="4692650" y="3629025"/>
            <a:ext cx="550863" cy="1301750"/>
          </a:xfrm>
          <a:custGeom>
            <a:avLst/>
            <a:gdLst/>
            <a:ahLst/>
            <a:cxnLst>
              <a:cxn ang="0">
                <a:pos x="0" y="2147483647"/>
              </a:cxn>
              <a:cxn ang="0">
                <a:pos x="2147483647" y="2147483647"/>
              </a:cxn>
              <a:cxn ang="0">
                <a:pos x="2147483647" y="2147483647"/>
              </a:cxn>
              <a:cxn ang="0">
                <a:pos x="2147483647" y="2147483647"/>
              </a:cxn>
            </a:cxnLst>
            <a:rect l="0" t="0" r="0" b="0"/>
            <a:pathLst>
              <a:path w="347" h="820">
                <a:moveTo>
                  <a:pt x="0" y="740"/>
                </a:moveTo>
                <a:cubicBezTo>
                  <a:pt x="16" y="736"/>
                  <a:pt x="55" y="820"/>
                  <a:pt x="91" y="714"/>
                </a:cubicBezTo>
                <a:cubicBezTo>
                  <a:pt x="127" y="608"/>
                  <a:pt x="176" y="204"/>
                  <a:pt x="219" y="102"/>
                </a:cubicBezTo>
                <a:cubicBezTo>
                  <a:pt x="262" y="0"/>
                  <a:pt x="326" y="102"/>
                  <a:pt x="347" y="102"/>
                </a:cubicBezTo>
              </a:path>
            </a:pathLst>
          </a:custGeom>
          <a:noFill/>
          <a:ln w="57150" cap="flat" cmpd="sng">
            <a:solidFill>
              <a:srgbClr val="3366FF"/>
            </a:solidFill>
            <a:prstDash val="solid"/>
            <a:round/>
            <a:headEnd type="none" w="med" len="med"/>
            <a:tailEnd type="triangle" w="med" len="lg"/>
          </a:ln>
        </p:spPr>
        <p:txBody>
          <a:bodyPr/>
          <a:lstStyle/>
          <a:p>
            <a:endParaRPr lang="zh-CN" altLang="en-US"/>
          </a:p>
        </p:txBody>
      </p:sp>
      <p:sp>
        <p:nvSpPr>
          <p:cNvPr id="288824" name="Text Box 56"/>
          <p:cNvSpPr txBox="1"/>
          <p:nvPr/>
        </p:nvSpPr>
        <p:spPr>
          <a:xfrm>
            <a:off x="1574800" y="1262063"/>
            <a:ext cx="2312988" cy="398462"/>
          </a:xfrm>
          <a:prstGeom prst="rect">
            <a:avLst/>
          </a:prstGeom>
          <a:noFill/>
          <a:ln w="25400">
            <a:noFill/>
          </a:ln>
        </p:spPr>
        <p:txBody>
          <a:bodyPr wrap="none" anchor="t" anchorCtr="0">
            <a:spAutoFit/>
          </a:bodyPr>
          <a:lstStyle/>
          <a:p>
            <a:pPr marL="342900" indent="-342900">
              <a:spcBef>
                <a:spcPct val="20000"/>
              </a:spcBef>
              <a:buClr>
                <a:srgbClr val="0000FF"/>
              </a:buClr>
              <a:buFont typeface="Wingdings" panose="05000000000000000000" pitchFamily="2" charset="2"/>
              <a:buChar char="p"/>
            </a:pPr>
            <a:r>
              <a:rPr lang="zh-CN" altLang="en-US" sz="2000" b="1" dirty="0">
                <a:latin typeface="Arial" panose="020B0604020202020204" pitchFamily="34" charset="0"/>
                <a:ea typeface="宋体" panose="02010600030101010101" pitchFamily="2" charset="-122"/>
              </a:rPr>
              <a:t>没有公共时钟；</a:t>
            </a:r>
          </a:p>
        </p:txBody>
      </p:sp>
      <p:sp>
        <p:nvSpPr>
          <p:cNvPr id="288825" name="Rectangle 57"/>
          <p:cNvSpPr/>
          <p:nvPr/>
        </p:nvSpPr>
        <p:spPr>
          <a:xfrm>
            <a:off x="1574800" y="1712913"/>
            <a:ext cx="4354513" cy="398462"/>
          </a:xfrm>
          <a:prstGeom prst="rect">
            <a:avLst/>
          </a:prstGeom>
          <a:noFill/>
          <a:ln w="25400">
            <a:noFill/>
          </a:ln>
        </p:spPr>
        <p:txBody>
          <a:bodyPr wrap="none" anchor="t" anchorCtr="0">
            <a:spAutoFit/>
          </a:bodyPr>
          <a:lstStyle/>
          <a:p>
            <a:pPr marL="342900" indent="-342900">
              <a:spcBef>
                <a:spcPct val="20000"/>
              </a:spcBef>
              <a:buClr>
                <a:srgbClr val="0000FF"/>
              </a:buClr>
              <a:buFont typeface="Wingdings" panose="05000000000000000000" pitchFamily="2" charset="2"/>
              <a:buChar char="p"/>
            </a:pPr>
            <a:r>
              <a:rPr lang="zh-CN" altLang="en-US" sz="2000" b="1" dirty="0">
                <a:latin typeface="Arial" panose="020B0604020202020204" pitchFamily="34" charset="0"/>
                <a:ea typeface="宋体" panose="02010600030101010101" pitchFamily="2" charset="-122"/>
              </a:rPr>
              <a:t>采用握手方式，即请求应答方式；</a:t>
            </a:r>
          </a:p>
        </p:txBody>
      </p:sp>
      <p:sp>
        <p:nvSpPr>
          <p:cNvPr id="288826" name="Text Box 58"/>
          <p:cNvSpPr txBox="1"/>
          <p:nvPr/>
        </p:nvSpPr>
        <p:spPr>
          <a:xfrm>
            <a:off x="1574800" y="2198688"/>
            <a:ext cx="4865688" cy="398462"/>
          </a:xfrm>
          <a:prstGeom prst="rect">
            <a:avLst/>
          </a:prstGeom>
          <a:noFill/>
          <a:ln w="25400">
            <a:noFill/>
          </a:ln>
        </p:spPr>
        <p:txBody>
          <a:bodyPr wrap="none" anchor="t" anchorCtr="0">
            <a:spAutoFit/>
          </a:bodyPr>
          <a:lstStyle/>
          <a:p>
            <a:pPr marL="342900" indent="-342900">
              <a:spcBef>
                <a:spcPct val="20000"/>
              </a:spcBef>
              <a:buClr>
                <a:srgbClr val="0000FF"/>
              </a:buClr>
              <a:buFont typeface="Wingdings" panose="05000000000000000000" pitchFamily="2" charset="2"/>
              <a:buChar char="p"/>
            </a:pPr>
            <a:r>
              <a:rPr lang="zh-CN" altLang="en-US" sz="2000" b="1" dirty="0">
                <a:latin typeface="Arial" panose="020B0604020202020204" pitchFamily="34" charset="0"/>
                <a:ea typeface="宋体" panose="02010600030101010101" pitchFamily="2" charset="-122"/>
              </a:rPr>
              <a:t>相互通信的设备其工作速度参差不齐。</a:t>
            </a:r>
          </a:p>
        </p:txBody>
      </p:sp>
      <p:grpSp>
        <p:nvGrpSpPr>
          <p:cNvPr id="288827" name="Group 59"/>
          <p:cNvGrpSpPr/>
          <p:nvPr/>
        </p:nvGrpSpPr>
        <p:grpSpPr>
          <a:xfrm>
            <a:off x="169863" y="3092450"/>
            <a:ext cx="1200150" cy="2243138"/>
            <a:chOff x="-53" y="2017"/>
            <a:chExt cx="756" cy="1413"/>
          </a:xfrm>
        </p:grpSpPr>
        <p:grpSp>
          <p:nvGrpSpPr>
            <p:cNvPr id="35895" name="Group 60"/>
            <p:cNvGrpSpPr/>
            <p:nvPr/>
          </p:nvGrpSpPr>
          <p:grpSpPr>
            <a:xfrm>
              <a:off x="-53" y="2017"/>
              <a:ext cx="756" cy="509"/>
              <a:chOff x="-53" y="2017"/>
              <a:chExt cx="756" cy="509"/>
            </a:xfrm>
          </p:grpSpPr>
          <p:sp>
            <p:nvSpPr>
              <p:cNvPr id="35896" name="Text Box 61"/>
              <p:cNvSpPr txBox="1"/>
              <p:nvPr/>
            </p:nvSpPr>
            <p:spPr>
              <a:xfrm>
                <a:off x="-53" y="2276"/>
                <a:ext cx="756" cy="250"/>
              </a:xfrm>
              <a:prstGeom prst="rect">
                <a:avLst/>
              </a:prstGeom>
              <a:noFill/>
              <a:ln w="25400">
                <a:noFill/>
              </a:ln>
            </p:spPr>
            <p:txBody>
              <a:bodyPr wrap="none" anchor="t" anchorCtr="0">
                <a:spAutoFit/>
              </a:bodyPr>
              <a:lstStyle/>
              <a:p>
                <a:pPr marL="342900" indent="-342900">
                  <a:spcBef>
                    <a:spcPct val="20000"/>
                  </a:spcBef>
                </a:pPr>
                <a:r>
                  <a:rPr lang="zh-CN" altLang="en-US" sz="2000" b="1" dirty="0">
                    <a:solidFill>
                      <a:srgbClr val="FF00FF"/>
                    </a:solidFill>
                    <a:latin typeface="Arial" panose="020B0604020202020204" pitchFamily="34" charset="0"/>
                    <a:ea typeface="宋体" panose="02010600030101010101" pitchFamily="2" charset="-122"/>
                  </a:rPr>
                  <a:t>请求信号</a:t>
                </a:r>
              </a:p>
            </p:txBody>
          </p:sp>
          <p:sp>
            <p:nvSpPr>
              <p:cNvPr id="35897" name="Text Box 62"/>
              <p:cNvSpPr txBox="1"/>
              <p:nvPr/>
            </p:nvSpPr>
            <p:spPr>
              <a:xfrm>
                <a:off x="-23" y="2017"/>
                <a:ext cx="668" cy="279"/>
              </a:xfrm>
              <a:prstGeom prst="rect">
                <a:avLst/>
              </a:prstGeom>
              <a:noFill/>
              <a:ln w="25400">
                <a:noFill/>
              </a:ln>
            </p:spPr>
            <p:txBody>
              <a:bodyPr wrap="none" anchor="t" anchorCtr="0">
                <a:spAutoFit/>
              </a:bodyPr>
              <a:lstStyle/>
              <a:p>
                <a:pPr marL="342900" indent="-342900">
                  <a:spcBef>
                    <a:spcPct val="20000"/>
                  </a:spcBef>
                </a:pPr>
                <a:r>
                  <a:rPr lang="zh-CN" altLang="en-US" sz="2300" b="1" dirty="0">
                    <a:solidFill>
                      <a:srgbClr val="FF00FF"/>
                    </a:solidFill>
                    <a:latin typeface="Arial" panose="020B0604020202020204" pitchFamily="34" charset="0"/>
                    <a:ea typeface="宋体" panose="02010600030101010101" pitchFamily="2" charset="-122"/>
                  </a:rPr>
                  <a:t>主设备</a:t>
                </a:r>
              </a:p>
            </p:txBody>
          </p:sp>
        </p:grpSp>
        <p:grpSp>
          <p:nvGrpSpPr>
            <p:cNvPr id="35898" name="Group 63"/>
            <p:cNvGrpSpPr/>
            <p:nvPr/>
          </p:nvGrpSpPr>
          <p:grpSpPr>
            <a:xfrm>
              <a:off x="-53" y="2921"/>
              <a:ext cx="756" cy="509"/>
              <a:chOff x="-53" y="2017"/>
              <a:chExt cx="756" cy="509"/>
            </a:xfrm>
          </p:grpSpPr>
          <p:sp>
            <p:nvSpPr>
              <p:cNvPr id="35899" name="Text Box 64"/>
              <p:cNvSpPr txBox="1"/>
              <p:nvPr/>
            </p:nvSpPr>
            <p:spPr>
              <a:xfrm>
                <a:off x="-53" y="2276"/>
                <a:ext cx="756" cy="250"/>
              </a:xfrm>
              <a:prstGeom prst="rect">
                <a:avLst/>
              </a:prstGeom>
              <a:noFill/>
              <a:ln w="25400">
                <a:noFill/>
              </a:ln>
            </p:spPr>
            <p:txBody>
              <a:bodyPr wrap="none" anchor="t" anchorCtr="0">
                <a:spAutoFit/>
              </a:bodyPr>
              <a:lstStyle/>
              <a:p>
                <a:pPr marL="342900" indent="-342900">
                  <a:spcBef>
                    <a:spcPct val="20000"/>
                  </a:spcBef>
                </a:pPr>
                <a:r>
                  <a:rPr lang="zh-CN" altLang="en-US" sz="2000" b="1" dirty="0">
                    <a:solidFill>
                      <a:srgbClr val="FF00FF"/>
                    </a:solidFill>
                    <a:latin typeface="Arial" panose="020B0604020202020204" pitchFamily="34" charset="0"/>
                    <a:ea typeface="宋体" panose="02010600030101010101" pitchFamily="2" charset="-122"/>
                  </a:rPr>
                  <a:t>回答信号</a:t>
                </a:r>
              </a:p>
            </p:txBody>
          </p:sp>
          <p:sp>
            <p:nvSpPr>
              <p:cNvPr id="35900" name="Text Box 65"/>
              <p:cNvSpPr txBox="1"/>
              <p:nvPr/>
            </p:nvSpPr>
            <p:spPr>
              <a:xfrm>
                <a:off x="-23" y="2017"/>
                <a:ext cx="668" cy="279"/>
              </a:xfrm>
              <a:prstGeom prst="rect">
                <a:avLst/>
              </a:prstGeom>
              <a:noFill/>
              <a:ln w="25400">
                <a:noFill/>
              </a:ln>
            </p:spPr>
            <p:txBody>
              <a:bodyPr wrap="none" anchor="t" anchorCtr="0">
                <a:spAutoFit/>
              </a:bodyPr>
              <a:lstStyle/>
              <a:p>
                <a:pPr marL="342900" indent="-342900">
                  <a:spcBef>
                    <a:spcPct val="20000"/>
                  </a:spcBef>
                </a:pPr>
                <a:r>
                  <a:rPr lang="zh-CN" altLang="en-US" sz="2300" b="1" dirty="0">
                    <a:solidFill>
                      <a:srgbClr val="FF00FF"/>
                    </a:solidFill>
                    <a:latin typeface="Arial" panose="020B0604020202020204" pitchFamily="34" charset="0"/>
                    <a:ea typeface="宋体" panose="02010600030101010101" pitchFamily="2" charset="-122"/>
                  </a:rPr>
                  <a:t>从设备</a:t>
                </a:r>
              </a:p>
            </p:txBody>
          </p:sp>
        </p:grpSp>
      </p:grpSp>
      <p:sp>
        <p:nvSpPr>
          <p:cNvPr id="288835" name="Text Box 67"/>
          <p:cNvSpPr txBox="1"/>
          <p:nvPr/>
        </p:nvSpPr>
        <p:spPr>
          <a:xfrm>
            <a:off x="1555750" y="1152525"/>
            <a:ext cx="357188" cy="476250"/>
          </a:xfrm>
          <a:prstGeom prst="rect">
            <a:avLst/>
          </a:prstGeom>
          <a:noFill/>
          <a:ln w="6350">
            <a:noFill/>
          </a:ln>
        </p:spPr>
        <p:txBody>
          <a:bodyPr wrap="none" anchor="t" anchorCtr="0">
            <a:spAutoFit/>
          </a:bodyPr>
          <a:lstStyle/>
          <a:p>
            <a:pPr marL="342900" indent="-342900" algn="ctr">
              <a:spcBef>
                <a:spcPct val="20000"/>
              </a:spcBef>
            </a:pPr>
            <a:r>
              <a:rPr lang="en-US" altLang="zh-CN" sz="2500" b="1" dirty="0">
                <a:solidFill>
                  <a:srgbClr val="0000FF"/>
                </a:solidFill>
                <a:latin typeface="Arial" panose="020B0604020202020204" pitchFamily="34" charset="0"/>
                <a:ea typeface="宋体" panose="02010600030101010101" pitchFamily="2" charset="-122"/>
              </a:rPr>
              <a:t>√</a:t>
            </a:r>
          </a:p>
        </p:txBody>
      </p:sp>
      <p:sp>
        <p:nvSpPr>
          <p:cNvPr id="288836" name="Text Box 68"/>
          <p:cNvSpPr txBox="1"/>
          <p:nvPr/>
        </p:nvSpPr>
        <p:spPr>
          <a:xfrm>
            <a:off x="1576388" y="1617663"/>
            <a:ext cx="357187" cy="476250"/>
          </a:xfrm>
          <a:prstGeom prst="rect">
            <a:avLst/>
          </a:prstGeom>
          <a:noFill/>
          <a:ln w="6350">
            <a:noFill/>
          </a:ln>
        </p:spPr>
        <p:txBody>
          <a:bodyPr wrap="none" anchor="t" anchorCtr="0">
            <a:spAutoFit/>
          </a:bodyPr>
          <a:lstStyle/>
          <a:p>
            <a:pPr marL="342900" indent="-342900" algn="ctr">
              <a:spcBef>
                <a:spcPct val="20000"/>
              </a:spcBef>
            </a:pPr>
            <a:r>
              <a:rPr lang="en-US" altLang="zh-CN" sz="2500" b="1" dirty="0">
                <a:solidFill>
                  <a:srgbClr val="0000FF"/>
                </a:solidFill>
                <a:latin typeface="Arial" panose="020B0604020202020204" pitchFamily="34" charset="0"/>
                <a:ea typeface="宋体" panose="02010600030101010101" pitchFamily="2" charset="-122"/>
              </a:rPr>
              <a:t>√</a:t>
            </a:r>
          </a:p>
        </p:txBody>
      </p:sp>
      <p:sp>
        <p:nvSpPr>
          <p:cNvPr id="288837" name="Text Box 69"/>
          <p:cNvSpPr txBox="1"/>
          <p:nvPr/>
        </p:nvSpPr>
        <p:spPr>
          <a:xfrm>
            <a:off x="1565275" y="2114550"/>
            <a:ext cx="357188" cy="476250"/>
          </a:xfrm>
          <a:prstGeom prst="rect">
            <a:avLst/>
          </a:prstGeom>
          <a:noFill/>
          <a:ln w="6350">
            <a:noFill/>
          </a:ln>
        </p:spPr>
        <p:txBody>
          <a:bodyPr wrap="none" anchor="t" anchorCtr="0">
            <a:spAutoFit/>
          </a:bodyPr>
          <a:lstStyle/>
          <a:p>
            <a:pPr marL="342900" indent="-342900" algn="ctr">
              <a:spcBef>
                <a:spcPct val="20000"/>
              </a:spcBef>
            </a:pPr>
            <a:r>
              <a:rPr lang="en-US" altLang="zh-CN" sz="2500" b="1" dirty="0">
                <a:solidFill>
                  <a:srgbClr val="0000FF"/>
                </a:solidFill>
                <a:latin typeface="Arial" panose="020B0604020202020204" pitchFamily="34" charset="0"/>
                <a:ea typeface="宋体" panose="02010600030101010101" pitchFamily="2" charset="-122"/>
              </a:rPr>
              <a:t>√</a:t>
            </a:r>
          </a:p>
        </p:txBody>
      </p:sp>
      <p:sp>
        <p:nvSpPr>
          <p:cNvPr id="288838" name="Rectangle 70"/>
          <p:cNvSpPr/>
          <p:nvPr/>
        </p:nvSpPr>
        <p:spPr>
          <a:xfrm>
            <a:off x="1585913" y="2173288"/>
            <a:ext cx="4603750" cy="409575"/>
          </a:xfrm>
          <a:prstGeom prst="rect">
            <a:avLst/>
          </a:prstGeom>
          <a:solidFill>
            <a:srgbClr val="808000">
              <a:alpha val="18039"/>
            </a:srgbClr>
          </a:solidFill>
          <a:ln w="6350" cap="flat" cmpd="sng">
            <a:solidFill>
              <a:srgbClr val="00FF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839" name="Rectangle 71"/>
          <p:cNvSpPr/>
          <p:nvPr/>
        </p:nvSpPr>
        <p:spPr>
          <a:xfrm>
            <a:off x="1585913" y="1701800"/>
            <a:ext cx="4603750" cy="409575"/>
          </a:xfrm>
          <a:prstGeom prst="rect">
            <a:avLst/>
          </a:prstGeom>
          <a:solidFill>
            <a:srgbClr val="808000">
              <a:alpha val="18039"/>
            </a:srgbClr>
          </a:solidFill>
          <a:ln w="6350" cap="flat" cmpd="sng">
            <a:solidFill>
              <a:srgbClr val="00FF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840" name="Rectangle 72"/>
          <p:cNvSpPr/>
          <p:nvPr/>
        </p:nvSpPr>
        <p:spPr>
          <a:xfrm>
            <a:off x="1585913" y="1246188"/>
            <a:ext cx="4603750" cy="409575"/>
          </a:xfrm>
          <a:prstGeom prst="rect">
            <a:avLst/>
          </a:prstGeom>
          <a:solidFill>
            <a:srgbClr val="808000">
              <a:alpha val="18039"/>
            </a:srgbClr>
          </a:solidFill>
          <a:ln w="6350" cap="flat" cmpd="sng">
            <a:solidFill>
              <a:srgbClr val="00FF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841" name="AutoShape 73"/>
          <p:cNvSpPr/>
          <p:nvPr/>
        </p:nvSpPr>
        <p:spPr>
          <a:xfrm>
            <a:off x="188913" y="1290638"/>
            <a:ext cx="1435100" cy="1260475"/>
          </a:xfrm>
          <a:custGeom>
            <a:avLst/>
            <a:gdLst/>
            <a:ahLst/>
            <a:cxnLst>
              <a:cxn ang="17694720">
                <a:pos x="2147483647" y="0"/>
              </a:cxn>
              <a:cxn ang="11796480">
                <a:pos x="0" y="2146177111"/>
              </a:cxn>
              <a:cxn ang="5898240">
                <a:pos x="2147483647" y="2147483647"/>
              </a:cxn>
              <a:cxn ang="0">
                <a:pos x="2147483647" y="2146177111"/>
              </a:cxn>
            </a:cxnLst>
            <a:rect l="0" t="0" r="0" b="0"/>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8000">
              <a:alpha val="76862"/>
            </a:srgbClr>
          </a:solidFill>
          <a:ln w="6350" cap="flat" cmpd="sng">
            <a:solidFill>
              <a:srgbClr val="FF6600"/>
            </a:solidFill>
            <a:prstDash val="solid"/>
            <a:miter/>
            <a:headEnd type="none" w="med" len="med"/>
            <a:tailEnd type="none" w="med" len="med"/>
          </a:ln>
        </p:spPr>
        <p:txBody>
          <a:bodyPr/>
          <a:lstStyle/>
          <a:p>
            <a:endParaRPr lang="zh-CN" altLang="en-US"/>
          </a:p>
        </p:txBody>
      </p:sp>
      <p:sp>
        <p:nvSpPr>
          <p:cNvPr id="288842" name="Text Box 74"/>
          <p:cNvSpPr txBox="1"/>
          <p:nvPr/>
        </p:nvSpPr>
        <p:spPr>
          <a:xfrm>
            <a:off x="455613" y="1676400"/>
            <a:ext cx="769937" cy="444500"/>
          </a:xfrm>
          <a:prstGeom prst="rect">
            <a:avLst/>
          </a:prstGeom>
          <a:noFill/>
          <a:ln w="25400">
            <a:noFill/>
          </a:ln>
        </p:spPr>
        <p:txBody>
          <a:bodyPr wrap="none" anchor="t" anchorCtr="0">
            <a:spAutoFit/>
          </a:bodyPr>
          <a:lstStyle/>
          <a:p>
            <a:pPr marL="342900" indent="-342900">
              <a:spcBef>
                <a:spcPct val="20000"/>
              </a:spcBef>
            </a:pPr>
            <a:r>
              <a:rPr lang="zh-CN" altLang="en-US" sz="2300" b="1" dirty="0">
                <a:solidFill>
                  <a:srgbClr val="FF3300"/>
                </a:solidFill>
                <a:latin typeface="Arial" panose="020B0604020202020204" pitchFamily="34" charset="0"/>
                <a:ea typeface="宋体" panose="02010600030101010101" pitchFamily="2" charset="-122"/>
              </a:rPr>
              <a:t>特点</a:t>
            </a:r>
          </a:p>
        </p:txBody>
      </p:sp>
      <p:sp>
        <p:nvSpPr>
          <p:cNvPr id="288843" name="AutoShape 75"/>
          <p:cNvSpPr/>
          <p:nvPr/>
        </p:nvSpPr>
        <p:spPr>
          <a:xfrm>
            <a:off x="4529138" y="5751513"/>
            <a:ext cx="2524125" cy="1182687"/>
          </a:xfrm>
          <a:prstGeom prst="irregularSeal1">
            <a:avLst/>
          </a:prstGeom>
          <a:solidFill>
            <a:srgbClr val="00FFFF"/>
          </a:solidFill>
          <a:ln w="6350" cap="flat" cmpd="sng">
            <a:solidFill>
              <a:srgbClr val="FFCC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88844" name="Text Box 76"/>
          <p:cNvSpPr txBox="1"/>
          <p:nvPr/>
        </p:nvSpPr>
        <p:spPr>
          <a:xfrm>
            <a:off x="4786313" y="6049963"/>
            <a:ext cx="2019300" cy="460375"/>
          </a:xfrm>
          <a:prstGeom prst="rect">
            <a:avLst/>
          </a:prstGeom>
          <a:noFill/>
          <a:ln w="6350">
            <a:noFill/>
          </a:ln>
        </p:spPr>
        <p:txBody>
          <a:bodyPr wrap="none" anchor="t" anchorCtr="0">
            <a:spAutoFit/>
          </a:bodyPr>
          <a:lstStyle/>
          <a:p>
            <a:pPr marL="342900" indent="-342900" algn="ctr">
              <a:spcBef>
                <a:spcPct val="20000"/>
              </a:spcBef>
            </a:pPr>
            <a:r>
              <a:rPr lang="zh-CN" altLang="en-US" sz="2400" b="1" dirty="0">
                <a:solidFill>
                  <a:srgbClr val="FF3300"/>
                </a:solidFill>
                <a:latin typeface="Arial" panose="020B0604020202020204" pitchFamily="34" charset="0"/>
                <a:ea typeface="宋体" panose="02010600030101010101" pitchFamily="2" charset="-122"/>
              </a:rPr>
              <a:t>信号的钳制！</a:t>
            </a:r>
          </a:p>
        </p:txBody>
      </p:sp>
      <p:sp>
        <p:nvSpPr>
          <p:cNvPr id="288845" name="AutoShape 77"/>
          <p:cNvSpPr/>
          <p:nvPr/>
        </p:nvSpPr>
        <p:spPr>
          <a:xfrm>
            <a:off x="2362200" y="304800"/>
            <a:ext cx="6819900" cy="493713"/>
          </a:xfrm>
          <a:prstGeom prst="wedgeRoundRectCallout">
            <a:avLst>
              <a:gd name="adj1" fmla="val -58801"/>
              <a:gd name="adj2" fmla="val 29102"/>
              <a:gd name="adj3" fmla="val 16667"/>
            </a:avLst>
          </a:prstGeom>
          <a:solidFill>
            <a:srgbClr val="3366FF"/>
          </a:solidFill>
          <a:ln w="6350">
            <a:noFill/>
          </a:ln>
        </p:spPr>
        <p:txBody>
          <a:bodyPr lIns="90000" tIns="46800" rIns="90000" bIns="46800" anchor="ctr" anchorCtr="0"/>
          <a:lstStyle/>
          <a:p>
            <a:pPr marL="342900" indent="-342900" algn="ctr">
              <a:spcBef>
                <a:spcPct val="20000"/>
              </a:spcBef>
              <a:buChar char="•"/>
            </a:pPr>
            <a:endParaRPr lang="zh-CN" altLang="zh-CN" sz="2000" b="1" dirty="0">
              <a:latin typeface="Arial" panose="020B0604020202020204" pitchFamily="34" charset="0"/>
              <a:ea typeface="宋体" panose="02010600030101010101" pitchFamily="2" charset="-122"/>
            </a:endParaRPr>
          </a:p>
        </p:txBody>
      </p:sp>
      <p:sp>
        <p:nvSpPr>
          <p:cNvPr id="288846" name="Text Box 78"/>
          <p:cNvSpPr txBox="1"/>
          <p:nvPr/>
        </p:nvSpPr>
        <p:spPr>
          <a:xfrm>
            <a:off x="2373313" y="258763"/>
            <a:ext cx="6894512" cy="354012"/>
          </a:xfrm>
          <a:prstGeom prst="rect">
            <a:avLst/>
          </a:prstGeom>
          <a:noFill/>
          <a:ln w="6350">
            <a:noFill/>
          </a:ln>
        </p:spPr>
        <p:txBody>
          <a:bodyPr wrap="none" lIns="90000" tIns="46800" rIns="90000" bIns="46800" anchor="t" anchorCtr="0">
            <a:spAutoFit/>
          </a:bodyPr>
          <a:lstStyle/>
          <a:p>
            <a:pPr marL="342900" indent="-342900" algn="ctr">
              <a:spcBef>
                <a:spcPct val="20000"/>
              </a:spcBef>
            </a:pPr>
            <a:r>
              <a:rPr lang="zh-CN" altLang="en-US" sz="1700" b="1" dirty="0">
                <a:solidFill>
                  <a:srgbClr val="F8F8F8"/>
                </a:solidFill>
                <a:latin typeface="Arial" panose="020B0604020202020204" pitchFamily="34" charset="0"/>
                <a:ea typeface="宋体" panose="02010600030101010101" pitchFamily="2" charset="-122"/>
              </a:rPr>
              <a:t>当主模块发出请求时（</a:t>
            </a:r>
            <a:r>
              <a:rPr lang="en-US" altLang="zh-CN" sz="1700" b="1" dirty="0">
                <a:solidFill>
                  <a:srgbClr val="F8F8F8"/>
                </a:solidFill>
                <a:latin typeface="Arial" panose="020B0604020202020204" pitchFamily="34" charset="0"/>
                <a:ea typeface="宋体" panose="02010600030101010101" pitchFamily="2" charset="-122"/>
              </a:rPr>
              <a:t>Request</a:t>
            </a:r>
            <a:r>
              <a:rPr lang="zh-CN" altLang="en-US" sz="1700" b="1" dirty="0">
                <a:solidFill>
                  <a:srgbClr val="F8F8F8"/>
                </a:solidFill>
                <a:latin typeface="Arial" panose="020B0604020202020204" pitchFamily="34" charset="0"/>
                <a:ea typeface="宋体" panose="02010600030101010101" pitchFamily="2" charset="-122"/>
              </a:rPr>
              <a:t>），一直等待从模块反馈回来“响应”</a:t>
            </a:r>
          </a:p>
        </p:txBody>
      </p:sp>
      <p:sp>
        <p:nvSpPr>
          <p:cNvPr id="288847" name="Rectangle 79"/>
          <p:cNvSpPr/>
          <p:nvPr/>
        </p:nvSpPr>
        <p:spPr>
          <a:xfrm>
            <a:off x="2686050" y="457200"/>
            <a:ext cx="4178300" cy="354013"/>
          </a:xfrm>
          <a:prstGeom prst="rect">
            <a:avLst/>
          </a:prstGeom>
          <a:noFill/>
          <a:ln w="6350">
            <a:noFill/>
          </a:ln>
        </p:spPr>
        <p:txBody>
          <a:bodyPr wrap="none" lIns="90000" tIns="46800" rIns="90000" bIns="46800" anchor="t" anchorCtr="0">
            <a:spAutoFit/>
          </a:bodyPr>
          <a:lstStyle/>
          <a:p>
            <a:pPr marL="342900" indent="-342900" algn="ctr">
              <a:spcBef>
                <a:spcPct val="20000"/>
              </a:spcBef>
            </a:pPr>
            <a:r>
              <a:rPr lang="zh-CN" altLang="en-US" sz="1700" b="1" dirty="0">
                <a:solidFill>
                  <a:srgbClr val="F8F8F8"/>
                </a:solidFill>
                <a:latin typeface="Arial" panose="020B0604020202020204" pitchFamily="34" charset="0"/>
                <a:ea typeface="宋体" panose="02010600030101010101" pitchFamily="2" charset="-122"/>
              </a:rPr>
              <a:t>（</a:t>
            </a:r>
            <a:r>
              <a:rPr lang="en-US" altLang="zh-CN" sz="1700" b="1" dirty="0">
                <a:solidFill>
                  <a:srgbClr val="F8F8F8"/>
                </a:solidFill>
                <a:latin typeface="Arial" panose="020B0604020202020204" pitchFamily="34" charset="0"/>
                <a:ea typeface="宋体" panose="02010600030101010101" pitchFamily="2" charset="-122"/>
              </a:rPr>
              <a:t>Acknowledge</a:t>
            </a:r>
            <a:r>
              <a:rPr lang="zh-CN" altLang="en-US" sz="1700" b="1" dirty="0">
                <a:solidFill>
                  <a:srgbClr val="F8F8F8"/>
                </a:solidFill>
                <a:latin typeface="Arial" panose="020B0604020202020204" pitchFamily="34" charset="0"/>
                <a:ea typeface="宋体" panose="02010600030101010101" pitchFamily="2" charset="-122"/>
              </a:rPr>
              <a:t>）信号后，才开始通信。</a:t>
            </a:r>
          </a:p>
        </p:txBody>
      </p:sp>
      <p:sp>
        <p:nvSpPr>
          <p:cNvPr id="288848" name="AutoShape 80"/>
          <p:cNvSpPr/>
          <p:nvPr/>
        </p:nvSpPr>
        <p:spPr>
          <a:xfrm>
            <a:off x="261938" y="2819400"/>
            <a:ext cx="8678862" cy="392113"/>
          </a:xfrm>
          <a:prstGeom prst="wedgeRoundRectCallout">
            <a:avLst>
              <a:gd name="adj1" fmla="val -43852"/>
              <a:gd name="adj2" fmla="val -224898"/>
              <a:gd name="adj3" fmla="val 16667"/>
            </a:avLst>
          </a:prstGeom>
          <a:solidFill>
            <a:srgbClr val="3366FF"/>
          </a:solidFill>
          <a:ln w="6350">
            <a:noFill/>
          </a:ln>
        </p:spPr>
        <p:txBody>
          <a:bodyPr lIns="90000" tIns="46800" rIns="90000" bIns="46800" anchor="ctr" anchorCtr="0"/>
          <a:lstStyle/>
          <a:p>
            <a:pPr marL="342900" indent="-342900" algn="ctr">
              <a:spcBef>
                <a:spcPct val="20000"/>
              </a:spcBef>
              <a:buChar char="•"/>
            </a:pPr>
            <a:endParaRPr lang="zh-CN" altLang="zh-CN" sz="2000" b="1" dirty="0">
              <a:latin typeface="Arial" panose="020B0604020202020204" pitchFamily="34" charset="0"/>
              <a:ea typeface="宋体" panose="02010600030101010101" pitchFamily="2" charset="-122"/>
            </a:endParaRPr>
          </a:p>
        </p:txBody>
      </p:sp>
      <p:sp>
        <p:nvSpPr>
          <p:cNvPr id="288849" name="Rectangle 81"/>
          <p:cNvSpPr/>
          <p:nvPr/>
        </p:nvSpPr>
        <p:spPr>
          <a:xfrm>
            <a:off x="519113" y="2705100"/>
            <a:ext cx="8458200" cy="584200"/>
          </a:xfrm>
          <a:prstGeom prst="rect">
            <a:avLst/>
          </a:prstGeom>
          <a:noFill/>
          <a:ln w="6350">
            <a:noFill/>
          </a:ln>
        </p:spPr>
        <p:txBody>
          <a:bodyPr wrap="none" lIns="90000" tIns="46800" rIns="90000" bIns="46800" anchor="t" anchorCtr="0">
            <a:spAutoFit/>
          </a:bodyPr>
          <a:lstStyle/>
          <a:p>
            <a:pPr marL="342900" indent="-342900" algn="ctr">
              <a:spcBef>
                <a:spcPct val="20000"/>
              </a:spcBef>
            </a:pPr>
            <a:r>
              <a:rPr lang="zh-CN" altLang="en-US" sz="3200" b="1" dirty="0">
                <a:solidFill>
                  <a:srgbClr val="F8F8F8"/>
                </a:solidFill>
                <a:latin typeface="Arial" panose="020B0604020202020204" pitchFamily="34" charset="0"/>
                <a:ea typeface="宋体" panose="02010600030101010101" pitchFamily="2" charset="-122"/>
              </a:rPr>
              <a:t>为</a:t>
            </a:r>
            <a:r>
              <a:rPr lang="zh-CN" altLang="en-US" b="1" dirty="0">
                <a:solidFill>
                  <a:srgbClr val="F8F8F8"/>
                </a:solidFill>
                <a:latin typeface="Arial" panose="020B0604020202020204" pitchFamily="34" charset="0"/>
                <a:ea typeface="宋体" panose="02010600030101010101" pitchFamily="2" charset="-122"/>
              </a:rPr>
              <a:t>此，需要主、从模块之间增加两条应答线（握即手交互信号线</a:t>
            </a:r>
            <a:r>
              <a:rPr lang="en-US" altLang="zh-CN" b="1" dirty="0">
                <a:solidFill>
                  <a:srgbClr val="F8F8F8"/>
                </a:solidFill>
                <a:latin typeface="Arial" panose="020B0604020202020204" pitchFamily="34" charset="0"/>
                <a:ea typeface="宋体" panose="02010600030101010101" pitchFamily="2" charset="-122"/>
              </a:rPr>
              <a:t>Handshaking</a:t>
            </a:r>
            <a:r>
              <a:rPr lang="zh-CN" altLang="en-US" b="1" dirty="0">
                <a:solidFill>
                  <a:srgbClr val="F8F8F8"/>
                </a:solidFill>
                <a:latin typeface="Arial" panose="020B0604020202020204" pitchFamily="34" charset="0"/>
                <a:ea typeface="宋体" panose="02010600030101010101" pitchFamily="2" charset="-122"/>
              </a:rPr>
              <a:t>）</a:t>
            </a:r>
          </a:p>
        </p:txBody>
      </p:sp>
      <p:sp>
        <p:nvSpPr>
          <p:cNvPr id="35916" name="Rectangle 4"/>
          <p:cNvSpPr/>
          <p:nvPr/>
        </p:nvSpPr>
        <p:spPr>
          <a:xfrm>
            <a:off x="34925" y="152400"/>
            <a:ext cx="2735263" cy="647700"/>
          </a:xfrm>
          <a:prstGeom prst="rect">
            <a:avLst/>
          </a:prstGeom>
          <a:noFill/>
          <a:ln w="9525">
            <a:noFill/>
          </a:ln>
        </p:spPr>
        <p:txBody>
          <a:bodyPr anchor="t" anchorCtr="0"/>
          <a:lstStyle/>
          <a:p>
            <a:pPr marL="342900" indent="-342900" eaLnBrk="0" hangingPunct="0">
              <a:lnSpc>
                <a:spcPct val="140000"/>
              </a:lnSpc>
              <a:buClr>
                <a:schemeClr val="tx2"/>
              </a:buClr>
              <a:buSzPct val="90000"/>
              <a:buFont typeface="Monotype Sorts" pitchFamily="2" charset="2"/>
            </a:pPr>
            <a:r>
              <a:rPr lang="zh-CN" altLang="en-US" sz="2800" b="1" dirty="0">
                <a:latin typeface="Times New Roman" panose="02020603050405020304" pitchFamily="18" charset="0"/>
                <a:ea typeface="宋体" panose="02010600030101010101" pitchFamily="2" charset="-122"/>
              </a:rPr>
              <a:t>异步双边控制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88777"/>
                                        </p:tgtEl>
                                        <p:attrNameLst>
                                          <p:attrName>style.visibility</p:attrName>
                                        </p:attrNameLst>
                                      </p:cBhvr>
                                      <p:to>
                                        <p:strVal val="visible"/>
                                      </p:to>
                                    </p:set>
                                    <p:anim calcmode="lin" valueType="num">
                                      <p:cBhvr>
                                        <p:cTn id="7" dur="2000" fill="hold"/>
                                        <p:tgtEl>
                                          <p:spTgt spid="288777"/>
                                        </p:tgtEl>
                                        <p:attrNameLst>
                                          <p:attrName>ppt_w</p:attrName>
                                        </p:attrNameLst>
                                      </p:cBhvr>
                                      <p:tavLst>
                                        <p:tav tm="0">
                                          <p:val>
                                            <p:fltVal val="0"/>
                                          </p:val>
                                        </p:tav>
                                        <p:tav tm="100000">
                                          <p:val>
                                            <p:strVal val="#ppt_w"/>
                                          </p:val>
                                        </p:tav>
                                      </p:tavLst>
                                    </p:anim>
                                    <p:anim calcmode="lin" valueType="num">
                                      <p:cBhvr>
                                        <p:cTn id="8" dur="2000" fill="hold"/>
                                        <p:tgtEl>
                                          <p:spTgt spid="288777"/>
                                        </p:tgtEl>
                                        <p:attrNameLst>
                                          <p:attrName>ppt_h</p:attrName>
                                        </p:attrNameLst>
                                      </p:cBhvr>
                                      <p:tavLst>
                                        <p:tav tm="0">
                                          <p:val>
                                            <p:fltVal val="0"/>
                                          </p:val>
                                        </p:tav>
                                        <p:tav tm="100000">
                                          <p:val>
                                            <p:strVal val="#ppt_h"/>
                                          </p:val>
                                        </p:tav>
                                      </p:tavLst>
                                    </p:anim>
                                    <p:animEffect transition="in" filter="fade">
                                      <p:cBhvr>
                                        <p:cTn id="9" dur="2000"/>
                                        <p:tgtEl>
                                          <p:spTgt spid="288777"/>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88824"/>
                                        </p:tgtEl>
                                        <p:attrNameLst>
                                          <p:attrName>style.visibility</p:attrName>
                                        </p:attrNameLst>
                                      </p:cBhvr>
                                      <p:to>
                                        <p:strVal val="visible"/>
                                      </p:to>
                                    </p:set>
                                    <p:animEffect transition="in" filter="wipe(left)">
                                      <p:cBhvr>
                                        <p:cTn id="14" dur="1000"/>
                                        <p:tgtEl>
                                          <p:spTgt spid="28882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88825"/>
                                        </p:tgtEl>
                                        <p:attrNameLst>
                                          <p:attrName>style.visibility</p:attrName>
                                        </p:attrNameLst>
                                      </p:cBhvr>
                                      <p:to>
                                        <p:strVal val="visible"/>
                                      </p:to>
                                    </p:set>
                                    <p:animEffect transition="in" filter="wipe(left)">
                                      <p:cBhvr>
                                        <p:cTn id="17" dur="1000"/>
                                        <p:tgtEl>
                                          <p:spTgt spid="28882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88826"/>
                                        </p:tgtEl>
                                        <p:attrNameLst>
                                          <p:attrName>style.visibility</p:attrName>
                                        </p:attrNameLst>
                                      </p:cBhvr>
                                      <p:to>
                                        <p:strVal val="visible"/>
                                      </p:to>
                                    </p:set>
                                    <p:animEffect transition="in" filter="wipe(left)">
                                      <p:cBhvr>
                                        <p:cTn id="20" dur="1000"/>
                                        <p:tgtEl>
                                          <p:spTgt spid="288826"/>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88835"/>
                                        </p:tgtEl>
                                        <p:attrNameLst>
                                          <p:attrName>style.visibility</p:attrName>
                                        </p:attrNameLst>
                                      </p:cBhvr>
                                      <p:to>
                                        <p:strVal val="visible"/>
                                      </p:to>
                                    </p:set>
                                    <p:animEffect transition="in" filter="wipe(left)">
                                      <p:cBhvr>
                                        <p:cTn id="23" dur="1000"/>
                                        <p:tgtEl>
                                          <p:spTgt spid="288835"/>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88836"/>
                                        </p:tgtEl>
                                        <p:attrNameLst>
                                          <p:attrName>style.visibility</p:attrName>
                                        </p:attrNameLst>
                                      </p:cBhvr>
                                      <p:to>
                                        <p:strVal val="visible"/>
                                      </p:to>
                                    </p:set>
                                    <p:animEffect transition="in" filter="wipe(left)">
                                      <p:cBhvr>
                                        <p:cTn id="26" dur="1000"/>
                                        <p:tgtEl>
                                          <p:spTgt spid="288836"/>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88837"/>
                                        </p:tgtEl>
                                        <p:attrNameLst>
                                          <p:attrName>style.visibility</p:attrName>
                                        </p:attrNameLst>
                                      </p:cBhvr>
                                      <p:to>
                                        <p:strVal val="visible"/>
                                      </p:to>
                                    </p:set>
                                    <p:animEffect transition="in" filter="wipe(left)">
                                      <p:cBhvr>
                                        <p:cTn id="29" dur="1000"/>
                                        <p:tgtEl>
                                          <p:spTgt spid="288837"/>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88838"/>
                                        </p:tgtEl>
                                        <p:attrNameLst>
                                          <p:attrName>style.visibility</p:attrName>
                                        </p:attrNameLst>
                                      </p:cBhvr>
                                      <p:to>
                                        <p:strVal val="visible"/>
                                      </p:to>
                                    </p:set>
                                    <p:animEffect transition="in" filter="wipe(left)">
                                      <p:cBhvr>
                                        <p:cTn id="32" dur="1000"/>
                                        <p:tgtEl>
                                          <p:spTgt spid="288838"/>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88839"/>
                                        </p:tgtEl>
                                        <p:attrNameLst>
                                          <p:attrName>style.visibility</p:attrName>
                                        </p:attrNameLst>
                                      </p:cBhvr>
                                      <p:to>
                                        <p:strVal val="visible"/>
                                      </p:to>
                                    </p:set>
                                    <p:animEffect transition="in" filter="wipe(left)">
                                      <p:cBhvr>
                                        <p:cTn id="35" dur="1000"/>
                                        <p:tgtEl>
                                          <p:spTgt spid="288839"/>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88840"/>
                                        </p:tgtEl>
                                        <p:attrNameLst>
                                          <p:attrName>style.visibility</p:attrName>
                                        </p:attrNameLst>
                                      </p:cBhvr>
                                      <p:to>
                                        <p:strVal val="visible"/>
                                      </p:to>
                                    </p:set>
                                    <p:animEffect transition="in" filter="wipe(left)">
                                      <p:cBhvr>
                                        <p:cTn id="38" dur="1000"/>
                                        <p:tgtEl>
                                          <p:spTgt spid="288840"/>
                                        </p:tgtEl>
                                      </p:cBhvr>
                                    </p:animEffect>
                                  </p:childTnLst>
                                </p:cTn>
                              </p:par>
                              <p:par>
                                <p:cTn id="39" presetID="22" presetClass="entr" presetSubtype="8" fill="hold" nodeType="withEffect">
                                  <p:stCondLst>
                                    <p:cond delay="0"/>
                                  </p:stCondLst>
                                  <p:childTnLst>
                                    <p:set>
                                      <p:cBhvr>
                                        <p:cTn id="40" dur="1" fill="hold">
                                          <p:stCondLst>
                                            <p:cond delay="0"/>
                                          </p:stCondLst>
                                        </p:cTn>
                                        <p:tgtEl>
                                          <p:spTgt spid="288841"/>
                                        </p:tgtEl>
                                        <p:attrNameLst>
                                          <p:attrName>style.visibility</p:attrName>
                                        </p:attrNameLst>
                                      </p:cBhvr>
                                      <p:to>
                                        <p:strVal val="visible"/>
                                      </p:to>
                                    </p:set>
                                    <p:animEffect transition="in" filter="wipe(left)">
                                      <p:cBhvr>
                                        <p:cTn id="41" dur="1000"/>
                                        <p:tgtEl>
                                          <p:spTgt spid="288841"/>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88842"/>
                                        </p:tgtEl>
                                        <p:attrNameLst>
                                          <p:attrName>style.visibility</p:attrName>
                                        </p:attrNameLst>
                                      </p:cBhvr>
                                      <p:to>
                                        <p:strVal val="visible"/>
                                      </p:to>
                                    </p:set>
                                    <p:animEffect transition="in" filter="wipe(left)">
                                      <p:cBhvr>
                                        <p:cTn id="44" dur="1000"/>
                                        <p:tgtEl>
                                          <p:spTgt spid="28884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88846"/>
                                        </p:tgtEl>
                                        <p:attrNameLst>
                                          <p:attrName>style.visibility</p:attrName>
                                        </p:attrNameLst>
                                      </p:cBhvr>
                                      <p:to>
                                        <p:strVal val="visible"/>
                                      </p:to>
                                    </p:set>
                                    <p:animEffect transition="in" filter="wipe(left)">
                                      <p:cBhvr>
                                        <p:cTn id="49" dur="1000"/>
                                        <p:tgtEl>
                                          <p:spTgt spid="288846"/>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88845"/>
                                        </p:tgtEl>
                                        <p:attrNameLst>
                                          <p:attrName>style.visibility</p:attrName>
                                        </p:attrNameLst>
                                      </p:cBhvr>
                                      <p:to>
                                        <p:strVal val="visible"/>
                                      </p:to>
                                    </p:set>
                                    <p:animEffect transition="in" filter="wipe(left)">
                                      <p:cBhvr>
                                        <p:cTn id="52" dur="1000"/>
                                        <p:tgtEl>
                                          <p:spTgt spid="288845"/>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88847"/>
                                        </p:tgtEl>
                                        <p:attrNameLst>
                                          <p:attrName>style.visibility</p:attrName>
                                        </p:attrNameLst>
                                      </p:cBhvr>
                                      <p:to>
                                        <p:strVal val="visible"/>
                                      </p:to>
                                    </p:set>
                                    <p:animEffect transition="in" filter="wipe(left)">
                                      <p:cBhvr>
                                        <p:cTn id="55" dur="1000"/>
                                        <p:tgtEl>
                                          <p:spTgt spid="28884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288848"/>
                                        </p:tgtEl>
                                        <p:attrNameLst>
                                          <p:attrName>style.visibility</p:attrName>
                                        </p:attrNameLst>
                                      </p:cBhvr>
                                      <p:to>
                                        <p:strVal val="visible"/>
                                      </p:to>
                                    </p:set>
                                    <p:animEffect transition="in" filter="wipe(up)">
                                      <p:cBhvr>
                                        <p:cTn id="60" dur="1000"/>
                                        <p:tgtEl>
                                          <p:spTgt spid="288848"/>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288849"/>
                                        </p:tgtEl>
                                        <p:attrNameLst>
                                          <p:attrName>style.visibility</p:attrName>
                                        </p:attrNameLst>
                                      </p:cBhvr>
                                      <p:to>
                                        <p:strVal val="visible"/>
                                      </p:to>
                                    </p:set>
                                    <p:animEffect transition="in" filter="wipe(up)">
                                      <p:cBhvr>
                                        <p:cTn id="63" dur="1000"/>
                                        <p:tgtEl>
                                          <p:spTgt spid="288849"/>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6" fill="hold" grpId="0" nodeType="clickEffect">
                                  <p:stCondLst>
                                    <p:cond delay="0"/>
                                  </p:stCondLst>
                                  <p:childTnLst>
                                    <p:set>
                                      <p:cBhvr>
                                        <p:cTn id="67" dur="1" fill="hold">
                                          <p:stCondLst>
                                            <p:cond delay="0"/>
                                          </p:stCondLst>
                                        </p:cTn>
                                        <p:tgtEl>
                                          <p:spTgt spid="288772"/>
                                        </p:tgtEl>
                                        <p:attrNameLst>
                                          <p:attrName>style.visibility</p:attrName>
                                        </p:attrNameLst>
                                      </p:cBhvr>
                                      <p:to>
                                        <p:strVal val="visible"/>
                                      </p:to>
                                    </p:set>
                                    <p:animEffect transition="in" filter="barn(inHorizontal)">
                                      <p:cBhvr>
                                        <p:cTn id="68" dur="1000"/>
                                        <p:tgtEl>
                                          <p:spTgt spid="288772"/>
                                        </p:tgtEl>
                                      </p:cBhvr>
                                    </p:animEffect>
                                  </p:childTnLst>
                                </p:cTn>
                              </p:par>
                              <p:par>
                                <p:cTn id="69" presetID="16" presetClass="entr" presetSubtype="26" fill="hold" grpId="0" nodeType="withEffect">
                                  <p:stCondLst>
                                    <p:cond delay="0"/>
                                  </p:stCondLst>
                                  <p:childTnLst>
                                    <p:set>
                                      <p:cBhvr>
                                        <p:cTn id="70" dur="1" fill="hold">
                                          <p:stCondLst>
                                            <p:cond delay="0"/>
                                          </p:stCondLst>
                                        </p:cTn>
                                        <p:tgtEl>
                                          <p:spTgt spid="288773"/>
                                        </p:tgtEl>
                                        <p:attrNameLst>
                                          <p:attrName>style.visibility</p:attrName>
                                        </p:attrNameLst>
                                      </p:cBhvr>
                                      <p:to>
                                        <p:strVal val="visible"/>
                                      </p:to>
                                    </p:set>
                                    <p:animEffect transition="in" filter="barn(inHorizontal)">
                                      <p:cBhvr>
                                        <p:cTn id="71" dur="1000"/>
                                        <p:tgtEl>
                                          <p:spTgt spid="288773"/>
                                        </p:tgtEl>
                                      </p:cBhvr>
                                    </p:animEffect>
                                  </p:childTnLst>
                                </p:cTn>
                              </p:par>
                              <p:par>
                                <p:cTn id="72" presetID="16" presetClass="entr" presetSubtype="26" fill="hold" grpId="0" nodeType="withEffect">
                                  <p:stCondLst>
                                    <p:cond delay="0"/>
                                  </p:stCondLst>
                                  <p:childTnLst>
                                    <p:set>
                                      <p:cBhvr>
                                        <p:cTn id="73" dur="1" fill="hold">
                                          <p:stCondLst>
                                            <p:cond delay="0"/>
                                          </p:stCondLst>
                                        </p:cTn>
                                        <p:tgtEl>
                                          <p:spTgt spid="288774"/>
                                        </p:tgtEl>
                                        <p:attrNameLst>
                                          <p:attrName>style.visibility</p:attrName>
                                        </p:attrNameLst>
                                      </p:cBhvr>
                                      <p:to>
                                        <p:strVal val="visible"/>
                                      </p:to>
                                    </p:set>
                                    <p:animEffect transition="in" filter="barn(inHorizontal)">
                                      <p:cBhvr>
                                        <p:cTn id="74" dur="1000"/>
                                        <p:tgtEl>
                                          <p:spTgt spid="288774"/>
                                        </p:tgtEl>
                                      </p:cBhvr>
                                    </p:animEffect>
                                  </p:childTnLst>
                                </p:cTn>
                              </p:par>
                            </p:childTnLst>
                          </p:cTn>
                        </p:par>
                      </p:childTnLst>
                    </p:cTn>
                  </p:par>
                  <p:par>
                    <p:cTn id="75" fill="hold">
                      <p:stCondLst>
                        <p:cond delay="indefinite"/>
                      </p:stCondLst>
                      <p:childTnLst>
                        <p:par>
                          <p:cTn id="76" fill="hold">
                            <p:stCondLst>
                              <p:cond delay="0"/>
                            </p:stCondLst>
                            <p:childTnLst>
                              <p:par>
                                <p:cTn id="77" presetID="17" presetClass="entr" presetSubtype="1" fill="hold" nodeType="clickEffect">
                                  <p:stCondLst>
                                    <p:cond delay="0"/>
                                  </p:stCondLst>
                                  <p:childTnLst>
                                    <p:set>
                                      <p:cBhvr>
                                        <p:cTn id="78" dur="1" fill="hold">
                                          <p:stCondLst>
                                            <p:cond delay="0"/>
                                          </p:stCondLst>
                                        </p:cTn>
                                        <p:tgtEl>
                                          <p:spTgt spid="288827"/>
                                        </p:tgtEl>
                                        <p:attrNameLst>
                                          <p:attrName>style.visibility</p:attrName>
                                        </p:attrNameLst>
                                      </p:cBhvr>
                                      <p:to>
                                        <p:strVal val="visible"/>
                                      </p:to>
                                    </p:set>
                                    <p:anim calcmode="lin" valueType="num">
                                      <p:cBhvr>
                                        <p:cTn id="79" dur="1000" fill="hold"/>
                                        <p:tgtEl>
                                          <p:spTgt spid="288827"/>
                                        </p:tgtEl>
                                        <p:attrNameLst>
                                          <p:attrName>ppt_x</p:attrName>
                                        </p:attrNameLst>
                                      </p:cBhvr>
                                      <p:tavLst>
                                        <p:tav tm="0">
                                          <p:val>
                                            <p:strVal val="#ppt_x"/>
                                          </p:val>
                                        </p:tav>
                                        <p:tav tm="100000">
                                          <p:val>
                                            <p:strVal val="#ppt_x"/>
                                          </p:val>
                                        </p:tav>
                                      </p:tavLst>
                                    </p:anim>
                                    <p:anim calcmode="lin" valueType="num">
                                      <p:cBhvr>
                                        <p:cTn id="80" dur="1000" fill="hold"/>
                                        <p:tgtEl>
                                          <p:spTgt spid="288827"/>
                                        </p:tgtEl>
                                        <p:attrNameLst>
                                          <p:attrName>ppt_y</p:attrName>
                                        </p:attrNameLst>
                                      </p:cBhvr>
                                      <p:tavLst>
                                        <p:tav tm="0">
                                          <p:val>
                                            <p:strVal val="#ppt_y-#ppt_h/2"/>
                                          </p:val>
                                        </p:tav>
                                        <p:tav tm="100000">
                                          <p:val>
                                            <p:strVal val="#ppt_y"/>
                                          </p:val>
                                        </p:tav>
                                      </p:tavLst>
                                    </p:anim>
                                    <p:anim calcmode="lin" valueType="num">
                                      <p:cBhvr>
                                        <p:cTn id="81" dur="1000" fill="hold"/>
                                        <p:tgtEl>
                                          <p:spTgt spid="288827"/>
                                        </p:tgtEl>
                                        <p:attrNameLst>
                                          <p:attrName>ppt_w</p:attrName>
                                        </p:attrNameLst>
                                      </p:cBhvr>
                                      <p:tavLst>
                                        <p:tav tm="0">
                                          <p:val>
                                            <p:strVal val="#ppt_w"/>
                                          </p:val>
                                        </p:tav>
                                        <p:tav tm="100000">
                                          <p:val>
                                            <p:strVal val="#ppt_w"/>
                                          </p:val>
                                        </p:tav>
                                      </p:tavLst>
                                    </p:anim>
                                    <p:anim calcmode="lin" valueType="num">
                                      <p:cBhvr>
                                        <p:cTn id="82" dur="1000" fill="hold"/>
                                        <p:tgtEl>
                                          <p:spTgt spid="288827"/>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88778"/>
                                        </p:tgtEl>
                                        <p:attrNameLst>
                                          <p:attrName>style.visibility</p:attrName>
                                        </p:attrNameLst>
                                      </p:cBhvr>
                                      <p:to>
                                        <p:strVal val="visible"/>
                                      </p:to>
                                    </p:set>
                                    <p:animEffect transition="in" filter="blinds(horizontal)">
                                      <p:cBhvr>
                                        <p:cTn id="87" dur="1000"/>
                                        <p:tgtEl>
                                          <p:spTgt spid="288778"/>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8" fill="hold" nodeType="clickEffect">
                                  <p:stCondLst>
                                    <p:cond delay="0"/>
                                  </p:stCondLst>
                                  <p:childTnLst>
                                    <p:set>
                                      <p:cBhvr>
                                        <p:cTn id="91" dur="1" fill="hold">
                                          <p:stCondLst>
                                            <p:cond delay="0"/>
                                          </p:stCondLst>
                                        </p:cTn>
                                        <p:tgtEl>
                                          <p:spTgt spid="288796"/>
                                        </p:tgtEl>
                                        <p:attrNameLst>
                                          <p:attrName>style.visibility</p:attrName>
                                        </p:attrNameLst>
                                      </p:cBhvr>
                                      <p:to>
                                        <p:strVal val="visible"/>
                                      </p:to>
                                    </p:set>
                                    <p:animEffect transition="in" filter="slide(fromLeft)">
                                      <p:cBhvr>
                                        <p:cTn id="92" dur="2000"/>
                                        <p:tgtEl>
                                          <p:spTgt spid="288796"/>
                                        </p:tgtEl>
                                      </p:cBhvr>
                                    </p:animEffect>
                                  </p:childTnLst>
                                </p:cTn>
                              </p:par>
                            </p:childTnLst>
                          </p:cTn>
                        </p:par>
                        <p:par>
                          <p:cTn id="93" fill="hold">
                            <p:stCondLst>
                              <p:cond delay="2000"/>
                            </p:stCondLst>
                            <p:childTnLst>
                              <p:par>
                                <p:cTn id="94" presetID="18" presetClass="entr" presetSubtype="9" fill="hold" nodeType="afterEffect">
                                  <p:stCondLst>
                                    <p:cond delay="0"/>
                                  </p:stCondLst>
                                  <p:childTnLst>
                                    <p:set>
                                      <p:cBhvr>
                                        <p:cTn id="95" dur="1" fill="hold">
                                          <p:stCondLst>
                                            <p:cond delay="0"/>
                                          </p:stCondLst>
                                        </p:cTn>
                                        <p:tgtEl>
                                          <p:spTgt spid="288781"/>
                                        </p:tgtEl>
                                        <p:attrNameLst>
                                          <p:attrName>style.visibility</p:attrName>
                                        </p:attrNameLst>
                                      </p:cBhvr>
                                      <p:to>
                                        <p:strVal val="visible"/>
                                      </p:to>
                                    </p:set>
                                    <p:animEffect transition="in" filter="strips(upLeft)">
                                      <p:cBhvr>
                                        <p:cTn id="96" dur="2000"/>
                                        <p:tgtEl>
                                          <p:spTgt spid="288781"/>
                                        </p:tgtEl>
                                      </p:cBhvr>
                                    </p:animEffect>
                                  </p:childTnLst>
                                </p:cTn>
                              </p:par>
                            </p:childTnLst>
                          </p:cTn>
                        </p:par>
                      </p:childTnLst>
                    </p:cTn>
                  </p:par>
                  <p:par>
                    <p:cTn id="97" fill="hold">
                      <p:stCondLst>
                        <p:cond delay="indefinite"/>
                      </p:stCondLst>
                      <p:childTnLst>
                        <p:par>
                          <p:cTn id="98" fill="hold">
                            <p:stCondLst>
                              <p:cond delay="0"/>
                            </p:stCondLst>
                            <p:childTnLst>
                              <p:par>
                                <p:cTn id="99" presetID="18" presetClass="entr" presetSubtype="6" fill="hold" nodeType="clickEffect">
                                  <p:stCondLst>
                                    <p:cond delay="0"/>
                                  </p:stCondLst>
                                  <p:childTnLst>
                                    <p:set>
                                      <p:cBhvr>
                                        <p:cTn id="100" dur="1" fill="hold">
                                          <p:stCondLst>
                                            <p:cond delay="0"/>
                                          </p:stCondLst>
                                        </p:cTn>
                                        <p:tgtEl>
                                          <p:spTgt spid="288788"/>
                                        </p:tgtEl>
                                        <p:attrNameLst>
                                          <p:attrName>style.visibility</p:attrName>
                                        </p:attrNameLst>
                                      </p:cBhvr>
                                      <p:to>
                                        <p:strVal val="visible"/>
                                      </p:to>
                                    </p:set>
                                    <p:animEffect transition="in" filter="strips(downRight)">
                                      <p:cBhvr>
                                        <p:cTn id="101" dur="2000"/>
                                        <p:tgtEl>
                                          <p:spTgt spid="288788"/>
                                        </p:tgtEl>
                                      </p:cBhvr>
                                    </p:animEffect>
                                  </p:childTnLst>
                                </p:cTn>
                              </p:par>
                            </p:childTnLst>
                          </p:cTn>
                        </p:par>
                        <p:par>
                          <p:cTn id="102" fill="hold">
                            <p:stCondLst>
                              <p:cond delay="2000"/>
                            </p:stCondLst>
                            <p:childTnLst>
                              <p:par>
                                <p:cTn id="103" presetID="18" presetClass="entr" presetSubtype="9" fill="hold" nodeType="afterEffect">
                                  <p:stCondLst>
                                    <p:cond delay="0"/>
                                  </p:stCondLst>
                                  <p:childTnLst>
                                    <p:set>
                                      <p:cBhvr>
                                        <p:cTn id="104" dur="1" fill="hold">
                                          <p:stCondLst>
                                            <p:cond delay="0"/>
                                          </p:stCondLst>
                                        </p:cTn>
                                        <p:tgtEl>
                                          <p:spTgt spid="288795"/>
                                        </p:tgtEl>
                                        <p:attrNameLst>
                                          <p:attrName>style.visibility</p:attrName>
                                        </p:attrNameLst>
                                      </p:cBhvr>
                                      <p:to>
                                        <p:strVal val="visible"/>
                                      </p:to>
                                    </p:set>
                                    <p:animEffect transition="in" filter="strips(upLeft)">
                                      <p:cBhvr>
                                        <p:cTn id="105" dur="2000"/>
                                        <p:tgtEl>
                                          <p:spTgt spid="288795"/>
                                        </p:tgtEl>
                                      </p:cBhvr>
                                    </p:animEffect>
                                  </p:childTnLst>
                                </p:cTn>
                              </p:par>
                            </p:childTnLst>
                          </p:cTn>
                        </p:par>
                        <p:par>
                          <p:cTn id="106" fill="hold">
                            <p:stCondLst>
                              <p:cond delay="4000"/>
                            </p:stCondLst>
                            <p:childTnLst>
                              <p:par>
                                <p:cTn id="107" presetID="18" presetClass="entr" presetSubtype="6" fill="hold" nodeType="afterEffect">
                                  <p:stCondLst>
                                    <p:cond delay="0"/>
                                  </p:stCondLst>
                                  <p:childTnLst>
                                    <p:set>
                                      <p:cBhvr>
                                        <p:cTn id="108" dur="1" fill="hold">
                                          <p:stCondLst>
                                            <p:cond delay="0"/>
                                          </p:stCondLst>
                                        </p:cTn>
                                        <p:tgtEl>
                                          <p:spTgt spid="288792"/>
                                        </p:tgtEl>
                                        <p:attrNameLst>
                                          <p:attrName>style.visibility</p:attrName>
                                        </p:attrNameLst>
                                      </p:cBhvr>
                                      <p:to>
                                        <p:strVal val="visible"/>
                                      </p:to>
                                    </p:set>
                                    <p:animEffect transition="in" filter="strips(downRight)">
                                      <p:cBhvr>
                                        <p:cTn id="109" dur="2000"/>
                                        <p:tgtEl>
                                          <p:spTgt spid="288792"/>
                                        </p:tgtEl>
                                      </p:cBhvr>
                                    </p:animEffect>
                                  </p:childTnLst>
                                </p:cTn>
                              </p:par>
                            </p:childTnLst>
                          </p:cTn>
                        </p:par>
                        <p:par>
                          <p:cTn id="110" fill="hold">
                            <p:stCondLst>
                              <p:cond delay="6000"/>
                            </p:stCondLst>
                            <p:childTnLst>
                              <p:par>
                                <p:cTn id="111" presetID="18" presetClass="entr" presetSubtype="6" fill="hold" nodeType="afterEffect">
                                  <p:stCondLst>
                                    <p:cond delay="0"/>
                                  </p:stCondLst>
                                  <p:childTnLst>
                                    <p:set>
                                      <p:cBhvr>
                                        <p:cTn id="112" dur="1" fill="hold">
                                          <p:stCondLst>
                                            <p:cond delay="0"/>
                                          </p:stCondLst>
                                        </p:cTn>
                                        <p:tgtEl>
                                          <p:spTgt spid="288793"/>
                                        </p:tgtEl>
                                        <p:attrNameLst>
                                          <p:attrName>style.visibility</p:attrName>
                                        </p:attrNameLst>
                                      </p:cBhvr>
                                      <p:to>
                                        <p:strVal val="visible"/>
                                      </p:to>
                                    </p:set>
                                    <p:animEffect transition="in" filter="strips(downRight)">
                                      <p:cBhvr>
                                        <p:cTn id="113" dur="2000"/>
                                        <p:tgtEl>
                                          <p:spTgt spid="288793"/>
                                        </p:tgtEl>
                                      </p:cBhvr>
                                    </p:animEffect>
                                  </p:childTnLst>
                                </p:cTn>
                              </p:par>
                            </p:childTnLst>
                          </p:cTn>
                        </p:par>
                        <p:par>
                          <p:cTn id="114" fill="hold">
                            <p:stCondLst>
                              <p:cond delay="8000"/>
                            </p:stCondLst>
                            <p:childTnLst>
                              <p:par>
                                <p:cTn id="115" presetID="18" presetClass="entr" presetSubtype="6" fill="hold" nodeType="afterEffect">
                                  <p:stCondLst>
                                    <p:cond delay="0"/>
                                  </p:stCondLst>
                                  <p:childTnLst>
                                    <p:set>
                                      <p:cBhvr>
                                        <p:cTn id="116" dur="1" fill="hold">
                                          <p:stCondLst>
                                            <p:cond delay="0"/>
                                          </p:stCondLst>
                                        </p:cTn>
                                        <p:tgtEl>
                                          <p:spTgt spid="288791"/>
                                        </p:tgtEl>
                                        <p:attrNameLst>
                                          <p:attrName>style.visibility</p:attrName>
                                        </p:attrNameLst>
                                      </p:cBhvr>
                                      <p:to>
                                        <p:strVal val="visible"/>
                                      </p:to>
                                    </p:set>
                                    <p:animEffect transition="in" filter="strips(downRight)">
                                      <p:cBhvr>
                                        <p:cTn id="117" dur="2000"/>
                                        <p:tgtEl>
                                          <p:spTgt spid="288791"/>
                                        </p:tgtEl>
                                      </p:cBhvr>
                                    </p:animEffect>
                                  </p:childTnLst>
                                </p:cTn>
                              </p:par>
                            </p:childTnLst>
                          </p:cTn>
                        </p:par>
                        <p:par>
                          <p:cTn id="118" fill="hold">
                            <p:stCondLst>
                              <p:cond delay="10000"/>
                            </p:stCondLst>
                            <p:childTnLst>
                              <p:par>
                                <p:cTn id="119" presetID="18" presetClass="entr" presetSubtype="6" fill="hold" nodeType="afterEffect">
                                  <p:stCondLst>
                                    <p:cond delay="0"/>
                                  </p:stCondLst>
                                  <p:childTnLst>
                                    <p:set>
                                      <p:cBhvr>
                                        <p:cTn id="120" dur="1" fill="hold">
                                          <p:stCondLst>
                                            <p:cond delay="0"/>
                                          </p:stCondLst>
                                        </p:cTn>
                                        <p:tgtEl>
                                          <p:spTgt spid="288794"/>
                                        </p:tgtEl>
                                        <p:attrNameLst>
                                          <p:attrName>style.visibility</p:attrName>
                                        </p:attrNameLst>
                                      </p:cBhvr>
                                      <p:to>
                                        <p:strVal val="visible"/>
                                      </p:to>
                                    </p:set>
                                    <p:animEffect transition="in" filter="strips(downRight)">
                                      <p:cBhvr>
                                        <p:cTn id="121" dur="2000"/>
                                        <p:tgtEl>
                                          <p:spTgt spid="288794"/>
                                        </p:tgtEl>
                                      </p:cBhvr>
                                    </p:animEffect>
                                  </p:childTnLst>
                                </p:cTn>
                              </p:par>
                            </p:childTnLst>
                          </p:cTn>
                        </p:par>
                        <p:par>
                          <p:cTn id="122" fill="hold">
                            <p:stCondLst>
                              <p:cond delay="12000"/>
                            </p:stCondLst>
                            <p:childTnLst>
                              <p:par>
                                <p:cTn id="123" presetID="18" presetClass="entr" presetSubtype="6" fill="hold" nodeType="afterEffect">
                                  <p:stCondLst>
                                    <p:cond delay="0"/>
                                  </p:stCondLst>
                                  <p:childTnLst>
                                    <p:set>
                                      <p:cBhvr>
                                        <p:cTn id="124" dur="1" fill="hold">
                                          <p:stCondLst>
                                            <p:cond delay="0"/>
                                          </p:stCondLst>
                                        </p:cTn>
                                        <p:tgtEl>
                                          <p:spTgt spid="288802"/>
                                        </p:tgtEl>
                                        <p:attrNameLst>
                                          <p:attrName>style.visibility</p:attrName>
                                        </p:attrNameLst>
                                      </p:cBhvr>
                                      <p:to>
                                        <p:strVal val="visible"/>
                                      </p:to>
                                    </p:set>
                                    <p:animEffect transition="in" filter="strips(downRight)">
                                      <p:cBhvr>
                                        <p:cTn id="125" dur="2000"/>
                                        <p:tgtEl>
                                          <p:spTgt spid="288802"/>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288779"/>
                                        </p:tgtEl>
                                        <p:attrNameLst>
                                          <p:attrName>style.visibility</p:attrName>
                                        </p:attrNameLst>
                                      </p:cBhvr>
                                      <p:to>
                                        <p:strVal val="visible"/>
                                      </p:to>
                                    </p:set>
                                    <p:animEffect transition="in" filter="blinds(horizontal)">
                                      <p:cBhvr>
                                        <p:cTn id="130" dur="1000"/>
                                        <p:tgtEl>
                                          <p:spTgt spid="288779"/>
                                        </p:tgtEl>
                                      </p:cBhvr>
                                    </p:animEffect>
                                  </p:childTnLst>
                                </p:cTn>
                              </p:par>
                            </p:childTnLst>
                          </p:cTn>
                        </p:par>
                      </p:childTnLst>
                    </p:cTn>
                  </p:par>
                  <p:par>
                    <p:cTn id="131" fill="hold">
                      <p:stCondLst>
                        <p:cond delay="indefinite"/>
                      </p:stCondLst>
                      <p:childTnLst>
                        <p:par>
                          <p:cTn id="132" fill="hold">
                            <p:stCondLst>
                              <p:cond delay="0"/>
                            </p:stCondLst>
                            <p:childTnLst>
                              <p:par>
                                <p:cTn id="133" presetID="12" presetClass="entr" presetSubtype="8" fill="hold" nodeType="clickEffect">
                                  <p:stCondLst>
                                    <p:cond delay="0"/>
                                  </p:stCondLst>
                                  <p:childTnLst>
                                    <p:set>
                                      <p:cBhvr>
                                        <p:cTn id="134" dur="1" fill="hold">
                                          <p:stCondLst>
                                            <p:cond delay="0"/>
                                          </p:stCondLst>
                                        </p:cTn>
                                        <p:tgtEl>
                                          <p:spTgt spid="288799"/>
                                        </p:tgtEl>
                                        <p:attrNameLst>
                                          <p:attrName>style.visibility</p:attrName>
                                        </p:attrNameLst>
                                      </p:cBhvr>
                                      <p:to>
                                        <p:strVal val="visible"/>
                                      </p:to>
                                    </p:set>
                                    <p:animEffect transition="in" filter="slide(fromLeft)">
                                      <p:cBhvr>
                                        <p:cTn id="135" dur="2000"/>
                                        <p:tgtEl>
                                          <p:spTgt spid="288799"/>
                                        </p:tgtEl>
                                      </p:cBhvr>
                                    </p:animEffect>
                                  </p:childTnLst>
                                </p:cTn>
                              </p:par>
                            </p:childTnLst>
                          </p:cTn>
                        </p:par>
                        <p:par>
                          <p:cTn id="136" fill="hold">
                            <p:stCondLst>
                              <p:cond delay="2000"/>
                            </p:stCondLst>
                            <p:childTnLst>
                              <p:par>
                                <p:cTn id="137" presetID="18" presetClass="entr" presetSubtype="9" fill="hold" nodeType="afterEffect">
                                  <p:stCondLst>
                                    <p:cond delay="0"/>
                                  </p:stCondLst>
                                  <p:childTnLst>
                                    <p:set>
                                      <p:cBhvr>
                                        <p:cTn id="138" dur="1" fill="hold">
                                          <p:stCondLst>
                                            <p:cond delay="0"/>
                                          </p:stCondLst>
                                        </p:cTn>
                                        <p:tgtEl>
                                          <p:spTgt spid="288782"/>
                                        </p:tgtEl>
                                        <p:attrNameLst>
                                          <p:attrName>style.visibility</p:attrName>
                                        </p:attrNameLst>
                                      </p:cBhvr>
                                      <p:to>
                                        <p:strVal val="visible"/>
                                      </p:to>
                                    </p:set>
                                    <p:animEffect transition="in" filter="strips(upLeft)">
                                      <p:cBhvr>
                                        <p:cTn id="139" dur="2000"/>
                                        <p:tgtEl>
                                          <p:spTgt spid="288782"/>
                                        </p:tgtEl>
                                      </p:cBhvr>
                                    </p:animEffect>
                                  </p:childTnLst>
                                </p:cTn>
                              </p:par>
                            </p:childTnLst>
                          </p:cTn>
                        </p:par>
                      </p:childTnLst>
                    </p:cTn>
                  </p:par>
                  <p:par>
                    <p:cTn id="140" fill="hold">
                      <p:stCondLst>
                        <p:cond delay="indefinite"/>
                      </p:stCondLst>
                      <p:childTnLst>
                        <p:par>
                          <p:cTn id="141" fill="hold">
                            <p:stCondLst>
                              <p:cond delay="0"/>
                            </p:stCondLst>
                            <p:childTnLst>
                              <p:par>
                                <p:cTn id="142" presetID="18" presetClass="entr" presetSubtype="6" fill="hold" nodeType="clickEffect">
                                  <p:stCondLst>
                                    <p:cond delay="0"/>
                                  </p:stCondLst>
                                  <p:childTnLst>
                                    <p:set>
                                      <p:cBhvr>
                                        <p:cTn id="143" dur="1" fill="hold">
                                          <p:stCondLst>
                                            <p:cond delay="0"/>
                                          </p:stCondLst>
                                        </p:cTn>
                                        <p:tgtEl>
                                          <p:spTgt spid="288783"/>
                                        </p:tgtEl>
                                        <p:attrNameLst>
                                          <p:attrName>style.visibility</p:attrName>
                                        </p:attrNameLst>
                                      </p:cBhvr>
                                      <p:to>
                                        <p:strVal val="visible"/>
                                      </p:to>
                                    </p:set>
                                    <p:animEffect transition="in" filter="strips(downRight)">
                                      <p:cBhvr>
                                        <p:cTn id="144" dur="2000"/>
                                        <p:tgtEl>
                                          <p:spTgt spid="288783"/>
                                        </p:tgtEl>
                                      </p:cBhvr>
                                    </p:animEffect>
                                  </p:childTnLst>
                                </p:cTn>
                              </p:par>
                            </p:childTnLst>
                          </p:cTn>
                        </p:par>
                        <p:par>
                          <p:cTn id="145" fill="hold">
                            <p:stCondLst>
                              <p:cond delay="2000"/>
                            </p:stCondLst>
                            <p:childTnLst>
                              <p:par>
                                <p:cTn id="146" presetID="18" presetClass="entr" presetSubtype="9" fill="hold" nodeType="afterEffect">
                                  <p:stCondLst>
                                    <p:cond delay="0"/>
                                  </p:stCondLst>
                                  <p:childTnLst>
                                    <p:set>
                                      <p:cBhvr>
                                        <p:cTn id="147" dur="1" fill="hold">
                                          <p:stCondLst>
                                            <p:cond delay="0"/>
                                          </p:stCondLst>
                                        </p:cTn>
                                        <p:tgtEl>
                                          <p:spTgt spid="288805"/>
                                        </p:tgtEl>
                                        <p:attrNameLst>
                                          <p:attrName>style.visibility</p:attrName>
                                        </p:attrNameLst>
                                      </p:cBhvr>
                                      <p:to>
                                        <p:strVal val="visible"/>
                                      </p:to>
                                    </p:set>
                                    <p:animEffect transition="in" filter="strips(upLeft)">
                                      <p:cBhvr>
                                        <p:cTn id="148" dur="2000"/>
                                        <p:tgtEl>
                                          <p:spTgt spid="288805"/>
                                        </p:tgtEl>
                                      </p:cBhvr>
                                    </p:animEffect>
                                  </p:childTnLst>
                                </p:cTn>
                              </p:par>
                            </p:childTnLst>
                          </p:cTn>
                        </p:par>
                      </p:childTnLst>
                    </p:cTn>
                  </p:par>
                  <p:par>
                    <p:cTn id="149" fill="hold">
                      <p:stCondLst>
                        <p:cond delay="indefinite"/>
                      </p:stCondLst>
                      <p:childTnLst>
                        <p:par>
                          <p:cTn id="150" fill="hold">
                            <p:stCondLst>
                              <p:cond delay="0"/>
                            </p:stCondLst>
                            <p:childTnLst>
                              <p:par>
                                <p:cTn id="151" presetID="18" presetClass="entr" presetSubtype="3" fill="hold" nodeType="clickEffect">
                                  <p:stCondLst>
                                    <p:cond delay="0"/>
                                  </p:stCondLst>
                                  <p:childTnLst>
                                    <p:set>
                                      <p:cBhvr>
                                        <p:cTn id="152" dur="1" fill="hold">
                                          <p:stCondLst>
                                            <p:cond delay="0"/>
                                          </p:stCondLst>
                                        </p:cTn>
                                        <p:tgtEl>
                                          <p:spTgt spid="288823"/>
                                        </p:tgtEl>
                                        <p:attrNameLst>
                                          <p:attrName>style.visibility</p:attrName>
                                        </p:attrNameLst>
                                      </p:cBhvr>
                                      <p:to>
                                        <p:strVal val="visible"/>
                                      </p:to>
                                    </p:set>
                                    <p:animEffect transition="in" filter="strips(upRight)">
                                      <p:cBhvr>
                                        <p:cTn id="153" dur="2000"/>
                                        <p:tgtEl>
                                          <p:spTgt spid="288823"/>
                                        </p:tgtEl>
                                      </p:cBhvr>
                                    </p:animEffect>
                                  </p:childTnLst>
                                </p:cTn>
                              </p:par>
                            </p:childTnLst>
                          </p:cTn>
                        </p:par>
                        <p:par>
                          <p:cTn id="154" fill="hold">
                            <p:stCondLst>
                              <p:cond delay="2000"/>
                            </p:stCondLst>
                            <p:childTnLst>
                              <p:par>
                                <p:cTn id="155" presetID="18" presetClass="entr" presetSubtype="6" fill="hold" nodeType="afterEffect">
                                  <p:stCondLst>
                                    <p:cond delay="0"/>
                                  </p:stCondLst>
                                  <p:childTnLst>
                                    <p:set>
                                      <p:cBhvr>
                                        <p:cTn id="156" dur="1" fill="hold">
                                          <p:stCondLst>
                                            <p:cond delay="0"/>
                                          </p:stCondLst>
                                        </p:cTn>
                                        <p:tgtEl>
                                          <p:spTgt spid="288786"/>
                                        </p:tgtEl>
                                        <p:attrNameLst>
                                          <p:attrName>style.visibility</p:attrName>
                                        </p:attrNameLst>
                                      </p:cBhvr>
                                      <p:to>
                                        <p:strVal val="visible"/>
                                      </p:to>
                                    </p:set>
                                    <p:animEffect transition="in" filter="strips(downRight)">
                                      <p:cBhvr>
                                        <p:cTn id="157" dur="2000"/>
                                        <p:tgtEl>
                                          <p:spTgt spid="288786"/>
                                        </p:tgtEl>
                                      </p:cBhvr>
                                    </p:animEffect>
                                  </p:childTnLst>
                                </p:cTn>
                              </p:par>
                            </p:childTnLst>
                          </p:cTn>
                        </p:par>
                        <p:par>
                          <p:cTn id="158" fill="hold">
                            <p:stCondLst>
                              <p:cond delay="4000"/>
                            </p:stCondLst>
                            <p:childTnLst>
                              <p:par>
                                <p:cTn id="159" presetID="18" presetClass="entr" presetSubtype="6" fill="hold" nodeType="afterEffect">
                                  <p:stCondLst>
                                    <p:cond delay="0"/>
                                  </p:stCondLst>
                                  <p:childTnLst>
                                    <p:set>
                                      <p:cBhvr>
                                        <p:cTn id="160" dur="1" fill="hold">
                                          <p:stCondLst>
                                            <p:cond delay="0"/>
                                          </p:stCondLst>
                                        </p:cTn>
                                        <p:tgtEl>
                                          <p:spTgt spid="288803"/>
                                        </p:tgtEl>
                                        <p:attrNameLst>
                                          <p:attrName>style.visibility</p:attrName>
                                        </p:attrNameLst>
                                      </p:cBhvr>
                                      <p:to>
                                        <p:strVal val="visible"/>
                                      </p:to>
                                    </p:set>
                                    <p:animEffect transition="in" filter="strips(downRight)">
                                      <p:cBhvr>
                                        <p:cTn id="161" dur="2000"/>
                                        <p:tgtEl>
                                          <p:spTgt spid="288803"/>
                                        </p:tgtEl>
                                      </p:cBhvr>
                                    </p:animEffect>
                                  </p:childTnLst>
                                </p:cTn>
                              </p:par>
                            </p:childTnLst>
                          </p:cTn>
                        </p:par>
                        <p:par>
                          <p:cTn id="162" fill="hold">
                            <p:stCondLst>
                              <p:cond delay="6000"/>
                            </p:stCondLst>
                            <p:childTnLst>
                              <p:par>
                                <p:cTn id="163" presetID="18" presetClass="entr" presetSubtype="6" fill="hold" nodeType="afterEffect">
                                  <p:stCondLst>
                                    <p:cond delay="0"/>
                                  </p:stCondLst>
                                  <p:childTnLst>
                                    <p:set>
                                      <p:cBhvr>
                                        <p:cTn id="164" dur="1" fill="hold">
                                          <p:stCondLst>
                                            <p:cond delay="0"/>
                                          </p:stCondLst>
                                        </p:cTn>
                                        <p:tgtEl>
                                          <p:spTgt spid="288787"/>
                                        </p:tgtEl>
                                        <p:attrNameLst>
                                          <p:attrName>style.visibility</p:attrName>
                                        </p:attrNameLst>
                                      </p:cBhvr>
                                      <p:to>
                                        <p:strVal val="visible"/>
                                      </p:to>
                                    </p:set>
                                    <p:animEffect transition="in" filter="strips(downRight)">
                                      <p:cBhvr>
                                        <p:cTn id="165" dur="2000"/>
                                        <p:tgtEl>
                                          <p:spTgt spid="288787"/>
                                        </p:tgtEl>
                                      </p:cBhvr>
                                    </p:animEffect>
                                  </p:childTnLst>
                                </p:cTn>
                              </p:par>
                            </p:childTnLst>
                          </p:cTn>
                        </p:par>
                        <p:par>
                          <p:cTn id="166" fill="hold">
                            <p:stCondLst>
                              <p:cond delay="8000"/>
                            </p:stCondLst>
                            <p:childTnLst>
                              <p:par>
                                <p:cTn id="167" presetID="18" presetClass="entr" presetSubtype="6" fill="hold" nodeType="afterEffect">
                                  <p:stCondLst>
                                    <p:cond delay="0"/>
                                  </p:stCondLst>
                                  <p:childTnLst>
                                    <p:set>
                                      <p:cBhvr>
                                        <p:cTn id="168" dur="1" fill="hold">
                                          <p:stCondLst>
                                            <p:cond delay="0"/>
                                          </p:stCondLst>
                                        </p:cTn>
                                        <p:tgtEl>
                                          <p:spTgt spid="288804"/>
                                        </p:tgtEl>
                                        <p:attrNameLst>
                                          <p:attrName>style.visibility</p:attrName>
                                        </p:attrNameLst>
                                      </p:cBhvr>
                                      <p:to>
                                        <p:strVal val="visible"/>
                                      </p:to>
                                    </p:set>
                                    <p:animEffect transition="in" filter="strips(downRight)">
                                      <p:cBhvr>
                                        <p:cTn id="169" dur="2000"/>
                                        <p:tgtEl>
                                          <p:spTgt spid="288804"/>
                                        </p:tgtEl>
                                      </p:cBhvr>
                                    </p:animEffect>
                                  </p:childTnLst>
                                </p:cTn>
                              </p:par>
                            </p:childTnLst>
                          </p:cTn>
                        </p:par>
                        <p:par>
                          <p:cTn id="170" fill="hold">
                            <p:stCondLst>
                              <p:cond delay="10000"/>
                            </p:stCondLst>
                            <p:childTnLst>
                              <p:par>
                                <p:cTn id="171" presetID="18" presetClass="entr" presetSubtype="6" fill="hold" nodeType="afterEffect">
                                  <p:stCondLst>
                                    <p:cond delay="0"/>
                                  </p:stCondLst>
                                  <p:childTnLst>
                                    <p:set>
                                      <p:cBhvr>
                                        <p:cTn id="172" dur="1" fill="hold">
                                          <p:stCondLst>
                                            <p:cond delay="0"/>
                                          </p:stCondLst>
                                        </p:cTn>
                                        <p:tgtEl>
                                          <p:spTgt spid="288806"/>
                                        </p:tgtEl>
                                        <p:attrNameLst>
                                          <p:attrName>style.visibility</p:attrName>
                                        </p:attrNameLst>
                                      </p:cBhvr>
                                      <p:to>
                                        <p:strVal val="visible"/>
                                      </p:to>
                                    </p:set>
                                    <p:animEffect transition="in" filter="strips(downRight)">
                                      <p:cBhvr>
                                        <p:cTn id="173" dur="2000"/>
                                        <p:tgtEl>
                                          <p:spTgt spid="288806"/>
                                        </p:tgtEl>
                                      </p:cBhvr>
                                    </p:animEffect>
                                  </p:childTnLst>
                                </p:cTn>
                              </p:par>
                            </p:childTnLst>
                          </p:cTn>
                        </p:par>
                      </p:childTnLst>
                    </p:cTn>
                  </p:par>
                  <p:par>
                    <p:cTn id="174" fill="hold">
                      <p:stCondLst>
                        <p:cond delay="indefinite"/>
                      </p:stCondLst>
                      <p:childTnLst>
                        <p:par>
                          <p:cTn id="175" fill="hold">
                            <p:stCondLst>
                              <p:cond delay="0"/>
                            </p:stCondLst>
                            <p:childTnLst>
                              <p:par>
                                <p:cTn id="176" presetID="3" presetClass="entr" presetSubtype="10" fill="hold" grpId="0" nodeType="clickEffect">
                                  <p:stCondLst>
                                    <p:cond delay="0"/>
                                  </p:stCondLst>
                                  <p:childTnLst>
                                    <p:set>
                                      <p:cBhvr>
                                        <p:cTn id="177" dur="1" fill="hold">
                                          <p:stCondLst>
                                            <p:cond delay="0"/>
                                          </p:stCondLst>
                                        </p:cTn>
                                        <p:tgtEl>
                                          <p:spTgt spid="288780"/>
                                        </p:tgtEl>
                                        <p:attrNameLst>
                                          <p:attrName>style.visibility</p:attrName>
                                        </p:attrNameLst>
                                      </p:cBhvr>
                                      <p:to>
                                        <p:strVal val="visible"/>
                                      </p:to>
                                    </p:set>
                                    <p:animEffect transition="in" filter="blinds(horizontal)">
                                      <p:cBhvr>
                                        <p:cTn id="178" dur="1000"/>
                                        <p:tgtEl>
                                          <p:spTgt spid="288780"/>
                                        </p:tgtEl>
                                      </p:cBhvr>
                                    </p:animEffect>
                                  </p:childTnLst>
                                </p:cTn>
                              </p:par>
                            </p:childTnLst>
                          </p:cTn>
                        </p:par>
                      </p:childTnLst>
                    </p:cTn>
                  </p:par>
                  <p:par>
                    <p:cTn id="179" fill="hold">
                      <p:stCondLst>
                        <p:cond delay="indefinite"/>
                      </p:stCondLst>
                      <p:childTnLst>
                        <p:par>
                          <p:cTn id="180" fill="hold">
                            <p:stCondLst>
                              <p:cond delay="0"/>
                            </p:stCondLst>
                            <p:childTnLst>
                              <p:par>
                                <p:cTn id="181" presetID="12" presetClass="entr" presetSubtype="8" fill="hold" nodeType="clickEffect">
                                  <p:stCondLst>
                                    <p:cond delay="0"/>
                                  </p:stCondLst>
                                  <p:childTnLst>
                                    <p:set>
                                      <p:cBhvr>
                                        <p:cTn id="182" dur="1" fill="hold">
                                          <p:stCondLst>
                                            <p:cond delay="0"/>
                                          </p:stCondLst>
                                        </p:cTn>
                                        <p:tgtEl>
                                          <p:spTgt spid="288815"/>
                                        </p:tgtEl>
                                        <p:attrNameLst>
                                          <p:attrName>style.visibility</p:attrName>
                                        </p:attrNameLst>
                                      </p:cBhvr>
                                      <p:to>
                                        <p:strVal val="visible"/>
                                      </p:to>
                                    </p:set>
                                    <p:animEffect transition="in" filter="slide(fromLeft)">
                                      <p:cBhvr>
                                        <p:cTn id="183" dur="2000"/>
                                        <p:tgtEl>
                                          <p:spTgt spid="288815"/>
                                        </p:tgtEl>
                                      </p:cBhvr>
                                    </p:animEffect>
                                  </p:childTnLst>
                                </p:cTn>
                              </p:par>
                            </p:childTnLst>
                          </p:cTn>
                        </p:par>
                        <p:par>
                          <p:cTn id="184" fill="hold">
                            <p:stCondLst>
                              <p:cond delay="2000"/>
                            </p:stCondLst>
                            <p:childTnLst>
                              <p:par>
                                <p:cTn id="185" presetID="18" presetClass="entr" presetSubtype="9" fill="hold" nodeType="afterEffect">
                                  <p:stCondLst>
                                    <p:cond delay="0"/>
                                  </p:stCondLst>
                                  <p:childTnLst>
                                    <p:set>
                                      <p:cBhvr>
                                        <p:cTn id="186" dur="1" fill="hold">
                                          <p:stCondLst>
                                            <p:cond delay="0"/>
                                          </p:stCondLst>
                                        </p:cTn>
                                        <p:tgtEl>
                                          <p:spTgt spid="288807"/>
                                        </p:tgtEl>
                                        <p:attrNameLst>
                                          <p:attrName>style.visibility</p:attrName>
                                        </p:attrNameLst>
                                      </p:cBhvr>
                                      <p:to>
                                        <p:strVal val="visible"/>
                                      </p:to>
                                    </p:set>
                                    <p:animEffect transition="in" filter="strips(upLeft)">
                                      <p:cBhvr>
                                        <p:cTn id="187" dur="2000"/>
                                        <p:tgtEl>
                                          <p:spTgt spid="288807"/>
                                        </p:tgtEl>
                                      </p:cBhvr>
                                    </p:animEffect>
                                  </p:childTnLst>
                                </p:cTn>
                              </p:par>
                            </p:childTnLst>
                          </p:cTn>
                        </p:par>
                      </p:childTnLst>
                    </p:cTn>
                  </p:par>
                  <p:par>
                    <p:cTn id="188" fill="hold">
                      <p:stCondLst>
                        <p:cond delay="indefinite"/>
                      </p:stCondLst>
                      <p:childTnLst>
                        <p:par>
                          <p:cTn id="189" fill="hold">
                            <p:stCondLst>
                              <p:cond delay="0"/>
                            </p:stCondLst>
                            <p:childTnLst>
                              <p:par>
                                <p:cTn id="190" presetID="18" presetClass="entr" presetSubtype="6" fill="hold" nodeType="clickEffect">
                                  <p:stCondLst>
                                    <p:cond delay="0"/>
                                  </p:stCondLst>
                                  <p:childTnLst>
                                    <p:set>
                                      <p:cBhvr>
                                        <p:cTn id="191" dur="1" fill="hold">
                                          <p:stCondLst>
                                            <p:cond delay="0"/>
                                          </p:stCondLst>
                                        </p:cTn>
                                        <p:tgtEl>
                                          <p:spTgt spid="288808"/>
                                        </p:tgtEl>
                                        <p:attrNameLst>
                                          <p:attrName>style.visibility</p:attrName>
                                        </p:attrNameLst>
                                      </p:cBhvr>
                                      <p:to>
                                        <p:strVal val="visible"/>
                                      </p:to>
                                    </p:set>
                                    <p:animEffect transition="in" filter="strips(downRight)">
                                      <p:cBhvr>
                                        <p:cTn id="192" dur="2000"/>
                                        <p:tgtEl>
                                          <p:spTgt spid="288808"/>
                                        </p:tgtEl>
                                      </p:cBhvr>
                                    </p:animEffect>
                                  </p:childTnLst>
                                </p:cTn>
                              </p:par>
                            </p:childTnLst>
                          </p:cTn>
                        </p:par>
                        <p:par>
                          <p:cTn id="193" fill="hold">
                            <p:stCondLst>
                              <p:cond delay="2000"/>
                            </p:stCondLst>
                            <p:childTnLst>
                              <p:par>
                                <p:cTn id="194" presetID="18" presetClass="entr" presetSubtype="9" fill="hold" nodeType="afterEffect">
                                  <p:stCondLst>
                                    <p:cond delay="0"/>
                                  </p:stCondLst>
                                  <p:childTnLst>
                                    <p:set>
                                      <p:cBhvr>
                                        <p:cTn id="195" dur="1" fill="hold">
                                          <p:stCondLst>
                                            <p:cond delay="0"/>
                                          </p:stCondLst>
                                        </p:cTn>
                                        <p:tgtEl>
                                          <p:spTgt spid="288814"/>
                                        </p:tgtEl>
                                        <p:attrNameLst>
                                          <p:attrName>style.visibility</p:attrName>
                                        </p:attrNameLst>
                                      </p:cBhvr>
                                      <p:to>
                                        <p:strVal val="visible"/>
                                      </p:to>
                                    </p:set>
                                    <p:animEffect transition="in" filter="strips(upLeft)">
                                      <p:cBhvr>
                                        <p:cTn id="196" dur="2000"/>
                                        <p:tgtEl>
                                          <p:spTgt spid="288814"/>
                                        </p:tgtEl>
                                      </p:cBhvr>
                                    </p:animEffect>
                                  </p:childTnLst>
                                </p:cTn>
                              </p:par>
                            </p:childTnLst>
                          </p:cTn>
                        </p:par>
                      </p:childTnLst>
                    </p:cTn>
                  </p:par>
                  <p:par>
                    <p:cTn id="197" fill="hold">
                      <p:stCondLst>
                        <p:cond delay="indefinite"/>
                      </p:stCondLst>
                      <p:childTnLst>
                        <p:par>
                          <p:cTn id="198" fill="hold">
                            <p:stCondLst>
                              <p:cond delay="0"/>
                            </p:stCondLst>
                            <p:childTnLst>
                              <p:par>
                                <p:cTn id="199" presetID="18" presetClass="entr" presetSubtype="3" fill="hold" nodeType="clickEffect">
                                  <p:stCondLst>
                                    <p:cond delay="0"/>
                                  </p:stCondLst>
                                  <p:childTnLst>
                                    <p:set>
                                      <p:cBhvr>
                                        <p:cTn id="200" dur="1" fill="hold">
                                          <p:stCondLst>
                                            <p:cond delay="0"/>
                                          </p:stCondLst>
                                        </p:cTn>
                                        <p:tgtEl>
                                          <p:spTgt spid="288819"/>
                                        </p:tgtEl>
                                        <p:attrNameLst>
                                          <p:attrName>style.visibility</p:attrName>
                                        </p:attrNameLst>
                                      </p:cBhvr>
                                      <p:to>
                                        <p:strVal val="visible"/>
                                      </p:to>
                                    </p:set>
                                    <p:animEffect transition="in" filter="strips(upRight)">
                                      <p:cBhvr>
                                        <p:cTn id="201" dur="2000"/>
                                        <p:tgtEl>
                                          <p:spTgt spid="288819"/>
                                        </p:tgtEl>
                                      </p:cBhvr>
                                    </p:animEffect>
                                  </p:childTnLst>
                                </p:cTn>
                              </p:par>
                            </p:childTnLst>
                          </p:cTn>
                        </p:par>
                        <p:par>
                          <p:cTn id="202" fill="hold">
                            <p:stCondLst>
                              <p:cond delay="2000"/>
                            </p:stCondLst>
                            <p:childTnLst>
                              <p:par>
                                <p:cTn id="203" presetID="18" presetClass="entr" presetSubtype="6" fill="hold" nodeType="afterEffect">
                                  <p:stCondLst>
                                    <p:cond delay="0"/>
                                  </p:stCondLst>
                                  <p:childTnLst>
                                    <p:set>
                                      <p:cBhvr>
                                        <p:cTn id="204" dur="1" fill="hold">
                                          <p:stCondLst>
                                            <p:cond delay="0"/>
                                          </p:stCondLst>
                                        </p:cTn>
                                        <p:tgtEl>
                                          <p:spTgt spid="288811"/>
                                        </p:tgtEl>
                                        <p:attrNameLst>
                                          <p:attrName>style.visibility</p:attrName>
                                        </p:attrNameLst>
                                      </p:cBhvr>
                                      <p:to>
                                        <p:strVal val="visible"/>
                                      </p:to>
                                    </p:set>
                                    <p:animEffect transition="in" filter="strips(downRight)">
                                      <p:cBhvr>
                                        <p:cTn id="205" dur="2000"/>
                                        <p:tgtEl>
                                          <p:spTgt spid="288811"/>
                                        </p:tgtEl>
                                      </p:cBhvr>
                                    </p:animEffect>
                                  </p:childTnLst>
                                </p:cTn>
                              </p:par>
                            </p:childTnLst>
                          </p:cTn>
                        </p:par>
                        <p:par>
                          <p:cTn id="206" fill="hold">
                            <p:stCondLst>
                              <p:cond delay="4000"/>
                            </p:stCondLst>
                            <p:childTnLst>
                              <p:par>
                                <p:cTn id="207" presetID="18" presetClass="entr" presetSubtype="6" fill="hold" nodeType="afterEffect">
                                  <p:stCondLst>
                                    <p:cond delay="0"/>
                                  </p:stCondLst>
                                  <p:childTnLst>
                                    <p:set>
                                      <p:cBhvr>
                                        <p:cTn id="208" dur="1" fill="hold">
                                          <p:stCondLst>
                                            <p:cond delay="0"/>
                                          </p:stCondLst>
                                        </p:cTn>
                                        <p:tgtEl>
                                          <p:spTgt spid="288812"/>
                                        </p:tgtEl>
                                        <p:attrNameLst>
                                          <p:attrName>style.visibility</p:attrName>
                                        </p:attrNameLst>
                                      </p:cBhvr>
                                      <p:to>
                                        <p:strVal val="visible"/>
                                      </p:to>
                                    </p:set>
                                    <p:animEffect transition="in" filter="strips(downRight)">
                                      <p:cBhvr>
                                        <p:cTn id="209" dur="2000"/>
                                        <p:tgtEl>
                                          <p:spTgt spid="288812"/>
                                        </p:tgtEl>
                                      </p:cBhvr>
                                    </p:animEffect>
                                  </p:childTnLst>
                                </p:cTn>
                              </p:par>
                            </p:childTnLst>
                          </p:cTn>
                        </p:par>
                      </p:childTnLst>
                    </p:cTn>
                  </p:par>
                  <p:par>
                    <p:cTn id="210" fill="hold">
                      <p:stCondLst>
                        <p:cond delay="indefinite"/>
                      </p:stCondLst>
                      <p:childTnLst>
                        <p:par>
                          <p:cTn id="211" fill="hold">
                            <p:stCondLst>
                              <p:cond delay="0"/>
                            </p:stCondLst>
                            <p:childTnLst>
                              <p:par>
                                <p:cTn id="212" presetID="18" presetClass="entr" presetSubtype="6" fill="hold" nodeType="clickEffect">
                                  <p:stCondLst>
                                    <p:cond delay="0"/>
                                  </p:stCondLst>
                                  <p:childTnLst>
                                    <p:set>
                                      <p:cBhvr>
                                        <p:cTn id="213" dur="1" fill="hold">
                                          <p:stCondLst>
                                            <p:cond delay="0"/>
                                          </p:stCondLst>
                                        </p:cTn>
                                        <p:tgtEl>
                                          <p:spTgt spid="288820"/>
                                        </p:tgtEl>
                                        <p:attrNameLst>
                                          <p:attrName>style.visibility</p:attrName>
                                        </p:attrNameLst>
                                      </p:cBhvr>
                                      <p:to>
                                        <p:strVal val="visible"/>
                                      </p:to>
                                    </p:set>
                                    <p:animEffect transition="in" filter="strips(downRight)">
                                      <p:cBhvr>
                                        <p:cTn id="214" dur="2000"/>
                                        <p:tgtEl>
                                          <p:spTgt spid="288820"/>
                                        </p:tgtEl>
                                      </p:cBhvr>
                                    </p:animEffect>
                                  </p:childTnLst>
                                </p:cTn>
                              </p:par>
                            </p:childTnLst>
                          </p:cTn>
                        </p:par>
                        <p:par>
                          <p:cTn id="215" fill="hold">
                            <p:stCondLst>
                              <p:cond delay="2000"/>
                            </p:stCondLst>
                            <p:childTnLst>
                              <p:par>
                                <p:cTn id="216" presetID="18" presetClass="entr" presetSubtype="6" fill="hold" nodeType="afterEffect">
                                  <p:stCondLst>
                                    <p:cond delay="0"/>
                                  </p:stCondLst>
                                  <p:childTnLst>
                                    <p:set>
                                      <p:cBhvr>
                                        <p:cTn id="217" dur="1" fill="hold">
                                          <p:stCondLst>
                                            <p:cond delay="0"/>
                                          </p:stCondLst>
                                        </p:cTn>
                                        <p:tgtEl>
                                          <p:spTgt spid="288813"/>
                                        </p:tgtEl>
                                        <p:attrNameLst>
                                          <p:attrName>style.visibility</p:attrName>
                                        </p:attrNameLst>
                                      </p:cBhvr>
                                      <p:to>
                                        <p:strVal val="visible"/>
                                      </p:to>
                                    </p:set>
                                    <p:animEffect transition="in" filter="strips(downRight)">
                                      <p:cBhvr>
                                        <p:cTn id="218" dur="2000"/>
                                        <p:tgtEl>
                                          <p:spTgt spid="288813"/>
                                        </p:tgtEl>
                                      </p:cBhvr>
                                    </p:animEffect>
                                  </p:childTnLst>
                                </p:cTn>
                              </p:par>
                            </p:childTnLst>
                          </p:cTn>
                        </p:par>
                        <p:par>
                          <p:cTn id="219" fill="hold">
                            <p:stCondLst>
                              <p:cond delay="4000"/>
                            </p:stCondLst>
                            <p:childTnLst>
                              <p:par>
                                <p:cTn id="220" presetID="18" presetClass="entr" presetSubtype="6" fill="hold" nodeType="afterEffect">
                                  <p:stCondLst>
                                    <p:cond delay="0"/>
                                  </p:stCondLst>
                                  <p:childTnLst>
                                    <p:set>
                                      <p:cBhvr>
                                        <p:cTn id="221" dur="1" fill="hold">
                                          <p:stCondLst>
                                            <p:cond delay="0"/>
                                          </p:stCondLst>
                                        </p:cTn>
                                        <p:tgtEl>
                                          <p:spTgt spid="288818"/>
                                        </p:tgtEl>
                                        <p:attrNameLst>
                                          <p:attrName>style.visibility</p:attrName>
                                        </p:attrNameLst>
                                      </p:cBhvr>
                                      <p:to>
                                        <p:strVal val="visible"/>
                                      </p:to>
                                    </p:set>
                                    <p:animEffect transition="in" filter="strips(downRight)">
                                      <p:cBhvr>
                                        <p:cTn id="222" dur="2000"/>
                                        <p:tgtEl>
                                          <p:spTgt spid="288818"/>
                                        </p:tgtEl>
                                      </p:cBhvr>
                                    </p:animEffect>
                                  </p:childTnLst>
                                </p:cTn>
                              </p:par>
                            </p:childTnLst>
                          </p:cTn>
                        </p:par>
                      </p:childTnLst>
                    </p:cTn>
                  </p:par>
                  <p:par>
                    <p:cTn id="223" fill="hold">
                      <p:stCondLst>
                        <p:cond delay="indefinite"/>
                      </p:stCondLst>
                      <p:childTnLst>
                        <p:par>
                          <p:cTn id="224" fill="hold">
                            <p:stCondLst>
                              <p:cond delay="0"/>
                            </p:stCondLst>
                            <p:childTnLst>
                              <p:par>
                                <p:cTn id="225" presetID="15" presetClass="entr" presetSubtype="0" fill="hold" grpId="0" nodeType="clickEffect">
                                  <p:stCondLst>
                                    <p:cond delay="0"/>
                                  </p:stCondLst>
                                  <p:childTnLst>
                                    <p:set>
                                      <p:cBhvr>
                                        <p:cTn id="226" dur="1" fill="hold">
                                          <p:stCondLst>
                                            <p:cond delay="0"/>
                                          </p:stCondLst>
                                        </p:cTn>
                                        <p:tgtEl>
                                          <p:spTgt spid="288844"/>
                                        </p:tgtEl>
                                        <p:attrNameLst>
                                          <p:attrName>style.visibility</p:attrName>
                                        </p:attrNameLst>
                                      </p:cBhvr>
                                      <p:to>
                                        <p:strVal val="visible"/>
                                      </p:to>
                                    </p:set>
                                    <p:anim calcmode="lin" valueType="num">
                                      <p:cBhvr>
                                        <p:cTn id="227" dur="2000" fill="hold"/>
                                        <p:tgtEl>
                                          <p:spTgt spid="288844"/>
                                        </p:tgtEl>
                                        <p:attrNameLst>
                                          <p:attrName>ppt_w</p:attrName>
                                        </p:attrNameLst>
                                      </p:cBhvr>
                                      <p:tavLst>
                                        <p:tav tm="0">
                                          <p:val>
                                            <p:fltVal val="0"/>
                                          </p:val>
                                        </p:tav>
                                        <p:tav tm="100000">
                                          <p:val>
                                            <p:strVal val="#ppt_w"/>
                                          </p:val>
                                        </p:tav>
                                      </p:tavLst>
                                    </p:anim>
                                    <p:anim calcmode="lin" valueType="num">
                                      <p:cBhvr>
                                        <p:cTn id="228" dur="2000" fill="hold"/>
                                        <p:tgtEl>
                                          <p:spTgt spid="288844"/>
                                        </p:tgtEl>
                                        <p:attrNameLst>
                                          <p:attrName>ppt_h</p:attrName>
                                        </p:attrNameLst>
                                      </p:cBhvr>
                                      <p:tavLst>
                                        <p:tav tm="0">
                                          <p:val>
                                            <p:fltVal val="0"/>
                                          </p:val>
                                        </p:tav>
                                        <p:tav tm="100000">
                                          <p:val>
                                            <p:strVal val="#ppt_h"/>
                                          </p:val>
                                        </p:tav>
                                      </p:tavLst>
                                    </p:anim>
                                    <p:anim calcmode="lin" valueType="num">
                                      <p:cBhvr>
                                        <p:cTn id="229" dur="2000" fill="hold"/>
                                        <p:tgtEl>
                                          <p:spTgt spid="288844"/>
                                        </p:tgtEl>
                                        <p:attrNameLst>
                                          <p:attrName>ppt_x</p:attrName>
                                        </p:attrNameLst>
                                      </p:cBhvr>
                                      <p:tavLst>
                                        <p:tav tm="0" fmla="#ppt_x+(cos(-2*pi*(1-$))*-#ppt_x-sin(-2*pi*(1-$))*(1-#ppt_y))*(1-$)">
                                          <p:val>
                                            <p:fltVal val="0"/>
                                          </p:val>
                                        </p:tav>
                                        <p:tav tm="100000">
                                          <p:val>
                                            <p:fltVal val="1"/>
                                          </p:val>
                                        </p:tav>
                                      </p:tavLst>
                                    </p:anim>
                                    <p:anim calcmode="lin" valueType="num">
                                      <p:cBhvr>
                                        <p:cTn id="230" dur="2000" fill="hold"/>
                                        <p:tgtEl>
                                          <p:spTgt spid="288844"/>
                                        </p:tgtEl>
                                        <p:attrNameLst>
                                          <p:attrName>ppt_y</p:attrName>
                                        </p:attrNameLst>
                                      </p:cBhvr>
                                      <p:tavLst>
                                        <p:tav tm="0" fmla="#ppt_y+(sin(-2*pi*(1-$))*-#ppt_x+cos(-2*pi*(1-$))*(1-#ppt_y))*(1-$)">
                                          <p:val>
                                            <p:fltVal val="0"/>
                                          </p:val>
                                        </p:tav>
                                        <p:tav tm="100000">
                                          <p:val>
                                            <p:fltVal val="1"/>
                                          </p:val>
                                        </p:tav>
                                      </p:tavLst>
                                    </p:anim>
                                  </p:childTnLst>
                                </p:cTn>
                              </p:par>
                              <p:par>
                                <p:cTn id="231" presetID="15" presetClass="entr" presetSubtype="0" fill="hold" grpId="0" nodeType="withEffect">
                                  <p:stCondLst>
                                    <p:cond delay="0"/>
                                  </p:stCondLst>
                                  <p:childTnLst>
                                    <p:set>
                                      <p:cBhvr>
                                        <p:cTn id="232" dur="1" fill="hold">
                                          <p:stCondLst>
                                            <p:cond delay="0"/>
                                          </p:stCondLst>
                                        </p:cTn>
                                        <p:tgtEl>
                                          <p:spTgt spid="288843"/>
                                        </p:tgtEl>
                                        <p:attrNameLst>
                                          <p:attrName>style.visibility</p:attrName>
                                        </p:attrNameLst>
                                      </p:cBhvr>
                                      <p:to>
                                        <p:strVal val="visible"/>
                                      </p:to>
                                    </p:set>
                                    <p:anim calcmode="lin" valueType="num">
                                      <p:cBhvr>
                                        <p:cTn id="233" dur="2000" fill="hold"/>
                                        <p:tgtEl>
                                          <p:spTgt spid="288843"/>
                                        </p:tgtEl>
                                        <p:attrNameLst>
                                          <p:attrName>ppt_w</p:attrName>
                                        </p:attrNameLst>
                                      </p:cBhvr>
                                      <p:tavLst>
                                        <p:tav tm="0">
                                          <p:val>
                                            <p:fltVal val="0"/>
                                          </p:val>
                                        </p:tav>
                                        <p:tav tm="100000">
                                          <p:val>
                                            <p:strVal val="#ppt_w"/>
                                          </p:val>
                                        </p:tav>
                                      </p:tavLst>
                                    </p:anim>
                                    <p:anim calcmode="lin" valueType="num">
                                      <p:cBhvr>
                                        <p:cTn id="234" dur="2000" fill="hold"/>
                                        <p:tgtEl>
                                          <p:spTgt spid="288843"/>
                                        </p:tgtEl>
                                        <p:attrNameLst>
                                          <p:attrName>ppt_h</p:attrName>
                                        </p:attrNameLst>
                                      </p:cBhvr>
                                      <p:tavLst>
                                        <p:tav tm="0">
                                          <p:val>
                                            <p:fltVal val="0"/>
                                          </p:val>
                                        </p:tav>
                                        <p:tav tm="100000">
                                          <p:val>
                                            <p:strVal val="#ppt_h"/>
                                          </p:val>
                                        </p:tav>
                                      </p:tavLst>
                                    </p:anim>
                                    <p:anim calcmode="lin" valueType="num">
                                      <p:cBhvr>
                                        <p:cTn id="235" dur="2000" fill="hold"/>
                                        <p:tgtEl>
                                          <p:spTgt spid="288843"/>
                                        </p:tgtEl>
                                        <p:attrNameLst>
                                          <p:attrName>ppt_x</p:attrName>
                                        </p:attrNameLst>
                                      </p:cBhvr>
                                      <p:tavLst>
                                        <p:tav tm="0" fmla="#ppt_x+(cos(-2*pi*(1-$))*-#ppt_x-sin(-2*pi*(1-$))*(1-#ppt_y))*(1-$)">
                                          <p:val>
                                            <p:fltVal val="0"/>
                                          </p:val>
                                        </p:tav>
                                        <p:tav tm="100000">
                                          <p:val>
                                            <p:fltVal val="1"/>
                                          </p:val>
                                        </p:tav>
                                      </p:tavLst>
                                    </p:anim>
                                    <p:anim calcmode="lin" valueType="num">
                                      <p:cBhvr>
                                        <p:cTn id="236" dur="2000" fill="hold"/>
                                        <p:tgtEl>
                                          <p:spTgt spid="28884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2" grpId="0" animBg="1"/>
      <p:bldP spid="288773" grpId="0" animBg="1"/>
      <p:bldP spid="288774" grpId="0" animBg="1"/>
      <p:bldP spid="288777" grpId="0" animBg="1"/>
      <p:bldP spid="288778" grpId="0"/>
      <p:bldP spid="288779" grpId="0"/>
      <p:bldP spid="288780" grpId="0"/>
      <p:bldP spid="288824" grpId="0"/>
      <p:bldP spid="288825" grpId="0"/>
      <p:bldP spid="288826" grpId="0"/>
      <p:bldP spid="288835" grpId="0"/>
      <p:bldP spid="288836" grpId="0"/>
      <p:bldP spid="288837" grpId="0"/>
      <p:bldP spid="288838" grpId="0" animBg="1"/>
      <p:bldP spid="288839" grpId="0" animBg="1"/>
      <p:bldP spid="288840" grpId="0" animBg="1"/>
      <p:bldP spid="288842" grpId="0"/>
      <p:bldP spid="288843" grpId="0" animBg="1"/>
      <p:bldP spid="288844" grpId="0"/>
      <p:bldP spid="288845" grpId="0" animBg="1"/>
      <p:bldP spid="288846" grpId="0"/>
      <p:bldP spid="288847" grpId="0"/>
      <p:bldP spid="288848" grpId="0" animBg="1"/>
      <p:bldP spid="28884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p:cNvSpPr txBox="1"/>
          <p:nvPr/>
        </p:nvSpPr>
        <p:spPr>
          <a:xfrm>
            <a:off x="381000" y="304800"/>
            <a:ext cx="80772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异步通信即可以用于并行传送也可以用于串行传送。</a:t>
            </a:r>
          </a:p>
        </p:txBody>
      </p:sp>
      <p:grpSp>
        <p:nvGrpSpPr>
          <p:cNvPr id="219139" name="Group 3"/>
          <p:cNvGrpSpPr/>
          <p:nvPr/>
        </p:nvGrpSpPr>
        <p:grpSpPr>
          <a:xfrm>
            <a:off x="914400" y="1981200"/>
            <a:ext cx="6934200" cy="2438400"/>
            <a:chOff x="720" y="1440"/>
            <a:chExt cx="4368" cy="1536"/>
          </a:xfrm>
        </p:grpSpPr>
        <p:sp>
          <p:nvSpPr>
            <p:cNvPr id="219140" name="Rectangle 4"/>
            <p:cNvSpPr>
              <a:spLocks noChangeArrowheads="1"/>
            </p:cNvSpPr>
            <p:nvPr/>
          </p:nvSpPr>
          <p:spPr bwMode="auto">
            <a:xfrm>
              <a:off x="720" y="1584"/>
              <a:ext cx="768" cy="1392"/>
            </a:xfrm>
            <a:prstGeom prst="rect">
              <a:avLst/>
            </a:prstGeom>
            <a:solidFill>
              <a:srgbClr val="FF66FF"/>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CPU</a:t>
              </a:r>
              <a:endParaRPr kumimoji="1" lang="en-US" altLang="zh-CN"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p:txBody>
        </p:sp>
        <p:sp>
          <p:nvSpPr>
            <p:cNvPr id="219141" name="Rectangle 5"/>
            <p:cNvSpPr>
              <a:spLocks noChangeArrowheads="1"/>
            </p:cNvSpPr>
            <p:nvPr/>
          </p:nvSpPr>
          <p:spPr bwMode="auto">
            <a:xfrm>
              <a:off x="2592" y="1584"/>
              <a:ext cx="768" cy="1344"/>
            </a:xfrm>
            <a:prstGeom prst="rect">
              <a:avLst/>
            </a:prstGeom>
            <a:solidFill>
              <a:schemeClr val="accent2"/>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I/O</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接 口</a:t>
              </a: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9142" name="Rectangle 6"/>
            <p:cNvSpPr>
              <a:spLocks noChangeArrowheads="1"/>
            </p:cNvSpPr>
            <p:nvPr/>
          </p:nvSpPr>
          <p:spPr bwMode="auto">
            <a:xfrm>
              <a:off x="4320" y="1536"/>
              <a:ext cx="768" cy="1392"/>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I/O</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000099"/>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设 备</a:t>
              </a:r>
              <a:endParaRPr kumimoji="1" lang="zh-CN" altLang="en-US"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p:txBody>
        </p:sp>
        <p:sp>
          <p:nvSpPr>
            <p:cNvPr id="36870" name="AutoShape 7"/>
            <p:cNvSpPr/>
            <p:nvPr/>
          </p:nvSpPr>
          <p:spPr>
            <a:xfrm>
              <a:off x="3360" y="1728"/>
              <a:ext cx="960" cy="144"/>
            </a:xfrm>
            <a:prstGeom prst="leftRightArrow">
              <a:avLst>
                <a:gd name="adj1" fmla="val 50000"/>
                <a:gd name="adj2" fmla="val 133117"/>
              </a:avLst>
            </a:prstGeom>
            <a:solidFill>
              <a:schemeClr val="accent1"/>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6871" name="Line 8"/>
            <p:cNvSpPr/>
            <p:nvPr/>
          </p:nvSpPr>
          <p:spPr>
            <a:xfrm>
              <a:off x="3360" y="2304"/>
              <a:ext cx="960" cy="0"/>
            </a:xfrm>
            <a:prstGeom prst="line">
              <a:avLst/>
            </a:prstGeom>
            <a:ln w="38100" cap="flat" cmpd="sng">
              <a:solidFill>
                <a:schemeClr val="hlink"/>
              </a:solidFill>
              <a:prstDash val="solid"/>
              <a:miter/>
              <a:headEnd type="none" w="med" len="med"/>
              <a:tailEnd type="triangle" w="med" len="med"/>
            </a:ln>
          </p:spPr>
        </p:sp>
        <p:sp>
          <p:nvSpPr>
            <p:cNvPr id="36872" name="Line 9"/>
            <p:cNvSpPr/>
            <p:nvPr/>
          </p:nvSpPr>
          <p:spPr>
            <a:xfrm flipH="1">
              <a:off x="3360" y="2688"/>
              <a:ext cx="960" cy="0"/>
            </a:xfrm>
            <a:prstGeom prst="line">
              <a:avLst/>
            </a:prstGeom>
            <a:ln w="38100" cap="flat" cmpd="sng">
              <a:solidFill>
                <a:srgbClr val="0033CC"/>
              </a:solidFill>
              <a:prstDash val="solid"/>
              <a:miter/>
              <a:headEnd type="none" w="med" len="med"/>
              <a:tailEnd type="triangle" w="med" len="med"/>
            </a:ln>
          </p:spPr>
        </p:sp>
        <p:sp>
          <p:nvSpPr>
            <p:cNvPr id="36873" name="AutoShape 10"/>
            <p:cNvSpPr/>
            <p:nvPr/>
          </p:nvSpPr>
          <p:spPr>
            <a:xfrm>
              <a:off x="1488" y="1728"/>
              <a:ext cx="1104" cy="144"/>
            </a:xfrm>
            <a:prstGeom prst="leftRightArrow">
              <a:avLst>
                <a:gd name="adj1" fmla="val 50000"/>
                <a:gd name="adj2" fmla="val 153084"/>
              </a:avLst>
            </a:prstGeom>
            <a:solidFill>
              <a:schemeClr val="accent1"/>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6874" name="AutoShape 11"/>
            <p:cNvSpPr/>
            <p:nvPr/>
          </p:nvSpPr>
          <p:spPr>
            <a:xfrm>
              <a:off x="1488" y="2208"/>
              <a:ext cx="1104" cy="144"/>
            </a:xfrm>
            <a:prstGeom prst="rightArrow">
              <a:avLst>
                <a:gd name="adj1" fmla="val 50000"/>
                <a:gd name="adj2" fmla="val 191418"/>
              </a:avLst>
            </a:prstGeom>
            <a:solidFill>
              <a:schemeClr val="accent2"/>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36875" name="AutoShape 12"/>
            <p:cNvSpPr/>
            <p:nvPr/>
          </p:nvSpPr>
          <p:spPr>
            <a:xfrm>
              <a:off x="1488" y="2640"/>
              <a:ext cx="1104" cy="144"/>
            </a:xfrm>
            <a:prstGeom prst="leftRightArrow">
              <a:avLst>
                <a:gd name="adj1" fmla="val 50000"/>
                <a:gd name="adj2" fmla="val 153084"/>
              </a:avLst>
            </a:prstGeom>
            <a:solidFill>
              <a:srgbClr val="FF66FF"/>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19149" name="Text Box 13"/>
            <p:cNvSpPr txBox="1">
              <a:spLocks noChangeArrowheads="1"/>
            </p:cNvSpPr>
            <p:nvPr/>
          </p:nvSpPr>
          <p:spPr bwMode="auto">
            <a:xfrm>
              <a:off x="1584" y="1440"/>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数据总线</a:t>
              </a:r>
            </a:p>
          </p:txBody>
        </p:sp>
        <p:sp>
          <p:nvSpPr>
            <p:cNvPr id="219150" name="Text Box 14"/>
            <p:cNvSpPr txBox="1">
              <a:spLocks noChangeArrowheads="1"/>
            </p:cNvSpPr>
            <p:nvPr/>
          </p:nvSpPr>
          <p:spPr bwMode="auto">
            <a:xfrm>
              <a:off x="1584" y="1920"/>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地址总线</a:t>
              </a:r>
            </a:p>
          </p:txBody>
        </p:sp>
        <p:sp>
          <p:nvSpPr>
            <p:cNvPr id="219151" name="Text Box 15"/>
            <p:cNvSpPr txBox="1">
              <a:spLocks noChangeArrowheads="1"/>
            </p:cNvSpPr>
            <p:nvPr/>
          </p:nvSpPr>
          <p:spPr bwMode="auto">
            <a:xfrm>
              <a:off x="1584" y="2352"/>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控制总线</a:t>
              </a:r>
              <a:endParaRPr kumimoji="1" lang="zh-CN" altLang="en-US" sz="2400" kern="1200" cap="none" spc="0" normalizeH="0" baseline="0" noProof="0">
                <a:latin typeface="Tahoma" panose="020B0604030504040204" pitchFamily="34" charset="0"/>
                <a:ea typeface="宋体" panose="02010600030101010101" pitchFamily="2" charset="-122"/>
                <a:cs typeface="+mn-cs"/>
              </a:endParaRPr>
            </a:p>
          </p:txBody>
        </p:sp>
        <p:sp>
          <p:nvSpPr>
            <p:cNvPr id="219152" name="Text Box 16"/>
            <p:cNvSpPr txBox="1">
              <a:spLocks noChangeArrowheads="1"/>
            </p:cNvSpPr>
            <p:nvPr/>
          </p:nvSpPr>
          <p:spPr bwMode="auto">
            <a:xfrm>
              <a:off x="3360" y="1440"/>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字或字节</a:t>
              </a:r>
              <a:endParaRPr kumimoji="1" lang="zh-CN" altLang="en-US" sz="2400" kern="1200" cap="none" spc="0" normalizeH="0" baseline="0" noProof="0">
                <a:latin typeface="Tahoma" panose="020B0604030504040204" pitchFamily="34" charset="0"/>
                <a:ea typeface="宋体" panose="02010600030101010101" pitchFamily="2" charset="-122"/>
                <a:cs typeface="+mn-cs"/>
              </a:endParaRPr>
            </a:p>
          </p:txBody>
        </p:sp>
        <p:sp>
          <p:nvSpPr>
            <p:cNvPr id="36880" name="Text Box 17"/>
            <p:cNvSpPr txBox="1"/>
            <p:nvPr/>
          </p:nvSpPr>
          <p:spPr>
            <a:xfrm>
              <a:off x="3504" y="2016"/>
              <a:ext cx="639" cy="288"/>
            </a:xfrm>
            <a:prstGeom prst="rect">
              <a:avLst/>
            </a:prstGeom>
            <a:noFill/>
            <a:ln w="9525">
              <a:noFill/>
            </a:ln>
          </p:spPr>
          <p:txBody>
            <a:bodyPr wrap="none" anchor="t" anchorCtr="0">
              <a:spAutoFit/>
            </a:bodyPr>
            <a:lstStyle/>
            <a:p>
              <a:pPr>
                <a:buClrTx/>
                <a:buFontTx/>
              </a:pPr>
              <a:r>
                <a:rPr lang="en-US" altLang="zh-CN" sz="2400" dirty="0">
                  <a:latin typeface="Tahoma" panose="020B0604030504040204" pitchFamily="34" charset="0"/>
                  <a:ea typeface="宋体" panose="02010600030101010101" pitchFamily="2" charset="-122"/>
                </a:rPr>
                <a:t>Ready</a:t>
              </a:r>
            </a:p>
          </p:txBody>
        </p:sp>
        <p:sp>
          <p:nvSpPr>
            <p:cNvPr id="36881" name="Text Box 18"/>
            <p:cNvSpPr txBox="1"/>
            <p:nvPr/>
          </p:nvSpPr>
          <p:spPr>
            <a:xfrm>
              <a:off x="3504" y="2400"/>
              <a:ext cx="667" cy="288"/>
            </a:xfrm>
            <a:prstGeom prst="rect">
              <a:avLst/>
            </a:prstGeom>
            <a:noFill/>
            <a:ln w="9525">
              <a:noFill/>
            </a:ln>
          </p:spPr>
          <p:txBody>
            <a:bodyPr wrap="none" anchor="t" anchorCtr="0">
              <a:spAutoFit/>
            </a:bodyPr>
            <a:lstStyle/>
            <a:p>
              <a:pPr>
                <a:buClrTx/>
                <a:buFontTx/>
              </a:pPr>
              <a:r>
                <a:rPr lang="en-US" altLang="zh-CN" sz="2400" dirty="0">
                  <a:latin typeface="Tahoma" panose="020B0604030504040204" pitchFamily="34" charset="0"/>
                  <a:ea typeface="宋体" panose="02010600030101010101" pitchFamily="2" charset="-122"/>
                </a:rPr>
                <a:t>Strobe</a:t>
              </a:r>
            </a:p>
          </p:txBody>
        </p:sp>
      </p:grpSp>
      <p:sp>
        <p:nvSpPr>
          <p:cNvPr id="219155" name="Text Box 19"/>
          <p:cNvSpPr txBox="1"/>
          <p:nvPr/>
        </p:nvSpPr>
        <p:spPr>
          <a:xfrm>
            <a:off x="1447800" y="4800600"/>
            <a:ext cx="5545138" cy="952500"/>
          </a:xfrm>
          <a:prstGeom prst="rect">
            <a:avLst/>
          </a:prstGeom>
          <a:noFill/>
          <a:ln w="9525">
            <a:noFill/>
          </a:ln>
        </p:spPr>
        <p:txBody>
          <a:bodyPr wrap="none" anchor="t" anchorCtr="0">
            <a:spAutoFit/>
          </a:bodyPr>
          <a:lstStyle/>
          <a:p>
            <a:pPr>
              <a:buClrTx/>
              <a:buFontTx/>
            </a:pPr>
            <a:r>
              <a:rPr lang="zh-CN" altLang="en-US" sz="2800" b="1">
                <a:latin typeface="Tahoma" panose="020B0604030504040204" pitchFamily="34" charset="0"/>
                <a:ea typeface="宋体" panose="02010600030101010101" pitchFamily="2" charset="-122"/>
              </a:rPr>
              <a:t>特点：按字或字节各位同时传送；</a:t>
            </a:r>
          </a:p>
          <a:p>
            <a:pPr>
              <a:buClrTx/>
              <a:buFontTx/>
            </a:pPr>
            <a:r>
              <a:rPr lang="zh-CN" altLang="en-US" sz="2800" b="1">
                <a:latin typeface="Tahoma" panose="020B0604030504040204" pitchFamily="34" charset="0"/>
                <a:ea typeface="宋体" panose="02010600030101010101" pitchFamily="2" charset="-122"/>
              </a:rPr>
              <a:t>          按应答方式进行联系。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9138"/>
                                        </p:tgtEl>
                                        <p:attrNameLst>
                                          <p:attrName>style.visibility</p:attrName>
                                        </p:attrNameLst>
                                      </p:cBhvr>
                                      <p:to>
                                        <p:strVal val="visible"/>
                                      </p:to>
                                    </p:set>
                                    <p:animEffect transition="in" filter="blinds(horizontal)">
                                      <p:cBhvr>
                                        <p:cTn id="7" dur="500"/>
                                        <p:tgtEl>
                                          <p:spTgt spid="2191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9139"/>
                                        </p:tgtEl>
                                        <p:attrNameLst>
                                          <p:attrName>style.visibility</p:attrName>
                                        </p:attrNameLst>
                                      </p:cBhvr>
                                      <p:to>
                                        <p:strVal val="visible"/>
                                      </p:to>
                                    </p:set>
                                    <p:animEffect transition="in" filter="blinds(horizontal)">
                                      <p:cBhvr>
                                        <p:cTn id="12" dur="500"/>
                                        <p:tgtEl>
                                          <p:spTgt spid="2191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9155"/>
                                        </p:tgtEl>
                                        <p:attrNameLst>
                                          <p:attrName>style.visibility</p:attrName>
                                        </p:attrNameLst>
                                      </p:cBhvr>
                                      <p:to>
                                        <p:strVal val="visible"/>
                                      </p:to>
                                    </p:set>
                                    <p:animEffect transition="in" filter="blinds(horizontal)">
                                      <p:cBhvr>
                                        <p:cTn id="17" dur="500"/>
                                        <p:tgtEl>
                                          <p:spTgt spid="21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8" grpId="0"/>
      <p:bldP spid="219155"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ChangeArrowheads="1"/>
          </p:cNvSpPr>
          <p:nvPr/>
        </p:nvSpPr>
        <p:spPr bwMode="auto">
          <a:xfrm>
            <a:off x="304800" y="228600"/>
            <a:ext cx="7772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sz="5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r>
              <a:rPr kumimoji="0" lang="zh-CN" altLang="en-US" sz="36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异步串行方式：</a:t>
            </a:r>
          </a:p>
        </p:txBody>
      </p:sp>
      <p:sp>
        <p:nvSpPr>
          <p:cNvPr id="220163" name="Rectangle 3"/>
          <p:cNvSpPr>
            <a:spLocks noChangeArrowheads="1"/>
          </p:cNvSpPr>
          <p:nvPr/>
        </p:nvSpPr>
        <p:spPr bwMode="auto">
          <a:xfrm>
            <a:off x="685800" y="3352800"/>
            <a:ext cx="73914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ctr">
              <a:spcBef>
                <a:spcPct val="20000"/>
              </a:spcBef>
              <a:buClr>
                <a:schemeClr val="hlink"/>
              </a:buClr>
              <a:buSzPct val="80000"/>
              <a:buFont typeface="Wingdings" panose="05000000000000000000" pitchFamily="2" charset="2"/>
              <a:defRPr sz="32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marL="742950" indent="-285750" algn="ctr">
              <a:spcBef>
                <a:spcPct val="20000"/>
              </a:spcBef>
              <a:buClr>
                <a:schemeClr val="tx2"/>
              </a:buClr>
              <a:buSzPct val="5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1143000" indent="-228600" algn="ctr">
              <a:spcBef>
                <a:spcPct val="20000"/>
              </a:spcBef>
              <a:buClr>
                <a:schemeClr val="accent2"/>
              </a:buClr>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marL="1600200" indent="-228600" algn="ctr">
              <a:spcBef>
                <a:spcPct val="20000"/>
              </a:spcBef>
              <a:buClr>
                <a:schemeClr val="folHlink"/>
              </a:buClr>
              <a:buSzPct val="5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2057400" indent="-228600" algn="ctr">
              <a:spcBef>
                <a:spcPct val="20000"/>
              </a:spcBef>
              <a:buClr>
                <a:schemeClr val="hlink"/>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2514600" indent="-228600" algn="ctr"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2971800" indent="-228600" algn="ctr"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3429000" indent="-228600" algn="ctr"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3886200" indent="-228600" algn="ctr"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defRPr/>
            </a:pPr>
            <a:r>
              <a:rPr kumimoji="0" lang="en-US" altLang="zh-CN" sz="28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特点：按位串行传送；</a:t>
            </a:r>
          </a:p>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按应答方式进行联系。</a:t>
            </a:r>
          </a:p>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这种方式要求数据中</a:t>
            </a:r>
            <a:r>
              <a:rPr kumimoji="0" lang="zh-CN" altLang="en-US" sz="2800" b="1" i="0" u="none" strike="noStrike" kern="1200" cap="none" spc="0" normalizeH="0" baseline="0" noProof="0" dirty="0">
                <a:ln>
                  <a:noFill/>
                </a:ln>
                <a:solidFill>
                  <a:schemeClr val="hlink"/>
                </a:solidFill>
                <a:effectLst/>
                <a:uLnTx/>
                <a:uFillTx/>
                <a:latin typeface="Arial" panose="020B0604020202020204" pitchFamily="34" charset="0"/>
                <a:ea typeface="宋体" panose="02010600030101010101" pitchFamily="2" charset="-122"/>
                <a:cs typeface="+mn-cs"/>
              </a:rPr>
              <a:t>设置数据格式</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p>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异步串行数据格式如下：</a:t>
            </a:r>
            <a:b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br>
            <a:endPar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0164" name="Rectangle 4"/>
          <p:cNvSpPr>
            <a:spLocks noChangeArrowheads="1"/>
          </p:cNvSpPr>
          <p:nvPr/>
        </p:nvSpPr>
        <p:spPr bwMode="auto">
          <a:xfrm>
            <a:off x="914400" y="1143000"/>
            <a:ext cx="1219200" cy="1863725"/>
          </a:xfrm>
          <a:prstGeom prst="rect">
            <a:avLst/>
          </a:prstGeom>
          <a:solidFill>
            <a:srgbClr val="FF66FF"/>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hlink"/>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CPU</a:t>
            </a:r>
            <a:endParaRPr kumimoji="1" lang="en-US" altLang="zh-CN"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p:txBody>
      </p:sp>
      <p:sp>
        <p:nvSpPr>
          <p:cNvPr id="220165" name="Rectangle 5"/>
          <p:cNvSpPr>
            <a:spLocks noChangeArrowheads="1"/>
          </p:cNvSpPr>
          <p:nvPr/>
        </p:nvSpPr>
        <p:spPr bwMode="auto">
          <a:xfrm>
            <a:off x="3962400" y="1184275"/>
            <a:ext cx="1219200" cy="1800225"/>
          </a:xfrm>
          <a:prstGeom prst="rect">
            <a:avLst/>
          </a:prstGeom>
          <a:solidFill>
            <a:schemeClr val="accent2"/>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I/O</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接口</a:t>
            </a: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20166" name="Rectangle 6"/>
          <p:cNvSpPr>
            <a:spLocks noChangeArrowheads="1"/>
          </p:cNvSpPr>
          <p:nvPr/>
        </p:nvSpPr>
        <p:spPr bwMode="auto">
          <a:xfrm>
            <a:off x="6705600" y="1119188"/>
            <a:ext cx="1219200" cy="1865313"/>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I/O</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000099"/>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设备</a:t>
            </a:r>
            <a:endParaRPr kumimoji="1" lang="zh-CN" altLang="en-US" sz="2400" b="1" i="0" u="none" strike="noStrike" kern="1200" cap="none" spc="0" normalizeH="0" baseline="0" noProof="0">
              <a:ln>
                <a:noFill/>
              </a:ln>
              <a:solidFill>
                <a:schemeClr val="tx1"/>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p:txBody>
      </p:sp>
      <p:sp>
        <p:nvSpPr>
          <p:cNvPr id="220167" name="Line 7"/>
          <p:cNvSpPr/>
          <p:nvPr/>
        </p:nvSpPr>
        <p:spPr>
          <a:xfrm>
            <a:off x="5181600" y="2147888"/>
            <a:ext cx="1524000" cy="0"/>
          </a:xfrm>
          <a:prstGeom prst="line">
            <a:avLst/>
          </a:prstGeom>
          <a:ln w="38100" cap="flat" cmpd="sng">
            <a:solidFill>
              <a:schemeClr val="hlink"/>
            </a:solidFill>
            <a:prstDash val="solid"/>
            <a:miter/>
            <a:headEnd type="none" w="med" len="med"/>
            <a:tailEnd type="triangle" w="med" len="med"/>
          </a:ln>
        </p:spPr>
      </p:sp>
      <p:sp>
        <p:nvSpPr>
          <p:cNvPr id="220168" name="Line 8"/>
          <p:cNvSpPr/>
          <p:nvPr/>
        </p:nvSpPr>
        <p:spPr>
          <a:xfrm flipH="1">
            <a:off x="5181600" y="2662238"/>
            <a:ext cx="1524000" cy="0"/>
          </a:xfrm>
          <a:prstGeom prst="line">
            <a:avLst/>
          </a:prstGeom>
          <a:ln w="38100" cap="flat" cmpd="sng">
            <a:solidFill>
              <a:srgbClr val="0033CC"/>
            </a:solidFill>
            <a:prstDash val="solid"/>
            <a:miter/>
            <a:headEnd type="none" w="med" len="med"/>
            <a:tailEnd type="triangle" w="med" len="med"/>
          </a:ln>
        </p:spPr>
      </p:sp>
      <p:sp>
        <p:nvSpPr>
          <p:cNvPr id="220169" name="AutoShape 9"/>
          <p:cNvSpPr/>
          <p:nvPr/>
        </p:nvSpPr>
        <p:spPr>
          <a:xfrm>
            <a:off x="2209800" y="1376363"/>
            <a:ext cx="1752600" cy="193675"/>
          </a:xfrm>
          <a:prstGeom prst="leftRightArrow">
            <a:avLst>
              <a:gd name="adj1" fmla="val 50000"/>
              <a:gd name="adj2" fmla="val 180690"/>
            </a:avLst>
          </a:prstGeom>
          <a:solidFill>
            <a:schemeClr val="accent1"/>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20170" name="AutoShape 10"/>
          <p:cNvSpPr/>
          <p:nvPr/>
        </p:nvSpPr>
        <p:spPr>
          <a:xfrm>
            <a:off x="2209800" y="2019300"/>
            <a:ext cx="1752600" cy="193675"/>
          </a:xfrm>
          <a:prstGeom prst="rightArrow">
            <a:avLst>
              <a:gd name="adj1" fmla="val 50000"/>
              <a:gd name="adj2" fmla="val 225936"/>
            </a:avLst>
          </a:prstGeom>
          <a:solidFill>
            <a:schemeClr val="accent2"/>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20171" name="AutoShape 11"/>
          <p:cNvSpPr/>
          <p:nvPr/>
        </p:nvSpPr>
        <p:spPr>
          <a:xfrm>
            <a:off x="2209800" y="2598738"/>
            <a:ext cx="1752600" cy="192087"/>
          </a:xfrm>
          <a:prstGeom prst="leftRightArrow">
            <a:avLst>
              <a:gd name="adj1" fmla="val 50000"/>
              <a:gd name="adj2" fmla="val 182184"/>
            </a:avLst>
          </a:prstGeom>
          <a:solidFill>
            <a:srgbClr val="FF66FF"/>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20172" name="Text Box 12"/>
          <p:cNvSpPr txBox="1">
            <a:spLocks noChangeArrowheads="1"/>
          </p:cNvSpPr>
          <p:nvPr/>
        </p:nvSpPr>
        <p:spPr bwMode="auto">
          <a:xfrm>
            <a:off x="2362200" y="990600"/>
            <a:ext cx="1406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数据总线</a:t>
            </a:r>
          </a:p>
        </p:txBody>
      </p:sp>
      <p:sp>
        <p:nvSpPr>
          <p:cNvPr id="220173" name="Text Box 13"/>
          <p:cNvSpPr txBox="1">
            <a:spLocks noChangeArrowheads="1"/>
          </p:cNvSpPr>
          <p:nvPr/>
        </p:nvSpPr>
        <p:spPr bwMode="auto">
          <a:xfrm>
            <a:off x="2362200" y="1633538"/>
            <a:ext cx="1406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地址总线</a:t>
            </a:r>
          </a:p>
        </p:txBody>
      </p:sp>
      <p:sp>
        <p:nvSpPr>
          <p:cNvPr id="220174" name="Text Box 14"/>
          <p:cNvSpPr txBox="1">
            <a:spLocks noChangeArrowheads="1"/>
          </p:cNvSpPr>
          <p:nvPr/>
        </p:nvSpPr>
        <p:spPr bwMode="auto">
          <a:xfrm>
            <a:off x="2362200" y="2212975"/>
            <a:ext cx="1406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控制总线</a:t>
            </a:r>
            <a:endParaRPr kumimoji="1" lang="zh-CN" altLang="en-US" sz="2400" kern="1200" cap="none" spc="0" normalizeH="0" baseline="0" noProof="0">
              <a:latin typeface="Tahoma" panose="020B0604030504040204" pitchFamily="34" charset="0"/>
              <a:ea typeface="宋体" panose="02010600030101010101" pitchFamily="2" charset="-122"/>
              <a:cs typeface="+mn-cs"/>
            </a:endParaRPr>
          </a:p>
        </p:txBody>
      </p:sp>
      <p:sp>
        <p:nvSpPr>
          <p:cNvPr id="220175" name="Text Box 15"/>
          <p:cNvSpPr txBox="1">
            <a:spLocks noChangeArrowheads="1"/>
          </p:cNvSpPr>
          <p:nvPr/>
        </p:nvSpPr>
        <p:spPr bwMode="auto">
          <a:xfrm>
            <a:off x="5181600" y="990600"/>
            <a:ext cx="1406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4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二进制位</a:t>
            </a:r>
            <a:endParaRPr kumimoji="1" lang="zh-CN" altLang="en-US" sz="2400" kern="1200" cap="none" spc="0" normalizeH="0" baseline="0" noProof="0">
              <a:latin typeface="Tahoma" panose="020B0604030504040204" pitchFamily="34" charset="0"/>
              <a:ea typeface="宋体" panose="02010600030101010101" pitchFamily="2" charset="-122"/>
              <a:cs typeface="+mn-cs"/>
            </a:endParaRPr>
          </a:p>
        </p:txBody>
      </p:sp>
      <p:sp>
        <p:nvSpPr>
          <p:cNvPr id="220176" name="Text Box 16"/>
          <p:cNvSpPr txBox="1"/>
          <p:nvPr/>
        </p:nvSpPr>
        <p:spPr>
          <a:xfrm>
            <a:off x="5410200" y="1762125"/>
            <a:ext cx="1006475" cy="460375"/>
          </a:xfrm>
          <a:prstGeom prst="rect">
            <a:avLst/>
          </a:prstGeom>
          <a:noFill/>
          <a:ln w="9525">
            <a:noFill/>
          </a:ln>
        </p:spPr>
        <p:txBody>
          <a:bodyPr wrap="none" anchor="t" anchorCtr="0">
            <a:spAutoFit/>
          </a:bodyPr>
          <a:lstStyle/>
          <a:p>
            <a:pPr>
              <a:buClrTx/>
              <a:buFontTx/>
            </a:pPr>
            <a:r>
              <a:rPr lang="en-US" altLang="zh-CN" sz="2400" dirty="0">
                <a:latin typeface="Tahoma" panose="020B0604030504040204" pitchFamily="34" charset="0"/>
                <a:ea typeface="宋体" panose="02010600030101010101" pitchFamily="2" charset="-122"/>
              </a:rPr>
              <a:t>Ready</a:t>
            </a:r>
          </a:p>
        </p:txBody>
      </p:sp>
      <p:sp>
        <p:nvSpPr>
          <p:cNvPr id="220177" name="Text Box 17"/>
          <p:cNvSpPr txBox="1"/>
          <p:nvPr/>
        </p:nvSpPr>
        <p:spPr>
          <a:xfrm>
            <a:off x="5410200" y="2276475"/>
            <a:ext cx="1057275" cy="460375"/>
          </a:xfrm>
          <a:prstGeom prst="rect">
            <a:avLst/>
          </a:prstGeom>
          <a:noFill/>
          <a:ln w="9525">
            <a:noFill/>
          </a:ln>
        </p:spPr>
        <p:txBody>
          <a:bodyPr wrap="none" anchor="t" anchorCtr="0">
            <a:spAutoFit/>
          </a:bodyPr>
          <a:lstStyle/>
          <a:p>
            <a:pPr>
              <a:buClrTx/>
              <a:buFontTx/>
            </a:pPr>
            <a:r>
              <a:rPr lang="en-US" altLang="zh-CN" sz="2400" dirty="0">
                <a:latin typeface="Tahoma" panose="020B0604030504040204" pitchFamily="34" charset="0"/>
                <a:ea typeface="宋体" panose="02010600030101010101" pitchFamily="2" charset="-122"/>
              </a:rPr>
              <a:t>Strobe</a:t>
            </a:r>
          </a:p>
        </p:txBody>
      </p:sp>
      <p:sp>
        <p:nvSpPr>
          <p:cNvPr id="220178" name="Line 18"/>
          <p:cNvSpPr/>
          <p:nvPr/>
        </p:nvSpPr>
        <p:spPr>
          <a:xfrm>
            <a:off x="5181600" y="1447800"/>
            <a:ext cx="1524000" cy="0"/>
          </a:xfrm>
          <a:prstGeom prst="line">
            <a:avLst/>
          </a:prstGeom>
          <a:ln w="38100" cap="flat" cmpd="sng">
            <a:solidFill>
              <a:schemeClr val="tx1"/>
            </a:solidFill>
            <a:prstDash val="solid"/>
            <a:miter/>
            <a:headEnd type="triangle" w="med" len="med"/>
            <a:tailEnd type="triangle" w="med" len="med"/>
          </a:ln>
        </p:spPr>
      </p:sp>
      <p:grpSp>
        <p:nvGrpSpPr>
          <p:cNvPr id="220179" name="Group 19"/>
          <p:cNvGrpSpPr/>
          <p:nvPr/>
        </p:nvGrpSpPr>
        <p:grpSpPr>
          <a:xfrm>
            <a:off x="914400" y="5486400"/>
            <a:ext cx="6477000" cy="1092200"/>
            <a:chOff x="576" y="3456"/>
            <a:chExt cx="4080" cy="688"/>
          </a:xfrm>
        </p:grpSpPr>
        <p:sp>
          <p:nvSpPr>
            <p:cNvPr id="37907" name="Line 20"/>
            <p:cNvSpPr/>
            <p:nvPr/>
          </p:nvSpPr>
          <p:spPr>
            <a:xfrm>
              <a:off x="576" y="3456"/>
              <a:ext cx="336" cy="0"/>
            </a:xfrm>
            <a:prstGeom prst="line">
              <a:avLst/>
            </a:prstGeom>
            <a:ln w="57150" cap="flat" cmpd="sng">
              <a:solidFill>
                <a:srgbClr val="000099"/>
              </a:solidFill>
              <a:prstDash val="solid"/>
              <a:miter/>
              <a:headEnd type="none" w="med" len="med"/>
              <a:tailEnd type="none" w="med" len="med"/>
            </a:ln>
          </p:spPr>
        </p:sp>
        <p:sp>
          <p:nvSpPr>
            <p:cNvPr id="37908" name="Line 21"/>
            <p:cNvSpPr/>
            <p:nvPr/>
          </p:nvSpPr>
          <p:spPr>
            <a:xfrm>
              <a:off x="912" y="3456"/>
              <a:ext cx="0" cy="240"/>
            </a:xfrm>
            <a:prstGeom prst="line">
              <a:avLst/>
            </a:prstGeom>
            <a:ln w="57150" cap="flat" cmpd="sng">
              <a:solidFill>
                <a:schemeClr val="hlink"/>
              </a:solidFill>
              <a:prstDash val="solid"/>
              <a:miter/>
              <a:headEnd type="none" w="med" len="med"/>
              <a:tailEnd type="none" w="med" len="med"/>
            </a:ln>
          </p:spPr>
        </p:sp>
        <p:sp>
          <p:nvSpPr>
            <p:cNvPr id="37909" name="Line 22"/>
            <p:cNvSpPr/>
            <p:nvPr/>
          </p:nvSpPr>
          <p:spPr>
            <a:xfrm>
              <a:off x="1248" y="3456"/>
              <a:ext cx="0" cy="240"/>
            </a:xfrm>
            <a:prstGeom prst="line">
              <a:avLst/>
            </a:prstGeom>
            <a:ln w="57150" cap="flat" cmpd="sng">
              <a:solidFill>
                <a:schemeClr val="hlink"/>
              </a:solidFill>
              <a:prstDash val="solid"/>
              <a:miter/>
              <a:headEnd type="none" w="med" len="med"/>
              <a:tailEnd type="none" w="med" len="med"/>
            </a:ln>
          </p:spPr>
        </p:sp>
        <p:sp>
          <p:nvSpPr>
            <p:cNvPr id="37910" name="Line 23"/>
            <p:cNvSpPr/>
            <p:nvPr/>
          </p:nvSpPr>
          <p:spPr>
            <a:xfrm>
              <a:off x="1248" y="3456"/>
              <a:ext cx="2688" cy="0"/>
            </a:xfrm>
            <a:prstGeom prst="line">
              <a:avLst/>
            </a:prstGeom>
            <a:ln w="57150" cap="flat" cmpd="sng">
              <a:solidFill>
                <a:srgbClr val="FF6600"/>
              </a:solidFill>
              <a:prstDash val="solid"/>
              <a:miter/>
              <a:headEnd type="none" w="med" len="med"/>
              <a:tailEnd type="none" w="med" len="med"/>
            </a:ln>
          </p:spPr>
        </p:sp>
        <p:sp>
          <p:nvSpPr>
            <p:cNvPr id="37911" name="Line 24"/>
            <p:cNvSpPr/>
            <p:nvPr/>
          </p:nvSpPr>
          <p:spPr>
            <a:xfrm>
              <a:off x="1248" y="3696"/>
              <a:ext cx="2688" cy="0"/>
            </a:xfrm>
            <a:prstGeom prst="line">
              <a:avLst/>
            </a:prstGeom>
            <a:ln w="57150" cap="flat" cmpd="sng">
              <a:solidFill>
                <a:srgbClr val="FF6600"/>
              </a:solidFill>
              <a:prstDash val="solid"/>
              <a:miter/>
              <a:headEnd type="none" w="med" len="med"/>
              <a:tailEnd type="none" w="med" len="med"/>
            </a:ln>
          </p:spPr>
        </p:sp>
        <p:sp>
          <p:nvSpPr>
            <p:cNvPr id="37912" name="Line 25"/>
            <p:cNvSpPr/>
            <p:nvPr/>
          </p:nvSpPr>
          <p:spPr>
            <a:xfrm>
              <a:off x="1584" y="3456"/>
              <a:ext cx="0" cy="240"/>
            </a:xfrm>
            <a:prstGeom prst="line">
              <a:avLst/>
            </a:prstGeom>
            <a:ln w="28575" cap="flat" cmpd="sng">
              <a:solidFill>
                <a:srgbClr val="FF6600"/>
              </a:solidFill>
              <a:prstDash val="solid"/>
              <a:miter/>
              <a:headEnd type="none" w="med" len="med"/>
              <a:tailEnd type="none" w="med" len="med"/>
            </a:ln>
          </p:spPr>
        </p:sp>
        <p:sp>
          <p:nvSpPr>
            <p:cNvPr id="37913" name="Line 26"/>
            <p:cNvSpPr/>
            <p:nvPr/>
          </p:nvSpPr>
          <p:spPr>
            <a:xfrm>
              <a:off x="1920" y="3456"/>
              <a:ext cx="0" cy="240"/>
            </a:xfrm>
            <a:prstGeom prst="line">
              <a:avLst/>
            </a:prstGeom>
            <a:ln w="38100" cap="flat" cmpd="sng">
              <a:solidFill>
                <a:srgbClr val="FF6600"/>
              </a:solidFill>
              <a:prstDash val="solid"/>
              <a:miter/>
              <a:headEnd type="none" w="med" len="med"/>
              <a:tailEnd type="none" w="med" len="med"/>
            </a:ln>
          </p:spPr>
        </p:sp>
        <p:sp>
          <p:nvSpPr>
            <p:cNvPr id="37914" name="Line 27"/>
            <p:cNvSpPr/>
            <p:nvPr/>
          </p:nvSpPr>
          <p:spPr>
            <a:xfrm>
              <a:off x="2256" y="3456"/>
              <a:ext cx="0" cy="240"/>
            </a:xfrm>
            <a:prstGeom prst="line">
              <a:avLst/>
            </a:prstGeom>
            <a:ln w="38100" cap="flat" cmpd="sng">
              <a:solidFill>
                <a:srgbClr val="FF6600"/>
              </a:solidFill>
              <a:prstDash val="solid"/>
              <a:miter/>
              <a:headEnd type="none" w="med" len="med"/>
              <a:tailEnd type="none" w="med" len="med"/>
            </a:ln>
          </p:spPr>
        </p:sp>
        <p:sp>
          <p:nvSpPr>
            <p:cNvPr id="37915" name="Line 28"/>
            <p:cNvSpPr/>
            <p:nvPr/>
          </p:nvSpPr>
          <p:spPr>
            <a:xfrm>
              <a:off x="2592" y="3456"/>
              <a:ext cx="0" cy="240"/>
            </a:xfrm>
            <a:prstGeom prst="line">
              <a:avLst/>
            </a:prstGeom>
            <a:ln w="38100" cap="flat" cmpd="sng">
              <a:solidFill>
                <a:srgbClr val="FF6600"/>
              </a:solidFill>
              <a:prstDash val="solid"/>
              <a:miter/>
              <a:headEnd type="none" w="med" len="med"/>
              <a:tailEnd type="none" w="med" len="med"/>
            </a:ln>
          </p:spPr>
        </p:sp>
        <p:sp>
          <p:nvSpPr>
            <p:cNvPr id="37916" name="Line 29"/>
            <p:cNvSpPr/>
            <p:nvPr/>
          </p:nvSpPr>
          <p:spPr>
            <a:xfrm>
              <a:off x="2928" y="3456"/>
              <a:ext cx="0" cy="240"/>
            </a:xfrm>
            <a:prstGeom prst="line">
              <a:avLst/>
            </a:prstGeom>
            <a:ln w="28575" cap="flat" cmpd="sng">
              <a:solidFill>
                <a:srgbClr val="FF6600"/>
              </a:solidFill>
              <a:prstDash val="solid"/>
              <a:miter/>
              <a:headEnd type="none" w="med" len="med"/>
              <a:tailEnd type="none" w="med" len="med"/>
            </a:ln>
          </p:spPr>
        </p:sp>
        <p:sp>
          <p:nvSpPr>
            <p:cNvPr id="37917" name="Line 30"/>
            <p:cNvSpPr/>
            <p:nvPr/>
          </p:nvSpPr>
          <p:spPr>
            <a:xfrm>
              <a:off x="3264" y="3456"/>
              <a:ext cx="0" cy="240"/>
            </a:xfrm>
            <a:prstGeom prst="line">
              <a:avLst/>
            </a:prstGeom>
            <a:ln w="38100" cap="flat" cmpd="sng">
              <a:solidFill>
                <a:srgbClr val="FF6600"/>
              </a:solidFill>
              <a:prstDash val="solid"/>
              <a:miter/>
              <a:headEnd type="none" w="med" len="med"/>
              <a:tailEnd type="none" w="med" len="med"/>
            </a:ln>
          </p:spPr>
        </p:sp>
        <p:sp>
          <p:nvSpPr>
            <p:cNvPr id="37918" name="Line 31"/>
            <p:cNvSpPr/>
            <p:nvPr/>
          </p:nvSpPr>
          <p:spPr>
            <a:xfrm>
              <a:off x="3600" y="3456"/>
              <a:ext cx="0" cy="240"/>
            </a:xfrm>
            <a:prstGeom prst="line">
              <a:avLst/>
            </a:prstGeom>
            <a:ln w="38100" cap="flat" cmpd="sng">
              <a:solidFill>
                <a:srgbClr val="FF6600"/>
              </a:solidFill>
              <a:prstDash val="solid"/>
              <a:miter/>
              <a:headEnd type="none" w="med" len="med"/>
              <a:tailEnd type="none" w="med" len="med"/>
            </a:ln>
          </p:spPr>
        </p:sp>
        <p:sp>
          <p:nvSpPr>
            <p:cNvPr id="37919" name="Line 32"/>
            <p:cNvSpPr/>
            <p:nvPr/>
          </p:nvSpPr>
          <p:spPr>
            <a:xfrm>
              <a:off x="3936" y="3456"/>
              <a:ext cx="0" cy="240"/>
            </a:xfrm>
            <a:prstGeom prst="line">
              <a:avLst/>
            </a:prstGeom>
            <a:ln w="57150" cap="flat" cmpd="sng">
              <a:solidFill>
                <a:srgbClr val="000099"/>
              </a:solidFill>
              <a:prstDash val="solid"/>
              <a:miter/>
              <a:headEnd type="none" w="med" len="med"/>
              <a:tailEnd type="none" w="med" len="med"/>
            </a:ln>
          </p:spPr>
        </p:sp>
        <p:sp>
          <p:nvSpPr>
            <p:cNvPr id="37920" name="Line 33"/>
            <p:cNvSpPr/>
            <p:nvPr/>
          </p:nvSpPr>
          <p:spPr>
            <a:xfrm>
              <a:off x="4272" y="3456"/>
              <a:ext cx="0" cy="240"/>
            </a:xfrm>
            <a:prstGeom prst="line">
              <a:avLst/>
            </a:prstGeom>
            <a:ln w="57150" cap="flat" cmpd="sng">
              <a:solidFill>
                <a:srgbClr val="000099"/>
              </a:solidFill>
              <a:prstDash val="solid"/>
              <a:miter/>
              <a:headEnd type="none" w="med" len="med"/>
              <a:tailEnd type="none" w="med" len="med"/>
            </a:ln>
          </p:spPr>
        </p:sp>
        <p:sp>
          <p:nvSpPr>
            <p:cNvPr id="37921" name="Line 34"/>
            <p:cNvSpPr/>
            <p:nvPr/>
          </p:nvSpPr>
          <p:spPr>
            <a:xfrm>
              <a:off x="4272" y="3696"/>
              <a:ext cx="384" cy="0"/>
            </a:xfrm>
            <a:prstGeom prst="line">
              <a:avLst/>
            </a:prstGeom>
            <a:ln w="57150" cap="flat" cmpd="sng">
              <a:solidFill>
                <a:srgbClr val="FF0000"/>
              </a:solidFill>
              <a:prstDash val="solid"/>
              <a:miter/>
              <a:headEnd type="none" w="med" len="med"/>
              <a:tailEnd type="none" w="med" len="med"/>
            </a:ln>
          </p:spPr>
        </p:sp>
        <p:sp>
          <p:nvSpPr>
            <p:cNvPr id="220195" name="Text Box 35"/>
            <p:cNvSpPr txBox="1">
              <a:spLocks noChangeArrowheads="1"/>
            </p:cNvSpPr>
            <p:nvPr/>
          </p:nvSpPr>
          <p:spPr bwMode="auto">
            <a:xfrm>
              <a:off x="768" y="3702"/>
              <a:ext cx="67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buNone/>
                <a:defRPr/>
              </a:pPr>
              <a:r>
                <a:rPr kumimoji="1" lang="zh-CN" altLang="en-US" sz="2000" b="1" kern="1200" cap="none" spc="0" normalizeH="0" baseline="0" noProof="0">
                  <a:solidFill>
                    <a:srgbClr val="CC0000"/>
                  </a:solidFill>
                  <a:effectLst>
                    <a:outerShdw blurRad="38100" dist="38100" dir="2700000" algn="tl">
                      <a:srgbClr val="000000"/>
                    </a:outerShdw>
                  </a:effectLst>
                  <a:latin typeface="Tahoma" panose="020B0604030504040204" pitchFamily="34" charset="0"/>
                  <a:ea typeface="宋体" panose="02010600030101010101" pitchFamily="2" charset="-122"/>
                  <a:cs typeface="+mn-cs"/>
                </a:rPr>
                <a:t>起始位</a:t>
              </a:r>
            </a:p>
            <a:p>
              <a:pPr marR="0" defTabSz="914400">
                <a:buClrTx/>
                <a:buSzTx/>
                <a:buFontTx/>
                <a:buNone/>
                <a:defRPr/>
              </a:pPr>
              <a:r>
                <a:rPr kumimoji="1" lang="zh-CN" altLang="en-US" sz="2000" b="1" kern="1200" cap="none" spc="0" normalizeH="0" baseline="0" noProof="0">
                  <a:solidFill>
                    <a:srgbClr val="CC0000"/>
                  </a:solidFill>
                  <a:effectLst>
                    <a:outerShdw blurRad="38100" dist="38100" dir="2700000" algn="tl">
                      <a:srgbClr val="000000"/>
                    </a:outerShdw>
                  </a:effectLst>
                  <a:latin typeface="Tahoma" panose="020B0604030504040204" pitchFamily="34" charset="0"/>
                  <a:ea typeface="宋体" panose="02010600030101010101" pitchFamily="2" charset="-122"/>
                  <a:cs typeface="+mn-cs"/>
                </a:rPr>
                <a:t>（低）</a:t>
              </a:r>
              <a:endParaRPr kumimoji="1" lang="zh-CN" altLang="en-US" sz="2400" kern="1200" cap="none" spc="0" normalizeH="0" baseline="0" noProof="0">
                <a:solidFill>
                  <a:srgbClr val="CC0000"/>
                </a:solidFill>
                <a:latin typeface="Tahoma" panose="020B0604030504040204" pitchFamily="34" charset="0"/>
                <a:ea typeface="宋体" panose="02010600030101010101" pitchFamily="2" charset="-122"/>
                <a:cs typeface="+mn-cs"/>
              </a:endParaRPr>
            </a:p>
          </p:txBody>
        </p:sp>
        <p:sp>
          <p:nvSpPr>
            <p:cNvPr id="220196" name="Text Box 36"/>
            <p:cNvSpPr txBox="1">
              <a:spLocks noChangeArrowheads="1"/>
            </p:cNvSpPr>
            <p:nvPr/>
          </p:nvSpPr>
          <p:spPr bwMode="auto">
            <a:xfrm>
              <a:off x="3408" y="3696"/>
              <a:ext cx="11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0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  </a:t>
              </a:r>
              <a:r>
                <a:rPr kumimoji="1" lang="zh-CN" altLang="en-US" sz="2000" b="1" kern="1200" cap="none" spc="0" normalizeH="0" baseline="0" noProof="0">
                  <a:solidFill>
                    <a:srgbClr val="008000"/>
                  </a:solidFill>
                  <a:effectLst>
                    <a:outerShdw blurRad="38100" dist="38100" dir="2700000" algn="tl">
                      <a:srgbClr val="000000"/>
                    </a:outerShdw>
                  </a:effectLst>
                  <a:latin typeface="Tahoma" panose="020B0604030504040204" pitchFamily="34" charset="0"/>
                  <a:ea typeface="宋体" panose="02010600030101010101" pitchFamily="2" charset="-122"/>
                  <a:cs typeface="+mn-cs"/>
                </a:rPr>
                <a:t>奇偶   </a:t>
              </a:r>
              <a:r>
                <a:rPr kumimoji="1" lang="zh-CN" altLang="en-US" sz="2000" b="1" kern="1200" cap="none" spc="0" normalizeH="0" baseline="0" noProof="0">
                  <a:solidFill>
                    <a:srgbClr val="000099"/>
                  </a:solidFill>
                  <a:effectLst>
                    <a:outerShdw blurRad="38100" dist="38100" dir="2700000" algn="tl">
                      <a:srgbClr val="000000"/>
                    </a:outerShdw>
                  </a:effectLst>
                  <a:latin typeface="Tahoma" panose="020B0604030504040204" pitchFamily="34" charset="0"/>
                  <a:ea typeface="宋体" panose="02010600030101010101" pitchFamily="2" charset="-122"/>
                  <a:cs typeface="+mn-cs"/>
                </a:rPr>
                <a:t>停止位</a:t>
              </a:r>
              <a:endParaRPr kumimoji="1" lang="zh-CN" altLang="en-US" sz="2000" b="1" kern="1200" cap="none" spc="0" normalizeH="0" baseline="0" noProof="0">
                <a:solidFill>
                  <a:srgbClr val="008000"/>
                </a:solidFill>
                <a:effectLst>
                  <a:outerShdw blurRad="38100" dist="38100" dir="2700000" algn="tl">
                    <a:srgbClr val="000000"/>
                  </a:outerShdw>
                </a:effectLst>
                <a:latin typeface="Tahoma" panose="020B0604030504040204" pitchFamily="34" charset="0"/>
                <a:ea typeface="宋体" panose="02010600030101010101" pitchFamily="2" charset="-122"/>
                <a:cs typeface="+mn-cs"/>
              </a:endParaRPr>
            </a:p>
            <a:p>
              <a:pPr marR="0" defTabSz="914400">
                <a:buClrTx/>
                <a:buSzTx/>
                <a:buFontTx/>
                <a:buNone/>
                <a:defRPr/>
              </a:pPr>
              <a:r>
                <a:rPr kumimoji="1" lang="zh-CN" altLang="en-US" sz="2000" b="1" kern="1200" cap="none" spc="0" normalizeH="0" baseline="0" noProof="0">
                  <a:solidFill>
                    <a:srgbClr val="008000"/>
                  </a:solidFill>
                  <a:effectLst>
                    <a:outerShdw blurRad="38100" dist="38100" dir="2700000" algn="tl">
                      <a:srgbClr val="000000"/>
                    </a:outerShdw>
                  </a:effectLst>
                  <a:latin typeface="Tahoma" panose="020B0604030504040204" pitchFamily="34" charset="0"/>
                  <a:ea typeface="宋体" panose="02010600030101010101" pitchFamily="2" charset="-122"/>
                  <a:cs typeface="+mn-cs"/>
                </a:rPr>
                <a:t>校验位  </a:t>
              </a:r>
              <a:r>
                <a:rPr kumimoji="1" lang="zh-CN" altLang="en-US" sz="2000" b="1" kern="1200" cap="none" spc="0" normalizeH="0" baseline="0" noProof="0">
                  <a:solidFill>
                    <a:schemeClr val="tx2"/>
                  </a:solidFill>
                  <a:effectLst>
                    <a:outerShdw blurRad="38100" dist="38100" dir="2700000" algn="tl">
                      <a:srgbClr val="000000"/>
                    </a:outerShdw>
                  </a:effectLst>
                  <a:latin typeface="Tahoma" panose="020B0604030504040204" pitchFamily="34" charset="0"/>
                  <a:ea typeface="宋体" panose="02010600030101010101" pitchFamily="2" charset="-122"/>
                  <a:cs typeface="+mn-cs"/>
                </a:rPr>
                <a:t>（高）</a:t>
              </a:r>
              <a:endParaRPr kumimoji="1" lang="zh-CN" altLang="en-US" sz="20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endParaRPr>
            </a:p>
          </p:txBody>
        </p:sp>
        <p:sp>
          <p:nvSpPr>
            <p:cNvPr id="220197" name="Text Box 37"/>
            <p:cNvSpPr txBox="1">
              <a:spLocks noChangeArrowheads="1"/>
            </p:cNvSpPr>
            <p:nvPr/>
          </p:nvSpPr>
          <p:spPr bwMode="auto">
            <a:xfrm>
              <a:off x="1200" y="3456"/>
              <a:ext cx="28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000" b="1" kern="1200" cap="none" spc="0" normalizeH="0" baseline="0" noProof="0">
                  <a:effectLst>
                    <a:outerShdw blurRad="38100" dist="38100" dir="2700000" algn="tl">
                      <a:srgbClr val="000000"/>
                    </a:outerShdw>
                  </a:effectLst>
                  <a:latin typeface="Tahoma" panose="020B0604030504040204" pitchFamily="34" charset="0"/>
                  <a:ea typeface="宋体" panose="02010600030101010101" pitchFamily="2" charset="-122"/>
                  <a:cs typeface="+mn-cs"/>
                </a:rPr>
                <a:t>0/1 0/1 0/1 0/1 0/1 0/1 0/1 0/1</a:t>
              </a:r>
            </a:p>
          </p:txBody>
        </p:sp>
        <p:sp>
          <p:nvSpPr>
            <p:cNvPr id="37925" name="Line 38"/>
            <p:cNvSpPr/>
            <p:nvPr/>
          </p:nvSpPr>
          <p:spPr>
            <a:xfrm>
              <a:off x="912" y="3696"/>
              <a:ext cx="336" cy="0"/>
            </a:xfrm>
            <a:prstGeom prst="line">
              <a:avLst/>
            </a:prstGeom>
            <a:ln w="57150" cap="flat" cmpd="sng">
              <a:solidFill>
                <a:schemeClr val="hlink"/>
              </a:solidFill>
              <a:prstDash val="solid"/>
              <a:miter/>
              <a:headEnd type="none" w="med" len="med"/>
              <a:tailEnd type="none" w="med" len="med"/>
            </a:ln>
          </p:spPr>
        </p:sp>
        <p:sp>
          <p:nvSpPr>
            <p:cNvPr id="37926" name="Line 39"/>
            <p:cNvSpPr/>
            <p:nvPr/>
          </p:nvSpPr>
          <p:spPr>
            <a:xfrm>
              <a:off x="3936" y="3456"/>
              <a:ext cx="336" cy="0"/>
            </a:xfrm>
            <a:prstGeom prst="line">
              <a:avLst/>
            </a:prstGeom>
            <a:ln w="57150" cap="flat" cmpd="sng">
              <a:solidFill>
                <a:srgbClr val="000099"/>
              </a:solidFill>
              <a:prstDash val="solid"/>
              <a:miter/>
              <a:headEnd type="none" w="med" len="med"/>
              <a:tailEnd type="none" w="med" len="med"/>
            </a:ln>
          </p:spPr>
        </p:sp>
        <p:sp>
          <p:nvSpPr>
            <p:cNvPr id="37927" name="AutoShape 40"/>
            <p:cNvSpPr/>
            <p:nvPr/>
          </p:nvSpPr>
          <p:spPr>
            <a:xfrm rot="-5422790">
              <a:off x="2343" y="2585"/>
              <a:ext cx="144" cy="2351"/>
            </a:xfrm>
            <a:prstGeom prst="leftBrace">
              <a:avLst>
                <a:gd name="adj1" fmla="val 135524"/>
                <a:gd name="adj2" fmla="val 48421"/>
              </a:avLst>
            </a:prstGeom>
            <a:noFill/>
            <a:ln w="9525" cap="flat" cmpd="sng">
              <a:solidFill>
                <a:srgbClr val="FF6600"/>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20201" name="Text Box 41"/>
            <p:cNvSpPr txBox="1">
              <a:spLocks noChangeArrowheads="1"/>
            </p:cNvSpPr>
            <p:nvPr/>
          </p:nvSpPr>
          <p:spPr bwMode="auto">
            <a:xfrm>
              <a:off x="2112" y="3840"/>
              <a:ext cx="5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zh-CN" altLang="en-US" sz="2000" b="1" kern="1200" cap="none" spc="0" normalizeH="0" baseline="0" noProof="0">
                  <a:solidFill>
                    <a:srgbClr val="FF6600"/>
                  </a:solidFill>
                  <a:effectLst>
                    <a:outerShdw blurRad="38100" dist="38100" dir="2700000" algn="tl">
                      <a:srgbClr val="000000"/>
                    </a:outerShdw>
                  </a:effectLst>
                  <a:latin typeface="Tahoma" panose="020B0604030504040204" pitchFamily="34" charset="0"/>
                  <a:ea typeface="宋体" panose="02010600030101010101" pitchFamily="2" charset="-122"/>
                  <a:cs typeface="+mn-cs"/>
                </a:rPr>
                <a:t>数据位</a:t>
              </a:r>
              <a:endParaRPr kumimoji="1" lang="zh-CN" altLang="en-US" sz="2400" kern="1200" cap="none" spc="0" normalizeH="0" baseline="0" noProof="0">
                <a:solidFill>
                  <a:srgbClr val="FF6600"/>
                </a:solidFill>
                <a:latin typeface="Tahoma" panose="020B0604030504040204" pitchFamily="34"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0162"/>
                                        </p:tgtEl>
                                        <p:attrNameLst>
                                          <p:attrName>style.visibility</p:attrName>
                                        </p:attrNameLst>
                                      </p:cBhvr>
                                      <p:to>
                                        <p:strVal val="visible"/>
                                      </p:to>
                                    </p:set>
                                    <p:animEffect transition="in" filter="blinds(horizontal)">
                                      <p:cBhvr>
                                        <p:cTn id="7" dur="500"/>
                                        <p:tgtEl>
                                          <p:spTgt spid="2201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0164"/>
                                        </p:tgtEl>
                                        <p:attrNameLst>
                                          <p:attrName>style.visibility</p:attrName>
                                        </p:attrNameLst>
                                      </p:cBhvr>
                                      <p:to>
                                        <p:strVal val="visible"/>
                                      </p:to>
                                    </p:set>
                                    <p:animEffect transition="in" filter="blinds(horizontal)">
                                      <p:cBhvr>
                                        <p:cTn id="12" dur="500"/>
                                        <p:tgtEl>
                                          <p:spTgt spid="22016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20165"/>
                                        </p:tgtEl>
                                        <p:attrNameLst>
                                          <p:attrName>style.visibility</p:attrName>
                                        </p:attrNameLst>
                                      </p:cBhvr>
                                      <p:to>
                                        <p:strVal val="visible"/>
                                      </p:to>
                                    </p:set>
                                    <p:animEffect transition="in" filter="blinds(horizontal)">
                                      <p:cBhvr>
                                        <p:cTn id="15" dur="500"/>
                                        <p:tgtEl>
                                          <p:spTgt spid="22016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20166"/>
                                        </p:tgtEl>
                                        <p:attrNameLst>
                                          <p:attrName>style.visibility</p:attrName>
                                        </p:attrNameLst>
                                      </p:cBhvr>
                                      <p:to>
                                        <p:strVal val="visible"/>
                                      </p:to>
                                    </p:set>
                                    <p:animEffect transition="in" filter="blinds(horizontal)">
                                      <p:cBhvr>
                                        <p:cTn id="18" dur="500"/>
                                        <p:tgtEl>
                                          <p:spTgt spid="220166"/>
                                        </p:tgtEl>
                                      </p:cBhvr>
                                    </p:animEffect>
                                  </p:childTnLst>
                                </p:cTn>
                              </p:par>
                              <p:par>
                                <p:cTn id="19" presetID="3" presetClass="entr" presetSubtype="10" fill="hold" nodeType="withEffect">
                                  <p:stCondLst>
                                    <p:cond delay="0"/>
                                  </p:stCondLst>
                                  <p:childTnLst>
                                    <p:set>
                                      <p:cBhvr>
                                        <p:cTn id="20" dur="1" fill="hold">
                                          <p:stCondLst>
                                            <p:cond delay="0"/>
                                          </p:stCondLst>
                                        </p:cTn>
                                        <p:tgtEl>
                                          <p:spTgt spid="220167"/>
                                        </p:tgtEl>
                                        <p:attrNameLst>
                                          <p:attrName>style.visibility</p:attrName>
                                        </p:attrNameLst>
                                      </p:cBhvr>
                                      <p:to>
                                        <p:strVal val="visible"/>
                                      </p:to>
                                    </p:set>
                                    <p:animEffect transition="in" filter="blinds(horizontal)">
                                      <p:cBhvr>
                                        <p:cTn id="21" dur="500"/>
                                        <p:tgtEl>
                                          <p:spTgt spid="220167"/>
                                        </p:tgtEl>
                                      </p:cBhvr>
                                    </p:animEffect>
                                  </p:childTnLst>
                                </p:cTn>
                              </p:par>
                              <p:par>
                                <p:cTn id="22" presetID="3" presetClass="entr" presetSubtype="10" fill="hold" nodeType="withEffect">
                                  <p:stCondLst>
                                    <p:cond delay="0"/>
                                  </p:stCondLst>
                                  <p:childTnLst>
                                    <p:set>
                                      <p:cBhvr>
                                        <p:cTn id="23" dur="1" fill="hold">
                                          <p:stCondLst>
                                            <p:cond delay="0"/>
                                          </p:stCondLst>
                                        </p:cTn>
                                        <p:tgtEl>
                                          <p:spTgt spid="220168"/>
                                        </p:tgtEl>
                                        <p:attrNameLst>
                                          <p:attrName>style.visibility</p:attrName>
                                        </p:attrNameLst>
                                      </p:cBhvr>
                                      <p:to>
                                        <p:strVal val="visible"/>
                                      </p:to>
                                    </p:set>
                                    <p:animEffect transition="in" filter="blinds(horizontal)">
                                      <p:cBhvr>
                                        <p:cTn id="24" dur="500"/>
                                        <p:tgtEl>
                                          <p:spTgt spid="220168"/>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20169"/>
                                        </p:tgtEl>
                                        <p:attrNameLst>
                                          <p:attrName>style.visibility</p:attrName>
                                        </p:attrNameLst>
                                      </p:cBhvr>
                                      <p:to>
                                        <p:strVal val="visible"/>
                                      </p:to>
                                    </p:set>
                                    <p:animEffect transition="in" filter="blinds(horizontal)">
                                      <p:cBhvr>
                                        <p:cTn id="27" dur="500"/>
                                        <p:tgtEl>
                                          <p:spTgt spid="22016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20170"/>
                                        </p:tgtEl>
                                        <p:attrNameLst>
                                          <p:attrName>style.visibility</p:attrName>
                                        </p:attrNameLst>
                                      </p:cBhvr>
                                      <p:to>
                                        <p:strVal val="visible"/>
                                      </p:to>
                                    </p:set>
                                    <p:animEffect transition="in" filter="blinds(horizontal)">
                                      <p:cBhvr>
                                        <p:cTn id="30" dur="500"/>
                                        <p:tgtEl>
                                          <p:spTgt spid="220170"/>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20171"/>
                                        </p:tgtEl>
                                        <p:attrNameLst>
                                          <p:attrName>style.visibility</p:attrName>
                                        </p:attrNameLst>
                                      </p:cBhvr>
                                      <p:to>
                                        <p:strVal val="visible"/>
                                      </p:to>
                                    </p:set>
                                    <p:animEffect transition="in" filter="blinds(horizontal)">
                                      <p:cBhvr>
                                        <p:cTn id="33" dur="500"/>
                                        <p:tgtEl>
                                          <p:spTgt spid="220171"/>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20172"/>
                                        </p:tgtEl>
                                        <p:attrNameLst>
                                          <p:attrName>style.visibility</p:attrName>
                                        </p:attrNameLst>
                                      </p:cBhvr>
                                      <p:to>
                                        <p:strVal val="visible"/>
                                      </p:to>
                                    </p:set>
                                    <p:animEffect transition="in" filter="blinds(horizontal)">
                                      <p:cBhvr>
                                        <p:cTn id="36" dur="500"/>
                                        <p:tgtEl>
                                          <p:spTgt spid="22017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20173"/>
                                        </p:tgtEl>
                                        <p:attrNameLst>
                                          <p:attrName>style.visibility</p:attrName>
                                        </p:attrNameLst>
                                      </p:cBhvr>
                                      <p:to>
                                        <p:strVal val="visible"/>
                                      </p:to>
                                    </p:set>
                                    <p:animEffect transition="in" filter="blinds(horizontal)">
                                      <p:cBhvr>
                                        <p:cTn id="39" dur="500"/>
                                        <p:tgtEl>
                                          <p:spTgt spid="220173"/>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20174"/>
                                        </p:tgtEl>
                                        <p:attrNameLst>
                                          <p:attrName>style.visibility</p:attrName>
                                        </p:attrNameLst>
                                      </p:cBhvr>
                                      <p:to>
                                        <p:strVal val="visible"/>
                                      </p:to>
                                    </p:set>
                                    <p:animEffect transition="in" filter="blinds(horizontal)">
                                      <p:cBhvr>
                                        <p:cTn id="42" dur="500"/>
                                        <p:tgtEl>
                                          <p:spTgt spid="220174"/>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20175"/>
                                        </p:tgtEl>
                                        <p:attrNameLst>
                                          <p:attrName>style.visibility</p:attrName>
                                        </p:attrNameLst>
                                      </p:cBhvr>
                                      <p:to>
                                        <p:strVal val="visible"/>
                                      </p:to>
                                    </p:set>
                                    <p:animEffect transition="in" filter="blinds(horizontal)">
                                      <p:cBhvr>
                                        <p:cTn id="45" dur="500"/>
                                        <p:tgtEl>
                                          <p:spTgt spid="220175"/>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20176"/>
                                        </p:tgtEl>
                                        <p:attrNameLst>
                                          <p:attrName>style.visibility</p:attrName>
                                        </p:attrNameLst>
                                      </p:cBhvr>
                                      <p:to>
                                        <p:strVal val="visible"/>
                                      </p:to>
                                    </p:set>
                                    <p:animEffect transition="in" filter="blinds(horizontal)">
                                      <p:cBhvr>
                                        <p:cTn id="48" dur="500"/>
                                        <p:tgtEl>
                                          <p:spTgt spid="220176"/>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20177"/>
                                        </p:tgtEl>
                                        <p:attrNameLst>
                                          <p:attrName>style.visibility</p:attrName>
                                        </p:attrNameLst>
                                      </p:cBhvr>
                                      <p:to>
                                        <p:strVal val="visible"/>
                                      </p:to>
                                    </p:set>
                                    <p:animEffect transition="in" filter="blinds(horizontal)">
                                      <p:cBhvr>
                                        <p:cTn id="51" dur="500"/>
                                        <p:tgtEl>
                                          <p:spTgt spid="220177"/>
                                        </p:tgtEl>
                                      </p:cBhvr>
                                    </p:animEffect>
                                  </p:childTnLst>
                                </p:cTn>
                              </p:par>
                              <p:par>
                                <p:cTn id="52" presetID="3" presetClass="entr" presetSubtype="10" fill="hold" nodeType="withEffect">
                                  <p:stCondLst>
                                    <p:cond delay="0"/>
                                  </p:stCondLst>
                                  <p:childTnLst>
                                    <p:set>
                                      <p:cBhvr>
                                        <p:cTn id="53" dur="1" fill="hold">
                                          <p:stCondLst>
                                            <p:cond delay="0"/>
                                          </p:stCondLst>
                                        </p:cTn>
                                        <p:tgtEl>
                                          <p:spTgt spid="220178"/>
                                        </p:tgtEl>
                                        <p:attrNameLst>
                                          <p:attrName>style.visibility</p:attrName>
                                        </p:attrNameLst>
                                      </p:cBhvr>
                                      <p:to>
                                        <p:strVal val="visible"/>
                                      </p:to>
                                    </p:set>
                                    <p:animEffect transition="in" filter="blinds(horizontal)">
                                      <p:cBhvr>
                                        <p:cTn id="54" dur="500"/>
                                        <p:tgtEl>
                                          <p:spTgt spid="22017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220163">
                                            <p:txEl>
                                              <p:pRg st="0" end="0"/>
                                            </p:txEl>
                                          </p:spTgt>
                                        </p:tgtEl>
                                        <p:attrNameLst>
                                          <p:attrName>style.visibility</p:attrName>
                                        </p:attrNameLst>
                                      </p:cBhvr>
                                      <p:to>
                                        <p:strVal val="visible"/>
                                      </p:to>
                                    </p:set>
                                    <p:animEffect transition="in" filter="blinds(horizontal)">
                                      <p:cBhvr>
                                        <p:cTn id="59" dur="500"/>
                                        <p:tgtEl>
                                          <p:spTgt spid="220163">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220163">
                                            <p:txEl>
                                              <p:pRg st="0" end="0"/>
                                            </p:txEl>
                                          </p:spTgt>
                                        </p:tgtEl>
                                        <p:attrNameLst>
                                          <p:attrName>style.visibility</p:attrName>
                                        </p:attrNameLst>
                                      </p:cBhvr>
                                      <p:to>
                                        <p:strVal val="visible"/>
                                      </p:to>
                                    </p:set>
                                    <p:animEffect transition="in" filter="blinds(horizontal)">
                                      <p:cBhvr>
                                        <p:cTn id="64" dur="500"/>
                                        <p:tgtEl>
                                          <p:spTgt spid="220163">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220163">
                                            <p:txEl>
                                              <p:pRg st="1" end="1"/>
                                            </p:txEl>
                                          </p:spTgt>
                                        </p:tgtEl>
                                        <p:attrNameLst>
                                          <p:attrName>style.visibility</p:attrName>
                                        </p:attrNameLst>
                                      </p:cBhvr>
                                      <p:to>
                                        <p:strVal val="visible"/>
                                      </p:to>
                                    </p:set>
                                    <p:animEffect transition="in" filter="blinds(horizontal)">
                                      <p:cBhvr>
                                        <p:cTn id="69" dur="500"/>
                                        <p:tgtEl>
                                          <p:spTgt spid="220163">
                                            <p:txEl>
                                              <p:pRg st="1" end="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220163">
                                            <p:txEl>
                                              <p:pRg st="2" end="2"/>
                                            </p:txEl>
                                          </p:spTgt>
                                        </p:tgtEl>
                                        <p:attrNameLst>
                                          <p:attrName>style.visibility</p:attrName>
                                        </p:attrNameLst>
                                      </p:cBhvr>
                                      <p:to>
                                        <p:strVal val="visible"/>
                                      </p:to>
                                    </p:set>
                                    <p:animEffect transition="in" filter="blinds(horizontal)">
                                      <p:cBhvr>
                                        <p:cTn id="74" dur="500"/>
                                        <p:tgtEl>
                                          <p:spTgt spid="220163">
                                            <p:txEl>
                                              <p:pRg st="2" end="2"/>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220163">
                                            <p:txEl>
                                              <p:pRg st="3" end="3"/>
                                            </p:txEl>
                                          </p:spTgt>
                                        </p:tgtEl>
                                        <p:attrNameLst>
                                          <p:attrName>style.visibility</p:attrName>
                                        </p:attrNameLst>
                                      </p:cBhvr>
                                      <p:to>
                                        <p:strVal val="visible"/>
                                      </p:to>
                                    </p:set>
                                    <p:animEffect transition="in" filter="blinds(horizontal)">
                                      <p:cBhvr>
                                        <p:cTn id="79" dur="500"/>
                                        <p:tgtEl>
                                          <p:spTgt spid="220163">
                                            <p:txEl>
                                              <p:pRg st="3" end="3"/>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220179"/>
                                        </p:tgtEl>
                                        <p:attrNameLst>
                                          <p:attrName>style.visibility</p:attrName>
                                        </p:attrNameLst>
                                      </p:cBhvr>
                                      <p:to>
                                        <p:strVal val="visible"/>
                                      </p:to>
                                    </p:set>
                                    <p:animEffect transition="in" filter="blinds(horizontal)">
                                      <p:cBhvr>
                                        <p:cTn id="84" dur="500"/>
                                        <p:tgtEl>
                                          <p:spTgt spid="22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2" grpId="0"/>
      <p:bldP spid="220164" grpId="0" animBg="1"/>
      <p:bldP spid="220165" grpId="0" animBg="1"/>
      <p:bldP spid="220166" grpId="0" animBg="1"/>
      <p:bldP spid="220169" grpId="0" animBg="1"/>
      <p:bldP spid="220170" grpId="0" animBg="1"/>
      <p:bldP spid="220171" grpId="0" animBg="1"/>
      <p:bldP spid="220172" grpId="0" bldLvl="0" animBg="1"/>
      <p:bldP spid="220173" grpId="0" bldLvl="0" animBg="1"/>
      <p:bldP spid="220174" grpId="0" bldLvl="0" animBg="1"/>
      <p:bldP spid="220175" grpId="0" bldLvl="0" animBg="1"/>
      <p:bldP spid="220176" grpId="0"/>
      <p:bldP spid="22017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p:cNvSpPr txBox="1"/>
          <p:nvPr/>
        </p:nvSpPr>
        <p:spPr>
          <a:xfrm>
            <a:off x="457200" y="228600"/>
            <a:ext cx="8001000" cy="460375"/>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异步串行通信的数据传输率可以用波特率和比特率来衡量</a:t>
            </a:r>
          </a:p>
        </p:txBody>
      </p:sp>
      <p:sp>
        <p:nvSpPr>
          <p:cNvPr id="221187" name="Text Box 3"/>
          <p:cNvSpPr txBox="1"/>
          <p:nvPr/>
        </p:nvSpPr>
        <p:spPr>
          <a:xfrm>
            <a:off x="152400" y="914400"/>
            <a:ext cx="8458200" cy="1014413"/>
          </a:xfrm>
          <a:prstGeom prst="rect">
            <a:avLst/>
          </a:prstGeom>
          <a:noFill/>
          <a:ln w="9525">
            <a:noFill/>
          </a:ln>
        </p:spPr>
        <p:txBody>
          <a:bodyPr anchor="t" anchorCtr="0">
            <a:spAutoFit/>
          </a:bodyPr>
          <a:lstStyle/>
          <a:p>
            <a:pPr>
              <a:spcBef>
                <a:spcPct val="50000"/>
              </a:spcBef>
              <a:buClrTx/>
              <a:buFontTx/>
            </a:pPr>
            <a:r>
              <a:rPr lang="zh-CN" altLang="en-US" sz="2400" b="1" dirty="0">
                <a:solidFill>
                  <a:schemeClr val="hlink"/>
                </a:solidFill>
                <a:latin typeface="Arial" panose="020B0604020202020204" pitchFamily="34" charset="0"/>
                <a:ea typeface="宋体" panose="02010600030101010101" pitchFamily="2" charset="-122"/>
              </a:rPr>
              <a:t>波特率</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单位时间内传送二进制数据的位数，单位：</a:t>
            </a:r>
            <a:r>
              <a:rPr lang="en-US" altLang="zh-CN" sz="2400" b="1" dirty="0">
                <a:latin typeface="Arial" panose="020B0604020202020204" pitchFamily="34" charset="0"/>
                <a:ea typeface="宋体" panose="02010600030101010101" pitchFamily="2" charset="-122"/>
              </a:rPr>
              <a:t>bps</a:t>
            </a:r>
          </a:p>
          <a:p>
            <a:pPr>
              <a:spcBef>
                <a:spcPct val="50000"/>
              </a:spcBef>
              <a:buClrTx/>
              <a:buFontTx/>
            </a:pPr>
            <a:r>
              <a:rPr lang="zh-CN" altLang="en-US" sz="2400" b="1" dirty="0">
                <a:solidFill>
                  <a:schemeClr val="hlink"/>
                </a:solidFill>
                <a:latin typeface="Arial" panose="020B0604020202020204" pitchFamily="34" charset="0"/>
                <a:ea typeface="宋体" panose="02010600030101010101" pitchFamily="2" charset="-122"/>
              </a:rPr>
              <a:t>比特率</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单位时间内传送二进制有效数据的位数，单位：</a:t>
            </a:r>
            <a:r>
              <a:rPr lang="en-US" altLang="zh-CN" sz="2400" b="1" dirty="0">
                <a:latin typeface="Arial" panose="020B0604020202020204" pitchFamily="34" charset="0"/>
                <a:ea typeface="宋体" panose="02010600030101010101" pitchFamily="2" charset="-122"/>
              </a:rPr>
              <a:t>bps</a:t>
            </a:r>
          </a:p>
        </p:txBody>
      </p:sp>
      <p:sp>
        <p:nvSpPr>
          <p:cNvPr id="221188" name="Text Box 4"/>
          <p:cNvSpPr txBox="1"/>
          <p:nvPr/>
        </p:nvSpPr>
        <p:spPr>
          <a:xfrm>
            <a:off x="152400" y="2057400"/>
            <a:ext cx="8610600" cy="1198563"/>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例：在异步串行传输系统中，若字符格式为：</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个起始位、</a:t>
            </a:r>
            <a:r>
              <a:rPr lang="en-US" altLang="zh-CN" sz="2400" b="1" dirty="0">
                <a:latin typeface="Arial" panose="020B0604020202020204" pitchFamily="34" charset="0"/>
                <a:ea typeface="宋体" panose="02010600030101010101" pitchFamily="2" charset="-122"/>
              </a:rPr>
              <a:t>7</a:t>
            </a:r>
            <a:r>
              <a:rPr lang="zh-CN" altLang="en-US" sz="2400" b="1" dirty="0">
                <a:latin typeface="Arial" panose="020B0604020202020204" pitchFamily="34" charset="0"/>
                <a:ea typeface="宋体" panose="02010600030101010101" pitchFamily="2" charset="-122"/>
              </a:rPr>
              <a:t>个数据位、</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个奇校验位、</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个终止位。假设每秒传输</a:t>
            </a:r>
            <a:r>
              <a:rPr lang="en-US" altLang="zh-CN" sz="2400" b="1" dirty="0">
                <a:latin typeface="Arial" panose="020B0604020202020204" pitchFamily="34" charset="0"/>
                <a:ea typeface="宋体" panose="02010600030101010101" pitchFamily="2" charset="-122"/>
              </a:rPr>
              <a:t>120</a:t>
            </a:r>
            <a:r>
              <a:rPr lang="zh-CN" altLang="en-US" sz="2400" b="1" dirty="0">
                <a:latin typeface="Arial" panose="020B0604020202020204" pitchFamily="34" charset="0"/>
                <a:ea typeface="宋体" panose="02010600030101010101" pitchFamily="2" charset="-122"/>
              </a:rPr>
              <a:t>个数据帧，试计算波特率及比特率。</a:t>
            </a:r>
          </a:p>
        </p:txBody>
      </p:sp>
      <p:sp>
        <p:nvSpPr>
          <p:cNvPr id="221189" name="Text Box 5"/>
          <p:cNvSpPr txBox="1"/>
          <p:nvPr/>
        </p:nvSpPr>
        <p:spPr>
          <a:xfrm>
            <a:off x="228600" y="3581400"/>
            <a:ext cx="8686800" cy="2122488"/>
          </a:xfrm>
          <a:prstGeom prst="rect">
            <a:avLst/>
          </a:prstGeom>
          <a:noFill/>
          <a:ln w="9525">
            <a:noFill/>
          </a:ln>
        </p:spPr>
        <p:txBody>
          <a:bodyPr anchor="t" anchorCtr="0">
            <a:spAutoFit/>
          </a:bodyPr>
          <a:lstStyle/>
          <a:p>
            <a:pPr>
              <a:spcBef>
                <a:spcPct val="50000"/>
              </a:spcBef>
              <a:buClrTx/>
              <a:buFontTx/>
            </a:pPr>
            <a:r>
              <a:rPr lang="zh-CN" altLang="en-US" sz="2400" dirty="0">
                <a:latin typeface="Arial" panose="020B0604020202020204" pitchFamily="34" charset="0"/>
                <a:ea typeface="宋体" panose="02010600030101010101" pitchFamily="2" charset="-122"/>
              </a:rPr>
              <a:t>解：由题意知，一帧包括 </a:t>
            </a:r>
            <a:r>
              <a:rPr lang="en-US" altLang="zh-CN" sz="2400" dirty="0">
                <a:latin typeface="Arial" panose="020B0604020202020204" pitchFamily="34" charset="0"/>
                <a:ea typeface="宋体" panose="02010600030101010101" pitchFamily="2" charset="-122"/>
              </a:rPr>
              <a:t>1+7+1+1</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10</a:t>
            </a:r>
            <a:r>
              <a:rPr lang="zh-CN" altLang="en-US" sz="2400" dirty="0">
                <a:latin typeface="Arial" panose="020B0604020202020204" pitchFamily="34" charset="0"/>
                <a:ea typeface="宋体" panose="02010600030101010101" pitchFamily="2" charset="-122"/>
              </a:rPr>
              <a:t>位</a:t>
            </a:r>
          </a:p>
          <a:p>
            <a:pPr>
              <a:spcBef>
                <a:spcPct val="50000"/>
              </a:spcBef>
              <a:buClrTx/>
              <a:buFontTx/>
            </a:pPr>
            <a:r>
              <a:rPr lang="zh-CN" altLang="en-US" sz="2400" dirty="0">
                <a:latin typeface="Arial" panose="020B0604020202020204" pitchFamily="34" charset="0"/>
                <a:ea typeface="宋体" panose="02010600030101010101" pitchFamily="2" charset="-122"/>
              </a:rPr>
              <a:t>     所以波特率为（</a:t>
            </a:r>
            <a:r>
              <a:rPr lang="en-US" altLang="zh-CN" sz="2400" dirty="0">
                <a:latin typeface="Arial" panose="020B0604020202020204" pitchFamily="34" charset="0"/>
                <a:ea typeface="宋体" panose="02010600030101010101" pitchFamily="2" charset="-122"/>
              </a:rPr>
              <a:t>1+7+1+1</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×120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1200bps</a:t>
            </a:r>
          </a:p>
          <a:p>
            <a:pPr>
              <a:spcBef>
                <a:spcPct val="50000"/>
              </a:spcBef>
              <a:buClrTx/>
              <a:buFontTx/>
            </a:pPr>
            <a:r>
              <a:rPr lang="en-US" altLang="zh-CN" sz="24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一帧中的有效数据位为</a:t>
            </a:r>
            <a:r>
              <a:rPr lang="en-US" altLang="zh-CN" sz="2400" dirty="0">
                <a:latin typeface="Arial" panose="020B0604020202020204" pitchFamily="34" charset="0"/>
                <a:ea typeface="宋体" panose="02010600030101010101" pitchFamily="2" charset="-122"/>
              </a:rPr>
              <a:t>7</a:t>
            </a:r>
            <a:r>
              <a:rPr lang="zh-CN" altLang="en-US" sz="2400" dirty="0">
                <a:latin typeface="Arial" panose="020B0604020202020204" pitchFamily="34" charset="0"/>
                <a:ea typeface="宋体" panose="02010600030101010101" pitchFamily="2" charset="-122"/>
              </a:rPr>
              <a:t>位</a:t>
            </a:r>
          </a:p>
          <a:p>
            <a:pPr>
              <a:spcBef>
                <a:spcPct val="50000"/>
              </a:spcBef>
              <a:buClrTx/>
              <a:buFontTx/>
            </a:pPr>
            <a:r>
              <a:rPr lang="zh-CN" altLang="en-US" sz="2400" dirty="0">
                <a:latin typeface="Arial" panose="020B0604020202020204" pitchFamily="34" charset="0"/>
                <a:ea typeface="宋体" panose="02010600030101010101" pitchFamily="2" charset="-122"/>
              </a:rPr>
              <a:t>   所以比特率为 </a:t>
            </a:r>
            <a:r>
              <a:rPr lang="en-US" altLang="zh-CN" sz="2400" dirty="0">
                <a:latin typeface="Arial" panose="020B0604020202020204" pitchFamily="34" charset="0"/>
                <a:ea typeface="宋体" panose="02010600030101010101" pitchFamily="2" charset="-122"/>
              </a:rPr>
              <a:t>1200 ×</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7/10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=840bps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1186"/>
                                        </p:tgtEl>
                                        <p:attrNameLst>
                                          <p:attrName>style.visibility</p:attrName>
                                        </p:attrNameLst>
                                      </p:cBhvr>
                                      <p:to>
                                        <p:strVal val="visible"/>
                                      </p:to>
                                    </p:set>
                                    <p:animEffect transition="in" filter="blinds(horizontal)">
                                      <p:cBhvr>
                                        <p:cTn id="7" dur="500"/>
                                        <p:tgtEl>
                                          <p:spTgt spid="22118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1187"/>
                                        </p:tgtEl>
                                        <p:attrNameLst>
                                          <p:attrName>style.visibility</p:attrName>
                                        </p:attrNameLst>
                                      </p:cBhvr>
                                      <p:to>
                                        <p:strVal val="visible"/>
                                      </p:to>
                                    </p:set>
                                    <p:animEffect transition="in" filter="blinds(horizontal)">
                                      <p:cBhvr>
                                        <p:cTn id="10" dur="500"/>
                                        <p:tgtEl>
                                          <p:spTgt spid="22118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21188"/>
                                        </p:tgtEl>
                                        <p:attrNameLst>
                                          <p:attrName>style.visibility</p:attrName>
                                        </p:attrNameLst>
                                      </p:cBhvr>
                                      <p:to>
                                        <p:strVal val="visible"/>
                                      </p:to>
                                    </p:set>
                                    <p:animEffect transition="in" filter="blinds(horizontal)">
                                      <p:cBhvr>
                                        <p:cTn id="15" dur="500"/>
                                        <p:tgtEl>
                                          <p:spTgt spid="22118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21189"/>
                                        </p:tgtEl>
                                        <p:attrNameLst>
                                          <p:attrName>style.visibility</p:attrName>
                                        </p:attrNameLst>
                                      </p:cBhvr>
                                      <p:to>
                                        <p:strVal val="visible"/>
                                      </p:to>
                                    </p:set>
                                    <p:animEffect transition="in" filter="blinds(horizontal)">
                                      <p:cBhvr>
                                        <p:cTn id="20" dur="500"/>
                                        <p:tgtEl>
                                          <p:spTgt spid="221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p:bldP spid="221187" grpId="0"/>
      <p:bldP spid="221188" grpId="0"/>
      <p:bldP spid="22118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Text Box 2"/>
          <p:cNvSpPr txBox="1"/>
          <p:nvPr/>
        </p:nvSpPr>
        <p:spPr>
          <a:xfrm>
            <a:off x="304800" y="423863"/>
            <a:ext cx="7391400" cy="644525"/>
          </a:xfrm>
          <a:prstGeom prst="rect">
            <a:avLst/>
          </a:prstGeom>
          <a:noFill/>
          <a:ln w="9525">
            <a:noFill/>
          </a:ln>
        </p:spPr>
        <p:txBody>
          <a:bodyPr anchor="t" anchorCtr="0">
            <a:spAutoFit/>
          </a:bodyPr>
          <a:lstStyle/>
          <a:p>
            <a:pPr>
              <a:buClrTx/>
              <a:buFontTx/>
            </a:pPr>
            <a:r>
              <a:rPr lang="en-US" altLang="zh-CN" sz="3600" b="1" dirty="0">
                <a:latin typeface="Times New Roman" panose="02020603050405020304" pitchFamily="18" charset="0"/>
                <a:ea typeface="宋体" panose="02010600030101010101" pitchFamily="2" charset="-122"/>
              </a:rPr>
              <a:t>3) </a:t>
            </a:r>
            <a:r>
              <a:rPr lang="zh-CN" altLang="en-US" sz="3600" b="1" dirty="0">
                <a:latin typeface="Times New Roman" panose="02020603050405020304" pitchFamily="18" charset="0"/>
                <a:ea typeface="宋体" panose="02010600030101010101" pitchFamily="2" charset="-122"/>
              </a:rPr>
              <a:t>半同步通信</a:t>
            </a:r>
          </a:p>
        </p:txBody>
      </p:sp>
      <p:grpSp>
        <p:nvGrpSpPr>
          <p:cNvPr id="222211" name="Group 3"/>
          <p:cNvGrpSpPr/>
          <p:nvPr/>
        </p:nvGrpSpPr>
        <p:grpSpPr>
          <a:xfrm>
            <a:off x="838200" y="1676400"/>
            <a:ext cx="8229600" cy="1479550"/>
            <a:chOff x="672" y="1257"/>
            <a:chExt cx="5184" cy="932"/>
          </a:xfrm>
        </p:grpSpPr>
        <p:sp>
          <p:nvSpPr>
            <p:cNvPr id="39939" name="Text Box 4"/>
            <p:cNvSpPr txBox="1"/>
            <p:nvPr/>
          </p:nvSpPr>
          <p:spPr>
            <a:xfrm>
              <a:off x="672" y="1257"/>
              <a:ext cx="4704" cy="365"/>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同步   </a:t>
              </a:r>
              <a:r>
                <a:rPr lang="zh-CN" altLang="en-US" sz="2800" b="1" dirty="0">
                  <a:solidFill>
                    <a:srgbClr val="FF0000"/>
                  </a:solidFill>
                  <a:latin typeface="Times New Roman" panose="02020603050405020304" pitchFamily="18" charset="0"/>
                  <a:ea typeface="宋体" panose="02010600030101010101" pitchFamily="2" charset="-122"/>
                </a:rPr>
                <a:t>发送方</a:t>
              </a:r>
              <a:r>
                <a:rPr lang="zh-CN" altLang="en-US" sz="2800" b="1" dirty="0">
                  <a:latin typeface="Times New Roman" panose="02020603050405020304" pitchFamily="18" charset="0"/>
                  <a:ea typeface="宋体" panose="02010600030101010101" pitchFamily="2" charset="-122"/>
                </a:rPr>
                <a:t> 用系统 </a:t>
              </a:r>
              <a:r>
                <a:rPr lang="zh-CN" altLang="en-US" sz="2800" b="1" dirty="0">
                  <a:solidFill>
                    <a:srgbClr val="FF0000"/>
                  </a:solidFill>
                  <a:latin typeface="Times New Roman" panose="02020603050405020304" pitchFamily="18" charset="0"/>
                  <a:ea typeface="宋体" panose="02010600030101010101" pitchFamily="2" charset="-122"/>
                </a:rPr>
                <a:t>时钟前沿</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发信号</a:t>
              </a:r>
            </a:p>
          </p:txBody>
        </p:sp>
        <p:sp>
          <p:nvSpPr>
            <p:cNvPr id="39940" name="Text Box 5"/>
            <p:cNvSpPr txBox="1"/>
            <p:nvPr/>
          </p:nvSpPr>
          <p:spPr>
            <a:xfrm>
              <a:off x="1344" y="1824"/>
              <a:ext cx="4512" cy="365"/>
            </a:xfrm>
            <a:prstGeom prst="rect">
              <a:avLst/>
            </a:prstGeom>
            <a:noFill/>
            <a:ln w="9525">
              <a:noFill/>
            </a:ln>
          </p:spPr>
          <p:txBody>
            <a:bodyPr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 </a:t>
              </a:r>
              <a:r>
                <a:rPr lang="zh-CN" altLang="en-US" sz="2800" b="1" dirty="0">
                  <a:solidFill>
                    <a:srgbClr val="FF0000"/>
                  </a:solidFill>
                  <a:latin typeface="Times New Roman" panose="02020603050405020304" pitchFamily="18" charset="0"/>
                  <a:ea typeface="宋体" panose="02010600030101010101" pitchFamily="2" charset="-122"/>
                </a:rPr>
                <a:t>接收方</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用系统 </a:t>
              </a:r>
              <a:r>
                <a:rPr lang="zh-CN" altLang="en-US" sz="2800" b="1" dirty="0">
                  <a:solidFill>
                    <a:srgbClr val="FF0000"/>
                  </a:solidFill>
                  <a:latin typeface="Times New Roman" panose="02020603050405020304" pitchFamily="18" charset="0"/>
                  <a:ea typeface="宋体" panose="02010600030101010101" pitchFamily="2" charset="-122"/>
                </a:rPr>
                <a:t>时钟后沿</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判断、识别</a:t>
              </a:r>
            </a:p>
          </p:txBody>
        </p:sp>
      </p:grpSp>
      <p:sp>
        <p:nvSpPr>
          <p:cNvPr id="222214" name="Text Box 6"/>
          <p:cNvSpPr txBox="1"/>
          <p:nvPr/>
        </p:nvSpPr>
        <p:spPr>
          <a:xfrm>
            <a:off x="3124200" y="423863"/>
            <a:ext cx="4760913" cy="644525"/>
          </a:xfrm>
          <a:prstGeom prst="rect">
            <a:avLst/>
          </a:prstGeom>
          <a:noFill/>
          <a:ln w="38100">
            <a:noFill/>
          </a:ln>
        </p:spPr>
        <p:txBody>
          <a:bodyPr anchor="t" anchorCtr="0">
            <a:spAutoFit/>
          </a:bodyPr>
          <a:lstStyle/>
          <a:p>
            <a:pPr>
              <a:spcBef>
                <a:spcPct val="50000"/>
              </a:spcBef>
              <a:buClrTx/>
              <a:buFontTx/>
            </a:pPr>
            <a:r>
              <a:rPr lang="zh-CN" altLang="en-US" sz="3600" b="1" dirty="0">
                <a:latin typeface="Times New Roman" panose="02020603050405020304" pitchFamily="18" charset="0"/>
                <a:ea typeface="宋体" panose="02010600030101010101" pitchFamily="2" charset="-122"/>
              </a:rPr>
              <a:t>（</a:t>
            </a:r>
            <a:r>
              <a:rPr lang="zh-CN" altLang="en-US" sz="3600" b="1" dirty="0">
                <a:solidFill>
                  <a:srgbClr val="FF0000"/>
                </a:solidFill>
                <a:latin typeface="Times New Roman" panose="02020603050405020304" pitchFamily="18" charset="0"/>
                <a:ea typeface="宋体" panose="02010600030101010101" pitchFamily="2" charset="-122"/>
              </a:rPr>
              <a:t>同步、异步</a:t>
            </a:r>
            <a:r>
              <a:rPr lang="zh-CN" altLang="en-US" sz="3600" b="1" dirty="0">
                <a:solidFill>
                  <a:schemeClr val="folHlink"/>
                </a:solidFill>
                <a:latin typeface="Times New Roman" panose="02020603050405020304" pitchFamily="18" charset="0"/>
                <a:ea typeface="宋体" panose="02010600030101010101" pitchFamily="2" charset="-122"/>
              </a:rPr>
              <a:t> </a:t>
            </a:r>
            <a:r>
              <a:rPr lang="zh-CN" altLang="en-US" sz="3600" b="1" dirty="0">
                <a:latin typeface="Times New Roman" panose="02020603050405020304" pitchFamily="18" charset="0"/>
                <a:ea typeface="宋体" panose="02010600030101010101" pitchFamily="2" charset="-122"/>
              </a:rPr>
              <a:t>结合）</a:t>
            </a:r>
          </a:p>
        </p:txBody>
      </p:sp>
      <p:grpSp>
        <p:nvGrpSpPr>
          <p:cNvPr id="222215" name="Group 7"/>
          <p:cNvGrpSpPr/>
          <p:nvPr/>
        </p:nvGrpSpPr>
        <p:grpSpPr>
          <a:xfrm>
            <a:off x="838200" y="3795713"/>
            <a:ext cx="8229600" cy="1508125"/>
            <a:chOff x="528" y="2391"/>
            <a:chExt cx="5184" cy="950"/>
          </a:xfrm>
        </p:grpSpPr>
        <p:sp>
          <p:nvSpPr>
            <p:cNvPr id="39943" name="Text Box 8"/>
            <p:cNvSpPr txBox="1"/>
            <p:nvPr/>
          </p:nvSpPr>
          <p:spPr>
            <a:xfrm>
              <a:off x="528" y="2391"/>
              <a:ext cx="4656" cy="365"/>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异步   </a:t>
              </a:r>
              <a:r>
                <a:rPr lang="zh-CN" altLang="en-US" sz="2800" b="1" dirty="0">
                  <a:latin typeface="Times New Roman" panose="02020603050405020304" pitchFamily="18" charset="0"/>
                  <a:ea typeface="宋体" panose="02010600030101010101" pitchFamily="2" charset="-122"/>
                </a:rPr>
                <a:t>允许不同速度的模块和谐工作</a:t>
              </a:r>
            </a:p>
          </p:txBody>
        </p:sp>
        <p:sp>
          <p:nvSpPr>
            <p:cNvPr id="39944" name="Text Box 9"/>
            <p:cNvSpPr txBox="1"/>
            <p:nvPr/>
          </p:nvSpPr>
          <p:spPr>
            <a:xfrm>
              <a:off x="1200" y="2967"/>
              <a:ext cx="4512" cy="365"/>
            </a:xfrm>
            <a:prstGeom prst="rect">
              <a:avLst/>
            </a:prstGeom>
            <a:noFill/>
            <a:ln w="9525">
              <a:noFill/>
            </a:ln>
          </p:spPr>
          <p:txBody>
            <a:bodyPr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增加一条  </a:t>
              </a:r>
              <a:r>
                <a:rPr lang="zh-CN" altLang="en-US" sz="2800" b="1" dirty="0">
                  <a:solidFill>
                    <a:srgbClr val="FF0000"/>
                  </a:solidFill>
                  <a:latin typeface="Times New Roman" panose="02020603050405020304" pitchFamily="18" charset="0"/>
                  <a:ea typeface="宋体" panose="02010600030101010101" pitchFamily="2" charset="-122"/>
                </a:rPr>
                <a:t>“等待”响应信号</a:t>
              </a:r>
              <a:r>
                <a:rPr lang="zh-CN" altLang="en-US" sz="2800" b="1" dirty="0">
                  <a:latin typeface="Times New Roman" panose="02020603050405020304" pitchFamily="18" charset="0"/>
                  <a:ea typeface="宋体" panose="02010600030101010101" pitchFamily="2" charset="-122"/>
                </a:rPr>
                <a:t>             </a:t>
              </a:r>
            </a:p>
          </p:txBody>
        </p:sp>
        <p:sp>
          <p:nvSpPr>
            <p:cNvPr id="39945" name="Text Box 10"/>
            <p:cNvSpPr txBox="1"/>
            <p:nvPr/>
          </p:nvSpPr>
          <p:spPr>
            <a:xfrm>
              <a:off x="4166" y="2976"/>
              <a:ext cx="1066" cy="365"/>
            </a:xfrm>
            <a:prstGeom prst="rect">
              <a:avLst/>
            </a:prstGeom>
            <a:noFill/>
            <a:ln w="9525">
              <a:noFill/>
            </a:ln>
          </p:spPr>
          <p:txBody>
            <a:bodyPr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WAIT</a:t>
              </a:r>
            </a:p>
          </p:txBody>
        </p:sp>
        <p:sp>
          <p:nvSpPr>
            <p:cNvPr id="39946" name="Line 11"/>
            <p:cNvSpPr/>
            <p:nvPr/>
          </p:nvSpPr>
          <p:spPr>
            <a:xfrm>
              <a:off x="4128" y="3015"/>
              <a:ext cx="816" cy="0"/>
            </a:xfrm>
            <a:prstGeom prst="line">
              <a:avLst/>
            </a:prstGeom>
            <a:ln w="19050"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2210"/>
                                        </p:tgtEl>
                                        <p:attrNameLst>
                                          <p:attrName>style.visibility</p:attrName>
                                        </p:attrNameLst>
                                      </p:cBhvr>
                                      <p:to>
                                        <p:strVal val="visible"/>
                                      </p:to>
                                    </p:set>
                                    <p:animEffect transition="in" filter="blinds(horizontal)">
                                      <p:cBhvr>
                                        <p:cTn id="7" dur="500"/>
                                        <p:tgtEl>
                                          <p:spTgt spid="2222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2214"/>
                                        </p:tgtEl>
                                        <p:attrNameLst>
                                          <p:attrName>style.visibility</p:attrName>
                                        </p:attrNameLst>
                                      </p:cBhvr>
                                      <p:to>
                                        <p:strVal val="visible"/>
                                      </p:to>
                                    </p:set>
                                    <p:animEffect transition="in" filter="blinds(horizontal)">
                                      <p:cBhvr>
                                        <p:cTn id="12" dur="500"/>
                                        <p:tgtEl>
                                          <p:spTgt spid="2222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2211"/>
                                        </p:tgtEl>
                                        <p:attrNameLst>
                                          <p:attrName>style.visibility</p:attrName>
                                        </p:attrNameLst>
                                      </p:cBhvr>
                                      <p:to>
                                        <p:strVal val="visible"/>
                                      </p:to>
                                    </p:set>
                                    <p:animEffect transition="in" filter="blinds(horizontal)">
                                      <p:cBhvr>
                                        <p:cTn id="17" dur="500"/>
                                        <p:tgtEl>
                                          <p:spTgt spid="2222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2215"/>
                                        </p:tgtEl>
                                        <p:attrNameLst>
                                          <p:attrName>style.visibility</p:attrName>
                                        </p:attrNameLst>
                                      </p:cBhvr>
                                      <p:to>
                                        <p:strVal val="visible"/>
                                      </p:to>
                                    </p:set>
                                    <p:animEffect transition="in" filter="blinds(horizontal)">
                                      <p:cBhvr>
                                        <p:cTn id="22" dur="500"/>
                                        <p:tgtEl>
                                          <p:spTgt spid="222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p:bldP spid="2222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p:cNvSpPr txBox="1"/>
          <p:nvPr/>
        </p:nvSpPr>
        <p:spPr>
          <a:xfrm>
            <a:off x="304800" y="457200"/>
            <a:ext cx="7391400" cy="644525"/>
          </a:xfrm>
          <a:prstGeom prst="rect">
            <a:avLst/>
          </a:prstGeom>
          <a:noFill/>
          <a:ln w="9525">
            <a:noFill/>
          </a:ln>
        </p:spPr>
        <p:txBody>
          <a:bodyPr anchor="t" anchorCtr="0">
            <a:spAutoFit/>
          </a:bodyPr>
          <a:lstStyle/>
          <a:p>
            <a:pPr>
              <a:buClrTx/>
              <a:buFontTx/>
            </a:pPr>
            <a:r>
              <a:rPr lang="zh-CN" altLang="en-US" sz="3600" b="1" dirty="0">
                <a:latin typeface="Times New Roman" panose="02020603050405020304" pitchFamily="18" charset="0"/>
                <a:ea typeface="宋体" panose="02010600030101010101" pitchFamily="2" charset="-122"/>
              </a:rPr>
              <a:t>以输入数据为例的半同步通信时序</a:t>
            </a:r>
          </a:p>
        </p:txBody>
      </p:sp>
      <p:sp>
        <p:nvSpPr>
          <p:cNvPr id="223235" name="Text Box 3"/>
          <p:cNvSpPr txBox="1"/>
          <p:nvPr/>
        </p:nvSpPr>
        <p:spPr>
          <a:xfrm>
            <a:off x="830263" y="1447800"/>
            <a:ext cx="7620000" cy="584200"/>
          </a:xfrm>
          <a:prstGeom prst="rect">
            <a:avLst/>
          </a:prstGeom>
          <a:noFill/>
          <a:ln w="9525">
            <a:noFill/>
          </a:ln>
        </p:spPr>
        <p:txBody>
          <a:bodyPr anchor="t" anchorCtr="0">
            <a:spAutoFit/>
          </a:bodyPr>
          <a:lstStyle/>
          <a:p>
            <a:pPr>
              <a:spcBef>
                <a:spcPct val="50000"/>
              </a:spcBef>
              <a:buClrTx/>
              <a:buFontTx/>
            </a:pPr>
            <a:r>
              <a:rPr lang="en-US" altLang="zh-CN" sz="3200" b="1" i="1" dirty="0">
                <a:latin typeface="Times New Roman" panose="02020603050405020304" pitchFamily="18" charset="0"/>
                <a:ea typeface="宋体" panose="02010600030101010101" pitchFamily="2" charset="-122"/>
              </a:rPr>
              <a:t>T</a:t>
            </a:r>
            <a:r>
              <a:rPr lang="en-US" altLang="zh-CN" sz="3200" b="1" baseline="-25000"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主模块发地址</a:t>
            </a:r>
          </a:p>
        </p:txBody>
      </p:sp>
      <p:sp>
        <p:nvSpPr>
          <p:cNvPr id="223236" name="Text Box 4"/>
          <p:cNvSpPr txBox="1"/>
          <p:nvPr/>
        </p:nvSpPr>
        <p:spPr>
          <a:xfrm>
            <a:off x="830263" y="2219325"/>
            <a:ext cx="7620000" cy="584200"/>
          </a:xfrm>
          <a:prstGeom prst="rect">
            <a:avLst/>
          </a:prstGeom>
          <a:noFill/>
          <a:ln w="9525">
            <a:noFill/>
          </a:ln>
        </p:spPr>
        <p:txBody>
          <a:bodyPr anchor="t" anchorCtr="0">
            <a:spAutoFit/>
          </a:bodyPr>
          <a:lstStyle/>
          <a:p>
            <a:pPr>
              <a:spcBef>
                <a:spcPct val="50000"/>
              </a:spcBef>
              <a:buClrTx/>
              <a:buFontTx/>
            </a:pPr>
            <a:r>
              <a:rPr lang="en-US" altLang="zh-CN" sz="3200" b="1" i="1" dirty="0">
                <a:latin typeface="Times New Roman" panose="02020603050405020304" pitchFamily="18" charset="0"/>
                <a:ea typeface="宋体" panose="02010600030101010101" pitchFamily="2" charset="-122"/>
              </a:rPr>
              <a:t>T</a:t>
            </a:r>
            <a:r>
              <a:rPr lang="en-US" altLang="zh-CN" sz="3200" b="1" baseline="-25000" dirty="0">
                <a:latin typeface="Times New Roman" panose="02020603050405020304" pitchFamily="18" charset="0"/>
                <a:ea typeface="宋体" panose="02010600030101010101" pitchFamily="2" charset="-122"/>
              </a:rPr>
              <a:t>2     </a:t>
            </a:r>
            <a:r>
              <a:rPr lang="zh-CN" altLang="en-US" sz="2800" b="1" dirty="0">
                <a:latin typeface="Times New Roman" panose="02020603050405020304" pitchFamily="18" charset="0"/>
                <a:ea typeface="宋体" panose="02010600030101010101" pitchFamily="2" charset="-122"/>
              </a:rPr>
              <a:t>主模块发命令</a:t>
            </a:r>
          </a:p>
        </p:txBody>
      </p:sp>
      <p:sp>
        <p:nvSpPr>
          <p:cNvPr id="223237" name="Text Box 5"/>
          <p:cNvSpPr txBox="1"/>
          <p:nvPr/>
        </p:nvSpPr>
        <p:spPr>
          <a:xfrm>
            <a:off x="908050" y="4572000"/>
            <a:ext cx="920750" cy="838200"/>
          </a:xfrm>
          <a:prstGeom prst="rect">
            <a:avLst/>
          </a:prstGeom>
          <a:noFill/>
          <a:ln w="9525">
            <a:noFill/>
          </a:ln>
        </p:spPr>
        <p:txBody>
          <a:bodyPr vert="eaVert" anchor="t" anchorCtr="0">
            <a:spAutoFit/>
          </a:bodyPr>
          <a:lstStyle/>
          <a:p>
            <a:pPr>
              <a:spcBef>
                <a:spcPct val="50000"/>
              </a:spcBef>
              <a:buClrTx/>
              <a:buFontTx/>
            </a:pPr>
            <a:r>
              <a:rPr lang="en-US" altLang="zh-CN" sz="4800" dirty="0">
                <a:latin typeface="Times New Roman" panose="02020603050405020304" pitchFamily="18" charset="0"/>
                <a:ea typeface="宋体" panose="02010600030101010101" pitchFamily="2" charset="-122"/>
              </a:rPr>
              <a:t>…</a:t>
            </a:r>
          </a:p>
        </p:txBody>
      </p:sp>
      <p:sp>
        <p:nvSpPr>
          <p:cNvPr id="223238" name="Text Box 6"/>
          <p:cNvSpPr txBox="1"/>
          <p:nvPr/>
        </p:nvSpPr>
        <p:spPr>
          <a:xfrm>
            <a:off x="830263" y="5257800"/>
            <a:ext cx="7620000" cy="584200"/>
          </a:xfrm>
          <a:prstGeom prst="rect">
            <a:avLst/>
          </a:prstGeom>
          <a:noFill/>
          <a:ln w="9525">
            <a:noFill/>
          </a:ln>
        </p:spPr>
        <p:txBody>
          <a:bodyPr anchor="t" anchorCtr="0">
            <a:spAutoFit/>
          </a:bodyPr>
          <a:lstStyle/>
          <a:p>
            <a:pPr>
              <a:spcBef>
                <a:spcPct val="50000"/>
              </a:spcBef>
              <a:buClrTx/>
              <a:buFontTx/>
            </a:pPr>
            <a:r>
              <a:rPr lang="en-US" altLang="zh-CN" sz="3200" b="1" i="1" dirty="0">
                <a:latin typeface="Times New Roman" panose="02020603050405020304" pitchFamily="18" charset="0"/>
                <a:ea typeface="宋体" panose="02010600030101010101" pitchFamily="2" charset="-122"/>
              </a:rPr>
              <a:t>T</a:t>
            </a:r>
            <a:r>
              <a:rPr lang="en-US" altLang="zh-CN" sz="3200" b="1" baseline="-25000" dirty="0">
                <a:latin typeface="Times New Roman" panose="02020603050405020304" pitchFamily="18" charset="0"/>
                <a:ea typeface="宋体" panose="02010600030101010101" pitchFamily="2" charset="-122"/>
              </a:rPr>
              <a:t>3     </a:t>
            </a:r>
            <a:r>
              <a:rPr lang="zh-CN" altLang="en-US" sz="2800" b="1" dirty="0">
                <a:latin typeface="Times New Roman" panose="02020603050405020304" pitchFamily="18" charset="0"/>
                <a:ea typeface="宋体" panose="02010600030101010101" pitchFamily="2" charset="-122"/>
              </a:rPr>
              <a:t>从模块提供数据</a:t>
            </a:r>
          </a:p>
        </p:txBody>
      </p:sp>
      <p:sp>
        <p:nvSpPr>
          <p:cNvPr id="223239" name="Text Box 7"/>
          <p:cNvSpPr txBox="1"/>
          <p:nvPr/>
        </p:nvSpPr>
        <p:spPr>
          <a:xfrm>
            <a:off x="830263" y="6019800"/>
            <a:ext cx="7620000" cy="584200"/>
          </a:xfrm>
          <a:prstGeom prst="rect">
            <a:avLst/>
          </a:prstGeom>
          <a:noFill/>
          <a:ln w="9525">
            <a:noFill/>
          </a:ln>
        </p:spPr>
        <p:txBody>
          <a:bodyPr anchor="t" anchorCtr="0">
            <a:spAutoFit/>
          </a:bodyPr>
          <a:lstStyle/>
          <a:p>
            <a:pPr>
              <a:spcBef>
                <a:spcPct val="50000"/>
              </a:spcBef>
              <a:buClrTx/>
              <a:buFontTx/>
            </a:pPr>
            <a:r>
              <a:rPr lang="en-US" altLang="zh-CN" sz="3200" b="1" i="1" dirty="0">
                <a:latin typeface="Times New Roman" panose="02020603050405020304" pitchFamily="18" charset="0"/>
                <a:ea typeface="宋体" panose="02010600030101010101" pitchFamily="2" charset="-122"/>
              </a:rPr>
              <a:t>T</a:t>
            </a:r>
            <a:r>
              <a:rPr lang="en-US" altLang="zh-CN" sz="3200" b="1" baseline="-25000" dirty="0">
                <a:latin typeface="Times New Roman" panose="02020603050405020304" pitchFamily="18" charset="0"/>
                <a:ea typeface="宋体" panose="02010600030101010101" pitchFamily="2" charset="-122"/>
              </a:rPr>
              <a:t>4     </a:t>
            </a:r>
            <a:r>
              <a:rPr lang="zh-CN" altLang="en-US" sz="2800" b="1" dirty="0">
                <a:latin typeface="Times New Roman" panose="02020603050405020304" pitchFamily="18" charset="0"/>
                <a:ea typeface="宋体" panose="02010600030101010101" pitchFamily="2" charset="-122"/>
              </a:rPr>
              <a:t>从模块撤销数据，主模块撤销命令</a:t>
            </a:r>
          </a:p>
        </p:txBody>
      </p:sp>
      <p:grpSp>
        <p:nvGrpSpPr>
          <p:cNvPr id="223240" name="Group 8"/>
          <p:cNvGrpSpPr/>
          <p:nvPr/>
        </p:nvGrpSpPr>
        <p:grpSpPr>
          <a:xfrm>
            <a:off x="830263" y="2990850"/>
            <a:ext cx="8466137" cy="579438"/>
            <a:chOff x="523" y="1884"/>
            <a:chExt cx="5333" cy="365"/>
          </a:xfrm>
        </p:grpSpPr>
        <p:sp>
          <p:nvSpPr>
            <p:cNvPr id="40968" name="Text Box 9"/>
            <p:cNvSpPr txBox="1"/>
            <p:nvPr/>
          </p:nvSpPr>
          <p:spPr>
            <a:xfrm>
              <a:off x="523" y="1884"/>
              <a:ext cx="5333" cy="365"/>
            </a:xfrm>
            <a:prstGeom prst="rect">
              <a:avLst/>
            </a:prstGeom>
            <a:noFill/>
            <a:ln w="9525">
              <a:noFill/>
            </a:ln>
          </p:spPr>
          <p:txBody>
            <a:bodyPr anchor="t" anchorCtr="0">
              <a:spAutoFit/>
            </a:bodyPr>
            <a:lstStyle/>
            <a:p>
              <a:pPr>
                <a:spcBef>
                  <a:spcPct val="50000"/>
                </a:spcBef>
                <a:buClrTx/>
                <a:buFontTx/>
              </a:pPr>
              <a:r>
                <a:rPr lang="en-US" altLang="zh-CN" sz="3200" b="1" i="1" dirty="0">
                  <a:solidFill>
                    <a:srgbClr val="FF0000"/>
                  </a:solidFill>
                  <a:latin typeface="Times New Roman" panose="02020603050405020304" pitchFamily="18" charset="0"/>
                  <a:ea typeface="宋体" panose="02010600030101010101" pitchFamily="2" charset="-122"/>
                </a:rPr>
                <a:t>T</a:t>
              </a:r>
              <a:r>
                <a:rPr lang="en-US" altLang="zh-CN" sz="3200" b="1" baseline="-25000" dirty="0">
                  <a:solidFill>
                    <a:srgbClr val="FF0000"/>
                  </a:solidFill>
                  <a:latin typeface="Times New Roman" panose="02020603050405020304" pitchFamily="18" charset="0"/>
                  <a:ea typeface="宋体" panose="02010600030101010101" pitchFamily="2" charset="-122"/>
                </a:rPr>
                <a:t>w</a:t>
              </a:r>
              <a:r>
                <a:rPr lang="en-US" altLang="zh-CN" sz="3200" b="1" baseline="-25000"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当             为低电平时，等待一个 </a:t>
              </a:r>
              <a:r>
                <a:rPr lang="en-US" altLang="zh-CN" sz="2800" b="1" i="1" dirty="0">
                  <a:latin typeface="Times New Roman" panose="02020603050405020304" pitchFamily="18" charset="0"/>
                  <a:ea typeface="宋体" panose="02010600030101010101" pitchFamily="2" charset="-122"/>
                </a:rPr>
                <a:t>T</a:t>
              </a:r>
            </a:p>
          </p:txBody>
        </p:sp>
        <p:grpSp>
          <p:nvGrpSpPr>
            <p:cNvPr id="40969" name="Group 10"/>
            <p:cNvGrpSpPr/>
            <p:nvPr/>
          </p:nvGrpSpPr>
          <p:grpSpPr>
            <a:xfrm>
              <a:off x="1296" y="1920"/>
              <a:ext cx="1066" cy="327"/>
              <a:chOff x="1296" y="1920"/>
              <a:chExt cx="1066" cy="327"/>
            </a:xfrm>
          </p:grpSpPr>
          <p:sp>
            <p:nvSpPr>
              <p:cNvPr id="40970" name="Text Box 11"/>
              <p:cNvSpPr txBox="1"/>
              <p:nvPr/>
            </p:nvSpPr>
            <p:spPr>
              <a:xfrm>
                <a:off x="1296" y="1920"/>
                <a:ext cx="1066" cy="327"/>
              </a:xfrm>
              <a:prstGeom prst="rect">
                <a:avLst/>
              </a:prstGeom>
              <a:noFill/>
              <a:ln w="9525">
                <a:noFill/>
              </a:ln>
            </p:spPr>
            <p:txBody>
              <a:bodyPr anchor="t" anchorCtr="0">
                <a:spAutoFit/>
              </a:bodyPr>
              <a:lstStyle/>
              <a:p>
                <a:pPr>
                  <a:buClrTx/>
                  <a:buFontTx/>
                </a:pPr>
                <a:r>
                  <a:rPr lang="en-US" altLang="zh-CN" sz="2800" b="1" dirty="0">
                    <a:latin typeface="Times New Roman" panose="02020603050405020304" pitchFamily="18" charset="0"/>
                    <a:ea typeface="宋体" panose="02010600030101010101" pitchFamily="2" charset="-122"/>
                  </a:rPr>
                  <a:t>WAIT</a:t>
                </a:r>
              </a:p>
            </p:txBody>
          </p:sp>
          <p:sp>
            <p:nvSpPr>
              <p:cNvPr id="40971" name="Line 12"/>
              <p:cNvSpPr/>
              <p:nvPr/>
            </p:nvSpPr>
            <p:spPr>
              <a:xfrm>
                <a:off x="1344" y="1968"/>
                <a:ext cx="624" cy="0"/>
              </a:xfrm>
              <a:prstGeom prst="line">
                <a:avLst/>
              </a:prstGeom>
              <a:ln w="19050" cap="flat" cmpd="sng">
                <a:solidFill>
                  <a:schemeClr val="tx1"/>
                </a:solidFill>
                <a:prstDash val="solid"/>
                <a:round/>
                <a:headEnd type="none" w="med" len="med"/>
                <a:tailEnd type="none" w="med" len="med"/>
              </a:ln>
            </p:spPr>
          </p:sp>
        </p:grpSp>
      </p:grpSp>
      <p:grpSp>
        <p:nvGrpSpPr>
          <p:cNvPr id="223245" name="Group 13"/>
          <p:cNvGrpSpPr/>
          <p:nvPr/>
        </p:nvGrpSpPr>
        <p:grpSpPr>
          <a:xfrm>
            <a:off x="830263" y="3763963"/>
            <a:ext cx="7932737" cy="579437"/>
            <a:chOff x="523" y="2371"/>
            <a:chExt cx="5333" cy="365"/>
          </a:xfrm>
        </p:grpSpPr>
        <p:sp>
          <p:nvSpPr>
            <p:cNvPr id="40973" name="Text Box 14"/>
            <p:cNvSpPr txBox="1"/>
            <p:nvPr/>
          </p:nvSpPr>
          <p:spPr>
            <a:xfrm>
              <a:off x="523" y="2371"/>
              <a:ext cx="5333" cy="365"/>
            </a:xfrm>
            <a:prstGeom prst="rect">
              <a:avLst/>
            </a:prstGeom>
            <a:noFill/>
            <a:ln w="9525">
              <a:noFill/>
            </a:ln>
          </p:spPr>
          <p:txBody>
            <a:bodyPr anchor="t" anchorCtr="0">
              <a:spAutoFit/>
            </a:bodyPr>
            <a:lstStyle/>
            <a:p>
              <a:pPr>
                <a:spcBef>
                  <a:spcPct val="50000"/>
                </a:spcBef>
                <a:buClrTx/>
                <a:buFontTx/>
              </a:pPr>
              <a:r>
                <a:rPr lang="en-US" altLang="zh-CN" sz="3200" b="1" i="1" dirty="0">
                  <a:solidFill>
                    <a:srgbClr val="FF0000"/>
                  </a:solidFill>
                  <a:latin typeface="Times New Roman" panose="02020603050405020304" pitchFamily="18" charset="0"/>
                  <a:ea typeface="宋体" panose="02010600030101010101" pitchFamily="2" charset="-122"/>
                </a:rPr>
                <a:t>T</a:t>
              </a:r>
              <a:r>
                <a:rPr lang="en-US" altLang="zh-CN" sz="3200" b="1" baseline="-25000" dirty="0">
                  <a:solidFill>
                    <a:srgbClr val="FF0000"/>
                  </a:solidFill>
                  <a:latin typeface="Times New Roman" panose="02020603050405020304" pitchFamily="18" charset="0"/>
                  <a:ea typeface="宋体" panose="02010600030101010101" pitchFamily="2" charset="-122"/>
                </a:rPr>
                <a:t>w</a:t>
              </a:r>
              <a:r>
                <a:rPr lang="en-US" altLang="zh-CN" sz="3200" b="1" baseline="-25000" dirty="0">
                  <a:solidFill>
                    <a:schemeClr val="hlink"/>
                  </a:solidFill>
                  <a:latin typeface="Times New Roman" panose="02020603050405020304" pitchFamily="18" charset="0"/>
                  <a:ea typeface="宋体" panose="02010600030101010101" pitchFamily="2" charset="-122"/>
                </a:rPr>
                <a:t>  </a:t>
              </a:r>
              <a:r>
                <a:rPr lang="en-US" altLang="zh-CN" sz="3200" b="1" baseline="-25000"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当             为低电平时，等待一个 </a:t>
              </a:r>
              <a:r>
                <a:rPr lang="en-US" altLang="zh-CN" sz="2800" b="1" i="1" dirty="0">
                  <a:latin typeface="Times New Roman" panose="02020603050405020304" pitchFamily="18" charset="0"/>
                  <a:ea typeface="宋体" panose="02010600030101010101" pitchFamily="2" charset="-122"/>
                </a:rPr>
                <a:t>T</a:t>
              </a:r>
            </a:p>
          </p:txBody>
        </p:sp>
        <p:grpSp>
          <p:nvGrpSpPr>
            <p:cNvPr id="40974" name="Group 15"/>
            <p:cNvGrpSpPr/>
            <p:nvPr/>
          </p:nvGrpSpPr>
          <p:grpSpPr>
            <a:xfrm>
              <a:off x="1296" y="2400"/>
              <a:ext cx="1066" cy="327"/>
              <a:chOff x="1296" y="2400"/>
              <a:chExt cx="1066" cy="327"/>
            </a:xfrm>
          </p:grpSpPr>
          <p:sp>
            <p:nvSpPr>
              <p:cNvPr id="40975" name="Text Box 16"/>
              <p:cNvSpPr txBox="1"/>
              <p:nvPr/>
            </p:nvSpPr>
            <p:spPr>
              <a:xfrm>
                <a:off x="1296" y="2400"/>
                <a:ext cx="1066" cy="327"/>
              </a:xfrm>
              <a:prstGeom prst="rect">
                <a:avLst/>
              </a:prstGeom>
              <a:noFill/>
              <a:ln w="9525">
                <a:noFill/>
              </a:ln>
            </p:spPr>
            <p:txBody>
              <a:bodyPr anchor="t" anchorCtr="0">
                <a:spAutoFit/>
              </a:bodyPr>
              <a:lstStyle/>
              <a:p>
                <a:pPr>
                  <a:buClrTx/>
                  <a:buFontTx/>
                </a:pPr>
                <a:r>
                  <a:rPr lang="en-US" altLang="zh-CN" sz="2800" b="1" dirty="0">
                    <a:latin typeface="Times New Roman" panose="02020603050405020304" pitchFamily="18" charset="0"/>
                    <a:ea typeface="宋体" panose="02010600030101010101" pitchFamily="2" charset="-122"/>
                  </a:rPr>
                  <a:t>WAIT</a:t>
                </a:r>
              </a:p>
            </p:txBody>
          </p:sp>
          <p:sp>
            <p:nvSpPr>
              <p:cNvPr id="40976" name="Line 17"/>
              <p:cNvSpPr/>
              <p:nvPr/>
            </p:nvSpPr>
            <p:spPr>
              <a:xfrm>
                <a:off x="1344" y="2448"/>
                <a:ext cx="672" cy="0"/>
              </a:xfrm>
              <a:prstGeom prst="line">
                <a:avLst/>
              </a:prstGeom>
              <a:ln w="19050" cap="flat" cmpd="sng">
                <a:solidFill>
                  <a:schemeClr val="tx1"/>
                </a:solidFill>
                <a:prstDash val="solid"/>
                <a:roun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3234"/>
                                        </p:tgtEl>
                                        <p:attrNameLst>
                                          <p:attrName>style.visibility</p:attrName>
                                        </p:attrNameLst>
                                      </p:cBhvr>
                                      <p:to>
                                        <p:strVal val="visible"/>
                                      </p:to>
                                    </p:set>
                                    <p:animEffect transition="in" filter="blinds(horizontal)">
                                      <p:cBhvr>
                                        <p:cTn id="7" dur="500"/>
                                        <p:tgtEl>
                                          <p:spTgt spid="2232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3235"/>
                                        </p:tgtEl>
                                        <p:attrNameLst>
                                          <p:attrName>style.visibility</p:attrName>
                                        </p:attrNameLst>
                                      </p:cBhvr>
                                      <p:to>
                                        <p:strVal val="visible"/>
                                      </p:to>
                                    </p:set>
                                    <p:animEffect transition="in" filter="blinds(horizontal)">
                                      <p:cBhvr>
                                        <p:cTn id="12" dur="500"/>
                                        <p:tgtEl>
                                          <p:spTgt spid="2232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3236"/>
                                        </p:tgtEl>
                                        <p:attrNameLst>
                                          <p:attrName>style.visibility</p:attrName>
                                        </p:attrNameLst>
                                      </p:cBhvr>
                                      <p:to>
                                        <p:strVal val="visible"/>
                                      </p:to>
                                    </p:set>
                                    <p:animEffect transition="in" filter="blinds(horizontal)">
                                      <p:cBhvr>
                                        <p:cTn id="17" dur="500"/>
                                        <p:tgtEl>
                                          <p:spTgt spid="22323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3238"/>
                                        </p:tgtEl>
                                        <p:attrNameLst>
                                          <p:attrName>style.visibility</p:attrName>
                                        </p:attrNameLst>
                                      </p:cBhvr>
                                      <p:to>
                                        <p:strVal val="visible"/>
                                      </p:to>
                                    </p:set>
                                    <p:animEffect transition="in" filter="blinds(horizontal)">
                                      <p:cBhvr>
                                        <p:cTn id="22" dur="500"/>
                                        <p:tgtEl>
                                          <p:spTgt spid="22323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3239"/>
                                        </p:tgtEl>
                                        <p:attrNameLst>
                                          <p:attrName>style.visibility</p:attrName>
                                        </p:attrNameLst>
                                      </p:cBhvr>
                                      <p:to>
                                        <p:strVal val="visible"/>
                                      </p:to>
                                    </p:set>
                                    <p:animEffect transition="in" filter="blinds(horizontal)">
                                      <p:cBhvr>
                                        <p:cTn id="27" dur="500"/>
                                        <p:tgtEl>
                                          <p:spTgt spid="22323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nodeType="clickEffect">
                                  <p:stCondLst>
                                    <p:cond delay="0"/>
                                  </p:stCondLst>
                                  <p:childTnLst>
                                    <p:set>
                                      <p:cBhvr>
                                        <p:cTn id="31" dur="1" fill="hold">
                                          <p:stCondLst>
                                            <p:cond delay="0"/>
                                          </p:stCondLst>
                                        </p:cTn>
                                        <p:tgtEl>
                                          <p:spTgt spid="223240"/>
                                        </p:tgtEl>
                                        <p:attrNameLst>
                                          <p:attrName>style.visibility</p:attrName>
                                        </p:attrNameLst>
                                      </p:cBhvr>
                                      <p:to>
                                        <p:strVal val="visible"/>
                                      </p:to>
                                    </p:set>
                                    <p:animEffect transition="in" filter="slide(fromRight)">
                                      <p:cBhvr>
                                        <p:cTn id="32" dur="500"/>
                                        <p:tgtEl>
                                          <p:spTgt spid="22324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2" fill="hold" nodeType="clickEffect">
                                  <p:stCondLst>
                                    <p:cond delay="0"/>
                                  </p:stCondLst>
                                  <p:childTnLst>
                                    <p:set>
                                      <p:cBhvr>
                                        <p:cTn id="36" dur="1" fill="hold">
                                          <p:stCondLst>
                                            <p:cond delay="0"/>
                                          </p:stCondLst>
                                        </p:cTn>
                                        <p:tgtEl>
                                          <p:spTgt spid="223245"/>
                                        </p:tgtEl>
                                        <p:attrNameLst>
                                          <p:attrName>style.visibility</p:attrName>
                                        </p:attrNameLst>
                                      </p:cBhvr>
                                      <p:to>
                                        <p:strVal val="visible"/>
                                      </p:to>
                                    </p:set>
                                    <p:animEffect transition="in" filter="slide(fromRight)">
                                      <p:cBhvr>
                                        <p:cTn id="37" dur="500"/>
                                        <p:tgtEl>
                                          <p:spTgt spid="22324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3237"/>
                                        </p:tgtEl>
                                        <p:attrNameLst>
                                          <p:attrName>style.visibility</p:attrName>
                                        </p:attrNameLst>
                                      </p:cBhvr>
                                      <p:to>
                                        <p:strVal val="visible"/>
                                      </p:to>
                                    </p:set>
                                    <p:animEffect transition="in" filter="blinds(horizontal)">
                                      <p:cBhvr>
                                        <p:cTn id="42" dur="500"/>
                                        <p:tgtEl>
                                          <p:spTgt spid="223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p:bldP spid="223235" grpId="0"/>
      <p:bldP spid="223236" grpId="0"/>
      <p:bldP spid="223237" grpId="0"/>
      <p:bldP spid="223238" grpId="0"/>
      <p:bldP spid="22323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Freeform 100"/>
          <p:cNvSpPr/>
          <p:nvPr/>
        </p:nvSpPr>
        <p:spPr>
          <a:xfrm>
            <a:off x="6396038" y="3017838"/>
            <a:ext cx="504825" cy="555625"/>
          </a:xfrm>
          <a:custGeom>
            <a:avLst/>
            <a:gdLst/>
            <a:ahLst/>
            <a:cxnLst>
              <a:cxn ang="0">
                <a:pos x="0" y="2147483647"/>
              </a:cxn>
              <a:cxn ang="0">
                <a:pos x="2147483647" y="2147483647"/>
              </a:cxn>
              <a:cxn ang="0">
                <a:pos x="2147483647" y="0"/>
              </a:cxn>
              <a:cxn ang="0">
                <a:pos x="0" y="2147483647"/>
              </a:cxn>
            </a:cxnLst>
            <a:rect l="0" t="0" r="0" b="0"/>
            <a:pathLst>
              <a:path w="417" h="442">
                <a:moveTo>
                  <a:pt x="0" y="442"/>
                </a:moveTo>
                <a:lnTo>
                  <a:pt x="417" y="442"/>
                </a:lnTo>
                <a:lnTo>
                  <a:pt x="417" y="0"/>
                </a:lnTo>
                <a:lnTo>
                  <a:pt x="0" y="442"/>
                </a:lnTo>
                <a:close/>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grpSp>
        <p:nvGrpSpPr>
          <p:cNvPr id="224259" name="Group 3"/>
          <p:cNvGrpSpPr/>
          <p:nvPr/>
        </p:nvGrpSpPr>
        <p:grpSpPr>
          <a:xfrm>
            <a:off x="-53975" y="2906713"/>
            <a:ext cx="9197975" cy="763587"/>
            <a:chOff x="-34" y="2385"/>
            <a:chExt cx="5794" cy="481"/>
          </a:xfrm>
        </p:grpSpPr>
        <p:grpSp>
          <p:nvGrpSpPr>
            <p:cNvPr id="41987" name="Group 4"/>
            <p:cNvGrpSpPr/>
            <p:nvPr/>
          </p:nvGrpSpPr>
          <p:grpSpPr>
            <a:xfrm>
              <a:off x="396" y="2405"/>
              <a:ext cx="5364" cy="461"/>
              <a:chOff x="396" y="2405"/>
              <a:chExt cx="5364" cy="461"/>
            </a:xfrm>
          </p:grpSpPr>
          <p:grpSp>
            <p:nvGrpSpPr>
              <p:cNvPr id="41988" name="Group 5"/>
              <p:cNvGrpSpPr/>
              <p:nvPr/>
            </p:nvGrpSpPr>
            <p:grpSpPr>
              <a:xfrm>
                <a:off x="396" y="2405"/>
                <a:ext cx="982" cy="461"/>
                <a:chOff x="396" y="2405"/>
                <a:chExt cx="982" cy="461"/>
              </a:xfrm>
            </p:grpSpPr>
            <p:sp>
              <p:nvSpPr>
                <p:cNvPr id="41989" name="Freeform 43"/>
                <p:cNvSpPr/>
                <p:nvPr/>
              </p:nvSpPr>
              <p:spPr>
                <a:xfrm>
                  <a:off x="396" y="2475"/>
                  <a:ext cx="827" cy="0"/>
                </a:xfrm>
                <a:custGeom>
                  <a:avLst/>
                  <a:gdLst/>
                  <a:ahLst/>
                  <a:cxnLst>
                    <a:cxn ang="0">
                      <a:pos x="0" y="1"/>
                    </a:cxn>
                    <a:cxn ang="0">
                      <a:pos x="411" y="0"/>
                    </a:cxn>
                  </a:cxnLst>
                  <a:rect l="0" t="0" r="0" b="0"/>
                  <a:pathLst>
                    <a:path w="1174" h="1">
                      <a:moveTo>
                        <a:pt x="0" y="1"/>
                      </a:moveTo>
                      <a:lnTo>
                        <a:pt x="1174" y="0"/>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1990" name="Line 44"/>
                <p:cNvSpPr/>
                <p:nvPr/>
              </p:nvSpPr>
              <p:spPr>
                <a:xfrm rot="8100000">
                  <a:off x="1378" y="2405"/>
                  <a:ext cx="0" cy="461"/>
                </a:xfrm>
                <a:prstGeom prst="line">
                  <a:avLst/>
                </a:prstGeom>
                <a:ln w="38100" cap="flat" cmpd="sng">
                  <a:solidFill>
                    <a:schemeClr val="tx1"/>
                  </a:solidFill>
                  <a:prstDash val="solid"/>
                  <a:round/>
                  <a:headEnd type="none" w="med" len="med"/>
                  <a:tailEnd type="none" w="med" len="med"/>
                </a:ln>
              </p:spPr>
            </p:sp>
          </p:grpSp>
          <p:sp>
            <p:nvSpPr>
              <p:cNvPr id="41991" name="Line 46"/>
              <p:cNvSpPr/>
              <p:nvPr/>
            </p:nvSpPr>
            <p:spPr>
              <a:xfrm>
                <a:off x="1530" y="2788"/>
                <a:ext cx="2525" cy="0"/>
              </a:xfrm>
              <a:prstGeom prst="line">
                <a:avLst/>
              </a:prstGeom>
              <a:ln w="38100" cap="flat" cmpd="sng">
                <a:solidFill>
                  <a:schemeClr val="tx1"/>
                </a:solidFill>
                <a:prstDash val="solid"/>
                <a:round/>
                <a:headEnd type="none" w="med" len="med"/>
                <a:tailEnd type="none" w="med" len="med"/>
              </a:ln>
            </p:spPr>
          </p:sp>
          <p:grpSp>
            <p:nvGrpSpPr>
              <p:cNvPr id="41992" name="组合 252"/>
              <p:cNvGrpSpPr/>
              <p:nvPr/>
            </p:nvGrpSpPr>
            <p:grpSpPr>
              <a:xfrm>
                <a:off x="3978" y="2476"/>
                <a:ext cx="1782" cy="156"/>
                <a:chOff x="6314895" y="3930745"/>
                <a:chExt cx="2829137" cy="247648"/>
              </a:xfrm>
            </p:grpSpPr>
            <p:sp>
              <p:nvSpPr>
                <p:cNvPr id="41993" name="Line 45"/>
                <p:cNvSpPr/>
                <p:nvPr/>
              </p:nvSpPr>
              <p:spPr>
                <a:xfrm rot="2700000">
                  <a:off x="6674895" y="3818393"/>
                  <a:ext cx="0" cy="720000"/>
                </a:xfrm>
                <a:prstGeom prst="line">
                  <a:avLst/>
                </a:prstGeom>
                <a:ln w="38100" cap="flat" cmpd="sng">
                  <a:solidFill>
                    <a:schemeClr val="tx1"/>
                  </a:solidFill>
                  <a:prstDash val="solid"/>
                  <a:round/>
                  <a:headEnd type="none" w="med" len="med"/>
                  <a:tailEnd type="none" w="med" len="med"/>
                </a:ln>
              </p:spPr>
            </p:sp>
            <p:sp>
              <p:nvSpPr>
                <p:cNvPr id="41994" name="Line 47"/>
                <p:cNvSpPr/>
                <p:nvPr/>
              </p:nvSpPr>
              <p:spPr>
                <a:xfrm>
                  <a:off x="6912032" y="3930745"/>
                  <a:ext cx="2232000" cy="0"/>
                </a:xfrm>
                <a:prstGeom prst="line">
                  <a:avLst/>
                </a:prstGeom>
                <a:ln w="38100" cap="flat" cmpd="sng">
                  <a:solidFill>
                    <a:schemeClr val="tx1"/>
                  </a:solidFill>
                  <a:prstDash val="solid"/>
                  <a:round/>
                  <a:headEnd type="none" w="med" len="med"/>
                  <a:tailEnd type="none" w="med" len="med"/>
                </a:ln>
              </p:spPr>
            </p:sp>
          </p:grpSp>
        </p:grpSp>
        <p:grpSp>
          <p:nvGrpSpPr>
            <p:cNvPr id="41995" name="Group 12"/>
            <p:cNvGrpSpPr/>
            <p:nvPr/>
          </p:nvGrpSpPr>
          <p:grpSpPr>
            <a:xfrm>
              <a:off x="-34" y="2385"/>
              <a:ext cx="439" cy="468"/>
              <a:chOff x="-34" y="2385"/>
              <a:chExt cx="439" cy="468"/>
            </a:xfrm>
          </p:grpSpPr>
          <p:sp>
            <p:nvSpPr>
              <p:cNvPr id="41996" name="Text Box 35"/>
              <p:cNvSpPr txBox="1"/>
              <p:nvPr/>
            </p:nvSpPr>
            <p:spPr>
              <a:xfrm>
                <a:off x="-34" y="2385"/>
                <a:ext cx="439" cy="288"/>
              </a:xfrm>
              <a:prstGeom prst="rect">
                <a:avLst/>
              </a:prstGeom>
              <a:noFill/>
              <a:ln w="9525">
                <a:noFill/>
              </a:ln>
            </p:spPr>
            <p:txBody>
              <a:bodyPr lIns="0" anchor="t" anchorCtr="0">
                <a:spAutoFit/>
              </a:bodyPr>
              <a:lstStyle/>
              <a:p>
                <a:pPr algn="ct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读</a:t>
                </a:r>
              </a:p>
            </p:txBody>
          </p:sp>
          <p:sp>
            <p:nvSpPr>
              <p:cNvPr id="41997" name="Text Box 35"/>
              <p:cNvSpPr txBox="1"/>
              <p:nvPr/>
            </p:nvSpPr>
            <p:spPr>
              <a:xfrm>
                <a:off x="-34" y="2565"/>
                <a:ext cx="439" cy="288"/>
              </a:xfrm>
              <a:prstGeom prst="rect">
                <a:avLst/>
              </a:prstGeom>
              <a:noFill/>
              <a:ln w="9525">
                <a:noFill/>
              </a:ln>
            </p:spPr>
            <p:txBody>
              <a:bodyPr lIns="0"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命令</a:t>
                </a:r>
              </a:p>
            </p:txBody>
          </p:sp>
        </p:grpSp>
      </p:grpSp>
      <p:grpSp>
        <p:nvGrpSpPr>
          <p:cNvPr id="224271" name="Group 15"/>
          <p:cNvGrpSpPr/>
          <p:nvPr/>
        </p:nvGrpSpPr>
        <p:grpSpPr>
          <a:xfrm>
            <a:off x="17463" y="3835400"/>
            <a:ext cx="9070975" cy="730250"/>
            <a:chOff x="11" y="2970"/>
            <a:chExt cx="5714" cy="460"/>
          </a:xfrm>
        </p:grpSpPr>
        <p:grpSp>
          <p:nvGrpSpPr>
            <p:cNvPr id="41999" name="Group 16"/>
            <p:cNvGrpSpPr/>
            <p:nvPr/>
          </p:nvGrpSpPr>
          <p:grpSpPr>
            <a:xfrm>
              <a:off x="11" y="3093"/>
              <a:ext cx="484" cy="213"/>
              <a:chOff x="11" y="3093"/>
              <a:chExt cx="484" cy="213"/>
            </a:xfrm>
          </p:grpSpPr>
          <p:sp>
            <p:nvSpPr>
              <p:cNvPr id="42000" name="Text Box 35"/>
              <p:cNvSpPr txBox="1"/>
              <p:nvPr/>
            </p:nvSpPr>
            <p:spPr>
              <a:xfrm>
                <a:off x="11" y="3093"/>
                <a:ext cx="484" cy="213"/>
              </a:xfrm>
              <a:prstGeom prst="rect">
                <a:avLst/>
              </a:prstGeom>
              <a:noFill/>
              <a:ln w="9525">
                <a:noFill/>
              </a:ln>
            </p:spPr>
            <p:txBody>
              <a:bodyPr lIns="0" anchor="t" anchorCtr="0">
                <a:spAutoFit/>
              </a:bodyPr>
              <a:lstStyle/>
              <a:p>
                <a:pPr>
                  <a:spcBef>
                    <a:spcPct val="50000"/>
                  </a:spcBef>
                  <a:buClrTx/>
                  <a:buFontTx/>
                </a:pPr>
                <a:r>
                  <a:rPr lang="en-US" altLang="zh-CN" sz="1600" b="1" dirty="0">
                    <a:latin typeface="Times New Roman" panose="02020603050405020304" pitchFamily="18" charset="0"/>
                    <a:ea typeface="宋体" panose="02010600030101010101" pitchFamily="2" charset="-122"/>
                  </a:rPr>
                  <a:t>WAIT</a:t>
                </a:r>
              </a:p>
            </p:txBody>
          </p:sp>
          <p:cxnSp>
            <p:nvCxnSpPr>
              <p:cNvPr id="42001" name="AutoShape 17"/>
              <p:cNvCxnSpPr/>
              <p:nvPr/>
            </p:nvCxnSpPr>
            <p:spPr>
              <a:xfrm flipH="1">
                <a:off x="11" y="3105"/>
                <a:ext cx="358" cy="0"/>
              </a:xfrm>
              <a:prstGeom prst="straightConnector1">
                <a:avLst/>
              </a:prstGeom>
              <a:ln w="25400" cap="flat" cmpd="sng">
                <a:solidFill>
                  <a:schemeClr val="tx1"/>
                </a:solidFill>
                <a:prstDash val="solid"/>
                <a:round/>
                <a:headEnd type="none" w="med" len="med"/>
                <a:tailEnd type="none" w="med" len="med"/>
              </a:ln>
            </p:spPr>
          </p:cxnSp>
        </p:grpSp>
        <p:sp>
          <p:nvSpPr>
            <p:cNvPr id="42002" name="Freeform 43"/>
            <p:cNvSpPr/>
            <p:nvPr/>
          </p:nvSpPr>
          <p:spPr>
            <a:xfrm>
              <a:off x="396" y="3040"/>
              <a:ext cx="1542" cy="0"/>
            </a:xfrm>
            <a:custGeom>
              <a:avLst/>
              <a:gdLst/>
              <a:ahLst/>
              <a:cxnLst>
                <a:cxn ang="0">
                  <a:pos x="0" y="1"/>
                </a:cxn>
                <a:cxn ang="0">
                  <a:pos x="2660" y="0"/>
                </a:cxn>
              </a:cxnLst>
              <a:rect l="0" t="0" r="0" b="0"/>
              <a:pathLst>
                <a:path w="1174" h="1">
                  <a:moveTo>
                    <a:pt x="0" y="1"/>
                  </a:moveTo>
                  <a:lnTo>
                    <a:pt x="1174" y="0"/>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2003" name="Line 44"/>
            <p:cNvSpPr/>
            <p:nvPr/>
          </p:nvSpPr>
          <p:spPr>
            <a:xfrm rot="8100000">
              <a:off x="2097" y="2970"/>
              <a:ext cx="0" cy="460"/>
            </a:xfrm>
            <a:prstGeom prst="line">
              <a:avLst/>
            </a:prstGeom>
            <a:ln w="38100" cap="flat" cmpd="sng">
              <a:solidFill>
                <a:schemeClr val="tx1"/>
              </a:solidFill>
              <a:prstDash val="solid"/>
              <a:round/>
              <a:headEnd type="none" w="med" len="med"/>
              <a:tailEnd type="none" w="med" len="med"/>
            </a:ln>
          </p:spPr>
        </p:sp>
        <p:sp>
          <p:nvSpPr>
            <p:cNvPr id="42004" name="Line 46"/>
            <p:cNvSpPr/>
            <p:nvPr/>
          </p:nvSpPr>
          <p:spPr>
            <a:xfrm>
              <a:off x="2253" y="3352"/>
              <a:ext cx="1065" cy="0"/>
            </a:xfrm>
            <a:prstGeom prst="line">
              <a:avLst/>
            </a:prstGeom>
            <a:ln w="38100" cap="flat" cmpd="sng">
              <a:solidFill>
                <a:schemeClr val="tx1"/>
              </a:solidFill>
              <a:prstDash val="solid"/>
              <a:round/>
              <a:headEnd type="none" w="med" len="med"/>
              <a:tailEnd type="none" w="med" len="med"/>
            </a:ln>
          </p:spPr>
        </p:sp>
        <p:sp>
          <p:nvSpPr>
            <p:cNvPr id="42005" name="Line 45"/>
            <p:cNvSpPr/>
            <p:nvPr/>
          </p:nvSpPr>
          <p:spPr>
            <a:xfrm rot="2700000">
              <a:off x="3459" y="2962"/>
              <a:ext cx="0" cy="453"/>
            </a:xfrm>
            <a:prstGeom prst="line">
              <a:avLst/>
            </a:prstGeom>
            <a:ln w="38100" cap="flat" cmpd="sng">
              <a:solidFill>
                <a:schemeClr val="tx1"/>
              </a:solidFill>
              <a:prstDash val="solid"/>
              <a:round/>
              <a:headEnd type="none" w="med" len="med"/>
              <a:tailEnd type="none" w="med" len="med"/>
            </a:ln>
          </p:spPr>
        </p:sp>
        <p:sp>
          <p:nvSpPr>
            <p:cNvPr id="42006" name="Line 47"/>
            <p:cNvSpPr/>
            <p:nvPr/>
          </p:nvSpPr>
          <p:spPr>
            <a:xfrm>
              <a:off x="3616" y="3041"/>
              <a:ext cx="2109" cy="0"/>
            </a:xfrm>
            <a:prstGeom prst="line">
              <a:avLst/>
            </a:prstGeom>
            <a:ln w="38100" cap="flat" cmpd="sng">
              <a:solidFill>
                <a:schemeClr val="tx1"/>
              </a:solidFill>
              <a:prstDash val="solid"/>
              <a:round/>
              <a:headEnd type="none" w="med" len="med"/>
              <a:tailEnd type="none" w="med" len="med"/>
            </a:ln>
          </p:spPr>
        </p:sp>
      </p:grpSp>
      <p:grpSp>
        <p:nvGrpSpPr>
          <p:cNvPr id="2" name="组合 381"/>
          <p:cNvGrpSpPr/>
          <p:nvPr/>
        </p:nvGrpSpPr>
        <p:grpSpPr>
          <a:xfrm>
            <a:off x="0" y="2192338"/>
            <a:ext cx="9120188" cy="500062"/>
            <a:chOff x="-32" y="3071810"/>
            <a:chExt cx="9119767" cy="500066"/>
          </a:xfrm>
        </p:grpSpPr>
        <p:sp>
          <p:nvSpPr>
            <p:cNvPr id="42008" name="Freeform 37"/>
            <p:cNvSpPr/>
            <p:nvPr/>
          </p:nvSpPr>
          <p:spPr>
            <a:xfrm>
              <a:off x="1067574" y="3129856"/>
              <a:ext cx="6953050" cy="442020"/>
            </a:xfrm>
            <a:custGeom>
              <a:avLst/>
              <a:gdLst/>
              <a:ahLst/>
              <a:cxnLst>
                <a:cxn ang="0">
                  <a:pos x="2147483647" y="0"/>
                </a:cxn>
                <a:cxn ang="0">
                  <a:pos x="0" y="2147483647"/>
                </a:cxn>
                <a:cxn ang="0">
                  <a:pos x="2147483647" y="2147483647"/>
                </a:cxn>
                <a:cxn ang="0">
                  <a:pos x="2147483647" y="2147483647"/>
                </a:cxn>
                <a:cxn ang="0">
                  <a:pos x="2147483647" y="2147483647"/>
                </a:cxn>
                <a:cxn ang="0">
                  <a:pos x="2147483647" y="2147483647"/>
                </a:cxn>
                <a:cxn ang="0">
                  <a:pos x="2147483647" y="0"/>
                </a:cxn>
                <a:cxn ang="0">
                  <a:pos x="2147483647" y="0"/>
                </a:cxn>
              </a:cxnLst>
              <a:rect l="0" t="0" r="0" b="0"/>
              <a:pathLst>
                <a:path w="3857" h="343">
                  <a:moveTo>
                    <a:pt x="170" y="0"/>
                  </a:moveTo>
                  <a:lnTo>
                    <a:pt x="0" y="170"/>
                  </a:lnTo>
                  <a:lnTo>
                    <a:pt x="173" y="342"/>
                  </a:lnTo>
                  <a:lnTo>
                    <a:pt x="1343" y="343"/>
                  </a:lnTo>
                  <a:lnTo>
                    <a:pt x="3686" y="342"/>
                  </a:lnTo>
                  <a:lnTo>
                    <a:pt x="3857" y="171"/>
                  </a:lnTo>
                  <a:lnTo>
                    <a:pt x="3686" y="0"/>
                  </a:lnTo>
                  <a:lnTo>
                    <a:pt x="170" y="0"/>
                  </a:lnTo>
                  <a:close/>
                </a:path>
              </a:pathLst>
            </a:custGeom>
            <a:noFill/>
            <a:ln w="31750" cap="flat" cmpd="sng">
              <a:solidFill>
                <a:schemeClr val="tx1"/>
              </a:solidFill>
              <a:prstDash val="solid"/>
              <a:round/>
              <a:headEnd type="none" w="med" len="med"/>
              <a:tailEnd type="none" w="med" len="med"/>
            </a:ln>
          </p:spPr>
          <p:txBody>
            <a:bodyPr/>
            <a:lstStyle/>
            <a:p>
              <a:endParaRPr lang="zh-CN" altLang="en-US"/>
            </a:p>
          </p:txBody>
        </p:sp>
        <p:sp>
          <p:nvSpPr>
            <p:cNvPr id="42009" name="Line 38"/>
            <p:cNvSpPr/>
            <p:nvPr/>
          </p:nvSpPr>
          <p:spPr>
            <a:xfrm flipH="1">
              <a:off x="602966" y="3351600"/>
              <a:ext cx="486000" cy="0"/>
            </a:xfrm>
            <a:prstGeom prst="line">
              <a:avLst/>
            </a:prstGeom>
            <a:ln w="38100" cap="flat" cmpd="sng">
              <a:solidFill>
                <a:schemeClr val="tx1"/>
              </a:solidFill>
              <a:prstDash val="solid"/>
              <a:round/>
              <a:headEnd type="none" w="med" len="med"/>
              <a:tailEnd type="none" w="med" len="med"/>
            </a:ln>
          </p:spPr>
        </p:sp>
        <p:sp>
          <p:nvSpPr>
            <p:cNvPr id="42010" name="Line 39"/>
            <p:cNvSpPr/>
            <p:nvPr/>
          </p:nvSpPr>
          <p:spPr>
            <a:xfrm>
              <a:off x="8039715" y="3348000"/>
              <a:ext cx="1080020" cy="0"/>
            </a:xfrm>
            <a:prstGeom prst="line">
              <a:avLst/>
            </a:prstGeom>
            <a:ln w="38100" cap="flat" cmpd="sng">
              <a:solidFill>
                <a:schemeClr val="tx1"/>
              </a:solidFill>
              <a:prstDash val="solid"/>
              <a:round/>
              <a:headEnd type="none" w="med" len="med"/>
              <a:tailEnd type="none" w="med" len="med"/>
            </a:ln>
          </p:spPr>
        </p:sp>
        <p:sp>
          <p:nvSpPr>
            <p:cNvPr id="42011" name="Text Box 35"/>
            <p:cNvSpPr txBox="1"/>
            <p:nvPr/>
          </p:nvSpPr>
          <p:spPr>
            <a:xfrm>
              <a:off x="-32" y="3071810"/>
              <a:ext cx="696880" cy="457203"/>
            </a:xfrm>
            <a:prstGeom prst="rect">
              <a:avLst/>
            </a:prstGeom>
            <a:noFill/>
            <a:ln w="9525">
              <a:noFill/>
            </a:ln>
          </p:spPr>
          <p:txBody>
            <a:bodyPr lIns="0"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地址</a:t>
              </a:r>
            </a:p>
          </p:txBody>
        </p:sp>
      </p:grpSp>
      <p:grpSp>
        <p:nvGrpSpPr>
          <p:cNvPr id="3" name="组合 399"/>
          <p:cNvGrpSpPr/>
          <p:nvPr/>
        </p:nvGrpSpPr>
        <p:grpSpPr>
          <a:xfrm>
            <a:off x="-36512" y="4906963"/>
            <a:ext cx="9144000" cy="561975"/>
            <a:chOff x="-54031" y="5786454"/>
            <a:chExt cx="9144047" cy="561972"/>
          </a:xfrm>
        </p:grpSpPr>
        <p:sp>
          <p:nvSpPr>
            <p:cNvPr id="42013" name="Text Box 35"/>
            <p:cNvSpPr txBox="1"/>
            <p:nvPr/>
          </p:nvSpPr>
          <p:spPr>
            <a:xfrm>
              <a:off x="-54031" y="5786454"/>
              <a:ext cx="696916" cy="457198"/>
            </a:xfrm>
            <a:prstGeom prst="rect">
              <a:avLst/>
            </a:prstGeom>
            <a:noFill/>
            <a:ln w="9525">
              <a:noFill/>
            </a:ln>
          </p:spPr>
          <p:txBody>
            <a:bodyPr lIns="0"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数据</a:t>
              </a:r>
            </a:p>
          </p:txBody>
        </p:sp>
        <p:grpSp>
          <p:nvGrpSpPr>
            <p:cNvPr id="42014" name="组合 395"/>
            <p:cNvGrpSpPr/>
            <p:nvPr/>
          </p:nvGrpSpPr>
          <p:grpSpPr>
            <a:xfrm>
              <a:off x="642909" y="5819788"/>
              <a:ext cx="8447107" cy="528638"/>
              <a:chOff x="642909" y="5819788"/>
              <a:chExt cx="8447107" cy="528638"/>
            </a:xfrm>
          </p:grpSpPr>
          <p:sp>
            <p:nvSpPr>
              <p:cNvPr id="42015" name="Line 50"/>
              <p:cNvSpPr/>
              <p:nvPr/>
            </p:nvSpPr>
            <p:spPr>
              <a:xfrm>
                <a:off x="642909" y="6048388"/>
                <a:ext cx="4896000" cy="0"/>
              </a:xfrm>
              <a:prstGeom prst="line">
                <a:avLst/>
              </a:prstGeom>
              <a:ln w="38100" cap="flat" cmpd="sng">
                <a:solidFill>
                  <a:schemeClr val="tx1"/>
                </a:solidFill>
                <a:prstDash val="solid"/>
                <a:round/>
                <a:headEnd type="none" w="med" len="med"/>
                <a:tailEnd type="none" w="med" len="med"/>
              </a:ln>
            </p:spPr>
          </p:sp>
          <p:sp>
            <p:nvSpPr>
              <p:cNvPr id="42016" name="Line 51"/>
              <p:cNvSpPr/>
              <p:nvPr/>
            </p:nvSpPr>
            <p:spPr>
              <a:xfrm>
                <a:off x="6858016" y="6046801"/>
                <a:ext cx="2232000" cy="1588"/>
              </a:xfrm>
              <a:prstGeom prst="line">
                <a:avLst/>
              </a:prstGeom>
              <a:ln w="38100" cap="flat" cmpd="sng">
                <a:solidFill>
                  <a:schemeClr val="tx1"/>
                </a:solidFill>
                <a:prstDash val="solid"/>
                <a:round/>
                <a:headEnd type="none" w="med" len="med"/>
                <a:tailEnd type="none" w="med" len="med"/>
              </a:ln>
            </p:spPr>
          </p:sp>
          <p:sp>
            <p:nvSpPr>
              <p:cNvPr id="42017" name="Freeform 52"/>
              <p:cNvSpPr/>
              <p:nvPr/>
            </p:nvSpPr>
            <p:spPr>
              <a:xfrm>
                <a:off x="5500692" y="5819788"/>
                <a:ext cx="1357324" cy="528638"/>
              </a:xfrm>
              <a:custGeom>
                <a:avLst/>
                <a:gdLst/>
                <a:ahLst/>
                <a:cxnLst>
                  <a:cxn ang="0">
                    <a:pos x="0" y="2147483647"/>
                  </a:cxn>
                  <a:cxn ang="0">
                    <a:pos x="2147483647" y="0"/>
                  </a:cxn>
                  <a:cxn ang="0">
                    <a:pos x="2147483647" y="0"/>
                  </a:cxn>
                  <a:cxn ang="0">
                    <a:pos x="2147483647" y="2147483647"/>
                  </a:cxn>
                  <a:cxn ang="0">
                    <a:pos x="2147483647" y="2147483647"/>
                  </a:cxn>
                  <a:cxn ang="0">
                    <a:pos x="2147483647" y="2147483647"/>
                  </a:cxn>
                  <a:cxn ang="0">
                    <a:pos x="0" y="2147483647"/>
                  </a:cxn>
                </a:cxnLst>
                <a:rect l="0" t="0" r="0" b="0"/>
                <a:pathLst>
                  <a:path w="1056" h="333">
                    <a:moveTo>
                      <a:pt x="0" y="144"/>
                    </a:moveTo>
                    <a:lnTo>
                      <a:pt x="144" y="0"/>
                    </a:lnTo>
                    <a:lnTo>
                      <a:pt x="912" y="0"/>
                    </a:lnTo>
                    <a:lnTo>
                      <a:pt x="1056" y="144"/>
                    </a:lnTo>
                    <a:lnTo>
                      <a:pt x="880" y="333"/>
                    </a:lnTo>
                    <a:lnTo>
                      <a:pt x="170" y="333"/>
                    </a:lnTo>
                    <a:lnTo>
                      <a:pt x="0" y="144"/>
                    </a:lnTo>
                    <a:close/>
                  </a:path>
                </a:pathLst>
              </a:custGeom>
              <a:noFill/>
              <a:ln w="38100" cap="flat" cmpd="sng">
                <a:solidFill>
                  <a:schemeClr val="tx1"/>
                </a:solidFill>
                <a:prstDash val="solid"/>
                <a:round/>
                <a:headEnd type="none" w="med" len="med"/>
                <a:tailEnd type="none" w="med" len="med"/>
              </a:ln>
            </p:spPr>
            <p:txBody>
              <a:bodyPr/>
              <a:lstStyle/>
              <a:p>
                <a:endParaRPr lang="zh-CN" altLang="en-US"/>
              </a:p>
            </p:txBody>
          </p:sp>
        </p:grpSp>
      </p:grpSp>
      <p:grpSp>
        <p:nvGrpSpPr>
          <p:cNvPr id="224291" name="Group 35"/>
          <p:cNvGrpSpPr/>
          <p:nvPr/>
        </p:nvGrpSpPr>
        <p:grpSpPr>
          <a:xfrm>
            <a:off x="0" y="533400"/>
            <a:ext cx="9104313" cy="1466850"/>
            <a:chOff x="0" y="890"/>
            <a:chExt cx="5735" cy="924"/>
          </a:xfrm>
        </p:grpSpPr>
        <p:sp>
          <p:nvSpPr>
            <p:cNvPr id="42019" name="Text Box 35"/>
            <p:cNvSpPr txBox="1"/>
            <p:nvPr/>
          </p:nvSpPr>
          <p:spPr>
            <a:xfrm>
              <a:off x="0" y="1419"/>
              <a:ext cx="439" cy="288"/>
            </a:xfrm>
            <a:prstGeom prst="rect">
              <a:avLst/>
            </a:prstGeom>
            <a:noFill/>
            <a:ln w="9525">
              <a:noFill/>
            </a:ln>
          </p:spPr>
          <p:txBody>
            <a:bodyPr lIns="0"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时钟</a:t>
              </a:r>
            </a:p>
          </p:txBody>
        </p:sp>
        <p:grpSp>
          <p:nvGrpSpPr>
            <p:cNvPr id="42020" name="Group 37"/>
            <p:cNvGrpSpPr/>
            <p:nvPr/>
          </p:nvGrpSpPr>
          <p:grpSpPr>
            <a:xfrm>
              <a:off x="377" y="890"/>
              <a:ext cx="5358" cy="924"/>
              <a:chOff x="377" y="890"/>
              <a:chExt cx="5358" cy="924"/>
            </a:xfrm>
          </p:grpSpPr>
          <p:sp>
            <p:nvSpPr>
              <p:cNvPr id="42021" name="Rectangle 10"/>
              <p:cNvSpPr/>
              <p:nvPr/>
            </p:nvSpPr>
            <p:spPr>
              <a:xfrm>
                <a:off x="1923" y="995"/>
                <a:ext cx="1040" cy="299"/>
              </a:xfrm>
              <a:prstGeom prst="rect">
                <a:avLst/>
              </a:prstGeom>
              <a:noFill/>
              <a:ln w="9525">
                <a:noFill/>
              </a:ln>
            </p:spPr>
            <p:txBody>
              <a:bodyPr anchor="t"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022" name="Line 11"/>
              <p:cNvSpPr/>
              <p:nvPr/>
            </p:nvSpPr>
            <p:spPr>
              <a:xfrm>
                <a:off x="5038" y="995"/>
                <a:ext cx="0" cy="151"/>
              </a:xfrm>
              <a:prstGeom prst="line">
                <a:avLst/>
              </a:prstGeom>
              <a:ln w="15875" cap="flat" cmpd="sng">
                <a:solidFill>
                  <a:schemeClr val="tx1"/>
                </a:solidFill>
                <a:prstDash val="solid"/>
                <a:round/>
                <a:headEnd type="none" w="med" len="med"/>
                <a:tailEnd type="none" w="med" len="med"/>
              </a:ln>
            </p:spPr>
          </p:sp>
          <p:sp>
            <p:nvSpPr>
              <p:cNvPr id="42023" name="Rectangle 12"/>
              <p:cNvSpPr/>
              <p:nvPr/>
            </p:nvSpPr>
            <p:spPr>
              <a:xfrm>
                <a:off x="2160" y="890"/>
                <a:ext cx="1567" cy="288"/>
              </a:xfrm>
              <a:prstGeom prst="rect">
                <a:avLst/>
              </a:prstGeom>
              <a:noFill/>
              <a:ln w="9525">
                <a:noFill/>
              </a:ln>
            </p:spPr>
            <p:txBody>
              <a:bodyPr wrap="none" lIns="0" tIns="0" rIns="0" bIns="0" anchor="t" anchorCtr="0">
                <a:spAutoFit/>
              </a:bodyPr>
              <a:lstStyle/>
              <a:p>
                <a:pPr>
                  <a:buClrTx/>
                  <a:buFontTx/>
                </a:pPr>
                <a:r>
                  <a:rPr lang="zh-CN" altLang="en-US" sz="3000" b="1" dirty="0">
                    <a:solidFill>
                      <a:srgbClr val="FF0000"/>
                    </a:solidFill>
                    <a:latin typeface="宋体" panose="02010600030101010101" pitchFamily="2" charset="-122"/>
                    <a:ea typeface="宋体" panose="02010600030101010101" pitchFamily="2" charset="-122"/>
                  </a:rPr>
                  <a:t>总线传输周期 </a:t>
                </a:r>
              </a:p>
            </p:txBody>
          </p:sp>
          <p:sp>
            <p:nvSpPr>
              <p:cNvPr id="42024" name="Freeform 14"/>
              <p:cNvSpPr/>
              <p:nvPr/>
            </p:nvSpPr>
            <p:spPr>
              <a:xfrm>
                <a:off x="853" y="1268"/>
                <a:ext cx="695" cy="312"/>
              </a:xfrm>
              <a:custGeom>
                <a:avLst/>
                <a:gdLst/>
                <a:ahLst/>
                <a:cxnLst>
                  <a:cxn ang="0">
                    <a:pos x="0" y="206"/>
                  </a:cxn>
                  <a:cxn ang="0">
                    <a:pos x="0" y="0"/>
                  </a:cxn>
                  <a:cxn ang="0">
                    <a:pos x="191" y="0"/>
                  </a:cxn>
                  <a:cxn ang="0">
                    <a:pos x="191" y="206"/>
                  </a:cxn>
                  <a:cxn ang="0">
                    <a:pos x="404" y="206"/>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2025" name="Freeform 15"/>
              <p:cNvSpPr/>
              <p:nvPr/>
            </p:nvSpPr>
            <p:spPr>
              <a:xfrm>
                <a:off x="2243" y="1268"/>
                <a:ext cx="695" cy="312"/>
              </a:xfrm>
              <a:custGeom>
                <a:avLst/>
                <a:gdLst/>
                <a:ahLst/>
                <a:cxnLst>
                  <a:cxn ang="0">
                    <a:pos x="0" y="206"/>
                  </a:cxn>
                  <a:cxn ang="0">
                    <a:pos x="0" y="0"/>
                  </a:cxn>
                  <a:cxn ang="0">
                    <a:pos x="191" y="0"/>
                  </a:cxn>
                  <a:cxn ang="0">
                    <a:pos x="191" y="206"/>
                  </a:cxn>
                  <a:cxn ang="0">
                    <a:pos x="404" y="206"/>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2026" name="Freeform 16"/>
              <p:cNvSpPr/>
              <p:nvPr/>
            </p:nvSpPr>
            <p:spPr>
              <a:xfrm>
                <a:off x="2938" y="1268"/>
                <a:ext cx="695" cy="312"/>
              </a:xfrm>
              <a:custGeom>
                <a:avLst/>
                <a:gdLst/>
                <a:ahLst/>
                <a:cxnLst>
                  <a:cxn ang="0">
                    <a:pos x="0" y="206"/>
                  </a:cxn>
                  <a:cxn ang="0">
                    <a:pos x="0" y="0"/>
                  </a:cxn>
                  <a:cxn ang="0">
                    <a:pos x="191" y="0"/>
                  </a:cxn>
                  <a:cxn ang="0">
                    <a:pos x="191" y="206"/>
                  </a:cxn>
                  <a:cxn ang="0">
                    <a:pos x="404" y="206"/>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cxnSp>
            <p:nvCxnSpPr>
              <p:cNvPr id="42027" name="AutoShape 17"/>
              <p:cNvCxnSpPr/>
              <p:nvPr/>
            </p:nvCxnSpPr>
            <p:spPr>
              <a:xfrm flipH="1">
                <a:off x="377" y="1580"/>
                <a:ext cx="476" cy="0"/>
              </a:xfrm>
              <a:prstGeom prst="straightConnector1">
                <a:avLst/>
              </a:prstGeom>
              <a:ln w="38100" cap="flat" cmpd="sng">
                <a:solidFill>
                  <a:schemeClr val="tx1"/>
                </a:solidFill>
                <a:prstDash val="solid"/>
                <a:round/>
                <a:headEnd type="none" w="med" len="med"/>
                <a:tailEnd type="none" w="med" len="med"/>
              </a:ln>
            </p:spPr>
          </p:cxnSp>
          <p:sp>
            <p:nvSpPr>
              <p:cNvPr id="42028" name="Freeform 18"/>
              <p:cNvSpPr/>
              <p:nvPr/>
            </p:nvSpPr>
            <p:spPr>
              <a:xfrm>
                <a:off x="3645" y="1268"/>
                <a:ext cx="695" cy="312"/>
              </a:xfrm>
              <a:custGeom>
                <a:avLst/>
                <a:gdLst/>
                <a:ahLst/>
                <a:cxnLst>
                  <a:cxn ang="0">
                    <a:pos x="0" y="206"/>
                  </a:cxn>
                  <a:cxn ang="0">
                    <a:pos x="0" y="0"/>
                  </a:cxn>
                  <a:cxn ang="0">
                    <a:pos x="191" y="0"/>
                  </a:cxn>
                  <a:cxn ang="0">
                    <a:pos x="191" y="206"/>
                  </a:cxn>
                  <a:cxn ang="0">
                    <a:pos x="404" y="206"/>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2029" name="Freeform 19"/>
              <p:cNvSpPr/>
              <p:nvPr/>
            </p:nvSpPr>
            <p:spPr>
              <a:xfrm>
                <a:off x="1548" y="1268"/>
                <a:ext cx="695" cy="312"/>
              </a:xfrm>
              <a:custGeom>
                <a:avLst/>
                <a:gdLst/>
                <a:ahLst/>
                <a:cxnLst>
                  <a:cxn ang="0">
                    <a:pos x="0" y="206"/>
                  </a:cxn>
                  <a:cxn ang="0">
                    <a:pos x="0" y="0"/>
                  </a:cxn>
                  <a:cxn ang="0">
                    <a:pos x="191" y="0"/>
                  </a:cxn>
                  <a:cxn ang="0">
                    <a:pos x="191" y="206"/>
                  </a:cxn>
                  <a:cxn ang="0">
                    <a:pos x="404" y="206"/>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2030" name="Line 23"/>
              <p:cNvSpPr/>
              <p:nvPr/>
            </p:nvSpPr>
            <p:spPr>
              <a:xfrm>
                <a:off x="853" y="1073"/>
                <a:ext cx="1134" cy="0"/>
              </a:xfrm>
              <a:prstGeom prst="line">
                <a:avLst/>
              </a:prstGeom>
              <a:ln w="28575" cap="flat" cmpd="sng">
                <a:solidFill>
                  <a:schemeClr val="tx1"/>
                </a:solidFill>
                <a:prstDash val="solid"/>
                <a:round/>
                <a:headEnd type="stealth" w="lg" len="lg"/>
                <a:tailEnd type="none" w="med" len="med"/>
              </a:ln>
            </p:spPr>
          </p:sp>
          <p:sp>
            <p:nvSpPr>
              <p:cNvPr id="42031" name="Line 24"/>
              <p:cNvSpPr/>
              <p:nvPr/>
            </p:nvSpPr>
            <p:spPr>
              <a:xfrm>
                <a:off x="852" y="995"/>
                <a:ext cx="1" cy="151"/>
              </a:xfrm>
              <a:prstGeom prst="line">
                <a:avLst/>
              </a:prstGeom>
              <a:ln w="15875" cap="flat" cmpd="sng">
                <a:solidFill>
                  <a:schemeClr val="tx1"/>
                </a:solidFill>
                <a:prstDash val="solid"/>
                <a:round/>
                <a:headEnd type="none" w="med" len="med"/>
                <a:tailEnd type="none" w="med" len="med"/>
              </a:ln>
            </p:spPr>
          </p:sp>
          <p:sp>
            <p:nvSpPr>
              <p:cNvPr id="42032" name="Line 25"/>
              <p:cNvSpPr/>
              <p:nvPr/>
            </p:nvSpPr>
            <p:spPr>
              <a:xfrm>
                <a:off x="3787" y="1073"/>
                <a:ext cx="1247" cy="0"/>
              </a:xfrm>
              <a:prstGeom prst="line">
                <a:avLst/>
              </a:prstGeom>
              <a:ln w="28575" cap="flat" cmpd="sng">
                <a:solidFill>
                  <a:schemeClr val="tx1"/>
                </a:solidFill>
                <a:prstDash val="solid"/>
                <a:round/>
                <a:headEnd type="none" w="lg" len="lg"/>
                <a:tailEnd type="stealth" w="lg" len="lg"/>
              </a:ln>
            </p:spPr>
          </p:sp>
          <p:sp>
            <p:nvSpPr>
              <p:cNvPr id="42033" name="Freeform 16"/>
              <p:cNvSpPr/>
              <p:nvPr/>
            </p:nvSpPr>
            <p:spPr>
              <a:xfrm>
                <a:off x="5040" y="1260"/>
                <a:ext cx="695" cy="312"/>
              </a:xfrm>
              <a:custGeom>
                <a:avLst/>
                <a:gdLst/>
                <a:ahLst/>
                <a:cxnLst>
                  <a:cxn ang="0">
                    <a:pos x="0" y="206"/>
                  </a:cxn>
                  <a:cxn ang="0">
                    <a:pos x="0" y="0"/>
                  </a:cxn>
                  <a:cxn ang="0">
                    <a:pos x="191" y="0"/>
                  </a:cxn>
                  <a:cxn ang="0">
                    <a:pos x="191" y="206"/>
                  </a:cxn>
                  <a:cxn ang="0">
                    <a:pos x="404" y="206"/>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42034" name="Freeform 16"/>
              <p:cNvSpPr/>
              <p:nvPr/>
            </p:nvSpPr>
            <p:spPr>
              <a:xfrm>
                <a:off x="4345" y="1263"/>
                <a:ext cx="695" cy="312"/>
              </a:xfrm>
              <a:custGeom>
                <a:avLst/>
                <a:gdLst/>
                <a:ahLst/>
                <a:cxnLst>
                  <a:cxn ang="0">
                    <a:pos x="0" y="206"/>
                  </a:cxn>
                  <a:cxn ang="0">
                    <a:pos x="0" y="0"/>
                  </a:cxn>
                  <a:cxn ang="0">
                    <a:pos x="191" y="0"/>
                  </a:cxn>
                  <a:cxn ang="0">
                    <a:pos x="191" y="206"/>
                  </a:cxn>
                  <a:cxn ang="0">
                    <a:pos x="404" y="206"/>
                  </a:cxn>
                </a:cxnLst>
                <a:rect l="0" t="0" r="0" b="0"/>
                <a:pathLst>
                  <a:path w="912" h="384">
                    <a:moveTo>
                      <a:pt x="0" y="384"/>
                    </a:moveTo>
                    <a:lnTo>
                      <a:pt x="0" y="0"/>
                    </a:lnTo>
                    <a:lnTo>
                      <a:pt x="432" y="0"/>
                    </a:lnTo>
                    <a:lnTo>
                      <a:pt x="432" y="384"/>
                    </a:lnTo>
                    <a:lnTo>
                      <a:pt x="912" y="384"/>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grpSp>
            <p:nvGrpSpPr>
              <p:cNvPr id="42035" name="组合 196"/>
              <p:cNvGrpSpPr/>
              <p:nvPr/>
            </p:nvGrpSpPr>
            <p:grpSpPr>
              <a:xfrm>
                <a:off x="853" y="1612"/>
                <a:ext cx="1398" cy="202"/>
                <a:chOff x="1353926" y="2559582"/>
                <a:chExt cx="2219530" cy="320486"/>
              </a:xfrm>
            </p:grpSpPr>
            <p:sp>
              <p:nvSpPr>
                <p:cNvPr id="42036" name="Rectangle 6"/>
                <p:cNvSpPr/>
                <p:nvPr/>
              </p:nvSpPr>
              <p:spPr>
                <a:xfrm>
                  <a:off x="1839746" y="2559582"/>
                  <a:ext cx="252436" cy="320486"/>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1</a:t>
                  </a:r>
                </a:p>
              </p:txBody>
            </p:sp>
            <p:sp>
              <p:nvSpPr>
                <p:cNvPr id="42037" name="Rectangle 20"/>
                <p:cNvSpPr/>
                <p:nvPr/>
              </p:nvSpPr>
              <p:spPr>
                <a:xfrm>
                  <a:off x="2903469" y="2559582"/>
                  <a:ext cx="252436" cy="320486"/>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2</a:t>
                  </a:r>
                </a:p>
              </p:txBody>
            </p:sp>
            <p:sp>
              <p:nvSpPr>
                <p:cNvPr id="42038" name="Line 26"/>
                <p:cNvSpPr/>
                <p:nvPr/>
              </p:nvSpPr>
              <p:spPr>
                <a:xfrm>
                  <a:off x="2050867" y="2693606"/>
                  <a:ext cx="406549" cy="0"/>
                </a:xfrm>
                <a:prstGeom prst="line">
                  <a:avLst/>
                </a:prstGeom>
                <a:ln w="28575" cap="flat" cmpd="sng">
                  <a:solidFill>
                    <a:schemeClr val="tx1"/>
                  </a:solidFill>
                  <a:prstDash val="solid"/>
                  <a:round/>
                  <a:headEnd type="none" w="med" len="med"/>
                  <a:tailEnd type="stealth" w="lg" len="lg"/>
                </a:ln>
              </p:spPr>
            </p:sp>
            <p:sp>
              <p:nvSpPr>
                <p:cNvPr id="42039" name="Line 28"/>
                <p:cNvSpPr/>
                <p:nvPr/>
              </p:nvSpPr>
              <p:spPr>
                <a:xfrm>
                  <a:off x="3154357" y="2693606"/>
                  <a:ext cx="406549" cy="0"/>
                </a:xfrm>
                <a:prstGeom prst="line">
                  <a:avLst/>
                </a:prstGeom>
                <a:ln w="28575" cap="flat" cmpd="sng">
                  <a:solidFill>
                    <a:schemeClr val="tx1"/>
                  </a:solidFill>
                  <a:prstDash val="solid"/>
                  <a:round/>
                  <a:headEnd type="none" w="med" len="med"/>
                  <a:tailEnd type="stealth" w="lg" len="lg"/>
                </a:ln>
              </p:spPr>
            </p:sp>
            <p:sp>
              <p:nvSpPr>
                <p:cNvPr id="42040" name="Line 31"/>
                <p:cNvSpPr/>
                <p:nvPr/>
              </p:nvSpPr>
              <p:spPr>
                <a:xfrm>
                  <a:off x="1353926" y="2693606"/>
                  <a:ext cx="406549" cy="0"/>
                </a:xfrm>
                <a:prstGeom prst="line">
                  <a:avLst/>
                </a:prstGeom>
                <a:ln w="28575" cap="flat" cmpd="sng">
                  <a:solidFill>
                    <a:schemeClr val="tx1"/>
                  </a:solidFill>
                  <a:prstDash val="solid"/>
                  <a:round/>
                  <a:headEnd type="stealth" w="lg" len="lg"/>
                  <a:tailEnd type="none" w="lg" len="lg"/>
                </a:ln>
              </p:spPr>
            </p:sp>
            <p:sp>
              <p:nvSpPr>
                <p:cNvPr id="42041" name="Line 32"/>
                <p:cNvSpPr/>
                <p:nvPr/>
              </p:nvSpPr>
              <p:spPr>
                <a:xfrm>
                  <a:off x="2457416" y="2693606"/>
                  <a:ext cx="406549" cy="0"/>
                </a:xfrm>
                <a:prstGeom prst="line">
                  <a:avLst/>
                </a:prstGeom>
                <a:ln w="28575" cap="flat" cmpd="sng">
                  <a:solidFill>
                    <a:schemeClr val="tx1"/>
                  </a:solidFill>
                  <a:prstDash val="solid"/>
                  <a:round/>
                  <a:headEnd type="stealth" w="lg" len="lg"/>
                  <a:tailEnd type="none" w="lg" len="lg"/>
                </a:ln>
              </p:spPr>
            </p:sp>
            <p:cxnSp>
              <p:nvCxnSpPr>
                <p:cNvPr id="42042" name="直接连接符 193"/>
                <p:cNvCxnSpPr/>
                <p:nvPr/>
              </p:nvCxnSpPr>
              <p:spPr>
                <a:xfrm rot="5400000">
                  <a:off x="1232084" y="2697744"/>
                  <a:ext cx="252000" cy="1588"/>
                </a:xfrm>
                <a:prstGeom prst="line">
                  <a:avLst/>
                </a:prstGeom>
                <a:ln w="19050" cap="flat" cmpd="sng">
                  <a:solidFill>
                    <a:schemeClr val="tx1"/>
                  </a:solidFill>
                  <a:prstDash val="solid"/>
                  <a:round/>
                  <a:headEnd type="none" w="med" len="med"/>
                  <a:tailEnd type="none" w="med" len="med"/>
                </a:ln>
              </p:spPr>
            </p:cxnSp>
            <p:cxnSp>
              <p:nvCxnSpPr>
                <p:cNvPr id="42043" name="直接连接符 194"/>
                <p:cNvCxnSpPr/>
                <p:nvPr/>
              </p:nvCxnSpPr>
              <p:spPr>
                <a:xfrm rot="5400000">
                  <a:off x="2336400" y="2696400"/>
                  <a:ext cx="252000" cy="1588"/>
                </a:xfrm>
                <a:prstGeom prst="line">
                  <a:avLst/>
                </a:prstGeom>
                <a:ln w="19050" cap="flat" cmpd="sng">
                  <a:solidFill>
                    <a:schemeClr val="tx1"/>
                  </a:solidFill>
                  <a:prstDash val="solid"/>
                  <a:round/>
                  <a:headEnd type="none" w="med" len="med"/>
                  <a:tailEnd type="none" w="med" len="med"/>
                </a:ln>
              </p:spPr>
            </p:cxnSp>
            <p:cxnSp>
              <p:nvCxnSpPr>
                <p:cNvPr id="42044" name="直接连接符 195"/>
                <p:cNvCxnSpPr/>
                <p:nvPr/>
              </p:nvCxnSpPr>
              <p:spPr>
                <a:xfrm rot="5400000">
                  <a:off x="3446662" y="2696950"/>
                  <a:ext cx="252000" cy="1588"/>
                </a:xfrm>
                <a:prstGeom prst="line">
                  <a:avLst/>
                </a:prstGeom>
                <a:ln w="19050" cap="flat" cmpd="sng">
                  <a:solidFill>
                    <a:schemeClr val="tx1"/>
                  </a:solidFill>
                  <a:prstDash val="solid"/>
                  <a:round/>
                  <a:headEnd type="none" w="med" len="med"/>
                  <a:tailEnd type="none" w="med" len="med"/>
                </a:ln>
              </p:spPr>
            </p:cxnSp>
          </p:grpSp>
          <p:sp>
            <p:nvSpPr>
              <p:cNvPr id="42045" name="Rectangle 6"/>
              <p:cNvSpPr/>
              <p:nvPr/>
            </p:nvSpPr>
            <p:spPr>
              <a:xfrm>
                <a:off x="2555" y="1612"/>
                <a:ext cx="207"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000" b="1" baseline="-25000" dirty="0">
                    <a:solidFill>
                      <a:srgbClr val="FF0000"/>
                    </a:solidFill>
                    <a:latin typeface="Times New Roman" panose="02020603050405020304" pitchFamily="18" charset="0"/>
                    <a:ea typeface="宋体" panose="02010600030101010101" pitchFamily="2" charset="-122"/>
                  </a:rPr>
                  <a:t>W</a:t>
                </a:r>
              </a:p>
            </p:txBody>
          </p:sp>
          <p:sp>
            <p:nvSpPr>
              <p:cNvPr id="42046" name="Rectangle 20"/>
              <p:cNvSpPr/>
              <p:nvPr/>
            </p:nvSpPr>
            <p:spPr>
              <a:xfrm>
                <a:off x="3226" y="1612"/>
                <a:ext cx="207"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000" b="1" baseline="-25000" dirty="0">
                    <a:solidFill>
                      <a:srgbClr val="FF0000"/>
                    </a:solidFill>
                    <a:latin typeface="Times New Roman" panose="02020603050405020304" pitchFamily="18" charset="0"/>
                    <a:ea typeface="宋体" panose="02010600030101010101" pitchFamily="2" charset="-122"/>
                  </a:rPr>
                  <a:t>W</a:t>
                </a:r>
              </a:p>
            </p:txBody>
          </p:sp>
          <p:sp>
            <p:nvSpPr>
              <p:cNvPr id="42047" name="Line 26"/>
              <p:cNvSpPr/>
              <p:nvPr/>
            </p:nvSpPr>
            <p:spPr>
              <a:xfrm>
                <a:off x="2689" y="1697"/>
                <a:ext cx="256" cy="0"/>
              </a:xfrm>
              <a:prstGeom prst="line">
                <a:avLst/>
              </a:prstGeom>
              <a:ln w="28575" cap="flat" cmpd="sng">
                <a:solidFill>
                  <a:schemeClr val="tx1"/>
                </a:solidFill>
                <a:prstDash val="solid"/>
                <a:round/>
                <a:headEnd type="none" w="med" len="med"/>
                <a:tailEnd type="stealth" w="lg" len="lg"/>
              </a:ln>
            </p:spPr>
          </p:sp>
          <p:sp>
            <p:nvSpPr>
              <p:cNvPr id="42048" name="Line 28"/>
              <p:cNvSpPr/>
              <p:nvPr/>
            </p:nvSpPr>
            <p:spPr>
              <a:xfrm>
                <a:off x="3384" y="1697"/>
                <a:ext cx="256" cy="0"/>
              </a:xfrm>
              <a:prstGeom prst="line">
                <a:avLst/>
              </a:prstGeom>
              <a:ln w="28575" cap="flat" cmpd="sng">
                <a:solidFill>
                  <a:schemeClr val="tx1"/>
                </a:solidFill>
                <a:prstDash val="solid"/>
                <a:round/>
                <a:headEnd type="none" w="med" len="med"/>
                <a:tailEnd type="stealth" w="lg" len="lg"/>
              </a:ln>
            </p:spPr>
          </p:sp>
          <p:sp>
            <p:nvSpPr>
              <p:cNvPr id="42049" name="Line 31"/>
              <p:cNvSpPr/>
              <p:nvPr/>
            </p:nvSpPr>
            <p:spPr>
              <a:xfrm>
                <a:off x="2250" y="1697"/>
                <a:ext cx="256" cy="0"/>
              </a:xfrm>
              <a:prstGeom prst="line">
                <a:avLst/>
              </a:prstGeom>
              <a:ln w="28575" cap="flat" cmpd="sng">
                <a:solidFill>
                  <a:schemeClr val="tx1"/>
                </a:solidFill>
                <a:prstDash val="solid"/>
                <a:round/>
                <a:headEnd type="stealth" w="lg" len="lg"/>
                <a:tailEnd type="none" w="lg" len="lg"/>
              </a:ln>
            </p:spPr>
          </p:sp>
          <p:sp>
            <p:nvSpPr>
              <p:cNvPr id="42050" name="Line 32"/>
              <p:cNvSpPr/>
              <p:nvPr/>
            </p:nvSpPr>
            <p:spPr>
              <a:xfrm>
                <a:off x="2945" y="1697"/>
                <a:ext cx="256" cy="0"/>
              </a:xfrm>
              <a:prstGeom prst="line">
                <a:avLst/>
              </a:prstGeom>
              <a:ln w="28575" cap="flat" cmpd="sng">
                <a:solidFill>
                  <a:schemeClr val="tx1"/>
                </a:solidFill>
                <a:prstDash val="solid"/>
                <a:round/>
                <a:headEnd type="stealth" w="lg" len="lg"/>
                <a:tailEnd type="none" w="lg" len="lg"/>
              </a:ln>
            </p:spPr>
          </p:sp>
          <p:cxnSp>
            <p:nvCxnSpPr>
              <p:cNvPr id="42051" name="直接连接符 205"/>
              <p:cNvCxnSpPr/>
              <p:nvPr/>
            </p:nvCxnSpPr>
            <p:spPr>
              <a:xfrm rot="5400000">
                <a:off x="2166" y="1692"/>
                <a:ext cx="159" cy="1"/>
              </a:xfrm>
              <a:prstGeom prst="line">
                <a:avLst/>
              </a:prstGeom>
              <a:ln w="19050" cap="flat" cmpd="sng">
                <a:solidFill>
                  <a:schemeClr val="tx1"/>
                </a:solidFill>
                <a:prstDash val="solid"/>
                <a:round/>
                <a:headEnd type="none" w="med" len="med"/>
                <a:tailEnd type="none" w="med" len="med"/>
              </a:ln>
            </p:spPr>
          </p:cxnSp>
          <p:cxnSp>
            <p:nvCxnSpPr>
              <p:cNvPr id="42052" name="直接连接符 206"/>
              <p:cNvCxnSpPr/>
              <p:nvPr/>
            </p:nvCxnSpPr>
            <p:spPr>
              <a:xfrm rot="5400000">
                <a:off x="2862" y="1691"/>
                <a:ext cx="159" cy="1"/>
              </a:xfrm>
              <a:prstGeom prst="line">
                <a:avLst/>
              </a:prstGeom>
              <a:ln w="19050" cap="flat" cmpd="sng">
                <a:solidFill>
                  <a:schemeClr val="tx1"/>
                </a:solidFill>
                <a:prstDash val="solid"/>
                <a:round/>
                <a:headEnd type="none" w="med" len="med"/>
                <a:tailEnd type="none" w="med" len="med"/>
              </a:ln>
            </p:spPr>
          </p:cxnSp>
          <p:cxnSp>
            <p:nvCxnSpPr>
              <p:cNvPr id="42053" name="直接连接符 207"/>
              <p:cNvCxnSpPr/>
              <p:nvPr/>
            </p:nvCxnSpPr>
            <p:spPr>
              <a:xfrm rot="5400000">
                <a:off x="3561" y="1692"/>
                <a:ext cx="159" cy="1"/>
              </a:xfrm>
              <a:prstGeom prst="line">
                <a:avLst/>
              </a:prstGeom>
              <a:ln w="19050" cap="flat" cmpd="sng">
                <a:solidFill>
                  <a:schemeClr val="tx1"/>
                </a:solidFill>
                <a:prstDash val="solid"/>
                <a:round/>
                <a:headEnd type="none" w="med" len="med"/>
                <a:tailEnd type="none" w="med" len="med"/>
              </a:ln>
            </p:spPr>
          </p:cxnSp>
          <p:sp>
            <p:nvSpPr>
              <p:cNvPr id="42054" name="Rectangle 6"/>
              <p:cNvSpPr/>
              <p:nvPr/>
            </p:nvSpPr>
            <p:spPr>
              <a:xfrm>
                <a:off x="3947" y="1612"/>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3</a:t>
                </a:r>
              </a:p>
            </p:txBody>
          </p:sp>
          <p:sp>
            <p:nvSpPr>
              <p:cNvPr id="42055" name="Rectangle 20"/>
              <p:cNvSpPr/>
              <p:nvPr/>
            </p:nvSpPr>
            <p:spPr>
              <a:xfrm>
                <a:off x="4618" y="1612"/>
                <a:ext cx="159" cy="202"/>
              </a:xfrm>
              <a:prstGeom prst="rect">
                <a:avLst/>
              </a:prstGeom>
              <a:noFill/>
              <a:ln w="9525">
                <a:noFill/>
              </a:ln>
            </p:spPr>
            <p:txBody>
              <a:bodyPr wrap="none" lIns="0" tIns="0" rIns="0" bIns="0" anchor="t" anchorCtr="0">
                <a:spAutoFit/>
              </a:bodyPr>
              <a:lstStyle/>
              <a:p>
                <a:pPr>
                  <a:buClrTx/>
                  <a:buFontTx/>
                </a:pPr>
                <a:r>
                  <a:rPr lang="en-US" altLang="zh-CN" sz="2100" b="1" i="1" dirty="0">
                    <a:solidFill>
                      <a:srgbClr val="FF0000"/>
                    </a:solidFill>
                    <a:latin typeface="Times New Roman" panose="02020603050405020304" pitchFamily="18" charset="0"/>
                    <a:ea typeface="宋体" panose="02010600030101010101" pitchFamily="2" charset="-122"/>
                  </a:rPr>
                  <a:t>T</a:t>
                </a:r>
                <a:r>
                  <a:rPr lang="en-US" altLang="zh-CN" sz="2100" b="1" baseline="-25000" dirty="0">
                    <a:solidFill>
                      <a:srgbClr val="FF0000"/>
                    </a:solidFill>
                    <a:latin typeface="Times New Roman" panose="02020603050405020304" pitchFamily="18" charset="0"/>
                    <a:ea typeface="宋体" panose="02010600030101010101" pitchFamily="2" charset="-122"/>
                  </a:rPr>
                  <a:t>4</a:t>
                </a:r>
              </a:p>
            </p:txBody>
          </p:sp>
          <p:sp>
            <p:nvSpPr>
              <p:cNvPr id="42056" name="Line 26"/>
              <p:cNvSpPr/>
              <p:nvPr/>
            </p:nvSpPr>
            <p:spPr>
              <a:xfrm>
                <a:off x="4081" y="1697"/>
                <a:ext cx="256" cy="0"/>
              </a:xfrm>
              <a:prstGeom prst="line">
                <a:avLst/>
              </a:prstGeom>
              <a:ln w="28575" cap="flat" cmpd="sng">
                <a:solidFill>
                  <a:schemeClr val="tx1"/>
                </a:solidFill>
                <a:prstDash val="solid"/>
                <a:round/>
                <a:headEnd type="none" w="med" len="med"/>
                <a:tailEnd type="stealth" w="lg" len="lg"/>
              </a:ln>
            </p:spPr>
          </p:sp>
          <p:sp>
            <p:nvSpPr>
              <p:cNvPr id="42057" name="Line 28"/>
              <p:cNvSpPr/>
              <p:nvPr/>
            </p:nvSpPr>
            <p:spPr>
              <a:xfrm>
                <a:off x="4776" y="1697"/>
                <a:ext cx="256" cy="0"/>
              </a:xfrm>
              <a:prstGeom prst="line">
                <a:avLst/>
              </a:prstGeom>
              <a:ln w="28575" cap="flat" cmpd="sng">
                <a:solidFill>
                  <a:schemeClr val="tx1"/>
                </a:solidFill>
                <a:prstDash val="solid"/>
                <a:round/>
                <a:headEnd type="none" w="med" len="med"/>
                <a:tailEnd type="stealth" w="lg" len="lg"/>
              </a:ln>
            </p:spPr>
          </p:sp>
          <p:sp>
            <p:nvSpPr>
              <p:cNvPr id="42058" name="Line 31"/>
              <p:cNvSpPr/>
              <p:nvPr/>
            </p:nvSpPr>
            <p:spPr>
              <a:xfrm>
                <a:off x="3642" y="1697"/>
                <a:ext cx="256" cy="0"/>
              </a:xfrm>
              <a:prstGeom prst="line">
                <a:avLst/>
              </a:prstGeom>
              <a:ln w="28575" cap="flat" cmpd="sng">
                <a:solidFill>
                  <a:schemeClr val="tx1"/>
                </a:solidFill>
                <a:prstDash val="solid"/>
                <a:round/>
                <a:headEnd type="stealth" w="lg" len="lg"/>
                <a:tailEnd type="none" w="lg" len="lg"/>
              </a:ln>
            </p:spPr>
          </p:sp>
          <p:sp>
            <p:nvSpPr>
              <p:cNvPr id="42059" name="Line 32"/>
              <p:cNvSpPr/>
              <p:nvPr/>
            </p:nvSpPr>
            <p:spPr>
              <a:xfrm>
                <a:off x="4337" y="1697"/>
                <a:ext cx="256" cy="0"/>
              </a:xfrm>
              <a:prstGeom prst="line">
                <a:avLst/>
              </a:prstGeom>
              <a:ln w="28575" cap="flat" cmpd="sng">
                <a:solidFill>
                  <a:schemeClr val="tx1"/>
                </a:solidFill>
                <a:prstDash val="solid"/>
                <a:round/>
                <a:headEnd type="stealth" w="lg" len="lg"/>
                <a:tailEnd type="none" w="lg" len="lg"/>
              </a:ln>
            </p:spPr>
          </p:sp>
          <p:cxnSp>
            <p:nvCxnSpPr>
              <p:cNvPr id="42060" name="直接连接符 215"/>
              <p:cNvCxnSpPr/>
              <p:nvPr/>
            </p:nvCxnSpPr>
            <p:spPr>
              <a:xfrm rot="5400000">
                <a:off x="3558" y="1692"/>
                <a:ext cx="159" cy="1"/>
              </a:xfrm>
              <a:prstGeom prst="line">
                <a:avLst/>
              </a:prstGeom>
              <a:ln w="19050" cap="flat" cmpd="sng">
                <a:solidFill>
                  <a:schemeClr val="tx1"/>
                </a:solidFill>
                <a:prstDash val="solid"/>
                <a:round/>
                <a:headEnd type="none" w="med" len="med"/>
                <a:tailEnd type="none" w="med" len="med"/>
              </a:ln>
            </p:spPr>
          </p:cxnSp>
          <p:cxnSp>
            <p:nvCxnSpPr>
              <p:cNvPr id="42061" name="直接连接符 216"/>
              <p:cNvCxnSpPr/>
              <p:nvPr/>
            </p:nvCxnSpPr>
            <p:spPr>
              <a:xfrm rot="5400000">
                <a:off x="4253" y="1691"/>
                <a:ext cx="159" cy="1"/>
              </a:xfrm>
              <a:prstGeom prst="line">
                <a:avLst/>
              </a:prstGeom>
              <a:ln w="19050" cap="flat" cmpd="sng">
                <a:solidFill>
                  <a:schemeClr val="tx1"/>
                </a:solidFill>
                <a:prstDash val="solid"/>
                <a:round/>
                <a:headEnd type="none" w="med" len="med"/>
                <a:tailEnd type="none" w="med" len="med"/>
              </a:ln>
            </p:spPr>
          </p:cxnSp>
          <p:cxnSp>
            <p:nvCxnSpPr>
              <p:cNvPr id="42062" name="直接连接符 217"/>
              <p:cNvCxnSpPr/>
              <p:nvPr/>
            </p:nvCxnSpPr>
            <p:spPr>
              <a:xfrm rot="5400000">
                <a:off x="4953" y="1692"/>
                <a:ext cx="159" cy="1"/>
              </a:xfrm>
              <a:prstGeom prst="line">
                <a:avLst/>
              </a:prstGeom>
              <a:ln w="19050" cap="flat" cmpd="sng">
                <a:solidFill>
                  <a:schemeClr val="tx1"/>
                </a:solidFill>
                <a:prstDash val="solid"/>
                <a:round/>
                <a:headEnd type="none" w="med" len="med"/>
                <a:tailEnd type="none" w="med" len="med"/>
              </a:ln>
            </p:spPr>
          </p:cxnSp>
        </p:grpSp>
      </p:grpSp>
      <p:grpSp>
        <p:nvGrpSpPr>
          <p:cNvPr id="15" name="组合 380"/>
          <p:cNvGrpSpPr/>
          <p:nvPr/>
        </p:nvGrpSpPr>
        <p:grpSpPr>
          <a:xfrm>
            <a:off x="598488" y="2241550"/>
            <a:ext cx="785812" cy="3236913"/>
            <a:chOff x="598906" y="3121200"/>
            <a:chExt cx="785873" cy="3236758"/>
          </a:xfrm>
        </p:grpSpPr>
        <p:sp>
          <p:nvSpPr>
            <p:cNvPr id="42064" name="Rectangle 55"/>
            <p:cNvSpPr/>
            <p:nvPr/>
          </p:nvSpPr>
          <p:spPr>
            <a:xfrm>
              <a:off x="598906" y="3933924"/>
              <a:ext cx="755020" cy="525784"/>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065" name="Line 57"/>
            <p:cNvSpPr/>
            <p:nvPr/>
          </p:nvSpPr>
          <p:spPr>
            <a:xfrm>
              <a:off x="598906" y="3932245"/>
              <a:ext cx="755020" cy="0"/>
            </a:xfrm>
            <a:prstGeom prst="line">
              <a:avLst/>
            </a:prstGeom>
            <a:ln w="76200" cap="flat" cmpd="sng">
              <a:solidFill>
                <a:schemeClr val="folHlink"/>
              </a:solidFill>
              <a:prstDash val="solid"/>
              <a:round/>
              <a:headEnd type="none" w="med" len="med"/>
              <a:tailEnd type="none" w="med" len="med"/>
            </a:ln>
          </p:spPr>
        </p:sp>
        <p:grpSp>
          <p:nvGrpSpPr>
            <p:cNvPr id="42066" name="组合 379"/>
            <p:cNvGrpSpPr/>
            <p:nvPr/>
          </p:nvGrpSpPr>
          <p:grpSpPr>
            <a:xfrm>
              <a:off x="598906" y="3121200"/>
              <a:ext cx="785873" cy="504000"/>
              <a:chOff x="598906" y="3108353"/>
              <a:chExt cx="785873" cy="504000"/>
            </a:xfrm>
          </p:grpSpPr>
          <p:sp>
            <p:nvSpPr>
              <p:cNvPr id="42067" name="Freeform 60"/>
              <p:cNvSpPr/>
              <p:nvPr/>
            </p:nvSpPr>
            <p:spPr>
              <a:xfrm>
                <a:off x="598906" y="3108353"/>
                <a:ext cx="741710" cy="463523"/>
              </a:xfrm>
              <a:custGeom>
                <a:avLst/>
                <a:gdLst/>
                <a:ahLst/>
                <a:cxnLst>
                  <a:cxn ang="0">
                    <a:pos x="2147483647" y="2147483647"/>
                  </a:cxn>
                  <a:cxn ang="0">
                    <a:pos x="2147483647" y="2147483647"/>
                  </a:cxn>
                  <a:cxn ang="0">
                    <a:pos x="0" y="0"/>
                  </a:cxn>
                  <a:cxn ang="0">
                    <a:pos x="0" y="2147483647"/>
                  </a:cxn>
                  <a:cxn ang="0">
                    <a:pos x="2147483647" y="2147483647"/>
                  </a:cxn>
                </a:cxnLst>
                <a:rect l="0" t="0" r="0" b="0"/>
                <a:pathLst>
                  <a:path w="613" h="355">
                    <a:moveTo>
                      <a:pt x="453" y="196"/>
                    </a:moveTo>
                    <a:lnTo>
                      <a:pt x="581" y="2"/>
                    </a:lnTo>
                    <a:lnTo>
                      <a:pt x="0" y="0"/>
                    </a:lnTo>
                    <a:lnTo>
                      <a:pt x="0" y="355"/>
                    </a:lnTo>
                    <a:lnTo>
                      <a:pt x="613" y="355"/>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42068" name="Line 61"/>
              <p:cNvSpPr/>
              <p:nvPr/>
            </p:nvSpPr>
            <p:spPr>
              <a:xfrm>
                <a:off x="601326" y="3110964"/>
                <a:ext cx="755020" cy="0"/>
              </a:xfrm>
              <a:prstGeom prst="line">
                <a:avLst/>
              </a:prstGeom>
              <a:ln w="76200" cap="flat" cmpd="sng">
                <a:solidFill>
                  <a:schemeClr val="folHlink"/>
                </a:solidFill>
                <a:prstDash val="solid"/>
                <a:round/>
                <a:headEnd type="none" w="med" len="med"/>
                <a:tailEnd type="none" w="med" len="med"/>
              </a:ln>
            </p:spPr>
          </p:sp>
          <p:sp>
            <p:nvSpPr>
              <p:cNvPr id="42069" name="Line 62"/>
              <p:cNvSpPr/>
              <p:nvPr/>
            </p:nvSpPr>
            <p:spPr>
              <a:xfrm>
                <a:off x="601326" y="3549679"/>
                <a:ext cx="755020" cy="0"/>
              </a:xfrm>
              <a:prstGeom prst="line">
                <a:avLst/>
              </a:prstGeom>
              <a:ln w="76200" cap="flat" cmpd="sng">
                <a:solidFill>
                  <a:schemeClr val="folHlink"/>
                </a:solidFill>
                <a:prstDash val="solid"/>
                <a:round/>
                <a:headEnd type="none" w="med" len="med"/>
                <a:tailEnd type="none" w="med" len="med"/>
              </a:ln>
            </p:spPr>
          </p:sp>
          <p:sp>
            <p:nvSpPr>
              <p:cNvPr id="42070" name="Line 63"/>
              <p:cNvSpPr/>
              <p:nvPr/>
            </p:nvSpPr>
            <p:spPr>
              <a:xfrm rot="8100000">
                <a:off x="1240189" y="3268954"/>
                <a:ext cx="0" cy="343399"/>
              </a:xfrm>
              <a:prstGeom prst="line">
                <a:avLst/>
              </a:prstGeom>
              <a:ln w="76200" cap="flat" cmpd="sng">
                <a:solidFill>
                  <a:schemeClr val="folHlink"/>
                </a:solidFill>
                <a:prstDash val="solid"/>
                <a:round/>
                <a:headEnd type="none" w="med" len="med"/>
                <a:tailEnd type="none" w="med" len="med"/>
              </a:ln>
            </p:spPr>
          </p:sp>
          <p:sp>
            <p:nvSpPr>
              <p:cNvPr id="42071" name="Line 64"/>
              <p:cNvSpPr/>
              <p:nvPr/>
            </p:nvSpPr>
            <p:spPr>
              <a:xfrm rot="2700000">
                <a:off x="1225661" y="3076541"/>
                <a:ext cx="0" cy="318221"/>
              </a:xfrm>
              <a:prstGeom prst="line">
                <a:avLst/>
              </a:prstGeom>
              <a:ln w="76200" cap="flat" cmpd="sng">
                <a:solidFill>
                  <a:schemeClr val="folHlink"/>
                </a:solidFill>
                <a:prstDash val="solid"/>
                <a:round/>
                <a:headEnd type="none" w="med" len="med"/>
                <a:tailEnd type="none" w="med" len="med"/>
              </a:ln>
            </p:spPr>
          </p:sp>
        </p:grpSp>
        <p:sp>
          <p:nvSpPr>
            <p:cNvPr id="42072" name="Rectangle 55"/>
            <p:cNvSpPr/>
            <p:nvPr/>
          </p:nvSpPr>
          <p:spPr>
            <a:xfrm>
              <a:off x="601290" y="4833932"/>
              <a:ext cx="748800" cy="525784"/>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073" name="Line 57"/>
            <p:cNvSpPr/>
            <p:nvPr/>
          </p:nvSpPr>
          <p:spPr>
            <a:xfrm>
              <a:off x="602270" y="4833932"/>
              <a:ext cx="755020" cy="0"/>
            </a:xfrm>
            <a:prstGeom prst="line">
              <a:avLst/>
            </a:prstGeom>
            <a:ln w="76200" cap="flat" cmpd="sng">
              <a:solidFill>
                <a:schemeClr val="folHlink"/>
              </a:solidFill>
              <a:prstDash val="solid"/>
              <a:round/>
              <a:headEnd type="none" w="med" len="med"/>
              <a:tailEnd type="none" w="med" len="med"/>
            </a:ln>
          </p:spPr>
        </p:sp>
        <p:sp>
          <p:nvSpPr>
            <p:cNvPr id="42074" name="Rectangle 56"/>
            <p:cNvSpPr/>
            <p:nvPr/>
          </p:nvSpPr>
          <p:spPr>
            <a:xfrm>
              <a:off x="612000" y="5789633"/>
              <a:ext cx="756000" cy="568325"/>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075" name="Line 58"/>
            <p:cNvSpPr/>
            <p:nvPr/>
          </p:nvSpPr>
          <p:spPr>
            <a:xfrm>
              <a:off x="612000" y="6051567"/>
              <a:ext cx="720000" cy="0"/>
            </a:xfrm>
            <a:prstGeom prst="line">
              <a:avLst/>
            </a:prstGeom>
            <a:ln w="76200" cap="flat" cmpd="sng">
              <a:solidFill>
                <a:schemeClr val="folHlink"/>
              </a:solidFill>
              <a:prstDash val="solid"/>
              <a:round/>
              <a:headEnd type="none" w="med" len="med"/>
              <a:tailEnd type="none" w="med" len="med"/>
            </a:ln>
          </p:spPr>
        </p:sp>
      </p:grpSp>
      <p:sp>
        <p:nvSpPr>
          <p:cNvPr id="224349" name="Line 95"/>
          <p:cNvSpPr/>
          <p:nvPr/>
        </p:nvSpPr>
        <p:spPr>
          <a:xfrm rot="2700000">
            <a:off x="6657975" y="2955925"/>
            <a:ext cx="0" cy="685800"/>
          </a:xfrm>
          <a:prstGeom prst="line">
            <a:avLst/>
          </a:prstGeom>
          <a:ln w="76200" cap="flat" cmpd="sng">
            <a:solidFill>
              <a:schemeClr val="folHlink"/>
            </a:solidFill>
            <a:prstDash val="solid"/>
            <a:round/>
            <a:headEnd type="none" w="med" len="med"/>
            <a:tailEnd type="none" w="med" len="med"/>
          </a:ln>
        </p:spPr>
      </p:sp>
      <p:grpSp>
        <p:nvGrpSpPr>
          <p:cNvPr id="21" name="组合 360"/>
          <p:cNvGrpSpPr/>
          <p:nvPr/>
        </p:nvGrpSpPr>
        <p:grpSpPr>
          <a:xfrm>
            <a:off x="6786563" y="2247900"/>
            <a:ext cx="1214437" cy="3265488"/>
            <a:chOff x="6786578" y="3126605"/>
            <a:chExt cx="1214446" cy="3266272"/>
          </a:xfrm>
        </p:grpSpPr>
        <p:sp>
          <p:nvSpPr>
            <p:cNvPr id="42078" name="Line 110"/>
            <p:cNvSpPr/>
            <p:nvPr/>
          </p:nvSpPr>
          <p:spPr>
            <a:xfrm>
              <a:off x="6786578" y="3126605"/>
              <a:ext cx="972000" cy="0"/>
            </a:xfrm>
            <a:prstGeom prst="line">
              <a:avLst/>
            </a:prstGeom>
            <a:ln w="76200" cap="flat" cmpd="sng">
              <a:solidFill>
                <a:schemeClr val="folHlink"/>
              </a:solidFill>
              <a:prstDash val="solid"/>
              <a:round/>
              <a:headEnd type="none" w="med" len="med"/>
              <a:tailEnd type="none" w="med" len="med"/>
            </a:ln>
          </p:spPr>
        </p:sp>
        <p:grpSp>
          <p:nvGrpSpPr>
            <p:cNvPr id="42079" name="组合 258"/>
            <p:cNvGrpSpPr/>
            <p:nvPr/>
          </p:nvGrpSpPr>
          <p:grpSpPr>
            <a:xfrm>
              <a:off x="6897534" y="3930745"/>
              <a:ext cx="1103490" cy="523207"/>
              <a:chOff x="6897534" y="3930745"/>
              <a:chExt cx="1103490" cy="523207"/>
            </a:xfrm>
          </p:grpSpPr>
          <p:sp>
            <p:nvSpPr>
              <p:cNvPr id="42080" name="Line 108"/>
              <p:cNvSpPr/>
              <p:nvPr/>
            </p:nvSpPr>
            <p:spPr>
              <a:xfrm>
                <a:off x="6897534" y="3930746"/>
                <a:ext cx="1103490" cy="0"/>
              </a:xfrm>
              <a:prstGeom prst="line">
                <a:avLst/>
              </a:prstGeom>
              <a:ln w="76200" cap="flat" cmpd="sng">
                <a:solidFill>
                  <a:schemeClr val="folHlink"/>
                </a:solidFill>
                <a:prstDash val="solid"/>
                <a:round/>
                <a:headEnd type="none" w="med" len="med"/>
                <a:tailEnd type="none" w="med" len="med"/>
              </a:ln>
            </p:spPr>
          </p:sp>
          <p:sp>
            <p:nvSpPr>
              <p:cNvPr id="42081" name="Rectangle 114"/>
              <p:cNvSpPr/>
              <p:nvPr/>
            </p:nvSpPr>
            <p:spPr>
              <a:xfrm>
                <a:off x="6897534" y="3930745"/>
                <a:ext cx="1103490" cy="523207"/>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grpSp>
        <p:grpSp>
          <p:nvGrpSpPr>
            <p:cNvPr id="42082" name="组合 261"/>
            <p:cNvGrpSpPr/>
            <p:nvPr/>
          </p:nvGrpSpPr>
          <p:grpSpPr>
            <a:xfrm>
              <a:off x="6897534" y="4830754"/>
              <a:ext cx="1098000" cy="527072"/>
              <a:chOff x="4567205" y="4830754"/>
              <a:chExt cx="1103490" cy="527072"/>
            </a:xfrm>
          </p:grpSpPr>
          <p:sp>
            <p:nvSpPr>
              <p:cNvPr id="42083" name="Line 108"/>
              <p:cNvSpPr/>
              <p:nvPr/>
            </p:nvSpPr>
            <p:spPr>
              <a:xfrm>
                <a:off x="4567205" y="4830754"/>
                <a:ext cx="1103490" cy="0"/>
              </a:xfrm>
              <a:prstGeom prst="line">
                <a:avLst/>
              </a:prstGeom>
              <a:ln w="76200" cap="flat" cmpd="sng">
                <a:solidFill>
                  <a:schemeClr val="folHlink"/>
                </a:solidFill>
                <a:prstDash val="solid"/>
                <a:round/>
                <a:headEnd type="none" w="med" len="med"/>
                <a:tailEnd type="none" w="med" len="med"/>
              </a:ln>
            </p:spPr>
          </p:sp>
          <p:sp>
            <p:nvSpPr>
              <p:cNvPr id="42084" name="Rectangle 114"/>
              <p:cNvSpPr/>
              <p:nvPr/>
            </p:nvSpPr>
            <p:spPr>
              <a:xfrm>
                <a:off x="4567205" y="4834619"/>
                <a:ext cx="1103490" cy="523207"/>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grpSp>
        <p:sp>
          <p:nvSpPr>
            <p:cNvPr id="42085" name="Line 110"/>
            <p:cNvSpPr/>
            <p:nvPr/>
          </p:nvSpPr>
          <p:spPr>
            <a:xfrm>
              <a:off x="6797542" y="3560400"/>
              <a:ext cx="972000" cy="0"/>
            </a:xfrm>
            <a:prstGeom prst="line">
              <a:avLst/>
            </a:prstGeom>
            <a:ln w="76200" cap="flat" cmpd="sng">
              <a:solidFill>
                <a:schemeClr val="folHlink"/>
              </a:solidFill>
              <a:prstDash val="solid"/>
              <a:round/>
              <a:headEnd type="none" w="med" len="med"/>
              <a:tailEnd type="none" w="med" len="med"/>
            </a:ln>
          </p:spPr>
        </p:sp>
        <p:sp>
          <p:nvSpPr>
            <p:cNvPr id="42086" name="Line 84"/>
            <p:cNvSpPr/>
            <p:nvPr/>
          </p:nvSpPr>
          <p:spPr>
            <a:xfrm>
              <a:off x="6858016" y="6072206"/>
              <a:ext cx="1116000" cy="0"/>
            </a:xfrm>
            <a:prstGeom prst="line">
              <a:avLst/>
            </a:prstGeom>
            <a:ln w="76200" cap="flat" cmpd="sng">
              <a:solidFill>
                <a:schemeClr val="folHlink"/>
              </a:solidFill>
              <a:prstDash val="solid"/>
              <a:round/>
              <a:headEnd type="none" w="med" len="med"/>
              <a:tailEnd type="none" w="med" len="med"/>
            </a:ln>
          </p:spPr>
        </p:sp>
        <p:sp>
          <p:nvSpPr>
            <p:cNvPr id="42087" name="Rectangle 115"/>
            <p:cNvSpPr/>
            <p:nvPr/>
          </p:nvSpPr>
          <p:spPr>
            <a:xfrm>
              <a:off x="6885024" y="5784864"/>
              <a:ext cx="1116000" cy="608013"/>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grpSp>
      <p:grpSp>
        <p:nvGrpSpPr>
          <p:cNvPr id="224361" name="Group 105"/>
          <p:cNvGrpSpPr/>
          <p:nvPr/>
        </p:nvGrpSpPr>
        <p:grpSpPr>
          <a:xfrm>
            <a:off x="1338263" y="2247900"/>
            <a:ext cx="1133475" cy="3227388"/>
            <a:chOff x="843" y="1970"/>
            <a:chExt cx="714" cy="2033"/>
          </a:xfrm>
        </p:grpSpPr>
        <p:sp>
          <p:nvSpPr>
            <p:cNvPr id="42089" name="Freeform 67"/>
            <p:cNvSpPr/>
            <p:nvPr/>
          </p:nvSpPr>
          <p:spPr>
            <a:xfrm>
              <a:off x="843" y="2479"/>
              <a:ext cx="681" cy="329"/>
            </a:xfrm>
            <a:custGeom>
              <a:avLst/>
              <a:gdLst/>
              <a:ahLst/>
              <a:cxnLst>
                <a:cxn ang="0">
                  <a:pos x="0" y="193"/>
                </a:cxn>
                <a:cxn ang="0">
                  <a:pos x="395" y="193"/>
                </a:cxn>
                <a:cxn ang="0">
                  <a:pos x="222" y="0"/>
                </a:cxn>
                <a:cxn ang="0">
                  <a:pos x="11" y="6"/>
                </a:cxn>
              </a:cxnLst>
              <a:rect l="0" t="0" r="0" b="0"/>
              <a:pathLst>
                <a:path w="894" h="429">
                  <a:moveTo>
                    <a:pt x="0" y="429"/>
                  </a:moveTo>
                  <a:lnTo>
                    <a:pt x="894" y="429"/>
                  </a:lnTo>
                  <a:lnTo>
                    <a:pt x="502" y="0"/>
                  </a:lnTo>
                  <a:lnTo>
                    <a:pt x="23" y="13"/>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42090" name="Line 68"/>
            <p:cNvSpPr/>
            <p:nvPr/>
          </p:nvSpPr>
          <p:spPr>
            <a:xfrm>
              <a:off x="853" y="1979"/>
              <a:ext cx="701" cy="0"/>
            </a:xfrm>
            <a:prstGeom prst="line">
              <a:avLst/>
            </a:prstGeom>
            <a:ln w="38100" cap="flat" cmpd="sng">
              <a:solidFill>
                <a:schemeClr val="folHlink"/>
              </a:solidFill>
              <a:prstDash val="solid"/>
              <a:round/>
              <a:headEnd type="none" w="med" len="med"/>
              <a:tailEnd type="none" w="med" len="med"/>
            </a:ln>
          </p:spPr>
        </p:sp>
        <p:sp>
          <p:nvSpPr>
            <p:cNvPr id="42091" name="Line 70"/>
            <p:cNvSpPr/>
            <p:nvPr/>
          </p:nvSpPr>
          <p:spPr>
            <a:xfrm>
              <a:off x="853" y="2261"/>
              <a:ext cx="701" cy="0"/>
            </a:xfrm>
            <a:prstGeom prst="line">
              <a:avLst/>
            </a:prstGeom>
            <a:ln w="38100" cap="flat" cmpd="sng">
              <a:solidFill>
                <a:schemeClr val="folHlink"/>
              </a:solidFill>
              <a:prstDash val="solid"/>
              <a:round/>
              <a:headEnd type="none" w="med" len="med"/>
              <a:tailEnd type="none" w="med" len="med"/>
            </a:ln>
          </p:spPr>
        </p:sp>
        <p:sp>
          <p:nvSpPr>
            <p:cNvPr id="42092" name="Line 71"/>
            <p:cNvSpPr/>
            <p:nvPr/>
          </p:nvSpPr>
          <p:spPr>
            <a:xfrm>
              <a:off x="853" y="2475"/>
              <a:ext cx="366" cy="0"/>
            </a:xfrm>
            <a:prstGeom prst="line">
              <a:avLst/>
            </a:prstGeom>
            <a:ln w="76200" cap="flat" cmpd="sng">
              <a:solidFill>
                <a:schemeClr val="folHlink"/>
              </a:solidFill>
              <a:prstDash val="solid"/>
              <a:round/>
              <a:headEnd type="none" w="med" len="med"/>
              <a:tailEnd type="none" w="med" len="med"/>
            </a:ln>
          </p:spPr>
        </p:sp>
        <p:sp>
          <p:nvSpPr>
            <p:cNvPr id="42093" name="Line 72"/>
            <p:cNvSpPr/>
            <p:nvPr/>
          </p:nvSpPr>
          <p:spPr>
            <a:xfrm>
              <a:off x="853" y="1970"/>
              <a:ext cx="695" cy="0"/>
            </a:xfrm>
            <a:prstGeom prst="line">
              <a:avLst/>
            </a:prstGeom>
            <a:ln w="76200" cap="flat" cmpd="sng">
              <a:solidFill>
                <a:schemeClr val="folHlink"/>
              </a:solidFill>
              <a:prstDash val="solid"/>
              <a:round/>
              <a:headEnd type="none" w="med" len="med"/>
              <a:tailEnd type="none" w="med" len="med"/>
            </a:ln>
          </p:spPr>
        </p:sp>
        <p:sp>
          <p:nvSpPr>
            <p:cNvPr id="42094" name="Line 73"/>
            <p:cNvSpPr/>
            <p:nvPr/>
          </p:nvSpPr>
          <p:spPr>
            <a:xfrm>
              <a:off x="853" y="2243"/>
              <a:ext cx="695" cy="0"/>
            </a:xfrm>
            <a:prstGeom prst="line">
              <a:avLst/>
            </a:prstGeom>
            <a:ln w="76200" cap="flat" cmpd="sng">
              <a:solidFill>
                <a:schemeClr val="folHlink"/>
              </a:solidFill>
              <a:prstDash val="solid"/>
              <a:round/>
              <a:headEnd type="none" w="med" len="med"/>
              <a:tailEnd type="none" w="med" len="med"/>
            </a:ln>
          </p:spPr>
        </p:sp>
        <p:grpSp>
          <p:nvGrpSpPr>
            <p:cNvPr id="42095" name="组合 269"/>
            <p:cNvGrpSpPr/>
            <p:nvPr/>
          </p:nvGrpSpPr>
          <p:grpSpPr>
            <a:xfrm>
              <a:off x="854" y="3043"/>
              <a:ext cx="703" cy="332"/>
              <a:chOff x="4567205" y="4830754"/>
              <a:chExt cx="1103490" cy="527072"/>
            </a:xfrm>
          </p:grpSpPr>
          <p:sp>
            <p:nvSpPr>
              <p:cNvPr id="42096" name="Line 108"/>
              <p:cNvSpPr/>
              <p:nvPr/>
            </p:nvSpPr>
            <p:spPr>
              <a:xfrm>
                <a:off x="4567205" y="4830754"/>
                <a:ext cx="1103490" cy="0"/>
              </a:xfrm>
              <a:prstGeom prst="line">
                <a:avLst/>
              </a:prstGeom>
              <a:ln w="76200" cap="flat" cmpd="sng">
                <a:solidFill>
                  <a:schemeClr val="folHlink"/>
                </a:solidFill>
                <a:prstDash val="solid"/>
                <a:round/>
                <a:headEnd type="none" w="med" len="med"/>
                <a:tailEnd type="none" w="med" len="med"/>
              </a:ln>
            </p:spPr>
          </p:sp>
          <p:sp>
            <p:nvSpPr>
              <p:cNvPr id="42097" name="Rectangle 114"/>
              <p:cNvSpPr/>
              <p:nvPr/>
            </p:nvSpPr>
            <p:spPr>
              <a:xfrm>
                <a:off x="4567205" y="4834619"/>
                <a:ext cx="1103490" cy="523207"/>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grpSp>
        <p:grpSp>
          <p:nvGrpSpPr>
            <p:cNvPr id="42098" name="组合 351"/>
            <p:cNvGrpSpPr/>
            <p:nvPr/>
          </p:nvGrpSpPr>
          <p:grpSpPr>
            <a:xfrm>
              <a:off x="853" y="3645"/>
              <a:ext cx="703" cy="358"/>
              <a:chOff x="857224" y="5786454"/>
              <a:chExt cx="1027043" cy="568325"/>
            </a:xfrm>
          </p:grpSpPr>
          <p:sp>
            <p:nvSpPr>
              <p:cNvPr id="42099" name="Rectangle 56"/>
              <p:cNvSpPr/>
              <p:nvPr/>
            </p:nvSpPr>
            <p:spPr>
              <a:xfrm>
                <a:off x="857224" y="5786454"/>
                <a:ext cx="1027043" cy="568325"/>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100" name="Line 58"/>
              <p:cNvSpPr/>
              <p:nvPr/>
            </p:nvSpPr>
            <p:spPr>
              <a:xfrm>
                <a:off x="857224" y="6048388"/>
                <a:ext cx="990600" cy="0"/>
              </a:xfrm>
              <a:prstGeom prst="line">
                <a:avLst/>
              </a:prstGeom>
              <a:ln w="76200" cap="flat" cmpd="sng">
                <a:solidFill>
                  <a:schemeClr val="folHlink"/>
                </a:solidFill>
                <a:prstDash val="solid"/>
                <a:round/>
                <a:headEnd type="none" w="med" len="med"/>
                <a:tailEnd type="none" w="med" len="med"/>
              </a:ln>
            </p:spPr>
          </p:sp>
        </p:grpSp>
      </p:grpSp>
      <p:grpSp>
        <p:nvGrpSpPr>
          <p:cNvPr id="224374" name="Group 118"/>
          <p:cNvGrpSpPr/>
          <p:nvPr/>
        </p:nvGrpSpPr>
        <p:grpSpPr>
          <a:xfrm>
            <a:off x="2428875" y="2247900"/>
            <a:ext cx="1152525" cy="3227388"/>
            <a:chOff x="1530" y="1970"/>
            <a:chExt cx="726" cy="2033"/>
          </a:xfrm>
        </p:grpSpPr>
        <p:grpSp>
          <p:nvGrpSpPr>
            <p:cNvPr id="42102" name="Group 119"/>
            <p:cNvGrpSpPr/>
            <p:nvPr/>
          </p:nvGrpSpPr>
          <p:grpSpPr>
            <a:xfrm>
              <a:off x="1530" y="1970"/>
              <a:ext cx="726" cy="2033"/>
              <a:chOff x="1530" y="1970"/>
              <a:chExt cx="726" cy="2033"/>
            </a:xfrm>
          </p:grpSpPr>
          <p:grpSp>
            <p:nvGrpSpPr>
              <p:cNvPr id="42103" name="Group 120"/>
              <p:cNvGrpSpPr/>
              <p:nvPr/>
            </p:nvGrpSpPr>
            <p:grpSpPr>
              <a:xfrm>
                <a:off x="1530" y="1970"/>
                <a:ext cx="726" cy="2033"/>
                <a:chOff x="1530" y="1970"/>
                <a:chExt cx="726" cy="2033"/>
              </a:xfrm>
            </p:grpSpPr>
            <p:sp>
              <p:nvSpPr>
                <p:cNvPr id="42104" name="Line 82"/>
                <p:cNvSpPr/>
                <p:nvPr/>
              </p:nvSpPr>
              <p:spPr>
                <a:xfrm>
                  <a:off x="1548" y="1970"/>
                  <a:ext cx="695" cy="0"/>
                </a:xfrm>
                <a:prstGeom prst="line">
                  <a:avLst/>
                </a:prstGeom>
                <a:ln w="76200" cap="flat" cmpd="sng">
                  <a:solidFill>
                    <a:schemeClr val="folHlink"/>
                  </a:solidFill>
                  <a:prstDash val="solid"/>
                  <a:round/>
                  <a:headEnd type="none" w="med" len="med"/>
                  <a:tailEnd type="none" w="med" len="med"/>
                </a:ln>
              </p:spPr>
            </p:sp>
            <p:sp>
              <p:nvSpPr>
                <p:cNvPr id="42105" name="Line 83"/>
                <p:cNvSpPr/>
                <p:nvPr/>
              </p:nvSpPr>
              <p:spPr>
                <a:xfrm>
                  <a:off x="1548" y="2243"/>
                  <a:ext cx="695" cy="0"/>
                </a:xfrm>
                <a:prstGeom prst="line">
                  <a:avLst/>
                </a:prstGeom>
                <a:ln w="76200" cap="flat" cmpd="sng">
                  <a:solidFill>
                    <a:schemeClr val="folHlink"/>
                  </a:solidFill>
                  <a:prstDash val="solid"/>
                  <a:round/>
                  <a:headEnd type="none" w="med" len="med"/>
                  <a:tailEnd type="none" w="med" len="med"/>
                </a:ln>
              </p:spPr>
            </p:sp>
            <p:sp>
              <p:nvSpPr>
                <p:cNvPr id="42106" name="Line 84"/>
                <p:cNvSpPr/>
                <p:nvPr/>
              </p:nvSpPr>
              <p:spPr>
                <a:xfrm>
                  <a:off x="1530" y="2790"/>
                  <a:ext cx="715" cy="0"/>
                </a:xfrm>
                <a:prstGeom prst="line">
                  <a:avLst/>
                </a:prstGeom>
                <a:ln w="76200" cap="flat" cmpd="sng">
                  <a:solidFill>
                    <a:schemeClr val="folHlink"/>
                  </a:solidFill>
                  <a:prstDash val="solid"/>
                  <a:round/>
                  <a:headEnd type="none" w="med" len="med"/>
                  <a:tailEnd type="none" w="med" len="med"/>
                </a:ln>
              </p:spPr>
            </p:sp>
            <p:sp>
              <p:nvSpPr>
                <p:cNvPr id="42107" name="Freeform 67"/>
                <p:cNvSpPr/>
                <p:nvPr/>
              </p:nvSpPr>
              <p:spPr>
                <a:xfrm>
                  <a:off x="1530" y="3045"/>
                  <a:ext cx="726" cy="330"/>
                </a:xfrm>
                <a:custGeom>
                  <a:avLst/>
                  <a:gdLst/>
                  <a:ahLst/>
                  <a:cxnLst>
                    <a:cxn ang="0">
                      <a:pos x="0" y="195"/>
                    </a:cxn>
                    <a:cxn ang="0">
                      <a:pos x="479" y="195"/>
                    </a:cxn>
                    <a:cxn ang="0">
                      <a:pos x="269" y="0"/>
                    </a:cxn>
                    <a:cxn ang="0">
                      <a:pos x="12" y="6"/>
                    </a:cxn>
                  </a:cxnLst>
                  <a:rect l="0" t="0" r="0" b="0"/>
                  <a:pathLst>
                    <a:path w="894" h="429">
                      <a:moveTo>
                        <a:pt x="0" y="429"/>
                      </a:moveTo>
                      <a:lnTo>
                        <a:pt x="894" y="429"/>
                      </a:lnTo>
                      <a:lnTo>
                        <a:pt x="502" y="0"/>
                      </a:lnTo>
                      <a:lnTo>
                        <a:pt x="23" y="13"/>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42108" name="Line 71"/>
                <p:cNvSpPr/>
                <p:nvPr/>
              </p:nvSpPr>
              <p:spPr>
                <a:xfrm>
                  <a:off x="1541" y="3043"/>
                  <a:ext cx="390" cy="0"/>
                </a:xfrm>
                <a:prstGeom prst="line">
                  <a:avLst/>
                </a:prstGeom>
                <a:ln w="76200" cap="flat" cmpd="sng">
                  <a:solidFill>
                    <a:schemeClr val="folHlink"/>
                  </a:solidFill>
                  <a:prstDash val="solid"/>
                  <a:round/>
                  <a:headEnd type="none" w="med" len="med"/>
                  <a:tailEnd type="none" w="med" len="med"/>
                </a:ln>
              </p:spPr>
            </p:sp>
            <p:sp>
              <p:nvSpPr>
                <p:cNvPr id="42109" name="Rectangle 56"/>
                <p:cNvSpPr/>
                <p:nvPr/>
              </p:nvSpPr>
              <p:spPr>
                <a:xfrm>
                  <a:off x="1540" y="3645"/>
                  <a:ext cx="696" cy="358"/>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grpSp>
          <p:sp>
            <p:nvSpPr>
              <p:cNvPr id="42110" name="Line 58"/>
              <p:cNvSpPr/>
              <p:nvPr/>
            </p:nvSpPr>
            <p:spPr>
              <a:xfrm>
                <a:off x="1540" y="3810"/>
                <a:ext cx="696" cy="0"/>
              </a:xfrm>
              <a:prstGeom prst="line">
                <a:avLst/>
              </a:prstGeom>
              <a:ln w="76200" cap="flat" cmpd="sng">
                <a:solidFill>
                  <a:schemeClr val="folHlink"/>
                </a:solidFill>
                <a:prstDash val="solid"/>
                <a:round/>
                <a:headEnd type="none" w="med" len="med"/>
                <a:tailEnd type="none" w="med" len="med"/>
              </a:ln>
            </p:spPr>
          </p:sp>
          <p:sp>
            <p:nvSpPr>
              <p:cNvPr id="42111" name="Line 80"/>
              <p:cNvSpPr/>
              <p:nvPr/>
            </p:nvSpPr>
            <p:spPr>
              <a:xfrm>
                <a:off x="1542" y="2261"/>
                <a:ext cx="701" cy="0"/>
              </a:xfrm>
              <a:prstGeom prst="line">
                <a:avLst/>
              </a:prstGeom>
              <a:ln w="38100" cap="flat" cmpd="sng">
                <a:solidFill>
                  <a:schemeClr val="folHlink"/>
                </a:solidFill>
                <a:prstDash val="solid"/>
                <a:round/>
                <a:headEnd type="none" w="med" len="med"/>
                <a:tailEnd type="none" w="med" len="med"/>
              </a:ln>
            </p:spPr>
          </p:sp>
        </p:grpSp>
        <p:sp>
          <p:nvSpPr>
            <p:cNvPr id="42112" name="Line 79"/>
            <p:cNvSpPr/>
            <p:nvPr/>
          </p:nvSpPr>
          <p:spPr>
            <a:xfrm>
              <a:off x="1542" y="1979"/>
              <a:ext cx="701" cy="0"/>
            </a:xfrm>
            <a:prstGeom prst="line">
              <a:avLst/>
            </a:prstGeom>
            <a:ln w="38100" cap="flat" cmpd="sng">
              <a:solidFill>
                <a:schemeClr val="folHlink"/>
              </a:solidFill>
              <a:prstDash val="solid"/>
              <a:round/>
              <a:headEnd type="none" w="med" len="med"/>
              <a:tailEnd type="none" w="med" len="med"/>
            </a:ln>
          </p:spPr>
        </p:sp>
      </p:grpSp>
      <p:grpSp>
        <p:nvGrpSpPr>
          <p:cNvPr id="99" name="组合 363"/>
          <p:cNvGrpSpPr/>
          <p:nvPr/>
        </p:nvGrpSpPr>
        <p:grpSpPr>
          <a:xfrm>
            <a:off x="3544888" y="2247900"/>
            <a:ext cx="1143000" cy="3225800"/>
            <a:chOff x="3544876" y="3126604"/>
            <a:chExt cx="1142992" cy="3226584"/>
          </a:xfrm>
        </p:grpSpPr>
        <p:sp>
          <p:nvSpPr>
            <p:cNvPr id="42114" name="Line 92"/>
            <p:cNvSpPr/>
            <p:nvPr/>
          </p:nvSpPr>
          <p:spPr>
            <a:xfrm>
              <a:off x="3560904" y="3126604"/>
              <a:ext cx="1116000" cy="0"/>
            </a:xfrm>
            <a:prstGeom prst="line">
              <a:avLst/>
            </a:prstGeom>
            <a:ln w="76200" cap="flat" cmpd="sng">
              <a:solidFill>
                <a:schemeClr val="folHlink"/>
              </a:solidFill>
              <a:prstDash val="solid"/>
              <a:round/>
              <a:headEnd type="none" w="med" len="med"/>
              <a:tailEnd type="none" w="med" len="med"/>
            </a:ln>
          </p:spPr>
        </p:sp>
        <p:sp>
          <p:nvSpPr>
            <p:cNvPr id="42115" name="Line 92"/>
            <p:cNvSpPr/>
            <p:nvPr/>
          </p:nvSpPr>
          <p:spPr>
            <a:xfrm>
              <a:off x="3571868" y="3560400"/>
              <a:ext cx="1116000" cy="0"/>
            </a:xfrm>
            <a:prstGeom prst="line">
              <a:avLst/>
            </a:prstGeom>
            <a:ln w="76200" cap="flat" cmpd="sng">
              <a:solidFill>
                <a:schemeClr val="folHlink"/>
              </a:solidFill>
              <a:prstDash val="solid"/>
              <a:round/>
              <a:headEnd type="none" w="med" len="med"/>
              <a:tailEnd type="none" w="med" len="med"/>
            </a:ln>
          </p:spPr>
        </p:sp>
        <p:sp>
          <p:nvSpPr>
            <p:cNvPr id="42116" name="Line 84"/>
            <p:cNvSpPr/>
            <p:nvPr/>
          </p:nvSpPr>
          <p:spPr>
            <a:xfrm>
              <a:off x="3544876" y="4429132"/>
              <a:ext cx="1116000" cy="0"/>
            </a:xfrm>
            <a:prstGeom prst="line">
              <a:avLst/>
            </a:prstGeom>
            <a:ln w="76200" cap="flat" cmpd="sng">
              <a:solidFill>
                <a:schemeClr val="folHlink"/>
              </a:solidFill>
              <a:prstDash val="solid"/>
              <a:round/>
              <a:headEnd type="none" w="med" len="med"/>
              <a:tailEnd type="none" w="med" len="med"/>
            </a:ln>
          </p:spPr>
        </p:sp>
        <p:grpSp>
          <p:nvGrpSpPr>
            <p:cNvPr id="42117" name="组合 349"/>
            <p:cNvGrpSpPr/>
            <p:nvPr/>
          </p:nvGrpSpPr>
          <p:grpSpPr>
            <a:xfrm>
              <a:off x="3552828" y="5784863"/>
              <a:ext cx="1130400" cy="568325"/>
              <a:chOff x="1847824" y="5784863"/>
              <a:chExt cx="1447800" cy="568325"/>
            </a:xfrm>
          </p:grpSpPr>
          <p:sp>
            <p:nvSpPr>
              <p:cNvPr id="42118" name="Rectangle 69"/>
              <p:cNvSpPr/>
              <p:nvPr/>
            </p:nvSpPr>
            <p:spPr>
              <a:xfrm>
                <a:off x="1847824" y="5784863"/>
                <a:ext cx="1447800" cy="568325"/>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119" name="Line 74"/>
              <p:cNvSpPr/>
              <p:nvPr/>
            </p:nvSpPr>
            <p:spPr>
              <a:xfrm>
                <a:off x="1847824" y="6048388"/>
                <a:ext cx="1447800" cy="0"/>
              </a:xfrm>
              <a:prstGeom prst="line">
                <a:avLst/>
              </a:prstGeom>
              <a:ln w="76200" cap="flat" cmpd="sng">
                <a:solidFill>
                  <a:schemeClr val="folHlink"/>
                </a:solidFill>
                <a:prstDash val="solid"/>
                <a:round/>
                <a:headEnd type="none" w="med" len="med"/>
                <a:tailEnd type="none" w="med" len="med"/>
              </a:ln>
            </p:spPr>
          </p:sp>
        </p:grpSp>
        <p:sp>
          <p:nvSpPr>
            <p:cNvPr id="42120" name="Line 84"/>
            <p:cNvSpPr/>
            <p:nvPr/>
          </p:nvSpPr>
          <p:spPr>
            <a:xfrm>
              <a:off x="3564000" y="5328000"/>
              <a:ext cx="1116000" cy="0"/>
            </a:xfrm>
            <a:prstGeom prst="line">
              <a:avLst/>
            </a:prstGeom>
            <a:ln w="76200" cap="flat" cmpd="sng">
              <a:solidFill>
                <a:schemeClr val="folHlink"/>
              </a:solidFill>
              <a:prstDash val="solid"/>
              <a:round/>
              <a:headEnd type="none" w="med" len="med"/>
              <a:tailEnd type="none" w="med" len="med"/>
            </a:ln>
          </p:spPr>
        </p:sp>
      </p:grpSp>
      <p:sp>
        <p:nvSpPr>
          <p:cNvPr id="224394" name="Line 95"/>
          <p:cNvSpPr/>
          <p:nvPr/>
        </p:nvSpPr>
        <p:spPr>
          <a:xfrm rot="2700000">
            <a:off x="5514975" y="3856038"/>
            <a:ext cx="0" cy="685800"/>
          </a:xfrm>
          <a:prstGeom prst="line">
            <a:avLst/>
          </a:prstGeom>
          <a:ln w="76200" cap="flat" cmpd="sng">
            <a:solidFill>
              <a:schemeClr val="folHlink"/>
            </a:solidFill>
            <a:prstDash val="solid"/>
            <a:round/>
            <a:headEnd type="none" w="med" len="med"/>
            <a:tailEnd type="none" w="med" len="med"/>
          </a:ln>
        </p:spPr>
      </p:sp>
      <p:grpSp>
        <p:nvGrpSpPr>
          <p:cNvPr id="224395" name="Group 139"/>
          <p:cNvGrpSpPr/>
          <p:nvPr/>
        </p:nvGrpSpPr>
        <p:grpSpPr>
          <a:xfrm>
            <a:off x="4643438" y="2249488"/>
            <a:ext cx="1163637" cy="3224212"/>
            <a:chOff x="2925" y="1971"/>
            <a:chExt cx="733" cy="2031"/>
          </a:xfrm>
        </p:grpSpPr>
        <p:grpSp>
          <p:nvGrpSpPr>
            <p:cNvPr id="42123" name="Group 140"/>
            <p:cNvGrpSpPr/>
            <p:nvPr/>
          </p:nvGrpSpPr>
          <p:grpSpPr>
            <a:xfrm>
              <a:off x="2925" y="1971"/>
              <a:ext cx="733" cy="2031"/>
              <a:chOff x="2925" y="1971"/>
              <a:chExt cx="733" cy="2031"/>
            </a:xfrm>
          </p:grpSpPr>
          <p:sp>
            <p:nvSpPr>
              <p:cNvPr id="42124" name="Line 92"/>
              <p:cNvSpPr/>
              <p:nvPr/>
            </p:nvSpPr>
            <p:spPr>
              <a:xfrm>
                <a:off x="2925" y="1971"/>
                <a:ext cx="726" cy="0"/>
              </a:xfrm>
              <a:prstGeom prst="line">
                <a:avLst/>
              </a:prstGeom>
              <a:ln w="76200" cap="flat" cmpd="sng">
                <a:solidFill>
                  <a:schemeClr val="folHlink"/>
                </a:solidFill>
                <a:prstDash val="solid"/>
                <a:round/>
                <a:headEnd type="none" w="med" len="med"/>
                <a:tailEnd type="none" w="med" len="med"/>
              </a:ln>
            </p:spPr>
          </p:sp>
          <p:sp>
            <p:nvSpPr>
              <p:cNvPr id="42125" name="Line 92"/>
              <p:cNvSpPr/>
              <p:nvPr/>
            </p:nvSpPr>
            <p:spPr>
              <a:xfrm>
                <a:off x="2932" y="2243"/>
                <a:ext cx="726" cy="0"/>
              </a:xfrm>
              <a:prstGeom prst="line">
                <a:avLst/>
              </a:prstGeom>
              <a:ln w="76200" cap="flat" cmpd="sng">
                <a:solidFill>
                  <a:schemeClr val="folHlink"/>
                </a:solidFill>
                <a:prstDash val="solid"/>
                <a:round/>
                <a:headEnd type="none" w="med" len="med"/>
                <a:tailEnd type="none" w="med" len="med"/>
              </a:ln>
            </p:spPr>
          </p:sp>
          <p:sp>
            <p:nvSpPr>
              <p:cNvPr id="42126" name="Line 84"/>
              <p:cNvSpPr/>
              <p:nvPr/>
            </p:nvSpPr>
            <p:spPr>
              <a:xfrm>
                <a:off x="2931" y="2790"/>
                <a:ext cx="714" cy="0"/>
              </a:xfrm>
              <a:prstGeom prst="line">
                <a:avLst/>
              </a:prstGeom>
              <a:ln w="76200" cap="flat" cmpd="sng">
                <a:solidFill>
                  <a:schemeClr val="folHlink"/>
                </a:solidFill>
                <a:prstDash val="solid"/>
                <a:round/>
                <a:headEnd type="none" w="med" len="med"/>
                <a:tailEnd type="none" w="med" len="med"/>
              </a:ln>
            </p:spPr>
          </p:sp>
          <p:sp>
            <p:nvSpPr>
              <p:cNvPr id="42127" name="Freeform 85"/>
              <p:cNvSpPr/>
              <p:nvPr/>
            </p:nvSpPr>
            <p:spPr>
              <a:xfrm>
                <a:off x="2942" y="3644"/>
                <a:ext cx="658" cy="358"/>
              </a:xfrm>
              <a:custGeom>
                <a:avLst/>
                <a:gdLst/>
                <a:ahLst/>
                <a:cxnLst>
                  <a:cxn ang="0">
                    <a:pos x="0" y="0"/>
                  </a:cxn>
                  <a:cxn ang="0">
                    <a:pos x="329" y="0"/>
                  </a:cxn>
                  <a:cxn ang="0">
                    <a:pos x="274" y="166"/>
                  </a:cxn>
                  <a:cxn ang="0">
                    <a:pos x="329" y="355"/>
                  </a:cxn>
                  <a:cxn ang="0">
                    <a:pos x="2" y="358"/>
                  </a:cxn>
                </a:cxnLst>
                <a:rect l="0" t="0" r="0" b="0"/>
                <a:pathLst>
                  <a:path w="931" h="358">
                    <a:moveTo>
                      <a:pt x="0" y="0"/>
                    </a:moveTo>
                    <a:lnTo>
                      <a:pt x="931" y="0"/>
                    </a:lnTo>
                    <a:lnTo>
                      <a:pt x="774" y="166"/>
                    </a:lnTo>
                    <a:lnTo>
                      <a:pt x="931" y="355"/>
                    </a:lnTo>
                    <a:lnTo>
                      <a:pt x="6" y="358"/>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42128" name="Line 84"/>
              <p:cNvSpPr/>
              <p:nvPr/>
            </p:nvSpPr>
            <p:spPr>
              <a:xfrm>
                <a:off x="2942" y="3356"/>
                <a:ext cx="386" cy="0"/>
              </a:xfrm>
              <a:prstGeom prst="line">
                <a:avLst/>
              </a:prstGeom>
              <a:ln w="76200" cap="flat" cmpd="sng">
                <a:solidFill>
                  <a:schemeClr val="folHlink"/>
                </a:solidFill>
                <a:prstDash val="solid"/>
                <a:round/>
                <a:headEnd type="none" w="med" len="med"/>
                <a:tailEnd type="none" w="med" len="med"/>
              </a:ln>
            </p:spPr>
          </p:sp>
        </p:grpSp>
        <p:sp>
          <p:nvSpPr>
            <p:cNvPr id="42129" name="Line 81"/>
            <p:cNvSpPr/>
            <p:nvPr/>
          </p:nvSpPr>
          <p:spPr>
            <a:xfrm>
              <a:off x="2946" y="3810"/>
              <a:ext cx="577" cy="0"/>
            </a:xfrm>
            <a:prstGeom prst="line">
              <a:avLst/>
            </a:prstGeom>
            <a:ln w="76200" cap="flat" cmpd="sng">
              <a:solidFill>
                <a:schemeClr val="folHlink"/>
              </a:solidFill>
              <a:prstDash val="solid"/>
              <a:round/>
              <a:headEnd type="none" w="med" len="med"/>
              <a:tailEnd type="none" w="med" len="med"/>
            </a:ln>
          </p:spPr>
        </p:sp>
      </p:grpSp>
      <p:sp>
        <p:nvSpPr>
          <p:cNvPr id="224403" name="Line 75"/>
          <p:cNvSpPr/>
          <p:nvPr/>
        </p:nvSpPr>
        <p:spPr>
          <a:xfrm rot="8100000">
            <a:off x="2166938" y="2943225"/>
            <a:ext cx="0" cy="730250"/>
          </a:xfrm>
          <a:prstGeom prst="line">
            <a:avLst/>
          </a:prstGeom>
          <a:ln w="76200" cap="flat" cmpd="sng">
            <a:solidFill>
              <a:schemeClr val="folHlink"/>
            </a:solidFill>
            <a:prstDash val="solid"/>
            <a:round/>
            <a:headEnd type="none" w="med" len="med"/>
            <a:tailEnd type="none" w="med" len="med"/>
          </a:ln>
        </p:spPr>
      </p:sp>
      <p:sp>
        <p:nvSpPr>
          <p:cNvPr id="224404" name="Line 75"/>
          <p:cNvSpPr/>
          <p:nvPr/>
        </p:nvSpPr>
        <p:spPr>
          <a:xfrm rot="8100000">
            <a:off x="3313113" y="3827463"/>
            <a:ext cx="0" cy="730250"/>
          </a:xfrm>
          <a:prstGeom prst="line">
            <a:avLst/>
          </a:prstGeom>
          <a:ln w="76200" cap="flat" cmpd="sng">
            <a:solidFill>
              <a:schemeClr val="folHlink"/>
            </a:solidFill>
            <a:prstDash val="solid"/>
            <a:round/>
            <a:headEnd type="none" w="med" len="med"/>
            <a:tailEnd type="none" w="med" len="med"/>
          </a:ln>
        </p:spPr>
      </p:sp>
      <p:sp>
        <p:nvSpPr>
          <p:cNvPr id="110657" name="Line 65"/>
          <p:cNvSpPr/>
          <p:nvPr/>
        </p:nvSpPr>
        <p:spPr>
          <a:xfrm>
            <a:off x="1354138" y="1876425"/>
            <a:ext cx="0" cy="3924300"/>
          </a:xfrm>
          <a:prstGeom prst="line">
            <a:avLst/>
          </a:prstGeom>
          <a:ln w="38100" cap="flat" cmpd="sng">
            <a:solidFill>
              <a:schemeClr val="tx1"/>
            </a:solidFill>
            <a:prstDash val="dash"/>
            <a:round/>
            <a:headEnd type="none" w="med" len="med"/>
            <a:tailEnd type="none" w="med" len="med"/>
          </a:ln>
        </p:spPr>
      </p:sp>
      <p:sp>
        <p:nvSpPr>
          <p:cNvPr id="110668" name="Line 76"/>
          <p:cNvSpPr/>
          <p:nvPr/>
        </p:nvSpPr>
        <p:spPr>
          <a:xfrm>
            <a:off x="2457450" y="1876425"/>
            <a:ext cx="0" cy="3924300"/>
          </a:xfrm>
          <a:prstGeom prst="line">
            <a:avLst/>
          </a:prstGeom>
          <a:ln w="38100" cap="flat" cmpd="sng">
            <a:solidFill>
              <a:schemeClr val="tx1"/>
            </a:solidFill>
            <a:prstDash val="dash"/>
            <a:round/>
            <a:headEnd type="none" w="med" len="med"/>
            <a:tailEnd type="none" w="med" len="med"/>
          </a:ln>
        </p:spPr>
      </p:sp>
      <p:sp>
        <p:nvSpPr>
          <p:cNvPr id="110680" name="Line 88"/>
          <p:cNvSpPr/>
          <p:nvPr/>
        </p:nvSpPr>
        <p:spPr>
          <a:xfrm>
            <a:off x="3560763" y="1876425"/>
            <a:ext cx="0" cy="3924300"/>
          </a:xfrm>
          <a:prstGeom prst="line">
            <a:avLst/>
          </a:prstGeom>
          <a:ln w="38100" cap="flat" cmpd="sng">
            <a:solidFill>
              <a:schemeClr val="tx1"/>
            </a:solidFill>
            <a:prstDash val="dash"/>
            <a:round/>
            <a:headEnd type="none" w="med" len="med"/>
            <a:tailEnd type="none" w="med" len="med"/>
          </a:ln>
        </p:spPr>
      </p:sp>
      <p:sp>
        <p:nvSpPr>
          <p:cNvPr id="244" name="Line 88"/>
          <p:cNvSpPr/>
          <p:nvPr/>
        </p:nvSpPr>
        <p:spPr>
          <a:xfrm>
            <a:off x="4679950" y="1876425"/>
            <a:ext cx="0" cy="3924300"/>
          </a:xfrm>
          <a:prstGeom prst="line">
            <a:avLst/>
          </a:prstGeom>
          <a:ln w="38100" cap="flat" cmpd="sng">
            <a:solidFill>
              <a:schemeClr val="tx1"/>
            </a:solidFill>
            <a:prstDash val="dash"/>
            <a:round/>
            <a:headEnd type="none" w="med" len="med"/>
            <a:tailEnd type="none" w="med" len="med"/>
          </a:ln>
        </p:spPr>
      </p:sp>
      <p:sp>
        <p:nvSpPr>
          <p:cNvPr id="245" name="Line 88"/>
          <p:cNvSpPr/>
          <p:nvPr/>
        </p:nvSpPr>
        <p:spPr>
          <a:xfrm>
            <a:off x="5786438" y="1876425"/>
            <a:ext cx="0" cy="3924300"/>
          </a:xfrm>
          <a:prstGeom prst="line">
            <a:avLst/>
          </a:prstGeom>
          <a:ln w="38100" cap="flat" cmpd="sng">
            <a:solidFill>
              <a:schemeClr val="tx1"/>
            </a:solidFill>
            <a:prstDash val="dash"/>
            <a:round/>
            <a:headEnd type="none" w="med" len="med"/>
            <a:tailEnd type="none" w="med" len="med"/>
          </a:ln>
        </p:spPr>
      </p:sp>
      <p:sp>
        <p:nvSpPr>
          <p:cNvPr id="246" name="Line 88"/>
          <p:cNvSpPr/>
          <p:nvPr/>
        </p:nvSpPr>
        <p:spPr>
          <a:xfrm>
            <a:off x="6894513" y="1876425"/>
            <a:ext cx="0" cy="3924300"/>
          </a:xfrm>
          <a:prstGeom prst="line">
            <a:avLst/>
          </a:prstGeom>
          <a:ln w="38100" cap="flat" cmpd="sng">
            <a:solidFill>
              <a:schemeClr val="tx1"/>
            </a:solidFill>
            <a:prstDash val="dash"/>
            <a:round/>
            <a:headEnd type="none" w="med" len="med"/>
            <a:tailEnd type="none" w="med" len="med"/>
          </a:ln>
        </p:spPr>
      </p:sp>
      <p:sp>
        <p:nvSpPr>
          <p:cNvPr id="224411" name="Freeform 104"/>
          <p:cNvSpPr/>
          <p:nvPr/>
        </p:nvSpPr>
        <p:spPr>
          <a:xfrm>
            <a:off x="6584950" y="4905375"/>
            <a:ext cx="331788" cy="601663"/>
          </a:xfrm>
          <a:custGeom>
            <a:avLst/>
            <a:gdLst/>
            <a:ahLst/>
            <a:cxnLst>
              <a:cxn ang="0">
                <a:pos x="2147483647" y="2147483647"/>
              </a:cxn>
              <a:cxn ang="0">
                <a:pos x="0" y="0"/>
              </a:cxn>
              <a:cxn ang="0">
                <a:pos x="2147483647" y="0"/>
              </a:cxn>
              <a:cxn ang="0">
                <a:pos x="2147483647" y="2147483647"/>
              </a:cxn>
              <a:cxn ang="0">
                <a:pos x="2147483647" y="2147483647"/>
              </a:cxn>
            </a:cxnLst>
            <a:rect l="0" t="0" r="0" b="0"/>
            <a:pathLst>
              <a:path w="257" h="379">
                <a:moveTo>
                  <a:pt x="249" y="166"/>
                </a:moveTo>
                <a:lnTo>
                  <a:pt x="0" y="0"/>
                </a:lnTo>
                <a:lnTo>
                  <a:pt x="245" y="0"/>
                </a:lnTo>
                <a:lnTo>
                  <a:pt x="257" y="379"/>
                </a:lnTo>
                <a:lnTo>
                  <a:pt x="61" y="379"/>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grpSp>
        <p:nvGrpSpPr>
          <p:cNvPr id="224412" name="Group 156"/>
          <p:cNvGrpSpPr/>
          <p:nvPr/>
        </p:nvGrpSpPr>
        <p:grpSpPr>
          <a:xfrm>
            <a:off x="5257800" y="3917950"/>
            <a:ext cx="517525" cy="1568450"/>
            <a:chOff x="3312" y="3022"/>
            <a:chExt cx="326" cy="988"/>
          </a:xfrm>
        </p:grpSpPr>
        <p:sp>
          <p:nvSpPr>
            <p:cNvPr id="42140" name="Freeform 100"/>
            <p:cNvSpPr/>
            <p:nvPr/>
          </p:nvSpPr>
          <p:spPr>
            <a:xfrm>
              <a:off x="3312" y="3022"/>
              <a:ext cx="317" cy="350"/>
            </a:xfrm>
            <a:custGeom>
              <a:avLst/>
              <a:gdLst/>
              <a:ahLst/>
              <a:cxnLst>
                <a:cxn ang="0">
                  <a:pos x="0" y="219"/>
                </a:cxn>
                <a:cxn ang="0">
                  <a:pos x="183" y="219"/>
                </a:cxn>
                <a:cxn ang="0">
                  <a:pos x="183" y="0"/>
                </a:cxn>
                <a:cxn ang="0">
                  <a:pos x="0" y="219"/>
                </a:cxn>
              </a:cxnLst>
              <a:rect l="0" t="0" r="0" b="0"/>
              <a:pathLst>
                <a:path w="417" h="442">
                  <a:moveTo>
                    <a:pt x="0" y="442"/>
                  </a:moveTo>
                  <a:lnTo>
                    <a:pt x="417" y="442"/>
                  </a:lnTo>
                  <a:lnTo>
                    <a:pt x="417" y="0"/>
                  </a:lnTo>
                  <a:lnTo>
                    <a:pt x="0" y="442"/>
                  </a:lnTo>
                  <a:close/>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grpSp>
          <p:nvGrpSpPr>
            <p:cNvPr id="42141" name="Group 158"/>
            <p:cNvGrpSpPr/>
            <p:nvPr/>
          </p:nvGrpSpPr>
          <p:grpSpPr>
            <a:xfrm>
              <a:off x="3463" y="3655"/>
              <a:ext cx="175" cy="355"/>
              <a:chOff x="3447" y="3655"/>
              <a:chExt cx="175" cy="355"/>
            </a:xfrm>
          </p:grpSpPr>
          <p:sp>
            <p:nvSpPr>
              <p:cNvPr id="42142" name="Line 86"/>
              <p:cNvSpPr/>
              <p:nvPr/>
            </p:nvSpPr>
            <p:spPr>
              <a:xfrm rot="-312878" flipV="1">
                <a:off x="3447" y="3655"/>
                <a:ext cx="168" cy="175"/>
              </a:xfrm>
              <a:prstGeom prst="line">
                <a:avLst/>
              </a:prstGeom>
              <a:ln w="76200" cap="flat" cmpd="sng">
                <a:solidFill>
                  <a:schemeClr val="folHlink"/>
                </a:solidFill>
                <a:prstDash val="solid"/>
                <a:round/>
                <a:headEnd type="none" w="med" len="med"/>
                <a:tailEnd type="none" w="med" len="med"/>
              </a:ln>
            </p:spPr>
          </p:sp>
          <p:sp>
            <p:nvSpPr>
              <p:cNvPr id="42143" name="Line 87"/>
              <p:cNvSpPr/>
              <p:nvPr/>
            </p:nvSpPr>
            <p:spPr>
              <a:xfrm rot="5400000" flipV="1">
                <a:off x="3440" y="3828"/>
                <a:ext cx="192" cy="157"/>
              </a:xfrm>
              <a:prstGeom prst="line">
                <a:avLst/>
              </a:prstGeom>
              <a:ln w="76200" cap="flat" cmpd="sng">
                <a:solidFill>
                  <a:schemeClr val="folHlink"/>
                </a:solidFill>
                <a:prstDash val="solid"/>
                <a:round/>
                <a:headEnd type="none" w="med" len="med"/>
                <a:tailEnd type="none" w="med" len="med"/>
              </a:ln>
            </p:spPr>
          </p:sp>
        </p:grpSp>
      </p:grpSp>
      <p:grpSp>
        <p:nvGrpSpPr>
          <p:cNvPr id="224417" name="Group 161"/>
          <p:cNvGrpSpPr/>
          <p:nvPr/>
        </p:nvGrpSpPr>
        <p:grpSpPr>
          <a:xfrm>
            <a:off x="6624638" y="4924425"/>
            <a:ext cx="284162" cy="566738"/>
            <a:chOff x="4173" y="3656"/>
            <a:chExt cx="179" cy="357"/>
          </a:xfrm>
        </p:grpSpPr>
        <p:sp>
          <p:nvSpPr>
            <p:cNvPr id="42145" name="Line 98"/>
            <p:cNvSpPr/>
            <p:nvPr/>
          </p:nvSpPr>
          <p:spPr>
            <a:xfrm rot="2835" flipV="1">
              <a:off x="4173" y="3816"/>
              <a:ext cx="179" cy="197"/>
            </a:xfrm>
            <a:prstGeom prst="line">
              <a:avLst/>
            </a:prstGeom>
            <a:ln w="76200" cap="flat" cmpd="sng">
              <a:solidFill>
                <a:schemeClr val="folHlink"/>
              </a:solidFill>
              <a:prstDash val="solid"/>
              <a:round/>
              <a:headEnd type="none" w="med" len="med"/>
              <a:tailEnd type="none" w="med" len="med"/>
            </a:ln>
          </p:spPr>
        </p:sp>
        <p:sp>
          <p:nvSpPr>
            <p:cNvPr id="42146" name="Line 99"/>
            <p:cNvSpPr/>
            <p:nvPr/>
          </p:nvSpPr>
          <p:spPr>
            <a:xfrm rot="5400000" flipV="1">
              <a:off x="4166" y="3660"/>
              <a:ext cx="170" cy="147"/>
            </a:xfrm>
            <a:prstGeom prst="line">
              <a:avLst/>
            </a:prstGeom>
            <a:ln w="76200" cap="flat" cmpd="sng">
              <a:solidFill>
                <a:schemeClr val="folHlink"/>
              </a:solidFill>
              <a:prstDash val="solid"/>
              <a:round/>
              <a:headEnd type="none" w="med" len="med"/>
              <a:tailEnd type="none" w="med" len="med"/>
            </a:ln>
          </p:spPr>
        </p:sp>
      </p:grpSp>
      <p:grpSp>
        <p:nvGrpSpPr>
          <p:cNvPr id="224420" name="Group 164"/>
          <p:cNvGrpSpPr/>
          <p:nvPr/>
        </p:nvGrpSpPr>
        <p:grpSpPr>
          <a:xfrm>
            <a:off x="5700713" y="2247900"/>
            <a:ext cx="1203325" cy="3225800"/>
            <a:chOff x="3591" y="1970"/>
            <a:chExt cx="758" cy="2032"/>
          </a:xfrm>
        </p:grpSpPr>
        <p:sp>
          <p:nvSpPr>
            <p:cNvPr id="42148" name="Line 90"/>
            <p:cNvSpPr/>
            <p:nvPr/>
          </p:nvSpPr>
          <p:spPr>
            <a:xfrm>
              <a:off x="3648" y="2790"/>
              <a:ext cx="394" cy="0"/>
            </a:xfrm>
            <a:prstGeom prst="line">
              <a:avLst/>
            </a:prstGeom>
            <a:ln w="76200" cap="flat" cmpd="sng">
              <a:solidFill>
                <a:schemeClr val="folHlink"/>
              </a:solidFill>
              <a:prstDash val="solid"/>
              <a:round/>
              <a:headEnd type="none" w="med" len="med"/>
              <a:tailEnd type="none" w="med" len="med"/>
            </a:ln>
          </p:spPr>
        </p:sp>
        <p:sp>
          <p:nvSpPr>
            <p:cNvPr id="42149" name="Line 97"/>
            <p:cNvSpPr/>
            <p:nvPr/>
          </p:nvSpPr>
          <p:spPr>
            <a:xfrm>
              <a:off x="3645" y="1970"/>
              <a:ext cx="680" cy="0"/>
            </a:xfrm>
            <a:prstGeom prst="line">
              <a:avLst/>
            </a:prstGeom>
            <a:ln w="76200" cap="flat" cmpd="sng">
              <a:solidFill>
                <a:schemeClr val="folHlink"/>
              </a:solidFill>
              <a:prstDash val="solid"/>
              <a:round/>
              <a:headEnd type="none" w="med" len="med"/>
              <a:tailEnd type="none" w="med" len="med"/>
            </a:ln>
          </p:spPr>
        </p:sp>
        <p:sp>
          <p:nvSpPr>
            <p:cNvPr id="42150" name="Line 97"/>
            <p:cNvSpPr/>
            <p:nvPr/>
          </p:nvSpPr>
          <p:spPr>
            <a:xfrm>
              <a:off x="3652" y="2243"/>
              <a:ext cx="680" cy="0"/>
            </a:xfrm>
            <a:prstGeom prst="line">
              <a:avLst/>
            </a:prstGeom>
            <a:ln w="76200" cap="flat" cmpd="sng">
              <a:solidFill>
                <a:schemeClr val="folHlink"/>
              </a:solidFill>
              <a:prstDash val="solid"/>
              <a:round/>
              <a:headEnd type="none" w="med" len="med"/>
              <a:tailEnd type="none" w="med" len="med"/>
            </a:ln>
          </p:spPr>
        </p:sp>
        <p:grpSp>
          <p:nvGrpSpPr>
            <p:cNvPr id="42151" name="组合 263"/>
            <p:cNvGrpSpPr/>
            <p:nvPr/>
          </p:nvGrpSpPr>
          <p:grpSpPr>
            <a:xfrm>
              <a:off x="3628" y="3043"/>
              <a:ext cx="721" cy="332"/>
              <a:chOff x="4567205" y="4830754"/>
              <a:chExt cx="1103490" cy="527072"/>
            </a:xfrm>
          </p:grpSpPr>
          <p:sp>
            <p:nvSpPr>
              <p:cNvPr id="42152" name="Line 108"/>
              <p:cNvSpPr/>
              <p:nvPr/>
            </p:nvSpPr>
            <p:spPr>
              <a:xfrm>
                <a:off x="4567205" y="4830754"/>
                <a:ext cx="1103490" cy="0"/>
              </a:xfrm>
              <a:prstGeom prst="line">
                <a:avLst/>
              </a:prstGeom>
              <a:ln w="76200" cap="flat" cmpd="sng">
                <a:solidFill>
                  <a:schemeClr val="folHlink"/>
                </a:solidFill>
                <a:prstDash val="solid"/>
                <a:round/>
                <a:headEnd type="none" w="med" len="med"/>
                <a:tailEnd type="none" w="med" len="med"/>
              </a:ln>
            </p:spPr>
          </p:sp>
          <p:sp>
            <p:nvSpPr>
              <p:cNvPr id="42153" name="Rectangle 114"/>
              <p:cNvSpPr/>
              <p:nvPr/>
            </p:nvSpPr>
            <p:spPr>
              <a:xfrm>
                <a:off x="4567205" y="4834619"/>
                <a:ext cx="1103490" cy="523207"/>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grpSp>
        <p:grpSp>
          <p:nvGrpSpPr>
            <p:cNvPr id="42154" name="Group 171"/>
            <p:cNvGrpSpPr/>
            <p:nvPr/>
          </p:nvGrpSpPr>
          <p:grpSpPr>
            <a:xfrm>
              <a:off x="3591" y="3658"/>
              <a:ext cx="447" cy="344"/>
              <a:chOff x="3591" y="3658"/>
              <a:chExt cx="447" cy="344"/>
            </a:xfrm>
          </p:grpSpPr>
          <p:sp>
            <p:nvSpPr>
              <p:cNvPr id="42155" name="Line 91"/>
              <p:cNvSpPr/>
              <p:nvPr/>
            </p:nvSpPr>
            <p:spPr>
              <a:xfrm>
                <a:off x="3591" y="3658"/>
                <a:ext cx="431" cy="0"/>
              </a:xfrm>
              <a:prstGeom prst="line">
                <a:avLst/>
              </a:prstGeom>
              <a:ln w="76200" cap="flat" cmpd="sng">
                <a:solidFill>
                  <a:schemeClr val="folHlink"/>
                </a:solidFill>
                <a:prstDash val="solid"/>
                <a:round/>
                <a:headEnd type="none" w="med" len="med"/>
                <a:tailEnd type="none" w="med" len="med"/>
              </a:ln>
            </p:spPr>
          </p:sp>
          <p:sp>
            <p:nvSpPr>
              <p:cNvPr id="42156" name="Line 94"/>
              <p:cNvSpPr/>
              <p:nvPr/>
            </p:nvSpPr>
            <p:spPr>
              <a:xfrm>
                <a:off x="3607" y="4002"/>
                <a:ext cx="431" cy="0"/>
              </a:xfrm>
              <a:prstGeom prst="line">
                <a:avLst/>
              </a:prstGeom>
              <a:ln w="76200" cap="flat" cmpd="sng">
                <a:solidFill>
                  <a:schemeClr val="folHlink"/>
                </a:solidFill>
                <a:prstDash val="solid"/>
                <a:round/>
                <a:headEnd type="none" w="med" len="med"/>
                <a:tailEnd type="none" w="med" len="med"/>
              </a:ln>
            </p:spPr>
          </p:sp>
        </p:grpSp>
        <p:grpSp>
          <p:nvGrpSpPr>
            <p:cNvPr id="42157" name="Group 174"/>
            <p:cNvGrpSpPr/>
            <p:nvPr/>
          </p:nvGrpSpPr>
          <p:grpSpPr>
            <a:xfrm>
              <a:off x="3991" y="3658"/>
              <a:ext cx="218" cy="344"/>
              <a:chOff x="3991" y="3658"/>
              <a:chExt cx="218" cy="344"/>
            </a:xfrm>
          </p:grpSpPr>
          <p:sp>
            <p:nvSpPr>
              <p:cNvPr id="42158" name="Line 102"/>
              <p:cNvSpPr/>
              <p:nvPr/>
            </p:nvSpPr>
            <p:spPr>
              <a:xfrm>
                <a:off x="4014" y="3658"/>
                <a:ext cx="195" cy="0"/>
              </a:xfrm>
              <a:prstGeom prst="line">
                <a:avLst/>
              </a:prstGeom>
              <a:ln w="76200" cap="flat" cmpd="sng">
                <a:solidFill>
                  <a:schemeClr val="folHlink"/>
                </a:solidFill>
                <a:prstDash val="solid"/>
                <a:round/>
                <a:headEnd type="none" w="med" len="med"/>
                <a:tailEnd type="none" w="med" len="med"/>
              </a:ln>
            </p:spPr>
          </p:sp>
          <p:sp>
            <p:nvSpPr>
              <p:cNvPr id="42159" name="Line 103"/>
              <p:cNvSpPr/>
              <p:nvPr/>
            </p:nvSpPr>
            <p:spPr>
              <a:xfrm>
                <a:off x="3991" y="4002"/>
                <a:ext cx="195" cy="0"/>
              </a:xfrm>
              <a:prstGeom prst="line">
                <a:avLst/>
              </a:prstGeom>
              <a:ln w="76200" cap="flat" cmpd="sng">
                <a:solidFill>
                  <a:schemeClr val="folHlink"/>
                </a:solidFill>
                <a:prstDash val="solid"/>
                <a:round/>
                <a:headEnd type="none" w="med" len="med"/>
                <a:tailEnd type="none" w="med" len="med"/>
              </a:ln>
            </p:spPr>
          </p:sp>
        </p:grpSp>
      </p:grpSp>
      <p:grpSp>
        <p:nvGrpSpPr>
          <p:cNvPr id="224433" name="Group 177"/>
          <p:cNvGrpSpPr/>
          <p:nvPr/>
        </p:nvGrpSpPr>
        <p:grpSpPr>
          <a:xfrm>
            <a:off x="7678738" y="2355850"/>
            <a:ext cx="360362" cy="217488"/>
            <a:chOff x="4837" y="2038"/>
            <a:chExt cx="227" cy="137"/>
          </a:xfrm>
        </p:grpSpPr>
        <p:sp>
          <p:nvSpPr>
            <p:cNvPr id="42161" name="Line 112"/>
            <p:cNvSpPr/>
            <p:nvPr/>
          </p:nvSpPr>
          <p:spPr>
            <a:xfrm rot="2700000">
              <a:off x="4943" y="2054"/>
              <a:ext cx="0" cy="227"/>
            </a:xfrm>
            <a:prstGeom prst="line">
              <a:avLst/>
            </a:prstGeom>
            <a:ln w="76200" cap="flat" cmpd="sng">
              <a:solidFill>
                <a:schemeClr val="folHlink"/>
              </a:solidFill>
              <a:prstDash val="solid"/>
              <a:round/>
              <a:headEnd type="none" w="med" len="med"/>
              <a:tailEnd type="none" w="med" len="med"/>
            </a:ln>
          </p:spPr>
        </p:sp>
        <p:sp>
          <p:nvSpPr>
            <p:cNvPr id="42162" name="Line 113"/>
            <p:cNvSpPr/>
            <p:nvPr/>
          </p:nvSpPr>
          <p:spPr>
            <a:xfrm rot="8070797">
              <a:off x="4939" y="1924"/>
              <a:ext cx="1" cy="215"/>
            </a:xfrm>
            <a:prstGeom prst="line">
              <a:avLst/>
            </a:prstGeom>
            <a:ln w="76200" cap="flat" cmpd="sng">
              <a:solidFill>
                <a:schemeClr val="folHlink"/>
              </a:solidFill>
              <a:prstDash val="solid"/>
              <a:round/>
              <a:headEnd type="none" w="med" len="med"/>
              <a:tailEnd type="none" w="med" len="med"/>
            </a:ln>
          </p:spPr>
        </p:sp>
      </p:grpSp>
      <p:grpSp>
        <p:nvGrpSpPr>
          <p:cNvPr id="224436" name="Group 180"/>
          <p:cNvGrpSpPr/>
          <p:nvPr/>
        </p:nvGrpSpPr>
        <p:grpSpPr>
          <a:xfrm>
            <a:off x="7643813" y="2249488"/>
            <a:ext cx="1492250" cy="3259137"/>
            <a:chOff x="4815" y="1971"/>
            <a:chExt cx="940" cy="2053"/>
          </a:xfrm>
        </p:grpSpPr>
        <p:sp>
          <p:nvSpPr>
            <p:cNvPr id="42164" name="Rectangle 123"/>
            <p:cNvSpPr/>
            <p:nvPr/>
          </p:nvSpPr>
          <p:spPr>
            <a:xfrm>
              <a:off x="5021" y="2474"/>
              <a:ext cx="726" cy="333"/>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165" name="Rectangle 124"/>
            <p:cNvSpPr/>
            <p:nvPr/>
          </p:nvSpPr>
          <p:spPr>
            <a:xfrm>
              <a:off x="5034" y="3645"/>
              <a:ext cx="703" cy="379"/>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166" name="Rectangle 123"/>
            <p:cNvSpPr/>
            <p:nvPr/>
          </p:nvSpPr>
          <p:spPr>
            <a:xfrm>
              <a:off x="5035" y="3043"/>
              <a:ext cx="699" cy="332"/>
            </a:xfrm>
            <a:prstGeom prst="rect">
              <a:avLst/>
            </a:prstGeom>
            <a:solidFill>
              <a:schemeClr val="folHlink">
                <a:alpha val="50195"/>
              </a:schemeClr>
            </a:soli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zh-CN" sz="2400" dirty="0">
                <a:latin typeface="Times New Roman" panose="02020603050405020304" pitchFamily="18" charset="0"/>
                <a:ea typeface="宋体" panose="02010600030101010101" pitchFamily="2" charset="-122"/>
              </a:endParaRPr>
            </a:p>
          </p:txBody>
        </p:sp>
        <p:sp>
          <p:nvSpPr>
            <p:cNvPr id="42167" name="Line 90"/>
            <p:cNvSpPr/>
            <p:nvPr/>
          </p:nvSpPr>
          <p:spPr>
            <a:xfrm>
              <a:off x="5052" y="3825"/>
              <a:ext cx="680" cy="0"/>
            </a:xfrm>
            <a:prstGeom prst="line">
              <a:avLst/>
            </a:prstGeom>
            <a:ln w="76200" cap="flat" cmpd="sng">
              <a:solidFill>
                <a:schemeClr val="folHlink"/>
              </a:solidFill>
              <a:prstDash val="solid"/>
              <a:round/>
              <a:headEnd type="none" w="med" len="med"/>
              <a:tailEnd type="none" w="med" len="med"/>
            </a:ln>
          </p:spPr>
        </p:sp>
        <p:sp>
          <p:nvSpPr>
            <p:cNvPr id="42168" name="Freeform 122"/>
            <p:cNvSpPr/>
            <p:nvPr/>
          </p:nvSpPr>
          <p:spPr>
            <a:xfrm>
              <a:off x="4815" y="1973"/>
              <a:ext cx="930" cy="287"/>
            </a:xfrm>
            <a:custGeom>
              <a:avLst/>
              <a:gdLst/>
              <a:ahLst/>
              <a:cxnLst>
                <a:cxn ang="0">
                  <a:pos x="46" y="0"/>
                </a:cxn>
                <a:cxn ang="0">
                  <a:pos x="619" y="6"/>
                </a:cxn>
                <a:cxn ang="0">
                  <a:pos x="619" y="189"/>
                </a:cxn>
                <a:cxn ang="0">
                  <a:pos x="0" y="189"/>
                </a:cxn>
                <a:cxn ang="0">
                  <a:pos x="125" y="77"/>
                </a:cxn>
              </a:cxnLst>
              <a:rect l="0" t="0" r="0" b="0"/>
              <a:pathLst>
                <a:path w="1140" h="353">
                  <a:moveTo>
                    <a:pt x="85" y="0"/>
                  </a:moveTo>
                  <a:lnTo>
                    <a:pt x="1140" y="10"/>
                  </a:lnTo>
                  <a:lnTo>
                    <a:pt x="1140" y="353"/>
                  </a:lnTo>
                  <a:lnTo>
                    <a:pt x="0" y="353"/>
                  </a:lnTo>
                  <a:lnTo>
                    <a:pt x="229" y="144"/>
                  </a:lnTo>
                </a:path>
              </a:pathLst>
            </a:custGeom>
            <a:solidFill>
              <a:schemeClr val="folHlink">
                <a:alpha val="50195"/>
              </a:schemeClr>
            </a:solidFill>
            <a:ln w="9525" cap="flat" cmpd="sng">
              <a:solidFill>
                <a:schemeClr val="folHlink"/>
              </a:solidFill>
              <a:prstDash val="solid"/>
              <a:round/>
              <a:headEnd type="none" w="med" len="med"/>
              <a:tailEnd type="none" w="med" len="med"/>
            </a:ln>
          </p:spPr>
          <p:txBody>
            <a:bodyPr/>
            <a:lstStyle/>
            <a:p>
              <a:endParaRPr lang="zh-CN" altLang="en-US"/>
            </a:p>
          </p:txBody>
        </p:sp>
        <p:sp>
          <p:nvSpPr>
            <p:cNvPr id="42169" name="Line 120"/>
            <p:cNvSpPr/>
            <p:nvPr/>
          </p:nvSpPr>
          <p:spPr>
            <a:xfrm>
              <a:off x="4871" y="1971"/>
              <a:ext cx="884" cy="0"/>
            </a:xfrm>
            <a:prstGeom prst="line">
              <a:avLst/>
            </a:prstGeom>
            <a:ln w="76200" cap="flat" cmpd="sng">
              <a:solidFill>
                <a:schemeClr val="folHlink"/>
              </a:solidFill>
              <a:prstDash val="solid"/>
              <a:round/>
              <a:headEnd type="none" w="med" len="med"/>
              <a:tailEnd type="none" w="med" len="med"/>
            </a:ln>
          </p:spPr>
        </p:sp>
        <p:sp>
          <p:nvSpPr>
            <p:cNvPr id="42170" name="Line 121"/>
            <p:cNvSpPr/>
            <p:nvPr/>
          </p:nvSpPr>
          <p:spPr>
            <a:xfrm>
              <a:off x="4871" y="2244"/>
              <a:ext cx="884" cy="0"/>
            </a:xfrm>
            <a:prstGeom prst="line">
              <a:avLst/>
            </a:prstGeom>
            <a:ln w="76200" cap="flat" cmpd="sng">
              <a:solidFill>
                <a:schemeClr val="folHlink"/>
              </a:solidFill>
              <a:prstDash val="solid"/>
              <a:round/>
              <a:headEnd type="none" w="med" len="med"/>
              <a:tailEnd type="none" w="med" len="med"/>
            </a:ln>
          </p:spPr>
        </p:sp>
        <p:sp>
          <p:nvSpPr>
            <p:cNvPr id="42171" name="Line 119"/>
            <p:cNvSpPr/>
            <p:nvPr/>
          </p:nvSpPr>
          <p:spPr>
            <a:xfrm>
              <a:off x="5021" y="2476"/>
              <a:ext cx="721" cy="0"/>
            </a:xfrm>
            <a:prstGeom prst="line">
              <a:avLst/>
            </a:prstGeom>
            <a:ln w="76200" cap="flat" cmpd="sng">
              <a:solidFill>
                <a:schemeClr val="folHlink"/>
              </a:solidFill>
              <a:prstDash val="solid"/>
              <a:round/>
              <a:headEnd type="none" w="med" len="med"/>
              <a:tailEnd type="none" w="med" len="med"/>
            </a:ln>
          </p:spPr>
        </p:sp>
        <p:sp>
          <p:nvSpPr>
            <p:cNvPr id="42172" name="Line 119"/>
            <p:cNvSpPr/>
            <p:nvPr/>
          </p:nvSpPr>
          <p:spPr>
            <a:xfrm>
              <a:off x="5031" y="3044"/>
              <a:ext cx="703" cy="0"/>
            </a:xfrm>
            <a:prstGeom prst="line">
              <a:avLst/>
            </a:prstGeom>
            <a:ln w="76200" cap="flat" cmpd="sng">
              <a:solidFill>
                <a:schemeClr val="folHlink"/>
              </a:solidFill>
              <a:prstDash val="solid"/>
              <a:round/>
              <a:headEnd type="none" w="med" len="med"/>
              <a:tailEnd type="none" w="med" len="med"/>
            </a:ln>
          </p:spPr>
        </p:sp>
      </p:grpSp>
      <p:sp>
        <p:nvSpPr>
          <p:cNvPr id="110697" name="Line 105"/>
          <p:cNvSpPr/>
          <p:nvPr/>
        </p:nvSpPr>
        <p:spPr>
          <a:xfrm>
            <a:off x="7996238" y="1876425"/>
            <a:ext cx="0" cy="3924300"/>
          </a:xfrm>
          <a:prstGeom prst="line">
            <a:avLst/>
          </a:prstGeom>
          <a:ln w="38100" cap="flat" cmpd="sng">
            <a:solidFill>
              <a:schemeClr val="tx1"/>
            </a:solidFill>
            <a:prstDash val="dash"/>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24291"/>
                                        </p:tgtEl>
                                        <p:attrNameLst>
                                          <p:attrName>style.visibility</p:attrName>
                                        </p:attrNameLst>
                                      </p:cBhvr>
                                      <p:to>
                                        <p:strVal val="visible"/>
                                      </p:to>
                                    </p:set>
                                    <p:animEffect transition="in" filter="strips(upRight)">
                                      <p:cBhvr>
                                        <p:cTn id="7" dur="500"/>
                                        <p:tgtEl>
                                          <p:spTgt spid="22429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224259"/>
                                        </p:tgtEl>
                                        <p:attrNameLst>
                                          <p:attrName>style.visibility</p:attrName>
                                        </p:attrNameLst>
                                      </p:cBhvr>
                                      <p:to>
                                        <p:strVal val="visible"/>
                                      </p:to>
                                    </p:set>
                                    <p:animEffect transition="in" filter="strips(upRight)">
                                      <p:cBhvr>
                                        <p:cTn id="17" dur="500"/>
                                        <p:tgtEl>
                                          <p:spTgt spid="22425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224271"/>
                                        </p:tgtEl>
                                        <p:attrNameLst>
                                          <p:attrName>style.visibility</p:attrName>
                                        </p:attrNameLst>
                                      </p:cBhvr>
                                      <p:to>
                                        <p:strVal val="visible"/>
                                      </p:to>
                                    </p:set>
                                    <p:animEffect transition="in" filter="strips(upRight)">
                                      <p:cBhvr>
                                        <p:cTn id="22" dur="500"/>
                                        <p:tgtEl>
                                          <p:spTgt spid="22427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trips(downRigh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0-#ppt_w/2"/>
                                          </p:val>
                                        </p:tav>
                                        <p:tav tm="100000">
                                          <p:val>
                                            <p:strVal val="#ppt_x"/>
                                          </p:val>
                                        </p:tav>
                                      </p:tavLst>
                                    </p:anim>
                                    <p:anim calcmode="lin" valueType="num">
                                      <p:cBhvr additive="base">
                                        <p:cTn id="3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8" presetClass="entr" presetSubtype="12" fill="hold" nodeType="clickEffect">
                                  <p:stCondLst>
                                    <p:cond delay="0"/>
                                  </p:stCondLst>
                                  <p:childTnLst>
                                    <p:set>
                                      <p:cBhvr>
                                        <p:cTn id="37" dur="1" fill="hold">
                                          <p:stCondLst>
                                            <p:cond delay="0"/>
                                          </p:stCondLst>
                                        </p:cTn>
                                        <p:tgtEl>
                                          <p:spTgt spid="110657"/>
                                        </p:tgtEl>
                                        <p:attrNameLst>
                                          <p:attrName>style.visibility</p:attrName>
                                        </p:attrNameLst>
                                      </p:cBhvr>
                                      <p:to>
                                        <p:strVal val="visible"/>
                                      </p:to>
                                    </p:set>
                                    <p:animEffect transition="in" filter="strips(downLeft)">
                                      <p:cBhvr>
                                        <p:cTn id="38" dur="500"/>
                                        <p:tgtEl>
                                          <p:spTgt spid="110657"/>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224361"/>
                                        </p:tgtEl>
                                        <p:attrNameLst>
                                          <p:attrName>style.visibility</p:attrName>
                                        </p:attrNameLst>
                                      </p:cBhvr>
                                      <p:to>
                                        <p:strVal val="visible"/>
                                      </p:to>
                                    </p:set>
                                    <p:animEffect transition="in" filter="slide(fromLeft)">
                                      <p:cBhvr>
                                        <p:cTn id="43" dur="500"/>
                                        <p:tgtEl>
                                          <p:spTgt spid="224361"/>
                                        </p:tgtEl>
                                      </p:cBhvr>
                                    </p:animEffect>
                                  </p:childTnLst>
                                </p:cTn>
                              </p:par>
                            </p:childTnLst>
                          </p:cTn>
                        </p:par>
                        <p:par>
                          <p:cTn id="44" fill="hold">
                            <p:stCondLst>
                              <p:cond delay="500"/>
                            </p:stCondLst>
                            <p:childTnLst>
                              <p:par>
                                <p:cTn id="45" presetID="18" presetClass="entr" presetSubtype="6" fill="hold" nodeType="afterEffect">
                                  <p:stCondLst>
                                    <p:cond delay="0"/>
                                  </p:stCondLst>
                                  <p:childTnLst>
                                    <p:set>
                                      <p:cBhvr>
                                        <p:cTn id="46" dur="1" fill="hold">
                                          <p:stCondLst>
                                            <p:cond delay="0"/>
                                          </p:stCondLst>
                                        </p:cTn>
                                        <p:tgtEl>
                                          <p:spTgt spid="224403"/>
                                        </p:tgtEl>
                                        <p:attrNameLst>
                                          <p:attrName>style.visibility</p:attrName>
                                        </p:attrNameLst>
                                      </p:cBhvr>
                                      <p:to>
                                        <p:strVal val="visible"/>
                                      </p:to>
                                    </p:set>
                                    <p:animEffect transition="in" filter="strips(downRight)">
                                      <p:cBhvr>
                                        <p:cTn id="47" dur="500"/>
                                        <p:tgtEl>
                                          <p:spTgt spid="224403"/>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110668"/>
                                        </p:tgtEl>
                                        <p:attrNameLst>
                                          <p:attrName>style.visibility</p:attrName>
                                        </p:attrNameLst>
                                      </p:cBhvr>
                                      <p:to>
                                        <p:strVal val="visible"/>
                                      </p:to>
                                    </p:set>
                                    <p:animEffect transition="in" filter="strips(downLeft)">
                                      <p:cBhvr>
                                        <p:cTn id="52" dur="500"/>
                                        <p:tgtEl>
                                          <p:spTgt spid="110668"/>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nodeType="clickEffect">
                                  <p:stCondLst>
                                    <p:cond delay="0"/>
                                  </p:stCondLst>
                                  <p:childTnLst>
                                    <p:set>
                                      <p:cBhvr>
                                        <p:cTn id="56" dur="1" fill="hold">
                                          <p:stCondLst>
                                            <p:cond delay="0"/>
                                          </p:stCondLst>
                                        </p:cTn>
                                        <p:tgtEl>
                                          <p:spTgt spid="224374"/>
                                        </p:tgtEl>
                                        <p:attrNameLst>
                                          <p:attrName>style.visibility</p:attrName>
                                        </p:attrNameLst>
                                      </p:cBhvr>
                                      <p:to>
                                        <p:strVal val="visible"/>
                                      </p:to>
                                    </p:set>
                                    <p:animEffect transition="in" filter="slide(fromLeft)">
                                      <p:cBhvr>
                                        <p:cTn id="57" dur="500"/>
                                        <p:tgtEl>
                                          <p:spTgt spid="224374"/>
                                        </p:tgtEl>
                                      </p:cBhvr>
                                    </p:animEffect>
                                  </p:childTnLst>
                                </p:cTn>
                              </p:par>
                            </p:childTnLst>
                          </p:cTn>
                        </p:par>
                        <p:par>
                          <p:cTn id="58" fill="hold">
                            <p:stCondLst>
                              <p:cond delay="500"/>
                            </p:stCondLst>
                            <p:childTnLst>
                              <p:par>
                                <p:cTn id="59" presetID="18" presetClass="entr" presetSubtype="6" fill="hold" nodeType="afterEffect">
                                  <p:stCondLst>
                                    <p:cond delay="0"/>
                                  </p:stCondLst>
                                  <p:childTnLst>
                                    <p:set>
                                      <p:cBhvr>
                                        <p:cTn id="60" dur="1" fill="hold">
                                          <p:stCondLst>
                                            <p:cond delay="0"/>
                                          </p:stCondLst>
                                        </p:cTn>
                                        <p:tgtEl>
                                          <p:spTgt spid="224404"/>
                                        </p:tgtEl>
                                        <p:attrNameLst>
                                          <p:attrName>style.visibility</p:attrName>
                                        </p:attrNameLst>
                                      </p:cBhvr>
                                      <p:to>
                                        <p:strVal val="visible"/>
                                      </p:to>
                                    </p:set>
                                    <p:animEffect transition="in" filter="strips(downRight)">
                                      <p:cBhvr>
                                        <p:cTn id="61" dur="500"/>
                                        <p:tgtEl>
                                          <p:spTgt spid="224404"/>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12" fill="hold" nodeType="clickEffect">
                                  <p:stCondLst>
                                    <p:cond delay="0"/>
                                  </p:stCondLst>
                                  <p:childTnLst>
                                    <p:set>
                                      <p:cBhvr>
                                        <p:cTn id="65" dur="1" fill="hold">
                                          <p:stCondLst>
                                            <p:cond delay="0"/>
                                          </p:stCondLst>
                                        </p:cTn>
                                        <p:tgtEl>
                                          <p:spTgt spid="110680"/>
                                        </p:tgtEl>
                                        <p:attrNameLst>
                                          <p:attrName>style.visibility</p:attrName>
                                        </p:attrNameLst>
                                      </p:cBhvr>
                                      <p:to>
                                        <p:strVal val="visible"/>
                                      </p:to>
                                    </p:set>
                                    <p:animEffect transition="in" filter="strips(downLeft)">
                                      <p:cBhvr>
                                        <p:cTn id="66" dur="500"/>
                                        <p:tgtEl>
                                          <p:spTgt spid="110680"/>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8" fill="hold" nodeType="clickEffect">
                                  <p:stCondLst>
                                    <p:cond delay="0"/>
                                  </p:stCondLst>
                                  <p:childTnLst>
                                    <p:set>
                                      <p:cBhvr>
                                        <p:cTn id="70" dur="1" fill="hold">
                                          <p:stCondLst>
                                            <p:cond delay="0"/>
                                          </p:stCondLst>
                                        </p:cTn>
                                        <p:tgtEl>
                                          <p:spTgt spid="99"/>
                                        </p:tgtEl>
                                        <p:attrNameLst>
                                          <p:attrName>style.visibility</p:attrName>
                                        </p:attrNameLst>
                                      </p:cBhvr>
                                      <p:to>
                                        <p:strVal val="visible"/>
                                      </p:to>
                                    </p:set>
                                    <p:animEffect transition="in" filter="slide(fromLeft)">
                                      <p:cBhvr>
                                        <p:cTn id="71" dur="500"/>
                                        <p:tgtEl>
                                          <p:spTgt spid="99"/>
                                        </p:tgtEl>
                                      </p:cBhvr>
                                    </p:animEffect>
                                  </p:childTnLst>
                                </p:cTn>
                              </p:par>
                            </p:childTnLst>
                          </p:cTn>
                        </p:par>
                      </p:childTnLst>
                    </p:cTn>
                  </p:par>
                  <p:par>
                    <p:cTn id="72" fill="hold">
                      <p:stCondLst>
                        <p:cond delay="indefinite"/>
                      </p:stCondLst>
                      <p:childTnLst>
                        <p:par>
                          <p:cTn id="73" fill="hold">
                            <p:stCondLst>
                              <p:cond delay="0"/>
                            </p:stCondLst>
                            <p:childTnLst>
                              <p:par>
                                <p:cTn id="74" presetID="18" presetClass="entr" presetSubtype="12" fill="hold" nodeType="clickEffect">
                                  <p:stCondLst>
                                    <p:cond delay="0"/>
                                  </p:stCondLst>
                                  <p:childTnLst>
                                    <p:set>
                                      <p:cBhvr>
                                        <p:cTn id="75" dur="1" fill="hold">
                                          <p:stCondLst>
                                            <p:cond delay="0"/>
                                          </p:stCondLst>
                                        </p:cTn>
                                        <p:tgtEl>
                                          <p:spTgt spid="244"/>
                                        </p:tgtEl>
                                        <p:attrNameLst>
                                          <p:attrName>style.visibility</p:attrName>
                                        </p:attrNameLst>
                                      </p:cBhvr>
                                      <p:to>
                                        <p:strVal val="visible"/>
                                      </p:to>
                                    </p:set>
                                    <p:animEffect transition="in" filter="strips(downLeft)">
                                      <p:cBhvr>
                                        <p:cTn id="76" dur="500"/>
                                        <p:tgtEl>
                                          <p:spTgt spid="244"/>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8" fill="hold" nodeType="clickEffect">
                                  <p:stCondLst>
                                    <p:cond delay="0"/>
                                  </p:stCondLst>
                                  <p:childTnLst>
                                    <p:set>
                                      <p:cBhvr>
                                        <p:cTn id="80" dur="1" fill="hold">
                                          <p:stCondLst>
                                            <p:cond delay="0"/>
                                          </p:stCondLst>
                                        </p:cTn>
                                        <p:tgtEl>
                                          <p:spTgt spid="224395"/>
                                        </p:tgtEl>
                                        <p:attrNameLst>
                                          <p:attrName>style.visibility</p:attrName>
                                        </p:attrNameLst>
                                      </p:cBhvr>
                                      <p:to>
                                        <p:strVal val="visible"/>
                                      </p:to>
                                    </p:set>
                                    <p:animEffect transition="in" filter="slide(fromLeft)">
                                      <p:cBhvr>
                                        <p:cTn id="81" dur="500"/>
                                        <p:tgtEl>
                                          <p:spTgt spid="224395"/>
                                        </p:tgtEl>
                                      </p:cBhvr>
                                    </p:animEffect>
                                  </p:childTnLst>
                                </p:cTn>
                              </p:par>
                            </p:childTnLst>
                          </p:cTn>
                        </p:par>
                        <p:par>
                          <p:cTn id="82" fill="hold">
                            <p:stCondLst>
                              <p:cond delay="500"/>
                            </p:stCondLst>
                            <p:childTnLst>
                              <p:par>
                                <p:cTn id="83" presetID="18" presetClass="entr" presetSubtype="3" fill="hold" nodeType="afterEffect">
                                  <p:stCondLst>
                                    <p:cond delay="0"/>
                                  </p:stCondLst>
                                  <p:childTnLst>
                                    <p:set>
                                      <p:cBhvr>
                                        <p:cTn id="84" dur="1" fill="hold">
                                          <p:stCondLst>
                                            <p:cond delay="0"/>
                                          </p:stCondLst>
                                        </p:cTn>
                                        <p:tgtEl>
                                          <p:spTgt spid="224394"/>
                                        </p:tgtEl>
                                        <p:attrNameLst>
                                          <p:attrName>style.visibility</p:attrName>
                                        </p:attrNameLst>
                                      </p:cBhvr>
                                      <p:to>
                                        <p:strVal val="visible"/>
                                      </p:to>
                                    </p:set>
                                    <p:animEffect transition="in" filter="strips(upRight)">
                                      <p:cBhvr>
                                        <p:cTn id="85" dur="500"/>
                                        <p:tgtEl>
                                          <p:spTgt spid="224394"/>
                                        </p:tgtEl>
                                      </p:cBhvr>
                                    </p:animEffect>
                                  </p:childTnLst>
                                </p:cTn>
                              </p:par>
                            </p:childTnLst>
                          </p:cTn>
                        </p:par>
                        <p:par>
                          <p:cTn id="86" fill="hold">
                            <p:stCondLst>
                              <p:cond delay="1000"/>
                            </p:stCondLst>
                            <p:childTnLst>
                              <p:par>
                                <p:cTn id="87" presetID="18" presetClass="entr" presetSubtype="3" fill="hold" nodeType="afterEffect">
                                  <p:stCondLst>
                                    <p:cond delay="0"/>
                                  </p:stCondLst>
                                  <p:childTnLst>
                                    <p:set>
                                      <p:cBhvr>
                                        <p:cTn id="88" dur="1" fill="hold">
                                          <p:stCondLst>
                                            <p:cond delay="0"/>
                                          </p:stCondLst>
                                        </p:cTn>
                                        <p:tgtEl>
                                          <p:spTgt spid="224412"/>
                                        </p:tgtEl>
                                        <p:attrNameLst>
                                          <p:attrName>style.visibility</p:attrName>
                                        </p:attrNameLst>
                                      </p:cBhvr>
                                      <p:to>
                                        <p:strVal val="visible"/>
                                      </p:to>
                                    </p:set>
                                    <p:animEffect transition="in" filter="strips(upRight)">
                                      <p:cBhvr>
                                        <p:cTn id="89" dur="500"/>
                                        <p:tgtEl>
                                          <p:spTgt spid="224412"/>
                                        </p:tgtEl>
                                      </p:cBhvr>
                                    </p:animEffect>
                                  </p:childTnLst>
                                </p:cTn>
                              </p:par>
                            </p:childTnLst>
                          </p:cTn>
                        </p:par>
                      </p:childTnLst>
                    </p:cTn>
                  </p:par>
                  <p:par>
                    <p:cTn id="90" fill="hold">
                      <p:stCondLst>
                        <p:cond delay="indefinite"/>
                      </p:stCondLst>
                      <p:childTnLst>
                        <p:par>
                          <p:cTn id="91" fill="hold">
                            <p:stCondLst>
                              <p:cond delay="0"/>
                            </p:stCondLst>
                            <p:childTnLst>
                              <p:par>
                                <p:cTn id="92" presetID="18" presetClass="entr" presetSubtype="12" fill="hold" nodeType="clickEffect">
                                  <p:stCondLst>
                                    <p:cond delay="0"/>
                                  </p:stCondLst>
                                  <p:childTnLst>
                                    <p:set>
                                      <p:cBhvr>
                                        <p:cTn id="93" dur="1" fill="hold">
                                          <p:stCondLst>
                                            <p:cond delay="0"/>
                                          </p:stCondLst>
                                        </p:cTn>
                                        <p:tgtEl>
                                          <p:spTgt spid="245"/>
                                        </p:tgtEl>
                                        <p:attrNameLst>
                                          <p:attrName>style.visibility</p:attrName>
                                        </p:attrNameLst>
                                      </p:cBhvr>
                                      <p:to>
                                        <p:strVal val="visible"/>
                                      </p:to>
                                    </p:set>
                                    <p:animEffect transition="in" filter="strips(downLeft)">
                                      <p:cBhvr>
                                        <p:cTn id="94" dur="500"/>
                                        <p:tgtEl>
                                          <p:spTgt spid="245"/>
                                        </p:tgtEl>
                                      </p:cBhvr>
                                    </p:animEffect>
                                  </p:childTnLst>
                                </p:cTn>
                              </p:par>
                            </p:childTnLst>
                          </p:cTn>
                        </p:par>
                      </p:childTnLst>
                    </p:cTn>
                  </p:par>
                  <p:par>
                    <p:cTn id="95" fill="hold">
                      <p:stCondLst>
                        <p:cond delay="indefinite"/>
                      </p:stCondLst>
                      <p:childTnLst>
                        <p:par>
                          <p:cTn id="96" fill="hold">
                            <p:stCondLst>
                              <p:cond delay="0"/>
                            </p:stCondLst>
                            <p:childTnLst>
                              <p:par>
                                <p:cTn id="97" presetID="12" presetClass="entr" presetSubtype="8" fill="hold" nodeType="clickEffect">
                                  <p:stCondLst>
                                    <p:cond delay="0"/>
                                  </p:stCondLst>
                                  <p:childTnLst>
                                    <p:set>
                                      <p:cBhvr>
                                        <p:cTn id="98" dur="1" fill="hold">
                                          <p:stCondLst>
                                            <p:cond delay="0"/>
                                          </p:stCondLst>
                                        </p:cTn>
                                        <p:tgtEl>
                                          <p:spTgt spid="224420"/>
                                        </p:tgtEl>
                                        <p:attrNameLst>
                                          <p:attrName>style.visibility</p:attrName>
                                        </p:attrNameLst>
                                      </p:cBhvr>
                                      <p:to>
                                        <p:strVal val="visible"/>
                                      </p:to>
                                    </p:set>
                                    <p:animEffect transition="in" filter="slide(fromLeft)">
                                      <p:cBhvr>
                                        <p:cTn id="99" dur="500"/>
                                        <p:tgtEl>
                                          <p:spTgt spid="224420"/>
                                        </p:tgtEl>
                                      </p:cBhvr>
                                    </p:animEffect>
                                  </p:childTnLst>
                                </p:cTn>
                              </p:par>
                            </p:childTnLst>
                          </p:cTn>
                        </p:par>
                        <p:par>
                          <p:cTn id="100" fill="hold">
                            <p:stCondLst>
                              <p:cond delay="500"/>
                            </p:stCondLst>
                            <p:childTnLst>
                              <p:par>
                                <p:cTn id="101" presetID="18" presetClass="entr" presetSubtype="3" fill="hold" nodeType="afterEffect">
                                  <p:stCondLst>
                                    <p:cond delay="0"/>
                                  </p:stCondLst>
                                  <p:childTnLst>
                                    <p:set>
                                      <p:cBhvr>
                                        <p:cTn id="102" dur="1" fill="hold">
                                          <p:stCondLst>
                                            <p:cond delay="0"/>
                                          </p:stCondLst>
                                        </p:cTn>
                                        <p:tgtEl>
                                          <p:spTgt spid="224349"/>
                                        </p:tgtEl>
                                        <p:attrNameLst>
                                          <p:attrName>style.visibility</p:attrName>
                                        </p:attrNameLst>
                                      </p:cBhvr>
                                      <p:to>
                                        <p:strVal val="visible"/>
                                      </p:to>
                                    </p:set>
                                    <p:animEffect transition="in" filter="strips(upRight)">
                                      <p:cBhvr>
                                        <p:cTn id="103" dur="500"/>
                                        <p:tgtEl>
                                          <p:spTgt spid="224349"/>
                                        </p:tgtEl>
                                      </p:cBhvr>
                                    </p:animEffect>
                                  </p:childTnLst>
                                </p:cTn>
                              </p:par>
                            </p:childTnLst>
                          </p:cTn>
                        </p:par>
                        <p:par>
                          <p:cTn id="104" fill="hold">
                            <p:stCondLst>
                              <p:cond delay="1000"/>
                            </p:stCondLst>
                            <p:childTnLst>
                              <p:par>
                                <p:cTn id="105" presetID="18" presetClass="entr" presetSubtype="3" fill="hold" nodeType="afterEffect">
                                  <p:stCondLst>
                                    <p:cond delay="0"/>
                                  </p:stCondLst>
                                  <p:childTnLst>
                                    <p:set>
                                      <p:cBhvr>
                                        <p:cTn id="106" dur="1" fill="hold">
                                          <p:stCondLst>
                                            <p:cond delay="0"/>
                                          </p:stCondLst>
                                        </p:cTn>
                                        <p:tgtEl>
                                          <p:spTgt spid="224258"/>
                                        </p:tgtEl>
                                        <p:attrNameLst>
                                          <p:attrName>style.visibility</p:attrName>
                                        </p:attrNameLst>
                                      </p:cBhvr>
                                      <p:to>
                                        <p:strVal val="visible"/>
                                      </p:to>
                                    </p:set>
                                    <p:animEffect transition="in" filter="strips(upRight)">
                                      <p:cBhvr>
                                        <p:cTn id="107" dur="500"/>
                                        <p:tgtEl>
                                          <p:spTgt spid="224258"/>
                                        </p:tgtEl>
                                      </p:cBhvr>
                                    </p:animEffect>
                                  </p:childTnLst>
                                </p:cTn>
                              </p:par>
                            </p:childTnLst>
                          </p:cTn>
                        </p:par>
                        <p:par>
                          <p:cTn id="108" fill="hold">
                            <p:stCondLst>
                              <p:cond delay="1500"/>
                            </p:stCondLst>
                            <p:childTnLst>
                              <p:par>
                                <p:cTn id="109" presetID="18" presetClass="entr" presetSubtype="3" fill="hold" nodeType="afterEffect">
                                  <p:stCondLst>
                                    <p:cond delay="0"/>
                                  </p:stCondLst>
                                  <p:childTnLst>
                                    <p:set>
                                      <p:cBhvr>
                                        <p:cTn id="110" dur="1" fill="hold">
                                          <p:stCondLst>
                                            <p:cond delay="0"/>
                                          </p:stCondLst>
                                        </p:cTn>
                                        <p:tgtEl>
                                          <p:spTgt spid="224417"/>
                                        </p:tgtEl>
                                        <p:attrNameLst>
                                          <p:attrName>style.visibility</p:attrName>
                                        </p:attrNameLst>
                                      </p:cBhvr>
                                      <p:to>
                                        <p:strVal val="visible"/>
                                      </p:to>
                                    </p:set>
                                    <p:animEffect transition="in" filter="strips(upRight)">
                                      <p:cBhvr>
                                        <p:cTn id="111" dur="500"/>
                                        <p:tgtEl>
                                          <p:spTgt spid="224417"/>
                                        </p:tgtEl>
                                      </p:cBhvr>
                                    </p:animEffect>
                                  </p:childTnLst>
                                </p:cTn>
                              </p:par>
                            </p:childTnLst>
                          </p:cTn>
                        </p:par>
                        <p:par>
                          <p:cTn id="112" fill="hold">
                            <p:stCondLst>
                              <p:cond delay="2000"/>
                            </p:stCondLst>
                            <p:childTnLst>
                              <p:par>
                                <p:cTn id="113" presetID="18" presetClass="entr" presetSubtype="3" fill="hold" nodeType="afterEffect">
                                  <p:stCondLst>
                                    <p:cond delay="0"/>
                                  </p:stCondLst>
                                  <p:childTnLst>
                                    <p:set>
                                      <p:cBhvr>
                                        <p:cTn id="114" dur="1" fill="hold">
                                          <p:stCondLst>
                                            <p:cond delay="0"/>
                                          </p:stCondLst>
                                        </p:cTn>
                                        <p:tgtEl>
                                          <p:spTgt spid="224411"/>
                                        </p:tgtEl>
                                        <p:attrNameLst>
                                          <p:attrName>style.visibility</p:attrName>
                                        </p:attrNameLst>
                                      </p:cBhvr>
                                      <p:to>
                                        <p:strVal val="visible"/>
                                      </p:to>
                                    </p:set>
                                    <p:animEffect transition="in" filter="strips(upRight)">
                                      <p:cBhvr>
                                        <p:cTn id="115" dur="500"/>
                                        <p:tgtEl>
                                          <p:spTgt spid="224411"/>
                                        </p:tgtEl>
                                      </p:cBhvr>
                                    </p:animEffect>
                                  </p:childTnLst>
                                </p:cTn>
                              </p:par>
                            </p:childTnLst>
                          </p:cTn>
                        </p:par>
                      </p:childTnLst>
                    </p:cTn>
                  </p:par>
                  <p:par>
                    <p:cTn id="116" fill="hold">
                      <p:stCondLst>
                        <p:cond delay="indefinite"/>
                      </p:stCondLst>
                      <p:childTnLst>
                        <p:par>
                          <p:cTn id="117" fill="hold">
                            <p:stCondLst>
                              <p:cond delay="0"/>
                            </p:stCondLst>
                            <p:childTnLst>
                              <p:par>
                                <p:cTn id="118" presetID="18" presetClass="entr" presetSubtype="12" fill="hold" nodeType="clickEffect">
                                  <p:stCondLst>
                                    <p:cond delay="0"/>
                                  </p:stCondLst>
                                  <p:childTnLst>
                                    <p:set>
                                      <p:cBhvr>
                                        <p:cTn id="119" dur="1" fill="hold">
                                          <p:stCondLst>
                                            <p:cond delay="0"/>
                                          </p:stCondLst>
                                        </p:cTn>
                                        <p:tgtEl>
                                          <p:spTgt spid="246"/>
                                        </p:tgtEl>
                                        <p:attrNameLst>
                                          <p:attrName>style.visibility</p:attrName>
                                        </p:attrNameLst>
                                      </p:cBhvr>
                                      <p:to>
                                        <p:strVal val="visible"/>
                                      </p:to>
                                    </p:set>
                                    <p:animEffect transition="in" filter="strips(downLeft)">
                                      <p:cBhvr>
                                        <p:cTn id="120" dur="500"/>
                                        <p:tgtEl>
                                          <p:spTgt spid="246"/>
                                        </p:tgtEl>
                                      </p:cBhvr>
                                    </p:animEffect>
                                  </p:childTnLst>
                                </p:cTn>
                              </p:par>
                            </p:childTnLst>
                          </p:cTn>
                        </p:par>
                      </p:childTnLst>
                    </p:cTn>
                  </p:par>
                  <p:par>
                    <p:cTn id="121" fill="hold">
                      <p:stCondLst>
                        <p:cond delay="indefinite"/>
                      </p:stCondLst>
                      <p:childTnLst>
                        <p:par>
                          <p:cTn id="122" fill="hold">
                            <p:stCondLst>
                              <p:cond delay="0"/>
                            </p:stCondLst>
                            <p:childTnLst>
                              <p:par>
                                <p:cTn id="123" presetID="18" presetClass="entr" presetSubtype="6" fill="hold" nodeType="clickEffect">
                                  <p:stCondLst>
                                    <p:cond delay="0"/>
                                  </p:stCondLst>
                                  <p:childTnLst>
                                    <p:set>
                                      <p:cBhvr>
                                        <p:cTn id="124" dur="1" fill="hold">
                                          <p:stCondLst>
                                            <p:cond delay="0"/>
                                          </p:stCondLst>
                                        </p:cTn>
                                        <p:tgtEl>
                                          <p:spTgt spid="21"/>
                                        </p:tgtEl>
                                        <p:attrNameLst>
                                          <p:attrName>style.visibility</p:attrName>
                                        </p:attrNameLst>
                                      </p:cBhvr>
                                      <p:to>
                                        <p:strVal val="visible"/>
                                      </p:to>
                                    </p:set>
                                    <p:animEffect transition="in" filter="strips(downRight)">
                                      <p:cBhvr>
                                        <p:cTn id="125" dur="500"/>
                                        <p:tgtEl>
                                          <p:spTgt spid="21"/>
                                        </p:tgtEl>
                                      </p:cBhvr>
                                    </p:animEffect>
                                  </p:childTnLst>
                                </p:cTn>
                              </p:par>
                            </p:childTnLst>
                          </p:cTn>
                        </p:par>
                        <p:par>
                          <p:cTn id="126" fill="hold">
                            <p:stCondLst>
                              <p:cond delay="500"/>
                            </p:stCondLst>
                            <p:childTnLst>
                              <p:par>
                                <p:cTn id="127" presetID="18" presetClass="entr" presetSubtype="3" fill="hold" nodeType="afterEffect">
                                  <p:stCondLst>
                                    <p:cond delay="0"/>
                                  </p:stCondLst>
                                  <p:childTnLst>
                                    <p:set>
                                      <p:cBhvr>
                                        <p:cTn id="128" dur="1" fill="hold">
                                          <p:stCondLst>
                                            <p:cond delay="0"/>
                                          </p:stCondLst>
                                        </p:cTn>
                                        <p:tgtEl>
                                          <p:spTgt spid="224433"/>
                                        </p:tgtEl>
                                        <p:attrNameLst>
                                          <p:attrName>style.visibility</p:attrName>
                                        </p:attrNameLst>
                                      </p:cBhvr>
                                      <p:to>
                                        <p:strVal val="visible"/>
                                      </p:to>
                                    </p:set>
                                    <p:animEffect transition="in" filter="strips(upRight)">
                                      <p:cBhvr>
                                        <p:cTn id="129" dur="500"/>
                                        <p:tgtEl>
                                          <p:spTgt spid="224433"/>
                                        </p:tgtEl>
                                      </p:cBhvr>
                                    </p:animEffect>
                                  </p:childTnLst>
                                </p:cTn>
                              </p:par>
                            </p:childTnLst>
                          </p:cTn>
                        </p:par>
                      </p:childTnLst>
                    </p:cTn>
                  </p:par>
                  <p:par>
                    <p:cTn id="130" fill="hold">
                      <p:stCondLst>
                        <p:cond delay="indefinite"/>
                      </p:stCondLst>
                      <p:childTnLst>
                        <p:par>
                          <p:cTn id="131" fill="hold">
                            <p:stCondLst>
                              <p:cond delay="0"/>
                            </p:stCondLst>
                            <p:childTnLst>
                              <p:par>
                                <p:cTn id="132" presetID="18" presetClass="entr" presetSubtype="12" fill="hold" nodeType="clickEffect">
                                  <p:stCondLst>
                                    <p:cond delay="0"/>
                                  </p:stCondLst>
                                  <p:childTnLst>
                                    <p:set>
                                      <p:cBhvr>
                                        <p:cTn id="133" dur="1" fill="hold">
                                          <p:stCondLst>
                                            <p:cond delay="0"/>
                                          </p:stCondLst>
                                        </p:cTn>
                                        <p:tgtEl>
                                          <p:spTgt spid="110697"/>
                                        </p:tgtEl>
                                        <p:attrNameLst>
                                          <p:attrName>style.visibility</p:attrName>
                                        </p:attrNameLst>
                                      </p:cBhvr>
                                      <p:to>
                                        <p:strVal val="visible"/>
                                      </p:to>
                                    </p:set>
                                    <p:animEffect transition="in" filter="strips(downLeft)">
                                      <p:cBhvr>
                                        <p:cTn id="134" dur="500"/>
                                        <p:tgtEl>
                                          <p:spTgt spid="110697"/>
                                        </p:tgtEl>
                                      </p:cBhvr>
                                    </p:animEffect>
                                  </p:childTnLst>
                                </p:cTn>
                              </p:par>
                            </p:childTnLst>
                          </p:cTn>
                        </p:par>
                      </p:childTnLst>
                    </p:cTn>
                  </p:par>
                  <p:par>
                    <p:cTn id="135" fill="hold">
                      <p:stCondLst>
                        <p:cond delay="indefinite"/>
                      </p:stCondLst>
                      <p:childTnLst>
                        <p:par>
                          <p:cTn id="136" fill="hold">
                            <p:stCondLst>
                              <p:cond delay="0"/>
                            </p:stCondLst>
                            <p:childTnLst>
                              <p:par>
                                <p:cTn id="137" presetID="18" presetClass="entr" presetSubtype="3" fill="hold" nodeType="clickEffect">
                                  <p:stCondLst>
                                    <p:cond delay="0"/>
                                  </p:stCondLst>
                                  <p:childTnLst>
                                    <p:set>
                                      <p:cBhvr>
                                        <p:cTn id="138" dur="1" fill="hold">
                                          <p:stCondLst>
                                            <p:cond delay="0"/>
                                          </p:stCondLst>
                                        </p:cTn>
                                        <p:tgtEl>
                                          <p:spTgt spid="224436"/>
                                        </p:tgtEl>
                                        <p:attrNameLst>
                                          <p:attrName>style.visibility</p:attrName>
                                        </p:attrNameLst>
                                      </p:cBhvr>
                                      <p:to>
                                        <p:strVal val="visible"/>
                                      </p:to>
                                    </p:set>
                                    <p:animEffect transition="in" filter="strips(upRight)">
                                      <p:cBhvr>
                                        <p:cTn id="139" dur="500"/>
                                        <p:tgtEl>
                                          <p:spTgt spid="224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ext Box 2"/>
          <p:cNvSpPr txBox="1"/>
          <p:nvPr/>
        </p:nvSpPr>
        <p:spPr>
          <a:xfrm>
            <a:off x="441325" y="777875"/>
            <a:ext cx="4773613" cy="644525"/>
          </a:xfrm>
          <a:prstGeom prst="rect">
            <a:avLst/>
          </a:prstGeom>
          <a:noFill/>
          <a:ln w="9525">
            <a:noFill/>
          </a:ln>
        </p:spPr>
        <p:txBody>
          <a:bodyPr wrap="none" anchor="t" anchorCtr="0">
            <a:spAutoFit/>
          </a:bodyPr>
          <a:lstStyle/>
          <a:p>
            <a:pPr>
              <a:buClrTx/>
              <a:buFontTx/>
            </a:pPr>
            <a:r>
              <a:rPr lang="zh-CN" altLang="en-US" sz="3600" b="1" dirty="0">
                <a:latin typeface="Times New Roman" panose="02020603050405020304" pitchFamily="18" charset="0"/>
                <a:ea typeface="宋体" panose="02010600030101010101" pitchFamily="2" charset="-122"/>
              </a:rPr>
              <a:t>上述三种通信的共同点</a:t>
            </a:r>
          </a:p>
        </p:txBody>
      </p:sp>
      <p:sp>
        <p:nvSpPr>
          <p:cNvPr id="225283" name="Text Box 3"/>
          <p:cNvSpPr txBox="1"/>
          <p:nvPr/>
        </p:nvSpPr>
        <p:spPr>
          <a:xfrm>
            <a:off x="533400" y="1905000"/>
            <a:ext cx="8229600" cy="584200"/>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一个总线传输周期（以输入数据为例）</a:t>
            </a:r>
          </a:p>
        </p:txBody>
      </p:sp>
      <p:sp>
        <p:nvSpPr>
          <p:cNvPr id="225284" name="Text Box 4"/>
          <p:cNvSpPr txBox="1"/>
          <p:nvPr/>
        </p:nvSpPr>
        <p:spPr>
          <a:xfrm>
            <a:off x="990600" y="3171825"/>
            <a:ext cx="5791200" cy="522288"/>
          </a:xfrm>
          <a:prstGeom prst="rect">
            <a:avLst/>
          </a:prstGeom>
          <a:noFill/>
          <a:ln w="9525">
            <a:noFill/>
          </a:ln>
        </p:spPr>
        <p:txBody>
          <a:bodyPr anchor="t" anchorCtr="0">
            <a:spAutoFit/>
          </a:bodyPr>
          <a:lstStyle/>
          <a:p>
            <a:pPr>
              <a:buClrTx/>
              <a:buFontTx/>
              <a:buChar char="•"/>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主模块发地址 、命令</a:t>
            </a:r>
            <a:endParaRPr lang="zh-CN" altLang="en-US" sz="2800" b="1" dirty="0">
              <a:solidFill>
                <a:schemeClr val="folHlink"/>
              </a:solidFill>
              <a:latin typeface="Times New Roman" panose="02020603050405020304" pitchFamily="18" charset="0"/>
              <a:ea typeface="宋体" panose="02010600030101010101" pitchFamily="2" charset="-122"/>
            </a:endParaRPr>
          </a:p>
        </p:txBody>
      </p:sp>
      <p:sp>
        <p:nvSpPr>
          <p:cNvPr id="225285" name="Text Box 5"/>
          <p:cNvSpPr txBox="1"/>
          <p:nvPr/>
        </p:nvSpPr>
        <p:spPr>
          <a:xfrm>
            <a:off x="990600" y="4086225"/>
            <a:ext cx="6553200" cy="522288"/>
          </a:xfrm>
          <a:prstGeom prst="rect">
            <a:avLst/>
          </a:prstGeom>
          <a:noFill/>
          <a:ln w="9525">
            <a:noFill/>
          </a:ln>
        </p:spPr>
        <p:txBody>
          <a:bodyPr anchor="t" anchorCtr="0">
            <a:spAutoFit/>
          </a:bodyPr>
          <a:lstStyle/>
          <a:p>
            <a:pPr>
              <a:buClrTx/>
              <a:buFontTx/>
              <a:buChar char="•"/>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从模块准备数据</a:t>
            </a:r>
            <a:endParaRPr lang="zh-CN" altLang="en-US" sz="2800" b="1" dirty="0">
              <a:solidFill>
                <a:schemeClr val="folHlink"/>
              </a:solidFill>
              <a:latin typeface="Times New Roman" panose="02020603050405020304" pitchFamily="18" charset="0"/>
              <a:ea typeface="宋体" panose="02010600030101010101" pitchFamily="2" charset="-122"/>
            </a:endParaRPr>
          </a:p>
        </p:txBody>
      </p:sp>
      <p:sp>
        <p:nvSpPr>
          <p:cNvPr id="225286" name="Text Box 6"/>
          <p:cNvSpPr txBox="1"/>
          <p:nvPr/>
        </p:nvSpPr>
        <p:spPr>
          <a:xfrm>
            <a:off x="990600" y="5000625"/>
            <a:ext cx="6172200" cy="522288"/>
          </a:xfrm>
          <a:prstGeom prst="rect">
            <a:avLst/>
          </a:prstGeom>
          <a:noFill/>
          <a:ln w="9525">
            <a:noFill/>
          </a:ln>
        </p:spPr>
        <p:txBody>
          <a:bodyPr anchor="t" anchorCtr="0">
            <a:spAutoFit/>
          </a:bodyPr>
          <a:lstStyle/>
          <a:p>
            <a:pPr>
              <a:buClrTx/>
              <a:buFontTx/>
              <a:buChar char="•"/>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从模块向主模块发数据</a:t>
            </a:r>
            <a:endParaRPr lang="zh-CN" altLang="en-US" sz="2800" b="1" dirty="0">
              <a:solidFill>
                <a:schemeClr val="folHlink"/>
              </a:solidFill>
              <a:latin typeface="Times New Roman" panose="02020603050405020304" pitchFamily="18" charset="0"/>
              <a:ea typeface="宋体" panose="02010600030101010101" pitchFamily="2" charset="-122"/>
            </a:endParaRPr>
          </a:p>
        </p:txBody>
      </p:sp>
      <p:sp>
        <p:nvSpPr>
          <p:cNvPr id="225287" name="Text Box 7"/>
          <p:cNvSpPr txBox="1"/>
          <p:nvPr/>
        </p:nvSpPr>
        <p:spPr>
          <a:xfrm>
            <a:off x="6934200" y="4086225"/>
            <a:ext cx="2209800" cy="522288"/>
          </a:xfrm>
          <a:prstGeom prst="rect">
            <a:avLst/>
          </a:prstGeom>
          <a:noFill/>
          <a:ln w="9525">
            <a:noFill/>
          </a:ln>
        </p:spPr>
        <p:txBody>
          <a:bodyPr anchor="t" anchorCtr="0">
            <a:spAutoFit/>
          </a:bodyPr>
          <a:lstStyle/>
          <a:p>
            <a:pPr>
              <a:spcBef>
                <a:spcPct val="50000"/>
              </a:spcBef>
              <a:buClrTx/>
              <a:buFontTx/>
            </a:pPr>
            <a:r>
              <a:rPr lang="zh-CN" altLang="en-US" sz="2800" b="1" dirty="0">
                <a:latin typeface="Times New Roman" panose="02020603050405020304" pitchFamily="18" charset="0"/>
                <a:ea typeface="宋体" panose="02010600030101010101" pitchFamily="2" charset="-122"/>
              </a:rPr>
              <a:t>总线空闲</a:t>
            </a:r>
          </a:p>
        </p:txBody>
      </p:sp>
      <p:sp>
        <p:nvSpPr>
          <p:cNvPr id="225288" name="Text Box 8"/>
          <p:cNvSpPr txBox="1"/>
          <p:nvPr/>
        </p:nvSpPr>
        <p:spPr>
          <a:xfrm>
            <a:off x="4953000" y="3171825"/>
            <a:ext cx="2895600" cy="522288"/>
          </a:xfrm>
          <a:prstGeom prst="rect">
            <a:avLst/>
          </a:prstGeom>
          <a:noFill/>
          <a:ln w="38100">
            <a:noFill/>
          </a:ln>
        </p:spPr>
        <p:txBody>
          <a:bodyPr anchor="t" anchorCtr="0">
            <a:spAutoFit/>
          </a:bodyPr>
          <a:lstStyle/>
          <a:p>
            <a:pPr>
              <a:spcBef>
                <a:spcPct val="50000"/>
              </a:spcBef>
              <a:buClrTx/>
              <a:buFontTx/>
            </a:pPr>
            <a:r>
              <a:rPr lang="zh-CN" altLang="en-US" sz="2800" b="1" dirty="0">
                <a:solidFill>
                  <a:srgbClr val="FF0000"/>
                </a:solidFill>
                <a:latin typeface="Times New Roman" panose="02020603050405020304" pitchFamily="18" charset="0"/>
                <a:ea typeface="宋体" panose="02010600030101010101" pitchFamily="2" charset="-122"/>
              </a:rPr>
              <a:t>占用总线</a:t>
            </a:r>
          </a:p>
        </p:txBody>
      </p:sp>
      <p:sp>
        <p:nvSpPr>
          <p:cNvPr id="225289" name="Text Box 9"/>
          <p:cNvSpPr txBox="1"/>
          <p:nvPr/>
        </p:nvSpPr>
        <p:spPr>
          <a:xfrm>
            <a:off x="4953000" y="4086225"/>
            <a:ext cx="3048000" cy="522288"/>
          </a:xfrm>
          <a:prstGeom prst="rect">
            <a:avLst/>
          </a:prstGeom>
          <a:noFill/>
          <a:ln w="38100">
            <a:noFill/>
          </a:ln>
        </p:spPr>
        <p:txBody>
          <a:bodyPr anchor="t" anchorCtr="0">
            <a:spAutoFit/>
          </a:bodyPr>
          <a:lstStyle/>
          <a:p>
            <a:pPr>
              <a:spcBef>
                <a:spcPct val="50000"/>
              </a:spcBef>
              <a:buClrTx/>
              <a:buFontTx/>
            </a:pPr>
            <a:r>
              <a:rPr lang="zh-CN" altLang="en-US" sz="2800" b="1" dirty="0">
                <a:solidFill>
                  <a:srgbClr val="FF0000"/>
                </a:solidFill>
                <a:latin typeface="Times New Roman" panose="02020603050405020304" pitchFamily="18" charset="0"/>
                <a:ea typeface="宋体" panose="02010600030101010101" pitchFamily="2" charset="-122"/>
              </a:rPr>
              <a:t>不占用总线</a:t>
            </a:r>
          </a:p>
        </p:txBody>
      </p:sp>
      <p:sp>
        <p:nvSpPr>
          <p:cNvPr id="225290" name="Text Box 10"/>
          <p:cNvSpPr txBox="1"/>
          <p:nvPr/>
        </p:nvSpPr>
        <p:spPr>
          <a:xfrm>
            <a:off x="4953000" y="5000625"/>
            <a:ext cx="2743200" cy="522288"/>
          </a:xfrm>
          <a:prstGeom prst="rect">
            <a:avLst/>
          </a:prstGeom>
          <a:noFill/>
          <a:ln w="38100">
            <a:noFill/>
          </a:ln>
        </p:spPr>
        <p:txBody>
          <a:bodyPr anchor="t" anchorCtr="0">
            <a:spAutoFit/>
          </a:bodyPr>
          <a:lstStyle/>
          <a:p>
            <a:pPr>
              <a:spcBef>
                <a:spcPct val="50000"/>
              </a:spcBef>
              <a:buClrTx/>
              <a:buFontTx/>
            </a:pPr>
            <a:r>
              <a:rPr lang="zh-CN" altLang="en-US" sz="2800" b="1" dirty="0">
                <a:solidFill>
                  <a:srgbClr val="FF0000"/>
                </a:solidFill>
                <a:latin typeface="Times New Roman" panose="02020603050405020304" pitchFamily="18" charset="0"/>
                <a:ea typeface="宋体" panose="02010600030101010101" pitchFamily="2" charset="-122"/>
              </a:rPr>
              <a:t>占用总线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283"/>
                                        </p:tgtEl>
                                        <p:attrNameLst>
                                          <p:attrName>style.visibility</p:attrName>
                                        </p:attrNameLst>
                                      </p:cBhvr>
                                      <p:to>
                                        <p:strVal val="visible"/>
                                      </p:to>
                                    </p:set>
                                    <p:animEffect transition="in" filter="blinds(horizontal)">
                                      <p:cBhvr>
                                        <p:cTn id="7" dur="500"/>
                                        <p:tgtEl>
                                          <p:spTgt spid="2252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284"/>
                                        </p:tgtEl>
                                        <p:attrNameLst>
                                          <p:attrName>style.visibility</p:attrName>
                                        </p:attrNameLst>
                                      </p:cBhvr>
                                      <p:to>
                                        <p:strVal val="visible"/>
                                      </p:to>
                                    </p:set>
                                    <p:animEffect transition="in" filter="blinds(horizontal)">
                                      <p:cBhvr>
                                        <p:cTn id="12" dur="500"/>
                                        <p:tgtEl>
                                          <p:spTgt spid="2252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285"/>
                                        </p:tgtEl>
                                        <p:attrNameLst>
                                          <p:attrName>style.visibility</p:attrName>
                                        </p:attrNameLst>
                                      </p:cBhvr>
                                      <p:to>
                                        <p:strVal val="visible"/>
                                      </p:to>
                                    </p:set>
                                    <p:animEffect transition="in" filter="blinds(horizontal)">
                                      <p:cBhvr>
                                        <p:cTn id="17" dur="500"/>
                                        <p:tgtEl>
                                          <p:spTgt spid="22528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286"/>
                                        </p:tgtEl>
                                        <p:attrNameLst>
                                          <p:attrName>style.visibility</p:attrName>
                                        </p:attrNameLst>
                                      </p:cBhvr>
                                      <p:to>
                                        <p:strVal val="visible"/>
                                      </p:to>
                                    </p:set>
                                    <p:animEffect transition="in" filter="blinds(horizontal)">
                                      <p:cBhvr>
                                        <p:cTn id="22" dur="500"/>
                                        <p:tgtEl>
                                          <p:spTgt spid="22528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288"/>
                                        </p:tgtEl>
                                        <p:attrNameLst>
                                          <p:attrName>style.visibility</p:attrName>
                                        </p:attrNameLst>
                                      </p:cBhvr>
                                      <p:to>
                                        <p:strVal val="visible"/>
                                      </p:to>
                                    </p:set>
                                    <p:animEffect transition="in" filter="blinds(horizontal)">
                                      <p:cBhvr>
                                        <p:cTn id="27" dur="500"/>
                                        <p:tgtEl>
                                          <p:spTgt spid="22528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5289"/>
                                        </p:tgtEl>
                                        <p:attrNameLst>
                                          <p:attrName>style.visibility</p:attrName>
                                        </p:attrNameLst>
                                      </p:cBhvr>
                                      <p:to>
                                        <p:strVal val="visible"/>
                                      </p:to>
                                    </p:set>
                                    <p:animEffect transition="in" filter="blinds(horizontal)">
                                      <p:cBhvr>
                                        <p:cTn id="32" dur="500"/>
                                        <p:tgtEl>
                                          <p:spTgt spid="22528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5290"/>
                                        </p:tgtEl>
                                        <p:attrNameLst>
                                          <p:attrName>style.visibility</p:attrName>
                                        </p:attrNameLst>
                                      </p:cBhvr>
                                      <p:to>
                                        <p:strVal val="visible"/>
                                      </p:to>
                                    </p:set>
                                    <p:animEffect transition="in" filter="blinds(horizontal)">
                                      <p:cBhvr>
                                        <p:cTn id="37" dur="500"/>
                                        <p:tgtEl>
                                          <p:spTgt spid="225290"/>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225287"/>
                                        </p:tgtEl>
                                        <p:attrNameLst>
                                          <p:attrName>style.visibility</p:attrName>
                                        </p:attrNameLst>
                                      </p:cBhvr>
                                      <p:to>
                                        <p:strVal val="visible"/>
                                      </p:to>
                                    </p:set>
                                    <p:anim calcmode="lin" valueType="num">
                                      <p:cBhvr additive="base">
                                        <p:cTn id="42" dur="500" fill="hold"/>
                                        <p:tgtEl>
                                          <p:spTgt spid="225287"/>
                                        </p:tgtEl>
                                        <p:attrNameLst>
                                          <p:attrName>ppt_x</p:attrName>
                                        </p:attrNameLst>
                                      </p:cBhvr>
                                      <p:tavLst>
                                        <p:tav tm="0">
                                          <p:val>
                                            <p:strVal val="1+#ppt_w/2"/>
                                          </p:val>
                                        </p:tav>
                                        <p:tav tm="100000">
                                          <p:val>
                                            <p:strVal val="#ppt_x"/>
                                          </p:val>
                                        </p:tav>
                                      </p:tavLst>
                                    </p:anim>
                                    <p:anim calcmode="lin" valueType="num">
                                      <p:cBhvr additive="base">
                                        <p:cTn id="43" dur="500" fill="hold"/>
                                        <p:tgtEl>
                                          <p:spTgt spid="2252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p:bldP spid="225284" grpId="0"/>
      <p:bldP spid="225285" grpId="0"/>
      <p:bldP spid="225286" grpId="0"/>
      <p:bldP spid="225287" grpId="0"/>
      <p:bldP spid="225288" grpId="0"/>
      <p:bldP spid="225289" grpId="0"/>
      <p:bldP spid="22529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Text Box 2"/>
          <p:cNvSpPr txBox="1"/>
          <p:nvPr/>
        </p:nvSpPr>
        <p:spPr>
          <a:xfrm>
            <a:off x="441325" y="533400"/>
            <a:ext cx="2973705" cy="645160"/>
          </a:xfrm>
          <a:prstGeom prst="rect">
            <a:avLst/>
          </a:prstGeom>
          <a:noFill/>
          <a:ln w="9525">
            <a:noFill/>
          </a:ln>
        </p:spPr>
        <p:txBody>
          <a:bodyPr wrap="none" anchor="t" anchorCtr="0">
            <a:spAutoFit/>
          </a:bodyPr>
          <a:lstStyle/>
          <a:p>
            <a:pPr>
              <a:buClrTx/>
              <a:buFontTx/>
            </a:pPr>
            <a:r>
              <a:rPr lang="en-US" altLang="zh-CN" sz="3600" b="1" dirty="0">
                <a:latin typeface="Times New Roman" panose="02020603050405020304" pitchFamily="18" charset="0"/>
                <a:ea typeface="宋体" panose="02010600030101010101" pitchFamily="2" charset="-122"/>
              </a:rPr>
              <a:t>4) </a:t>
            </a:r>
            <a:r>
              <a:rPr lang="zh-CN" altLang="en-US" sz="3600" b="1" dirty="0">
                <a:latin typeface="Times New Roman" panose="02020603050405020304" pitchFamily="18" charset="0"/>
                <a:ea typeface="宋体" panose="02010600030101010101" pitchFamily="2" charset="-122"/>
              </a:rPr>
              <a:t>分离式通信</a:t>
            </a:r>
          </a:p>
        </p:txBody>
      </p:sp>
      <p:sp>
        <p:nvSpPr>
          <p:cNvPr id="226307" name="Text Box 3"/>
          <p:cNvSpPr txBox="1"/>
          <p:nvPr/>
        </p:nvSpPr>
        <p:spPr>
          <a:xfrm>
            <a:off x="939800" y="1447800"/>
            <a:ext cx="7213600" cy="584200"/>
          </a:xfrm>
          <a:prstGeom prst="rect">
            <a:avLst/>
          </a:prstGeom>
          <a:noFill/>
          <a:ln w="9525">
            <a:noFill/>
          </a:ln>
        </p:spPr>
        <p:txBody>
          <a:bodyPr anchor="t" anchorCtr="0">
            <a:spAutoFit/>
          </a:bodyPr>
          <a:lstStyle/>
          <a:p>
            <a:pPr>
              <a:buClrTx/>
              <a:buFontTx/>
            </a:pPr>
            <a:r>
              <a:rPr lang="zh-CN" altLang="en-US" sz="3200" b="1" dirty="0">
                <a:solidFill>
                  <a:srgbClr val="FF0000"/>
                </a:solidFill>
                <a:latin typeface="Times New Roman" panose="02020603050405020304" pitchFamily="18" charset="0"/>
                <a:ea typeface="宋体" panose="02010600030101010101" pitchFamily="2" charset="-122"/>
              </a:rPr>
              <a:t>充分挖掘系统总线每瞬间的潜力</a:t>
            </a:r>
          </a:p>
        </p:txBody>
      </p:sp>
      <p:grpSp>
        <p:nvGrpSpPr>
          <p:cNvPr id="226308" name="Group 4"/>
          <p:cNvGrpSpPr/>
          <p:nvPr/>
        </p:nvGrpSpPr>
        <p:grpSpPr>
          <a:xfrm>
            <a:off x="2819400" y="3124200"/>
            <a:ext cx="6324600" cy="1281113"/>
            <a:chOff x="1776" y="2112"/>
            <a:chExt cx="3984" cy="807"/>
          </a:xfrm>
        </p:grpSpPr>
        <p:sp>
          <p:nvSpPr>
            <p:cNvPr id="44036" name="Text Box 5"/>
            <p:cNvSpPr txBox="1"/>
            <p:nvPr/>
          </p:nvSpPr>
          <p:spPr>
            <a:xfrm>
              <a:off x="1776" y="2112"/>
              <a:ext cx="3984" cy="327"/>
            </a:xfrm>
            <a:prstGeom prst="rect">
              <a:avLst/>
            </a:prstGeom>
            <a:noFill/>
            <a:ln w="9525">
              <a:noFill/>
            </a:ln>
          </p:spPr>
          <p:txBody>
            <a:bodyPr anchor="t" anchorCtr="0">
              <a:spAutoFit/>
            </a:bodyPr>
            <a:lstStyle/>
            <a:p>
              <a:pPr>
                <a:buClrTx/>
                <a:buFontTx/>
              </a:pPr>
              <a:r>
                <a:rPr lang="zh-CN" altLang="en-US" sz="2800" b="1" dirty="0">
                  <a:solidFill>
                    <a:srgbClr val="FF0000"/>
                  </a:solidFill>
                  <a:latin typeface="Times New Roman" panose="02020603050405020304" pitchFamily="18" charset="0"/>
                  <a:ea typeface="宋体" panose="02010600030101010101" pitchFamily="2" charset="-122"/>
                </a:rPr>
                <a:t>主模块</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申请 </a:t>
              </a:r>
              <a:r>
                <a:rPr lang="zh-CN" altLang="en-US" sz="2800" b="1" dirty="0">
                  <a:solidFill>
                    <a:srgbClr val="FF0000"/>
                  </a:solidFill>
                  <a:latin typeface="Times New Roman" panose="02020603050405020304" pitchFamily="18" charset="0"/>
                  <a:ea typeface="宋体" panose="02010600030101010101" pitchFamily="2" charset="-122"/>
                </a:rPr>
                <a:t>占用总线</a:t>
              </a:r>
              <a:r>
                <a:rPr lang="zh-CN" altLang="en-US" sz="2800" b="1" dirty="0">
                  <a:latin typeface="Times New Roman" panose="02020603050405020304" pitchFamily="18" charset="0"/>
                  <a:ea typeface="宋体" panose="02010600030101010101" pitchFamily="2" charset="-122"/>
                </a:rPr>
                <a:t>，使用完后 </a:t>
              </a:r>
            </a:p>
          </p:txBody>
        </p:sp>
        <p:sp>
          <p:nvSpPr>
            <p:cNvPr id="44037" name="Text Box 6"/>
            <p:cNvSpPr txBox="1"/>
            <p:nvPr/>
          </p:nvSpPr>
          <p:spPr>
            <a:xfrm>
              <a:off x="1776" y="2592"/>
              <a:ext cx="3984" cy="327"/>
            </a:xfrm>
            <a:prstGeom prst="rect">
              <a:avLst/>
            </a:prstGeom>
            <a:noFill/>
            <a:ln w="9525">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即</a:t>
              </a:r>
              <a:r>
                <a:rPr lang="zh-CN" altLang="en-US" sz="2800" b="1" dirty="0">
                  <a:solidFill>
                    <a:srgbClr val="FF0000"/>
                  </a:solidFill>
                  <a:latin typeface="Times New Roman" panose="02020603050405020304" pitchFamily="18" charset="0"/>
                  <a:ea typeface="宋体" panose="02010600030101010101" pitchFamily="2" charset="-122"/>
                </a:rPr>
                <a:t> 放弃总线</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的使用权 </a:t>
              </a:r>
            </a:p>
          </p:txBody>
        </p:sp>
      </p:grpSp>
      <p:grpSp>
        <p:nvGrpSpPr>
          <p:cNvPr id="226311" name="Group 7"/>
          <p:cNvGrpSpPr/>
          <p:nvPr/>
        </p:nvGrpSpPr>
        <p:grpSpPr>
          <a:xfrm>
            <a:off x="2819400" y="4786313"/>
            <a:ext cx="6324600" cy="1204912"/>
            <a:chOff x="1776" y="3120"/>
            <a:chExt cx="3984" cy="759"/>
          </a:xfrm>
        </p:grpSpPr>
        <p:sp>
          <p:nvSpPr>
            <p:cNvPr id="44039" name="Text Box 8"/>
            <p:cNvSpPr txBox="1"/>
            <p:nvPr/>
          </p:nvSpPr>
          <p:spPr>
            <a:xfrm>
              <a:off x="1776" y="3120"/>
              <a:ext cx="3840" cy="327"/>
            </a:xfrm>
            <a:prstGeom prst="rect">
              <a:avLst/>
            </a:prstGeom>
            <a:noFill/>
            <a:ln w="9525">
              <a:noFill/>
            </a:ln>
          </p:spPr>
          <p:txBody>
            <a:bodyPr anchor="t" anchorCtr="0">
              <a:spAutoFit/>
            </a:bodyPr>
            <a:lstStyle/>
            <a:p>
              <a:pPr>
                <a:buClrTx/>
                <a:buFontTx/>
              </a:pPr>
              <a:r>
                <a:rPr lang="zh-CN" altLang="en-US" sz="2800" b="1" dirty="0">
                  <a:solidFill>
                    <a:srgbClr val="FF0000"/>
                  </a:solidFill>
                  <a:latin typeface="Times New Roman" panose="02020603050405020304" pitchFamily="18" charset="0"/>
                  <a:ea typeface="宋体" panose="02010600030101010101" pitchFamily="2" charset="-122"/>
                </a:rPr>
                <a:t>从模块</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申请 </a:t>
              </a:r>
              <a:r>
                <a:rPr lang="zh-CN" altLang="en-US" sz="2800" b="1" dirty="0">
                  <a:solidFill>
                    <a:srgbClr val="FF0000"/>
                  </a:solidFill>
                  <a:latin typeface="Times New Roman" panose="02020603050405020304" pitchFamily="18" charset="0"/>
                  <a:ea typeface="宋体" panose="02010600030101010101" pitchFamily="2" charset="-122"/>
                </a:rPr>
                <a:t>占用总线</a:t>
              </a:r>
              <a:r>
                <a:rPr lang="zh-CN" altLang="en-US" sz="2800" b="1" dirty="0">
                  <a:latin typeface="Times New Roman" panose="02020603050405020304" pitchFamily="18" charset="0"/>
                  <a:ea typeface="宋体" panose="02010600030101010101" pitchFamily="2" charset="-122"/>
                </a:rPr>
                <a:t>，将各种信</a:t>
              </a:r>
            </a:p>
          </p:txBody>
        </p:sp>
        <p:sp>
          <p:nvSpPr>
            <p:cNvPr id="44040" name="Text Box 9"/>
            <p:cNvSpPr txBox="1"/>
            <p:nvPr/>
          </p:nvSpPr>
          <p:spPr>
            <a:xfrm>
              <a:off x="1776" y="3552"/>
              <a:ext cx="3984" cy="327"/>
            </a:xfrm>
            <a:prstGeom prst="rect">
              <a:avLst/>
            </a:prstGeom>
            <a:noFill/>
            <a:ln w="9525">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息送至总线上</a:t>
              </a:r>
            </a:p>
          </p:txBody>
        </p:sp>
      </p:grpSp>
      <p:sp>
        <p:nvSpPr>
          <p:cNvPr id="226314" name="Text Box 10"/>
          <p:cNvSpPr txBox="1"/>
          <p:nvPr/>
        </p:nvSpPr>
        <p:spPr>
          <a:xfrm>
            <a:off x="939800" y="2286000"/>
            <a:ext cx="4267200" cy="584200"/>
          </a:xfrm>
          <a:prstGeom prst="rect">
            <a:avLst/>
          </a:prstGeom>
          <a:noFill/>
          <a:ln w="9525">
            <a:noFill/>
          </a:ln>
        </p:spPr>
        <p:txBody>
          <a:bodyPr anchor="t" anchorCtr="0">
            <a:spAutoFit/>
          </a:bodyPr>
          <a:lstStyle/>
          <a:p>
            <a:pPr>
              <a:buClrTx/>
              <a:buFontTx/>
            </a:pPr>
            <a:r>
              <a:rPr lang="zh-CN" altLang="en-US" sz="3200" b="1" dirty="0">
                <a:latin typeface="Times New Roman" panose="02020603050405020304" pitchFamily="18" charset="0"/>
                <a:ea typeface="宋体" panose="02010600030101010101" pitchFamily="2" charset="-122"/>
              </a:rPr>
              <a:t>一个总线传输周期 </a:t>
            </a:r>
          </a:p>
        </p:txBody>
      </p:sp>
      <p:sp>
        <p:nvSpPr>
          <p:cNvPr id="226315" name="Text Box 11"/>
          <p:cNvSpPr txBox="1"/>
          <p:nvPr/>
        </p:nvSpPr>
        <p:spPr>
          <a:xfrm>
            <a:off x="939800" y="3124200"/>
            <a:ext cx="1879600" cy="522288"/>
          </a:xfrm>
          <a:prstGeom prst="rect">
            <a:avLst/>
          </a:prstGeom>
          <a:noFill/>
          <a:ln w="9525">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子周期</a:t>
            </a:r>
            <a:r>
              <a:rPr lang="en-US" altLang="zh-CN" sz="2800" b="1" dirty="0">
                <a:latin typeface="Times New Roman" panose="02020603050405020304" pitchFamily="18" charset="0"/>
                <a:ea typeface="宋体" panose="02010600030101010101" pitchFamily="2" charset="-122"/>
              </a:rPr>
              <a:t>1</a:t>
            </a:r>
          </a:p>
        </p:txBody>
      </p:sp>
      <p:sp>
        <p:nvSpPr>
          <p:cNvPr id="226316" name="Text Box 12"/>
          <p:cNvSpPr txBox="1"/>
          <p:nvPr/>
        </p:nvSpPr>
        <p:spPr>
          <a:xfrm>
            <a:off x="939800" y="4772025"/>
            <a:ext cx="1955800" cy="522288"/>
          </a:xfrm>
          <a:prstGeom prst="rect">
            <a:avLst/>
          </a:prstGeom>
          <a:noFill/>
          <a:ln w="9525">
            <a:noFill/>
          </a:ln>
        </p:spPr>
        <p:txBody>
          <a:bodyPr anchor="t" anchorCtr="0">
            <a:spAutoFit/>
          </a:bodyPr>
          <a:lstStyle/>
          <a:p>
            <a:pPr>
              <a:buClrTx/>
              <a:buFontTx/>
            </a:pPr>
            <a:r>
              <a:rPr lang="zh-CN" altLang="en-US" sz="2800" b="1" dirty="0">
                <a:latin typeface="Times New Roman" panose="02020603050405020304" pitchFamily="18" charset="0"/>
                <a:ea typeface="宋体" panose="02010600030101010101" pitchFamily="2" charset="-122"/>
              </a:rPr>
              <a:t>子周期</a:t>
            </a:r>
            <a:r>
              <a:rPr lang="en-US" altLang="zh-CN" sz="2800" b="1" dirty="0">
                <a:latin typeface="Times New Roman" panose="02020603050405020304" pitchFamily="18" charset="0"/>
                <a:ea typeface="宋体" panose="02010600030101010101" pitchFamily="2" charset="-122"/>
              </a:rPr>
              <a:t>2</a:t>
            </a:r>
          </a:p>
        </p:txBody>
      </p:sp>
      <p:sp>
        <p:nvSpPr>
          <p:cNvPr id="226317" name="AutoShape 13"/>
          <p:cNvSpPr/>
          <p:nvPr/>
        </p:nvSpPr>
        <p:spPr>
          <a:xfrm>
            <a:off x="685800" y="3429000"/>
            <a:ext cx="228600" cy="1600200"/>
          </a:xfrm>
          <a:prstGeom prst="leftBrace">
            <a:avLst>
              <a:gd name="adj1" fmla="val 58106"/>
              <a:gd name="adj2" fmla="val 50000"/>
            </a:avLst>
          </a:prstGeom>
          <a:noFill/>
          <a:ln w="3810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nvGrpSpPr>
          <p:cNvPr id="226318" name="Group 14"/>
          <p:cNvGrpSpPr/>
          <p:nvPr/>
        </p:nvGrpSpPr>
        <p:grpSpPr>
          <a:xfrm>
            <a:off x="1411288" y="4791075"/>
            <a:ext cx="2627312" cy="1457325"/>
            <a:chOff x="889" y="2976"/>
            <a:chExt cx="1655" cy="918"/>
          </a:xfrm>
        </p:grpSpPr>
        <p:sp>
          <p:nvSpPr>
            <p:cNvPr id="44046" name="Text Box 15"/>
            <p:cNvSpPr txBox="1"/>
            <p:nvPr/>
          </p:nvSpPr>
          <p:spPr>
            <a:xfrm>
              <a:off x="889" y="3567"/>
              <a:ext cx="1031" cy="327"/>
            </a:xfrm>
            <a:prstGeom prst="rect">
              <a:avLst/>
            </a:prstGeom>
            <a:noFill/>
            <a:ln w="9525">
              <a:noFill/>
            </a:ln>
          </p:spPr>
          <p:txBody>
            <a:bodyPr anchor="t" anchorCtr="0">
              <a:spAutoFit/>
            </a:bodyPr>
            <a:lstStyle/>
            <a:p>
              <a:pPr>
                <a:buClrTx/>
                <a:buFontTx/>
              </a:pPr>
              <a:r>
                <a:rPr lang="zh-CN" altLang="en-US" sz="2800" b="1" dirty="0">
                  <a:solidFill>
                    <a:srgbClr val="FF0000"/>
                  </a:solidFill>
                  <a:latin typeface="Times New Roman" panose="02020603050405020304" pitchFamily="18" charset="0"/>
                  <a:ea typeface="宋体" panose="02010600030101010101" pitchFamily="2" charset="-122"/>
                </a:rPr>
                <a:t>主模块</a:t>
              </a:r>
            </a:p>
          </p:txBody>
        </p:sp>
        <p:sp>
          <p:nvSpPr>
            <p:cNvPr id="44047" name="AutoShape 16"/>
            <p:cNvSpPr/>
            <p:nvPr/>
          </p:nvSpPr>
          <p:spPr>
            <a:xfrm>
              <a:off x="1824" y="2976"/>
              <a:ext cx="720" cy="336"/>
            </a:xfrm>
            <a:prstGeom prst="wedgeRoundRectCallout">
              <a:avLst>
                <a:gd name="adj1" fmla="val -105000"/>
                <a:gd name="adj2" fmla="val 145833"/>
                <a:gd name="adj3" fmla="val 16667"/>
              </a:avLst>
            </a:prstGeom>
            <a:noFill/>
            <a:ln w="28575" cap="flat" cmpd="sng">
              <a:solidFill>
                <a:schemeClr val="hlink"/>
              </a:solidFill>
              <a:prstDash val="solid"/>
              <a:miter/>
              <a:headEnd type="none" w="med" len="med"/>
              <a:tailEnd type="none" w="med" len="med"/>
            </a:ln>
          </p:spPr>
          <p:txBody>
            <a:bodyPr anchor="t" anchorCtr="0"/>
            <a:lstStyle/>
            <a:p>
              <a:pPr algn="ctr">
                <a:buClrTx/>
                <a:buFontTx/>
              </a:pPr>
              <a:endParaRPr lang="zh-CN" altLang="zh-CN" sz="2800" b="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306"/>
                                        </p:tgtEl>
                                        <p:attrNameLst>
                                          <p:attrName>style.visibility</p:attrName>
                                        </p:attrNameLst>
                                      </p:cBhvr>
                                      <p:to>
                                        <p:strVal val="visible"/>
                                      </p:to>
                                    </p:set>
                                    <p:animEffect transition="in" filter="blinds(horizontal)">
                                      <p:cBhvr>
                                        <p:cTn id="7" dur="500"/>
                                        <p:tgtEl>
                                          <p:spTgt spid="2263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6307"/>
                                        </p:tgtEl>
                                        <p:attrNameLst>
                                          <p:attrName>style.visibility</p:attrName>
                                        </p:attrNameLst>
                                      </p:cBhvr>
                                      <p:to>
                                        <p:strVal val="visible"/>
                                      </p:to>
                                    </p:set>
                                    <p:animEffect transition="in" filter="blinds(horizontal)">
                                      <p:cBhvr>
                                        <p:cTn id="12" dur="500"/>
                                        <p:tgtEl>
                                          <p:spTgt spid="22630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6314"/>
                                        </p:tgtEl>
                                        <p:attrNameLst>
                                          <p:attrName>style.visibility</p:attrName>
                                        </p:attrNameLst>
                                      </p:cBhvr>
                                      <p:to>
                                        <p:strVal val="visible"/>
                                      </p:to>
                                    </p:set>
                                    <p:animEffect transition="in" filter="blinds(horizontal)">
                                      <p:cBhvr>
                                        <p:cTn id="17" dur="500"/>
                                        <p:tgtEl>
                                          <p:spTgt spid="2263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6317"/>
                                        </p:tgtEl>
                                        <p:attrNameLst>
                                          <p:attrName>style.visibility</p:attrName>
                                        </p:attrNameLst>
                                      </p:cBhvr>
                                      <p:to>
                                        <p:strVal val="visible"/>
                                      </p:to>
                                    </p:set>
                                    <p:animEffect transition="in" filter="blinds(horizontal)">
                                      <p:cBhvr>
                                        <p:cTn id="22" dur="500"/>
                                        <p:tgtEl>
                                          <p:spTgt spid="226317"/>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26315"/>
                                        </p:tgtEl>
                                        <p:attrNameLst>
                                          <p:attrName>style.visibility</p:attrName>
                                        </p:attrNameLst>
                                      </p:cBhvr>
                                      <p:to>
                                        <p:strVal val="visible"/>
                                      </p:to>
                                    </p:set>
                                    <p:animEffect transition="in" filter="blinds(horizontal)">
                                      <p:cBhvr>
                                        <p:cTn id="25" dur="500"/>
                                        <p:tgtEl>
                                          <p:spTgt spid="226315"/>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26316"/>
                                        </p:tgtEl>
                                        <p:attrNameLst>
                                          <p:attrName>style.visibility</p:attrName>
                                        </p:attrNameLst>
                                      </p:cBhvr>
                                      <p:to>
                                        <p:strVal val="visible"/>
                                      </p:to>
                                    </p:set>
                                    <p:animEffect transition="in" filter="blinds(horizontal)">
                                      <p:cBhvr>
                                        <p:cTn id="28" dur="500"/>
                                        <p:tgtEl>
                                          <p:spTgt spid="22631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26308"/>
                                        </p:tgtEl>
                                        <p:attrNameLst>
                                          <p:attrName>style.visibility</p:attrName>
                                        </p:attrNameLst>
                                      </p:cBhvr>
                                      <p:to>
                                        <p:strVal val="visible"/>
                                      </p:to>
                                    </p:set>
                                    <p:animEffect transition="in" filter="blinds(horizontal)">
                                      <p:cBhvr>
                                        <p:cTn id="33" dur="500"/>
                                        <p:tgtEl>
                                          <p:spTgt spid="226308"/>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26311"/>
                                        </p:tgtEl>
                                        <p:attrNameLst>
                                          <p:attrName>style.visibility</p:attrName>
                                        </p:attrNameLst>
                                      </p:cBhvr>
                                      <p:to>
                                        <p:strVal val="visible"/>
                                      </p:to>
                                    </p:set>
                                    <p:animEffect transition="in" filter="blinds(horizontal)">
                                      <p:cBhvr>
                                        <p:cTn id="38" dur="500"/>
                                        <p:tgtEl>
                                          <p:spTgt spid="22631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26318"/>
                                        </p:tgtEl>
                                        <p:attrNameLst>
                                          <p:attrName>style.visibility</p:attrName>
                                        </p:attrNameLst>
                                      </p:cBhvr>
                                      <p:to>
                                        <p:strVal val="visible"/>
                                      </p:to>
                                    </p:set>
                                    <p:animEffect transition="in" filter="blinds(horizontal)">
                                      <p:cBhvr>
                                        <p:cTn id="43" dur="500"/>
                                        <p:tgtEl>
                                          <p:spTgt spid="226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p:bldP spid="226307" grpId="0"/>
      <p:bldP spid="226314" grpId="0"/>
      <p:bldP spid="226315" grpId="0"/>
      <p:bldP spid="226316" grpId="0"/>
      <p:bldP spid="22631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Text Box 3"/>
          <p:cNvSpPr txBox="1"/>
          <p:nvPr/>
        </p:nvSpPr>
        <p:spPr>
          <a:xfrm>
            <a:off x="1219200" y="1676400"/>
            <a:ext cx="6934200" cy="584200"/>
          </a:xfrm>
          <a:prstGeom prst="rect">
            <a:avLst/>
          </a:prstGeom>
          <a:noFill/>
          <a:ln w="9525">
            <a:noFill/>
          </a:ln>
        </p:spPr>
        <p:txBody>
          <a:bodyPr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1. </a:t>
            </a:r>
            <a:r>
              <a:rPr lang="zh-CN" altLang="en-US" sz="3200" b="1" dirty="0">
                <a:latin typeface="Times New Roman" panose="02020603050405020304" pitchFamily="18" charset="0"/>
                <a:ea typeface="宋体" panose="02010600030101010101" pitchFamily="2" charset="-122"/>
              </a:rPr>
              <a:t>各模块有权申请占用总线</a:t>
            </a:r>
          </a:p>
        </p:txBody>
      </p:sp>
      <p:sp>
        <p:nvSpPr>
          <p:cNvPr id="227332" name="Text Box 4"/>
          <p:cNvSpPr txBox="1"/>
          <p:nvPr/>
        </p:nvSpPr>
        <p:spPr>
          <a:xfrm>
            <a:off x="669925" y="577850"/>
            <a:ext cx="5121275" cy="644525"/>
          </a:xfrm>
          <a:prstGeom prst="rect">
            <a:avLst/>
          </a:prstGeom>
          <a:noFill/>
          <a:ln w="9525">
            <a:noFill/>
          </a:ln>
        </p:spPr>
        <p:txBody>
          <a:bodyPr anchor="t" anchorCtr="0">
            <a:spAutoFit/>
          </a:bodyPr>
          <a:lstStyle/>
          <a:p>
            <a:pPr>
              <a:buClrTx/>
              <a:buFontTx/>
            </a:pPr>
            <a:r>
              <a:rPr lang="zh-CN" altLang="en-US" sz="3600" b="1" dirty="0">
                <a:latin typeface="Times New Roman" panose="02020603050405020304" pitchFamily="18" charset="0"/>
                <a:ea typeface="宋体" panose="02010600030101010101" pitchFamily="2" charset="-122"/>
              </a:rPr>
              <a:t>分离式通信特点</a:t>
            </a:r>
          </a:p>
        </p:txBody>
      </p:sp>
      <p:sp>
        <p:nvSpPr>
          <p:cNvPr id="227333" name="Text Box 5"/>
          <p:cNvSpPr txBox="1"/>
          <p:nvPr/>
        </p:nvSpPr>
        <p:spPr>
          <a:xfrm>
            <a:off x="1219200" y="5257800"/>
            <a:ext cx="7391400" cy="584200"/>
          </a:xfrm>
          <a:prstGeom prst="rect">
            <a:avLst/>
          </a:prstGeom>
          <a:noFill/>
          <a:ln w="9525">
            <a:noFill/>
          </a:ln>
        </p:spPr>
        <p:txBody>
          <a:bodyPr anchor="t" anchorCtr="0">
            <a:spAutoFit/>
          </a:bodyPr>
          <a:lstStyle/>
          <a:p>
            <a:pPr>
              <a:spcBef>
                <a:spcPct val="50000"/>
              </a:spcBef>
              <a:buClrTx/>
              <a:buFontTx/>
            </a:pPr>
            <a:r>
              <a:rPr lang="zh-CN" altLang="en-US" sz="3200" b="1" dirty="0">
                <a:solidFill>
                  <a:srgbClr val="FF0000"/>
                </a:solidFill>
                <a:latin typeface="Times New Roman" panose="02020603050405020304" pitchFamily="18" charset="0"/>
                <a:ea typeface="宋体" panose="02010600030101010101" pitchFamily="2" charset="-122"/>
              </a:rPr>
              <a:t>充分发挥了总线的有效占用</a:t>
            </a:r>
          </a:p>
        </p:txBody>
      </p:sp>
      <p:sp>
        <p:nvSpPr>
          <p:cNvPr id="227334" name="Text Box 6"/>
          <p:cNvSpPr txBox="1"/>
          <p:nvPr/>
        </p:nvSpPr>
        <p:spPr>
          <a:xfrm>
            <a:off x="1219200" y="2571750"/>
            <a:ext cx="7543800" cy="584200"/>
          </a:xfrm>
          <a:prstGeom prst="rect">
            <a:avLst/>
          </a:prstGeom>
          <a:noFill/>
          <a:ln w="9525">
            <a:noFill/>
          </a:ln>
        </p:spPr>
        <p:txBody>
          <a:bodyPr anchor="t" anchorCtr="0">
            <a:spAutoFit/>
          </a:bodyPr>
          <a:lstStyle/>
          <a:p>
            <a:pPr>
              <a:spcBef>
                <a:spcPct val="50000"/>
              </a:spcBef>
              <a:buClrTx/>
              <a:buFontTx/>
            </a:pPr>
            <a:r>
              <a:rPr lang="en-US" altLang="zh-CN" sz="3200" b="1" dirty="0">
                <a:latin typeface="Times New Roman" panose="02020603050405020304" pitchFamily="18" charset="0"/>
                <a:ea typeface="宋体" panose="02010600030101010101" pitchFamily="2" charset="-122"/>
              </a:rPr>
              <a:t>2. </a:t>
            </a:r>
            <a:r>
              <a:rPr lang="zh-CN" altLang="en-US" sz="3200" b="1" dirty="0">
                <a:latin typeface="Times New Roman" panose="02020603050405020304" pitchFamily="18" charset="0"/>
                <a:ea typeface="宋体" panose="02010600030101010101" pitchFamily="2" charset="-122"/>
              </a:rPr>
              <a:t>采用同步方式通信，不等对方回答</a:t>
            </a:r>
          </a:p>
        </p:txBody>
      </p:sp>
      <p:sp>
        <p:nvSpPr>
          <p:cNvPr id="227335" name="Text Box 7"/>
          <p:cNvSpPr txBox="1"/>
          <p:nvPr/>
        </p:nvSpPr>
        <p:spPr>
          <a:xfrm>
            <a:off x="1219200" y="3467100"/>
            <a:ext cx="7543800" cy="584200"/>
          </a:xfrm>
          <a:prstGeom prst="rect">
            <a:avLst/>
          </a:prstGeom>
          <a:noFill/>
          <a:ln w="9525">
            <a:noFill/>
          </a:ln>
        </p:spPr>
        <p:txBody>
          <a:bodyPr anchor="t" anchorCtr="0">
            <a:spAutoFit/>
          </a:bodyPr>
          <a:lstStyle/>
          <a:p>
            <a:pPr>
              <a:spcBef>
                <a:spcPct val="50000"/>
              </a:spcBef>
              <a:buClrTx/>
              <a:buFontTx/>
            </a:pPr>
            <a:r>
              <a:rPr lang="en-US" altLang="zh-CN" sz="3200" b="1" dirty="0">
                <a:latin typeface="Times New Roman" panose="02020603050405020304" pitchFamily="18" charset="0"/>
                <a:ea typeface="宋体" panose="02010600030101010101" pitchFamily="2" charset="-122"/>
              </a:rPr>
              <a:t>3. </a:t>
            </a:r>
            <a:r>
              <a:rPr lang="zh-CN" altLang="en-US" sz="3200" b="1" dirty="0">
                <a:latin typeface="Times New Roman" panose="02020603050405020304" pitchFamily="18" charset="0"/>
                <a:ea typeface="宋体" panose="02010600030101010101" pitchFamily="2" charset="-122"/>
              </a:rPr>
              <a:t>各模块准备数据时，不占用总线</a:t>
            </a:r>
          </a:p>
        </p:txBody>
      </p:sp>
      <p:sp>
        <p:nvSpPr>
          <p:cNvPr id="227336" name="Text Box 8"/>
          <p:cNvSpPr txBox="1"/>
          <p:nvPr/>
        </p:nvSpPr>
        <p:spPr>
          <a:xfrm>
            <a:off x="1219200" y="4362450"/>
            <a:ext cx="7543800" cy="584200"/>
          </a:xfrm>
          <a:prstGeom prst="rect">
            <a:avLst/>
          </a:prstGeom>
          <a:noFill/>
          <a:ln w="9525">
            <a:noFill/>
          </a:ln>
        </p:spPr>
        <p:txBody>
          <a:bodyPr anchor="t" anchorCtr="0">
            <a:spAutoFit/>
          </a:bodyPr>
          <a:lstStyle/>
          <a:p>
            <a:pPr>
              <a:buClrTx/>
              <a:buFontTx/>
            </a:pPr>
            <a:r>
              <a:rPr lang="en-US" altLang="zh-CN" sz="3200" b="1" dirty="0">
                <a:latin typeface="Times New Roman" panose="02020603050405020304" pitchFamily="18" charset="0"/>
                <a:ea typeface="宋体" panose="02010600030101010101" pitchFamily="2" charset="-122"/>
              </a:rPr>
              <a:t>4. </a:t>
            </a:r>
            <a:r>
              <a:rPr lang="zh-CN" altLang="en-US" sz="3200" b="1" dirty="0">
                <a:latin typeface="Times New Roman" panose="02020603050405020304" pitchFamily="18" charset="0"/>
                <a:ea typeface="宋体" panose="02010600030101010101" pitchFamily="2" charset="-122"/>
              </a:rPr>
              <a:t>总线被占用时，无空闲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blinds(horizontal)">
                                      <p:cBhvr>
                                        <p:cTn id="7" dur="500"/>
                                        <p:tgtEl>
                                          <p:spTgt spid="2273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7331"/>
                                        </p:tgtEl>
                                        <p:attrNameLst>
                                          <p:attrName>style.visibility</p:attrName>
                                        </p:attrNameLst>
                                      </p:cBhvr>
                                      <p:to>
                                        <p:strVal val="visible"/>
                                      </p:to>
                                    </p:set>
                                    <p:animEffect transition="in" filter="blinds(horizontal)">
                                      <p:cBhvr>
                                        <p:cTn id="12" dur="500"/>
                                        <p:tgtEl>
                                          <p:spTgt spid="2273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7334"/>
                                        </p:tgtEl>
                                        <p:attrNameLst>
                                          <p:attrName>style.visibility</p:attrName>
                                        </p:attrNameLst>
                                      </p:cBhvr>
                                      <p:to>
                                        <p:strVal val="visible"/>
                                      </p:to>
                                    </p:set>
                                    <p:animEffect transition="in" filter="blinds(horizontal)">
                                      <p:cBhvr>
                                        <p:cTn id="17" dur="500"/>
                                        <p:tgtEl>
                                          <p:spTgt spid="22733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7335"/>
                                        </p:tgtEl>
                                        <p:attrNameLst>
                                          <p:attrName>style.visibility</p:attrName>
                                        </p:attrNameLst>
                                      </p:cBhvr>
                                      <p:to>
                                        <p:strVal val="visible"/>
                                      </p:to>
                                    </p:set>
                                    <p:animEffect transition="in" filter="blinds(horizontal)">
                                      <p:cBhvr>
                                        <p:cTn id="22" dur="500"/>
                                        <p:tgtEl>
                                          <p:spTgt spid="22733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7336"/>
                                        </p:tgtEl>
                                        <p:attrNameLst>
                                          <p:attrName>style.visibility</p:attrName>
                                        </p:attrNameLst>
                                      </p:cBhvr>
                                      <p:to>
                                        <p:strVal val="visible"/>
                                      </p:to>
                                    </p:set>
                                    <p:animEffect transition="in" filter="blinds(horizontal)">
                                      <p:cBhvr>
                                        <p:cTn id="27" dur="500"/>
                                        <p:tgtEl>
                                          <p:spTgt spid="22733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7333"/>
                                        </p:tgtEl>
                                        <p:attrNameLst>
                                          <p:attrName>style.visibility</p:attrName>
                                        </p:attrNameLst>
                                      </p:cBhvr>
                                      <p:to>
                                        <p:strVal val="visible"/>
                                      </p:to>
                                    </p:set>
                                    <p:animEffect transition="in" filter="blinds(horizontal)">
                                      <p:cBhvr>
                                        <p:cTn id="32" dur="500"/>
                                        <p:tgtEl>
                                          <p:spTgt spid="227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p:bldP spid="227332" grpId="0"/>
      <p:bldP spid="227333" grpId="0"/>
      <p:bldP spid="227334" grpId="0"/>
      <p:bldP spid="227335" grpId="0"/>
      <p:bldP spid="2273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6" name="Text Box 4"/>
          <p:cNvSpPr txBox="1"/>
          <p:nvPr/>
        </p:nvSpPr>
        <p:spPr>
          <a:xfrm>
            <a:off x="228600" y="762000"/>
            <a:ext cx="8534400" cy="2306638"/>
          </a:xfrm>
          <a:prstGeom prst="rect">
            <a:avLst/>
          </a:prstGeom>
          <a:noFill/>
          <a:ln w="9525">
            <a:noFill/>
          </a:ln>
        </p:spPr>
        <p:txBody>
          <a:bodyPr anchor="t" anchorCtr="0">
            <a:spAutoFit/>
          </a:bodyPr>
          <a:lstStyle/>
          <a:p>
            <a:pPr>
              <a:buClrTx/>
              <a:buFontTx/>
            </a:pPr>
            <a:r>
              <a:rPr lang="zh-CN" altLang="en-US" sz="3200" b="1">
                <a:latin typeface="Arial" panose="020B0604020202020204" pitchFamily="34" charset="0"/>
                <a:ea typeface="宋体" panose="02010600030101010101" pitchFamily="2" charset="-122"/>
              </a:rPr>
              <a:t>一、单总线结构</a:t>
            </a:r>
            <a:endParaRPr lang="zh-CN" altLang="en-US" sz="3200">
              <a:latin typeface="Arial" panose="020B0604020202020204" pitchFamily="34" charset="0"/>
              <a:ea typeface="宋体" panose="02010600030101010101" pitchFamily="2" charset="-122"/>
            </a:endParaRPr>
          </a:p>
          <a:p>
            <a:pPr>
              <a:buClrTx/>
              <a:buFontTx/>
            </a:pPr>
            <a:r>
              <a:rPr lang="zh-CN" altLang="en-US" sz="2800">
                <a:latin typeface="Arial" panose="020B0604020202020204" pitchFamily="34" charset="0"/>
                <a:ea typeface="宋体" panose="02010600030101010101" pitchFamily="2" charset="-122"/>
              </a:rPr>
              <a:t>        </a:t>
            </a:r>
            <a:r>
              <a:rPr lang="zh-CN" altLang="en-US" sz="2800" b="1">
                <a:latin typeface="Arial" panose="020B0604020202020204" pitchFamily="34" charset="0"/>
                <a:ea typeface="宋体" panose="02010600030101010101" pitchFamily="2" charset="-122"/>
              </a:rPr>
              <a:t>系统中使用唯一的一组总线（包括数据总线，地址总线，控制总线）连接所有的部件和设备。早期的小型机、微型机常采用这种结构，如 美国 </a:t>
            </a:r>
            <a:r>
              <a:rPr lang="en-US" altLang="zh-CN" sz="2800" b="1">
                <a:latin typeface="Arial" panose="020B0604020202020204" pitchFamily="34" charset="0"/>
                <a:ea typeface="宋体" panose="02010600030101010101" pitchFamily="2" charset="-122"/>
              </a:rPr>
              <a:t>DEC </a:t>
            </a:r>
            <a:r>
              <a:rPr lang="zh-CN" altLang="en-US" sz="2800" b="1">
                <a:latin typeface="Arial" panose="020B0604020202020204" pitchFamily="34" charset="0"/>
                <a:ea typeface="宋体" panose="02010600030101010101" pitchFamily="2" charset="-122"/>
              </a:rPr>
              <a:t>公司的</a:t>
            </a:r>
            <a:r>
              <a:rPr lang="en-US" altLang="zh-CN" sz="2800" b="1">
                <a:latin typeface="Arial" panose="020B0604020202020204" pitchFamily="34" charset="0"/>
                <a:ea typeface="宋体" panose="02010600030101010101" pitchFamily="2" charset="-122"/>
              </a:rPr>
              <a:t>PDP-11 </a:t>
            </a:r>
            <a:r>
              <a:rPr lang="zh-CN" altLang="en-US" sz="2800" b="1">
                <a:latin typeface="Arial" panose="020B0604020202020204" pitchFamily="34" charset="0"/>
                <a:ea typeface="宋体" panose="02010600030101010101" pitchFamily="2" charset="-122"/>
              </a:rPr>
              <a:t>机。</a:t>
            </a:r>
          </a:p>
        </p:txBody>
      </p:sp>
      <p:pic>
        <p:nvPicPr>
          <p:cNvPr id="228357" name="Picture 5" descr=" Dennis Ritchie and Ken Thompson at a PDP-11"/>
          <p:cNvPicPr>
            <a:picLocks noChangeAspect="1"/>
          </p:cNvPicPr>
          <p:nvPr/>
        </p:nvPicPr>
        <p:blipFill>
          <a:blip r:embed="rId3"/>
          <a:stretch>
            <a:fillRect/>
          </a:stretch>
        </p:blipFill>
        <p:spPr>
          <a:xfrm>
            <a:off x="228600" y="3048000"/>
            <a:ext cx="4495800" cy="3598863"/>
          </a:xfrm>
          <a:prstGeom prst="rect">
            <a:avLst/>
          </a:prstGeom>
          <a:noFill/>
          <a:ln w="9525">
            <a:noFill/>
          </a:ln>
        </p:spPr>
      </p:pic>
      <p:sp>
        <p:nvSpPr>
          <p:cNvPr id="46083" name="Text Box 6"/>
          <p:cNvSpPr txBox="1"/>
          <p:nvPr/>
        </p:nvSpPr>
        <p:spPr>
          <a:xfrm>
            <a:off x="2895600" y="152400"/>
            <a:ext cx="4800600" cy="644525"/>
          </a:xfrm>
          <a:prstGeom prst="rect">
            <a:avLst/>
          </a:prstGeom>
          <a:noFill/>
          <a:ln w="9525">
            <a:noFill/>
          </a:ln>
        </p:spPr>
        <p:txBody>
          <a:bodyPr anchor="t" anchorCtr="0">
            <a:spAutoFit/>
          </a:bodyPr>
          <a:lstStyle/>
          <a:p>
            <a:pPr>
              <a:spcBef>
                <a:spcPct val="50000"/>
              </a:spcBef>
              <a:buClrTx/>
              <a:buFontTx/>
            </a:pPr>
            <a:r>
              <a:rPr lang="en-US" altLang="zh-CN" sz="3600" b="1">
                <a:solidFill>
                  <a:srgbClr val="FF0000"/>
                </a:solidFill>
                <a:latin typeface="Arial" panose="020B0604020202020204" pitchFamily="34" charset="0"/>
                <a:ea typeface="宋体" panose="02010600030101010101" pitchFamily="2" charset="-122"/>
              </a:rPr>
              <a:t>3.3 </a:t>
            </a:r>
            <a:r>
              <a:rPr lang="zh-CN" altLang="en-US" sz="3600" b="1">
                <a:solidFill>
                  <a:srgbClr val="FF0000"/>
                </a:solidFill>
                <a:latin typeface="Arial" panose="020B0604020202020204" pitchFamily="34" charset="0"/>
                <a:ea typeface="宋体" panose="02010600030101010101" pitchFamily="2" charset="-122"/>
              </a:rPr>
              <a:t>总线结构</a:t>
            </a:r>
          </a:p>
        </p:txBody>
      </p:sp>
      <p:sp>
        <p:nvSpPr>
          <p:cNvPr id="228359" name="Text Box 7"/>
          <p:cNvSpPr txBox="1"/>
          <p:nvPr/>
        </p:nvSpPr>
        <p:spPr>
          <a:xfrm>
            <a:off x="4953000" y="3048000"/>
            <a:ext cx="3962400" cy="2306638"/>
          </a:xfrm>
          <a:prstGeom prst="rect">
            <a:avLst/>
          </a:prstGeom>
          <a:noFill/>
          <a:ln w="9525">
            <a:noFill/>
          </a:ln>
        </p:spPr>
        <p:txBody>
          <a:bodyPr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这是</a:t>
            </a:r>
            <a:r>
              <a:rPr lang="en-US" altLang="zh-CN" sz="2400" b="1" dirty="0">
                <a:solidFill>
                  <a:srgbClr val="FF0000"/>
                </a:solidFill>
                <a:latin typeface="Arial" panose="020B0604020202020204" pitchFamily="34" charset="0"/>
                <a:ea typeface="宋体" panose="02010600030101010101" pitchFamily="2" charset="-122"/>
                <a:hlinkClick r:id="rId4" tooltip="Dennis Ritchie"/>
              </a:rPr>
              <a:t>Dennis Ritchie</a:t>
            </a:r>
            <a:r>
              <a:rPr lang="en-US" altLang="zh-CN" sz="2400" b="1" dirty="0">
                <a:solidFill>
                  <a:srgbClr val="FF0000"/>
                </a:solidFill>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（站）和 </a:t>
            </a:r>
            <a:r>
              <a:rPr lang="en-US" altLang="zh-CN" sz="2400" b="1" dirty="0">
                <a:solidFill>
                  <a:srgbClr val="FF0000"/>
                </a:solidFill>
                <a:latin typeface="Arial" panose="020B0604020202020204" pitchFamily="34" charset="0"/>
                <a:ea typeface="宋体" panose="02010600030101010101" pitchFamily="2" charset="-122"/>
                <a:hlinkClick r:id="rId5" tooltip="Ken Thompson"/>
              </a:rPr>
              <a:t>Ken Thompson</a:t>
            </a:r>
            <a:r>
              <a:rPr lang="en-US" altLang="zh-CN" sz="2400" b="1" dirty="0">
                <a:solidFill>
                  <a:srgbClr val="FF0000"/>
                </a:solidFill>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（坐）在一台 </a:t>
            </a:r>
            <a:r>
              <a:rPr lang="en-US" altLang="zh-CN" sz="2400" b="1" dirty="0">
                <a:latin typeface="Arial" panose="020B0604020202020204" pitchFamily="34" charset="0"/>
                <a:ea typeface="宋体" panose="02010600030101010101" pitchFamily="2" charset="-122"/>
              </a:rPr>
              <a:t>PDP-11</a:t>
            </a:r>
            <a:r>
              <a:rPr lang="zh-CN" altLang="en-US" sz="2400" b="1" dirty="0">
                <a:latin typeface="Arial" panose="020B0604020202020204" pitchFamily="34" charset="0"/>
                <a:ea typeface="宋体" panose="02010600030101010101" pitchFamily="2" charset="-122"/>
              </a:rPr>
              <a:t>前的照片， 两人共同开发了</a:t>
            </a:r>
            <a:r>
              <a:rPr lang="en-US" altLang="zh-CN" sz="2400" b="1" dirty="0">
                <a:latin typeface="Arial" panose="020B0604020202020204" pitchFamily="34" charset="0"/>
                <a:ea typeface="宋体" panose="02010600030101010101" pitchFamily="2" charset="-122"/>
              </a:rPr>
              <a:t>UNIX</a:t>
            </a:r>
            <a:r>
              <a:rPr lang="zh-CN" altLang="en-US" sz="2400" b="1" dirty="0">
                <a:latin typeface="Arial" panose="020B0604020202020204" pitchFamily="34" charset="0"/>
                <a:ea typeface="宋体" panose="02010600030101010101" pitchFamily="2" charset="-122"/>
              </a:rPr>
              <a:t>操作系统，获得了</a:t>
            </a:r>
            <a:r>
              <a:rPr lang="en-US" altLang="zh-CN" sz="2400" b="1" dirty="0">
                <a:latin typeface="Arial" panose="020B0604020202020204" pitchFamily="34" charset="0"/>
                <a:ea typeface="宋体" panose="02010600030101010101" pitchFamily="2" charset="-122"/>
              </a:rPr>
              <a:t>1983</a:t>
            </a:r>
            <a:r>
              <a:rPr lang="zh-CN" altLang="en-US" sz="2400" b="1" dirty="0">
                <a:latin typeface="Arial" panose="020B0604020202020204" pitchFamily="34" charset="0"/>
                <a:ea typeface="宋体" panose="02010600030101010101" pitchFamily="2" charset="-122"/>
              </a:rPr>
              <a:t>年的图灵奖。前者还开发了</a:t>
            </a:r>
            <a:r>
              <a:rPr lang="en-US" altLang="zh-CN" sz="2400" b="1" dirty="0">
                <a:latin typeface="Arial" panose="020B0604020202020204" pitchFamily="34" charset="0"/>
                <a:ea typeface="宋体" panose="02010600030101010101" pitchFamily="2" charset="-122"/>
              </a:rPr>
              <a:t>C</a:t>
            </a:r>
            <a:r>
              <a:rPr lang="zh-CN" altLang="en-US" sz="2400" b="1" dirty="0">
                <a:latin typeface="Arial" panose="020B0604020202020204" pitchFamily="34" charset="0"/>
                <a:ea typeface="宋体" panose="02010600030101010101" pitchFamily="2" charset="-122"/>
              </a:rPr>
              <a:t>语言。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8356"/>
                                        </p:tgtEl>
                                        <p:attrNameLst>
                                          <p:attrName>style.visibility</p:attrName>
                                        </p:attrNameLst>
                                      </p:cBhvr>
                                      <p:to>
                                        <p:strVal val="visible"/>
                                      </p:to>
                                    </p:set>
                                    <p:animEffect transition="in" filter="blinds(horizontal)">
                                      <p:cBhvr>
                                        <p:cTn id="7" dur="500"/>
                                        <p:tgtEl>
                                          <p:spTgt spid="2283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blinds(horizontal)">
                                      <p:cBhvr>
                                        <p:cTn id="12" dur="500"/>
                                        <p:tgtEl>
                                          <p:spTgt spid="22835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8359"/>
                                        </p:tgtEl>
                                        <p:attrNameLst>
                                          <p:attrName>style.visibility</p:attrName>
                                        </p:attrNameLst>
                                      </p:cBhvr>
                                      <p:to>
                                        <p:strVal val="visible"/>
                                      </p:to>
                                    </p:set>
                                    <p:animEffect transition="in" filter="blinds(horizontal)">
                                      <p:cBhvr>
                                        <p:cTn id="17" dur="500"/>
                                        <p:tgtEl>
                                          <p:spTgt spid="228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bldLvl="0" animBg="1"/>
      <p:bldP spid="22835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Text Box 2"/>
          <p:cNvSpPr txBox="1"/>
          <p:nvPr/>
        </p:nvSpPr>
        <p:spPr>
          <a:xfrm>
            <a:off x="304800" y="4191000"/>
            <a:ext cx="8686800" cy="1814513"/>
          </a:xfrm>
          <a:prstGeom prst="rect">
            <a:avLst/>
          </a:prstGeom>
          <a:noFill/>
          <a:ln w="9525">
            <a:noFill/>
          </a:ln>
        </p:spPr>
        <p:txBody>
          <a:bodyPr anchor="t" anchorCtr="0">
            <a:spAutoFit/>
          </a:bodyPr>
          <a:lstStyle/>
          <a:p>
            <a:pPr marL="342900" indent="-342900">
              <a:buClrTx/>
              <a:buFontTx/>
            </a:pPr>
            <a:r>
              <a:rPr lang="zh-CN" altLang="en-US" sz="2800" b="1" dirty="0">
                <a:latin typeface="Arial" panose="020B0604020202020204" pitchFamily="34" charset="0"/>
                <a:ea typeface="宋体" panose="02010600030101010101" pitchFamily="2" charset="-122"/>
              </a:rPr>
              <a:t>特点：</a:t>
            </a:r>
            <a:r>
              <a:rPr lang="en-US" altLang="zh-CN" sz="2800" b="1" dirty="0">
                <a:latin typeface="Arial" panose="020B0604020202020204" pitchFamily="34" charset="0"/>
                <a:ea typeface="宋体" panose="02010600030101010101" pitchFamily="2" charset="-122"/>
              </a:rPr>
              <a:t>1</a:t>
            </a:r>
            <a:r>
              <a:rPr lang="zh-CN" altLang="en-US" sz="2800" b="1" dirty="0">
                <a:latin typeface="Arial" panose="020B0604020202020204" pitchFamily="34" charset="0"/>
                <a:ea typeface="宋体" panose="02010600030101010101" pitchFamily="2" charset="-122"/>
              </a:rPr>
              <a:t>、控制简单、便于扩充、造价低</a:t>
            </a:r>
          </a:p>
          <a:p>
            <a:pPr marL="342900" indent="-342900">
              <a:buClrTx/>
              <a:buFontTx/>
            </a:pPr>
            <a:r>
              <a:rPr lang="zh-CN" altLang="en-US" sz="2800" b="1" dirty="0">
                <a:latin typeface="Arial" panose="020B0604020202020204" pitchFamily="34"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2</a:t>
            </a:r>
            <a:r>
              <a:rPr lang="zh-CN" altLang="en-US" sz="2800" b="1" dirty="0">
                <a:latin typeface="Arial" panose="020B0604020202020204" pitchFamily="34" charset="0"/>
                <a:ea typeface="宋体" panose="02010600030101010101" pitchFamily="2" charset="-122"/>
              </a:rPr>
              <a:t>、易形成系统的瓶颈</a:t>
            </a:r>
          </a:p>
          <a:p>
            <a:pPr marL="342900" indent="-342900">
              <a:buClrTx/>
              <a:buFontTx/>
            </a:pPr>
            <a:r>
              <a:rPr lang="zh-CN" altLang="en-US" sz="28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①</a:t>
            </a:r>
            <a:r>
              <a:rPr lang="zh-CN" altLang="en-US" sz="2800" b="1" dirty="0">
                <a:latin typeface="Arial" panose="020B0604020202020204" pitchFamily="34" charset="0"/>
                <a:ea typeface="宋体" panose="02010600030101010101" pitchFamily="2" charset="-122"/>
              </a:rPr>
              <a:t>由于各部件只能分时使用总线，系统工作效率低。</a:t>
            </a:r>
          </a:p>
          <a:p>
            <a:pPr marL="342900" indent="-342900">
              <a:buClrTx/>
              <a:buFontTx/>
            </a:pPr>
            <a:r>
              <a:rPr lang="zh-CN" altLang="en-US" sz="28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②</a:t>
            </a:r>
            <a:r>
              <a:rPr lang="zh-CN" altLang="en-US" sz="2800" b="1" dirty="0">
                <a:latin typeface="Arial" panose="020B0604020202020204" pitchFamily="34" charset="0"/>
                <a:ea typeface="宋体" panose="02010600030101010101" pitchFamily="2" charset="-122"/>
              </a:rPr>
              <a:t>总线设备之间传输速率不匹配。</a:t>
            </a:r>
          </a:p>
        </p:txBody>
      </p:sp>
      <p:grpSp>
        <p:nvGrpSpPr>
          <p:cNvPr id="230404" name="Group 4"/>
          <p:cNvGrpSpPr/>
          <p:nvPr/>
        </p:nvGrpSpPr>
        <p:grpSpPr>
          <a:xfrm>
            <a:off x="304800" y="0"/>
            <a:ext cx="7956550" cy="617538"/>
            <a:chOff x="384" y="1056"/>
            <a:chExt cx="5184" cy="438"/>
          </a:xfrm>
        </p:grpSpPr>
        <p:sp>
          <p:nvSpPr>
            <p:cNvPr id="48131" name="Rectangle 5"/>
            <p:cNvSpPr/>
            <p:nvPr/>
          </p:nvSpPr>
          <p:spPr>
            <a:xfrm>
              <a:off x="2046" y="1056"/>
              <a:ext cx="2095" cy="303"/>
            </a:xfrm>
            <a:prstGeom prst="rect">
              <a:avLst/>
            </a:prstGeom>
            <a:noFill/>
            <a:ln w="9525">
              <a:noFill/>
            </a:ln>
          </p:spPr>
          <p:txBody>
            <a:bodyPr wrap="none" lIns="0" tIns="0" rIns="0" bIns="0" anchor="t" anchorCtr="0">
              <a:spAutoFit/>
            </a:bodyPr>
            <a:lstStyle/>
            <a:p>
              <a:pPr>
                <a:buClrTx/>
                <a:buFontTx/>
              </a:pPr>
              <a:r>
                <a:rPr lang="zh-CN" altLang="en-US" sz="2800" b="1" dirty="0">
                  <a:latin typeface="宋体" panose="02010600030101010101" pitchFamily="2" charset="-122"/>
                  <a:ea typeface="宋体" panose="02010600030101010101" pitchFamily="2" charset="-122"/>
                </a:rPr>
                <a:t>单总线（系统总线）</a:t>
              </a:r>
              <a:endParaRPr lang="zh-CN" altLang="en-US" sz="2800" b="1" dirty="0">
                <a:latin typeface="Times New Roman" panose="02020603050405020304" pitchFamily="18" charset="0"/>
                <a:ea typeface="宋体" panose="02010600030101010101" pitchFamily="2" charset="-122"/>
              </a:endParaRPr>
            </a:p>
          </p:txBody>
        </p:sp>
        <p:sp>
          <p:nvSpPr>
            <p:cNvPr id="48132" name="Freeform 6"/>
            <p:cNvSpPr/>
            <p:nvPr/>
          </p:nvSpPr>
          <p:spPr>
            <a:xfrm>
              <a:off x="384" y="1350"/>
              <a:ext cx="5184" cy="144"/>
            </a:xfrm>
            <a:custGeom>
              <a:avLst/>
              <a:gdLst/>
              <a:ahLst/>
              <a:cxnLst>
                <a:cxn ang="0">
                  <a:pos x="0" y="68"/>
                </a:cxn>
                <a:cxn ang="0">
                  <a:pos x="304" y="136"/>
                </a:cxn>
                <a:cxn ang="0">
                  <a:pos x="304" y="115"/>
                </a:cxn>
                <a:cxn ang="0">
                  <a:pos x="6373" y="115"/>
                </a:cxn>
                <a:cxn ang="0">
                  <a:pos x="6373" y="136"/>
                </a:cxn>
                <a:cxn ang="0">
                  <a:pos x="6674" y="68"/>
                </a:cxn>
                <a:cxn ang="0">
                  <a:pos x="6373" y="0"/>
                </a:cxn>
                <a:cxn ang="0">
                  <a:pos x="6373" y="22"/>
                </a:cxn>
                <a:cxn ang="0">
                  <a:pos x="304" y="22"/>
                </a:cxn>
                <a:cxn ang="0">
                  <a:pos x="304" y="0"/>
                </a:cxn>
                <a:cxn ang="0">
                  <a:pos x="0" y="68"/>
                </a:cxn>
              </a:cxnLst>
              <a:rect l="0" t="0" r="0" b="0"/>
              <a:pathLst>
                <a:path w="4569" h="148">
                  <a:moveTo>
                    <a:pt x="0" y="74"/>
                  </a:moveTo>
                  <a:lnTo>
                    <a:pt x="208" y="148"/>
                  </a:lnTo>
                  <a:lnTo>
                    <a:pt x="208" y="124"/>
                  </a:lnTo>
                  <a:lnTo>
                    <a:pt x="4364" y="124"/>
                  </a:lnTo>
                  <a:lnTo>
                    <a:pt x="4364" y="148"/>
                  </a:lnTo>
                  <a:lnTo>
                    <a:pt x="4569" y="74"/>
                  </a:lnTo>
                  <a:lnTo>
                    <a:pt x="4364" y="0"/>
                  </a:lnTo>
                  <a:lnTo>
                    <a:pt x="4364" y="25"/>
                  </a:lnTo>
                  <a:lnTo>
                    <a:pt x="208" y="25"/>
                  </a:lnTo>
                  <a:lnTo>
                    <a:pt x="208" y="0"/>
                  </a:lnTo>
                  <a:lnTo>
                    <a:pt x="0" y="74"/>
                  </a:lnTo>
                  <a:close/>
                </a:path>
              </a:pathLst>
            </a:custGeom>
            <a:solidFill>
              <a:schemeClr val="tx1"/>
            </a:solidFill>
            <a:ln w="17526">
              <a:noFill/>
            </a:ln>
          </p:spPr>
          <p:txBody>
            <a:bodyPr/>
            <a:lstStyle/>
            <a:p>
              <a:endParaRPr lang="zh-CN" altLang="en-US"/>
            </a:p>
          </p:txBody>
        </p:sp>
      </p:grpSp>
      <p:grpSp>
        <p:nvGrpSpPr>
          <p:cNvPr id="230407" name="Group 7"/>
          <p:cNvGrpSpPr/>
          <p:nvPr/>
        </p:nvGrpSpPr>
        <p:grpSpPr>
          <a:xfrm>
            <a:off x="533400" y="647700"/>
            <a:ext cx="7696200" cy="3390900"/>
            <a:chOff x="528" y="1368"/>
            <a:chExt cx="5014" cy="2406"/>
          </a:xfrm>
        </p:grpSpPr>
        <p:grpSp>
          <p:nvGrpSpPr>
            <p:cNvPr id="48134" name="Group 8"/>
            <p:cNvGrpSpPr/>
            <p:nvPr/>
          </p:nvGrpSpPr>
          <p:grpSpPr>
            <a:xfrm>
              <a:off x="528" y="1368"/>
              <a:ext cx="719" cy="2389"/>
              <a:chOff x="528" y="1615"/>
              <a:chExt cx="719" cy="2389"/>
            </a:xfrm>
          </p:grpSpPr>
          <p:sp>
            <p:nvSpPr>
              <p:cNvPr id="48135" name="Rectangle 9"/>
              <p:cNvSpPr/>
              <p:nvPr/>
            </p:nvSpPr>
            <p:spPr>
              <a:xfrm>
                <a:off x="528" y="2352"/>
                <a:ext cx="719" cy="1652"/>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endParaRPr lang="en-US" altLang="zh-CN" sz="3200" b="1" dirty="0">
                  <a:latin typeface="Times New Roman" panose="02020603050405020304" pitchFamily="18" charset="0"/>
                  <a:ea typeface="宋体" panose="02010600030101010101" pitchFamily="2" charset="-122"/>
                </a:endParaRPr>
              </a:p>
              <a:p>
                <a:pPr>
                  <a:buClrTx/>
                  <a:buFontTx/>
                </a:pPr>
                <a:endParaRPr lang="en-US" altLang="zh-CN" sz="3200" b="1" dirty="0">
                  <a:latin typeface="Times New Roman" panose="02020603050405020304" pitchFamily="18" charset="0"/>
                  <a:ea typeface="宋体" panose="02010600030101010101" pitchFamily="2" charset="-122"/>
                </a:endParaRPr>
              </a:p>
              <a:p>
                <a:pPr>
                  <a:buClrTx/>
                  <a:buFontTx/>
                </a:pPr>
                <a:r>
                  <a:rPr lang="en-US" altLang="zh-CN" sz="2800" b="1" dirty="0">
                    <a:latin typeface="Times New Roman" panose="02020603050405020304" pitchFamily="18" charset="0"/>
                    <a:ea typeface="宋体" panose="02010600030101010101" pitchFamily="2" charset="-122"/>
                  </a:rPr>
                  <a:t> CPU</a:t>
                </a:r>
              </a:p>
            </p:txBody>
          </p:sp>
          <p:sp>
            <p:nvSpPr>
              <p:cNvPr id="48136" name="Freeform 10"/>
              <p:cNvSpPr/>
              <p:nvPr/>
            </p:nvSpPr>
            <p:spPr>
              <a:xfrm>
                <a:off x="802" y="1615"/>
                <a:ext cx="206" cy="737"/>
              </a:xfrm>
              <a:custGeom>
                <a:avLst/>
                <a:gdLst/>
                <a:ahLst/>
                <a:cxnLst>
                  <a:cxn ang="0">
                    <a:pos x="216" y="0"/>
                  </a:cxn>
                  <a:cxn ang="0">
                    <a:pos x="440" y="336"/>
                  </a:cxn>
                  <a:cxn ang="0">
                    <a:pos x="330" y="336"/>
                  </a:cxn>
                  <a:cxn ang="0">
                    <a:pos x="330" y="1384"/>
                  </a:cxn>
                  <a:cxn ang="0">
                    <a:pos x="440" y="1384"/>
                  </a:cxn>
                  <a:cxn ang="0">
                    <a:pos x="216" y="1723"/>
                  </a:cxn>
                  <a:cxn ang="0">
                    <a:pos x="0" y="1384"/>
                  </a:cxn>
                  <a:cxn ang="0">
                    <a:pos x="107" y="1384"/>
                  </a:cxn>
                  <a:cxn ang="0">
                    <a:pos x="107" y="336"/>
                  </a:cxn>
                  <a:cxn ang="0">
                    <a:pos x="0" y="336"/>
                  </a:cxn>
                  <a:cxn ang="0">
                    <a:pos x="216" y="0"/>
                  </a:cxn>
                </a:cxnLst>
                <a:rect l="0" t="0" r="0" b="0"/>
                <a:pathLst>
                  <a:path w="141" h="482">
                    <a:moveTo>
                      <a:pt x="69" y="0"/>
                    </a:moveTo>
                    <a:lnTo>
                      <a:pt x="141" y="94"/>
                    </a:lnTo>
                    <a:lnTo>
                      <a:pt x="106" y="94"/>
                    </a:lnTo>
                    <a:lnTo>
                      <a:pt x="106" y="387"/>
                    </a:lnTo>
                    <a:lnTo>
                      <a:pt x="141" y="387"/>
                    </a:lnTo>
                    <a:lnTo>
                      <a:pt x="69" y="482"/>
                    </a:lnTo>
                    <a:lnTo>
                      <a:pt x="0" y="387"/>
                    </a:lnTo>
                    <a:lnTo>
                      <a:pt x="34" y="387"/>
                    </a:lnTo>
                    <a:lnTo>
                      <a:pt x="34" y="94"/>
                    </a:lnTo>
                    <a:lnTo>
                      <a:pt x="0" y="94"/>
                    </a:lnTo>
                    <a:lnTo>
                      <a:pt x="69"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grpSp>
        <p:grpSp>
          <p:nvGrpSpPr>
            <p:cNvPr id="48137" name="Group 11"/>
            <p:cNvGrpSpPr/>
            <p:nvPr/>
          </p:nvGrpSpPr>
          <p:grpSpPr>
            <a:xfrm>
              <a:off x="1392" y="1385"/>
              <a:ext cx="720" cy="2389"/>
              <a:chOff x="1392" y="1632"/>
              <a:chExt cx="720" cy="2389"/>
            </a:xfrm>
          </p:grpSpPr>
          <p:sp>
            <p:nvSpPr>
              <p:cNvPr id="48138" name="Rectangle 12"/>
              <p:cNvSpPr/>
              <p:nvPr/>
            </p:nvSpPr>
            <p:spPr>
              <a:xfrm>
                <a:off x="1392" y="2369"/>
                <a:ext cx="720" cy="1652"/>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endParaRPr lang="en-US" altLang="zh-CN" sz="3200" b="1" dirty="0">
                  <a:latin typeface="Times New Roman" panose="02020603050405020304" pitchFamily="18" charset="0"/>
                  <a:ea typeface="宋体" panose="02010600030101010101" pitchFamily="2" charset="-122"/>
                </a:endParaRPr>
              </a:p>
              <a:p>
                <a:pPr>
                  <a:buClrTx/>
                  <a:buFontTx/>
                </a:pPr>
                <a:endParaRPr lang="en-US" altLang="zh-CN" sz="3200" b="1" dirty="0">
                  <a:latin typeface="Times New Roman" panose="02020603050405020304" pitchFamily="18" charset="0"/>
                  <a:ea typeface="宋体" panose="02010600030101010101" pitchFamily="2" charset="-122"/>
                </a:endParaRPr>
              </a:p>
              <a:p>
                <a:pPr>
                  <a:buClrTx/>
                  <a:buFontTx/>
                </a:pPr>
                <a:r>
                  <a:rPr lang="en-US" altLang="zh-CN" sz="2800" b="1" dirty="0">
                    <a:latin typeface="Times New Roman" panose="02020603050405020304" pitchFamily="18" charset="0"/>
                    <a:ea typeface="宋体" panose="02010600030101010101" pitchFamily="2" charset="-122"/>
                  </a:rPr>
                  <a:t> M.M</a:t>
                </a:r>
              </a:p>
            </p:txBody>
          </p:sp>
          <p:sp>
            <p:nvSpPr>
              <p:cNvPr id="48139" name="Freeform 13"/>
              <p:cNvSpPr/>
              <p:nvPr/>
            </p:nvSpPr>
            <p:spPr>
              <a:xfrm>
                <a:off x="1619" y="1632"/>
                <a:ext cx="206" cy="737"/>
              </a:xfrm>
              <a:custGeom>
                <a:avLst/>
                <a:gdLst/>
                <a:ahLst/>
                <a:cxnLst>
                  <a:cxn ang="0">
                    <a:pos x="216" y="0"/>
                  </a:cxn>
                  <a:cxn ang="0">
                    <a:pos x="440" y="336"/>
                  </a:cxn>
                  <a:cxn ang="0">
                    <a:pos x="330" y="336"/>
                  </a:cxn>
                  <a:cxn ang="0">
                    <a:pos x="330" y="1384"/>
                  </a:cxn>
                  <a:cxn ang="0">
                    <a:pos x="440" y="1384"/>
                  </a:cxn>
                  <a:cxn ang="0">
                    <a:pos x="216" y="1723"/>
                  </a:cxn>
                  <a:cxn ang="0">
                    <a:pos x="0" y="1384"/>
                  </a:cxn>
                  <a:cxn ang="0">
                    <a:pos x="107" y="1384"/>
                  </a:cxn>
                  <a:cxn ang="0">
                    <a:pos x="107" y="336"/>
                  </a:cxn>
                  <a:cxn ang="0">
                    <a:pos x="0" y="336"/>
                  </a:cxn>
                  <a:cxn ang="0">
                    <a:pos x="216" y="0"/>
                  </a:cxn>
                </a:cxnLst>
                <a:rect l="0" t="0" r="0" b="0"/>
                <a:pathLst>
                  <a:path w="141" h="482">
                    <a:moveTo>
                      <a:pt x="69" y="0"/>
                    </a:moveTo>
                    <a:lnTo>
                      <a:pt x="141" y="94"/>
                    </a:lnTo>
                    <a:lnTo>
                      <a:pt x="106" y="94"/>
                    </a:lnTo>
                    <a:lnTo>
                      <a:pt x="106" y="387"/>
                    </a:lnTo>
                    <a:lnTo>
                      <a:pt x="141" y="387"/>
                    </a:lnTo>
                    <a:lnTo>
                      <a:pt x="69" y="482"/>
                    </a:lnTo>
                    <a:lnTo>
                      <a:pt x="0" y="387"/>
                    </a:lnTo>
                    <a:lnTo>
                      <a:pt x="34" y="387"/>
                    </a:lnTo>
                    <a:lnTo>
                      <a:pt x="34" y="94"/>
                    </a:lnTo>
                    <a:lnTo>
                      <a:pt x="0" y="94"/>
                    </a:lnTo>
                    <a:lnTo>
                      <a:pt x="69"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grpSp>
        <p:sp>
          <p:nvSpPr>
            <p:cNvPr id="48140" name="Rectangle 14"/>
            <p:cNvSpPr/>
            <p:nvPr/>
          </p:nvSpPr>
          <p:spPr>
            <a:xfrm>
              <a:off x="2208" y="2116"/>
              <a:ext cx="934" cy="320"/>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r>
                <a:rPr lang="en-US" altLang="zh-CN" sz="2400" b="1" dirty="0">
                  <a:latin typeface="Times New Roman" panose="02020603050405020304" pitchFamily="18" charset="0"/>
                  <a:ea typeface="宋体" panose="02010600030101010101" pitchFamily="2" charset="-122"/>
                </a:rPr>
                <a:t>  I/O</a:t>
              </a:r>
              <a:r>
                <a:rPr lang="zh-CN" altLang="en-US" sz="2400" b="1" dirty="0">
                  <a:latin typeface="Times New Roman" panose="02020603050405020304" pitchFamily="18" charset="0"/>
                  <a:ea typeface="宋体" panose="02010600030101010101" pitchFamily="2" charset="-122"/>
                </a:rPr>
                <a:t>接口</a:t>
              </a:r>
            </a:p>
          </p:txBody>
        </p:sp>
        <p:sp>
          <p:nvSpPr>
            <p:cNvPr id="48141" name="Freeform 15"/>
            <p:cNvSpPr/>
            <p:nvPr/>
          </p:nvSpPr>
          <p:spPr>
            <a:xfrm>
              <a:off x="2592" y="1391"/>
              <a:ext cx="192" cy="725"/>
            </a:xfrm>
            <a:custGeom>
              <a:avLst/>
              <a:gdLst/>
              <a:ahLst/>
              <a:cxnLst>
                <a:cxn ang="0">
                  <a:pos x="186" y="0"/>
                </a:cxn>
                <a:cxn ang="0">
                  <a:pos x="366" y="311"/>
                </a:cxn>
                <a:cxn ang="0">
                  <a:pos x="275" y="311"/>
                </a:cxn>
                <a:cxn ang="0">
                  <a:pos x="275" y="1243"/>
                </a:cxn>
                <a:cxn ang="0">
                  <a:pos x="366" y="1243"/>
                </a:cxn>
                <a:cxn ang="0">
                  <a:pos x="186" y="1555"/>
                </a:cxn>
                <a:cxn ang="0">
                  <a:pos x="0" y="1243"/>
                </a:cxn>
                <a:cxn ang="0">
                  <a:pos x="91" y="1243"/>
                </a:cxn>
                <a:cxn ang="0">
                  <a:pos x="91" y="311"/>
                </a:cxn>
                <a:cxn ang="0">
                  <a:pos x="0" y="311"/>
                </a:cxn>
                <a:cxn ang="0">
                  <a:pos x="186" y="0"/>
                </a:cxn>
              </a:cxnLst>
              <a:rect l="0" t="0" r="0" b="0"/>
              <a:pathLst>
                <a:path w="139" h="495">
                  <a:moveTo>
                    <a:pt x="71" y="0"/>
                  </a:moveTo>
                  <a:lnTo>
                    <a:pt x="139" y="99"/>
                  </a:lnTo>
                  <a:lnTo>
                    <a:pt x="104" y="99"/>
                  </a:lnTo>
                  <a:lnTo>
                    <a:pt x="104" y="396"/>
                  </a:lnTo>
                  <a:lnTo>
                    <a:pt x="139" y="396"/>
                  </a:lnTo>
                  <a:lnTo>
                    <a:pt x="71" y="495"/>
                  </a:lnTo>
                  <a:lnTo>
                    <a:pt x="0" y="396"/>
                  </a:lnTo>
                  <a:lnTo>
                    <a:pt x="35" y="396"/>
                  </a:lnTo>
                  <a:lnTo>
                    <a:pt x="35" y="99"/>
                  </a:lnTo>
                  <a:lnTo>
                    <a:pt x="0" y="99"/>
                  </a:lnTo>
                  <a:lnTo>
                    <a:pt x="71"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sp>
          <p:nvSpPr>
            <p:cNvPr id="48142" name="Freeform 16"/>
            <p:cNvSpPr/>
            <p:nvPr/>
          </p:nvSpPr>
          <p:spPr>
            <a:xfrm>
              <a:off x="2609" y="2479"/>
              <a:ext cx="175" cy="671"/>
            </a:xfrm>
            <a:custGeom>
              <a:avLst/>
              <a:gdLst/>
              <a:ahLst/>
              <a:cxnLst>
                <a:cxn ang="0">
                  <a:pos x="141" y="0"/>
                </a:cxn>
                <a:cxn ang="0">
                  <a:pos x="277" y="279"/>
                </a:cxn>
                <a:cxn ang="0">
                  <a:pos x="208" y="279"/>
                </a:cxn>
                <a:cxn ang="0">
                  <a:pos x="208" y="1109"/>
                </a:cxn>
                <a:cxn ang="0">
                  <a:pos x="277" y="1109"/>
                </a:cxn>
                <a:cxn ang="0">
                  <a:pos x="141" y="1385"/>
                </a:cxn>
                <a:cxn ang="0">
                  <a:pos x="0" y="1109"/>
                </a:cxn>
                <a:cxn ang="0">
                  <a:pos x="69" y="1109"/>
                </a:cxn>
                <a:cxn ang="0">
                  <a:pos x="69" y="279"/>
                </a:cxn>
                <a:cxn ang="0">
                  <a:pos x="0" y="279"/>
                </a:cxn>
                <a:cxn ang="0">
                  <a:pos x="141" y="0"/>
                </a:cxn>
              </a:cxnLst>
              <a:rect l="0" t="0" r="0" b="0"/>
              <a:pathLst>
                <a:path w="139" h="467">
                  <a:moveTo>
                    <a:pt x="71" y="0"/>
                  </a:moveTo>
                  <a:lnTo>
                    <a:pt x="139" y="94"/>
                  </a:lnTo>
                  <a:lnTo>
                    <a:pt x="104" y="94"/>
                  </a:lnTo>
                  <a:lnTo>
                    <a:pt x="104" y="374"/>
                  </a:lnTo>
                  <a:lnTo>
                    <a:pt x="139" y="374"/>
                  </a:lnTo>
                  <a:lnTo>
                    <a:pt x="71" y="467"/>
                  </a:lnTo>
                  <a:lnTo>
                    <a:pt x="0" y="374"/>
                  </a:lnTo>
                  <a:lnTo>
                    <a:pt x="35" y="374"/>
                  </a:lnTo>
                  <a:lnTo>
                    <a:pt x="35" y="94"/>
                  </a:lnTo>
                  <a:lnTo>
                    <a:pt x="0" y="94"/>
                  </a:lnTo>
                  <a:lnTo>
                    <a:pt x="71"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sp>
          <p:nvSpPr>
            <p:cNvPr id="48143" name="Rectangle 17"/>
            <p:cNvSpPr/>
            <p:nvPr/>
          </p:nvSpPr>
          <p:spPr>
            <a:xfrm>
              <a:off x="2208" y="3150"/>
              <a:ext cx="934" cy="594"/>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r>
                <a:rPr lang="en-US" altLang="zh-CN" sz="28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外部</a:t>
              </a:r>
            </a:p>
            <a:p>
              <a:pPr>
                <a:buClrTx/>
                <a:buFontTx/>
              </a:pPr>
              <a:r>
                <a:rPr lang="zh-CN" altLang="en-US" sz="2400" b="1" dirty="0">
                  <a:latin typeface="Times New Roman" panose="02020603050405020304" pitchFamily="18" charset="0"/>
                  <a:ea typeface="宋体" panose="02010600030101010101" pitchFamily="2" charset="-122"/>
                </a:rPr>
                <a:t>   设备</a:t>
              </a:r>
              <a:r>
                <a:rPr lang="en-US" altLang="zh-CN" sz="2400" b="1" dirty="0">
                  <a:latin typeface="Times New Roman" panose="02020603050405020304" pitchFamily="18" charset="0"/>
                  <a:ea typeface="宋体" panose="02010600030101010101" pitchFamily="2" charset="-122"/>
                </a:rPr>
                <a:t>1</a:t>
              </a:r>
            </a:p>
          </p:txBody>
        </p:sp>
        <p:sp>
          <p:nvSpPr>
            <p:cNvPr id="48144" name="Rectangle 18"/>
            <p:cNvSpPr/>
            <p:nvPr/>
          </p:nvSpPr>
          <p:spPr>
            <a:xfrm>
              <a:off x="3360" y="3150"/>
              <a:ext cx="934" cy="594"/>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r>
                <a:rPr lang="en-US" altLang="zh-CN" sz="28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外部</a:t>
              </a:r>
            </a:p>
            <a:p>
              <a:pPr>
                <a:buClrTx/>
                <a:buFontTx/>
              </a:pPr>
              <a:r>
                <a:rPr lang="zh-CN" altLang="en-US" sz="2400" b="1" dirty="0">
                  <a:latin typeface="Times New Roman" panose="02020603050405020304" pitchFamily="18" charset="0"/>
                  <a:ea typeface="宋体" panose="02010600030101010101" pitchFamily="2" charset="-122"/>
                </a:rPr>
                <a:t>   设备</a:t>
              </a:r>
              <a:r>
                <a:rPr lang="en-US" altLang="zh-CN" sz="2400" b="1" dirty="0">
                  <a:latin typeface="Times New Roman" panose="02020603050405020304" pitchFamily="18" charset="0"/>
                  <a:ea typeface="宋体" panose="02010600030101010101" pitchFamily="2" charset="-122"/>
                </a:rPr>
                <a:t>2</a:t>
              </a:r>
            </a:p>
          </p:txBody>
        </p:sp>
        <p:sp>
          <p:nvSpPr>
            <p:cNvPr id="48145" name="Rectangle 19"/>
            <p:cNvSpPr/>
            <p:nvPr/>
          </p:nvSpPr>
          <p:spPr>
            <a:xfrm>
              <a:off x="3360" y="2116"/>
              <a:ext cx="934" cy="320"/>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r>
                <a:rPr lang="en-US" altLang="zh-CN" sz="2400" b="1" dirty="0">
                  <a:latin typeface="Times New Roman" panose="02020603050405020304" pitchFamily="18" charset="0"/>
                  <a:ea typeface="宋体" panose="02010600030101010101" pitchFamily="2" charset="-122"/>
                </a:rPr>
                <a:t>  I/O</a:t>
              </a:r>
              <a:r>
                <a:rPr lang="zh-CN" altLang="en-US" sz="2400" b="1" dirty="0">
                  <a:latin typeface="Times New Roman" panose="02020603050405020304" pitchFamily="18" charset="0"/>
                  <a:ea typeface="宋体" panose="02010600030101010101" pitchFamily="2" charset="-122"/>
                </a:rPr>
                <a:t>接口</a:t>
              </a:r>
            </a:p>
          </p:txBody>
        </p:sp>
        <p:sp>
          <p:nvSpPr>
            <p:cNvPr id="48146" name="Freeform 20"/>
            <p:cNvSpPr/>
            <p:nvPr/>
          </p:nvSpPr>
          <p:spPr>
            <a:xfrm>
              <a:off x="3696" y="1391"/>
              <a:ext cx="192" cy="725"/>
            </a:xfrm>
            <a:custGeom>
              <a:avLst/>
              <a:gdLst/>
              <a:ahLst/>
              <a:cxnLst>
                <a:cxn ang="0">
                  <a:pos x="186" y="0"/>
                </a:cxn>
                <a:cxn ang="0">
                  <a:pos x="366" y="311"/>
                </a:cxn>
                <a:cxn ang="0">
                  <a:pos x="275" y="311"/>
                </a:cxn>
                <a:cxn ang="0">
                  <a:pos x="275" y="1243"/>
                </a:cxn>
                <a:cxn ang="0">
                  <a:pos x="366" y="1243"/>
                </a:cxn>
                <a:cxn ang="0">
                  <a:pos x="186" y="1555"/>
                </a:cxn>
                <a:cxn ang="0">
                  <a:pos x="0" y="1243"/>
                </a:cxn>
                <a:cxn ang="0">
                  <a:pos x="91" y="1243"/>
                </a:cxn>
                <a:cxn ang="0">
                  <a:pos x="91" y="311"/>
                </a:cxn>
                <a:cxn ang="0">
                  <a:pos x="0" y="311"/>
                </a:cxn>
                <a:cxn ang="0">
                  <a:pos x="186" y="0"/>
                </a:cxn>
              </a:cxnLst>
              <a:rect l="0" t="0" r="0" b="0"/>
              <a:pathLst>
                <a:path w="139" h="495">
                  <a:moveTo>
                    <a:pt x="71" y="0"/>
                  </a:moveTo>
                  <a:lnTo>
                    <a:pt x="139" y="99"/>
                  </a:lnTo>
                  <a:lnTo>
                    <a:pt x="104" y="99"/>
                  </a:lnTo>
                  <a:lnTo>
                    <a:pt x="104" y="396"/>
                  </a:lnTo>
                  <a:lnTo>
                    <a:pt x="139" y="396"/>
                  </a:lnTo>
                  <a:lnTo>
                    <a:pt x="71" y="495"/>
                  </a:lnTo>
                  <a:lnTo>
                    <a:pt x="0" y="396"/>
                  </a:lnTo>
                  <a:lnTo>
                    <a:pt x="35" y="396"/>
                  </a:lnTo>
                  <a:lnTo>
                    <a:pt x="35" y="99"/>
                  </a:lnTo>
                  <a:lnTo>
                    <a:pt x="0" y="99"/>
                  </a:lnTo>
                  <a:lnTo>
                    <a:pt x="71"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sp>
          <p:nvSpPr>
            <p:cNvPr id="48147" name="Freeform 21"/>
            <p:cNvSpPr/>
            <p:nvPr/>
          </p:nvSpPr>
          <p:spPr>
            <a:xfrm>
              <a:off x="3696" y="2479"/>
              <a:ext cx="192" cy="671"/>
            </a:xfrm>
            <a:custGeom>
              <a:avLst/>
              <a:gdLst/>
              <a:ahLst/>
              <a:cxnLst>
                <a:cxn ang="0">
                  <a:pos x="186" y="0"/>
                </a:cxn>
                <a:cxn ang="0">
                  <a:pos x="366" y="279"/>
                </a:cxn>
                <a:cxn ang="0">
                  <a:pos x="275" y="279"/>
                </a:cxn>
                <a:cxn ang="0">
                  <a:pos x="275" y="1109"/>
                </a:cxn>
                <a:cxn ang="0">
                  <a:pos x="366" y="1109"/>
                </a:cxn>
                <a:cxn ang="0">
                  <a:pos x="186" y="1385"/>
                </a:cxn>
                <a:cxn ang="0">
                  <a:pos x="0" y="1109"/>
                </a:cxn>
                <a:cxn ang="0">
                  <a:pos x="91" y="1109"/>
                </a:cxn>
                <a:cxn ang="0">
                  <a:pos x="91" y="279"/>
                </a:cxn>
                <a:cxn ang="0">
                  <a:pos x="0" y="279"/>
                </a:cxn>
                <a:cxn ang="0">
                  <a:pos x="186" y="0"/>
                </a:cxn>
              </a:cxnLst>
              <a:rect l="0" t="0" r="0" b="0"/>
              <a:pathLst>
                <a:path w="139" h="467">
                  <a:moveTo>
                    <a:pt x="71" y="0"/>
                  </a:moveTo>
                  <a:lnTo>
                    <a:pt x="139" y="94"/>
                  </a:lnTo>
                  <a:lnTo>
                    <a:pt x="104" y="94"/>
                  </a:lnTo>
                  <a:lnTo>
                    <a:pt x="104" y="374"/>
                  </a:lnTo>
                  <a:lnTo>
                    <a:pt x="139" y="374"/>
                  </a:lnTo>
                  <a:lnTo>
                    <a:pt x="71" y="467"/>
                  </a:lnTo>
                  <a:lnTo>
                    <a:pt x="0" y="374"/>
                  </a:lnTo>
                  <a:lnTo>
                    <a:pt x="35" y="374"/>
                  </a:lnTo>
                  <a:lnTo>
                    <a:pt x="35" y="94"/>
                  </a:lnTo>
                  <a:lnTo>
                    <a:pt x="0" y="94"/>
                  </a:lnTo>
                  <a:lnTo>
                    <a:pt x="71"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sp>
          <p:nvSpPr>
            <p:cNvPr id="48148" name="Rectangle 22"/>
            <p:cNvSpPr/>
            <p:nvPr/>
          </p:nvSpPr>
          <p:spPr>
            <a:xfrm>
              <a:off x="4368" y="2116"/>
              <a:ext cx="240" cy="259"/>
            </a:xfrm>
            <a:prstGeom prst="rect">
              <a:avLst/>
            </a:prstGeom>
            <a:noFill/>
            <a:ln w="38100">
              <a:noFill/>
            </a:ln>
          </p:spPr>
          <p:txBody>
            <a:bodyPr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a:t>
              </a:r>
            </a:p>
          </p:txBody>
        </p:sp>
        <p:sp>
          <p:nvSpPr>
            <p:cNvPr id="48149" name="Rectangle 23"/>
            <p:cNvSpPr/>
            <p:nvPr/>
          </p:nvSpPr>
          <p:spPr>
            <a:xfrm>
              <a:off x="4608" y="3150"/>
              <a:ext cx="934" cy="594"/>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r>
                <a:rPr lang="en-US" altLang="zh-CN" sz="28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外部</a:t>
              </a:r>
            </a:p>
            <a:p>
              <a:pPr>
                <a:buClrTx/>
                <a:buFontTx/>
              </a:pPr>
              <a:r>
                <a:rPr lang="zh-CN" altLang="en-US" sz="2400" b="1" dirty="0">
                  <a:latin typeface="Times New Roman" panose="02020603050405020304" pitchFamily="18" charset="0"/>
                  <a:ea typeface="宋体" panose="02010600030101010101" pitchFamily="2" charset="-122"/>
                </a:rPr>
                <a:t>   设备</a:t>
              </a:r>
              <a:r>
                <a:rPr lang="en-US" altLang="zh-CN" sz="2400" b="1" i="1" dirty="0">
                  <a:latin typeface="Times New Roman" panose="02020603050405020304" pitchFamily="18" charset="0"/>
                  <a:ea typeface="宋体" panose="02010600030101010101" pitchFamily="2" charset="-122"/>
                </a:rPr>
                <a:t>n</a:t>
              </a:r>
            </a:p>
          </p:txBody>
        </p:sp>
        <p:sp>
          <p:nvSpPr>
            <p:cNvPr id="48150" name="Rectangle 24"/>
            <p:cNvSpPr/>
            <p:nvPr/>
          </p:nvSpPr>
          <p:spPr>
            <a:xfrm>
              <a:off x="4608" y="2116"/>
              <a:ext cx="934" cy="320"/>
            </a:xfrm>
            <a:prstGeom prst="rect">
              <a:avLst/>
            </a:prstGeom>
            <a:solidFill>
              <a:srgbClr val="00CCFF"/>
            </a:solidFill>
            <a:ln w="38100" cap="flat" cmpd="sng">
              <a:solidFill>
                <a:schemeClr val="tx1"/>
              </a:solidFill>
              <a:prstDash val="solid"/>
              <a:miter/>
              <a:headEnd type="none" w="med" len="med"/>
              <a:tailEnd type="none" w="med" len="med"/>
            </a:ln>
          </p:spPr>
          <p:txBody>
            <a:bodyPr anchor="t" anchorCtr="0"/>
            <a:lstStyle/>
            <a:p>
              <a:pPr>
                <a:buClrTx/>
                <a:buFontTx/>
              </a:pPr>
              <a:r>
                <a:rPr lang="en-US" altLang="zh-CN" sz="2400" b="1" dirty="0">
                  <a:latin typeface="Times New Roman" panose="02020603050405020304" pitchFamily="18" charset="0"/>
                  <a:ea typeface="宋体" panose="02010600030101010101" pitchFamily="2" charset="-122"/>
                </a:rPr>
                <a:t>  I/O</a:t>
              </a:r>
              <a:r>
                <a:rPr lang="zh-CN" altLang="en-US" sz="2400" b="1" dirty="0">
                  <a:latin typeface="Times New Roman" panose="02020603050405020304" pitchFamily="18" charset="0"/>
                  <a:ea typeface="宋体" panose="02010600030101010101" pitchFamily="2" charset="-122"/>
                </a:rPr>
                <a:t>接口</a:t>
              </a:r>
            </a:p>
          </p:txBody>
        </p:sp>
        <p:sp>
          <p:nvSpPr>
            <p:cNvPr id="48151" name="Freeform 25"/>
            <p:cNvSpPr/>
            <p:nvPr/>
          </p:nvSpPr>
          <p:spPr>
            <a:xfrm>
              <a:off x="4992" y="1374"/>
              <a:ext cx="192" cy="740"/>
            </a:xfrm>
            <a:custGeom>
              <a:avLst/>
              <a:gdLst/>
              <a:ahLst/>
              <a:cxnLst>
                <a:cxn ang="0">
                  <a:pos x="186" y="0"/>
                </a:cxn>
                <a:cxn ang="0">
                  <a:pos x="366" y="330"/>
                </a:cxn>
                <a:cxn ang="0">
                  <a:pos x="275" y="330"/>
                </a:cxn>
                <a:cxn ang="0">
                  <a:pos x="275" y="1323"/>
                </a:cxn>
                <a:cxn ang="0">
                  <a:pos x="366" y="1323"/>
                </a:cxn>
                <a:cxn ang="0">
                  <a:pos x="186" y="1653"/>
                </a:cxn>
                <a:cxn ang="0">
                  <a:pos x="0" y="1323"/>
                </a:cxn>
                <a:cxn ang="0">
                  <a:pos x="91" y="1323"/>
                </a:cxn>
                <a:cxn ang="0">
                  <a:pos x="91" y="330"/>
                </a:cxn>
                <a:cxn ang="0">
                  <a:pos x="0" y="330"/>
                </a:cxn>
                <a:cxn ang="0">
                  <a:pos x="186" y="0"/>
                </a:cxn>
              </a:cxnLst>
              <a:rect l="0" t="0" r="0" b="0"/>
              <a:pathLst>
                <a:path w="139" h="495">
                  <a:moveTo>
                    <a:pt x="71" y="0"/>
                  </a:moveTo>
                  <a:lnTo>
                    <a:pt x="139" y="99"/>
                  </a:lnTo>
                  <a:lnTo>
                    <a:pt x="104" y="99"/>
                  </a:lnTo>
                  <a:lnTo>
                    <a:pt x="104" y="396"/>
                  </a:lnTo>
                  <a:lnTo>
                    <a:pt x="139" y="396"/>
                  </a:lnTo>
                  <a:lnTo>
                    <a:pt x="71" y="495"/>
                  </a:lnTo>
                  <a:lnTo>
                    <a:pt x="0" y="396"/>
                  </a:lnTo>
                  <a:lnTo>
                    <a:pt x="35" y="396"/>
                  </a:lnTo>
                  <a:lnTo>
                    <a:pt x="35" y="99"/>
                  </a:lnTo>
                  <a:lnTo>
                    <a:pt x="0" y="99"/>
                  </a:lnTo>
                  <a:lnTo>
                    <a:pt x="71"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sp>
          <p:nvSpPr>
            <p:cNvPr id="48152" name="Freeform 26"/>
            <p:cNvSpPr/>
            <p:nvPr/>
          </p:nvSpPr>
          <p:spPr>
            <a:xfrm>
              <a:off x="4993" y="2478"/>
              <a:ext cx="191" cy="672"/>
            </a:xfrm>
            <a:custGeom>
              <a:avLst/>
              <a:gdLst/>
              <a:ahLst/>
              <a:cxnLst>
                <a:cxn ang="0">
                  <a:pos x="186" y="0"/>
                </a:cxn>
                <a:cxn ang="0">
                  <a:pos x="360" y="279"/>
                </a:cxn>
                <a:cxn ang="0">
                  <a:pos x="269" y="279"/>
                </a:cxn>
                <a:cxn ang="0">
                  <a:pos x="269" y="1114"/>
                </a:cxn>
                <a:cxn ang="0">
                  <a:pos x="360" y="1114"/>
                </a:cxn>
                <a:cxn ang="0">
                  <a:pos x="186" y="1391"/>
                </a:cxn>
                <a:cxn ang="0">
                  <a:pos x="0" y="1114"/>
                </a:cxn>
                <a:cxn ang="0">
                  <a:pos x="91" y="1114"/>
                </a:cxn>
                <a:cxn ang="0">
                  <a:pos x="91" y="279"/>
                </a:cxn>
                <a:cxn ang="0">
                  <a:pos x="0" y="279"/>
                </a:cxn>
                <a:cxn ang="0">
                  <a:pos x="186" y="0"/>
                </a:cxn>
              </a:cxnLst>
              <a:rect l="0" t="0" r="0" b="0"/>
              <a:pathLst>
                <a:path w="139" h="467">
                  <a:moveTo>
                    <a:pt x="71" y="0"/>
                  </a:moveTo>
                  <a:lnTo>
                    <a:pt x="139" y="94"/>
                  </a:lnTo>
                  <a:lnTo>
                    <a:pt x="104" y="94"/>
                  </a:lnTo>
                  <a:lnTo>
                    <a:pt x="104" y="374"/>
                  </a:lnTo>
                  <a:lnTo>
                    <a:pt x="139" y="374"/>
                  </a:lnTo>
                  <a:lnTo>
                    <a:pt x="71" y="467"/>
                  </a:lnTo>
                  <a:lnTo>
                    <a:pt x="0" y="374"/>
                  </a:lnTo>
                  <a:lnTo>
                    <a:pt x="35" y="374"/>
                  </a:lnTo>
                  <a:lnTo>
                    <a:pt x="35" y="94"/>
                  </a:lnTo>
                  <a:lnTo>
                    <a:pt x="0" y="94"/>
                  </a:lnTo>
                  <a:lnTo>
                    <a:pt x="71" y="0"/>
                  </a:lnTo>
                  <a:close/>
                </a:path>
              </a:pathLst>
            </a:custGeom>
            <a:solidFill>
              <a:srgbClr val="00CCFF"/>
            </a:solidFill>
            <a:ln w="38100" cap="flat" cmpd="sng">
              <a:solidFill>
                <a:schemeClr val="tx1"/>
              </a:solidFill>
              <a:prstDash val="solid"/>
              <a:round/>
              <a:headEnd type="none" w="med" len="med"/>
              <a:tailEnd type="none" w="med" len="med"/>
            </a:ln>
          </p:spPr>
          <p:txBody>
            <a:bodyPr/>
            <a:lstStyle/>
            <a:p>
              <a:endParaRPr lang="zh-CN" altLang="en-US"/>
            </a:p>
          </p:txBody>
        </p:sp>
        <p:sp>
          <p:nvSpPr>
            <p:cNvPr id="48153" name="Rectangle 27"/>
            <p:cNvSpPr/>
            <p:nvPr/>
          </p:nvSpPr>
          <p:spPr>
            <a:xfrm>
              <a:off x="4368" y="3294"/>
              <a:ext cx="336" cy="259"/>
            </a:xfrm>
            <a:prstGeom prst="rect">
              <a:avLst/>
            </a:prstGeom>
            <a:noFill/>
            <a:ln w="38100">
              <a:noFill/>
            </a:ln>
          </p:spPr>
          <p:txBody>
            <a:bodyPr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0404"/>
                                        </p:tgtEl>
                                        <p:attrNameLst>
                                          <p:attrName>style.visibility</p:attrName>
                                        </p:attrNameLst>
                                      </p:cBhvr>
                                      <p:to>
                                        <p:strVal val="visible"/>
                                      </p:to>
                                    </p:set>
                                    <p:animEffect transition="in" filter="blinds(horizontal)">
                                      <p:cBhvr>
                                        <p:cTn id="7" dur="500"/>
                                        <p:tgtEl>
                                          <p:spTgt spid="2304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0407"/>
                                        </p:tgtEl>
                                        <p:attrNameLst>
                                          <p:attrName>style.visibility</p:attrName>
                                        </p:attrNameLst>
                                      </p:cBhvr>
                                      <p:to>
                                        <p:strVal val="visible"/>
                                      </p:to>
                                    </p:set>
                                    <p:animEffect transition="in" filter="blinds(horizontal)">
                                      <p:cBhvr>
                                        <p:cTn id="12" dur="500"/>
                                        <p:tgtEl>
                                          <p:spTgt spid="23040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0402">
                                            <p:txEl>
                                              <p:pRg st="0" end="0"/>
                                            </p:txEl>
                                          </p:spTgt>
                                        </p:tgtEl>
                                        <p:attrNameLst>
                                          <p:attrName>style.visibility</p:attrName>
                                        </p:attrNameLst>
                                      </p:cBhvr>
                                      <p:to>
                                        <p:strVal val="visible"/>
                                      </p:to>
                                    </p:set>
                                    <p:animEffect transition="in" filter="blinds(horizontal)">
                                      <p:cBhvr>
                                        <p:cTn id="17" dur="500"/>
                                        <p:tgtEl>
                                          <p:spTgt spid="23040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0402">
                                            <p:txEl>
                                              <p:pRg st="1" end="1"/>
                                            </p:txEl>
                                          </p:spTgt>
                                        </p:tgtEl>
                                        <p:attrNameLst>
                                          <p:attrName>style.visibility</p:attrName>
                                        </p:attrNameLst>
                                      </p:cBhvr>
                                      <p:to>
                                        <p:strVal val="visible"/>
                                      </p:to>
                                    </p:set>
                                    <p:animEffect transition="in" filter="blinds(horizontal)">
                                      <p:cBhvr>
                                        <p:cTn id="22" dur="500"/>
                                        <p:tgtEl>
                                          <p:spTgt spid="230402">
                                            <p:txEl>
                                              <p:pRg st="1" end="1"/>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30402">
                                            <p:txEl>
                                              <p:pRg st="2" end="2"/>
                                            </p:txEl>
                                          </p:spTgt>
                                        </p:tgtEl>
                                        <p:attrNameLst>
                                          <p:attrName>style.visibility</p:attrName>
                                        </p:attrNameLst>
                                      </p:cBhvr>
                                      <p:to>
                                        <p:strVal val="visible"/>
                                      </p:to>
                                    </p:set>
                                    <p:animEffect transition="in" filter="blinds(horizontal)">
                                      <p:cBhvr>
                                        <p:cTn id="25" dur="500"/>
                                        <p:tgtEl>
                                          <p:spTgt spid="230402">
                                            <p:txEl>
                                              <p:pRg st="2" end="2"/>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30402">
                                            <p:txEl>
                                              <p:pRg st="3" end="3"/>
                                            </p:txEl>
                                          </p:spTgt>
                                        </p:tgtEl>
                                        <p:attrNameLst>
                                          <p:attrName>style.visibility</p:attrName>
                                        </p:attrNameLst>
                                      </p:cBhvr>
                                      <p:to>
                                        <p:strVal val="visible"/>
                                      </p:to>
                                    </p:set>
                                    <p:animEffect transition="in" filter="blinds(horizontal)">
                                      <p:cBhvr>
                                        <p:cTn id="28" dur="500"/>
                                        <p:tgtEl>
                                          <p:spTgt spid="23040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ext Box 2"/>
          <p:cNvSpPr txBox="1"/>
          <p:nvPr/>
        </p:nvSpPr>
        <p:spPr>
          <a:xfrm>
            <a:off x="228600" y="152400"/>
            <a:ext cx="5181600" cy="706438"/>
          </a:xfrm>
          <a:prstGeom prst="rect">
            <a:avLst/>
          </a:prstGeom>
          <a:noFill/>
          <a:ln w="9525">
            <a:noFill/>
          </a:ln>
        </p:spPr>
        <p:txBody>
          <a:bodyPr anchor="t" anchorCtr="0">
            <a:spAutoFit/>
          </a:bodyPr>
          <a:lstStyle/>
          <a:p>
            <a:pPr>
              <a:spcBef>
                <a:spcPct val="50000"/>
              </a:spcBef>
              <a:buClrTx/>
              <a:buFontTx/>
            </a:pPr>
            <a:r>
              <a:rPr lang="zh-CN" altLang="en-US" sz="4000" b="1" dirty="0">
                <a:latin typeface="Arial" panose="020B0604020202020204" pitchFamily="34" charset="0"/>
                <a:ea typeface="宋体" panose="02010600030101010101" pitchFamily="2" charset="-122"/>
              </a:rPr>
              <a:t>二、多总线结构</a:t>
            </a:r>
            <a:r>
              <a:rPr lang="zh-CN" altLang="en-US" dirty="0">
                <a:latin typeface="Arial" panose="020B0604020202020204" pitchFamily="34" charset="0"/>
                <a:ea typeface="宋体" panose="02010600030101010101" pitchFamily="2" charset="-122"/>
              </a:rPr>
              <a:t> </a:t>
            </a:r>
          </a:p>
        </p:txBody>
      </p:sp>
      <p:sp>
        <p:nvSpPr>
          <p:cNvPr id="231427" name="Text Box 3"/>
          <p:cNvSpPr txBox="1"/>
          <p:nvPr/>
        </p:nvSpPr>
        <p:spPr>
          <a:xfrm>
            <a:off x="228600" y="914400"/>
            <a:ext cx="8610600" cy="830263"/>
          </a:xfrm>
          <a:prstGeom prst="rect">
            <a:avLst/>
          </a:prstGeom>
          <a:noFill/>
          <a:ln w="9525">
            <a:noFill/>
          </a:ln>
        </p:spPr>
        <p:txBody>
          <a:bodyPr anchor="t" anchorCtr="0">
            <a:spAutoFit/>
          </a:bodyPr>
          <a:lstStyle/>
          <a:p>
            <a:pPr>
              <a:spcBef>
                <a:spcPct val="50000"/>
              </a:spcBef>
              <a:buClrTx/>
              <a:buFontTx/>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采用多种速率不同的总线，将工作速度相差较大的设备挂在不同的总线上，低速总线作为高速总线的一个设备工作。</a:t>
            </a:r>
          </a:p>
        </p:txBody>
      </p:sp>
      <p:sp>
        <p:nvSpPr>
          <p:cNvPr id="231428" name="Text Box 4"/>
          <p:cNvSpPr txBox="1"/>
          <p:nvPr/>
        </p:nvSpPr>
        <p:spPr>
          <a:xfrm>
            <a:off x="304800" y="1752600"/>
            <a:ext cx="5029200" cy="644525"/>
          </a:xfrm>
          <a:prstGeom prst="rect">
            <a:avLst/>
          </a:prstGeom>
          <a:noFill/>
          <a:ln w="9525">
            <a:noFill/>
          </a:ln>
        </p:spPr>
        <p:txBody>
          <a:bodyPr anchor="t" anchorCtr="0">
            <a:spAutoFit/>
          </a:bodyPr>
          <a:lstStyle/>
          <a:p>
            <a:pPr>
              <a:spcBef>
                <a:spcPct val="50000"/>
              </a:spcBef>
              <a:buClrTx/>
              <a:buFontTx/>
            </a:pPr>
            <a:r>
              <a:rPr lang="en-US" altLang="zh-CN" sz="3600" b="1" dirty="0">
                <a:latin typeface="Arial" panose="020B0604020202020204" pitchFamily="34" charset="0"/>
                <a:ea typeface="宋体" panose="02010600030101010101" pitchFamily="2" charset="-122"/>
              </a:rPr>
              <a:t>1</a:t>
            </a:r>
            <a:r>
              <a:rPr lang="zh-CN" altLang="en-US" sz="3600" b="1" dirty="0">
                <a:latin typeface="Arial" panose="020B0604020202020204" pitchFamily="34" charset="0"/>
                <a:ea typeface="宋体" panose="02010600030101010101" pitchFamily="2" charset="-122"/>
              </a:rPr>
              <a:t>、双总线结构</a:t>
            </a:r>
            <a:r>
              <a:rPr lang="zh-CN" altLang="en-US" dirty="0">
                <a:latin typeface="Arial" panose="020B0604020202020204" pitchFamily="34" charset="0"/>
                <a:ea typeface="宋体" panose="02010600030101010101" pitchFamily="2" charset="-122"/>
              </a:rPr>
              <a:t> </a:t>
            </a:r>
          </a:p>
        </p:txBody>
      </p:sp>
      <p:sp>
        <p:nvSpPr>
          <p:cNvPr id="231429" name="AutoShape 5"/>
          <p:cNvSpPr/>
          <p:nvPr/>
        </p:nvSpPr>
        <p:spPr>
          <a:xfrm>
            <a:off x="717550" y="4835525"/>
            <a:ext cx="2874963" cy="782638"/>
          </a:xfrm>
          <a:prstGeom prst="wedgeRoundRectCallout">
            <a:avLst>
              <a:gd name="adj1" fmla="val 74162"/>
              <a:gd name="adj2" fmla="val -167083"/>
              <a:gd name="adj3" fmla="val 16667"/>
            </a:avLst>
          </a:prstGeom>
          <a:noFill/>
          <a:ln w="28575" cap="flat" cmpd="sng">
            <a:solidFill>
              <a:schemeClr val="tx1"/>
            </a:solidFill>
            <a:prstDash val="solid"/>
            <a:miter/>
            <a:headEnd type="none" w="med" len="med"/>
            <a:tailEnd type="none" w="med" len="med"/>
          </a:ln>
        </p:spPr>
        <p:txBody>
          <a:bodyPr wrap="none" anchor="t" anchorCtr="0">
            <a:spAutoFit/>
          </a:bodyPr>
          <a:lstStyle/>
          <a:p>
            <a:pPr>
              <a:buClrTx/>
              <a:buFontTx/>
            </a:pPr>
            <a:r>
              <a:rPr lang="zh-CN" altLang="en-US" sz="2000" b="1" dirty="0">
                <a:latin typeface="Times New Roman" panose="02020603050405020304" pitchFamily="18" charset="0"/>
                <a:ea typeface="宋体" panose="02010600030101010101" pitchFamily="2" charset="-122"/>
              </a:rPr>
              <a:t>具有特殊功能的处理 器</a:t>
            </a:r>
          </a:p>
          <a:p>
            <a:pPr>
              <a:buClrTx/>
              <a:buFontTx/>
            </a:pPr>
            <a:r>
              <a:rPr lang="zh-CN" altLang="en-US" sz="2000" b="1" dirty="0">
                <a:latin typeface="Times New Roman" panose="02020603050405020304" pitchFamily="18" charset="0"/>
                <a:ea typeface="宋体" panose="02010600030101010101" pitchFamily="2" charset="-122"/>
              </a:rPr>
              <a:t>由通道对</a:t>
            </a:r>
            <a:r>
              <a:rPr lang="en-US" altLang="zh-CN" sz="2000" b="1" dirty="0">
                <a:latin typeface="Times New Roman" panose="02020603050405020304" pitchFamily="18" charset="0"/>
                <a:ea typeface="宋体" panose="02010600030101010101" pitchFamily="2" charset="-122"/>
              </a:rPr>
              <a:t>I/O</a:t>
            </a:r>
            <a:r>
              <a:rPr lang="zh-CN" altLang="en-US" sz="2000" b="1" dirty="0">
                <a:latin typeface="Times New Roman" panose="02020603050405020304" pitchFamily="18" charset="0"/>
                <a:ea typeface="宋体" panose="02010600030101010101" pitchFamily="2" charset="-122"/>
              </a:rPr>
              <a:t>统一管理</a:t>
            </a:r>
          </a:p>
        </p:txBody>
      </p:sp>
      <p:grpSp>
        <p:nvGrpSpPr>
          <p:cNvPr id="231430" name="Group 6"/>
          <p:cNvGrpSpPr/>
          <p:nvPr/>
        </p:nvGrpSpPr>
        <p:grpSpPr>
          <a:xfrm>
            <a:off x="4335463" y="2836863"/>
            <a:ext cx="1379537" cy="1525587"/>
            <a:chOff x="2731" y="1631"/>
            <a:chExt cx="869" cy="961"/>
          </a:xfrm>
        </p:grpSpPr>
        <p:sp>
          <p:nvSpPr>
            <p:cNvPr id="49158" name="Rectangle 7"/>
            <p:cNvSpPr/>
            <p:nvPr/>
          </p:nvSpPr>
          <p:spPr>
            <a:xfrm>
              <a:off x="2974" y="1978"/>
              <a:ext cx="483" cy="230"/>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通 道</a:t>
              </a:r>
              <a:endParaRPr lang="zh-CN" altLang="en-US" sz="2400" b="1" dirty="0">
                <a:latin typeface="Times New Roman" panose="02020603050405020304" pitchFamily="18" charset="0"/>
                <a:ea typeface="宋体" panose="02010600030101010101" pitchFamily="2" charset="-122"/>
              </a:endParaRPr>
            </a:p>
          </p:txBody>
        </p:sp>
        <p:sp>
          <p:nvSpPr>
            <p:cNvPr id="49159" name="Freeform 8"/>
            <p:cNvSpPr/>
            <p:nvPr/>
          </p:nvSpPr>
          <p:spPr>
            <a:xfrm>
              <a:off x="3094" y="1631"/>
              <a:ext cx="142" cy="289"/>
            </a:xfrm>
            <a:custGeom>
              <a:avLst/>
              <a:gdLst/>
              <a:ahLst/>
              <a:cxnLst>
                <a:cxn ang="0">
                  <a:pos x="69" y="0"/>
                </a:cxn>
                <a:cxn ang="0">
                  <a:pos x="142" y="55"/>
                </a:cxn>
                <a:cxn ang="0">
                  <a:pos x="107" y="55"/>
                </a:cxn>
                <a:cxn ang="0">
                  <a:pos x="107" y="230"/>
                </a:cxn>
                <a:cxn ang="0">
                  <a:pos x="142" y="230"/>
                </a:cxn>
                <a:cxn ang="0">
                  <a:pos x="69" y="289"/>
                </a:cxn>
                <a:cxn ang="0">
                  <a:pos x="0" y="230"/>
                </a:cxn>
                <a:cxn ang="0">
                  <a:pos x="34" y="230"/>
                </a:cxn>
                <a:cxn ang="0">
                  <a:pos x="34" y="55"/>
                </a:cxn>
                <a:cxn ang="0">
                  <a:pos x="0" y="55"/>
                </a:cxn>
                <a:cxn ang="0">
                  <a:pos x="69" y="0"/>
                </a:cxn>
              </a:cxnLst>
              <a:rect l="0" t="0" r="0" b="0"/>
              <a:pathLst>
                <a:path w="142" h="289">
                  <a:moveTo>
                    <a:pt x="69" y="0"/>
                  </a:moveTo>
                  <a:lnTo>
                    <a:pt x="142" y="55"/>
                  </a:lnTo>
                  <a:lnTo>
                    <a:pt x="107" y="55"/>
                  </a:lnTo>
                  <a:lnTo>
                    <a:pt x="107" y="230"/>
                  </a:lnTo>
                  <a:lnTo>
                    <a:pt x="142" y="230"/>
                  </a:lnTo>
                  <a:lnTo>
                    <a:pt x="69" y="289"/>
                  </a:lnTo>
                  <a:lnTo>
                    <a:pt x="0" y="230"/>
                  </a:lnTo>
                  <a:lnTo>
                    <a:pt x="34" y="230"/>
                  </a:lnTo>
                  <a:lnTo>
                    <a:pt x="34" y="55"/>
                  </a:lnTo>
                  <a:lnTo>
                    <a:pt x="0" y="55"/>
                  </a:lnTo>
                  <a:lnTo>
                    <a:pt x="69"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60" name="Freeform 9"/>
            <p:cNvSpPr/>
            <p:nvPr/>
          </p:nvSpPr>
          <p:spPr>
            <a:xfrm>
              <a:off x="3094" y="2282"/>
              <a:ext cx="142" cy="310"/>
            </a:xfrm>
            <a:custGeom>
              <a:avLst/>
              <a:gdLst/>
              <a:ahLst/>
              <a:cxnLst>
                <a:cxn ang="0">
                  <a:pos x="73" y="0"/>
                </a:cxn>
                <a:cxn ang="0">
                  <a:pos x="142" y="63"/>
                </a:cxn>
                <a:cxn ang="0">
                  <a:pos x="107" y="63"/>
                </a:cxn>
                <a:cxn ang="0">
                  <a:pos x="107" y="248"/>
                </a:cxn>
                <a:cxn ang="0">
                  <a:pos x="142" y="248"/>
                </a:cxn>
                <a:cxn ang="0">
                  <a:pos x="73" y="310"/>
                </a:cxn>
                <a:cxn ang="0">
                  <a:pos x="0" y="248"/>
                </a:cxn>
                <a:cxn ang="0">
                  <a:pos x="34" y="248"/>
                </a:cxn>
                <a:cxn ang="0">
                  <a:pos x="34" y="63"/>
                </a:cxn>
                <a:cxn ang="0">
                  <a:pos x="0" y="63"/>
                </a:cxn>
                <a:cxn ang="0">
                  <a:pos x="73" y="0"/>
                </a:cxn>
              </a:cxnLst>
              <a:rect l="0" t="0" r="0" b="0"/>
              <a:pathLst>
                <a:path w="142" h="310">
                  <a:moveTo>
                    <a:pt x="73" y="0"/>
                  </a:moveTo>
                  <a:lnTo>
                    <a:pt x="142" y="63"/>
                  </a:lnTo>
                  <a:lnTo>
                    <a:pt x="107" y="63"/>
                  </a:lnTo>
                  <a:lnTo>
                    <a:pt x="107" y="248"/>
                  </a:lnTo>
                  <a:lnTo>
                    <a:pt x="142" y="248"/>
                  </a:lnTo>
                  <a:lnTo>
                    <a:pt x="73" y="310"/>
                  </a:lnTo>
                  <a:lnTo>
                    <a:pt x="0" y="248"/>
                  </a:lnTo>
                  <a:lnTo>
                    <a:pt x="34" y="248"/>
                  </a:lnTo>
                  <a:lnTo>
                    <a:pt x="34" y="63"/>
                  </a:lnTo>
                  <a:lnTo>
                    <a:pt x="0" y="63"/>
                  </a:lnTo>
                  <a:lnTo>
                    <a:pt x="73"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61" name="Rectangle 10"/>
            <p:cNvSpPr/>
            <p:nvPr/>
          </p:nvSpPr>
          <p:spPr>
            <a:xfrm>
              <a:off x="2731" y="1920"/>
              <a:ext cx="869" cy="349"/>
            </a:xfrm>
            <a:prstGeom prst="rect">
              <a:avLst/>
            </a:prstGeom>
            <a:noFill/>
            <a:ln w="38100" cap="flat" cmpd="sng">
              <a:solidFill>
                <a:schemeClr val="tx1"/>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grpSp>
      <p:grpSp>
        <p:nvGrpSpPr>
          <p:cNvPr id="231435" name="Group 11"/>
          <p:cNvGrpSpPr/>
          <p:nvPr/>
        </p:nvGrpSpPr>
        <p:grpSpPr>
          <a:xfrm>
            <a:off x="677863" y="2838450"/>
            <a:ext cx="7348537" cy="3698875"/>
            <a:chOff x="427" y="1632"/>
            <a:chExt cx="4629" cy="2330"/>
          </a:xfrm>
        </p:grpSpPr>
        <p:grpSp>
          <p:nvGrpSpPr>
            <p:cNvPr id="49163" name="Group 12"/>
            <p:cNvGrpSpPr/>
            <p:nvPr/>
          </p:nvGrpSpPr>
          <p:grpSpPr>
            <a:xfrm>
              <a:off x="2731" y="2664"/>
              <a:ext cx="2325" cy="1298"/>
              <a:chOff x="2731" y="2664"/>
              <a:chExt cx="2325" cy="1298"/>
            </a:xfrm>
          </p:grpSpPr>
          <p:sp>
            <p:nvSpPr>
              <p:cNvPr id="49164" name="Freeform 13"/>
              <p:cNvSpPr/>
              <p:nvPr/>
            </p:nvSpPr>
            <p:spPr>
              <a:xfrm>
                <a:off x="4534" y="2664"/>
                <a:ext cx="142" cy="289"/>
              </a:xfrm>
              <a:custGeom>
                <a:avLst/>
                <a:gdLst/>
                <a:ahLst/>
                <a:cxnLst>
                  <a:cxn ang="0">
                    <a:pos x="73" y="0"/>
                  </a:cxn>
                  <a:cxn ang="0">
                    <a:pos x="142" y="59"/>
                  </a:cxn>
                  <a:cxn ang="0">
                    <a:pos x="107" y="59"/>
                  </a:cxn>
                  <a:cxn ang="0">
                    <a:pos x="107" y="230"/>
                  </a:cxn>
                  <a:cxn ang="0">
                    <a:pos x="142" y="230"/>
                  </a:cxn>
                  <a:cxn ang="0">
                    <a:pos x="73" y="289"/>
                  </a:cxn>
                  <a:cxn ang="0">
                    <a:pos x="0" y="230"/>
                  </a:cxn>
                  <a:cxn ang="0">
                    <a:pos x="34" y="230"/>
                  </a:cxn>
                  <a:cxn ang="0">
                    <a:pos x="34" y="59"/>
                  </a:cxn>
                  <a:cxn ang="0">
                    <a:pos x="0" y="59"/>
                  </a:cxn>
                  <a:cxn ang="0">
                    <a:pos x="73" y="0"/>
                  </a:cxn>
                </a:cxnLst>
                <a:rect l="0" t="0" r="0" b="0"/>
                <a:pathLst>
                  <a:path w="142" h="289">
                    <a:moveTo>
                      <a:pt x="73" y="0"/>
                    </a:moveTo>
                    <a:lnTo>
                      <a:pt x="142" y="59"/>
                    </a:lnTo>
                    <a:lnTo>
                      <a:pt x="107" y="59"/>
                    </a:lnTo>
                    <a:lnTo>
                      <a:pt x="107" y="230"/>
                    </a:lnTo>
                    <a:lnTo>
                      <a:pt x="142" y="230"/>
                    </a:lnTo>
                    <a:lnTo>
                      <a:pt x="73" y="289"/>
                    </a:lnTo>
                    <a:lnTo>
                      <a:pt x="0" y="230"/>
                    </a:lnTo>
                    <a:lnTo>
                      <a:pt x="34" y="230"/>
                    </a:lnTo>
                    <a:lnTo>
                      <a:pt x="34" y="59"/>
                    </a:lnTo>
                    <a:lnTo>
                      <a:pt x="0" y="59"/>
                    </a:lnTo>
                    <a:lnTo>
                      <a:pt x="73"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65" name="Rectangle 14"/>
              <p:cNvSpPr/>
              <p:nvPr/>
            </p:nvSpPr>
            <p:spPr>
              <a:xfrm>
                <a:off x="4171" y="3601"/>
                <a:ext cx="869" cy="349"/>
              </a:xfrm>
              <a:prstGeom prst="rect">
                <a:avLst/>
              </a:prstGeom>
              <a:noFill/>
              <a:ln w="38100" cap="flat" cmpd="sng">
                <a:solidFill>
                  <a:schemeClr val="tx1"/>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49166" name="Freeform 15"/>
              <p:cNvSpPr/>
              <p:nvPr/>
            </p:nvSpPr>
            <p:spPr>
              <a:xfrm>
                <a:off x="4534" y="3312"/>
                <a:ext cx="142" cy="289"/>
              </a:xfrm>
              <a:custGeom>
                <a:avLst/>
                <a:gdLst/>
                <a:ahLst/>
                <a:cxnLst>
                  <a:cxn ang="0">
                    <a:pos x="73" y="0"/>
                  </a:cxn>
                  <a:cxn ang="0">
                    <a:pos x="142" y="59"/>
                  </a:cxn>
                  <a:cxn ang="0">
                    <a:pos x="108" y="59"/>
                  </a:cxn>
                  <a:cxn ang="0">
                    <a:pos x="108" y="230"/>
                  </a:cxn>
                  <a:cxn ang="0">
                    <a:pos x="142" y="230"/>
                  </a:cxn>
                  <a:cxn ang="0">
                    <a:pos x="73" y="289"/>
                  </a:cxn>
                  <a:cxn ang="0">
                    <a:pos x="0" y="230"/>
                  </a:cxn>
                  <a:cxn ang="0">
                    <a:pos x="35" y="230"/>
                  </a:cxn>
                  <a:cxn ang="0">
                    <a:pos x="35" y="59"/>
                  </a:cxn>
                  <a:cxn ang="0">
                    <a:pos x="0" y="59"/>
                  </a:cxn>
                  <a:cxn ang="0">
                    <a:pos x="73" y="0"/>
                  </a:cxn>
                </a:cxnLst>
                <a:rect l="0" t="0" r="0" b="0"/>
                <a:pathLst>
                  <a:path w="142" h="289">
                    <a:moveTo>
                      <a:pt x="73" y="0"/>
                    </a:moveTo>
                    <a:lnTo>
                      <a:pt x="142" y="59"/>
                    </a:lnTo>
                    <a:lnTo>
                      <a:pt x="108" y="59"/>
                    </a:lnTo>
                    <a:lnTo>
                      <a:pt x="108" y="230"/>
                    </a:lnTo>
                    <a:lnTo>
                      <a:pt x="142" y="230"/>
                    </a:lnTo>
                    <a:lnTo>
                      <a:pt x="73" y="289"/>
                    </a:lnTo>
                    <a:lnTo>
                      <a:pt x="0" y="230"/>
                    </a:lnTo>
                    <a:lnTo>
                      <a:pt x="35" y="230"/>
                    </a:lnTo>
                    <a:lnTo>
                      <a:pt x="35" y="59"/>
                    </a:lnTo>
                    <a:lnTo>
                      <a:pt x="0" y="59"/>
                    </a:lnTo>
                    <a:lnTo>
                      <a:pt x="73"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67" name="Text Box 16"/>
              <p:cNvSpPr txBox="1"/>
              <p:nvPr/>
            </p:nvSpPr>
            <p:spPr>
              <a:xfrm>
                <a:off x="4171" y="2994"/>
                <a:ext cx="827"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 I/O</a:t>
                </a:r>
                <a:r>
                  <a:rPr lang="zh-CN" altLang="en-US" sz="2400" b="1" dirty="0">
                    <a:latin typeface="Times New Roman" panose="02020603050405020304" pitchFamily="18" charset="0"/>
                    <a:ea typeface="宋体" panose="02010600030101010101" pitchFamily="2" charset="-122"/>
                  </a:rPr>
                  <a:t>接口</a:t>
                </a:r>
              </a:p>
            </p:txBody>
          </p:sp>
          <p:sp>
            <p:nvSpPr>
              <p:cNvPr id="49168" name="Text Box 17"/>
              <p:cNvSpPr txBox="1"/>
              <p:nvPr/>
            </p:nvSpPr>
            <p:spPr>
              <a:xfrm>
                <a:off x="4239" y="3610"/>
                <a:ext cx="817" cy="327"/>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设备</a:t>
                </a:r>
                <a:r>
                  <a:rPr lang="en-US" altLang="zh-CN" sz="2400" b="1" i="1" dirty="0">
                    <a:latin typeface="Times New Roman" panose="02020603050405020304" pitchFamily="18" charset="0"/>
                    <a:ea typeface="宋体" panose="02010600030101010101" pitchFamily="2" charset="-122"/>
                  </a:rPr>
                  <a:t>n</a:t>
                </a:r>
                <a:r>
                  <a:rPr lang="en-US" altLang="zh-CN" sz="2800" b="1" dirty="0">
                    <a:latin typeface="Times New Roman" panose="02020603050405020304" pitchFamily="18" charset="0"/>
                    <a:ea typeface="宋体" panose="02010600030101010101" pitchFamily="2" charset="-122"/>
                  </a:rPr>
                  <a:t>  </a:t>
                </a:r>
              </a:p>
            </p:txBody>
          </p:sp>
          <p:sp>
            <p:nvSpPr>
              <p:cNvPr id="49169" name="Text Box 18"/>
              <p:cNvSpPr txBox="1"/>
              <p:nvPr/>
            </p:nvSpPr>
            <p:spPr>
              <a:xfrm>
                <a:off x="3724" y="3505"/>
                <a:ext cx="308"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a:t>
                </a:r>
              </a:p>
            </p:txBody>
          </p:sp>
          <p:sp>
            <p:nvSpPr>
              <p:cNvPr id="49170" name="Text Box 19"/>
              <p:cNvSpPr txBox="1"/>
              <p:nvPr/>
            </p:nvSpPr>
            <p:spPr>
              <a:xfrm>
                <a:off x="3724" y="2953"/>
                <a:ext cx="308"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a:t>
                </a:r>
              </a:p>
            </p:txBody>
          </p:sp>
          <p:sp>
            <p:nvSpPr>
              <p:cNvPr id="49171" name="Rectangle 20"/>
              <p:cNvSpPr/>
              <p:nvPr/>
            </p:nvSpPr>
            <p:spPr>
              <a:xfrm>
                <a:off x="4171" y="2953"/>
                <a:ext cx="869" cy="349"/>
              </a:xfrm>
              <a:prstGeom prst="rect">
                <a:avLst/>
              </a:prstGeom>
              <a:noFill/>
              <a:ln w="38100" cap="flat" cmpd="sng">
                <a:solidFill>
                  <a:schemeClr val="tx1"/>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49172" name="Freeform 21"/>
              <p:cNvSpPr/>
              <p:nvPr/>
            </p:nvSpPr>
            <p:spPr>
              <a:xfrm>
                <a:off x="3094" y="2665"/>
                <a:ext cx="142" cy="289"/>
              </a:xfrm>
              <a:custGeom>
                <a:avLst/>
                <a:gdLst/>
                <a:ahLst/>
                <a:cxnLst>
                  <a:cxn ang="0">
                    <a:pos x="73" y="0"/>
                  </a:cxn>
                  <a:cxn ang="0">
                    <a:pos x="142" y="59"/>
                  </a:cxn>
                  <a:cxn ang="0">
                    <a:pos x="107" y="59"/>
                  </a:cxn>
                  <a:cxn ang="0">
                    <a:pos x="107" y="230"/>
                  </a:cxn>
                  <a:cxn ang="0">
                    <a:pos x="142" y="230"/>
                  </a:cxn>
                  <a:cxn ang="0">
                    <a:pos x="73" y="289"/>
                  </a:cxn>
                  <a:cxn ang="0">
                    <a:pos x="0" y="230"/>
                  </a:cxn>
                  <a:cxn ang="0">
                    <a:pos x="34" y="230"/>
                  </a:cxn>
                  <a:cxn ang="0">
                    <a:pos x="34" y="59"/>
                  </a:cxn>
                  <a:cxn ang="0">
                    <a:pos x="0" y="59"/>
                  </a:cxn>
                  <a:cxn ang="0">
                    <a:pos x="73" y="0"/>
                  </a:cxn>
                </a:cxnLst>
                <a:rect l="0" t="0" r="0" b="0"/>
                <a:pathLst>
                  <a:path w="142" h="289">
                    <a:moveTo>
                      <a:pt x="73" y="0"/>
                    </a:moveTo>
                    <a:lnTo>
                      <a:pt x="142" y="59"/>
                    </a:lnTo>
                    <a:lnTo>
                      <a:pt x="107" y="59"/>
                    </a:lnTo>
                    <a:lnTo>
                      <a:pt x="107" y="230"/>
                    </a:lnTo>
                    <a:lnTo>
                      <a:pt x="142" y="230"/>
                    </a:lnTo>
                    <a:lnTo>
                      <a:pt x="73" y="289"/>
                    </a:lnTo>
                    <a:lnTo>
                      <a:pt x="0" y="230"/>
                    </a:lnTo>
                    <a:lnTo>
                      <a:pt x="34" y="230"/>
                    </a:lnTo>
                    <a:lnTo>
                      <a:pt x="34" y="59"/>
                    </a:lnTo>
                    <a:lnTo>
                      <a:pt x="0" y="59"/>
                    </a:lnTo>
                    <a:lnTo>
                      <a:pt x="73"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73" name="Rectangle 22"/>
              <p:cNvSpPr/>
              <p:nvPr/>
            </p:nvSpPr>
            <p:spPr>
              <a:xfrm>
                <a:off x="2731" y="3613"/>
                <a:ext cx="869" cy="349"/>
              </a:xfrm>
              <a:prstGeom prst="rect">
                <a:avLst/>
              </a:prstGeom>
              <a:noFill/>
              <a:ln w="38100" cap="flat" cmpd="sng">
                <a:solidFill>
                  <a:schemeClr val="tx1"/>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49174" name="Freeform 23"/>
              <p:cNvSpPr/>
              <p:nvPr/>
            </p:nvSpPr>
            <p:spPr>
              <a:xfrm>
                <a:off x="3094" y="3324"/>
                <a:ext cx="142" cy="289"/>
              </a:xfrm>
              <a:custGeom>
                <a:avLst/>
                <a:gdLst/>
                <a:ahLst/>
                <a:cxnLst>
                  <a:cxn ang="0">
                    <a:pos x="73" y="0"/>
                  </a:cxn>
                  <a:cxn ang="0">
                    <a:pos x="142" y="59"/>
                  </a:cxn>
                  <a:cxn ang="0">
                    <a:pos x="108" y="59"/>
                  </a:cxn>
                  <a:cxn ang="0">
                    <a:pos x="108" y="230"/>
                  </a:cxn>
                  <a:cxn ang="0">
                    <a:pos x="142" y="230"/>
                  </a:cxn>
                  <a:cxn ang="0">
                    <a:pos x="73" y="289"/>
                  </a:cxn>
                  <a:cxn ang="0">
                    <a:pos x="0" y="230"/>
                  </a:cxn>
                  <a:cxn ang="0">
                    <a:pos x="35" y="230"/>
                  </a:cxn>
                  <a:cxn ang="0">
                    <a:pos x="35" y="59"/>
                  </a:cxn>
                  <a:cxn ang="0">
                    <a:pos x="0" y="59"/>
                  </a:cxn>
                  <a:cxn ang="0">
                    <a:pos x="73" y="0"/>
                  </a:cxn>
                </a:cxnLst>
                <a:rect l="0" t="0" r="0" b="0"/>
                <a:pathLst>
                  <a:path w="142" h="289">
                    <a:moveTo>
                      <a:pt x="73" y="0"/>
                    </a:moveTo>
                    <a:lnTo>
                      <a:pt x="142" y="59"/>
                    </a:lnTo>
                    <a:lnTo>
                      <a:pt x="108" y="59"/>
                    </a:lnTo>
                    <a:lnTo>
                      <a:pt x="108" y="230"/>
                    </a:lnTo>
                    <a:lnTo>
                      <a:pt x="142" y="230"/>
                    </a:lnTo>
                    <a:lnTo>
                      <a:pt x="73" y="289"/>
                    </a:lnTo>
                    <a:lnTo>
                      <a:pt x="0" y="230"/>
                    </a:lnTo>
                    <a:lnTo>
                      <a:pt x="35" y="230"/>
                    </a:lnTo>
                    <a:lnTo>
                      <a:pt x="35" y="59"/>
                    </a:lnTo>
                    <a:lnTo>
                      <a:pt x="0" y="59"/>
                    </a:lnTo>
                    <a:lnTo>
                      <a:pt x="73"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75" name="Text Box 24"/>
              <p:cNvSpPr txBox="1"/>
              <p:nvPr/>
            </p:nvSpPr>
            <p:spPr>
              <a:xfrm>
                <a:off x="2731" y="3011"/>
                <a:ext cx="827" cy="28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 I/O</a:t>
                </a:r>
                <a:r>
                  <a:rPr lang="zh-CN" altLang="en-US" sz="2400" b="1" dirty="0">
                    <a:latin typeface="Times New Roman" panose="02020603050405020304" pitchFamily="18" charset="0"/>
                    <a:ea typeface="宋体" panose="02010600030101010101" pitchFamily="2" charset="-122"/>
                  </a:rPr>
                  <a:t>接口</a:t>
                </a:r>
              </a:p>
            </p:txBody>
          </p:sp>
          <p:sp>
            <p:nvSpPr>
              <p:cNvPr id="49176" name="Text Box 25"/>
              <p:cNvSpPr txBox="1"/>
              <p:nvPr/>
            </p:nvSpPr>
            <p:spPr>
              <a:xfrm>
                <a:off x="2832" y="3622"/>
                <a:ext cx="758" cy="327"/>
              </a:xfrm>
              <a:prstGeom prst="rect">
                <a:avLst/>
              </a:prstGeom>
              <a:noFill/>
              <a:ln w="38100">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设备</a:t>
                </a:r>
                <a:r>
                  <a:rPr lang="en-US" altLang="zh-CN" sz="2400" b="1" dirty="0">
                    <a:latin typeface="Times New Roman" panose="02020603050405020304" pitchFamily="18" charset="0"/>
                    <a:ea typeface="宋体" panose="02010600030101010101" pitchFamily="2" charset="-122"/>
                  </a:rPr>
                  <a:t>0</a:t>
                </a:r>
                <a:r>
                  <a:rPr lang="en-US" altLang="zh-CN" sz="2800" b="1" dirty="0">
                    <a:latin typeface="Times New Roman" panose="02020603050405020304" pitchFamily="18" charset="0"/>
                    <a:ea typeface="宋体" panose="02010600030101010101" pitchFamily="2" charset="-122"/>
                  </a:rPr>
                  <a:t>  </a:t>
                </a:r>
              </a:p>
            </p:txBody>
          </p:sp>
          <p:sp>
            <p:nvSpPr>
              <p:cNvPr id="49177" name="Rectangle 26"/>
              <p:cNvSpPr/>
              <p:nvPr/>
            </p:nvSpPr>
            <p:spPr>
              <a:xfrm>
                <a:off x="2731" y="2970"/>
                <a:ext cx="869" cy="349"/>
              </a:xfrm>
              <a:prstGeom prst="rect">
                <a:avLst/>
              </a:prstGeom>
              <a:noFill/>
              <a:ln w="38100" cap="flat" cmpd="sng">
                <a:solidFill>
                  <a:schemeClr val="tx1"/>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grpSp>
        <p:grpSp>
          <p:nvGrpSpPr>
            <p:cNvPr id="49178" name="Group 27"/>
            <p:cNvGrpSpPr/>
            <p:nvPr/>
          </p:nvGrpSpPr>
          <p:grpSpPr>
            <a:xfrm>
              <a:off x="427" y="1632"/>
              <a:ext cx="2021" cy="637"/>
              <a:chOff x="427" y="1632"/>
              <a:chExt cx="2021" cy="637"/>
            </a:xfrm>
          </p:grpSpPr>
          <p:sp>
            <p:nvSpPr>
              <p:cNvPr id="49179" name="Rectangle 28"/>
              <p:cNvSpPr/>
              <p:nvPr/>
            </p:nvSpPr>
            <p:spPr>
              <a:xfrm>
                <a:off x="672" y="1978"/>
                <a:ext cx="395" cy="230"/>
              </a:xfrm>
              <a:prstGeom prst="rect">
                <a:avLst/>
              </a:prstGeom>
              <a:noFill/>
              <a:ln w="38100">
                <a:noFill/>
              </a:ln>
            </p:spPr>
            <p:txBody>
              <a:bodyPr wrap="none"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CPU</a:t>
                </a:r>
              </a:p>
            </p:txBody>
          </p:sp>
          <p:sp>
            <p:nvSpPr>
              <p:cNvPr id="49180" name="Freeform 29"/>
              <p:cNvSpPr/>
              <p:nvPr/>
            </p:nvSpPr>
            <p:spPr>
              <a:xfrm>
                <a:off x="791" y="1632"/>
                <a:ext cx="142" cy="289"/>
              </a:xfrm>
              <a:custGeom>
                <a:avLst/>
                <a:gdLst/>
                <a:ahLst/>
                <a:cxnLst>
                  <a:cxn ang="0">
                    <a:pos x="73" y="0"/>
                  </a:cxn>
                  <a:cxn ang="0">
                    <a:pos x="142" y="55"/>
                  </a:cxn>
                  <a:cxn ang="0">
                    <a:pos x="107" y="55"/>
                  </a:cxn>
                  <a:cxn ang="0">
                    <a:pos x="107" y="230"/>
                  </a:cxn>
                  <a:cxn ang="0">
                    <a:pos x="142" y="230"/>
                  </a:cxn>
                  <a:cxn ang="0">
                    <a:pos x="73" y="289"/>
                  </a:cxn>
                  <a:cxn ang="0">
                    <a:pos x="0" y="230"/>
                  </a:cxn>
                  <a:cxn ang="0">
                    <a:pos x="34" y="230"/>
                  </a:cxn>
                  <a:cxn ang="0">
                    <a:pos x="34" y="55"/>
                  </a:cxn>
                  <a:cxn ang="0">
                    <a:pos x="0" y="55"/>
                  </a:cxn>
                  <a:cxn ang="0">
                    <a:pos x="73" y="0"/>
                  </a:cxn>
                </a:cxnLst>
                <a:rect l="0" t="0" r="0" b="0"/>
                <a:pathLst>
                  <a:path w="142" h="289">
                    <a:moveTo>
                      <a:pt x="73" y="0"/>
                    </a:moveTo>
                    <a:lnTo>
                      <a:pt x="142" y="55"/>
                    </a:lnTo>
                    <a:lnTo>
                      <a:pt x="107" y="55"/>
                    </a:lnTo>
                    <a:lnTo>
                      <a:pt x="107" y="230"/>
                    </a:lnTo>
                    <a:lnTo>
                      <a:pt x="142" y="230"/>
                    </a:lnTo>
                    <a:lnTo>
                      <a:pt x="73" y="289"/>
                    </a:lnTo>
                    <a:lnTo>
                      <a:pt x="0" y="230"/>
                    </a:lnTo>
                    <a:lnTo>
                      <a:pt x="34" y="230"/>
                    </a:lnTo>
                    <a:lnTo>
                      <a:pt x="34" y="55"/>
                    </a:lnTo>
                    <a:lnTo>
                      <a:pt x="0" y="55"/>
                    </a:lnTo>
                    <a:lnTo>
                      <a:pt x="73"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81" name="Rectangle 30"/>
              <p:cNvSpPr/>
              <p:nvPr/>
            </p:nvSpPr>
            <p:spPr>
              <a:xfrm>
                <a:off x="1822" y="1978"/>
                <a:ext cx="483" cy="230"/>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主 存</a:t>
                </a:r>
                <a:endParaRPr lang="zh-CN" altLang="en-US" sz="2400" b="1" dirty="0">
                  <a:latin typeface="Times New Roman" panose="02020603050405020304" pitchFamily="18" charset="0"/>
                  <a:ea typeface="宋体" panose="02010600030101010101" pitchFamily="2" charset="-122"/>
                </a:endParaRPr>
              </a:p>
            </p:txBody>
          </p:sp>
          <p:sp>
            <p:nvSpPr>
              <p:cNvPr id="49182" name="Freeform 31"/>
              <p:cNvSpPr/>
              <p:nvPr/>
            </p:nvSpPr>
            <p:spPr>
              <a:xfrm>
                <a:off x="1941" y="1632"/>
                <a:ext cx="146" cy="289"/>
              </a:xfrm>
              <a:custGeom>
                <a:avLst/>
                <a:gdLst/>
                <a:ahLst/>
                <a:cxnLst>
                  <a:cxn ang="0">
                    <a:pos x="73" y="0"/>
                  </a:cxn>
                  <a:cxn ang="0">
                    <a:pos x="146" y="55"/>
                  </a:cxn>
                  <a:cxn ang="0">
                    <a:pos x="108" y="55"/>
                  </a:cxn>
                  <a:cxn ang="0">
                    <a:pos x="108" y="230"/>
                  </a:cxn>
                  <a:cxn ang="0">
                    <a:pos x="146" y="230"/>
                  </a:cxn>
                  <a:cxn ang="0">
                    <a:pos x="73" y="289"/>
                  </a:cxn>
                  <a:cxn ang="0">
                    <a:pos x="0" y="230"/>
                  </a:cxn>
                  <a:cxn ang="0">
                    <a:pos x="39" y="230"/>
                  </a:cxn>
                  <a:cxn ang="0">
                    <a:pos x="39" y="55"/>
                  </a:cxn>
                  <a:cxn ang="0">
                    <a:pos x="0" y="55"/>
                  </a:cxn>
                  <a:cxn ang="0">
                    <a:pos x="73" y="0"/>
                  </a:cxn>
                </a:cxnLst>
                <a:rect l="0" t="0" r="0" b="0"/>
                <a:pathLst>
                  <a:path w="146" h="289">
                    <a:moveTo>
                      <a:pt x="73" y="0"/>
                    </a:moveTo>
                    <a:lnTo>
                      <a:pt x="146" y="55"/>
                    </a:lnTo>
                    <a:lnTo>
                      <a:pt x="108" y="55"/>
                    </a:lnTo>
                    <a:lnTo>
                      <a:pt x="108" y="230"/>
                    </a:lnTo>
                    <a:lnTo>
                      <a:pt x="146" y="230"/>
                    </a:lnTo>
                    <a:lnTo>
                      <a:pt x="73" y="289"/>
                    </a:lnTo>
                    <a:lnTo>
                      <a:pt x="0" y="230"/>
                    </a:lnTo>
                    <a:lnTo>
                      <a:pt x="39" y="230"/>
                    </a:lnTo>
                    <a:lnTo>
                      <a:pt x="39" y="55"/>
                    </a:lnTo>
                    <a:lnTo>
                      <a:pt x="0" y="55"/>
                    </a:lnTo>
                    <a:lnTo>
                      <a:pt x="73" y="0"/>
                    </a:lnTo>
                    <a:close/>
                  </a:path>
                </a:pathLst>
              </a:custGeom>
              <a:solidFill>
                <a:srgbClr val="33CCCC"/>
              </a:solidFill>
              <a:ln w="28575" cap="flat" cmpd="sng">
                <a:solidFill>
                  <a:schemeClr val="tx1"/>
                </a:solidFill>
                <a:prstDash val="solid"/>
                <a:round/>
                <a:headEnd type="none" w="med" len="med"/>
                <a:tailEnd type="none" w="med" len="med"/>
              </a:ln>
            </p:spPr>
            <p:txBody>
              <a:bodyPr/>
              <a:lstStyle/>
              <a:p>
                <a:endParaRPr lang="zh-CN" altLang="en-US"/>
              </a:p>
            </p:txBody>
          </p:sp>
          <p:sp>
            <p:nvSpPr>
              <p:cNvPr id="49183" name="Rectangle 32"/>
              <p:cNvSpPr/>
              <p:nvPr/>
            </p:nvSpPr>
            <p:spPr>
              <a:xfrm>
                <a:off x="1579" y="1920"/>
                <a:ext cx="869" cy="349"/>
              </a:xfrm>
              <a:prstGeom prst="rect">
                <a:avLst/>
              </a:prstGeom>
              <a:noFill/>
              <a:ln w="38100" cap="flat" cmpd="sng">
                <a:solidFill>
                  <a:schemeClr val="tx1"/>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49184" name="Rectangle 33"/>
              <p:cNvSpPr/>
              <p:nvPr/>
            </p:nvSpPr>
            <p:spPr>
              <a:xfrm>
                <a:off x="427" y="1920"/>
                <a:ext cx="869" cy="349"/>
              </a:xfrm>
              <a:prstGeom prst="rect">
                <a:avLst/>
              </a:prstGeom>
              <a:noFill/>
              <a:ln w="38100" cap="flat" cmpd="sng">
                <a:solidFill>
                  <a:schemeClr val="tx1"/>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grpSp>
      </p:grpSp>
      <p:grpSp>
        <p:nvGrpSpPr>
          <p:cNvPr id="231458" name="Group 34"/>
          <p:cNvGrpSpPr/>
          <p:nvPr/>
        </p:nvGrpSpPr>
        <p:grpSpPr>
          <a:xfrm>
            <a:off x="533400" y="2209800"/>
            <a:ext cx="8610600" cy="2305050"/>
            <a:chOff x="336" y="1236"/>
            <a:chExt cx="5424" cy="1452"/>
          </a:xfrm>
        </p:grpSpPr>
        <p:sp>
          <p:nvSpPr>
            <p:cNvPr id="49186" name="Rectangle 35"/>
            <p:cNvSpPr/>
            <p:nvPr/>
          </p:nvSpPr>
          <p:spPr>
            <a:xfrm>
              <a:off x="2598" y="1236"/>
              <a:ext cx="1530" cy="269"/>
            </a:xfrm>
            <a:prstGeom prst="rect">
              <a:avLst/>
            </a:prstGeom>
            <a:noFill/>
            <a:ln w="9525">
              <a:noFill/>
            </a:ln>
          </p:spPr>
          <p:txBody>
            <a:bodyPr lIns="0" tIns="0" rIns="0" bIns="0" anchor="t" anchorCtr="0">
              <a:spAutoFit/>
            </a:bodyPr>
            <a:lstStyle/>
            <a:p>
              <a:pPr>
                <a:buClrTx/>
                <a:buFontTx/>
              </a:pPr>
              <a:r>
                <a:rPr lang="zh-CN" altLang="en-US" sz="2800" b="1" dirty="0">
                  <a:latin typeface="宋体" panose="02010600030101010101" pitchFamily="2" charset="-122"/>
                  <a:ea typeface="宋体" panose="02010600030101010101" pitchFamily="2" charset="-122"/>
                </a:rPr>
                <a:t>主存总线</a:t>
              </a:r>
              <a:endParaRPr lang="zh-CN" altLang="en-US" sz="2800" b="1" dirty="0">
                <a:latin typeface="Times New Roman" panose="02020603050405020304" pitchFamily="18" charset="0"/>
                <a:ea typeface="宋体" panose="02010600030101010101" pitchFamily="2" charset="-122"/>
              </a:endParaRPr>
            </a:p>
          </p:txBody>
        </p:sp>
        <p:sp>
          <p:nvSpPr>
            <p:cNvPr id="49187" name="Rectangle 36"/>
            <p:cNvSpPr/>
            <p:nvPr/>
          </p:nvSpPr>
          <p:spPr>
            <a:xfrm>
              <a:off x="4024" y="2395"/>
              <a:ext cx="676" cy="216"/>
            </a:xfrm>
            <a:prstGeom prst="rect">
              <a:avLst/>
            </a:prstGeom>
            <a:noFill/>
            <a:ln w="9525">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49188" name="Rectangle 37"/>
            <p:cNvSpPr/>
            <p:nvPr/>
          </p:nvSpPr>
          <p:spPr>
            <a:xfrm>
              <a:off x="3622" y="2304"/>
              <a:ext cx="1274" cy="269"/>
            </a:xfrm>
            <a:prstGeom prst="rect">
              <a:avLst/>
            </a:prstGeom>
            <a:noFill/>
            <a:ln w="9525">
              <a:noFill/>
            </a:ln>
          </p:spPr>
          <p:txBody>
            <a:bodyPr lIns="0" tIns="0" rIns="0" bIns="0" anchor="t" anchorCtr="0">
              <a:spAutoFit/>
            </a:bodyPr>
            <a:lstStyle/>
            <a:p>
              <a:pPr>
                <a:buClrTx/>
                <a:buFontTx/>
              </a:pPr>
              <a:r>
                <a:rPr lang="en-US" altLang="zh-CN" sz="2800" b="1" dirty="0">
                  <a:latin typeface="Times New Roman" panose="02020603050405020304" pitchFamily="18" charset="0"/>
                  <a:ea typeface="宋体" panose="02010600030101010101" pitchFamily="2" charset="-122"/>
                </a:rPr>
                <a:t>I/O</a:t>
              </a:r>
              <a:r>
                <a:rPr lang="zh-CN" altLang="en-US" sz="2800" b="1" dirty="0">
                  <a:latin typeface="Times New Roman" panose="02020603050405020304" pitchFamily="18" charset="0"/>
                  <a:ea typeface="宋体" panose="02010600030101010101" pitchFamily="2" charset="-122"/>
                </a:rPr>
                <a:t>总线</a:t>
              </a:r>
            </a:p>
          </p:txBody>
        </p:sp>
        <p:sp>
          <p:nvSpPr>
            <p:cNvPr id="49189" name="AutoShape 38"/>
            <p:cNvSpPr/>
            <p:nvPr/>
          </p:nvSpPr>
          <p:spPr>
            <a:xfrm>
              <a:off x="336" y="1500"/>
              <a:ext cx="5424" cy="156"/>
            </a:xfrm>
            <a:prstGeom prst="leftRightArrow">
              <a:avLst>
                <a:gd name="adj1" fmla="val 45833"/>
                <a:gd name="adj2" fmla="val 191230"/>
              </a:avLst>
            </a:prstGeom>
            <a:gradFill rotWithShape="1">
              <a:gsLst>
                <a:gs pos="0">
                  <a:srgbClr val="14CD68"/>
                </a:gs>
                <a:gs pos="100000">
                  <a:srgbClr val="0B6E38"/>
                </a:gs>
              </a:gsLst>
              <a:lin ang="5400000"/>
              <a:tileRect/>
            </a:gra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49190" name="AutoShape 39"/>
            <p:cNvSpPr/>
            <p:nvPr/>
          </p:nvSpPr>
          <p:spPr>
            <a:xfrm>
              <a:off x="2448" y="2532"/>
              <a:ext cx="3120" cy="156"/>
            </a:xfrm>
            <a:prstGeom prst="leftRightArrow">
              <a:avLst>
                <a:gd name="adj1" fmla="val 50000"/>
                <a:gd name="adj2" fmla="val 180740"/>
              </a:avLst>
            </a:prstGeom>
            <a:gradFill rotWithShape="1">
              <a:gsLst>
                <a:gs pos="0">
                  <a:srgbClr val="14CD68"/>
                </a:gs>
                <a:gs pos="100000">
                  <a:srgbClr val="035C7D"/>
                </a:gs>
              </a:gsLst>
              <a:lin ang="5400000"/>
              <a:tileRect/>
            </a:gradFill>
            <a:ln w="9525"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1426"/>
                                        </p:tgtEl>
                                        <p:attrNameLst>
                                          <p:attrName>style.visibility</p:attrName>
                                        </p:attrNameLst>
                                      </p:cBhvr>
                                      <p:to>
                                        <p:strVal val="visible"/>
                                      </p:to>
                                    </p:set>
                                    <p:animEffect transition="in" filter="blinds(horizontal)">
                                      <p:cBhvr>
                                        <p:cTn id="7" dur="500"/>
                                        <p:tgtEl>
                                          <p:spTgt spid="2314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1427"/>
                                        </p:tgtEl>
                                        <p:attrNameLst>
                                          <p:attrName>style.visibility</p:attrName>
                                        </p:attrNameLst>
                                      </p:cBhvr>
                                      <p:to>
                                        <p:strVal val="visible"/>
                                      </p:to>
                                    </p:set>
                                    <p:animEffect transition="in" filter="blinds(horizontal)">
                                      <p:cBhvr>
                                        <p:cTn id="12" dur="500"/>
                                        <p:tgtEl>
                                          <p:spTgt spid="23142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1428"/>
                                        </p:tgtEl>
                                        <p:attrNameLst>
                                          <p:attrName>style.visibility</p:attrName>
                                        </p:attrNameLst>
                                      </p:cBhvr>
                                      <p:to>
                                        <p:strVal val="visible"/>
                                      </p:to>
                                    </p:set>
                                    <p:animEffect transition="in" filter="blinds(horizontal)">
                                      <p:cBhvr>
                                        <p:cTn id="17" dur="500"/>
                                        <p:tgtEl>
                                          <p:spTgt spid="23142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1430"/>
                                        </p:tgtEl>
                                        <p:attrNameLst>
                                          <p:attrName>style.visibility</p:attrName>
                                        </p:attrNameLst>
                                      </p:cBhvr>
                                      <p:to>
                                        <p:strVal val="visible"/>
                                      </p:to>
                                    </p:set>
                                    <p:animEffect transition="in" filter="blinds(horizontal)">
                                      <p:cBhvr>
                                        <p:cTn id="22" dur="500"/>
                                        <p:tgtEl>
                                          <p:spTgt spid="231430"/>
                                        </p:tgtEl>
                                      </p:cBhvr>
                                    </p:animEffect>
                                  </p:childTnLst>
                                </p:cTn>
                              </p:par>
                              <p:par>
                                <p:cTn id="23" presetID="3" presetClass="entr" presetSubtype="10" fill="hold" nodeType="withEffect">
                                  <p:stCondLst>
                                    <p:cond delay="0"/>
                                  </p:stCondLst>
                                  <p:childTnLst>
                                    <p:set>
                                      <p:cBhvr>
                                        <p:cTn id="24" dur="1" fill="hold">
                                          <p:stCondLst>
                                            <p:cond delay="0"/>
                                          </p:stCondLst>
                                        </p:cTn>
                                        <p:tgtEl>
                                          <p:spTgt spid="231458"/>
                                        </p:tgtEl>
                                        <p:attrNameLst>
                                          <p:attrName>style.visibility</p:attrName>
                                        </p:attrNameLst>
                                      </p:cBhvr>
                                      <p:to>
                                        <p:strVal val="visible"/>
                                      </p:to>
                                    </p:set>
                                    <p:animEffect transition="in" filter="blinds(horizontal)">
                                      <p:cBhvr>
                                        <p:cTn id="25" dur="500"/>
                                        <p:tgtEl>
                                          <p:spTgt spid="231458"/>
                                        </p:tgtEl>
                                      </p:cBhvr>
                                    </p:animEffect>
                                  </p:childTnLst>
                                </p:cTn>
                              </p:par>
                              <p:par>
                                <p:cTn id="26" presetID="3" presetClass="entr" presetSubtype="10" fill="hold" nodeType="withEffect">
                                  <p:stCondLst>
                                    <p:cond delay="0"/>
                                  </p:stCondLst>
                                  <p:childTnLst>
                                    <p:set>
                                      <p:cBhvr>
                                        <p:cTn id="27" dur="1" fill="hold">
                                          <p:stCondLst>
                                            <p:cond delay="0"/>
                                          </p:stCondLst>
                                        </p:cTn>
                                        <p:tgtEl>
                                          <p:spTgt spid="231435"/>
                                        </p:tgtEl>
                                        <p:attrNameLst>
                                          <p:attrName>style.visibility</p:attrName>
                                        </p:attrNameLst>
                                      </p:cBhvr>
                                      <p:to>
                                        <p:strVal val="visible"/>
                                      </p:to>
                                    </p:set>
                                    <p:animEffect transition="in" filter="blinds(horizontal)">
                                      <p:cBhvr>
                                        <p:cTn id="28" dur="500"/>
                                        <p:tgtEl>
                                          <p:spTgt spid="23143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31429"/>
                                        </p:tgtEl>
                                        <p:attrNameLst>
                                          <p:attrName>style.visibility</p:attrName>
                                        </p:attrNameLst>
                                      </p:cBhvr>
                                      <p:to>
                                        <p:strVal val="visible"/>
                                      </p:to>
                                    </p:set>
                                    <p:animEffect transition="in" filter="blinds(horizontal)">
                                      <p:cBhvr>
                                        <p:cTn id="33" dur="500"/>
                                        <p:tgtEl>
                                          <p:spTgt spid="231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p:bldP spid="231427" grpId="0"/>
      <p:bldP spid="231428" grpId="0"/>
      <p:bldP spid="231429"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2451" name="Group 3"/>
          <p:cNvGrpSpPr/>
          <p:nvPr/>
        </p:nvGrpSpPr>
        <p:grpSpPr>
          <a:xfrm>
            <a:off x="152400" y="2362200"/>
            <a:ext cx="8723313" cy="3729038"/>
            <a:chOff x="97" y="1296"/>
            <a:chExt cx="5495" cy="2349"/>
          </a:xfrm>
        </p:grpSpPr>
        <p:sp>
          <p:nvSpPr>
            <p:cNvPr id="50178" name="Freeform 4"/>
            <p:cNvSpPr/>
            <p:nvPr/>
          </p:nvSpPr>
          <p:spPr>
            <a:xfrm>
              <a:off x="2867" y="2513"/>
              <a:ext cx="109" cy="348"/>
            </a:xfrm>
            <a:custGeom>
              <a:avLst/>
              <a:gdLst/>
              <a:ahLst/>
              <a:cxnLst>
                <a:cxn ang="0">
                  <a:pos x="0" y="172"/>
                </a:cxn>
                <a:cxn ang="0">
                  <a:pos x="3" y="172"/>
                </a:cxn>
                <a:cxn ang="0">
                  <a:pos x="3" y="0"/>
                </a:cxn>
                <a:cxn ang="0">
                  <a:pos x="14" y="0"/>
                </a:cxn>
                <a:cxn ang="0">
                  <a:pos x="14" y="172"/>
                </a:cxn>
                <a:cxn ang="0">
                  <a:pos x="17" y="172"/>
                </a:cxn>
                <a:cxn ang="0">
                  <a:pos x="9" y="196"/>
                </a:cxn>
                <a:cxn ang="0">
                  <a:pos x="0" y="172"/>
                </a:cxn>
              </a:cxnLst>
              <a:rect l="0" t="0" r="0" b="0"/>
              <a:pathLst>
                <a:path w="276" h="464">
                  <a:moveTo>
                    <a:pt x="0" y="406"/>
                  </a:moveTo>
                  <a:lnTo>
                    <a:pt x="51" y="406"/>
                  </a:lnTo>
                  <a:lnTo>
                    <a:pt x="51" y="0"/>
                  </a:lnTo>
                  <a:lnTo>
                    <a:pt x="225" y="0"/>
                  </a:lnTo>
                  <a:lnTo>
                    <a:pt x="225" y="406"/>
                  </a:lnTo>
                  <a:lnTo>
                    <a:pt x="276" y="406"/>
                  </a:lnTo>
                  <a:lnTo>
                    <a:pt x="138" y="464"/>
                  </a:lnTo>
                  <a:lnTo>
                    <a:pt x="0" y="406"/>
                  </a:lnTo>
                  <a:close/>
                </a:path>
              </a:pathLst>
            </a:custGeom>
            <a:solidFill>
              <a:schemeClr val="folHlink"/>
            </a:solidFill>
            <a:ln w="19050" cap="flat" cmpd="sng">
              <a:solidFill>
                <a:schemeClr val="folHlink"/>
              </a:solidFill>
              <a:prstDash val="solid"/>
              <a:round/>
              <a:headEnd type="none" w="med" len="med"/>
              <a:tailEnd type="none" w="med" len="med"/>
            </a:ln>
          </p:spPr>
          <p:txBody>
            <a:bodyPr/>
            <a:lstStyle/>
            <a:p>
              <a:endParaRPr lang="zh-CN" altLang="en-US"/>
            </a:p>
          </p:txBody>
        </p:sp>
        <p:sp>
          <p:nvSpPr>
            <p:cNvPr id="50179" name="Rectangle 5"/>
            <p:cNvSpPr/>
            <p:nvPr/>
          </p:nvSpPr>
          <p:spPr>
            <a:xfrm>
              <a:off x="4512" y="1809"/>
              <a:ext cx="1080" cy="298"/>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0180" name="Rectangle 6"/>
            <p:cNvSpPr/>
            <p:nvPr/>
          </p:nvSpPr>
          <p:spPr>
            <a:xfrm>
              <a:off x="4763" y="1843"/>
              <a:ext cx="579" cy="230"/>
            </a:xfrm>
            <a:prstGeom prst="rect">
              <a:avLst/>
            </a:prstGeom>
            <a:noFill/>
            <a:ln w="9525">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存储器</a:t>
              </a:r>
              <a:endParaRPr lang="zh-CN" altLang="en-US" sz="2400" b="1" dirty="0">
                <a:latin typeface="Times New Roman" panose="02020603050405020304" pitchFamily="18" charset="0"/>
                <a:ea typeface="宋体" panose="02010600030101010101" pitchFamily="2" charset="-122"/>
              </a:endParaRPr>
            </a:p>
          </p:txBody>
        </p:sp>
        <p:sp>
          <p:nvSpPr>
            <p:cNvPr id="50181" name="Rectangle 7"/>
            <p:cNvSpPr/>
            <p:nvPr/>
          </p:nvSpPr>
          <p:spPr>
            <a:xfrm>
              <a:off x="97" y="2683"/>
              <a:ext cx="708" cy="543"/>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0182" name="Rectangle 8"/>
            <p:cNvSpPr/>
            <p:nvPr/>
          </p:nvSpPr>
          <p:spPr>
            <a:xfrm>
              <a:off x="138" y="2724"/>
              <a:ext cx="626" cy="460"/>
            </a:xfrm>
            <a:prstGeom prst="rect">
              <a:avLst/>
            </a:prstGeom>
            <a:noFill/>
            <a:ln w="9525">
              <a:noFill/>
            </a:ln>
          </p:spPr>
          <p:txBody>
            <a:bodyPr wrap="none"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SCSI II</a:t>
              </a:r>
            </a:p>
            <a:p>
              <a:pPr>
                <a:buClrTx/>
                <a:buFontTx/>
              </a:pPr>
              <a:r>
                <a:rPr lang="zh-CN" altLang="en-US" sz="2400" b="1" dirty="0">
                  <a:latin typeface="宋体" panose="02010600030101010101" pitchFamily="2" charset="-122"/>
                  <a:ea typeface="宋体" panose="02010600030101010101" pitchFamily="2" charset="-122"/>
                </a:rPr>
                <a:t>控制器</a:t>
              </a:r>
            </a:p>
          </p:txBody>
        </p:sp>
        <p:sp>
          <p:nvSpPr>
            <p:cNvPr id="50183" name="Freeform 9"/>
            <p:cNvSpPr/>
            <p:nvPr/>
          </p:nvSpPr>
          <p:spPr>
            <a:xfrm>
              <a:off x="2867" y="1640"/>
              <a:ext cx="96" cy="576"/>
            </a:xfrm>
            <a:custGeom>
              <a:avLst/>
              <a:gdLst/>
              <a:ahLst/>
              <a:cxnLst>
                <a:cxn ang="0">
                  <a:pos x="0" y="777"/>
                </a:cxn>
                <a:cxn ang="0">
                  <a:pos x="2" y="777"/>
                </a:cxn>
                <a:cxn ang="0">
                  <a:pos x="2" y="0"/>
                </a:cxn>
                <a:cxn ang="0">
                  <a:pos x="9" y="0"/>
                </a:cxn>
                <a:cxn ang="0">
                  <a:pos x="9" y="777"/>
                </a:cxn>
                <a:cxn ang="0">
                  <a:pos x="11" y="777"/>
                </a:cxn>
                <a:cxn ang="0">
                  <a:pos x="6" y="888"/>
                </a:cxn>
                <a:cxn ang="0">
                  <a:pos x="0" y="777"/>
                </a:cxn>
              </a:cxnLst>
              <a:rect l="0" t="0" r="0" b="0"/>
              <a:pathLst>
                <a:path w="276" h="464">
                  <a:moveTo>
                    <a:pt x="0" y="406"/>
                  </a:moveTo>
                  <a:lnTo>
                    <a:pt x="51" y="406"/>
                  </a:lnTo>
                  <a:lnTo>
                    <a:pt x="51" y="0"/>
                  </a:lnTo>
                  <a:lnTo>
                    <a:pt x="225" y="0"/>
                  </a:lnTo>
                  <a:lnTo>
                    <a:pt x="225" y="406"/>
                  </a:lnTo>
                  <a:lnTo>
                    <a:pt x="276" y="406"/>
                  </a:lnTo>
                  <a:lnTo>
                    <a:pt x="138" y="464"/>
                  </a:lnTo>
                  <a:lnTo>
                    <a:pt x="0" y="406"/>
                  </a:lnTo>
                  <a:close/>
                </a:path>
              </a:pathLst>
            </a:custGeom>
            <a:solidFill>
              <a:schemeClr val="folHlink"/>
            </a:solidFill>
            <a:ln w="19050" cap="flat" cmpd="sng">
              <a:solidFill>
                <a:schemeClr val="folHlink"/>
              </a:solidFill>
              <a:prstDash val="solid"/>
              <a:round/>
              <a:headEnd type="none" w="med" len="med"/>
              <a:tailEnd type="none" w="med" len="med"/>
            </a:ln>
          </p:spPr>
          <p:txBody>
            <a:bodyPr/>
            <a:lstStyle/>
            <a:p>
              <a:endParaRPr lang="zh-CN" altLang="en-US"/>
            </a:p>
          </p:txBody>
        </p:sp>
        <p:sp>
          <p:nvSpPr>
            <p:cNvPr id="50184" name="Freeform 10"/>
            <p:cNvSpPr/>
            <p:nvPr/>
          </p:nvSpPr>
          <p:spPr>
            <a:xfrm>
              <a:off x="864" y="1579"/>
              <a:ext cx="3648" cy="118"/>
            </a:xfrm>
            <a:custGeom>
              <a:avLst/>
              <a:gdLst/>
              <a:ahLst/>
              <a:cxnLst>
                <a:cxn ang="0">
                  <a:pos x="0" y="6"/>
                </a:cxn>
                <a:cxn ang="0">
                  <a:pos x="137" y="12"/>
                </a:cxn>
                <a:cxn ang="0">
                  <a:pos x="137" y="9"/>
                </a:cxn>
                <a:cxn ang="0">
                  <a:pos x="4664" y="9"/>
                </a:cxn>
                <a:cxn ang="0">
                  <a:pos x="4664" y="12"/>
                </a:cxn>
                <a:cxn ang="0">
                  <a:pos x="4801" y="6"/>
                </a:cxn>
                <a:cxn ang="0">
                  <a:pos x="4664" y="0"/>
                </a:cxn>
                <a:cxn ang="0">
                  <a:pos x="4664" y="3"/>
                </a:cxn>
                <a:cxn ang="0">
                  <a:pos x="137" y="3"/>
                </a:cxn>
                <a:cxn ang="0">
                  <a:pos x="137" y="0"/>
                </a:cxn>
                <a:cxn ang="0">
                  <a:pos x="0" y="6"/>
                </a:cxn>
              </a:cxnLst>
              <a:rect l="0" t="0" r="0" b="0"/>
              <a:pathLst>
                <a:path w="3180" h="365">
                  <a:moveTo>
                    <a:pt x="0" y="182"/>
                  </a:moveTo>
                  <a:lnTo>
                    <a:pt x="91" y="365"/>
                  </a:lnTo>
                  <a:lnTo>
                    <a:pt x="91" y="282"/>
                  </a:lnTo>
                  <a:lnTo>
                    <a:pt x="3089" y="282"/>
                  </a:lnTo>
                  <a:lnTo>
                    <a:pt x="3089" y="365"/>
                  </a:lnTo>
                  <a:lnTo>
                    <a:pt x="3180" y="182"/>
                  </a:lnTo>
                  <a:lnTo>
                    <a:pt x="3089" y="0"/>
                  </a:lnTo>
                  <a:lnTo>
                    <a:pt x="3089" y="83"/>
                  </a:lnTo>
                  <a:lnTo>
                    <a:pt x="91" y="83"/>
                  </a:lnTo>
                  <a:lnTo>
                    <a:pt x="91" y="0"/>
                  </a:lnTo>
                  <a:lnTo>
                    <a:pt x="0" y="182"/>
                  </a:lnTo>
                  <a:close/>
                </a:path>
              </a:pathLst>
            </a:custGeom>
            <a:solidFill>
              <a:schemeClr val="folHlink"/>
            </a:solidFill>
            <a:ln w="19050" cap="flat" cmpd="sng">
              <a:solidFill>
                <a:schemeClr val="folHlink"/>
              </a:solidFill>
              <a:prstDash val="solid"/>
              <a:round/>
              <a:headEnd type="none" w="med" len="med"/>
              <a:tailEnd type="none" w="med" len="med"/>
            </a:ln>
          </p:spPr>
          <p:txBody>
            <a:bodyPr/>
            <a:lstStyle/>
            <a:p>
              <a:endParaRPr lang="zh-CN" altLang="en-US"/>
            </a:p>
          </p:txBody>
        </p:sp>
        <p:sp>
          <p:nvSpPr>
            <p:cNvPr id="50185" name="Freeform 11"/>
            <p:cNvSpPr/>
            <p:nvPr/>
          </p:nvSpPr>
          <p:spPr>
            <a:xfrm>
              <a:off x="816" y="2827"/>
              <a:ext cx="4752" cy="118"/>
            </a:xfrm>
            <a:custGeom>
              <a:avLst/>
              <a:gdLst/>
              <a:ahLst/>
              <a:cxnLst>
                <a:cxn ang="0">
                  <a:pos x="0" y="7"/>
                </a:cxn>
                <a:cxn ang="0">
                  <a:pos x="134" y="14"/>
                </a:cxn>
                <a:cxn ang="0">
                  <a:pos x="134" y="11"/>
                </a:cxn>
                <a:cxn ang="0">
                  <a:pos x="6206" y="11"/>
                </a:cxn>
                <a:cxn ang="0">
                  <a:pos x="6206" y="14"/>
                </a:cxn>
                <a:cxn ang="0">
                  <a:pos x="6340" y="7"/>
                </a:cxn>
                <a:cxn ang="0">
                  <a:pos x="6206" y="0"/>
                </a:cxn>
                <a:cxn ang="0">
                  <a:pos x="6206" y="3"/>
                </a:cxn>
                <a:cxn ang="0">
                  <a:pos x="134" y="3"/>
                </a:cxn>
                <a:cxn ang="0">
                  <a:pos x="134" y="0"/>
                </a:cxn>
                <a:cxn ang="0">
                  <a:pos x="0" y="7"/>
                </a:cxn>
              </a:cxnLst>
              <a:rect l="0" t="0" r="0" b="0"/>
              <a:pathLst>
                <a:path w="4114" h="344">
                  <a:moveTo>
                    <a:pt x="0" y="174"/>
                  </a:moveTo>
                  <a:lnTo>
                    <a:pt x="87" y="344"/>
                  </a:lnTo>
                  <a:lnTo>
                    <a:pt x="87" y="261"/>
                  </a:lnTo>
                  <a:lnTo>
                    <a:pt x="4027" y="261"/>
                  </a:lnTo>
                  <a:lnTo>
                    <a:pt x="4027" y="344"/>
                  </a:lnTo>
                  <a:lnTo>
                    <a:pt x="4114" y="174"/>
                  </a:lnTo>
                  <a:lnTo>
                    <a:pt x="4027" y="0"/>
                  </a:lnTo>
                  <a:lnTo>
                    <a:pt x="4027" y="83"/>
                  </a:lnTo>
                  <a:lnTo>
                    <a:pt x="87" y="83"/>
                  </a:lnTo>
                  <a:lnTo>
                    <a:pt x="87" y="0"/>
                  </a:lnTo>
                  <a:lnTo>
                    <a:pt x="0" y="174"/>
                  </a:lnTo>
                  <a:close/>
                </a:path>
              </a:pathLst>
            </a:custGeom>
            <a:solidFill>
              <a:schemeClr val="folHlink"/>
            </a:solidFill>
            <a:ln w="19050" cap="flat" cmpd="sng">
              <a:solidFill>
                <a:schemeClr val="folHlink"/>
              </a:solidFill>
              <a:prstDash val="solid"/>
              <a:round/>
              <a:headEnd type="none" w="med" len="med"/>
              <a:tailEnd type="none" w="med" len="med"/>
            </a:ln>
          </p:spPr>
          <p:txBody>
            <a:bodyPr/>
            <a:lstStyle/>
            <a:p>
              <a:endParaRPr lang="zh-CN" altLang="en-US"/>
            </a:p>
          </p:txBody>
        </p:sp>
        <p:sp>
          <p:nvSpPr>
            <p:cNvPr id="50186" name="Rectangle 12"/>
            <p:cNvSpPr/>
            <p:nvPr/>
          </p:nvSpPr>
          <p:spPr>
            <a:xfrm>
              <a:off x="4512" y="1514"/>
              <a:ext cx="1080" cy="299"/>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0187" name="Rectangle 13"/>
            <p:cNvSpPr/>
            <p:nvPr/>
          </p:nvSpPr>
          <p:spPr>
            <a:xfrm>
              <a:off x="4569" y="1549"/>
              <a:ext cx="965" cy="230"/>
            </a:xfrm>
            <a:prstGeom prst="rect">
              <a:avLst/>
            </a:prstGeom>
            <a:noFill/>
            <a:ln w="9525">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主存控制器</a:t>
              </a:r>
              <a:endParaRPr lang="zh-CN" altLang="en-US" sz="2400" b="1" dirty="0">
                <a:latin typeface="Times New Roman" panose="02020603050405020304" pitchFamily="18" charset="0"/>
                <a:ea typeface="宋体" panose="02010600030101010101" pitchFamily="2" charset="-122"/>
              </a:endParaRPr>
            </a:p>
          </p:txBody>
        </p:sp>
        <p:sp>
          <p:nvSpPr>
            <p:cNvPr id="50188" name="Rectangle 14"/>
            <p:cNvSpPr/>
            <p:nvPr/>
          </p:nvSpPr>
          <p:spPr>
            <a:xfrm>
              <a:off x="3456" y="2592"/>
              <a:ext cx="953" cy="269"/>
            </a:xfrm>
            <a:prstGeom prst="rect">
              <a:avLst/>
            </a:prstGeom>
            <a:noFill/>
            <a:ln w="9525">
              <a:noFill/>
            </a:ln>
          </p:spPr>
          <p:txBody>
            <a:bodyPr wrap="none" lIns="0" tIns="0" rIns="0" bIns="0" anchor="t" anchorCtr="0">
              <a:spAutoFit/>
            </a:bodyPr>
            <a:lstStyle/>
            <a:p>
              <a:pPr>
                <a:buClrTx/>
                <a:buFontTx/>
              </a:pPr>
              <a:r>
                <a:rPr lang="en-US" altLang="zh-CN" sz="2800" b="1" dirty="0">
                  <a:solidFill>
                    <a:srgbClr val="FF0000"/>
                  </a:solidFill>
                  <a:latin typeface="Times New Roman" panose="02020603050405020304" pitchFamily="18" charset="0"/>
                  <a:ea typeface="宋体" panose="02010600030101010101" pitchFamily="2" charset="-122"/>
                </a:rPr>
                <a:t>ISA EISA</a:t>
              </a:r>
            </a:p>
          </p:txBody>
        </p:sp>
        <p:sp>
          <p:nvSpPr>
            <p:cNvPr id="50189" name="Rectangle 15"/>
            <p:cNvSpPr/>
            <p:nvPr/>
          </p:nvSpPr>
          <p:spPr>
            <a:xfrm>
              <a:off x="2404" y="2805"/>
              <a:ext cx="1167" cy="174"/>
            </a:xfrm>
            <a:prstGeom prst="rect">
              <a:avLst/>
            </a:prstGeom>
            <a:noFill/>
            <a:ln w="9525">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0190" name="Rectangle 16"/>
            <p:cNvSpPr/>
            <p:nvPr/>
          </p:nvSpPr>
          <p:spPr>
            <a:xfrm>
              <a:off x="1008" y="2640"/>
              <a:ext cx="1432" cy="192"/>
            </a:xfrm>
            <a:prstGeom prst="rect">
              <a:avLst/>
            </a:prstGeom>
            <a:noFill/>
            <a:ln w="9525">
              <a:noFill/>
            </a:ln>
          </p:spPr>
          <p:txBody>
            <a:bodyPr wrap="none" lIns="0" tIns="0" rIns="0" bIns="0" anchor="t" anchorCtr="0">
              <a:spAutoFit/>
            </a:bodyPr>
            <a:lstStyle/>
            <a:p>
              <a:pPr>
                <a:buClrTx/>
                <a:buFontTx/>
              </a:pPr>
              <a:r>
                <a:rPr lang="en-US" altLang="zh-CN" sz="2000" b="1" dirty="0">
                  <a:latin typeface="Times New Roman" panose="02020603050405020304" pitchFamily="18" charset="0"/>
                  <a:ea typeface="宋体" panose="02010600030101010101" pitchFamily="2" charset="-122"/>
                </a:rPr>
                <a:t>8 MHz1</a:t>
              </a:r>
              <a:r>
                <a:rPr lang="en-US" altLang="zh-CN" sz="2000" b="1" dirty="0">
                  <a:latin typeface="宋体" panose="02010600030101010101" pitchFamily="2" charset="-122"/>
                  <a:ea typeface="宋体" panose="02010600030101010101" pitchFamily="2" charset="-122"/>
                </a:rPr>
                <a:t>6</a:t>
              </a:r>
              <a:r>
                <a:rPr lang="zh-CN" altLang="en-US" sz="2000" b="1" dirty="0">
                  <a:latin typeface="宋体" panose="02010600030101010101" pitchFamily="2" charset="-122"/>
                  <a:ea typeface="宋体" panose="02010600030101010101" pitchFamily="2" charset="-122"/>
                </a:rPr>
                <a:t>位数据通路</a:t>
              </a:r>
            </a:p>
          </p:txBody>
        </p:sp>
        <p:sp>
          <p:nvSpPr>
            <p:cNvPr id="50191" name="Rectangle 17"/>
            <p:cNvSpPr/>
            <p:nvPr/>
          </p:nvSpPr>
          <p:spPr>
            <a:xfrm>
              <a:off x="2064" y="2221"/>
              <a:ext cx="1723" cy="29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0192" name="Rectangle 18"/>
            <p:cNvSpPr/>
            <p:nvPr/>
          </p:nvSpPr>
          <p:spPr>
            <a:xfrm>
              <a:off x="2256" y="2246"/>
              <a:ext cx="1351" cy="230"/>
            </a:xfrm>
            <a:prstGeom prst="rect">
              <a:avLst/>
            </a:prstGeom>
            <a:noFill/>
            <a:ln w="9525">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标准总线控制器</a:t>
              </a:r>
              <a:endParaRPr lang="zh-CN" altLang="en-US" sz="2400" b="1" dirty="0">
                <a:latin typeface="Times New Roman" panose="02020603050405020304" pitchFamily="18" charset="0"/>
                <a:ea typeface="宋体" panose="02010600030101010101" pitchFamily="2" charset="-122"/>
              </a:endParaRPr>
            </a:p>
          </p:txBody>
        </p:sp>
        <p:sp>
          <p:nvSpPr>
            <p:cNvPr id="50193" name="Rectangle 19"/>
            <p:cNvSpPr/>
            <p:nvPr/>
          </p:nvSpPr>
          <p:spPr>
            <a:xfrm>
              <a:off x="1104" y="1392"/>
              <a:ext cx="1513" cy="192"/>
            </a:xfrm>
            <a:prstGeom prst="rect">
              <a:avLst/>
            </a:prstGeom>
            <a:noFill/>
            <a:ln w="9525">
              <a:noFill/>
            </a:ln>
          </p:spPr>
          <p:txBody>
            <a:bodyPr wrap="none" lIns="0" tIns="0" rIns="0" bIns="0" anchor="t" anchorCtr="0">
              <a:spAutoFit/>
            </a:bodyPr>
            <a:lstStyle/>
            <a:p>
              <a:pPr>
                <a:buClrTx/>
                <a:buFontTx/>
              </a:pPr>
              <a:r>
                <a:rPr lang="en-US" altLang="zh-CN" sz="2000" b="1" dirty="0">
                  <a:latin typeface="Times New Roman" panose="02020603050405020304" pitchFamily="18" charset="0"/>
                  <a:ea typeface="宋体" panose="02010600030101010101" pitchFamily="2" charset="-122"/>
                </a:rPr>
                <a:t>33 MHz</a:t>
              </a:r>
              <a:r>
                <a:rPr lang="en-US" altLang="zh-CN" sz="2000" b="1" dirty="0">
                  <a:latin typeface="宋体" panose="02010600030101010101" pitchFamily="2" charset="-122"/>
                  <a:ea typeface="宋体" panose="02010600030101010101" pitchFamily="2" charset="-122"/>
                </a:rPr>
                <a:t>32</a:t>
              </a:r>
              <a:r>
                <a:rPr lang="zh-CN" altLang="en-US" sz="2000" b="1" dirty="0">
                  <a:latin typeface="宋体" panose="02010600030101010101" pitchFamily="2" charset="-122"/>
                  <a:ea typeface="宋体" panose="02010600030101010101" pitchFamily="2" charset="-122"/>
                </a:rPr>
                <a:t>位数据通路</a:t>
              </a:r>
            </a:p>
          </p:txBody>
        </p:sp>
        <p:sp>
          <p:nvSpPr>
            <p:cNvPr id="50194" name="Rectangle 20"/>
            <p:cNvSpPr/>
            <p:nvPr/>
          </p:nvSpPr>
          <p:spPr>
            <a:xfrm>
              <a:off x="2625" y="1296"/>
              <a:ext cx="669" cy="232"/>
            </a:xfrm>
            <a:prstGeom prst="rect">
              <a:avLst/>
            </a:prstGeom>
            <a:noFill/>
            <a:ln w="9525">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0195" name="Rectangle 21"/>
            <p:cNvSpPr/>
            <p:nvPr/>
          </p:nvSpPr>
          <p:spPr>
            <a:xfrm>
              <a:off x="3120" y="1296"/>
              <a:ext cx="1008" cy="269"/>
            </a:xfrm>
            <a:prstGeom prst="rect">
              <a:avLst/>
            </a:prstGeom>
            <a:noFill/>
            <a:ln w="9525">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系统总线</a:t>
              </a:r>
              <a:r>
                <a:rPr lang="zh-CN" altLang="en-US" sz="2800" b="1" dirty="0">
                  <a:solidFill>
                    <a:schemeClr val="folHlink"/>
                  </a:solidFill>
                  <a:latin typeface="宋体" panose="02010600030101010101" pitchFamily="2" charset="-122"/>
                  <a:ea typeface="宋体" panose="02010600030101010101" pitchFamily="2" charset="-122"/>
                </a:rPr>
                <a:t> </a:t>
              </a:r>
              <a:endParaRPr lang="zh-CN" altLang="en-US" sz="2800" b="1" dirty="0">
                <a:solidFill>
                  <a:schemeClr val="folHlink"/>
                </a:solidFill>
                <a:latin typeface="Times New Roman" panose="02020603050405020304" pitchFamily="18" charset="0"/>
                <a:ea typeface="宋体" panose="02010600030101010101" pitchFamily="2" charset="-122"/>
              </a:endParaRPr>
            </a:p>
          </p:txBody>
        </p:sp>
        <p:sp>
          <p:nvSpPr>
            <p:cNvPr id="50196" name="Freeform 22"/>
            <p:cNvSpPr/>
            <p:nvPr/>
          </p:nvSpPr>
          <p:spPr>
            <a:xfrm>
              <a:off x="4497" y="2922"/>
              <a:ext cx="159" cy="411"/>
            </a:xfrm>
            <a:custGeom>
              <a:avLst/>
              <a:gdLst/>
              <a:ahLst/>
              <a:cxnLst>
                <a:cxn ang="0">
                  <a:pos x="77" y="0"/>
                </a:cxn>
                <a:cxn ang="0">
                  <a:pos x="159" y="82"/>
                </a:cxn>
                <a:cxn ang="0">
                  <a:pos x="120" y="82"/>
                </a:cxn>
                <a:cxn ang="0">
                  <a:pos x="120" y="329"/>
                </a:cxn>
                <a:cxn ang="0">
                  <a:pos x="159" y="329"/>
                </a:cxn>
                <a:cxn ang="0">
                  <a:pos x="77" y="411"/>
                </a:cxn>
                <a:cxn ang="0">
                  <a:pos x="0" y="329"/>
                </a:cxn>
                <a:cxn ang="0">
                  <a:pos x="39" y="329"/>
                </a:cxn>
                <a:cxn ang="0">
                  <a:pos x="39" y="82"/>
                </a:cxn>
                <a:cxn ang="0">
                  <a:pos x="0" y="82"/>
                </a:cxn>
                <a:cxn ang="0">
                  <a:pos x="77" y="0"/>
                </a:cxn>
              </a:cxnLst>
              <a:rect l="0" t="0" r="0" b="0"/>
              <a:pathLst>
                <a:path w="159" h="411">
                  <a:moveTo>
                    <a:pt x="77" y="0"/>
                  </a:moveTo>
                  <a:lnTo>
                    <a:pt x="159" y="82"/>
                  </a:lnTo>
                  <a:lnTo>
                    <a:pt x="120" y="82"/>
                  </a:lnTo>
                  <a:lnTo>
                    <a:pt x="120" y="329"/>
                  </a:lnTo>
                  <a:lnTo>
                    <a:pt x="159" y="329"/>
                  </a:lnTo>
                  <a:lnTo>
                    <a:pt x="77" y="411"/>
                  </a:lnTo>
                  <a:lnTo>
                    <a:pt x="0" y="329"/>
                  </a:lnTo>
                  <a:lnTo>
                    <a:pt x="39" y="329"/>
                  </a:lnTo>
                  <a:lnTo>
                    <a:pt x="39" y="82"/>
                  </a:lnTo>
                  <a:lnTo>
                    <a:pt x="0" y="82"/>
                  </a:lnTo>
                  <a:lnTo>
                    <a:pt x="77"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0197" name="Rectangle 23"/>
            <p:cNvSpPr/>
            <p:nvPr/>
          </p:nvSpPr>
          <p:spPr>
            <a:xfrm>
              <a:off x="4032" y="3331"/>
              <a:ext cx="1114" cy="31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zh-CN" altLang="en-US" sz="2400" b="1" dirty="0">
                  <a:latin typeface="Times New Roman" panose="02020603050405020304" pitchFamily="18" charset="0"/>
                  <a:ea typeface="宋体" panose="02010600030101010101" pitchFamily="2" charset="-122"/>
                </a:rPr>
                <a:t>调制解调器</a:t>
              </a:r>
            </a:p>
          </p:txBody>
        </p:sp>
        <p:sp>
          <p:nvSpPr>
            <p:cNvPr id="50198" name="Rectangle 24"/>
            <p:cNvSpPr/>
            <p:nvPr/>
          </p:nvSpPr>
          <p:spPr>
            <a:xfrm>
              <a:off x="816" y="3331"/>
              <a:ext cx="736" cy="31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zh-CN" altLang="en-US" sz="2400" b="1" dirty="0">
                  <a:latin typeface="Times New Roman" panose="02020603050405020304" pitchFamily="18" charset="0"/>
                  <a:ea typeface="宋体" panose="02010600030101010101" pitchFamily="2" charset="-122"/>
                </a:rPr>
                <a:t>多媒体</a:t>
              </a:r>
            </a:p>
          </p:txBody>
        </p:sp>
        <p:sp>
          <p:nvSpPr>
            <p:cNvPr id="50199" name="Freeform 25"/>
            <p:cNvSpPr/>
            <p:nvPr/>
          </p:nvSpPr>
          <p:spPr>
            <a:xfrm>
              <a:off x="3312" y="2927"/>
              <a:ext cx="163" cy="396"/>
            </a:xfrm>
            <a:custGeom>
              <a:avLst/>
              <a:gdLst/>
              <a:ahLst/>
              <a:cxnLst>
                <a:cxn ang="0">
                  <a:pos x="82" y="0"/>
                </a:cxn>
                <a:cxn ang="0">
                  <a:pos x="163" y="78"/>
                </a:cxn>
                <a:cxn ang="0">
                  <a:pos x="121" y="78"/>
                </a:cxn>
                <a:cxn ang="0">
                  <a:pos x="121" y="318"/>
                </a:cxn>
                <a:cxn ang="0">
                  <a:pos x="163" y="318"/>
                </a:cxn>
                <a:cxn ang="0">
                  <a:pos x="82" y="396"/>
                </a:cxn>
                <a:cxn ang="0">
                  <a:pos x="0" y="318"/>
                </a:cxn>
                <a:cxn ang="0">
                  <a:pos x="43" y="318"/>
                </a:cxn>
                <a:cxn ang="0">
                  <a:pos x="43" y="78"/>
                </a:cxn>
                <a:cxn ang="0">
                  <a:pos x="0" y="78"/>
                </a:cxn>
                <a:cxn ang="0">
                  <a:pos x="82" y="0"/>
                </a:cxn>
              </a:cxnLst>
              <a:rect l="0" t="0" r="0" b="0"/>
              <a:pathLst>
                <a:path w="163" h="396">
                  <a:moveTo>
                    <a:pt x="82" y="0"/>
                  </a:moveTo>
                  <a:lnTo>
                    <a:pt x="163" y="78"/>
                  </a:lnTo>
                  <a:lnTo>
                    <a:pt x="121" y="78"/>
                  </a:lnTo>
                  <a:lnTo>
                    <a:pt x="121" y="318"/>
                  </a:lnTo>
                  <a:lnTo>
                    <a:pt x="163" y="318"/>
                  </a:lnTo>
                  <a:lnTo>
                    <a:pt x="82" y="396"/>
                  </a:lnTo>
                  <a:lnTo>
                    <a:pt x="0" y="318"/>
                  </a:lnTo>
                  <a:lnTo>
                    <a:pt x="43" y="318"/>
                  </a:lnTo>
                  <a:lnTo>
                    <a:pt x="43" y="78"/>
                  </a:lnTo>
                  <a:lnTo>
                    <a:pt x="0" y="78"/>
                  </a:lnTo>
                  <a:lnTo>
                    <a:pt x="82"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0200" name="Freeform 26"/>
            <p:cNvSpPr/>
            <p:nvPr/>
          </p:nvSpPr>
          <p:spPr>
            <a:xfrm>
              <a:off x="1104" y="2927"/>
              <a:ext cx="163" cy="396"/>
            </a:xfrm>
            <a:custGeom>
              <a:avLst/>
              <a:gdLst/>
              <a:ahLst/>
              <a:cxnLst>
                <a:cxn ang="0">
                  <a:pos x="81" y="0"/>
                </a:cxn>
                <a:cxn ang="0">
                  <a:pos x="163" y="78"/>
                </a:cxn>
                <a:cxn ang="0">
                  <a:pos x="120" y="78"/>
                </a:cxn>
                <a:cxn ang="0">
                  <a:pos x="120" y="318"/>
                </a:cxn>
                <a:cxn ang="0">
                  <a:pos x="163" y="318"/>
                </a:cxn>
                <a:cxn ang="0">
                  <a:pos x="81" y="396"/>
                </a:cxn>
                <a:cxn ang="0">
                  <a:pos x="0" y="318"/>
                </a:cxn>
                <a:cxn ang="0">
                  <a:pos x="43" y="318"/>
                </a:cxn>
                <a:cxn ang="0">
                  <a:pos x="43" y="78"/>
                </a:cxn>
                <a:cxn ang="0">
                  <a:pos x="0" y="78"/>
                </a:cxn>
                <a:cxn ang="0">
                  <a:pos x="81" y="0"/>
                </a:cxn>
              </a:cxnLst>
              <a:rect l="0" t="0" r="0" b="0"/>
              <a:pathLst>
                <a:path w="163" h="396">
                  <a:moveTo>
                    <a:pt x="81" y="0"/>
                  </a:moveTo>
                  <a:lnTo>
                    <a:pt x="163" y="78"/>
                  </a:lnTo>
                  <a:lnTo>
                    <a:pt x="120" y="78"/>
                  </a:lnTo>
                  <a:lnTo>
                    <a:pt x="120" y="318"/>
                  </a:lnTo>
                  <a:lnTo>
                    <a:pt x="163" y="318"/>
                  </a:lnTo>
                  <a:lnTo>
                    <a:pt x="81" y="396"/>
                  </a:lnTo>
                  <a:lnTo>
                    <a:pt x="0" y="318"/>
                  </a:lnTo>
                  <a:lnTo>
                    <a:pt x="43" y="318"/>
                  </a:lnTo>
                  <a:lnTo>
                    <a:pt x="43" y="78"/>
                  </a:lnTo>
                  <a:lnTo>
                    <a:pt x="0" y="78"/>
                  </a:lnTo>
                  <a:lnTo>
                    <a:pt x="81"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0201" name="Freeform 27"/>
            <p:cNvSpPr/>
            <p:nvPr/>
          </p:nvSpPr>
          <p:spPr>
            <a:xfrm>
              <a:off x="2112" y="2927"/>
              <a:ext cx="158" cy="396"/>
            </a:xfrm>
            <a:custGeom>
              <a:avLst/>
              <a:gdLst/>
              <a:ahLst/>
              <a:cxnLst>
                <a:cxn ang="0">
                  <a:pos x="81" y="0"/>
                </a:cxn>
                <a:cxn ang="0">
                  <a:pos x="158" y="78"/>
                </a:cxn>
                <a:cxn ang="0">
                  <a:pos x="120" y="78"/>
                </a:cxn>
                <a:cxn ang="0">
                  <a:pos x="120" y="318"/>
                </a:cxn>
                <a:cxn ang="0">
                  <a:pos x="158" y="318"/>
                </a:cxn>
                <a:cxn ang="0">
                  <a:pos x="81" y="396"/>
                </a:cxn>
                <a:cxn ang="0">
                  <a:pos x="0" y="318"/>
                </a:cxn>
                <a:cxn ang="0">
                  <a:pos x="38" y="318"/>
                </a:cxn>
                <a:cxn ang="0">
                  <a:pos x="38" y="78"/>
                </a:cxn>
                <a:cxn ang="0">
                  <a:pos x="0" y="78"/>
                </a:cxn>
                <a:cxn ang="0">
                  <a:pos x="81" y="0"/>
                </a:cxn>
              </a:cxnLst>
              <a:rect l="0" t="0" r="0" b="0"/>
              <a:pathLst>
                <a:path w="158" h="396">
                  <a:moveTo>
                    <a:pt x="81" y="0"/>
                  </a:moveTo>
                  <a:lnTo>
                    <a:pt x="158" y="78"/>
                  </a:lnTo>
                  <a:lnTo>
                    <a:pt x="120" y="78"/>
                  </a:lnTo>
                  <a:lnTo>
                    <a:pt x="120" y="318"/>
                  </a:lnTo>
                  <a:lnTo>
                    <a:pt x="158" y="318"/>
                  </a:lnTo>
                  <a:lnTo>
                    <a:pt x="81" y="396"/>
                  </a:lnTo>
                  <a:lnTo>
                    <a:pt x="0" y="318"/>
                  </a:lnTo>
                  <a:lnTo>
                    <a:pt x="38" y="318"/>
                  </a:lnTo>
                  <a:lnTo>
                    <a:pt x="38" y="78"/>
                  </a:lnTo>
                  <a:lnTo>
                    <a:pt x="0" y="78"/>
                  </a:lnTo>
                  <a:lnTo>
                    <a:pt x="81"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0202" name="Rectangle 28"/>
            <p:cNvSpPr/>
            <p:nvPr/>
          </p:nvSpPr>
          <p:spPr>
            <a:xfrm>
              <a:off x="1625" y="3331"/>
              <a:ext cx="1127" cy="31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zh-CN" altLang="en-US" sz="2400" b="1" dirty="0">
                  <a:latin typeface="Times New Roman" panose="02020603050405020304" pitchFamily="18" charset="0"/>
                  <a:ea typeface="宋体" panose="02010600030101010101" pitchFamily="2" charset="-122"/>
                </a:rPr>
                <a:t>高速局域网</a:t>
              </a:r>
            </a:p>
          </p:txBody>
        </p:sp>
        <p:sp>
          <p:nvSpPr>
            <p:cNvPr id="50203" name="Rectangle 29"/>
            <p:cNvSpPr/>
            <p:nvPr/>
          </p:nvSpPr>
          <p:spPr>
            <a:xfrm>
              <a:off x="2837" y="3331"/>
              <a:ext cx="1147" cy="31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zh-CN" altLang="en-US" sz="2400" b="1" dirty="0">
                  <a:latin typeface="Times New Roman" panose="02020603050405020304" pitchFamily="18" charset="0"/>
                  <a:ea typeface="宋体" panose="02010600030101010101" pitchFamily="2" charset="-122"/>
                </a:rPr>
                <a:t>高性能图形</a:t>
              </a:r>
            </a:p>
          </p:txBody>
        </p:sp>
        <p:sp>
          <p:nvSpPr>
            <p:cNvPr id="50204" name="Rectangle 30"/>
            <p:cNvSpPr/>
            <p:nvPr/>
          </p:nvSpPr>
          <p:spPr>
            <a:xfrm>
              <a:off x="192" y="1531"/>
              <a:ext cx="660" cy="288"/>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en-US" altLang="zh-CN" sz="2400" b="1" dirty="0">
                  <a:latin typeface="Times New Roman" panose="02020603050405020304" pitchFamily="18" charset="0"/>
                  <a:ea typeface="宋体" panose="02010600030101010101" pitchFamily="2" charset="-122"/>
                </a:rPr>
                <a:t> CPU</a:t>
              </a:r>
            </a:p>
          </p:txBody>
        </p:sp>
        <p:sp>
          <p:nvSpPr>
            <p:cNvPr id="50205" name="Text Box 31"/>
            <p:cNvSpPr txBox="1"/>
            <p:nvPr/>
          </p:nvSpPr>
          <p:spPr>
            <a:xfrm>
              <a:off x="5174" y="3281"/>
              <a:ext cx="340" cy="327"/>
            </a:xfrm>
            <a:prstGeom prst="rect">
              <a:avLst/>
            </a:prstGeom>
            <a:noFill/>
            <a:ln w="38100">
              <a:noFill/>
            </a:ln>
          </p:spPr>
          <p:txBody>
            <a:bodyPr wrap="none" anchor="t" anchorCtr="0">
              <a:spAutoFit/>
            </a:bodyPr>
            <a:lstStyle/>
            <a:p>
              <a:pPr>
                <a:buClrTx/>
                <a:buFontTx/>
              </a:pPr>
              <a:r>
                <a:rPr lang="en-US" altLang="zh-CN" sz="2800" b="1" dirty="0">
                  <a:solidFill>
                    <a:schemeClr val="folHlink"/>
                  </a:solidFill>
                  <a:latin typeface="Times New Roman" panose="02020603050405020304" pitchFamily="18" charset="0"/>
                  <a:ea typeface="宋体" panose="02010600030101010101" pitchFamily="2" charset="-122"/>
                </a:rPr>
                <a:t>…</a:t>
              </a:r>
            </a:p>
          </p:txBody>
        </p:sp>
      </p:grpSp>
      <p:sp>
        <p:nvSpPr>
          <p:cNvPr id="232482" name="Text Box 34"/>
          <p:cNvSpPr txBox="1">
            <a:spLocks noChangeArrowheads="1"/>
          </p:cNvSpPr>
          <p:nvPr/>
        </p:nvSpPr>
        <p:spPr bwMode="auto">
          <a:xfrm>
            <a:off x="228600" y="228600"/>
            <a:ext cx="86106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buNone/>
              <a:defRPr/>
            </a:pPr>
            <a:r>
              <a:rPr kumimoji="0" lang="en-US" altLang="zh-CN" sz="2400" b="1" kern="1200" cap="none" spc="0" normalizeH="0" baseline="0" noProof="0">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zh-CN" altLang="en-US" sz="2400" b="1" kern="1200" cap="none" spc="0" normalizeH="0" baseline="0" noProof="0">
                <a:latin typeface="Arial" panose="020B0604020202020204" pitchFamily="34" charset="0"/>
                <a:ea typeface="宋体" panose="02010600030101010101" pitchFamily="2" charset="-122"/>
                <a:cs typeface="+mn-cs"/>
              </a:rPr>
              <a:t>下图是传统微机总线的结构示意图。无论高速局域网、</a:t>
            </a:r>
          </a:p>
          <a:p>
            <a:pPr marR="0" defTabSz="914400">
              <a:buClrTx/>
              <a:buSzTx/>
              <a:buFontTx/>
              <a:buNone/>
              <a:defRPr/>
            </a:pPr>
            <a:r>
              <a:rPr kumimoji="0" lang="zh-CN" altLang="en-US" sz="2400" b="1" kern="1200" cap="none" spc="0" normalizeH="0" baseline="0" noProof="0">
                <a:latin typeface="Arial" panose="020B0604020202020204" pitchFamily="34" charset="0"/>
                <a:ea typeface="宋体" panose="02010600030101010101" pitchFamily="2" charset="-122"/>
                <a:cs typeface="+mn-cs"/>
              </a:rPr>
              <a:t>    高性能图形设备还是低速的</a:t>
            </a:r>
            <a:r>
              <a:rPr kumimoji="0" lang="en-US" altLang="zh-CN" sz="2400" b="1" kern="1200" cap="none" spc="0" normalizeH="0" baseline="0" noProof="0">
                <a:latin typeface="Arial" panose="020B0604020202020204" pitchFamily="34" charset="0"/>
                <a:ea typeface="宋体" panose="02010600030101010101" pitchFamily="2" charset="-122"/>
                <a:cs typeface="+mn-cs"/>
              </a:rPr>
              <a:t>FAX</a:t>
            </a:r>
            <a:r>
              <a:rPr kumimoji="0" lang="zh-CN" altLang="en-US" sz="2400" b="1" kern="1200" cap="none" spc="0" normalizeH="0" baseline="0" noProof="0">
                <a:latin typeface="Arial" panose="020B0604020202020204" pitchFamily="34" charset="0"/>
                <a:ea typeface="宋体" panose="02010600030101010101" pitchFamily="2" charset="-122"/>
                <a:cs typeface="+mn-cs"/>
              </a:rPr>
              <a:t>、</a:t>
            </a:r>
            <a:r>
              <a:rPr kumimoji="0" lang="en-US" altLang="zh-CN" sz="2400" b="1" kern="1200" cap="none" spc="0" normalizeH="0" baseline="0" noProof="0">
                <a:latin typeface="Arial" panose="020B0604020202020204" pitchFamily="34" charset="0"/>
                <a:ea typeface="宋体" panose="02010600030101010101" pitchFamily="2" charset="-122"/>
                <a:cs typeface="+mn-cs"/>
              </a:rPr>
              <a:t>Modem</a:t>
            </a:r>
            <a:r>
              <a:rPr kumimoji="0" lang="zh-CN" altLang="en-US" sz="2400" b="1" kern="1200" cap="none" spc="0" normalizeH="0" baseline="0" noProof="0">
                <a:latin typeface="Arial" panose="020B0604020202020204" pitchFamily="34" charset="0"/>
                <a:ea typeface="宋体" panose="02010600030101010101" pitchFamily="2" charset="-122"/>
                <a:cs typeface="+mn-cs"/>
              </a:rPr>
              <a:t>都挂在</a:t>
            </a:r>
            <a:r>
              <a:rPr kumimoji="0" lang="en-US" altLang="zh-CN" sz="2400" b="1" kern="1200" cap="none" spc="0" normalizeH="0" baseline="0" noProof="0">
                <a:latin typeface="Arial" panose="020B0604020202020204" pitchFamily="34" charset="0"/>
                <a:ea typeface="宋体" panose="02010600030101010101" pitchFamily="2" charset="-122"/>
                <a:cs typeface="+mn-cs"/>
              </a:rPr>
              <a:t>ISA</a:t>
            </a:r>
            <a:r>
              <a:rPr kumimoji="0" lang="zh-CN" altLang="en-US" sz="2400" b="1" kern="1200" cap="none" spc="0" normalizeH="0" baseline="0" noProof="0">
                <a:latin typeface="Arial" panose="020B0604020202020204" pitchFamily="34" charset="0"/>
                <a:ea typeface="宋体" panose="02010600030101010101" pitchFamily="2" charset="-122"/>
                <a:cs typeface="+mn-cs"/>
              </a:rPr>
              <a:t>或</a:t>
            </a:r>
            <a:r>
              <a:rPr kumimoji="0" lang="en-US" altLang="zh-CN" sz="2400" b="1" kern="1200" cap="none" spc="0" normalizeH="0" baseline="0" noProof="0">
                <a:latin typeface="Arial" panose="020B0604020202020204" pitchFamily="34" charset="0"/>
                <a:ea typeface="宋体" panose="02010600030101010101" pitchFamily="2" charset="-122"/>
                <a:cs typeface="+mn-cs"/>
              </a:rPr>
              <a:t>EISA</a:t>
            </a:r>
            <a:r>
              <a:rPr kumimoji="0" lang="zh-CN" altLang="en-US" sz="2400" b="1" kern="1200" cap="none" spc="0" normalizeH="0" baseline="0" noProof="0">
                <a:latin typeface="Arial" panose="020B0604020202020204" pitchFamily="34" charset="0"/>
                <a:ea typeface="宋体" panose="02010600030101010101" pitchFamily="2" charset="-122"/>
                <a:cs typeface="+mn-cs"/>
              </a:rPr>
              <a:t>总线上，并通过</a:t>
            </a:r>
            <a:r>
              <a:rPr kumimoji="0" lang="en-US" altLang="zh-CN" sz="2400" b="1" kern="1200" cap="none" spc="0" normalizeH="0" baseline="0" noProof="0">
                <a:latin typeface="Arial" panose="020B0604020202020204" pitchFamily="34" charset="0"/>
                <a:ea typeface="宋体" panose="02010600030101010101" pitchFamily="2" charset="-122"/>
                <a:cs typeface="+mn-cs"/>
              </a:rPr>
              <a:t>ISA</a:t>
            </a:r>
            <a:r>
              <a:rPr kumimoji="0" lang="zh-CN" altLang="en-US" sz="2400" b="1" kern="1200" cap="none" spc="0" normalizeH="0" baseline="0" noProof="0">
                <a:latin typeface="Arial" panose="020B0604020202020204" pitchFamily="34" charset="0"/>
                <a:ea typeface="宋体" panose="02010600030101010101" pitchFamily="2" charset="-122"/>
                <a:cs typeface="+mn-cs"/>
              </a:rPr>
              <a:t>或</a:t>
            </a:r>
            <a:r>
              <a:rPr kumimoji="0" lang="en-US" altLang="zh-CN" sz="2400" b="1" kern="1200" cap="none" spc="0" normalizeH="0" baseline="0" noProof="0">
                <a:latin typeface="Arial" panose="020B0604020202020204" pitchFamily="34" charset="0"/>
                <a:ea typeface="宋体" panose="02010600030101010101" pitchFamily="2" charset="-122"/>
                <a:cs typeface="+mn-cs"/>
              </a:rPr>
              <a:t>EISA</a:t>
            </a:r>
            <a:r>
              <a:rPr kumimoji="0" lang="zh-CN" altLang="en-US" sz="2400" b="1" kern="1200" cap="none" spc="0" normalizeH="0" baseline="0" noProof="0">
                <a:latin typeface="Arial" panose="020B0604020202020204" pitchFamily="34" charset="0"/>
                <a:ea typeface="宋体" panose="02010600030101010101" pitchFamily="2" charset="-122"/>
                <a:cs typeface="+mn-cs"/>
              </a:rPr>
              <a:t>总线控制器与系统总线相连，这样势必出现总线数据传输的瓶颈。为了消除瓶颈问题，提高数据传送速率，出现了三总线结构。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2451"/>
                                        </p:tgtEl>
                                        <p:attrNameLst>
                                          <p:attrName>style.visibility</p:attrName>
                                        </p:attrNameLst>
                                      </p:cBhvr>
                                      <p:to>
                                        <p:strVal val="visible"/>
                                      </p:to>
                                    </p:set>
                                    <p:animEffect transition="in" filter="blinds(horizontal)">
                                      <p:cBhvr>
                                        <p:cTn id="7" dur="500"/>
                                        <p:tgtEl>
                                          <p:spTgt spid="232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p:cNvSpPr txBox="1"/>
          <p:nvPr/>
        </p:nvSpPr>
        <p:spPr>
          <a:xfrm>
            <a:off x="152400" y="228600"/>
            <a:ext cx="8610600" cy="2800350"/>
          </a:xfrm>
          <a:prstGeom prst="rect">
            <a:avLst/>
          </a:prstGeom>
          <a:noFill/>
          <a:ln w="9525">
            <a:noFill/>
          </a:ln>
        </p:spPr>
        <p:txBody>
          <a:bodyPr anchor="t" anchorCtr="0">
            <a:spAutoFit/>
          </a:bodyPr>
          <a:lstStyle/>
          <a:p>
            <a:pPr>
              <a:buClrTx/>
              <a:buFontTx/>
            </a:pPr>
            <a:r>
              <a:rPr lang="en-US" altLang="zh-CN" sz="3200" b="1" dirty="0">
                <a:latin typeface="Arial" panose="020B0604020202020204" pitchFamily="34" charset="0"/>
                <a:ea typeface="宋体" panose="02010600030101010101" pitchFamily="2" charset="-122"/>
              </a:rPr>
              <a:t>2</a:t>
            </a:r>
            <a:r>
              <a:rPr lang="zh-CN" altLang="en-US" sz="3200" b="1" dirty="0">
                <a:latin typeface="Arial" panose="020B0604020202020204" pitchFamily="34" charset="0"/>
                <a:ea typeface="宋体" panose="02010600030101010101" pitchFamily="2" charset="-122"/>
              </a:rPr>
              <a:t>、三总线结构</a:t>
            </a:r>
            <a:endParaRPr lang="zh-CN" altLang="en-US" sz="32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处理器与</a:t>
            </a:r>
            <a:r>
              <a:rPr lang="en-US" altLang="zh-CN" sz="2400" b="1" dirty="0">
                <a:latin typeface="Arial" panose="020B0604020202020204" pitchFamily="34" charset="0"/>
                <a:ea typeface="宋体" panose="02010600030101010101" pitchFamily="2" charset="-122"/>
              </a:rPr>
              <a:t>Cache</a:t>
            </a:r>
            <a:r>
              <a:rPr lang="zh-CN" altLang="en-US" sz="2400" b="1" dirty="0">
                <a:latin typeface="Arial" panose="020B0604020202020204" pitchFamily="34" charset="0"/>
                <a:ea typeface="宋体" panose="02010600030101010101" pitchFamily="2" charset="-122"/>
              </a:rPr>
              <a:t>之间有一条局部总线。</a:t>
            </a:r>
            <a:r>
              <a:rPr lang="en-US" altLang="zh-CN" sz="2400" b="1" dirty="0">
                <a:latin typeface="Arial" panose="020B0604020202020204" pitchFamily="34" charset="0"/>
                <a:ea typeface="宋体" panose="02010600030101010101" pitchFamily="2" charset="-122"/>
              </a:rPr>
              <a:t>Cache</a:t>
            </a:r>
            <a:r>
              <a:rPr lang="zh-CN" altLang="en-US" sz="2400" b="1" dirty="0">
                <a:latin typeface="Arial" panose="020B0604020202020204" pitchFamily="34" charset="0"/>
                <a:ea typeface="宋体" panose="02010600030101010101" pitchFamily="2" charset="-122"/>
              </a:rPr>
              <a:t>还直接连到系统总线，这样</a:t>
            </a:r>
            <a:r>
              <a:rPr lang="en-US" altLang="zh-CN" sz="2400" b="1" dirty="0">
                <a:latin typeface="Arial" panose="020B0604020202020204" pitchFamily="34" charset="0"/>
                <a:ea typeface="宋体" panose="02010600030101010101" pitchFamily="2" charset="-122"/>
              </a:rPr>
              <a:t>Cache</a:t>
            </a:r>
            <a:r>
              <a:rPr lang="zh-CN" altLang="en-US" sz="2400" b="1" dirty="0">
                <a:latin typeface="Arial" panose="020B0604020202020204" pitchFamily="34" charset="0"/>
                <a:ea typeface="宋体" panose="02010600030101010101" pitchFamily="2" charset="-122"/>
              </a:rPr>
              <a:t>就可以直接通过系统总线与主存传输信息。而且</a:t>
            </a:r>
            <a:r>
              <a:rPr lang="en-US" altLang="zh-CN" sz="2400" b="1" dirty="0">
                <a:latin typeface="Arial" panose="020B0604020202020204" pitchFamily="34" charset="0"/>
                <a:ea typeface="宋体" panose="02010600030101010101" pitchFamily="2" charset="-122"/>
              </a:rPr>
              <a:t>I/O</a:t>
            </a:r>
            <a:r>
              <a:rPr lang="zh-CN" altLang="en-US" sz="2400" b="1" dirty="0">
                <a:latin typeface="Arial" panose="020B0604020202020204" pitchFamily="34" charset="0"/>
                <a:ea typeface="宋体" panose="02010600030101010101" pitchFamily="2" charset="-122"/>
              </a:rPr>
              <a:t>与主存之间的传输也不通过</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。还有一条扩展总线，它将局域网、小型计算机接口（</a:t>
            </a:r>
            <a:r>
              <a:rPr lang="en-US" altLang="zh-CN" sz="2400" b="1" dirty="0">
                <a:latin typeface="Arial" panose="020B0604020202020204" pitchFamily="34" charset="0"/>
                <a:ea typeface="宋体" panose="02010600030101010101" pitchFamily="2" charset="-122"/>
              </a:rPr>
              <a:t>SCSI</a:t>
            </a:r>
            <a:r>
              <a:rPr lang="zh-CN" altLang="en-US" sz="2400" b="1" dirty="0">
                <a:latin typeface="Arial" panose="020B0604020202020204" pitchFamily="34" charset="0"/>
                <a:ea typeface="宋体" panose="02010600030101010101" pitchFamily="2" charset="-122"/>
              </a:rPr>
              <a:t>）、调制解调器（</a:t>
            </a:r>
            <a:r>
              <a:rPr lang="en-US" altLang="zh-CN" sz="2400" b="1" dirty="0">
                <a:latin typeface="Arial" panose="020B0604020202020204" pitchFamily="34" charset="0"/>
                <a:ea typeface="宋体" panose="02010600030101010101" pitchFamily="2" charset="-122"/>
              </a:rPr>
              <a:t>Modem</a:t>
            </a:r>
            <a:r>
              <a:rPr lang="zh-CN" altLang="en-US" sz="2400" b="1" dirty="0">
                <a:latin typeface="Arial" panose="020B0604020202020204" pitchFamily="34" charset="0"/>
                <a:ea typeface="宋体" panose="02010600030101010101" pitchFamily="2" charset="-122"/>
              </a:rPr>
              <a:t>）以及串行接口都连接起来，并且通过这些接口又可与各类</a:t>
            </a:r>
            <a:r>
              <a:rPr lang="en-US" altLang="zh-CN" sz="2400" b="1" dirty="0">
                <a:latin typeface="Arial" panose="020B0604020202020204" pitchFamily="34" charset="0"/>
                <a:ea typeface="宋体" panose="02010600030101010101" pitchFamily="2" charset="-122"/>
              </a:rPr>
              <a:t>I/O</a:t>
            </a:r>
            <a:r>
              <a:rPr lang="zh-CN" altLang="en-US" sz="2400" b="1" dirty="0">
                <a:latin typeface="Arial" panose="020B0604020202020204" pitchFamily="34" charset="0"/>
                <a:ea typeface="宋体" panose="02010600030101010101" pitchFamily="2" charset="-122"/>
              </a:rPr>
              <a:t>设备相连，因此它可以支持相当多的</a:t>
            </a:r>
            <a:r>
              <a:rPr lang="en-US" altLang="zh-CN" sz="2400" b="1" dirty="0">
                <a:latin typeface="Arial" panose="020B0604020202020204" pitchFamily="34" charset="0"/>
                <a:ea typeface="宋体" panose="02010600030101010101" pitchFamily="2" charset="-122"/>
              </a:rPr>
              <a:t>I/O</a:t>
            </a:r>
            <a:r>
              <a:rPr lang="zh-CN" altLang="en-US" sz="2400" b="1" dirty="0">
                <a:latin typeface="Arial" panose="020B0604020202020204" pitchFamily="34" charset="0"/>
                <a:ea typeface="宋体" panose="02010600030101010101" pitchFamily="2" charset="-122"/>
              </a:rPr>
              <a:t>设备。</a:t>
            </a:r>
          </a:p>
        </p:txBody>
      </p:sp>
      <p:grpSp>
        <p:nvGrpSpPr>
          <p:cNvPr id="233475" name="Group 3"/>
          <p:cNvGrpSpPr/>
          <p:nvPr/>
        </p:nvGrpSpPr>
        <p:grpSpPr>
          <a:xfrm>
            <a:off x="762000" y="3124200"/>
            <a:ext cx="8153400" cy="3581400"/>
            <a:chOff x="288" y="1104"/>
            <a:chExt cx="5520" cy="2880"/>
          </a:xfrm>
        </p:grpSpPr>
        <p:sp>
          <p:nvSpPr>
            <p:cNvPr id="51203" name="Line 4"/>
            <p:cNvSpPr/>
            <p:nvPr/>
          </p:nvSpPr>
          <p:spPr>
            <a:xfrm>
              <a:off x="807" y="3539"/>
              <a:ext cx="1" cy="409"/>
            </a:xfrm>
            <a:prstGeom prst="line">
              <a:avLst/>
            </a:prstGeom>
            <a:ln w="38100" cap="flat" cmpd="sng">
              <a:solidFill>
                <a:schemeClr val="folHlink"/>
              </a:solidFill>
              <a:prstDash val="solid"/>
              <a:round/>
              <a:headEnd type="none" w="med" len="med"/>
              <a:tailEnd type="none" w="med" len="med"/>
            </a:ln>
          </p:spPr>
        </p:sp>
        <p:sp>
          <p:nvSpPr>
            <p:cNvPr id="51204" name="Rectangle 5"/>
            <p:cNvSpPr/>
            <p:nvPr/>
          </p:nvSpPr>
          <p:spPr>
            <a:xfrm>
              <a:off x="432" y="3183"/>
              <a:ext cx="751" cy="35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05" name="Rectangle 6"/>
            <p:cNvSpPr/>
            <p:nvPr/>
          </p:nvSpPr>
          <p:spPr>
            <a:xfrm>
              <a:off x="518" y="3222"/>
              <a:ext cx="874" cy="293"/>
            </a:xfrm>
            <a:prstGeom prst="rect">
              <a:avLst/>
            </a:prstGeom>
            <a:noFill/>
            <a:ln w="9525">
              <a:noFill/>
            </a:ln>
          </p:spPr>
          <p:txBody>
            <a:bodyPr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局域网</a:t>
              </a:r>
              <a:endParaRPr lang="zh-CN" altLang="en-US" sz="2400" b="1" dirty="0">
                <a:latin typeface="Times New Roman" panose="02020603050405020304" pitchFamily="18" charset="0"/>
                <a:ea typeface="宋体" panose="02010600030101010101" pitchFamily="2" charset="-122"/>
              </a:endParaRPr>
            </a:p>
          </p:txBody>
        </p:sp>
        <p:sp>
          <p:nvSpPr>
            <p:cNvPr id="51206" name="Rectangle 7"/>
            <p:cNvSpPr/>
            <p:nvPr/>
          </p:nvSpPr>
          <p:spPr>
            <a:xfrm>
              <a:off x="2537" y="2400"/>
              <a:ext cx="963" cy="343"/>
            </a:xfrm>
            <a:prstGeom prst="rect">
              <a:avLst/>
            </a:prstGeom>
            <a:noFill/>
            <a:ln w="9525">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系统总线</a:t>
              </a:r>
            </a:p>
          </p:txBody>
        </p:sp>
        <p:sp>
          <p:nvSpPr>
            <p:cNvPr id="51207" name="Freeform 8"/>
            <p:cNvSpPr/>
            <p:nvPr/>
          </p:nvSpPr>
          <p:spPr>
            <a:xfrm>
              <a:off x="641" y="2677"/>
              <a:ext cx="4695" cy="107"/>
            </a:xfrm>
            <a:custGeom>
              <a:avLst/>
              <a:gdLst/>
              <a:ahLst/>
              <a:cxnLst>
                <a:cxn ang="0">
                  <a:pos x="0" y="12"/>
                </a:cxn>
                <a:cxn ang="0">
                  <a:pos x="149" y="24"/>
                </a:cxn>
                <a:cxn ang="0">
                  <a:pos x="149" y="20"/>
                </a:cxn>
                <a:cxn ang="0">
                  <a:pos x="4544" y="20"/>
                </a:cxn>
                <a:cxn ang="0">
                  <a:pos x="4544" y="24"/>
                </a:cxn>
                <a:cxn ang="0">
                  <a:pos x="4695" y="12"/>
                </a:cxn>
                <a:cxn ang="0">
                  <a:pos x="4544" y="0"/>
                </a:cxn>
                <a:cxn ang="0">
                  <a:pos x="4544" y="5"/>
                </a:cxn>
                <a:cxn ang="0">
                  <a:pos x="149" y="5"/>
                </a:cxn>
                <a:cxn ang="0">
                  <a:pos x="149" y="0"/>
                </a:cxn>
                <a:cxn ang="0">
                  <a:pos x="0" y="12"/>
                </a:cxn>
              </a:cxnLst>
              <a:rect l="0" t="0" r="0" b="0"/>
              <a:pathLst>
                <a:path w="4695" h="224">
                  <a:moveTo>
                    <a:pt x="0" y="113"/>
                  </a:moveTo>
                  <a:lnTo>
                    <a:pt x="149" y="224"/>
                  </a:lnTo>
                  <a:lnTo>
                    <a:pt x="149" y="178"/>
                  </a:lnTo>
                  <a:lnTo>
                    <a:pt x="4544" y="178"/>
                  </a:lnTo>
                  <a:lnTo>
                    <a:pt x="4544" y="224"/>
                  </a:lnTo>
                  <a:lnTo>
                    <a:pt x="4695" y="113"/>
                  </a:lnTo>
                  <a:lnTo>
                    <a:pt x="4544" y="0"/>
                  </a:lnTo>
                  <a:lnTo>
                    <a:pt x="4544" y="46"/>
                  </a:lnTo>
                  <a:lnTo>
                    <a:pt x="149" y="46"/>
                  </a:lnTo>
                  <a:lnTo>
                    <a:pt x="149" y="0"/>
                  </a:lnTo>
                  <a:lnTo>
                    <a:pt x="0" y="113"/>
                  </a:lnTo>
                  <a:close/>
                </a:path>
              </a:pathLst>
            </a:custGeom>
            <a:solidFill>
              <a:schemeClr val="folHlink"/>
            </a:solidFill>
            <a:ln w="19050" cap="flat" cmpd="sng">
              <a:solidFill>
                <a:schemeClr val="folHlink"/>
              </a:solidFill>
              <a:prstDash val="solid"/>
              <a:round/>
              <a:headEnd type="none" w="med" len="med"/>
              <a:tailEnd type="none" w="med" len="med"/>
            </a:ln>
          </p:spPr>
          <p:txBody>
            <a:bodyPr/>
            <a:lstStyle/>
            <a:p>
              <a:endParaRPr lang="zh-CN" altLang="en-US"/>
            </a:p>
          </p:txBody>
        </p:sp>
        <p:sp>
          <p:nvSpPr>
            <p:cNvPr id="51208" name="Rectangle 9"/>
            <p:cNvSpPr/>
            <p:nvPr/>
          </p:nvSpPr>
          <p:spPr>
            <a:xfrm>
              <a:off x="1211" y="1296"/>
              <a:ext cx="847" cy="347"/>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09" name="Rectangle 10"/>
            <p:cNvSpPr/>
            <p:nvPr/>
          </p:nvSpPr>
          <p:spPr>
            <a:xfrm>
              <a:off x="1452" y="1354"/>
              <a:ext cx="756" cy="294"/>
            </a:xfrm>
            <a:prstGeom prst="rect">
              <a:avLst/>
            </a:prstGeom>
            <a:noFill/>
            <a:ln w="38100">
              <a:noFill/>
            </a:ln>
          </p:spPr>
          <p:txBody>
            <a:bodyPr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CPU</a:t>
              </a:r>
            </a:p>
          </p:txBody>
        </p:sp>
        <p:sp>
          <p:nvSpPr>
            <p:cNvPr id="51210" name="Rectangle 11"/>
            <p:cNvSpPr/>
            <p:nvPr/>
          </p:nvSpPr>
          <p:spPr>
            <a:xfrm>
              <a:off x="3569" y="1296"/>
              <a:ext cx="847" cy="347"/>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11" name="Rectangle 12"/>
            <p:cNvSpPr/>
            <p:nvPr/>
          </p:nvSpPr>
          <p:spPr>
            <a:xfrm>
              <a:off x="3742" y="1354"/>
              <a:ext cx="865" cy="294"/>
            </a:xfrm>
            <a:prstGeom prst="rect">
              <a:avLst/>
            </a:prstGeom>
            <a:noFill/>
            <a:ln w="9525">
              <a:noFill/>
            </a:ln>
          </p:spPr>
          <p:txBody>
            <a:bodyPr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Cache</a:t>
              </a:r>
            </a:p>
          </p:txBody>
        </p:sp>
        <p:sp>
          <p:nvSpPr>
            <p:cNvPr id="51212" name="Rectangle 13"/>
            <p:cNvSpPr/>
            <p:nvPr/>
          </p:nvSpPr>
          <p:spPr>
            <a:xfrm>
              <a:off x="2517" y="1296"/>
              <a:ext cx="603" cy="231"/>
            </a:xfrm>
            <a:prstGeom prst="rect">
              <a:avLst/>
            </a:prstGeom>
            <a:noFill/>
            <a:ln w="9525">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13" name="Rectangle 14"/>
            <p:cNvSpPr/>
            <p:nvPr/>
          </p:nvSpPr>
          <p:spPr>
            <a:xfrm>
              <a:off x="2367" y="1104"/>
              <a:ext cx="963" cy="343"/>
            </a:xfrm>
            <a:prstGeom prst="rect">
              <a:avLst/>
            </a:prstGeom>
            <a:noFill/>
            <a:ln w="9525">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局部总线</a:t>
              </a:r>
            </a:p>
          </p:txBody>
        </p:sp>
        <p:sp>
          <p:nvSpPr>
            <p:cNvPr id="51214" name="Freeform 15"/>
            <p:cNvSpPr/>
            <p:nvPr/>
          </p:nvSpPr>
          <p:spPr>
            <a:xfrm>
              <a:off x="2064" y="1392"/>
              <a:ext cx="1507" cy="96"/>
            </a:xfrm>
            <a:custGeom>
              <a:avLst/>
              <a:gdLst/>
              <a:ahLst/>
              <a:cxnLst>
                <a:cxn ang="0">
                  <a:pos x="0" y="20"/>
                </a:cxn>
                <a:cxn ang="0">
                  <a:pos x="178" y="40"/>
                </a:cxn>
                <a:cxn ang="0">
                  <a:pos x="178" y="30"/>
                </a:cxn>
                <a:cxn ang="0">
                  <a:pos x="1547" y="30"/>
                </a:cxn>
                <a:cxn ang="0">
                  <a:pos x="1547" y="40"/>
                </a:cxn>
                <a:cxn ang="0">
                  <a:pos x="1724" y="20"/>
                </a:cxn>
                <a:cxn ang="0">
                  <a:pos x="1547" y="0"/>
                </a:cxn>
                <a:cxn ang="0">
                  <a:pos x="1547" y="10"/>
                </a:cxn>
                <a:cxn ang="0">
                  <a:pos x="178" y="10"/>
                </a:cxn>
                <a:cxn ang="0">
                  <a:pos x="178" y="0"/>
                </a:cxn>
                <a:cxn ang="0">
                  <a:pos x="0" y="20"/>
                </a:cxn>
              </a:cxnLst>
              <a:rect l="0" t="0" r="0" b="0"/>
              <a:pathLst>
                <a:path w="1409" h="149">
                  <a:moveTo>
                    <a:pt x="0" y="74"/>
                  </a:moveTo>
                  <a:lnTo>
                    <a:pt x="145" y="149"/>
                  </a:lnTo>
                  <a:lnTo>
                    <a:pt x="145" y="111"/>
                  </a:lnTo>
                  <a:lnTo>
                    <a:pt x="1264" y="111"/>
                  </a:lnTo>
                  <a:lnTo>
                    <a:pt x="1264" y="149"/>
                  </a:lnTo>
                  <a:lnTo>
                    <a:pt x="1409" y="74"/>
                  </a:lnTo>
                  <a:lnTo>
                    <a:pt x="1264" y="0"/>
                  </a:lnTo>
                  <a:lnTo>
                    <a:pt x="1264" y="38"/>
                  </a:lnTo>
                  <a:lnTo>
                    <a:pt x="145" y="38"/>
                  </a:lnTo>
                  <a:lnTo>
                    <a:pt x="145" y="0"/>
                  </a:lnTo>
                  <a:lnTo>
                    <a:pt x="0" y="74"/>
                  </a:lnTo>
                  <a:close/>
                </a:path>
              </a:pathLst>
            </a:custGeom>
            <a:solidFill>
              <a:schemeClr val="folHlink"/>
            </a:solidFill>
            <a:ln w="19050" cap="flat" cmpd="sng">
              <a:solidFill>
                <a:schemeClr val="folHlink"/>
              </a:solidFill>
              <a:prstDash val="solid"/>
              <a:round/>
              <a:headEnd type="none" w="med" len="med"/>
              <a:tailEnd type="none" w="med" len="med"/>
            </a:ln>
          </p:spPr>
          <p:txBody>
            <a:bodyPr/>
            <a:lstStyle/>
            <a:p>
              <a:endParaRPr lang="zh-CN" altLang="en-US"/>
            </a:p>
          </p:txBody>
        </p:sp>
        <p:sp>
          <p:nvSpPr>
            <p:cNvPr id="51215" name="Rectangle 16"/>
            <p:cNvSpPr/>
            <p:nvPr/>
          </p:nvSpPr>
          <p:spPr>
            <a:xfrm>
              <a:off x="2177" y="3180"/>
              <a:ext cx="1248" cy="353"/>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16" name="Rectangle 17"/>
            <p:cNvSpPr/>
            <p:nvPr/>
          </p:nvSpPr>
          <p:spPr>
            <a:xfrm>
              <a:off x="2222" y="3222"/>
              <a:ext cx="1666" cy="293"/>
            </a:xfrm>
            <a:prstGeom prst="rect">
              <a:avLst/>
            </a:prstGeom>
            <a:noFill/>
            <a:ln w="9525">
              <a:noFill/>
            </a:ln>
          </p:spPr>
          <p:txBody>
            <a:bodyPr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扩展总线接口</a:t>
              </a:r>
              <a:endParaRPr lang="zh-CN" altLang="en-US" sz="2400" b="1" dirty="0">
                <a:latin typeface="Times New Roman" panose="02020603050405020304" pitchFamily="18" charset="0"/>
                <a:ea typeface="宋体" panose="02010600030101010101" pitchFamily="2" charset="-122"/>
              </a:endParaRPr>
            </a:p>
          </p:txBody>
        </p:sp>
        <p:sp>
          <p:nvSpPr>
            <p:cNvPr id="51217" name="Line 18"/>
            <p:cNvSpPr/>
            <p:nvPr/>
          </p:nvSpPr>
          <p:spPr>
            <a:xfrm>
              <a:off x="2801" y="3537"/>
              <a:ext cx="1" cy="406"/>
            </a:xfrm>
            <a:prstGeom prst="line">
              <a:avLst/>
            </a:prstGeom>
            <a:ln w="38100" cap="flat" cmpd="sng">
              <a:solidFill>
                <a:schemeClr val="folHlink"/>
              </a:solidFill>
              <a:prstDash val="solid"/>
              <a:round/>
              <a:headEnd type="none" w="med" len="med"/>
              <a:tailEnd type="none" w="med" len="med"/>
            </a:ln>
          </p:spPr>
        </p:sp>
        <p:sp>
          <p:nvSpPr>
            <p:cNvPr id="51218" name="Freeform 19"/>
            <p:cNvSpPr/>
            <p:nvPr/>
          </p:nvSpPr>
          <p:spPr>
            <a:xfrm>
              <a:off x="2798" y="2739"/>
              <a:ext cx="1" cy="447"/>
            </a:xfrm>
            <a:custGeom>
              <a:avLst/>
              <a:gdLst/>
              <a:ahLst/>
              <a:cxnLst>
                <a:cxn ang="0">
                  <a:pos x="0" y="0"/>
                </a:cxn>
                <a:cxn ang="0">
                  <a:pos x="0" y="447"/>
                </a:cxn>
              </a:cxnLst>
              <a:rect l="0" t="0" r="0" b="0"/>
              <a:pathLst>
                <a:path w="1" h="447">
                  <a:moveTo>
                    <a:pt x="0" y="0"/>
                  </a:moveTo>
                  <a:lnTo>
                    <a:pt x="0" y="447"/>
                  </a:lnTo>
                </a:path>
              </a:pathLst>
            </a:custGeom>
            <a:solidFill>
              <a:srgbClr val="FFFFFF"/>
            </a:solidFill>
            <a:ln w="38100" cap="flat" cmpd="sng">
              <a:solidFill>
                <a:schemeClr val="folHlink"/>
              </a:solidFill>
              <a:prstDash val="solid"/>
              <a:round/>
              <a:headEnd type="none" w="med" len="med"/>
              <a:tailEnd type="none" w="med" len="med"/>
            </a:ln>
          </p:spPr>
          <p:txBody>
            <a:bodyPr/>
            <a:lstStyle/>
            <a:p>
              <a:endParaRPr lang="zh-CN" altLang="en-US"/>
            </a:p>
          </p:txBody>
        </p:sp>
        <p:sp>
          <p:nvSpPr>
            <p:cNvPr id="51219" name="Rectangle 20"/>
            <p:cNvSpPr/>
            <p:nvPr/>
          </p:nvSpPr>
          <p:spPr>
            <a:xfrm>
              <a:off x="2992" y="3640"/>
              <a:ext cx="714" cy="266"/>
            </a:xfrm>
            <a:prstGeom prst="rect">
              <a:avLst/>
            </a:prstGeom>
            <a:noFill/>
            <a:ln w="19050">
              <a:noFill/>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20" name="Rectangle 21"/>
            <p:cNvSpPr/>
            <p:nvPr/>
          </p:nvSpPr>
          <p:spPr>
            <a:xfrm>
              <a:off x="2898" y="3613"/>
              <a:ext cx="963" cy="343"/>
            </a:xfrm>
            <a:prstGeom prst="rect">
              <a:avLst/>
            </a:prstGeom>
            <a:noFill/>
            <a:ln w="9525">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扩展总线</a:t>
              </a:r>
            </a:p>
          </p:txBody>
        </p:sp>
        <p:sp>
          <p:nvSpPr>
            <p:cNvPr id="51221" name="Freeform 22"/>
            <p:cNvSpPr/>
            <p:nvPr/>
          </p:nvSpPr>
          <p:spPr>
            <a:xfrm>
              <a:off x="288" y="3888"/>
              <a:ext cx="5280" cy="96"/>
            </a:xfrm>
            <a:custGeom>
              <a:avLst/>
              <a:gdLst/>
              <a:ahLst/>
              <a:cxnLst>
                <a:cxn ang="0">
                  <a:pos x="0" y="9"/>
                </a:cxn>
                <a:cxn ang="0">
                  <a:pos x="213" y="18"/>
                </a:cxn>
                <a:cxn ang="0">
                  <a:pos x="213" y="14"/>
                </a:cxn>
                <a:cxn ang="0">
                  <a:pos x="6465" y="14"/>
                </a:cxn>
                <a:cxn ang="0">
                  <a:pos x="6465" y="18"/>
                </a:cxn>
                <a:cxn ang="0">
                  <a:pos x="6678" y="9"/>
                </a:cxn>
                <a:cxn ang="0">
                  <a:pos x="6465" y="0"/>
                </a:cxn>
                <a:cxn ang="0">
                  <a:pos x="6465" y="3"/>
                </a:cxn>
                <a:cxn ang="0">
                  <a:pos x="213" y="3"/>
                </a:cxn>
                <a:cxn ang="0">
                  <a:pos x="213" y="0"/>
                </a:cxn>
                <a:cxn ang="0">
                  <a:pos x="0" y="9"/>
                </a:cxn>
              </a:cxnLst>
              <a:rect l="0" t="0" r="0" b="0"/>
              <a:pathLst>
                <a:path w="4695" h="222">
                  <a:moveTo>
                    <a:pt x="0" y="111"/>
                  </a:moveTo>
                  <a:lnTo>
                    <a:pt x="149" y="222"/>
                  </a:lnTo>
                  <a:lnTo>
                    <a:pt x="149" y="178"/>
                  </a:lnTo>
                  <a:lnTo>
                    <a:pt x="4546" y="178"/>
                  </a:lnTo>
                  <a:lnTo>
                    <a:pt x="4546" y="222"/>
                  </a:lnTo>
                  <a:lnTo>
                    <a:pt x="4695" y="111"/>
                  </a:lnTo>
                  <a:lnTo>
                    <a:pt x="4546" y="0"/>
                  </a:lnTo>
                  <a:lnTo>
                    <a:pt x="4546" y="44"/>
                  </a:lnTo>
                  <a:lnTo>
                    <a:pt x="149" y="44"/>
                  </a:lnTo>
                  <a:lnTo>
                    <a:pt x="149" y="0"/>
                  </a:lnTo>
                  <a:lnTo>
                    <a:pt x="0" y="111"/>
                  </a:lnTo>
                  <a:close/>
                </a:path>
              </a:pathLst>
            </a:custGeom>
            <a:solidFill>
              <a:schemeClr val="folHlink"/>
            </a:solidFill>
            <a:ln w="19050" cap="flat" cmpd="sng">
              <a:solidFill>
                <a:schemeClr val="folHlink"/>
              </a:solidFill>
              <a:prstDash val="solid"/>
              <a:round/>
              <a:headEnd type="none" w="med" len="med"/>
              <a:tailEnd type="none" w="med" len="med"/>
            </a:ln>
          </p:spPr>
          <p:txBody>
            <a:bodyPr/>
            <a:lstStyle/>
            <a:p>
              <a:endParaRPr lang="zh-CN" altLang="en-US"/>
            </a:p>
          </p:txBody>
        </p:sp>
        <p:sp>
          <p:nvSpPr>
            <p:cNvPr id="51222" name="Line 23"/>
            <p:cNvSpPr/>
            <p:nvPr/>
          </p:nvSpPr>
          <p:spPr>
            <a:xfrm>
              <a:off x="3977" y="3527"/>
              <a:ext cx="1" cy="409"/>
            </a:xfrm>
            <a:prstGeom prst="line">
              <a:avLst/>
            </a:prstGeom>
            <a:ln w="38100" cap="flat" cmpd="sng">
              <a:solidFill>
                <a:schemeClr val="folHlink"/>
              </a:solidFill>
              <a:prstDash val="solid"/>
              <a:round/>
              <a:headEnd type="none" w="med" len="med"/>
              <a:tailEnd type="none" w="med" len="med"/>
            </a:ln>
          </p:spPr>
        </p:sp>
        <p:sp>
          <p:nvSpPr>
            <p:cNvPr id="51223" name="Rectangle 24"/>
            <p:cNvSpPr/>
            <p:nvPr/>
          </p:nvSpPr>
          <p:spPr>
            <a:xfrm>
              <a:off x="3569" y="3183"/>
              <a:ext cx="816" cy="35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24" name="Rectangle 25"/>
            <p:cNvSpPr/>
            <p:nvPr/>
          </p:nvSpPr>
          <p:spPr>
            <a:xfrm>
              <a:off x="3658" y="3222"/>
              <a:ext cx="1046" cy="293"/>
            </a:xfrm>
            <a:prstGeom prst="rect">
              <a:avLst/>
            </a:prstGeom>
            <a:noFill/>
            <a:ln w="9525">
              <a:noFill/>
            </a:ln>
          </p:spPr>
          <p:txBody>
            <a:bodyPr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Modem</a:t>
              </a:r>
            </a:p>
          </p:txBody>
        </p:sp>
        <p:sp>
          <p:nvSpPr>
            <p:cNvPr id="51225" name="Line 26"/>
            <p:cNvSpPr/>
            <p:nvPr/>
          </p:nvSpPr>
          <p:spPr>
            <a:xfrm>
              <a:off x="4960" y="3537"/>
              <a:ext cx="1" cy="408"/>
            </a:xfrm>
            <a:prstGeom prst="line">
              <a:avLst/>
            </a:prstGeom>
            <a:ln w="38100" cap="flat" cmpd="sng">
              <a:solidFill>
                <a:schemeClr val="folHlink"/>
              </a:solidFill>
              <a:prstDash val="solid"/>
              <a:round/>
              <a:headEnd type="none" w="med" len="med"/>
              <a:tailEnd type="none" w="med" len="med"/>
            </a:ln>
          </p:spPr>
        </p:sp>
        <p:sp>
          <p:nvSpPr>
            <p:cNvPr id="51226" name="Rectangle 27"/>
            <p:cNvSpPr/>
            <p:nvPr/>
          </p:nvSpPr>
          <p:spPr>
            <a:xfrm>
              <a:off x="4481" y="3180"/>
              <a:ext cx="960" cy="353"/>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27" name="Rectangle 28"/>
            <p:cNvSpPr/>
            <p:nvPr/>
          </p:nvSpPr>
          <p:spPr>
            <a:xfrm>
              <a:off x="4559" y="3222"/>
              <a:ext cx="1249" cy="293"/>
            </a:xfrm>
            <a:prstGeom prst="rect">
              <a:avLst/>
            </a:prstGeom>
            <a:noFill/>
            <a:ln w="9525">
              <a:noFill/>
            </a:ln>
          </p:spPr>
          <p:txBody>
            <a:bodyPr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串行接口</a:t>
              </a:r>
              <a:endParaRPr lang="zh-CN" altLang="en-US" sz="2400" b="1" dirty="0">
                <a:latin typeface="Times New Roman" panose="02020603050405020304" pitchFamily="18" charset="0"/>
                <a:ea typeface="宋体" panose="02010600030101010101" pitchFamily="2" charset="-122"/>
              </a:endParaRPr>
            </a:p>
          </p:txBody>
        </p:sp>
        <p:sp>
          <p:nvSpPr>
            <p:cNvPr id="51228" name="Freeform 29"/>
            <p:cNvSpPr/>
            <p:nvPr/>
          </p:nvSpPr>
          <p:spPr>
            <a:xfrm>
              <a:off x="1682" y="3537"/>
              <a:ext cx="1" cy="403"/>
            </a:xfrm>
            <a:custGeom>
              <a:avLst/>
              <a:gdLst/>
              <a:ahLst/>
              <a:cxnLst>
                <a:cxn ang="0">
                  <a:pos x="0" y="0"/>
                </a:cxn>
                <a:cxn ang="0">
                  <a:pos x="0" y="403"/>
                </a:cxn>
              </a:cxnLst>
              <a:rect l="0" t="0" r="0" b="0"/>
              <a:pathLst>
                <a:path w="1" h="403">
                  <a:moveTo>
                    <a:pt x="0" y="0"/>
                  </a:moveTo>
                  <a:lnTo>
                    <a:pt x="0" y="403"/>
                  </a:lnTo>
                </a:path>
              </a:pathLst>
            </a:custGeom>
            <a:solidFill>
              <a:srgbClr val="FFFFFF"/>
            </a:solidFill>
            <a:ln w="38100" cap="flat" cmpd="sng">
              <a:solidFill>
                <a:schemeClr val="folHlink"/>
              </a:solidFill>
              <a:prstDash val="solid"/>
              <a:round/>
              <a:headEnd type="none" w="med" len="med"/>
              <a:tailEnd type="none" w="med" len="med"/>
            </a:ln>
          </p:spPr>
          <p:txBody>
            <a:bodyPr/>
            <a:lstStyle/>
            <a:p>
              <a:endParaRPr lang="zh-CN" altLang="en-US"/>
            </a:p>
          </p:txBody>
        </p:sp>
        <p:sp>
          <p:nvSpPr>
            <p:cNvPr id="51229" name="Rectangle 30"/>
            <p:cNvSpPr/>
            <p:nvPr/>
          </p:nvSpPr>
          <p:spPr>
            <a:xfrm>
              <a:off x="1305" y="3183"/>
              <a:ext cx="753" cy="35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1230" name="Rectangle 31"/>
            <p:cNvSpPr/>
            <p:nvPr/>
          </p:nvSpPr>
          <p:spPr>
            <a:xfrm>
              <a:off x="1480" y="3222"/>
              <a:ext cx="680" cy="293"/>
            </a:xfrm>
            <a:prstGeom prst="rect">
              <a:avLst/>
            </a:prstGeom>
            <a:noFill/>
            <a:ln w="9525">
              <a:noFill/>
            </a:ln>
          </p:spPr>
          <p:txBody>
            <a:bodyPr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SCSI</a:t>
              </a:r>
            </a:p>
          </p:txBody>
        </p:sp>
        <p:sp>
          <p:nvSpPr>
            <p:cNvPr id="51231" name="Rectangle 32"/>
            <p:cNvSpPr/>
            <p:nvPr/>
          </p:nvSpPr>
          <p:spPr>
            <a:xfrm>
              <a:off x="2169" y="1776"/>
              <a:ext cx="1584" cy="35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zh-CN" sz="2400" b="1" dirty="0">
                <a:latin typeface="Times New Roman" panose="02020603050405020304" pitchFamily="18" charset="0"/>
                <a:ea typeface="宋体" panose="02010600030101010101" pitchFamily="2" charset="-122"/>
              </a:endParaRPr>
            </a:p>
          </p:txBody>
        </p:sp>
        <p:sp>
          <p:nvSpPr>
            <p:cNvPr id="51232" name="Text Box 33"/>
            <p:cNvSpPr txBox="1"/>
            <p:nvPr/>
          </p:nvSpPr>
          <p:spPr>
            <a:xfrm>
              <a:off x="2274" y="1824"/>
              <a:ext cx="2047" cy="368"/>
            </a:xfrm>
            <a:prstGeom prst="rect">
              <a:avLst/>
            </a:prstGeom>
            <a:noFill/>
            <a:ln w="38100">
              <a:noFill/>
            </a:ln>
          </p:spPr>
          <p:txBody>
            <a:bodyPr anchor="t" anchorCtr="0">
              <a:spAutoFit/>
            </a:bodyPr>
            <a:lstStyle/>
            <a:p>
              <a:pPr>
                <a:buClrTx/>
                <a:buFontTx/>
              </a:pPr>
              <a:r>
                <a:rPr lang="zh-CN" altLang="en-US" sz="2400" b="1" dirty="0">
                  <a:latin typeface="Times New Roman" panose="02020603050405020304" pitchFamily="18" charset="0"/>
                  <a:ea typeface="宋体" panose="02010600030101010101" pitchFamily="2" charset="-122"/>
                </a:rPr>
                <a:t>局部</a:t>
              </a:r>
              <a:r>
                <a:rPr lang="en-US" altLang="zh-CN" sz="2400" b="1" dirty="0">
                  <a:latin typeface="Times New Roman" panose="02020603050405020304" pitchFamily="18" charset="0"/>
                  <a:ea typeface="宋体" panose="02010600030101010101" pitchFamily="2" charset="-122"/>
                </a:rPr>
                <a:t>I/O</a:t>
              </a:r>
              <a:r>
                <a:rPr lang="zh-CN" altLang="en-US" sz="2400" b="1" dirty="0">
                  <a:latin typeface="Times New Roman" panose="02020603050405020304" pitchFamily="18" charset="0"/>
                  <a:ea typeface="宋体" panose="02010600030101010101" pitchFamily="2" charset="-122"/>
                </a:rPr>
                <a:t>控制器</a:t>
              </a:r>
            </a:p>
          </p:txBody>
        </p:sp>
        <p:sp>
          <p:nvSpPr>
            <p:cNvPr id="51233" name="Rectangle 34"/>
            <p:cNvSpPr/>
            <p:nvPr/>
          </p:nvSpPr>
          <p:spPr>
            <a:xfrm>
              <a:off x="1211" y="1776"/>
              <a:ext cx="847" cy="35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zh-CN" sz="2400" b="1" dirty="0">
                <a:latin typeface="Times New Roman" panose="02020603050405020304" pitchFamily="18" charset="0"/>
                <a:ea typeface="宋体" panose="02010600030101010101" pitchFamily="2" charset="-122"/>
              </a:endParaRPr>
            </a:p>
          </p:txBody>
        </p:sp>
        <p:sp>
          <p:nvSpPr>
            <p:cNvPr id="51234" name="Rectangle 35"/>
            <p:cNvSpPr/>
            <p:nvPr/>
          </p:nvSpPr>
          <p:spPr>
            <a:xfrm>
              <a:off x="1457" y="1824"/>
              <a:ext cx="799" cy="294"/>
            </a:xfrm>
            <a:prstGeom prst="rect">
              <a:avLst/>
            </a:prstGeom>
            <a:noFill/>
            <a:ln w="9525">
              <a:noFill/>
            </a:ln>
          </p:spPr>
          <p:txBody>
            <a:bodyPr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主存</a:t>
              </a:r>
              <a:endParaRPr lang="zh-CN" altLang="en-US" sz="2400" b="1" dirty="0">
                <a:latin typeface="Times New Roman" panose="02020603050405020304" pitchFamily="18" charset="0"/>
                <a:ea typeface="宋体" panose="02010600030101010101" pitchFamily="2" charset="-122"/>
              </a:endParaRPr>
            </a:p>
          </p:txBody>
        </p:sp>
        <p:sp>
          <p:nvSpPr>
            <p:cNvPr id="51235" name="Line 36"/>
            <p:cNvSpPr/>
            <p:nvPr/>
          </p:nvSpPr>
          <p:spPr>
            <a:xfrm>
              <a:off x="1697" y="2119"/>
              <a:ext cx="0" cy="624"/>
            </a:xfrm>
            <a:prstGeom prst="line">
              <a:avLst/>
            </a:prstGeom>
            <a:ln w="38100" cap="flat" cmpd="sng">
              <a:solidFill>
                <a:schemeClr val="folHlink"/>
              </a:solidFill>
              <a:prstDash val="solid"/>
              <a:round/>
              <a:headEnd type="none" w="med" len="med"/>
              <a:tailEnd type="none" w="med" len="med"/>
            </a:ln>
          </p:spPr>
        </p:sp>
        <p:sp>
          <p:nvSpPr>
            <p:cNvPr id="51236" name="Line 37"/>
            <p:cNvSpPr/>
            <p:nvPr/>
          </p:nvSpPr>
          <p:spPr>
            <a:xfrm>
              <a:off x="4039" y="1632"/>
              <a:ext cx="0" cy="1104"/>
            </a:xfrm>
            <a:prstGeom prst="line">
              <a:avLst/>
            </a:prstGeom>
            <a:ln w="38100" cap="flat" cmpd="sng">
              <a:solidFill>
                <a:schemeClr val="folHlink"/>
              </a:solidFill>
              <a:prstDash val="solid"/>
              <a:round/>
              <a:headEnd type="none" w="med" len="med"/>
              <a:tailEnd type="none" w="med" len="med"/>
            </a:ln>
          </p:spPr>
        </p:sp>
        <p:sp>
          <p:nvSpPr>
            <p:cNvPr id="51237" name="Line 38"/>
            <p:cNvSpPr/>
            <p:nvPr/>
          </p:nvSpPr>
          <p:spPr>
            <a:xfrm>
              <a:off x="2832" y="1440"/>
              <a:ext cx="0" cy="336"/>
            </a:xfrm>
            <a:prstGeom prst="line">
              <a:avLst/>
            </a:prstGeom>
            <a:ln w="38100" cap="flat" cmpd="sng">
              <a:solidFill>
                <a:schemeClr val="folHlink"/>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3474">
                                            <p:txEl>
                                              <p:pRg st="0" end="0"/>
                                            </p:txEl>
                                          </p:spTgt>
                                        </p:tgtEl>
                                        <p:attrNameLst>
                                          <p:attrName>style.visibility</p:attrName>
                                        </p:attrNameLst>
                                      </p:cBhvr>
                                      <p:to>
                                        <p:strVal val="visible"/>
                                      </p:to>
                                    </p:set>
                                    <p:animEffect transition="in" filter="blinds(horizontal)">
                                      <p:cBhvr>
                                        <p:cTn id="7" dur="500"/>
                                        <p:tgtEl>
                                          <p:spTgt spid="2334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3474">
                                            <p:txEl>
                                              <p:pRg st="1" end="1"/>
                                            </p:txEl>
                                          </p:spTgt>
                                        </p:tgtEl>
                                        <p:attrNameLst>
                                          <p:attrName>style.visibility</p:attrName>
                                        </p:attrNameLst>
                                      </p:cBhvr>
                                      <p:to>
                                        <p:strVal val="visible"/>
                                      </p:to>
                                    </p:set>
                                    <p:animEffect transition="in" filter="blinds(horizontal)">
                                      <p:cBhvr>
                                        <p:cTn id="12" dur="500"/>
                                        <p:tgtEl>
                                          <p:spTgt spid="2334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3475"/>
                                        </p:tgtEl>
                                        <p:attrNameLst>
                                          <p:attrName>style.visibility</p:attrName>
                                        </p:attrNameLst>
                                      </p:cBhvr>
                                      <p:to>
                                        <p:strVal val="visible"/>
                                      </p:to>
                                    </p:set>
                                    <p:animEffect transition="in" filter="blinds(horizontal)">
                                      <p:cBhvr>
                                        <p:cTn id="17" dur="500"/>
                                        <p:tgtEl>
                                          <p:spTgt spid="233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Text Box 2"/>
          <p:cNvSpPr txBox="1"/>
          <p:nvPr/>
        </p:nvSpPr>
        <p:spPr>
          <a:xfrm>
            <a:off x="228600" y="152400"/>
            <a:ext cx="8001000" cy="1568450"/>
          </a:xfrm>
          <a:prstGeom prst="rect">
            <a:avLst/>
          </a:prstGeom>
          <a:noFill/>
          <a:ln w="9525">
            <a:noFill/>
          </a:ln>
        </p:spPr>
        <p:txBody>
          <a:bodyPr anchor="t" anchorCtr="0">
            <a:spAutoFit/>
          </a:bodyPr>
          <a:lstStyle/>
          <a:p>
            <a:pPr>
              <a:spcBef>
                <a:spcPct val="50000"/>
              </a:spcBef>
              <a:buClrTx/>
              <a:buFontTx/>
            </a:pP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总线就是一种三总线结构。由下图可知</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总线通过</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桥路与</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总线相连。这种结构使</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总线与</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总线互相隔离，具有更高的灵活性，可以支持更多的高速运行设备，而且具有即插即用的特性。</a:t>
            </a:r>
          </a:p>
        </p:txBody>
      </p:sp>
      <p:grpSp>
        <p:nvGrpSpPr>
          <p:cNvPr id="234499" name="Group 3"/>
          <p:cNvGrpSpPr/>
          <p:nvPr/>
        </p:nvGrpSpPr>
        <p:grpSpPr>
          <a:xfrm>
            <a:off x="354013" y="1828800"/>
            <a:ext cx="8789987" cy="4770438"/>
            <a:chOff x="96" y="912"/>
            <a:chExt cx="5537" cy="3005"/>
          </a:xfrm>
        </p:grpSpPr>
        <p:sp>
          <p:nvSpPr>
            <p:cNvPr id="52227" name="Rectangle 4"/>
            <p:cNvSpPr/>
            <p:nvPr/>
          </p:nvSpPr>
          <p:spPr>
            <a:xfrm>
              <a:off x="96" y="1121"/>
              <a:ext cx="736" cy="362"/>
            </a:xfrm>
            <a:prstGeom prst="rect">
              <a:avLst/>
            </a:prstGeom>
            <a:noFill/>
            <a:ln w="38100" cap="flat" cmpd="sng">
              <a:solidFill>
                <a:schemeClr val="folHlink"/>
              </a:solidFill>
              <a:prstDash val="solid"/>
              <a:miter/>
              <a:headEnd type="none" w="med" len="med"/>
              <a:tailEnd type="none" w="med" len="med"/>
            </a:ln>
          </p:spPr>
          <p:txBody>
            <a:bodyPr anchor="ctr" anchorCtr="1"/>
            <a:lstStyle/>
            <a:p>
              <a:pPr>
                <a:buClrTx/>
                <a:buFontTx/>
              </a:pPr>
              <a:r>
                <a:rPr lang="en-US" altLang="zh-CN" sz="2400" b="1" dirty="0">
                  <a:latin typeface="Times New Roman" panose="02020603050405020304" pitchFamily="18" charset="0"/>
                  <a:ea typeface="宋体" panose="02010600030101010101" pitchFamily="2" charset="-122"/>
                </a:rPr>
                <a:t>CPU</a:t>
              </a:r>
            </a:p>
          </p:txBody>
        </p:sp>
        <p:sp>
          <p:nvSpPr>
            <p:cNvPr id="52228" name="Rectangle 5"/>
            <p:cNvSpPr/>
            <p:nvPr/>
          </p:nvSpPr>
          <p:spPr>
            <a:xfrm>
              <a:off x="2288" y="2905"/>
              <a:ext cx="736" cy="33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zh-CN" altLang="en-US" sz="2400" b="1" dirty="0">
                  <a:latin typeface="Times New Roman" panose="02020603050405020304" pitchFamily="18" charset="0"/>
                  <a:ea typeface="宋体" panose="02010600030101010101" pitchFamily="2" charset="-122"/>
                </a:rPr>
                <a:t>多媒体</a:t>
              </a:r>
            </a:p>
          </p:txBody>
        </p:sp>
        <p:sp>
          <p:nvSpPr>
            <p:cNvPr id="52229" name="Rectangle 6"/>
            <p:cNvSpPr/>
            <p:nvPr/>
          </p:nvSpPr>
          <p:spPr>
            <a:xfrm>
              <a:off x="2419" y="1729"/>
              <a:ext cx="832" cy="340"/>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en-US" altLang="zh-CN" sz="2800" b="1" dirty="0">
                  <a:latin typeface="Times New Roman" panose="02020603050405020304" pitchFamily="18" charset="0"/>
                  <a:ea typeface="宋体" panose="02010600030101010101" pitchFamily="2" charset="-122"/>
                </a:rPr>
                <a:t>PCI </a:t>
              </a:r>
              <a:r>
                <a:rPr lang="zh-CN" altLang="en-US" sz="2800" b="1" dirty="0">
                  <a:latin typeface="Times New Roman" panose="02020603050405020304" pitchFamily="18" charset="0"/>
                  <a:ea typeface="宋体" panose="02010600030101010101" pitchFamily="2" charset="-122"/>
                </a:rPr>
                <a:t>桥</a:t>
              </a:r>
            </a:p>
          </p:txBody>
        </p:sp>
        <p:sp>
          <p:nvSpPr>
            <p:cNvPr id="52230" name="Freeform 7"/>
            <p:cNvSpPr/>
            <p:nvPr/>
          </p:nvSpPr>
          <p:spPr>
            <a:xfrm>
              <a:off x="4589" y="2472"/>
              <a:ext cx="163" cy="427"/>
            </a:xfrm>
            <a:custGeom>
              <a:avLst/>
              <a:gdLst/>
              <a:ahLst/>
              <a:cxnLst>
                <a:cxn ang="0">
                  <a:pos x="82" y="0"/>
                </a:cxn>
                <a:cxn ang="0">
                  <a:pos x="163" y="98"/>
                </a:cxn>
                <a:cxn ang="0">
                  <a:pos x="121" y="98"/>
                </a:cxn>
                <a:cxn ang="0">
                  <a:pos x="121" y="399"/>
                </a:cxn>
                <a:cxn ang="0">
                  <a:pos x="163" y="399"/>
                </a:cxn>
                <a:cxn ang="0">
                  <a:pos x="82" y="496"/>
                </a:cxn>
                <a:cxn ang="0">
                  <a:pos x="0" y="399"/>
                </a:cxn>
                <a:cxn ang="0">
                  <a:pos x="43" y="399"/>
                </a:cxn>
                <a:cxn ang="0">
                  <a:pos x="43" y="98"/>
                </a:cxn>
                <a:cxn ang="0">
                  <a:pos x="0" y="98"/>
                </a:cxn>
                <a:cxn ang="0">
                  <a:pos x="82" y="0"/>
                </a:cxn>
              </a:cxnLst>
              <a:rect l="0" t="0" r="0" b="0"/>
              <a:pathLst>
                <a:path w="163" h="396">
                  <a:moveTo>
                    <a:pt x="82" y="0"/>
                  </a:moveTo>
                  <a:lnTo>
                    <a:pt x="163" y="78"/>
                  </a:lnTo>
                  <a:lnTo>
                    <a:pt x="121" y="78"/>
                  </a:lnTo>
                  <a:lnTo>
                    <a:pt x="121" y="318"/>
                  </a:lnTo>
                  <a:lnTo>
                    <a:pt x="163" y="318"/>
                  </a:lnTo>
                  <a:lnTo>
                    <a:pt x="82" y="396"/>
                  </a:lnTo>
                  <a:lnTo>
                    <a:pt x="0" y="318"/>
                  </a:lnTo>
                  <a:lnTo>
                    <a:pt x="43" y="318"/>
                  </a:lnTo>
                  <a:lnTo>
                    <a:pt x="43" y="78"/>
                  </a:lnTo>
                  <a:lnTo>
                    <a:pt x="0" y="78"/>
                  </a:lnTo>
                  <a:lnTo>
                    <a:pt x="82"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2231" name="Freeform 8"/>
            <p:cNvSpPr/>
            <p:nvPr/>
          </p:nvSpPr>
          <p:spPr>
            <a:xfrm>
              <a:off x="2621" y="2472"/>
              <a:ext cx="163" cy="427"/>
            </a:xfrm>
            <a:custGeom>
              <a:avLst/>
              <a:gdLst/>
              <a:ahLst/>
              <a:cxnLst>
                <a:cxn ang="0">
                  <a:pos x="81" y="0"/>
                </a:cxn>
                <a:cxn ang="0">
                  <a:pos x="163" y="98"/>
                </a:cxn>
                <a:cxn ang="0">
                  <a:pos x="120" y="98"/>
                </a:cxn>
                <a:cxn ang="0">
                  <a:pos x="120" y="399"/>
                </a:cxn>
                <a:cxn ang="0">
                  <a:pos x="163" y="399"/>
                </a:cxn>
                <a:cxn ang="0">
                  <a:pos x="81" y="496"/>
                </a:cxn>
                <a:cxn ang="0">
                  <a:pos x="0" y="399"/>
                </a:cxn>
                <a:cxn ang="0">
                  <a:pos x="43" y="399"/>
                </a:cxn>
                <a:cxn ang="0">
                  <a:pos x="43" y="98"/>
                </a:cxn>
                <a:cxn ang="0">
                  <a:pos x="0" y="98"/>
                </a:cxn>
                <a:cxn ang="0">
                  <a:pos x="81" y="0"/>
                </a:cxn>
              </a:cxnLst>
              <a:rect l="0" t="0" r="0" b="0"/>
              <a:pathLst>
                <a:path w="163" h="396">
                  <a:moveTo>
                    <a:pt x="81" y="0"/>
                  </a:moveTo>
                  <a:lnTo>
                    <a:pt x="163" y="78"/>
                  </a:lnTo>
                  <a:lnTo>
                    <a:pt x="120" y="78"/>
                  </a:lnTo>
                  <a:lnTo>
                    <a:pt x="120" y="318"/>
                  </a:lnTo>
                  <a:lnTo>
                    <a:pt x="163" y="318"/>
                  </a:lnTo>
                  <a:lnTo>
                    <a:pt x="81" y="396"/>
                  </a:lnTo>
                  <a:lnTo>
                    <a:pt x="0" y="318"/>
                  </a:lnTo>
                  <a:lnTo>
                    <a:pt x="43" y="318"/>
                  </a:lnTo>
                  <a:lnTo>
                    <a:pt x="43" y="78"/>
                  </a:lnTo>
                  <a:lnTo>
                    <a:pt x="0" y="78"/>
                  </a:lnTo>
                  <a:lnTo>
                    <a:pt x="81"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2232" name="Freeform 9"/>
            <p:cNvSpPr/>
            <p:nvPr/>
          </p:nvSpPr>
          <p:spPr>
            <a:xfrm>
              <a:off x="3600" y="2472"/>
              <a:ext cx="158" cy="427"/>
            </a:xfrm>
            <a:custGeom>
              <a:avLst/>
              <a:gdLst/>
              <a:ahLst/>
              <a:cxnLst>
                <a:cxn ang="0">
                  <a:pos x="81" y="0"/>
                </a:cxn>
                <a:cxn ang="0">
                  <a:pos x="158" y="98"/>
                </a:cxn>
                <a:cxn ang="0">
                  <a:pos x="120" y="98"/>
                </a:cxn>
                <a:cxn ang="0">
                  <a:pos x="120" y="399"/>
                </a:cxn>
                <a:cxn ang="0">
                  <a:pos x="158" y="399"/>
                </a:cxn>
                <a:cxn ang="0">
                  <a:pos x="81" y="496"/>
                </a:cxn>
                <a:cxn ang="0">
                  <a:pos x="0" y="399"/>
                </a:cxn>
                <a:cxn ang="0">
                  <a:pos x="38" y="399"/>
                </a:cxn>
                <a:cxn ang="0">
                  <a:pos x="38" y="98"/>
                </a:cxn>
                <a:cxn ang="0">
                  <a:pos x="0" y="98"/>
                </a:cxn>
                <a:cxn ang="0">
                  <a:pos x="81" y="0"/>
                </a:cxn>
              </a:cxnLst>
              <a:rect l="0" t="0" r="0" b="0"/>
              <a:pathLst>
                <a:path w="158" h="396">
                  <a:moveTo>
                    <a:pt x="81" y="0"/>
                  </a:moveTo>
                  <a:lnTo>
                    <a:pt x="158" y="78"/>
                  </a:lnTo>
                  <a:lnTo>
                    <a:pt x="120" y="78"/>
                  </a:lnTo>
                  <a:lnTo>
                    <a:pt x="120" y="318"/>
                  </a:lnTo>
                  <a:lnTo>
                    <a:pt x="158" y="318"/>
                  </a:lnTo>
                  <a:lnTo>
                    <a:pt x="81" y="396"/>
                  </a:lnTo>
                  <a:lnTo>
                    <a:pt x="0" y="318"/>
                  </a:lnTo>
                  <a:lnTo>
                    <a:pt x="38" y="318"/>
                  </a:lnTo>
                  <a:lnTo>
                    <a:pt x="38" y="78"/>
                  </a:lnTo>
                  <a:lnTo>
                    <a:pt x="0" y="78"/>
                  </a:lnTo>
                  <a:lnTo>
                    <a:pt x="81"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2233" name="Freeform 10"/>
            <p:cNvSpPr/>
            <p:nvPr/>
          </p:nvSpPr>
          <p:spPr>
            <a:xfrm>
              <a:off x="513" y="3132"/>
              <a:ext cx="159" cy="442"/>
            </a:xfrm>
            <a:custGeom>
              <a:avLst/>
              <a:gdLst/>
              <a:ahLst/>
              <a:cxnLst>
                <a:cxn ang="0">
                  <a:pos x="82" y="0"/>
                </a:cxn>
                <a:cxn ang="0">
                  <a:pos x="159" y="102"/>
                </a:cxn>
                <a:cxn ang="0">
                  <a:pos x="121" y="102"/>
                </a:cxn>
                <a:cxn ang="0">
                  <a:pos x="121" y="410"/>
                </a:cxn>
                <a:cxn ang="0">
                  <a:pos x="159" y="410"/>
                </a:cxn>
                <a:cxn ang="0">
                  <a:pos x="82" y="511"/>
                </a:cxn>
                <a:cxn ang="0">
                  <a:pos x="0" y="410"/>
                </a:cxn>
                <a:cxn ang="0">
                  <a:pos x="39" y="410"/>
                </a:cxn>
                <a:cxn ang="0">
                  <a:pos x="39" y="102"/>
                </a:cxn>
                <a:cxn ang="0">
                  <a:pos x="0" y="102"/>
                </a:cxn>
                <a:cxn ang="0">
                  <a:pos x="82" y="0"/>
                </a:cxn>
              </a:cxnLst>
              <a:rect l="0" t="0" r="0" b="0"/>
              <a:pathLst>
                <a:path w="159" h="411">
                  <a:moveTo>
                    <a:pt x="82" y="0"/>
                  </a:moveTo>
                  <a:lnTo>
                    <a:pt x="159" y="82"/>
                  </a:lnTo>
                  <a:lnTo>
                    <a:pt x="121" y="82"/>
                  </a:lnTo>
                  <a:lnTo>
                    <a:pt x="121" y="329"/>
                  </a:lnTo>
                  <a:lnTo>
                    <a:pt x="159" y="329"/>
                  </a:lnTo>
                  <a:lnTo>
                    <a:pt x="82" y="411"/>
                  </a:lnTo>
                  <a:lnTo>
                    <a:pt x="0" y="329"/>
                  </a:lnTo>
                  <a:lnTo>
                    <a:pt x="39" y="329"/>
                  </a:lnTo>
                  <a:lnTo>
                    <a:pt x="39" y="82"/>
                  </a:lnTo>
                  <a:lnTo>
                    <a:pt x="0" y="82"/>
                  </a:lnTo>
                  <a:lnTo>
                    <a:pt x="82"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2234" name="Freeform 11"/>
            <p:cNvSpPr/>
            <p:nvPr/>
          </p:nvSpPr>
          <p:spPr>
            <a:xfrm>
              <a:off x="1761" y="3132"/>
              <a:ext cx="159" cy="442"/>
            </a:xfrm>
            <a:custGeom>
              <a:avLst/>
              <a:gdLst/>
              <a:ahLst/>
              <a:cxnLst>
                <a:cxn ang="0">
                  <a:pos x="77" y="0"/>
                </a:cxn>
                <a:cxn ang="0">
                  <a:pos x="159" y="102"/>
                </a:cxn>
                <a:cxn ang="0">
                  <a:pos x="120" y="102"/>
                </a:cxn>
                <a:cxn ang="0">
                  <a:pos x="120" y="410"/>
                </a:cxn>
                <a:cxn ang="0">
                  <a:pos x="159" y="410"/>
                </a:cxn>
                <a:cxn ang="0">
                  <a:pos x="77" y="511"/>
                </a:cxn>
                <a:cxn ang="0">
                  <a:pos x="0" y="410"/>
                </a:cxn>
                <a:cxn ang="0">
                  <a:pos x="39" y="410"/>
                </a:cxn>
                <a:cxn ang="0">
                  <a:pos x="39" y="102"/>
                </a:cxn>
                <a:cxn ang="0">
                  <a:pos x="0" y="102"/>
                </a:cxn>
                <a:cxn ang="0">
                  <a:pos x="77" y="0"/>
                </a:cxn>
              </a:cxnLst>
              <a:rect l="0" t="0" r="0" b="0"/>
              <a:pathLst>
                <a:path w="159" h="411">
                  <a:moveTo>
                    <a:pt x="77" y="0"/>
                  </a:moveTo>
                  <a:lnTo>
                    <a:pt x="159" y="82"/>
                  </a:lnTo>
                  <a:lnTo>
                    <a:pt x="120" y="82"/>
                  </a:lnTo>
                  <a:lnTo>
                    <a:pt x="120" y="329"/>
                  </a:lnTo>
                  <a:lnTo>
                    <a:pt x="159" y="329"/>
                  </a:lnTo>
                  <a:lnTo>
                    <a:pt x="77" y="411"/>
                  </a:lnTo>
                  <a:lnTo>
                    <a:pt x="0" y="329"/>
                  </a:lnTo>
                  <a:lnTo>
                    <a:pt x="39" y="329"/>
                  </a:lnTo>
                  <a:lnTo>
                    <a:pt x="39" y="82"/>
                  </a:lnTo>
                  <a:lnTo>
                    <a:pt x="0" y="82"/>
                  </a:lnTo>
                  <a:lnTo>
                    <a:pt x="77"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2235" name="Freeform 12"/>
            <p:cNvSpPr/>
            <p:nvPr/>
          </p:nvSpPr>
          <p:spPr>
            <a:xfrm>
              <a:off x="513" y="2705"/>
              <a:ext cx="159" cy="314"/>
            </a:xfrm>
            <a:custGeom>
              <a:avLst/>
              <a:gdLst/>
              <a:ahLst/>
              <a:cxnLst>
                <a:cxn ang="0">
                  <a:pos x="78" y="0"/>
                </a:cxn>
                <a:cxn ang="0">
                  <a:pos x="159" y="75"/>
                </a:cxn>
                <a:cxn ang="0">
                  <a:pos x="120" y="75"/>
                </a:cxn>
                <a:cxn ang="0">
                  <a:pos x="120" y="292"/>
                </a:cxn>
                <a:cxn ang="0">
                  <a:pos x="159" y="292"/>
                </a:cxn>
                <a:cxn ang="0">
                  <a:pos x="78" y="363"/>
                </a:cxn>
                <a:cxn ang="0">
                  <a:pos x="0" y="292"/>
                </a:cxn>
                <a:cxn ang="0">
                  <a:pos x="39" y="292"/>
                </a:cxn>
                <a:cxn ang="0">
                  <a:pos x="39" y="75"/>
                </a:cxn>
                <a:cxn ang="0">
                  <a:pos x="0" y="75"/>
                </a:cxn>
                <a:cxn ang="0">
                  <a:pos x="78" y="0"/>
                </a:cxn>
              </a:cxnLst>
              <a:rect l="0" t="0" r="0" b="0"/>
              <a:pathLst>
                <a:path w="159" h="292">
                  <a:moveTo>
                    <a:pt x="78" y="0"/>
                  </a:moveTo>
                  <a:lnTo>
                    <a:pt x="159" y="60"/>
                  </a:lnTo>
                  <a:lnTo>
                    <a:pt x="120" y="60"/>
                  </a:lnTo>
                  <a:lnTo>
                    <a:pt x="120" y="235"/>
                  </a:lnTo>
                  <a:lnTo>
                    <a:pt x="159" y="235"/>
                  </a:lnTo>
                  <a:lnTo>
                    <a:pt x="78" y="292"/>
                  </a:lnTo>
                  <a:lnTo>
                    <a:pt x="0" y="235"/>
                  </a:lnTo>
                  <a:lnTo>
                    <a:pt x="39" y="235"/>
                  </a:lnTo>
                  <a:lnTo>
                    <a:pt x="39" y="60"/>
                  </a:lnTo>
                  <a:lnTo>
                    <a:pt x="0" y="60"/>
                  </a:lnTo>
                  <a:lnTo>
                    <a:pt x="78" y="0"/>
                  </a:lnTo>
                  <a:close/>
                </a:path>
              </a:pathLst>
            </a:custGeom>
            <a:noFill/>
            <a:ln w="38100" cap="flat" cmpd="sng">
              <a:solidFill>
                <a:schemeClr val="folHlink"/>
              </a:solidFill>
              <a:prstDash val="solid"/>
              <a:round/>
              <a:headEnd type="none" w="med" len="med"/>
              <a:tailEnd type="none" w="med" len="med"/>
            </a:ln>
          </p:spPr>
          <p:txBody>
            <a:bodyPr/>
            <a:lstStyle/>
            <a:p>
              <a:endParaRPr lang="zh-CN" altLang="en-US"/>
            </a:p>
          </p:txBody>
        </p:sp>
        <p:sp>
          <p:nvSpPr>
            <p:cNvPr id="52236" name="Rectangle 13"/>
            <p:cNvSpPr/>
            <p:nvPr/>
          </p:nvSpPr>
          <p:spPr>
            <a:xfrm>
              <a:off x="3097" y="2905"/>
              <a:ext cx="1127" cy="33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zh-CN" altLang="en-US" sz="2400" b="1" dirty="0">
                  <a:latin typeface="Times New Roman" panose="02020603050405020304" pitchFamily="18" charset="0"/>
                  <a:ea typeface="宋体" panose="02010600030101010101" pitchFamily="2" charset="-122"/>
                </a:rPr>
                <a:t>高速局域网</a:t>
              </a:r>
            </a:p>
          </p:txBody>
        </p:sp>
        <p:sp>
          <p:nvSpPr>
            <p:cNvPr id="52237" name="Rectangle 14"/>
            <p:cNvSpPr/>
            <p:nvPr/>
          </p:nvSpPr>
          <p:spPr>
            <a:xfrm>
              <a:off x="4346" y="2905"/>
              <a:ext cx="1174" cy="334"/>
            </a:xfrm>
            <a:prstGeom prst="rect">
              <a:avLst/>
            </a:prstGeom>
            <a:noFill/>
            <a:ln w="38100" cap="flat" cmpd="sng">
              <a:solidFill>
                <a:schemeClr val="folHlink"/>
              </a:solidFill>
              <a:prstDash val="solid"/>
              <a:miter/>
              <a:headEnd type="none" w="med" len="med"/>
              <a:tailEnd type="none" w="med" len="med"/>
            </a:ln>
          </p:spPr>
          <p:txBody>
            <a:bodyPr lIns="140400" anchor="t" anchorCtr="0"/>
            <a:lstStyle/>
            <a:p>
              <a:pPr>
                <a:buClrTx/>
                <a:buFontTx/>
              </a:pPr>
              <a:r>
                <a:rPr lang="zh-CN" altLang="en-US" sz="2400" b="1" dirty="0">
                  <a:latin typeface="Times New Roman" panose="02020603050405020304" pitchFamily="18" charset="0"/>
                  <a:ea typeface="宋体" panose="02010600030101010101" pitchFamily="2" charset="-122"/>
                </a:rPr>
                <a:t>高性能图形</a:t>
              </a:r>
            </a:p>
          </p:txBody>
        </p:sp>
        <p:sp>
          <p:nvSpPr>
            <p:cNvPr id="52238" name="Rectangle 15"/>
            <p:cNvSpPr/>
            <p:nvPr/>
          </p:nvSpPr>
          <p:spPr>
            <a:xfrm>
              <a:off x="1142" y="3579"/>
              <a:ext cx="1114" cy="338"/>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r>
                <a:rPr lang="zh-CN" altLang="en-US" sz="2400" b="1" dirty="0">
                  <a:latin typeface="Times New Roman" panose="02020603050405020304" pitchFamily="18" charset="0"/>
                  <a:ea typeface="宋体" panose="02010600030101010101" pitchFamily="2" charset="-122"/>
                </a:rPr>
                <a:t>调制解调器</a:t>
              </a:r>
            </a:p>
          </p:txBody>
        </p:sp>
        <p:sp>
          <p:nvSpPr>
            <p:cNvPr id="52239" name="Rectangle 16"/>
            <p:cNvSpPr/>
            <p:nvPr/>
          </p:nvSpPr>
          <p:spPr>
            <a:xfrm>
              <a:off x="96" y="3579"/>
              <a:ext cx="971" cy="338"/>
            </a:xfrm>
            <a:prstGeom prst="rect">
              <a:avLst/>
            </a:prstGeom>
            <a:noFill/>
            <a:ln w="38100" cap="flat" cmpd="sng">
              <a:solidFill>
                <a:schemeClr val="folHlink"/>
              </a:solidFill>
              <a:prstDash val="solid"/>
              <a:miter/>
              <a:headEnd type="none" w="med" len="med"/>
              <a:tailEnd type="none" w="med" len="med"/>
            </a:ln>
          </p:spPr>
          <p:txBody>
            <a:bodyPr lIns="129600" anchor="t" anchorCtr="0"/>
            <a:lstStyle/>
            <a:p>
              <a:pPr>
                <a:buClrTx/>
                <a:buFontTx/>
              </a:pPr>
              <a:r>
                <a:rPr lang="zh-CN" altLang="en-US" sz="2400" b="1" dirty="0">
                  <a:latin typeface="Times New Roman" panose="02020603050405020304" pitchFamily="18" charset="0"/>
                  <a:ea typeface="宋体" panose="02010600030101010101" pitchFamily="2" charset="-122"/>
                </a:rPr>
                <a:t>图文传真</a:t>
              </a:r>
            </a:p>
          </p:txBody>
        </p:sp>
        <p:grpSp>
          <p:nvGrpSpPr>
            <p:cNvPr id="52240" name="Group 17"/>
            <p:cNvGrpSpPr/>
            <p:nvPr/>
          </p:nvGrpSpPr>
          <p:grpSpPr>
            <a:xfrm>
              <a:off x="2304" y="3708"/>
              <a:ext cx="170" cy="36"/>
              <a:chOff x="2216" y="4009"/>
              <a:chExt cx="170" cy="34"/>
            </a:xfrm>
          </p:grpSpPr>
          <p:sp>
            <p:nvSpPr>
              <p:cNvPr id="52241" name="Freeform 18"/>
              <p:cNvSpPr/>
              <p:nvPr/>
            </p:nvSpPr>
            <p:spPr>
              <a:xfrm>
                <a:off x="2216" y="4009"/>
                <a:ext cx="31" cy="34"/>
              </a:xfrm>
              <a:custGeom>
                <a:avLst/>
                <a:gdLst/>
                <a:ahLst/>
                <a:cxnLst>
                  <a:cxn ang="0">
                    <a:pos x="15" y="0"/>
                  </a:cxn>
                  <a:cxn ang="0">
                    <a:pos x="4" y="4"/>
                  </a:cxn>
                  <a:cxn ang="0">
                    <a:pos x="0" y="15"/>
                  </a:cxn>
                  <a:cxn ang="0">
                    <a:pos x="4" y="26"/>
                  </a:cxn>
                  <a:cxn ang="0">
                    <a:pos x="15" y="34"/>
                  </a:cxn>
                  <a:cxn ang="0">
                    <a:pos x="15" y="34"/>
                  </a:cxn>
                  <a:cxn ang="0">
                    <a:pos x="27" y="26"/>
                  </a:cxn>
                  <a:cxn ang="0">
                    <a:pos x="31" y="15"/>
                  </a:cxn>
                  <a:cxn ang="0">
                    <a:pos x="27" y="4"/>
                  </a:cxn>
                  <a:cxn ang="0">
                    <a:pos x="15" y="0"/>
                  </a:cxn>
                </a:cxnLst>
                <a:rect l="0" t="0" r="0" b="0"/>
                <a:pathLst>
                  <a:path w="31" h="34">
                    <a:moveTo>
                      <a:pt x="15" y="0"/>
                    </a:moveTo>
                    <a:lnTo>
                      <a:pt x="4" y="4"/>
                    </a:lnTo>
                    <a:lnTo>
                      <a:pt x="0" y="15"/>
                    </a:lnTo>
                    <a:lnTo>
                      <a:pt x="4" y="26"/>
                    </a:lnTo>
                    <a:lnTo>
                      <a:pt x="15" y="34"/>
                    </a:lnTo>
                    <a:lnTo>
                      <a:pt x="27" y="26"/>
                    </a:lnTo>
                    <a:lnTo>
                      <a:pt x="31" y="15"/>
                    </a:lnTo>
                    <a:lnTo>
                      <a:pt x="27" y="4"/>
                    </a:lnTo>
                    <a:lnTo>
                      <a:pt x="15" y="0"/>
                    </a:lnTo>
                    <a:close/>
                  </a:path>
                </a:pathLst>
              </a:custGeom>
              <a:solidFill>
                <a:schemeClr val="tx1"/>
              </a:solidFill>
              <a:ln w="9525" cap="flat" cmpd="sng">
                <a:solidFill>
                  <a:schemeClr val="folHlink"/>
                </a:solidFill>
                <a:prstDash val="solid"/>
                <a:round/>
                <a:headEnd type="none" w="med" len="med"/>
                <a:tailEnd type="none" w="med" len="med"/>
              </a:ln>
            </p:spPr>
            <p:txBody>
              <a:bodyPr/>
              <a:lstStyle/>
              <a:p>
                <a:endParaRPr lang="zh-CN" altLang="en-US"/>
              </a:p>
            </p:txBody>
          </p:sp>
          <p:sp>
            <p:nvSpPr>
              <p:cNvPr id="52242" name="Freeform 19"/>
              <p:cNvSpPr/>
              <p:nvPr/>
            </p:nvSpPr>
            <p:spPr>
              <a:xfrm>
                <a:off x="2281" y="4009"/>
                <a:ext cx="35" cy="34"/>
              </a:xfrm>
              <a:custGeom>
                <a:avLst/>
                <a:gdLst/>
                <a:ahLst/>
                <a:cxnLst>
                  <a:cxn ang="0">
                    <a:pos x="20" y="0"/>
                  </a:cxn>
                  <a:cxn ang="0">
                    <a:pos x="8" y="4"/>
                  </a:cxn>
                  <a:cxn ang="0">
                    <a:pos x="0" y="15"/>
                  </a:cxn>
                  <a:cxn ang="0">
                    <a:pos x="8" y="26"/>
                  </a:cxn>
                  <a:cxn ang="0">
                    <a:pos x="20" y="34"/>
                  </a:cxn>
                  <a:cxn ang="0">
                    <a:pos x="20" y="34"/>
                  </a:cxn>
                  <a:cxn ang="0">
                    <a:pos x="31" y="26"/>
                  </a:cxn>
                  <a:cxn ang="0">
                    <a:pos x="35" y="15"/>
                  </a:cxn>
                  <a:cxn ang="0">
                    <a:pos x="31" y="4"/>
                  </a:cxn>
                  <a:cxn ang="0">
                    <a:pos x="20" y="0"/>
                  </a:cxn>
                </a:cxnLst>
                <a:rect l="0" t="0" r="0" b="0"/>
                <a:pathLst>
                  <a:path w="35" h="34">
                    <a:moveTo>
                      <a:pt x="20" y="0"/>
                    </a:moveTo>
                    <a:lnTo>
                      <a:pt x="8" y="4"/>
                    </a:lnTo>
                    <a:lnTo>
                      <a:pt x="0" y="15"/>
                    </a:lnTo>
                    <a:lnTo>
                      <a:pt x="8" y="26"/>
                    </a:lnTo>
                    <a:lnTo>
                      <a:pt x="20" y="34"/>
                    </a:lnTo>
                    <a:lnTo>
                      <a:pt x="31" y="26"/>
                    </a:lnTo>
                    <a:lnTo>
                      <a:pt x="35" y="15"/>
                    </a:lnTo>
                    <a:lnTo>
                      <a:pt x="31" y="4"/>
                    </a:lnTo>
                    <a:lnTo>
                      <a:pt x="20" y="0"/>
                    </a:lnTo>
                    <a:close/>
                  </a:path>
                </a:pathLst>
              </a:custGeom>
              <a:solidFill>
                <a:schemeClr val="tx1"/>
              </a:solidFill>
              <a:ln w="9525" cap="flat" cmpd="sng">
                <a:solidFill>
                  <a:schemeClr val="folHlink"/>
                </a:solidFill>
                <a:prstDash val="solid"/>
                <a:round/>
                <a:headEnd type="none" w="med" len="med"/>
                <a:tailEnd type="none" w="med" len="med"/>
              </a:ln>
            </p:spPr>
            <p:txBody>
              <a:bodyPr/>
              <a:lstStyle/>
              <a:p>
                <a:endParaRPr lang="zh-CN" altLang="en-US"/>
              </a:p>
            </p:txBody>
          </p:sp>
          <p:sp>
            <p:nvSpPr>
              <p:cNvPr id="52243" name="Freeform 20"/>
              <p:cNvSpPr/>
              <p:nvPr/>
            </p:nvSpPr>
            <p:spPr>
              <a:xfrm>
                <a:off x="2351" y="4009"/>
                <a:ext cx="35" cy="34"/>
              </a:xfrm>
              <a:custGeom>
                <a:avLst/>
                <a:gdLst/>
                <a:ahLst/>
                <a:cxnLst>
                  <a:cxn ang="0">
                    <a:pos x="20" y="0"/>
                  </a:cxn>
                  <a:cxn ang="0">
                    <a:pos x="8" y="4"/>
                  </a:cxn>
                  <a:cxn ang="0">
                    <a:pos x="0" y="15"/>
                  </a:cxn>
                  <a:cxn ang="0">
                    <a:pos x="8" y="26"/>
                  </a:cxn>
                  <a:cxn ang="0">
                    <a:pos x="20" y="34"/>
                  </a:cxn>
                  <a:cxn ang="0">
                    <a:pos x="20" y="34"/>
                  </a:cxn>
                  <a:cxn ang="0">
                    <a:pos x="31" y="26"/>
                  </a:cxn>
                  <a:cxn ang="0">
                    <a:pos x="35" y="15"/>
                  </a:cxn>
                  <a:cxn ang="0">
                    <a:pos x="31" y="4"/>
                  </a:cxn>
                  <a:cxn ang="0">
                    <a:pos x="20" y="0"/>
                  </a:cxn>
                </a:cxnLst>
                <a:rect l="0" t="0" r="0" b="0"/>
                <a:pathLst>
                  <a:path w="35" h="34">
                    <a:moveTo>
                      <a:pt x="20" y="0"/>
                    </a:moveTo>
                    <a:lnTo>
                      <a:pt x="8" y="4"/>
                    </a:lnTo>
                    <a:lnTo>
                      <a:pt x="0" y="15"/>
                    </a:lnTo>
                    <a:lnTo>
                      <a:pt x="8" y="26"/>
                    </a:lnTo>
                    <a:lnTo>
                      <a:pt x="20" y="34"/>
                    </a:lnTo>
                    <a:lnTo>
                      <a:pt x="31" y="26"/>
                    </a:lnTo>
                    <a:lnTo>
                      <a:pt x="35" y="15"/>
                    </a:lnTo>
                    <a:lnTo>
                      <a:pt x="31" y="4"/>
                    </a:lnTo>
                    <a:lnTo>
                      <a:pt x="20" y="0"/>
                    </a:lnTo>
                    <a:close/>
                  </a:path>
                </a:pathLst>
              </a:custGeom>
              <a:solidFill>
                <a:schemeClr val="tx1"/>
              </a:solidFill>
              <a:ln w="9525" cap="flat" cmpd="sng">
                <a:solidFill>
                  <a:schemeClr val="folHlink"/>
                </a:solidFill>
                <a:prstDash val="solid"/>
                <a:round/>
                <a:headEnd type="none" w="med" len="med"/>
                <a:tailEnd type="none" w="med" len="med"/>
              </a:ln>
            </p:spPr>
            <p:txBody>
              <a:bodyPr/>
              <a:lstStyle/>
              <a:p>
                <a:endParaRPr lang="zh-CN" altLang="en-US"/>
              </a:p>
            </p:txBody>
          </p:sp>
        </p:grpSp>
        <p:sp>
          <p:nvSpPr>
            <p:cNvPr id="52244" name="Text Box 21"/>
            <p:cNvSpPr txBox="1"/>
            <p:nvPr/>
          </p:nvSpPr>
          <p:spPr>
            <a:xfrm>
              <a:off x="3408" y="2073"/>
              <a:ext cx="1006" cy="327"/>
            </a:xfrm>
            <a:prstGeom prst="rect">
              <a:avLst/>
            </a:prstGeom>
            <a:noFill/>
            <a:ln w="9525">
              <a:noFill/>
            </a:ln>
          </p:spPr>
          <p:txBody>
            <a:bodyPr wrap="none" anchor="t" anchorCtr="0">
              <a:spAutoFit/>
            </a:bodyPr>
            <a:lstStyle/>
            <a:p>
              <a:pPr>
                <a:buClrTx/>
                <a:buFontTx/>
              </a:pPr>
              <a:r>
                <a:rPr lang="en-US" altLang="zh-CN" sz="2800" b="1" dirty="0">
                  <a:solidFill>
                    <a:srgbClr val="FF0000"/>
                  </a:solidFill>
                  <a:latin typeface="Times New Roman" panose="02020603050405020304" pitchFamily="18" charset="0"/>
                  <a:ea typeface="宋体" panose="02010600030101010101" pitchFamily="2" charset="-122"/>
                </a:rPr>
                <a:t>PCI </a:t>
              </a:r>
              <a:r>
                <a:rPr lang="zh-CN" altLang="en-US" sz="2800" b="1" dirty="0">
                  <a:solidFill>
                    <a:srgbClr val="FF0000"/>
                  </a:solidFill>
                  <a:latin typeface="Times New Roman" panose="02020603050405020304" pitchFamily="18" charset="0"/>
                  <a:ea typeface="宋体" panose="02010600030101010101" pitchFamily="2" charset="-122"/>
                </a:rPr>
                <a:t>总线</a:t>
              </a:r>
            </a:p>
          </p:txBody>
        </p:sp>
        <p:sp>
          <p:nvSpPr>
            <p:cNvPr id="52245" name="Text Box 22"/>
            <p:cNvSpPr txBox="1"/>
            <p:nvPr/>
          </p:nvSpPr>
          <p:spPr>
            <a:xfrm>
              <a:off x="2327" y="912"/>
              <a:ext cx="1012" cy="327"/>
            </a:xfrm>
            <a:prstGeom prst="rect">
              <a:avLst/>
            </a:prstGeom>
            <a:noFill/>
            <a:ln w="9525">
              <a:noFill/>
            </a:ln>
          </p:spPr>
          <p:txBody>
            <a:bodyPr wrap="none" anchor="t" anchorCtr="0">
              <a:spAutoFit/>
            </a:bodyPr>
            <a:lstStyle/>
            <a:p>
              <a:pPr>
                <a:buClrTx/>
                <a:buFontTx/>
              </a:pPr>
              <a:r>
                <a:rPr lang="zh-CN" altLang="en-US" sz="2800" b="1" dirty="0">
                  <a:solidFill>
                    <a:srgbClr val="FF0000"/>
                  </a:solidFill>
                  <a:latin typeface="Times New Roman" panose="02020603050405020304" pitchFamily="18" charset="0"/>
                  <a:ea typeface="宋体" panose="02010600030101010101" pitchFamily="2" charset="-122"/>
                </a:rPr>
                <a:t>系统总线</a:t>
              </a:r>
            </a:p>
          </p:txBody>
        </p:sp>
        <p:sp>
          <p:nvSpPr>
            <p:cNvPr id="52246" name="Text Box 23"/>
            <p:cNvSpPr txBox="1"/>
            <p:nvPr/>
          </p:nvSpPr>
          <p:spPr>
            <a:xfrm>
              <a:off x="1041" y="2160"/>
              <a:ext cx="1788" cy="250"/>
            </a:xfrm>
            <a:prstGeom prst="rect">
              <a:avLst/>
            </a:prstGeom>
            <a:noFill/>
            <a:ln w="9525">
              <a:noFill/>
            </a:ln>
          </p:spPr>
          <p:txBody>
            <a:bodyPr wrap="none" anchor="t" anchorCtr="0">
              <a:spAutoFit/>
            </a:bodyPr>
            <a:lstStyle/>
            <a:p>
              <a:pPr>
                <a:buClrTx/>
                <a:buFontTx/>
              </a:pPr>
              <a:r>
                <a:rPr lang="en-US" altLang="zh-CN" sz="2000" b="1" dirty="0">
                  <a:latin typeface="Times New Roman" panose="02020603050405020304" pitchFamily="18" charset="0"/>
                  <a:ea typeface="宋体" panose="02010600030101010101" pitchFamily="2" charset="-122"/>
                </a:rPr>
                <a:t>33 MHz</a:t>
              </a:r>
              <a:r>
                <a:rPr lang="zh-CN" altLang="en-US" sz="2000" b="1" dirty="0">
                  <a:latin typeface="Times New Roman" panose="02020603050405020304" pitchFamily="18" charset="0"/>
                  <a:ea typeface="宋体" panose="02010600030101010101" pitchFamily="2" charset="-122"/>
                </a:rPr>
                <a:t>的</a:t>
              </a:r>
              <a:r>
                <a:rPr lang="en-US" altLang="zh-CN" sz="2000" b="1" dirty="0">
                  <a:latin typeface="Times New Roman" panose="02020603050405020304" pitchFamily="18" charset="0"/>
                  <a:ea typeface="宋体" panose="02010600030101010101" pitchFamily="2" charset="-122"/>
                </a:rPr>
                <a:t>32</a:t>
              </a:r>
              <a:r>
                <a:rPr lang="zh-CN" altLang="en-US" sz="2000" b="1" dirty="0">
                  <a:latin typeface="Times New Roman" panose="02020603050405020304" pitchFamily="18" charset="0"/>
                  <a:ea typeface="宋体" panose="02010600030101010101" pitchFamily="2" charset="-122"/>
                </a:rPr>
                <a:t>位数据通路</a:t>
              </a:r>
            </a:p>
          </p:txBody>
        </p:sp>
        <p:sp>
          <p:nvSpPr>
            <p:cNvPr id="52247" name="Text Box 24"/>
            <p:cNvSpPr txBox="1"/>
            <p:nvPr/>
          </p:nvSpPr>
          <p:spPr>
            <a:xfrm>
              <a:off x="624" y="2774"/>
              <a:ext cx="1708" cy="250"/>
            </a:xfrm>
            <a:prstGeom prst="rect">
              <a:avLst/>
            </a:prstGeom>
            <a:noFill/>
            <a:ln w="9525">
              <a:noFill/>
            </a:ln>
          </p:spPr>
          <p:txBody>
            <a:bodyPr wrap="none" anchor="t" anchorCtr="0">
              <a:spAutoFit/>
            </a:bodyPr>
            <a:lstStyle/>
            <a:p>
              <a:pPr>
                <a:buClrTx/>
                <a:buFontTx/>
              </a:pPr>
              <a:r>
                <a:rPr lang="en-US" altLang="zh-CN" sz="2000" b="1" dirty="0">
                  <a:latin typeface="Times New Roman" panose="02020603050405020304" pitchFamily="18" charset="0"/>
                  <a:ea typeface="宋体" panose="02010600030101010101" pitchFamily="2" charset="-122"/>
                </a:rPr>
                <a:t>8 MHz</a:t>
              </a:r>
              <a:r>
                <a:rPr lang="zh-CN" altLang="en-US" sz="2000" b="1" dirty="0">
                  <a:latin typeface="Times New Roman" panose="02020603050405020304" pitchFamily="18" charset="0"/>
                  <a:ea typeface="宋体" panose="02010600030101010101" pitchFamily="2" charset="-122"/>
                </a:rPr>
                <a:t>的</a:t>
              </a:r>
              <a:r>
                <a:rPr lang="en-US" altLang="zh-CN" sz="2000" b="1" dirty="0">
                  <a:latin typeface="Times New Roman" panose="02020603050405020304" pitchFamily="18" charset="0"/>
                  <a:ea typeface="宋体" panose="02010600030101010101" pitchFamily="2" charset="-122"/>
                </a:rPr>
                <a:t>16</a:t>
              </a:r>
              <a:r>
                <a:rPr lang="zh-CN" altLang="en-US" sz="2000" b="1" dirty="0">
                  <a:latin typeface="Times New Roman" panose="02020603050405020304" pitchFamily="18" charset="0"/>
                  <a:ea typeface="宋体" panose="02010600030101010101" pitchFamily="2" charset="-122"/>
                </a:rPr>
                <a:t>位数据通路</a:t>
              </a:r>
            </a:p>
          </p:txBody>
        </p:sp>
        <p:sp>
          <p:nvSpPr>
            <p:cNvPr id="52248" name="Text Box 25"/>
            <p:cNvSpPr txBox="1"/>
            <p:nvPr/>
          </p:nvSpPr>
          <p:spPr>
            <a:xfrm>
              <a:off x="659" y="3081"/>
              <a:ext cx="1069" cy="327"/>
            </a:xfrm>
            <a:prstGeom prst="rect">
              <a:avLst/>
            </a:prstGeom>
            <a:noFill/>
            <a:ln w="9525">
              <a:noFill/>
            </a:ln>
          </p:spPr>
          <p:txBody>
            <a:bodyPr wrap="none" anchor="t" anchorCtr="0">
              <a:spAutoFit/>
            </a:bodyPr>
            <a:lstStyle/>
            <a:p>
              <a:pPr>
                <a:buClrTx/>
                <a:buFontTx/>
              </a:pPr>
              <a:r>
                <a:rPr lang="en-US" altLang="zh-CN" sz="2800" b="1" dirty="0">
                  <a:solidFill>
                    <a:srgbClr val="FF0000"/>
                  </a:solidFill>
                  <a:latin typeface="Times New Roman" panose="02020603050405020304" pitchFamily="18" charset="0"/>
                  <a:ea typeface="宋体" panose="02010600030101010101" pitchFamily="2" charset="-122"/>
                </a:rPr>
                <a:t>ISA EISA</a:t>
              </a:r>
            </a:p>
          </p:txBody>
        </p:sp>
        <p:sp>
          <p:nvSpPr>
            <p:cNvPr id="52249" name="Rectangle 26"/>
            <p:cNvSpPr/>
            <p:nvPr/>
          </p:nvSpPr>
          <p:spPr>
            <a:xfrm>
              <a:off x="96" y="2160"/>
              <a:ext cx="912" cy="547"/>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zh-CN" sz="2400" b="1" dirty="0">
                <a:latin typeface="Times New Roman" panose="02020603050405020304" pitchFamily="18" charset="0"/>
                <a:ea typeface="宋体" panose="02010600030101010101" pitchFamily="2" charset="-122"/>
              </a:endParaRPr>
            </a:p>
          </p:txBody>
        </p:sp>
        <p:sp>
          <p:nvSpPr>
            <p:cNvPr id="52250" name="Text Box 27"/>
            <p:cNvSpPr txBox="1"/>
            <p:nvPr/>
          </p:nvSpPr>
          <p:spPr>
            <a:xfrm>
              <a:off x="120" y="2165"/>
              <a:ext cx="888" cy="518"/>
            </a:xfrm>
            <a:prstGeom prst="rect">
              <a:avLst/>
            </a:prstGeom>
            <a:noFill/>
            <a:ln w="9525">
              <a:noFill/>
            </a:ln>
          </p:spPr>
          <p:txBody>
            <a:bodyPr wrap="none" anchor="t" anchorCtr="0">
              <a:spAutoFit/>
            </a:bodyPr>
            <a:lstStyle/>
            <a:p>
              <a:pPr>
                <a:buClrTx/>
                <a:buFontTx/>
              </a:pPr>
              <a:r>
                <a:rPr lang="zh-CN" altLang="en-US" sz="2400" b="1" dirty="0">
                  <a:latin typeface="Times New Roman" panose="02020603050405020304" pitchFamily="18" charset="0"/>
                  <a:ea typeface="宋体" panose="02010600030101010101" pitchFamily="2" charset="-122"/>
                </a:rPr>
                <a:t>标准总线</a:t>
              </a:r>
            </a:p>
            <a:p>
              <a:pPr>
                <a:buClrTx/>
                <a:buFontTx/>
              </a:pPr>
              <a:r>
                <a:rPr lang="zh-CN" altLang="en-US" sz="2400" b="1" dirty="0">
                  <a:latin typeface="Times New Roman" panose="02020603050405020304" pitchFamily="18" charset="0"/>
                  <a:ea typeface="宋体" panose="02010600030101010101" pitchFamily="2" charset="-122"/>
                </a:rPr>
                <a:t>  控制器</a:t>
              </a:r>
            </a:p>
          </p:txBody>
        </p:sp>
        <p:sp>
          <p:nvSpPr>
            <p:cNvPr id="52251" name="Rectangle 28"/>
            <p:cNvSpPr/>
            <p:nvPr/>
          </p:nvSpPr>
          <p:spPr>
            <a:xfrm>
              <a:off x="4896" y="2165"/>
              <a:ext cx="720" cy="569"/>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zh-CN" sz="2400" b="1" dirty="0">
                <a:latin typeface="Times New Roman" panose="02020603050405020304" pitchFamily="18" charset="0"/>
                <a:ea typeface="宋体" panose="02010600030101010101" pitchFamily="2" charset="-122"/>
              </a:endParaRPr>
            </a:p>
          </p:txBody>
        </p:sp>
        <p:sp>
          <p:nvSpPr>
            <p:cNvPr id="52252" name="Text Box 29"/>
            <p:cNvSpPr txBox="1"/>
            <p:nvPr/>
          </p:nvSpPr>
          <p:spPr>
            <a:xfrm>
              <a:off x="4848" y="2165"/>
              <a:ext cx="785" cy="518"/>
            </a:xfrm>
            <a:prstGeom prst="rect">
              <a:avLst/>
            </a:prstGeom>
            <a:noFill/>
            <a:ln w="9525">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 SCSIⅡ</a:t>
              </a:r>
            </a:p>
            <a:p>
              <a:pPr>
                <a:buClrTx/>
                <a:buFontTx/>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控制器</a:t>
              </a:r>
              <a:endParaRPr lang="zh-CN" altLang="en-US" sz="3200" b="1" dirty="0">
                <a:latin typeface="Times New Roman" panose="02020603050405020304" pitchFamily="18" charset="0"/>
                <a:ea typeface="宋体" panose="02010600030101010101" pitchFamily="2" charset="-122"/>
              </a:endParaRPr>
            </a:p>
          </p:txBody>
        </p:sp>
        <p:sp>
          <p:nvSpPr>
            <p:cNvPr id="52253" name="Rectangle 30"/>
            <p:cNvSpPr/>
            <p:nvPr/>
          </p:nvSpPr>
          <p:spPr>
            <a:xfrm>
              <a:off x="4848" y="1129"/>
              <a:ext cx="768" cy="33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zh-CN" sz="2800" b="1" dirty="0">
                <a:latin typeface="Times New Roman" panose="02020603050405020304" pitchFamily="18" charset="0"/>
                <a:ea typeface="宋体" panose="02010600030101010101" pitchFamily="2" charset="-122"/>
              </a:endParaRPr>
            </a:p>
          </p:txBody>
        </p:sp>
        <p:sp>
          <p:nvSpPr>
            <p:cNvPr id="52254" name="Text Box 31"/>
            <p:cNvSpPr txBox="1"/>
            <p:nvPr/>
          </p:nvSpPr>
          <p:spPr>
            <a:xfrm>
              <a:off x="4860" y="1141"/>
              <a:ext cx="695" cy="288"/>
            </a:xfrm>
            <a:prstGeom prst="rect">
              <a:avLst/>
            </a:prstGeom>
            <a:noFill/>
            <a:ln w="9525">
              <a:noFill/>
            </a:ln>
          </p:spPr>
          <p:txBody>
            <a:bodyPr wrap="none" anchor="t" anchorCtr="0">
              <a:spAutoFit/>
            </a:bodyPr>
            <a:lstStyle/>
            <a:p>
              <a:pPr>
                <a:buClrTx/>
                <a:buFontTx/>
              </a:pPr>
              <a:r>
                <a:rPr lang="zh-CN" altLang="en-US" sz="2400" b="1" dirty="0">
                  <a:latin typeface="Times New Roman" panose="02020603050405020304" pitchFamily="18" charset="0"/>
                  <a:ea typeface="宋体" panose="02010600030101010101" pitchFamily="2" charset="-122"/>
                </a:rPr>
                <a:t>存储器</a:t>
              </a:r>
            </a:p>
          </p:txBody>
        </p:sp>
        <p:grpSp>
          <p:nvGrpSpPr>
            <p:cNvPr id="52255" name="Group 32"/>
            <p:cNvGrpSpPr/>
            <p:nvPr/>
          </p:nvGrpSpPr>
          <p:grpSpPr>
            <a:xfrm>
              <a:off x="1968" y="3228"/>
              <a:ext cx="170" cy="36"/>
              <a:chOff x="2216" y="4009"/>
              <a:chExt cx="170" cy="34"/>
            </a:xfrm>
          </p:grpSpPr>
          <p:sp>
            <p:nvSpPr>
              <p:cNvPr id="52256" name="Freeform 33"/>
              <p:cNvSpPr/>
              <p:nvPr/>
            </p:nvSpPr>
            <p:spPr>
              <a:xfrm>
                <a:off x="2216" y="4009"/>
                <a:ext cx="31" cy="34"/>
              </a:xfrm>
              <a:custGeom>
                <a:avLst/>
                <a:gdLst/>
                <a:ahLst/>
                <a:cxnLst>
                  <a:cxn ang="0">
                    <a:pos x="15" y="0"/>
                  </a:cxn>
                  <a:cxn ang="0">
                    <a:pos x="4" y="4"/>
                  </a:cxn>
                  <a:cxn ang="0">
                    <a:pos x="0" y="15"/>
                  </a:cxn>
                  <a:cxn ang="0">
                    <a:pos x="4" y="26"/>
                  </a:cxn>
                  <a:cxn ang="0">
                    <a:pos x="15" y="34"/>
                  </a:cxn>
                  <a:cxn ang="0">
                    <a:pos x="15" y="34"/>
                  </a:cxn>
                  <a:cxn ang="0">
                    <a:pos x="27" y="26"/>
                  </a:cxn>
                  <a:cxn ang="0">
                    <a:pos x="31" y="15"/>
                  </a:cxn>
                  <a:cxn ang="0">
                    <a:pos x="27" y="4"/>
                  </a:cxn>
                  <a:cxn ang="0">
                    <a:pos x="15" y="0"/>
                  </a:cxn>
                </a:cxnLst>
                <a:rect l="0" t="0" r="0" b="0"/>
                <a:pathLst>
                  <a:path w="31" h="34">
                    <a:moveTo>
                      <a:pt x="15" y="0"/>
                    </a:moveTo>
                    <a:lnTo>
                      <a:pt x="4" y="4"/>
                    </a:lnTo>
                    <a:lnTo>
                      <a:pt x="0" y="15"/>
                    </a:lnTo>
                    <a:lnTo>
                      <a:pt x="4" y="26"/>
                    </a:lnTo>
                    <a:lnTo>
                      <a:pt x="15" y="34"/>
                    </a:lnTo>
                    <a:lnTo>
                      <a:pt x="27" y="26"/>
                    </a:lnTo>
                    <a:lnTo>
                      <a:pt x="31" y="15"/>
                    </a:lnTo>
                    <a:lnTo>
                      <a:pt x="27" y="4"/>
                    </a:lnTo>
                    <a:lnTo>
                      <a:pt x="15" y="0"/>
                    </a:lnTo>
                    <a:close/>
                  </a:path>
                </a:pathLst>
              </a:custGeom>
              <a:solidFill>
                <a:schemeClr val="folHlink"/>
              </a:solidFill>
              <a:ln w="9525" cap="flat" cmpd="sng">
                <a:solidFill>
                  <a:schemeClr val="folHlink"/>
                </a:solidFill>
                <a:prstDash val="solid"/>
                <a:round/>
                <a:headEnd type="none" w="med" len="med"/>
                <a:tailEnd type="none" w="med" len="med"/>
              </a:ln>
            </p:spPr>
            <p:txBody>
              <a:bodyPr/>
              <a:lstStyle/>
              <a:p>
                <a:endParaRPr lang="zh-CN" altLang="en-US"/>
              </a:p>
            </p:txBody>
          </p:sp>
          <p:sp>
            <p:nvSpPr>
              <p:cNvPr id="52257" name="Freeform 34"/>
              <p:cNvSpPr/>
              <p:nvPr/>
            </p:nvSpPr>
            <p:spPr>
              <a:xfrm>
                <a:off x="2281" y="4009"/>
                <a:ext cx="35" cy="34"/>
              </a:xfrm>
              <a:custGeom>
                <a:avLst/>
                <a:gdLst/>
                <a:ahLst/>
                <a:cxnLst>
                  <a:cxn ang="0">
                    <a:pos x="20" y="0"/>
                  </a:cxn>
                  <a:cxn ang="0">
                    <a:pos x="8" y="4"/>
                  </a:cxn>
                  <a:cxn ang="0">
                    <a:pos x="0" y="15"/>
                  </a:cxn>
                  <a:cxn ang="0">
                    <a:pos x="8" y="26"/>
                  </a:cxn>
                  <a:cxn ang="0">
                    <a:pos x="20" y="34"/>
                  </a:cxn>
                  <a:cxn ang="0">
                    <a:pos x="20" y="34"/>
                  </a:cxn>
                  <a:cxn ang="0">
                    <a:pos x="31" y="26"/>
                  </a:cxn>
                  <a:cxn ang="0">
                    <a:pos x="35" y="15"/>
                  </a:cxn>
                  <a:cxn ang="0">
                    <a:pos x="31" y="4"/>
                  </a:cxn>
                  <a:cxn ang="0">
                    <a:pos x="20" y="0"/>
                  </a:cxn>
                </a:cxnLst>
                <a:rect l="0" t="0" r="0" b="0"/>
                <a:pathLst>
                  <a:path w="35" h="34">
                    <a:moveTo>
                      <a:pt x="20" y="0"/>
                    </a:moveTo>
                    <a:lnTo>
                      <a:pt x="8" y="4"/>
                    </a:lnTo>
                    <a:lnTo>
                      <a:pt x="0" y="15"/>
                    </a:lnTo>
                    <a:lnTo>
                      <a:pt x="8" y="26"/>
                    </a:lnTo>
                    <a:lnTo>
                      <a:pt x="20" y="34"/>
                    </a:lnTo>
                    <a:lnTo>
                      <a:pt x="31" y="26"/>
                    </a:lnTo>
                    <a:lnTo>
                      <a:pt x="35" y="15"/>
                    </a:lnTo>
                    <a:lnTo>
                      <a:pt x="31" y="4"/>
                    </a:lnTo>
                    <a:lnTo>
                      <a:pt x="20" y="0"/>
                    </a:lnTo>
                    <a:close/>
                  </a:path>
                </a:pathLst>
              </a:custGeom>
              <a:solidFill>
                <a:schemeClr val="folHlink"/>
              </a:solidFill>
              <a:ln w="9525" cap="flat" cmpd="sng">
                <a:solidFill>
                  <a:schemeClr val="folHlink"/>
                </a:solidFill>
                <a:prstDash val="solid"/>
                <a:round/>
                <a:headEnd type="none" w="med" len="med"/>
                <a:tailEnd type="none" w="med" len="med"/>
              </a:ln>
            </p:spPr>
            <p:txBody>
              <a:bodyPr/>
              <a:lstStyle/>
              <a:p>
                <a:endParaRPr lang="zh-CN" altLang="en-US"/>
              </a:p>
            </p:txBody>
          </p:sp>
          <p:sp>
            <p:nvSpPr>
              <p:cNvPr id="52258" name="Freeform 35"/>
              <p:cNvSpPr/>
              <p:nvPr/>
            </p:nvSpPr>
            <p:spPr>
              <a:xfrm>
                <a:off x="2351" y="4009"/>
                <a:ext cx="35" cy="34"/>
              </a:xfrm>
              <a:custGeom>
                <a:avLst/>
                <a:gdLst/>
                <a:ahLst/>
                <a:cxnLst>
                  <a:cxn ang="0">
                    <a:pos x="20" y="0"/>
                  </a:cxn>
                  <a:cxn ang="0">
                    <a:pos x="8" y="4"/>
                  </a:cxn>
                  <a:cxn ang="0">
                    <a:pos x="0" y="15"/>
                  </a:cxn>
                  <a:cxn ang="0">
                    <a:pos x="8" y="26"/>
                  </a:cxn>
                  <a:cxn ang="0">
                    <a:pos x="20" y="34"/>
                  </a:cxn>
                  <a:cxn ang="0">
                    <a:pos x="20" y="34"/>
                  </a:cxn>
                  <a:cxn ang="0">
                    <a:pos x="31" y="26"/>
                  </a:cxn>
                  <a:cxn ang="0">
                    <a:pos x="35" y="15"/>
                  </a:cxn>
                  <a:cxn ang="0">
                    <a:pos x="31" y="4"/>
                  </a:cxn>
                  <a:cxn ang="0">
                    <a:pos x="20" y="0"/>
                  </a:cxn>
                </a:cxnLst>
                <a:rect l="0" t="0" r="0" b="0"/>
                <a:pathLst>
                  <a:path w="35" h="34">
                    <a:moveTo>
                      <a:pt x="20" y="0"/>
                    </a:moveTo>
                    <a:lnTo>
                      <a:pt x="8" y="4"/>
                    </a:lnTo>
                    <a:lnTo>
                      <a:pt x="0" y="15"/>
                    </a:lnTo>
                    <a:lnTo>
                      <a:pt x="8" y="26"/>
                    </a:lnTo>
                    <a:lnTo>
                      <a:pt x="20" y="34"/>
                    </a:lnTo>
                    <a:lnTo>
                      <a:pt x="31" y="26"/>
                    </a:lnTo>
                    <a:lnTo>
                      <a:pt x="35" y="15"/>
                    </a:lnTo>
                    <a:lnTo>
                      <a:pt x="31" y="4"/>
                    </a:lnTo>
                    <a:lnTo>
                      <a:pt x="20" y="0"/>
                    </a:lnTo>
                    <a:close/>
                  </a:path>
                </a:pathLst>
              </a:custGeom>
              <a:solidFill>
                <a:schemeClr val="folHlink"/>
              </a:solidFill>
              <a:ln w="9525" cap="flat" cmpd="sng">
                <a:solidFill>
                  <a:schemeClr val="folHlink"/>
                </a:solidFill>
                <a:prstDash val="solid"/>
                <a:round/>
                <a:headEnd type="none" w="med" len="med"/>
                <a:tailEnd type="none" w="med" len="med"/>
              </a:ln>
            </p:spPr>
            <p:txBody>
              <a:bodyPr/>
              <a:lstStyle/>
              <a:p>
                <a:endParaRPr lang="zh-CN" altLang="en-US"/>
              </a:p>
            </p:txBody>
          </p:sp>
        </p:grpSp>
        <p:sp>
          <p:nvSpPr>
            <p:cNvPr id="52259" name="AutoShape 36"/>
            <p:cNvSpPr/>
            <p:nvPr/>
          </p:nvSpPr>
          <p:spPr>
            <a:xfrm>
              <a:off x="852" y="1248"/>
              <a:ext cx="3965" cy="118"/>
            </a:xfrm>
            <a:prstGeom prst="leftRightArrow">
              <a:avLst>
                <a:gd name="adj1" fmla="val 40000"/>
                <a:gd name="adj2" fmla="val 82293"/>
              </a:avLst>
            </a:prstGeom>
            <a:solidFill>
              <a:schemeClr val="folHlink"/>
            </a:solidFill>
            <a:ln w="38100"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2260" name="AutoShape 37"/>
            <p:cNvSpPr/>
            <p:nvPr/>
          </p:nvSpPr>
          <p:spPr>
            <a:xfrm>
              <a:off x="2775" y="1284"/>
              <a:ext cx="118" cy="432"/>
            </a:xfrm>
            <a:prstGeom prst="downArrow">
              <a:avLst>
                <a:gd name="adj1" fmla="val 50000"/>
                <a:gd name="adj2" fmla="val 91406"/>
              </a:avLst>
            </a:prstGeom>
            <a:solidFill>
              <a:schemeClr val="folHlink"/>
            </a:solidFill>
            <a:ln w="38100"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2261" name="AutoShape 38"/>
            <p:cNvSpPr/>
            <p:nvPr/>
          </p:nvSpPr>
          <p:spPr>
            <a:xfrm>
              <a:off x="1023" y="2378"/>
              <a:ext cx="3852" cy="118"/>
            </a:xfrm>
            <a:prstGeom prst="leftRightArrow">
              <a:avLst>
                <a:gd name="adj1" fmla="val 40000"/>
                <a:gd name="adj2" fmla="val 80250"/>
              </a:avLst>
            </a:prstGeom>
            <a:solidFill>
              <a:schemeClr val="folHlink"/>
            </a:solidFill>
            <a:ln w="38100"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2262" name="Rectangle 39"/>
            <p:cNvSpPr/>
            <p:nvPr/>
          </p:nvSpPr>
          <p:spPr>
            <a:xfrm>
              <a:off x="2798" y="2064"/>
              <a:ext cx="73" cy="336"/>
            </a:xfrm>
            <a:prstGeom prst="rect">
              <a:avLst/>
            </a:prstGeom>
            <a:solidFill>
              <a:schemeClr val="folHlink"/>
            </a:solidFill>
            <a:ln w="38100"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2263" name="AutoShape 40"/>
            <p:cNvSpPr/>
            <p:nvPr/>
          </p:nvSpPr>
          <p:spPr>
            <a:xfrm>
              <a:off x="144" y="3000"/>
              <a:ext cx="1995" cy="131"/>
            </a:xfrm>
            <a:prstGeom prst="leftRightArrow">
              <a:avLst>
                <a:gd name="adj1" fmla="val 50000"/>
                <a:gd name="adj2" fmla="val 113583"/>
              </a:avLst>
            </a:prstGeom>
            <a:solidFill>
              <a:schemeClr val="folHlink"/>
            </a:solidFill>
            <a:ln w="38100"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4498">
                                            <p:txEl>
                                              <p:pRg st="0" end="0"/>
                                            </p:txEl>
                                          </p:spTgt>
                                        </p:tgtEl>
                                        <p:attrNameLst>
                                          <p:attrName>style.visibility</p:attrName>
                                        </p:attrNameLst>
                                      </p:cBhvr>
                                      <p:to>
                                        <p:strVal val="visible"/>
                                      </p:to>
                                    </p:set>
                                    <p:animEffect transition="in" filter="blinds(horizontal)">
                                      <p:cBhvr>
                                        <p:cTn id="7" dur="500"/>
                                        <p:tgtEl>
                                          <p:spTgt spid="2344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4499"/>
                                        </p:tgtEl>
                                        <p:attrNameLst>
                                          <p:attrName>style.visibility</p:attrName>
                                        </p:attrNameLst>
                                      </p:cBhvr>
                                      <p:to>
                                        <p:strVal val="visible"/>
                                      </p:to>
                                    </p:set>
                                    <p:animEffect transition="in" filter="blinds(horizontal)">
                                      <p:cBhvr>
                                        <p:cTn id="12" dur="500"/>
                                        <p:tgtEl>
                                          <p:spTgt spid="234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ext Box 2"/>
          <p:cNvSpPr txBox="1"/>
          <p:nvPr/>
        </p:nvSpPr>
        <p:spPr>
          <a:xfrm>
            <a:off x="304800" y="228600"/>
            <a:ext cx="8458200" cy="644525"/>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3</a:t>
            </a:r>
            <a:r>
              <a:rPr lang="zh-CN" altLang="en-US" sz="3600" b="1" dirty="0">
                <a:latin typeface="Arial" panose="020B0604020202020204" pitchFamily="34" charset="0"/>
                <a:ea typeface="宋体" panose="02010600030101010101" pitchFamily="2" charset="-122"/>
              </a:rPr>
              <a:t>、四总线结构</a:t>
            </a:r>
            <a:endParaRPr lang="zh-CN" altLang="en-US" sz="2800" dirty="0">
              <a:latin typeface="Arial" panose="020B0604020202020204" pitchFamily="34" charset="0"/>
              <a:ea typeface="宋体" panose="02010600030101010101" pitchFamily="2" charset="-122"/>
            </a:endParaRPr>
          </a:p>
        </p:txBody>
      </p:sp>
      <p:sp>
        <p:nvSpPr>
          <p:cNvPr id="235524" name="Text Box 4"/>
          <p:cNvSpPr txBox="1"/>
          <p:nvPr/>
        </p:nvSpPr>
        <p:spPr>
          <a:xfrm>
            <a:off x="152400" y="838200"/>
            <a:ext cx="8458200" cy="522288"/>
          </a:xfrm>
          <a:prstGeom prst="rect">
            <a:avLst/>
          </a:prstGeom>
          <a:noFill/>
          <a:ln w="9525">
            <a:noFill/>
          </a:ln>
        </p:spPr>
        <p:txBody>
          <a:bodyPr anchor="t" anchorCtr="0">
            <a:spAutoFit/>
          </a:bodyPr>
          <a:lstStyle/>
          <a:p>
            <a:pPr>
              <a:buClrTx/>
              <a:buFontTx/>
            </a:pP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增加了一条与计算机系统紧密相连的高速总线。</a:t>
            </a:r>
          </a:p>
        </p:txBody>
      </p:sp>
      <p:sp>
        <p:nvSpPr>
          <p:cNvPr id="235525" name="Text Box 5"/>
          <p:cNvSpPr txBox="1"/>
          <p:nvPr/>
        </p:nvSpPr>
        <p:spPr>
          <a:xfrm>
            <a:off x="304800" y="1371600"/>
            <a:ext cx="8382000" cy="5041900"/>
          </a:xfrm>
          <a:prstGeom prst="rect">
            <a:avLst/>
          </a:prstGeom>
          <a:noFill/>
          <a:ln w="9525">
            <a:noFill/>
          </a:ln>
        </p:spPr>
        <p:txBody>
          <a:bodyPr anchor="t" anchorCtr="0">
            <a:spAutoFit/>
          </a:bodyPr>
          <a:lstStyle/>
          <a:p>
            <a:pPr>
              <a:lnSpc>
                <a:spcPct val="115000"/>
              </a:lnSpc>
              <a:buClrTx/>
              <a:buFontTx/>
            </a:pPr>
            <a:r>
              <a:rPr lang="en-US" altLang="zh-CN"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高速总线上挂接一些高性能的外设，如高速局域网、图形工作站、多媒体、</a:t>
            </a:r>
            <a:r>
              <a:rPr lang="en-US" altLang="zh-CN" sz="2800" b="1" dirty="0">
                <a:latin typeface="Arial" panose="020B0604020202020204" pitchFamily="34" charset="0"/>
                <a:ea typeface="宋体" panose="02010600030101010101" pitchFamily="2" charset="-122"/>
              </a:rPr>
              <a:t>SCSI</a:t>
            </a:r>
            <a:r>
              <a:rPr lang="zh-CN" altLang="en-US" sz="2800" b="1" dirty="0">
                <a:latin typeface="Arial" panose="020B0604020202020204" pitchFamily="34" charset="0"/>
                <a:ea typeface="宋体" panose="02010600030101010101" pitchFamily="2" charset="-122"/>
              </a:rPr>
              <a:t>等。通过</a:t>
            </a:r>
            <a:r>
              <a:rPr lang="en-US" altLang="zh-CN" sz="2800" b="1" dirty="0">
                <a:latin typeface="Arial" panose="020B0604020202020204" pitchFamily="34" charset="0"/>
                <a:ea typeface="宋体" panose="02010600030101010101" pitchFamily="2" charset="-122"/>
              </a:rPr>
              <a:t>cache</a:t>
            </a:r>
            <a:r>
              <a:rPr lang="zh-CN" altLang="en-US" sz="2800" b="1" dirty="0">
                <a:latin typeface="Arial" panose="020B0604020202020204" pitchFamily="34" charset="0"/>
                <a:ea typeface="宋体" panose="02010600030101010101" pitchFamily="2" charset="-122"/>
              </a:rPr>
              <a:t>控制机构 中的高速总线桥或高速缓冲器与系统总线和局部总线   相连，使得这些高速设备与处理器更密切。而一些低速设备如传真机、调制解调器及串行接口仍然挂在扩展总线上，并由扩展总线接口与高速总线相连。</a:t>
            </a:r>
          </a:p>
          <a:p>
            <a:pPr>
              <a:lnSpc>
                <a:spcPct val="115000"/>
              </a:lnSpc>
              <a:buClrTx/>
              <a:buFontTx/>
            </a:pPr>
            <a:r>
              <a:rPr lang="zh-CN" altLang="en-US" sz="2800" b="1" dirty="0">
                <a:latin typeface="Arial" panose="020B0604020202020204" pitchFamily="34" charset="0"/>
                <a:ea typeface="宋体" panose="02010600030101010101" pitchFamily="2" charset="-122"/>
              </a:rPr>
              <a:t>       高速设备自身很少依赖处理器，而且比扩展总线的设备更贴近处理器，对高性能的设备与处理器来说，效率有很大提高。</a:t>
            </a:r>
            <a:endParaRPr lang="zh-CN" altLang="en-US" sz="28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24"/>
                                        </p:tgtEl>
                                        <p:attrNameLst>
                                          <p:attrName>style.visibility</p:attrName>
                                        </p:attrNameLst>
                                      </p:cBhvr>
                                      <p:to>
                                        <p:strVal val="visible"/>
                                      </p:to>
                                    </p:set>
                                    <p:animEffect transition="in" filter="blinds(horizontal)">
                                      <p:cBhvr>
                                        <p:cTn id="7" dur="500"/>
                                        <p:tgtEl>
                                          <p:spTgt spid="2355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525">
                                            <p:txEl>
                                              <p:pRg st="0" end="0"/>
                                            </p:txEl>
                                          </p:spTgt>
                                        </p:tgtEl>
                                        <p:attrNameLst>
                                          <p:attrName>style.visibility</p:attrName>
                                        </p:attrNameLst>
                                      </p:cBhvr>
                                      <p:to>
                                        <p:strVal val="visible"/>
                                      </p:to>
                                    </p:set>
                                    <p:animEffect transition="in" filter="blinds(horizontal)">
                                      <p:cBhvr>
                                        <p:cTn id="12" dur="500"/>
                                        <p:tgtEl>
                                          <p:spTgt spid="2355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5525">
                                            <p:txEl>
                                              <p:pRg st="1" end="1"/>
                                            </p:txEl>
                                          </p:spTgt>
                                        </p:tgtEl>
                                        <p:attrNameLst>
                                          <p:attrName>style.visibility</p:attrName>
                                        </p:attrNameLst>
                                      </p:cBhvr>
                                      <p:to>
                                        <p:strVal val="visible"/>
                                      </p:to>
                                    </p:set>
                                    <p:animEffect transition="in" filter="blinds(horizontal)">
                                      <p:cBhvr>
                                        <p:cTn id="17" dur="500"/>
                                        <p:tgtEl>
                                          <p:spTgt spid="2355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3" name="Group 2"/>
          <p:cNvGrpSpPr/>
          <p:nvPr/>
        </p:nvGrpSpPr>
        <p:grpSpPr>
          <a:xfrm>
            <a:off x="228600" y="914400"/>
            <a:ext cx="8704263" cy="5376863"/>
            <a:chOff x="144" y="816"/>
            <a:chExt cx="5483" cy="3149"/>
          </a:xfrm>
        </p:grpSpPr>
        <p:sp>
          <p:nvSpPr>
            <p:cNvPr id="54274" name="Rectangle 3"/>
            <p:cNvSpPr/>
            <p:nvPr/>
          </p:nvSpPr>
          <p:spPr>
            <a:xfrm>
              <a:off x="2326" y="1378"/>
              <a:ext cx="1034"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zh-CN" sz="2400" b="1" dirty="0">
                <a:latin typeface="Times New Roman" panose="02020603050405020304" pitchFamily="18" charset="0"/>
                <a:ea typeface="宋体" panose="02010600030101010101" pitchFamily="2" charset="-122"/>
              </a:endParaRPr>
            </a:p>
          </p:txBody>
        </p:sp>
        <p:sp>
          <p:nvSpPr>
            <p:cNvPr id="54275" name="Rectangle 4"/>
            <p:cNvSpPr/>
            <p:nvPr/>
          </p:nvSpPr>
          <p:spPr>
            <a:xfrm>
              <a:off x="4433" y="816"/>
              <a:ext cx="847"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276" name="Rectangle 5"/>
            <p:cNvSpPr/>
            <p:nvPr/>
          </p:nvSpPr>
          <p:spPr>
            <a:xfrm>
              <a:off x="4632" y="833"/>
              <a:ext cx="450" cy="250"/>
            </a:xfrm>
            <a:prstGeom prst="rect">
              <a:avLst/>
            </a:prstGeom>
            <a:noFill/>
            <a:ln w="38100">
              <a:noFill/>
            </a:ln>
          </p:spPr>
          <p:txBody>
            <a:bodyPr wrap="none" lIns="0" tIns="0" rIns="0" bIns="0" anchor="t" anchorCtr="0">
              <a:spAutoFit/>
            </a:bodyPr>
            <a:lstStyle/>
            <a:p>
              <a:pPr>
                <a:buClrTx/>
                <a:buFontTx/>
              </a:pPr>
              <a:r>
                <a:rPr lang="zh-CN" altLang="en-US" sz="2800" b="1" dirty="0">
                  <a:latin typeface="宋体" panose="02010600030101010101" pitchFamily="2" charset="-122"/>
                  <a:ea typeface="宋体" panose="02010600030101010101" pitchFamily="2" charset="-122"/>
                </a:rPr>
                <a:t>主存</a:t>
              </a:r>
              <a:endParaRPr lang="zh-CN" altLang="en-US" sz="2800" b="1" dirty="0">
                <a:latin typeface="Times New Roman" panose="02020603050405020304" pitchFamily="18" charset="0"/>
                <a:ea typeface="宋体" panose="02010600030101010101" pitchFamily="2" charset="-122"/>
              </a:endParaRPr>
            </a:p>
          </p:txBody>
        </p:sp>
        <p:sp>
          <p:nvSpPr>
            <p:cNvPr id="54277" name="Rectangle 6"/>
            <p:cNvSpPr/>
            <p:nvPr/>
          </p:nvSpPr>
          <p:spPr>
            <a:xfrm>
              <a:off x="1488" y="3151"/>
              <a:ext cx="1248" cy="303"/>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278" name="Rectangle 7"/>
            <p:cNvSpPr/>
            <p:nvPr/>
          </p:nvSpPr>
          <p:spPr>
            <a:xfrm>
              <a:off x="1533" y="3187"/>
              <a:ext cx="1158" cy="214"/>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扩展总线接口</a:t>
              </a:r>
              <a:endParaRPr lang="zh-CN" altLang="en-US" sz="2400" b="1" dirty="0">
                <a:latin typeface="Times New Roman" panose="02020603050405020304" pitchFamily="18" charset="0"/>
                <a:ea typeface="宋体" panose="02010600030101010101" pitchFamily="2" charset="-122"/>
              </a:endParaRPr>
            </a:p>
          </p:txBody>
        </p:sp>
        <p:sp>
          <p:nvSpPr>
            <p:cNvPr id="54279" name="Rectangle 8"/>
            <p:cNvSpPr/>
            <p:nvPr/>
          </p:nvSpPr>
          <p:spPr>
            <a:xfrm>
              <a:off x="4433" y="2010"/>
              <a:ext cx="847"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280" name="Rectangle 9"/>
            <p:cNvSpPr/>
            <p:nvPr/>
          </p:nvSpPr>
          <p:spPr>
            <a:xfrm>
              <a:off x="4567" y="2046"/>
              <a:ext cx="579" cy="214"/>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局域网</a:t>
              </a:r>
              <a:endParaRPr lang="zh-CN" altLang="en-US" sz="2400" b="1" dirty="0">
                <a:latin typeface="Times New Roman" panose="02020603050405020304" pitchFamily="18" charset="0"/>
                <a:ea typeface="宋体" panose="02010600030101010101" pitchFamily="2" charset="-122"/>
              </a:endParaRPr>
            </a:p>
          </p:txBody>
        </p:sp>
        <p:sp>
          <p:nvSpPr>
            <p:cNvPr id="54281" name="Rectangle 10"/>
            <p:cNvSpPr/>
            <p:nvPr/>
          </p:nvSpPr>
          <p:spPr>
            <a:xfrm>
              <a:off x="384" y="2016"/>
              <a:ext cx="846"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282" name="Rectangle 11"/>
            <p:cNvSpPr/>
            <p:nvPr/>
          </p:nvSpPr>
          <p:spPr>
            <a:xfrm>
              <a:off x="593" y="2053"/>
              <a:ext cx="428" cy="213"/>
            </a:xfrm>
            <a:prstGeom prst="rect">
              <a:avLst/>
            </a:prstGeom>
            <a:noFill/>
            <a:ln w="38100">
              <a:noFill/>
            </a:ln>
          </p:spPr>
          <p:txBody>
            <a:bodyPr wrap="none"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SCSI</a:t>
              </a:r>
            </a:p>
          </p:txBody>
        </p:sp>
        <p:sp>
          <p:nvSpPr>
            <p:cNvPr id="54283" name="Rectangle 12"/>
            <p:cNvSpPr/>
            <p:nvPr/>
          </p:nvSpPr>
          <p:spPr>
            <a:xfrm>
              <a:off x="3142" y="2010"/>
              <a:ext cx="847"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284" name="Rectangle 13"/>
            <p:cNvSpPr/>
            <p:nvPr/>
          </p:nvSpPr>
          <p:spPr>
            <a:xfrm>
              <a:off x="3276" y="2046"/>
              <a:ext cx="579" cy="214"/>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多媒体</a:t>
              </a:r>
              <a:endParaRPr lang="zh-CN" altLang="en-US" sz="2400" b="1" dirty="0">
                <a:latin typeface="Times New Roman" panose="02020603050405020304" pitchFamily="18" charset="0"/>
                <a:ea typeface="宋体" panose="02010600030101010101" pitchFamily="2" charset="-122"/>
              </a:endParaRPr>
            </a:p>
          </p:txBody>
        </p:sp>
        <p:sp>
          <p:nvSpPr>
            <p:cNvPr id="54285" name="Freeform 14"/>
            <p:cNvSpPr/>
            <p:nvPr/>
          </p:nvSpPr>
          <p:spPr>
            <a:xfrm>
              <a:off x="4854" y="1117"/>
              <a:ext cx="47" cy="419"/>
            </a:xfrm>
            <a:custGeom>
              <a:avLst/>
              <a:gdLst/>
              <a:ahLst/>
              <a:cxnLst>
                <a:cxn ang="0">
                  <a:pos x="0" y="0"/>
                </a:cxn>
                <a:cxn ang="0">
                  <a:pos x="0" y="389"/>
                </a:cxn>
              </a:cxnLst>
              <a:rect l="0" t="0" r="0" b="0"/>
              <a:pathLst>
                <a:path w="1" h="435">
                  <a:moveTo>
                    <a:pt x="0" y="0"/>
                  </a:moveTo>
                  <a:lnTo>
                    <a:pt x="0" y="435"/>
                  </a:lnTo>
                </a:path>
              </a:pathLst>
            </a:custGeom>
            <a:solidFill>
              <a:srgbClr val="FFFFFF"/>
            </a:solidFill>
            <a:ln w="38100" cap="flat" cmpd="sng">
              <a:solidFill>
                <a:schemeClr val="folHlink"/>
              </a:solidFill>
              <a:prstDash val="solid"/>
              <a:round/>
              <a:headEnd type="none" w="med" len="med"/>
              <a:tailEnd type="none" w="med" len="med"/>
            </a:ln>
          </p:spPr>
          <p:txBody>
            <a:bodyPr/>
            <a:lstStyle/>
            <a:p>
              <a:endParaRPr lang="zh-CN" altLang="en-US"/>
            </a:p>
          </p:txBody>
        </p:sp>
        <p:sp>
          <p:nvSpPr>
            <p:cNvPr id="54286" name="Freeform 15"/>
            <p:cNvSpPr/>
            <p:nvPr/>
          </p:nvSpPr>
          <p:spPr>
            <a:xfrm>
              <a:off x="144" y="2496"/>
              <a:ext cx="5467" cy="118"/>
            </a:xfrm>
            <a:custGeom>
              <a:avLst/>
              <a:gdLst/>
              <a:ahLst/>
              <a:cxnLst>
                <a:cxn ang="0">
                  <a:pos x="0" y="23"/>
                </a:cxn>
                <a:cxn ang="0">
                  <a:pos x="148" y="46"/>
                </a:cxn>
                <a:cxn ang="0">
                  <a:pos x="148" y="36"/>
                </a:cxn>
                <a:cxn ang="0">
                  <a:pos x="5977" y="36"/>
                </a:cxn>
                <a:cxn ang="0">
                  <a:pos x="5977" y="46"/>
                </a:cxn>
                <a:cxn ang="0">
                  <a:pos x="6130" y="23"/>
                </a:cxn>
                <a:cxn ang="0">
                  <a:pos x="5977" y="0"/>
                </a:cxn>
                <a:cxn ang="0">
                  <a:pos x="5977" y="11"/>
                </a:cxn>
                <a:cxn ang="0">
                  <a:pos x="148" y="11"/>
                </a:cxn>
                <a:cxn ang="0">
                  <a:pos x="148" y="0"/>
                </a:cxn>
                <a:cxn ang="0">
                  <a:pos x="0" y="23"/>
                </a:cxn>
              </a:cxnLst>
              <a:rect l="0" t="0" r="0" b="0"/>
              <a:pathLst>
                <a:path w="5163" h="189">
                  <a:moveTo>
                    <a:pt x="0" y="94"/>
                  </a:moveTo>
                  <a:lnTo>
                    <a:pt x="125" y="189"/>
                  </a:lnTo>
                  <a:lnTo>
                    <a:pt x="125" y="146"/>
                  </a:lnTo>
                  <a:lnTo>
                    <a:pt x="5035" y="146"/>
                  </a:lnTo>
                  <a:lnTo>
                    <a:pt x="5035" y="189"/>
                  </a:lnTo>
                  <a:lnTo>
                    <a:pt x="5163" y="94"/>
                  </a:lnTo>
                  <a:lnTo>
                    <a:pt x="5035" y="0"/>
                  </a:lnTo>
                  <a:lnTo>
                    <a:pt x="5035" y="43"/>
                  </a:lnTo>
                  <a:lnTo>
                    <a:pt x="125" y="43"/>
                  </a:lnTo>
                  <a:lnTo>
                    <a:pt x="125" y="0"/>
                  </a:lnTo>
                  <a:lnTo>
                    <a:pt x="0" y="94"/>
                  </a:lnTo>
                  <a:close/>
                </a:path>
              </a:pathLst>
            </a:custGeom>
            <a:solidFill>
              <a:schemeClr val="folHlink"/>
            </a:solidFill>
            <a:ln w="38100" cap="flat" cmpd="sng">
              <a:solidFill>
                <a:schemeClr val="folHlink"/>
              </a:solidFill>
              <a:prstDash val="solid"/>
              <a:round/>
              <a:headEnd type="none" w="med" len="med"/>
              <a:tailEnd type="none" w="med" len="med"/>
            </a:ln>
          </p:spPr>
          <p:txBody>
            <a:bodyPr/>
            <a:lstStyle/>
            <a:p>
              <a:endParaRPr lang="zh-CN" altLang="en-US"/>
            </a:p>
          </p:txBody>
        </p:sp>
        <p:sp>
          <p:nvSpPr>
            <p:cNvPr id="54287" name="Line 16"/>
            <p:cNvSpPr/>
            <p:nvPr/>
          </p:nvSpPr>
          <p:spPr>
            <a:xfrm>
              <a:off x="815" y="3463"/>
              <a:ext cx="1" cy="228"/>
            </a:xfrm>
            <a:prstGeom prst="line">
              <a:avLst/>
            </a:prstGeom>
            <a:ln w="38100" cap="flat" cmpd="sng">
              <a:solidFill>
                <a:schemeClr val="folHlink"/>
              </a:solidFill>
              <a:prstDash val="solid"/>
              <a:round/>
              <a:headEnd type="none" w="med" len="med"/>
              <a:tailEnd type="none" w="med" len="med"/>
            </a:ln>
          </p:spPr>
        </p:sp>
        <p:sp>
          <p:nvSpPr>
            <p:cNvPr id="54288" name="Freeform 17"/>
            <p:cNvSpPr/>
            <p:nvPr/>
          </p:nvSpPr>
          <p:spPr>
            <a:xfrm>
              <a:off x="2112" y="2312"/>
              <a:ext cx="1" cy="229"/>
            </a:xfrm>
            <a:custGeom>
              <a:avLst/>
              <a:gdLst/>
              <a:ahLst/>
              <a:cxnLst>
                <a:cxn ang="0">
                  <a:pos x="0" y="0"/>
                </a:cxn>
                <a:cxn ang="0">
                  <a:pos x="1" y="229"/>
                </a:cxn>
              </a:cxnLst>
              <a:rect l="0" t="0" r="0" b="0"/>
              <a:pathLst>
                <a:path w="1" h="229">
                  <a:moveTo>
                    <a:pt x="0" y="0"/>
                  </a:moveTo>
                  <a:lnTo>
                    <a:pt x="1" y="229"/>
                  </a:lnTo>
                </a:path>
              </a:pathLst>
            </a:custGeom>
            <a:solidFill>
              <a:srgbClr val="FFFFFF"/>
            </a:solidFill>
            <a:ln w="38100" cap="flat" cmpd="sng">
              <a:solidFill>
                <a:schemeClr val="folHlink"/>
              </a:solidFill>
              <a:prstDash val="solid"/>
              <a:round/>
              <a:headEnd type="none" w="med" len="med"/>
              <a:tailEnd type="none" w="med" len="med"/>
            </a:ln>
          </p:spPr>
          <p:txBody>
            <a:bodyPr/>
            <a:lstStyle/>
            <a:p>
              <a:endParaRPr lang="zh-CN" altLang="en-US"/>
            </a:p>
          </p:txBody>
        </p:sp>
        <p:sp>
          <p:nvSpPr>
            <p:cNvPr id="54289" name="Line 18"/>
            <p:cNvSpPr/>
            <p:nvPr/>
          </p:nvSpPr>
          <p:spPr>
            <a:xfrm>
              <a:off x="3578" y="2311"/>
              <a:ext cx="1" cy="230"/>
            </a:xfrm>
            <a:prstGeom prst="line">
              <a:avLst/>
            </a:prstGeom>
            <a:ln w="38100" cap="flat" cmpd="sng">
              <a:solidFill>
                <a:schemeClr val="folHlink"/>
              </a:solidFill>
              <a:prstDash val="solid"/>
              <a:round/>
              <a:headEnd type="none" w="med" len="med"/>
              <a:tailEnd type="none" w="med" len="med"/>
            </a:ln>
          </p:spPr>
        </p:sp>
        <p:sp>
          <p:nvSpPr>
            <p:cNvPr id="54290" name="Line 19"/>
            <p:cNvSpPr/>
            <p:nvPr/>
          </p:nvSpPr>
          <p:spPr>
            <a:xfrm>
              <a:off x="4895" y="2311"/>
              <a:ext cx="1" cy="230"/>
            </a:xfrm>
            <a:prstGeom prst="line">
              <a:avLst/>
            </a:prstGeom>
            <a:ln w="38100" cap="flat" cmpd="sng">
              <a:solidFill>
                <a:schemeClr val="folHlink"/>
              </a:solidFill>
              <a:prstDash val="solid"/>
              <a:round/>
              <a:headEnd type="none" w="med" len="med"/>
              <a:tailEnd type="none" w="med" len="med"/>
            </a:ln>
          </p:spPr>
        </p:sp>
        <p:sp>
          <p:nvSpPr>
            <p:cNvPr id="54291" name="Line 20"/>
            <p:cNvSpPr/>
            <p:nvPr/>
          </p:nvSpPr>
          <p:spPr>
            <a:xfrm>
              <a:off x="2880" y="1683"/>
              <a:ext cx="0" cy="909"/>
            </a:xfrm>
            <a:prstGeom prst="line">
              <a:avLst/>
            </a:prstGeom>
            <a:ln w="38100" cap="flat" cmpd="sng">
              <a:solidFill>
                <a:schemeClr val="folHlink"/>
              </a:solidFill>
              <a:prstDash val="solid"/>
              <a:round/>
              <a:headEnd type="none" w="med" len="med"/>
              <a:tailEnd type="none" w="med" len="med"/>
            </a:ln>
          </p:spPr>
        </p:sp>
        <p:sp>
          <p:nvSpPr>
            <p:cNvPr id="54292" name="Line 21"/>
            <p:cNvSpPr/>
            <p:nvPr/>
          </p:nvSpPr>
          <p:spPr>
            <a:xfrm>
              <a:off x="816" y="2314"/>
              <a:ext cx="1" cy="230"/>
            </a:xfrm>
            <a:prstGeom prst="line">
              <a:avLst/>
            </a:prstGeom>
            <a:ln w="38100" cap="flat" cmpd="sng">
              <a:solidFill>
                <a:schemeClr val="folHlink"/>
              </a:solidFill>
              <a:prstDash val="solid"/>
              <a:round/>
              <a:headEnd type="none" w="med" len="med"/>
              <a:tailEnd type="none" w="med" len="med"/>
            </a:ln>
          </p:spPr>
        </p:sp>
        <p:sp>
          <p:nvSpPr>
            <p:cNvPr id="54293" name="Line 22"/>
            <p:cNvSpPr/>
            <p:nvPr/>
          </p:nvSpPr>
          <p:spPr>
            <a:xfrm>
              <a:off x="2112" y="3463"/>
              <a:ext cx="1" cy="228"/>
            </a:xfrm>
            <a:prstGeom prst="line">
              <a:avLst/>
            </a:prstGeom>
            <a:ln w="38100" cap="flat" cmpd="sng">
              <a:solidFill>
                <a:schemeClr val="folHlink"/>
              </a:solidFill>
              <a:prstDash val="solid"/>
              <a:round/>
              <a:headEnd type="none" w="med" len="med"/>
              <a:tailEnd type="none" w="med" len="med"/>
            </a:ln>
          </p:spPr>
        </p:sp>
        <p:sp>
          <p:nvSpPr>
            <p:cNvPr id="54294" name="Line 23"/>
            <p:cNvSpPr/>
            <p:nvPr/>
          </p:nvSpPr>
          <p:spPr>
            <a:xfrm>
              <a:off x="3578" y="3452"/>
              <a:ext cx="1" cy="250"/>
            </a:xfrm>
            <a:prstGeom prst="line">
              <a:avLst/>
            </a:prstGeom>
            <a:ln w="38100" cap="flat" cmpd="sng">
              <a:solidFill>
                <a:schemeClr val="folHlink"/>
              </a:solidFill>
              <a:prstDash val="solid"/>
              <a:round/>
              <a:headEnd type="none" w="med" len="med"/>
              <a:tailEnd type="none" w="med" len="med"/>
            </a:ln>
          </p:spPr>
        </p:sp>
        <p:sp>
          <p:nvSpPr>
            <p:cNvPr id="54295" name="Freeform 24"/>
            <p:cNvSpPr/>
            <p:nvPr/>
          </p:nvSpPr>
          <p:spPr>
            <a:xfrm>
              <a:off x="4896" y="3456"/>
              <a:ext cx="5" cy="246"/>
            </a:xfrm>
            <a:custGeom>
              <a:avLst/>
              <a:gdLst/>
              <a:ahLst/>
              <a:cxnLst>
                <a:cxn ang="0">
                  <a:pos x="5" y="0"/>
                </a:cxn>
                <a:cxn ang="0">
                  <a:pos x="0" y="246"/>
                </a:cxn>
              </a:cxnLst>
              <a:rect l="0" t="0" r="0" b="0"/>
              <a:pathLst>
                <a:path w="5" h="246">
                  <a:moveTo>
                    <a:pt x="5" y="0"/>
                  </a:moveTo>
                  <a:lnTo>
                    <a:pt x="0" y="246"/>
                  </a:lnTo>
                </a:path>
              </a:pathLst>
            </a:custGeom>
            <a:solidFill>
              <a:srgbClr val="FFFFFF"/>
            </a:solidFill>
            <a:ln w="38100" cap="flat" cmpd="sng">
              <a:solidFill>
                <a:schemeClr val="folHlink"/>
              </a:solidFill>
              <a:prstDash val="solid"/>
              <a:round/>
              <a:headEnd type="none" w="med" len="med"/>
              <a:tailEnd type="none" w="med" len="med"/>
            </a:ln>
          </p:spPr>
          <p:txBody>
            <a:bodyPr/>
            <a:lstStyle/>
            <a:p>
              <a:endParaRPr lang="zh-CN" altLang="en-US"/>
            </a:p>
          </p:txBody>
        </p:sp>
        <p:sp>
          <p:nvSpPr>
            <p:cNvPr id="54296" name="Freeform 25"/>
            <p:cNvSpPr/>
            <p:nvPr/>
          </p:nvSpPr>
          <p:spPr>
            <a:xfrm>
              <a:off x="2112" y="2574"/>
              <a:ext cx="1" cy="576"/>
            </a:xfrm>
            <a:custGeom>
              <a:avLst/>
              <a:gdLst/>
              <a:ahLst/>
              <a:cxnLst>
                <a:cxn ang="0">
                  <a:pos x="0" y="0"/>
                </a:cxn>
                <a:cxn ang="0">
                  <a:pos x="0" y="576"/>
                </a:cxn>
              </a:cxnLst>
              <a:rect l="0" t="0" r="0" b="0"/>
              <a:pathLst>
                <a:path w="1" h="576">
                  <a:moveTo>
                    <a:pt x="0" y="0"/>
                  </a:moveTo>
                  <a:lnTo>
                    <a:pt x="0" y="576"/>
                  </a:lnTo>
                </a:path>
              </a:pathLst>
            </a:custGeom>
            <a:solidFill>
              <a:srgbClr val="FFFFFF"/>
            </a:solidFill>
            <a:ln w="38100" cap="flat" cmpd="sng">
              <a:solidFill>
                <a:schemeClr val="folHlink"/>
              </a:solidFill>
              <a:prstDash val="solid"/>
              <a:round/>
              <a:headEnd type="none" w="med" len="med"/>
              <a:tailEnd type="none" w="med" len="med"/>
            </a:ln>
          </p:spPr>
          <p:txBody>
            <a:bodyPr/>
            <a:lstStyle/>
            <a:p>
              <a:endParaRPr lang="zh-CN" altLang="en-US"/>
            </a:p>
          </p:txBody>
        </p:sp>
        <p:sp>
          <p:nvSpPr>
            <p:cNvPr id="54297" name="Freeform 26"/>
            <p:cNvSpPr/>
            <p:nvPr/>
          </p:nvSpPr>
          <p:spPr>
            <a:xfrm>
              <a:off x="3360" y="1486"/>
              <a:ext cx="2267" cy="116"/>
            </a:xfrm>
            <a:custGeom>
              <a:avLst/>
              <a:gdLst/>
              <a:ahLst/>
              <a:cxnLst>
                <a:cxn ang="0">
                  <a:pos x="0" y="22"/>
                </a:cxn>
                <a:cxn ang="0">
                  <a:pos x="127" y="44"/>
                </a:cxn>
                <a:cxn ang="0">
                  <a:pos x="127" y="33"/>
                </a:cxn>
                <a:cxn ang="0">
                  <a:pos x="2140" y="33"/>
                </a:cxn>
                <a:cxn ang="0">
                  <a:pos x="2140" y="44"/>
                </a:cxn>
                <a:cxn ang="0">
                  <a:pos x="2267" y="22"/>
                </a:cxn>
                <a:cxn ang="0">
                  <a:pos x="2140" y="0"/>
                </a:cxn>
                <a:cxn ang="0">
                  <a:pos x="2140" y="12"/>
                </a:cxn>
                <a:cxn ang="0">
                  <a:pos x="127" y="12"/>
                </a:cxn>
                <a:cxn ang="0">
                  <a:pos x="127" y="0"/>
                </a:cxn>
                <a:cxn ang="0">
                  <a:pos x="0" y="22"/>
                </a:cxn>
              </a:cxnLst>
              <a:rect l="0" t="0" r="0" b="0"/>
              <a:pathLst>
                <a:path w="2267" h="189">
                  <a:moveTo>
                    <a:pt x="0" y="95"/>
                  </a:moveTo>
                  <a:lnTo>
                    <a:pt x="127" y="189"/>
                  </a:lnTo>
                  <a:lnTo>
                    <a:pt x="127" y="140"/>
                  </a:lnTo>
                  <a:lnTo>
                    <a:pt x="2140" y="140"/>
                  </a:lnTo>
                  <a:lnTo>
                    <a:pt x="2140" y="189"/>
                  </a:lnTo>
                  <a:lnTo>
                    <a:pt x="2267" y="95"/>
                  </a:lnTo>
                  <a:lnTo>
                    <a:pt x="2140" y="0"/>
                  </a:lnTo>
                  <a:lnTo>
                    <a:pt x="2140" y="50"/>
                  </a:lnTo>
                  <a:lnTo>
                    <a:pt x="127" y="50"/>
                  </a:lnTo>
                  <a:lnTo>
                    <a:pt x="127" y="0"/>
                  </a:lnTo>
                  <a:lnTo>
                    <a:pt x="0" y="95"/>
                  </a:lnTo>
                  <a:close/>
                </a:path>
              </a:pathLst>
            </a:custGeom>
            <a:solidFill>
              <a:schemeClr val="folHlink"/>
            </a:solidFill>
            <a:ln w="38100" cap="flat" cmpd="sng">
              <a:solidFill>
                <a:schemeClr val="folHlink"/>
              </a:solidFill>
              <a:prstDash val="solid"/>
              <a:round/>
              <a:headEnd type="none" w="med" len="med"/>
              <a:tailEnd type="none" w="med" len="med"/>
            </a:ln>
          </p:spPr>
          <p:txBody>
            <a:bodyPr/>
            <a:lstStyle/>
            <a:p>
              <a:endParaRPr lang="zh-CN" altLang="en-US"/>
            </a:p>
          </p:txBody>
        </p:sp>
        <p:sp>
          <p:nvSpPr>
            <p:cNvPr id="54298" name="Rectangle 27"/>
            <p:cNvSpPr/>
            <p:nvPr/>
          </p:nvSpPr>
          <p:spPr>
            <a:xfrm>
              <a:off x="384" y="1392"/>
              <a:ext cx="846"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299" name="Rectangle 28"/>
            <p:cNvSpPr/>
            <p:nvPr/>
          </p:nvSpPr>
          <p:spPr>
            <a:xfrm>
              <a:off x="609" y="1429"/>
              <a:ext cx="395" cy="214"/>
            </a:xfrm>
            <a:prstGeom prst="rect">
              <a:avLst/>
            </a:prstGeom>
            <a:noFill/>
            <a:ln w="38100">
              <a:noFill/>
            </a:ln>
          </p:spPr>
          <p:txBody>
            <a:bodyPr wrap="none"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CPU</a:t>
              </a:r>
            </a:p>
          </p:txBody>
        </p:sp>
        <p:sp>
          <p:nvSpPr>
            <p:cNvPr id="54300" name="Freeform 29"/>
            <p:cNvSpPr/>
            <p:nvPr/>
          </p:nvSpPr>
          <p:spPr>
            <a:xfrm>
              <a:off x="144" y="3600"/>
              <a:ext cx="5451" cy="118"/>
            </a:xfrm>
            <a:custGeom>
              <a:avLst/>
              <a:gdLst/>
              <a:ahLst/>
              <a:cxnLst>
                <a:cxn ang="0">
                  <a:pos x="0" y="23"/>
                </a:cxn>
                <a:cxn ang="0">
                  <a:pos x="149" y="46"/>
                </a:cxn>
                <a:cxn ang="0">
                  <a:pos x="149" y="36"/>
                </a:cxn>
                <a:cxn ang="0">
                  <a:pos x="5922" y="36"/>
                </a:cxn>
                <a:cxn ang="0">
                  <a:pos x="5922" y="46"/>
                </a:cxn>
                <a:cxn ang="0">
                  <a:pos x="6072" y="23"/>
                </a:cxn>
                <a:cxn ang="0">
                  <a:pos x="5922" y="0"/>
                </a:cxn>
                <a:cxn ang="0">
                  <a:pos x="5922" y="11"/>
                </a:cxn>
                <a:cxn ang="0">
                  <a:pos x="149" y="11"/>
                </a:cxn>
                <a:cxn ang="0">
                  <a:pos x="149" y="0"/>
                </a:cxn>
                <a:cxn ang="0">
                  <a:pos x="0" y="23"/>
                </a:cxn>
              </a:cxnLst>
              <a:rect l="0" t="0" r="0" b="0"/>
              <a:pathLst>
                <a:path w="5165" h="189">
                  <a:moveTo>
                    <a:pt x="0" y="95"/>
                  </a:moveTo>
                  <a:lnTo>
                    <a:pt x="127" y="189"/>
                  </a:lnTo>
                  <a:lnTo>
                    <a:pt x="127" y="146"/>
                  </a:lnTo>
                  <a:lnTo>
                    <a:pt x="5038" y="146"/>
                  </a:lnTo>
                  <a:lnTo>
                    <a:pt x="5038" y="189"/>
                  </a:lnTo>
                  <a:lnTo>
                    <a:pt x="5165" y="95"/>
                  </a:lnTo>
                  <a:lnTo>
                    <a:pt x="5038" y="0"/>
                  </a:lnTo>
                  <a:lnTo>
                    <a:pt x="5038" y="44"/>
                  </a:lnTo>
                  <a:lnTo>
                    <a:pt x="127" y="44"/>
                  </a:lnTo>
                  <a:lnTo>
                    <a:pt x="127" y="0"/>
                  </a:lnTo>
                  <a:lnTo>
                    <a:pt x="0" y="95"/>
                  </a:lnTo>
                  <a:close/>
                </a:path>
              </a:pathLst>
            </a:custGeom>
            <a:solidFill>
              <a:schemeClr val="folHlink"/>
            </a:solidFill>
            <a:ln w="38100" cap="flat" cmpd="sng">
              <a:solidFill>
                <a:schemeClr val="folHlink"/>
              </a:solidFill>
              <a:prstDash val="solid"/>
              <a:round/>
              <a:headEnd type="none" w="med" len="med"/>
              <a:tailEnd type="none" w="med" len="med"/>
            </a:ln>
          </p:spPr>
          <p:txBody>
            <a:bodyPr/>
            <a:lstStyle/>
            <a:p>
              <a:endParaRPr lang="zh-CN" altLang="en-US"/>
            </a:p>
          </p:txBody>
        </p:sp>
        <p:sp>
          <p:nvSpPr>
            <p:cNvPr id="54301" name="Rectangle 30"/>
            <p:cNvSpPr/>
            <p:nvPr/>
          </p:nvSpPr>
          <p:spPr>
            <a:xfrm>
              <a:off x="3117" y="3185"/>
              <a:ext cx="965" cy="214"/>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调制解调器</a:t>
              </a:r>
              <a:endParaRPr lang="zh-CN" altLang="en-US" sz="2400" b="1" dirty="0">
                <a:latin typeface="Times New Roman" panose="02020603050405020304" pitchFamily="18" charset="0"/>
                <a:ea typeface="宋体" panose="02010600030101010101" pitchFamily="2" charset="-122"/>
              </a:endParaRPr>
            </a:p>
          </p:txBody>
        </p:sp>
        <p:sp>
          <p:nvSpPr>
            <p:cNvPr id="54302" name="Rectangle 31"/>
            <p:cNvSpPr/>
            <p:nvPr/>
          </p:nvSpPr>
          <p:spPr>
            <a:xfrm>
              <a:off x="4558" y="3185"/>
              <a:ext cx="772" cy="214"/>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串行接口</a:t>
              </a:r>
              <a:endParaRPr lang="zh-CN" altLang="en-US" sz="2400" b="1" dirty="0">
                <a:latin typeface="Times New Roman" panose="02020603050405020304" pitchFamily="18" charset="0"/>
                <a:ea typeface="宋体" panose="02010600030101010101" pitchFamily="2" charset="-122"/>
              </a:endParaRPr>
            </a:p>
          </p:txBody>
        </p:sp>
        <p:sp>
          <p:nvSpPr>
            <p:cNvPr id="54303" name="Rectangle 32"/>
            <p:cNvSpPr/>
            <p:nvPr/>
          </p:nvSpPr>
          <p:spPr>
            <a:xfrm>
              <a:off x="384" y="3151"/>
              <a:ext cx="846"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304" name="Rectangle 33"/>
            <p:cNvSpPr/>
            <p:nvPr/>
          </p:nvSpPr>
          <p:spPr>
            <a:xfrm>
              <a:off x="609" y="3188"/>
              <a:ext cx="395" cy="214"/>
            </a:xfrm>
            <a:prstGeom prst="rect">
              <a:avLst/>
            </a:prstGeom>
            <a:noFill/>
            <a:ln w="38100">
              <a:noFill/>
            </a:ln>
          </p:spPr>
          <p:txBody>
            <a:bodyPr wrap="none" lIns="0" tIns="0" rIns="0" bIns="0"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FAX</a:t>
              </a:r>
            </a:p>
          </p:txBody>
        </p:sp>
        <p:sp>
          <p:nvSpPr>
            <p:cNvPr id="54305" name="Rectangle 34"/>
            <p:cNvSpPr/>
            <p:nvPr/>
          </p:nvSpPr>
          <p:spPr>
            <a:xfrm>
              <a:off x="4044" y="1603"/>
              <a:ext cx="896" cy="250"/>
            </a:xfrm>
            <a:prstGeom prst="rect">
              <a:avLst/>
            </a:prstGeom>
            <a:noFill/>
            <a:ln w="38100">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系统总线</a:t>
              </a:r>
            </a:p>
          </p:txBody>
        </p:sp>
        <p:sp>
          <p:nvSpPr>
            <p:cNvPr id="54306" name="Rectangle 35"/>
            <p:cNvSpPr/>
            <p:nvPr/>
          </p:nvSpPr>
          <p:spPr>
            <a:xfrm>
              <a:off x="1296" y="1603"/>
              <a:ext cx="896" cy="250"/>
            </a:xfrm>
            <a:prstGeom prst="rect">
              <a:avLst/>
            </a:prstGeom>
            <a:noFill/>
            <a:ln w="38100">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局部总线</a:t>
              </a:r>
            </a:p>
          </p:txBody>
        </p:sp>
        <p:sp>
          <p:nvSpPr>
            <p:cNvPr id="54307" name="Rectangle 36"/>
            <p:cNvSpPr/>
            <p:nvPr/>
          </p:nvSpPr>
          <p:spPr>
            <a:xfrm>
              <a:off x="2428" y="2611"/>
              <a:ext cx="896" cy="250"/>
            </a:xfrm>
            <a:prstGeom prst="rect">
              <a:avLst/>
            </a:prstGeom>
            <a:noFill/>
            <a:ln w="38100">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高速总线</a:t>
              </a:r>
            </a:p>
          </p:txBody>
        </p:sp>
        <p:sp>
          <p:nvSpPr>
            <p:cNvPr id="54308" name="Rectangle 37"/>
            <p:cNvSpPr/>
            <p:nvPr/>
          </p:nvSpPr>
          <p:spPr>
            <a:xfrm>
              <a:off x="2420" y="3715"/>
              <a:ext cx="896" cy="250"/>
            </a:xfrm>
            <a:prstGeom prst="rect">
              <a:avLst/>
            </a:prstGeom>
            <a:noFill/>
            <a:ln w="38100">
              <a:noFill/>
            </a:ln>
          </p:spPr>
          <p:txBody>
            <a:bodyPr wrap="none" lIns="0" tIns="0" rIns="0" bIns="0" anchor="t" anchorCtr="0">
              <a:spAutoFit/>
            </a:bodyPr>
            <a:lstStyle/>
            <a:p>
              <a:pPr>
                <a:buClrTx/>
                <a:buFontTx/>
              </a:pPr>
              <a:r>
                <a:rPr lang="zh-CN" altLang="en-US" sz="2800" b="1" dirty="0">
                  <a:solidFill>
                    <a:srgbClr val="FF0000"/>
                  </a:solidFill>
                  <a:latin typeface="宋体" panose="02010600030101010101" pitchFamily="2" charset="-122"/>
                  <a:ea typeface="宋体" panose="02010600030101010101" pitchFamily="2" charset="-122"/>
                </a:rPr>
                <a:t>扩展总线</a:t>
              </a:r>
            </a:p>
          </p:txBody>
        </p:sp>
        <p:sp>
          <p:nvSpPr>
            <p:cNvPr id="54309" name="Rectangle 38"/>
            <p:cNvSpPr/>
            <p:nvPr/>
          </p:nvSpPr>
          <p:spPr>
            <a:xfrm>
              <a:off x="1910" y="2046"/>
              <a:ext cx="386" cy="214"/>
            </a:xfrm>
            <a:prstGeom prst="rect">
              <a:avLst/>
            </a:prstGeom>
            <a:noFill/>
            <a:ln w="38100">
              <a:noFill/>
            </a:ln>
          </p:spPr>
          <p:txBody>
            <a:bodyPr wrap="none" lIns="0" tIns="0" rIns="0" bIns="0" anchor="t" anchorCtr="0">
              <a:spAutoFit/>
            </a:bodyPr>
            <a:lstStyle/>
            <a:p>
              <a:pPr>
                <a:buClrTx/>
                <a:buFontTx/>
              </a:pPr>
              <a:r>
                <a:rPr lang="zh-CN" altLang="en-US" sz="2400" b="1" dirty="0">
                  <a:latin typeface="宋体" panose="02010600030101010101" pitchFamily="2" charset="-122"/>
                  <a:ea typeface="宋体" panose="02010600030101010101" pitchFamily="2" charset="-122"/>
                </a:rPr>
                <a:t>图形</a:t>
              </a:r>
              <a:endParaRPr lang="zh-CN" altLang="en-US" sz="2400" b="1" dirty="0">
                <a:latin typeface="Times New Roman" panose="02020603050405020304" pitchFamily="18" charset="0"/>
                <a:ea typeface="宋体" panose="02010600030101010101" pitchFamily="2" charset="-122"/>
              </a:endParaRPr>
            </a:p>
          </p:txBody>
        </p:sp>
        <p:sp>
          <p:nvSpPr>
            <p:cNvPr id="54310" name="Rectangle 39"/>
            <p:cNvSpPr/>
            <p:nvPr/>
          </p:nvSpPr>
          <p:spPr>
            <a:xfrm>
              <a:off x="1680" y="2010"/>
              <a:ext cx="846" cy="304"/>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311" name="Rectangle 40"/>
            <p:cNvSpPr/>
            <p:nvPr/>
          </p:nvSpPr>
          <p:spPr>
            <a:xfrm>
              <a:off x="2976" y="3149"/>
              <a:ext cx="1248" cy="303"/>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312" name="Rectangle 41"/>
            <p:cNvSpPr/>
            <p:nvPr/>
          </p:nvSpPr>
          <p:spPr>
            <a:xfrm>
              <a:off x="4320" y="3149"/>
              <a:ext cx="1248" cy="303"/>
            </a:xfrm>
            <a:prstGeom prst="rect">
              <a:avLst/>
            </a:prstGeom>
            <a:noFill/>
            <a:ln w="38100" cap="flat" cmpd="sng">
              <a:solidFill>
                <a:schemeClr val="folHlink"/>
              </a:solidFill>
              <a:prstDash val="solid"/>
              <a:miter/>
              <a:headEnd type="none" w="med" len="med"/>
              <a:tailEnd type="none" w="med" len="med"/>
            </a:ln>
          </p:spPr>
          <p:txBody>
            <a:bodyPr anchor="t"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54313" name="Text Box 42"/>
            <p:cNvSpPr txBox="1"/>
            <p:nvPr/>
          </p:nvSpPr>
          <p:spPr>
            <a:xfrm>
              <a:off x="2406" y="1386"/>
              <a:ext cx="874" cy="268"/>
            </a:xfrm>
            <a:prstGeom prst="rect">
              <a:avLst/>
            </a:prstGeom>
            <a:noFill/>
            <a:ln w="38100">
              <a:noFill/>
            </a:ln>
          </p:spPr>
          <p:txBody>
            <a:bodyPr wrap="none" anchor="t" anchorCtr="0">
              <a:spAutoFit/>
            </a:bodyPr>
            <a:lstStyle/>
            <a:p>
              <a:pPr>
                <a:buClrTx/>
                <a:buFontTx/>
              </a:pPr>
              <a:r>
                <a:rPr lang="en-US" altLang="zh-CN" sz="2400" b="1" dirty="0">
                  <a:latin typeface="Times New Roman" panose="02020603050405020304" pitchFamily="18" charset="0"/>
                  <a:ea typeface="宋体" panose="02010600030101010101" pitchFamily="2" charset="-122"/>
                </a:rPr>
                <a:t>Cache/</a:t>
              </a:r>
              <a:r>
                <a:rPr lang="zh-CN" altLang="en-US" sz="2400" b="1" dirty="0">
                  <a:latin typeface="Times New Roman" panose="02020603050405020304" pitchFamily="18" charset="0"/>
                  <a:ea typeface="宋体" panose="02010600030101010101" pitchFamily="2" charset="-122"/>
                </a:rPr>
                <a:t>桥</a:t>
              </a:r>
            </a:p>
          </p:txBody>
        </p:sp>
        <p:sp>
          <p:nvSpPr>
            <p:cNvPr id="54314" name="AutoShape 43"/>
            <p:cNvSpPr/>
            <p:nvPr/>
          </p:nvSpPr>
          <p:spPr>
            <a:xfrm>
              <a:off x="1260" y="1472"/>
              <a:ext cx="1031" cy="144"/>
            </a:xfrm>
            <a:prstGeom prst="leftRightArrow">
              <a:avLst>
                <a:gd name="adj1" fmla="val 37500"/>
                <a:gd name="adj2" fmla="val 82137"/>
              </a:avLst>
            </a:prstGeom>
            <a:solidFill>
              <a:schemeClr val="folHlink"/>
            </a:solidFill>
            <a:ln w="38100" cap="flat" cmpd="sng">
              <a:solidFill>
                <a:schemeClr val="folHlink"/>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Picture 2"/>
          <p:cNvPicPr>
            <a:picLocks noChangeAspect="1"/>
          </p:cNvPicPr>
          <p:nvPr/>
        </p:nvPicPr>
        <p:blipFill>
          <a:blip r:embed="rId2"/>
          <a:stretch>
            <a:fillRect/>
          </a:stretch>
        </p:blipFill>
        <p:spPr>
          <a:xfrm>
            <a:off x="1752600" y="0"/>
            <a:ext cx="5572125" cy="6162675"/>
          </a:xfrm>
          <a:prstGeom prst="rect">
            <a:avLst/>
          </a:prstGeom>
          <a:noFill/>
          <a:ln w="9525">
            <a:noFill/>
          </a:ln>
        </p:spPr>
      </p:pic>
      <p:sp>
        <p:nvSpPr>
          <p:cNvPr id="55298" name="Text Box 4"/>
          <p:cNvSpPr txBox="1"/>
          <p:nvPr/>
        </p:nvSpPr>
        <p:spPr>
          <a:xfrm>
            <a:off x="2286000" y="6248400"/>
            <a:ext cx="5943600" cy="368300"/>
          </a:xfrm>
          <a:prstGeom prst="rect">
            <a:avLst/>
          </a:prstGeom>
          <a:noFill/>
          <a:ln w="9525">
            <a:noFill/>
          </a:ln>
        </p:spPr>
        <p:txBody>
          <a:bodyPr anchor="t" anchorCtr="0">
            <a:spAutoFit/>
          </a:bodyPr>
          <a:lstStyle/>
          <a:p>
            <a:pPr>
              <a:spcBef>
                <a:spcPct val="50000"/>
              </a:spcBef>
              <a:buClrTx/>
              <a:buFontTx/>
            </a:pPr>
            <a:r>
              <a:rPr lang="en-US" altLang="zh-CN" b="1" dirty="0">
                <a:latin typeface="Arial" panose="020B0604020202020204" pitchFamily="34" charset="0"/>
                <a:ea typeface="宋体" panose="02010600030101010101" pitchFamily="2" charset="-122"/>
              </a:rPr>
              <a:t>Pentium PC</a:t>
            </a:r>
            <a:r>
              <a:rPr lang="zh-CN" altLang="en-US" b="1" dirty="0">
                <a:latin typeface="Arial" panose="020B0604020202020204" pitchFamily="34" charset="0"/>
                <a:ea typeface="宋体" panose="02010600030101010101" pitchFamily="2" charset="-122"/>
              </a:rPr>
              <a:t>的主板总线结构框图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ext Box 2"/>
          <p:cNvSpPr txBox="1"/>
          <p:nvPr/>
        </p:nvSpPr>
        <p:spPr>
          <a:xfrm>
            <a:off x="381000" y="838200"/>
            <a:ext cx="7924800" cy="3438525"/>
          </a:xfrm>
          <a:prstGeom prst="rect">
            <a:avLst/>
          </a:prstGeom>
          <a:noFill/>
          <a:ln w="9525">
            <a:noFill/>
          </a:ln>
        </p:spPr>
        <p:txBody>
          <a:bodyPr anchor="t" anchorCtr="0">
            <a:spAutoFit/>
          </a:bodyPr>
          <a:lstStyle/>
          <a:p>
            <a:pPr>
              <a:buClrTx/>
              <a:buFontTx/>
            </a:pPr>
            <a:r>
              <a:rPr lang="zh-CN" altLang="en-US" sz="3600" b="1" dirty="0">
                <a:latin typeface="Arial" panose="020B0604020202020204" pitchFamily="34" charset="0"/>
                <a:ea typeface="宋体" panose="02010600030101010101" pitchFamily="2" charset="-122"/>
              </a:rPr>
              <a:t>总线结构对系统性能的影响：</a:t>
            </a:r>
          </a:p>
          <a:p>
            <a:pPr>
              <a:buClrTx/>
              <a:buFontTx/>
            </a:pPr>
            <a:endParaRPr lang="zh-CN" altLang="en-US" sz="3600" dirty="0">
              <a:latin typeface="Arial" panose="020B0604020202020204" pitchFamily="34" charset="0"/>
              <a:ea typeface="宋体" panose="02010600030101010101" pitchFamily="2" charset="-122"/>
            </a:endParaRPr>
          </a:p>
          <a:p>
            <a:pPr>
              <a:lnSpc>
                <a:spcPct val="130000"/>
              </a:lnSpc>
              <a:buClrTx/>
              <a:buFontTx/>
            </a:pPr>
            <a:r>
              <a:rPr lang="zh-CN" altLang="en-US" sz="2800"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  系统中总线条数越多，系统并行性越好，工作效率越高，结构越复杂，造价越高。系统中总线条数越少，越强调分时使用总线，工作效率越受影响，结构越简单，成本越低。</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4" name="Text Box 4"/>
          <p:cNvSpPr txBox="1"/>
          <p:nvPr/>
        </p:nvSpPr>
        <p:spPr>
          <a:xfrm>
            <a:off x="228600" y="762000"/>
            <a:ext cx="8305800" cy="650875"/>
          </a:xfrm>
          <a:prstGeom prst="rect">
            <a:avLst/>
          </a:prstGeom>
          <a:noFill/>
          <a:ln w="9525">
            <a:noFill/>
          </a:ln>
        </p:spPr>
        <p:txBody>
          <a:bodyPr anchor="t" anchorCtr="0">
            <a:spAutoFit/>
          </a:bodyPr>
          <a:lstStyle/>
          <a:p>
            <a:pPr>
              <a:lnSpc>
                <a:spcPct val="130000"/>
              </a:lnSpc>
              <a:spcBef>
                <a:spcPct val="20000"/>
              </a:spcBef>
              <a:buClr>
                <a:schemeClr val="hlink"/>
              </a:buClr>
              <a:buSzPct val="80000"/>
              <a:buFont typeface="Wingdings" panose="05000000000000000000" pitchFamily="2" charset="2"/>
            </a:pPr>
            <a:r>
              <a:rPr lang="zh-CN" altLang="en-US" sz="2800" b="1">
                <a:latin typeface="Arial" panose="020B0604020202020204" pitchFamily="34" charset="0"/>
                <a:ea typeface="宋体" panose="02010600030101010101" pitchFamily="2" charset="-122"/>
              </a:rPr>
              <a:t>评价总线性能的优劣</a:t>
            </a:r>
            <a:endParaRPr lang="zh-CN" altLang="en-US" sz="2800">
              <a:latin typeface="Arial" panose="020B0604020202020204" pitchFamily="34" charset="0"/>
              <a:ea typeface="宋体" panose="02010600030101010101" pitchFamily="2" charset="-122"/>
            </a:endParaRPr>
          </a:p>
        </p:txBody>
      </p:sp>
      <p:sp>
        <p:nvSpPr>
          <p:cNvPr id="57346" name="Text Box 5"/>
          <p:cNvSpPr txBox="1"/>
          <p:nvPr/>
        </p:nvSpPr>
        <p:spPr>
          <a:xfrm>
            <a:off x="2362200" y="152400"/>
            <a:ext cx="4800600" cy="644525"/>
          </a:xfrm>
          <a:prstGeom prst="rect">
            <a:avLst/>
          </a:prstGeom>
          <a:noFill/>
          <a:ln w="9525">
            <a:noFill/>
          </a:ln>
        </p:spPr>
        <p:txBody>
          <a:bodyPr anchor="t" anchorCtr="0">
            <a:spAutoFit/>
          </a:bodyPr>
          <a:lstStyle/>
          <a:p>
            <a:pPr>
              <a:spcBef>
                <a:spcPct val="50000"/>
              </a:spcBef>
              <a:buClrTx/>
              <a:buFontTx/>
            </a:pPr>
            <a:r>
              <a:rPr lang="en-US" altLang="zh-CN" sz="3600" b="1">
                <a:latin typeface="Arial" panose="020B0604020202020204" pitchFamily="34" charset="0"/>
                <a:ea typeface="宋体" panose="02010600030101010101" pitchFamily="2" charset="-122"/>
              </a:rPr>
              <a:t>3.4 </a:t>
            </a:r>
            <a:r>
              <a:rPr lang="zh-CN" altLang="en-US" sz="3600" b="1">
                <a:latin typeface="Arial" panose="020B0604020202020204" pitchFamily="34" charset="0"/>
                <a:ea typeface="宋体" panose="02010600030101010101" pitchFamily="2" charset="-122"/>
              </a:rPr>
              <a:t>总线的性能指标</a:t>
            </a:r>
          </a:p>
        </p:txBody>
      </p:sp>
      <p:sp>
        <p:nvSpPr>
          <p:cNvPr id="240646" name="Text Box 6"/>
          <p:cNvSpPr txBox="1"/>
          <p:nvPr/>
        </p:nvSpPr>
        <p:spPr>
          <a:xfrm>
            <a:off x="304800" y="1524000"/>
            <a:ext cx="6626225" cy="522288"/>
          </a:xfrm>
          <a:prstGeom prst="rect">
            <a:avLst/>
          </a:prstGeom>
          <a:noFill/>
          <a:ln w="9525">
            <a:noFill/>
          </a:ln>
        </p:spPr>
        <p:txBody>
          <a:bodyPr anchor="t" anchorCtr="0">
            <a:spAutoFit/>
          </a:bodyPr>
          <a:lstStyle/>
          <a:p>
            <a:pPr>
              <a:buClrTx/>
              <a:buFontTx/>
            </a:pPr>
            <a:r>
              <a:rPr lang="en-US" altLang="zh-CN" sz="2800" b="1"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总线的位宽</a:t>
            </a:r>
          </a:p>
        </p:txBody>
      </p:sp>
      <p:grpSp>
        <p:nvGrpSpPr>
          <p:cNvPr id="240648" name="Group 8"/>
          <p:cNvGrpSpPr/>
          <p:nvPr/>
        </p:nvGrpSpPr>
        <p:grpSpPr>
          <a:xfrm>
            <a:off x="1219200" y="2895600"/>
            <a:ext cx="2443163" cy="2087563"/>
            <a:chOff x="22" y="1389"/>
            <a:chExt cx="1539" cy="1315"/>
          </a:xfrm>
        </p:grpSpPr>
        <p:sp>
          <p:nvSpPr>
            <p:cNvPr id="57349" name="Rectangle 9"/>
            <p:cNvSpPr/>
            <p:nvPr/>
          </p:nvSpPr>
          <p:spPr>
            <a:xfrm>
              <a:off x="22" y="1389"/>
              <a:ext cx="332" cy="231"/>
            </a:xfrm>
            <a:prstGeom prst="rect">
              <a:avLst/>
            </a:prstGeom>
            <a:noFill/>
            <a:ln w="25400">
              <a:noFill/>
            </a:ln>
          </p:spPr>
          <p:txBody>
            <a:bodyPr wrap="none" anchor="t" anchorCtr="0">
              <a:spAutoFit/>
            </a:bodyPr>
            <a:lstStyle/>
            <a:p>
              <a:pPr marL="342900" indent="-342900">
                <a:lnSpc>
                  <a:spcPct val="90000"/>
                </a:lnSpc>
                <a:spcBef>
                  <a:spcPct val="20000"/>
                </a:spcBef>
                <a:buClr>
                  <a:schemeClr val="hlink"/>
                </a:buClr>
                <a:buSzPct val="110000"/>
                <a:buFont typeface="Wingdings" panose="05000000000000000000" pitchFamily="2" charset="2"/>
                <a:buBlip>
                  <a:blip r:embed="rId2"/>
                </a:buBlip>
              </a:pPr>
              <a:endParaRPr lang="zh-CN" altLang="zh-CN" sz="2000" b="1" dirty="0">
                <a:latin typeface="Arial" panose="020B0604020202020204" pitchFamily="34" charset="0"/>
                <a:ea typeface="宋体" panose="02010600030101010101" pitchFamily="2" charset="-122"/>
              </a:endParaRPr>
            </a:p>
          </p:txBody>
        </p:sp>
        <p:grpSp>
          <p:nvGrpSpPr>
            <p:cNvPr id="57350" name="Group 10"/>
            <p:cNvGrpSpPr/>
            <p:nvPr/>
          </p:nvGrpSpPr>
          <p:grpSpPr>
            <a:xfrm>
              <a:off x="204" y="1661"/>
              <a:ext cx="1357" cy="1043"/>
              <a:chOff x="1066" y="1797"/>
              <a:chExt cx="1357" cy="1043"/>
            </a:xfrm>
          </p:grpSpPr>
          <p:sp>
            <p:nvSpPr>
              <p:cNvPr id="57351" name="Rectangle 11"/>
              <p:cNvSpPr/>
              <p:nvPr/>
            </p:nvSpPr>
            <p:spPr>
              <a:xfrm>
                <a:off x="1247" y="1797"/>
                <a:ext cx="899" cy="231"/>
              </a:xfrm>
              <a:prstGeom prst="rect">
                <a:avLst/>
              </a:prstGeom>
              <a:noFill/>
              <a:ln w="25400">
                <a:noFill/>
              </a:ln>
            </p:spPr>
            <p:txBody>
              <a:bodyPr wrap="none" anchor="t" anchorCtr="0">
                <a:spAutoFit/>
              </a:bodyPr>
              <a:lstStyle/>
              <a:p>
                <a:pPr marL="342900" indent="-342900">
                  <a:lnSpc>
                    <a:spcPct val="90000"/>
                  </a:lnSpc>
                  <a:spcBef>
                    <a:spcPct val="20000"/>
                  </a:spcBef>
                  <a:buClr>
                    <a:schemeClr val="hlink"/>
                  </a:buClr>
                  <a:buSzPct val="110000"/>
                  <a:buFont typeface="Wingdings" panose="05000000000000000000" pitchFamily="2" charset="2"/>
                </a:pPr>
                <a:r>
                  <a:rPr lang="en-US" altLang="zh-CN" sz="2000" b="1" dirty="0">
                    <a:latin typeface="Arial" panose="020B0604020202020204" pitchFamily="34" charset="0"/>
                    <a:ea typeface="宋体" panose="02010600030101010101" pitchFamily="2" charset="-122"/>
                  </a:rPr>
                  <a:t>S100</a:t>
                </a:r>
                <a:r>
                  <a:rPr lang="zh-CN" altLang="en-US" sz="2000" b="1" dirty="0">
                    <a:latin typeface="Arial" panose="020B0604020202020204" pitchFamily="34" charset="0"/>
                    <a:ea typeface="宋体" panose="02010600030101010101" pitchFamily="2" charset="-122"/>
                  </a:rPr>
                  <a:t>为</a:t>
                </a:r>
                <a:r>
                  <a:rPr lang="en-US" altLang="zh-CN" sz="2000" b="1" dirty="0">
                    <a:latin typeface="Arial" panose="020B0604020202020204" pitchFamily="34" charset="0"/>
                    <a:ea typeface="宋体" panose="02010600030101010101" pitchFamily="2" charset="-122"/>
                  </a:rPr>
                  <a:t>8</a:t>
                </a:r>
                <a:r>
                  <a:rPr lang="zh-CN" altLang="en-US" sz="2000" b="1" dirty="0">
                    <a:latin typeface="Arial" panose="020B0604020202020204" pitchFamily="34" charset="0"/>
                    <a:ea typeface="宋体" panose="02010600030101010101" pitchFamily="2" charset="-122"/>
                  </a:rPr>
                  <a:t>位</a:t>
                </a:r>
              </a:p>
            </p:txBody>
          </p:sp>
          <p:sp>
            <p:nvSpPr>
              <p:cNvPr id="57352" name="Rectangle 12"/>
              <p:cNvSpPr/>
              <p:nvPr/>
            </p:nvSpPr>
            <p:spPr>
              <a:xfrm>
                <a:off x="1247" y="2069"/>
                <a:ext cx="881" cy="231"/>
              </a:xfrm>
              <a:prstGeom prst="rect">
                <a:avLst/>
              </a:prstGeom>
              <a:noFill/>
              <a:ln w="25400">
                <a:noFill/>
              </a:ln>
            </p:spPr>
            <p:txBody>
              <a:bodyPr wrap="none" anchor="t" anchorCtr="0">
                <a:spAutoFit/>
              </a:bodyPr>
              <a:lstStyle/>
              <a:p>
                <a:pPr marL="342900" indent="-342900">
                  <a:lnSpc>
                    <a:spcPct val="90000"/>
                  </a:lnSpc>
                  <a:spcBef>
                    <a:spcPct val="20000"/>
                  </a:spcBef>
                  <a:buClr>
                    <a:schemeClr val="hlink"/>
                  </a:buClr>
                  <a:buSzPct val="110000"/>
                  <a:buFont typeface="Wingdings" panose="05000000000000000000" pitchFamily="2" charset="2"/>
                </a:pPr>
                <a:r>
                  <a:rPr lang="en-US" altLang="zh-CN" sz="2000" b="1" dirty="0">
                    <a:latin typeface="Arial" panose="020B0604020202020204" pitchFamily="34" charset="0"/>
                    <a:ea typeface="宋体" panose="02010600030101010101" pitchFamily="2" charset="-122"/>
                  </a:rPr>
                  <a:t>ISA</a:t>
                </a:r>
                <a:r>
                  <a:rPr lang="zh-CN" altLang="en-US" sz="2000" b="1" dirty="0">
                    <a:latin typeface="Arial" panose="020B0604020202020204" pitchFamily="34" charset="0"/>
                    <a:ea typeface="宋体" panose="02010600030101010101" pitchFamily="2" charset="-122"/>
                  </a:rPr>
                  <a:t>为</a:t>
                </a:r>
                <a:r>
                  <a:rPr lang="en-US" altLang="zh-CN" sz="2000" b="1" dirty="0">
                    <a:latin typeface="Arial" panose="020B0604020202020204" pitchFamily="34" charset="0"/>
                    <a:ea typeface="宋体" panose="02010600030101010101" pitchFamily="2" charset="-122"/>
                  </a:rPr>
                  <a:t>16</a:t>
                </a:r>
                <a:r>
                  <a:rPr lang="zh-CN" altLang="en-US" sz="2000" b="1" dirty="0">
                    <a:latin typeface="Arial" panose="020B0604020202020204" pitchFamily="34" charset="0"/>
                    <a:ea typeface="宋体" panose="02010600030101010101" pitchFamily="2" charset="-122"/>
                  </a:rPr>
                  <a:t>位</a:t>
                </a:r>
              </a:p>
            </p:txBody>
          </p:sp>
          <p:sp>
            <p:nvSpPr>
              <p:cNvPr id="57353" name="Rectangle 13"/>
              <p:cNvSpPr/>
              <p:nvPr/>
            </p:nvSpPr>
            <p:spPr>
              <a:xfrm>
                <a:off x="1247" y="2337"/>
                <a:ext cx="988" cy="231"/>
              </a:xfrm>
              <a:prstGeom prst="rect">
                <a:avLst/>
              </a:prstGeom>
              <a:noFill/>
              <a:ln w="25400">
                <a:noFill/>
              </a:ln>
            </p:spPr>
            <p:txBody>
              <a:bodyPr wrap="none" anchor="t" anchorCtr="0">
                <a:spAutoFit/>
              </a:bodyPr>
              <a:lstStyle/>
              <a:p>
                <a:pPr marL="342900" indent="-342900">
                  <a:lnSpc>
                    <a:spcPct val="90000"/>
                  </a:lnSpc>
                  <a:spcBef>
                    <a:spcPct val="20000"/>
                  </a:spcBef>
                  <a:buClr>
                    <a:schemeClr val="hlink"/>
                  </a:buClr>
                  <a:buSzPct val="110000"/>
                  <a:buFont typeface="Wingdings" panose="05000000000000000000" pitchFamily="2" charset="2"/>
                </a:pPr>
                <a:r>
                  <a:rPr lang="en-US" altLang="zh-CN" sz="2000" b="1" dirty="0">
                    <a:latin typeface="Arial" panose="020B0604020202020204" pitchFamily="34" charset="0"/>
                    <a:ea typeface="宋体" panose="02010600030101010101" pitchFamily="2" charset="-122"/>
                  </a:rPr>
                  <a:t>EISA</a:t>
                </a:r>
                <a:r>
                  <a:rPr lang="zh-CN" altLang="en-US" sz="2000" b="1" dirty="0">
                    <a:latin typeface="Arial" panose="020B0604020202020204" pitchFamily="34" charset="0"/>
                    <a:ea typeface="宋体" panose="02010600030101010101" pitchFamily="2" charset="-122"/>
                  </a:rPr>
                  <a:t>为</a:t>
                </a:r>
                <a:r>
                  <a:rPr lang="en-US" altLang="zh-CN" sz="2000" b="1" dirty="0">
                    <a:latin typeface="Arial" panose="020B0604020202020204" pitchFamily="34" charset="0"/>
                    <a:ea typeface="宋体" panose="02010600030101010101" pitchFamily="2" charset="-122"/>
                  </a:rPr>
                  <a:t>32</a:t>
                </a:r>
                <a:r>
                  <a:rPr lang="zh-CN" altLang="en-US" sz="2000" b="1" dirty="0">
                    <a:latin typeface="Arial" panose="020B0604020202020204" pitchFamily="34" charset="0"/>
                    <a:ea typeface="宋体" panose="02010600030101010101" pitchFamily="2" charset="-122"/>
                  </a:rPr>
                  <a:t>位</a:t>
                </a:r>
              </a:p>
            </p:txBody>
          </p:sp>
          <p:sp>
            <p:nvSpPr>
              <p:cNvPr id="57354" name="Rectangle 14"/>
              <p:cNvSpPr/>
              <p:nvPr/>
            </p:nvSpPr>
            <p:spPr>
              <a:xfrm>
                <a:off x="1240" y="2609"/>
                <a:ext cx="1183" cy="231"/>
              </a:xfrm>
              <a:prstGeom prst="rect">
                <a:avLst/>
              </a:prstGeom>
              <a:noFill/>
              <a:ln w="25400">
                <a:noFill/>
              </a:ln>
            </p:spPr>
            <p:txBody>
              <a:bodyPr wrap="none" anchor="t" anchorCtr="0">
                <a:spAutoFit/>
              </a:bodyPr>
              <a:lstStyle/>
              <a:p>
                <a:pPr marL="342900" indent="-342900">
                  <a:lnSpc>
                    <a:spcPct val="90000"/>
                  </a:lnSpc>
                  <a:spcBef>
                    <a:spcPct val="20000"/>
                  </a:spcBef>
                  <a:buClr>
                    <a:schemeClr val="hlink"/>
                  </a:buClr>
                  <a:buSzPct val="110000"/>
                  <a:buFont typeface="Wingdings" panose="05000000000000000000" pitchFamily="2" charset="2"/>
                </a:pPr>
                <a:r>
                  <a:rPr lang="en-US" altLang="zh-CN" sz="2000" b="1" dirty="0">
                    <a:latin typeface="Arial" panose="020B0604020202020204" pitchFamily="34" charset="0"/>
                    <a:ea typeface="宋体" panose="02010600030101010101" pitchFamily="2" charset="-122"/>
                  </a:rPr>
                  <a:t>PCI-2</a:t>
                </a:r>
                <a:r>
                  <a:rPr lang="zh-CN" altLang="en-US" sz="2000" b="1" dirty="0">
                    <a:latin typeface="Arial" panose="020B0604020202020204" pitchFamily="34" charset="0"/>
                    <a:ea typeface="宋体" panose="02010600030101010101" pitchFamily="2" charset="-122"/>
                  </a:rPr>
                  <a:t>可达</a:t>
                </a:r>
                <a:r>
                  <a:rPr lang="en-US" altLang="zh-CN" sz="2000" b="1" dirty="0">
                    <a:latin typeface="Arial" panose="020B0604020202020204" pitchFamily="34" charset="0"/>
                    <a:ea typeface="宋体" panose="02010600030101010101" pitchFamily="2" charset="-122"/>
                  </a:rPr>
                  <a:t>64</a:t>
                </a:r>
                <a:r>
                  <a:rPr lang="zh-CN" altLang="en-US" sz="2000" b="1" dirty="0">
                    <a:latin typeface="Arial" panose="020B0604020202020204" pitchFamily="34" charset="0"/>
                    <a:ea typeface="宋体" panose="02010600030101010101" pitchFamily="2" charset="-122"/>
                  </a:rPr>
                  <a:t>位</a:t>
                </a:r>
              </a:p>
            </p:txBody>
          </p:sp>
          <p:sp>
            <p:nvSpPr>
              <p:cNvPr id="57355" name="AutoShape 15"/>
              <p:cNvSpPr/>
              <p:nvPr/>
            </p:nvSpPr>
            <p:spPr>
              <a:xfrm>
                <a:off x="1066" y="1888"/>
                <a:ext cx="226" cy="816"/>
              </a:xfrm>
              <a:prstGeom prst="leftBrace">
                <a:avLst>
                  <a:gd name="adj1" fmla="val 29971"/>
                  <a:gd name="adj2" fmla="val 50000"/>
                </a:avLst>
              </a:prstGeom>
              <a:noFill/>
              <a:ln w="2540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grpSp>
      </p:grpSp>
      <p:sp>
        <p:nvSpPr>
          <p:cNvPr id="240661" name="Rectangle 21"/>
          <p:cNvSpPr/>
          <p:nvPr/>
        </p:nvSpPr>
        <p:spPr>
          <a:xfrm>
            <a:off x="-304800" y="2020888"/>
            <a:ext cx="9361488" cy="958850"/>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Monotype Sorts" pitchFamily="2" charset="2"/>
            </a:pPr>
            <a:r>
              <a:rPr lang="zh-CN" altLang="en-US" sz="2400" b="1" dirty="0">
                <a:latin typeface="Helvetica" pitchFamily="34" charset="0"/>
                <a:ea typeface="宋体" panose="02010600030101010101" pitchFamily="2" charset="-122"/>
              </a:rPr>
              <a:t>总线一次同时传送的信息位数或所需的线数。</a:t>
            </a:r>
          </a:p>
          <a:p>
            <a:pPr marL="1143000" indent="-228600" eaLnBrk="0" hangingPunct="0">
              <a:spcBef>
                <a:spcPct val="35000"/>
              </a:spcBef>
              <a:buClr>
                <a:srgbClr val="000099"/>
              </a:buClr>
              <a:buSzPct val="85000"/>
              <a:buFont typeface="Monotype Sorts" pitchFamily="2" charset="2"/>
            </a:pPr>
            <a:r>
              <a:rPr lang="zh-CN" altLang="en-US" sz="2400" b="1" dirty="0">
                <a:latin typeface="Helvetica" pitchFamily="34" charset="0"/>
                <a:ea typeface="宋体" panose="02010600030101010101" pitchFamily="2" charset="-122"/>
              </a:rPr>
              <a:t>即一次操作可以传输的数据位数。主要是指数据总线的数目。</a:t>
            </a:r>
          </a:p>
        </p:txBody>
      </p:sp>
      <p:sp>
        <p:nvSpPr>
          <p:cNvPr id="240665" name="Rectangle 25"/>
          <p:cNvSpPr/>
          <p:nvPr/>
        </p:nvSpPr>
        <p:spPr>
          <a:xfrm>
            <a:off x="228600" y="5334000"/>
            <a:ext cx="8604250" cy="522288"/>
          </a:xfrm>
          <a:prstGeom prst="rect">
            <a:avLst/>
          </a:prstGeom>
          <a:noFill/>
          <a:ln w="3175">
            <a:noFill/>
          </a:ln>
        </p:spPr>
        <p:txBody>
          <a:bodyPr wrap="none" anchor="t" anchorCtr="0">
            <a:spAutoFit/>
          </a:bodyPr>
          <a:lstStyle/>
          <a:p>
            <a:pPr marL="1143000" indent="-228600">
              <a:spcBef>
                <a:spcPct val="20000"/>
              </a:spcBef>
              <a:buClr>
                <a:srgbClr val="800000"/>
              </a:buClr>
              <a:buFont typeface="Wingdings" panose="05000000000000000000" pitchFamily="2" charset="2"/>
            </a:pPr>
            <a:r>
              <a:rPr lang="zh-CN" altLang="en-US" sz="2800" b="1" dirty="0">
                <a:latin typeface="Helvetica" pitchFamily="34" charset="0"/>
                <a:ea typeface="宋体" panose="02010600030101010101" pitchFamily="2" charset="-122"/>
              </a:rPr>
              <a:t>总线的位宽直接影响总线的传输率（吞吐量）。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0644">
                                            <p:txEl>
                                              <p:pRg st="0" end="0"/>
                                            </p:txEl>
                                          </p:spTgt>
                                        </p:tgtEl>
                                        <p:attrNameLst>
                                          <p:attrName>style.visibility</p:attrName>
                                        </p:attrNameLst>
                                      </p:cBhvr>
                                      <p:to>
                                        <p:strVal val="visible"/>
                                      </p:to>
                                    </p:set>
                                    <p:animEffect transition="in" filter="blinds(horizontal)">
                                      <p:cBhvr>
                                        <p:cTn id="7" dur="500"/>
                                        <p:tgtEl>
                                          <p:spTgt spid="2406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0646"/>
                                        </p:tgtEl>
                                        <p:attrNameLst>
                                          <p:attrName>style.visibility</p:attrName>
                                        </p:attrNameLst>
                                      </p:cBhvr>
                                      <p:to>
                                        <p:strVal val="visible"/>
                                      </p:to>
                                    </p:set>
                                    <p:animEffect transition="in" filter="blinds(horizontal)">
                                      <p:cBhvr>
                                        <p:cTn id="12" dur="500"/>
                                        <p:tgtEl>
                                          <p:spTgt spid="2406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0661"/>
                                        </p:tgtEl>
                                        <p:attrNameLst>
                                          <p:attrName>style.visibility</p:attrName>
                                        </p:attrNameLst>
                                      </p:cBhvr>
                                      <p:to>
                                        <p:strVal val="visible"/>
                                      </p:to>
                                    </p:set>
                                    <p:animEffect transition="in" filter="dissolve">
                                      <p:cBhvr>
                                        <p:cTn id="17" dur="1000"/>
                                        <p:tgtEl>
                                          <p:spTgt spid="240661"/>
                                        </p:tgtEl>
                                      </p:cBhvr>
                                    </p:animEffect>
                                  </p:childTnLst>
                                </p:cTn>
                              </p:par>
                            </p:childTnLst>
                          </p:cTn>
                        </p:par>
                      </p:childTnLst>
                    </p:cTn>
                  </p:par>
                  <p:par>
                    <p:cTn id="18" fill="hold">
                      <p:stCondLst>
                        <p:cond delay="indefinite"/>
                      </p:stCondLst>
                      <p:childTnLst>
                        <p:par>
                          <p:cTn id="19" fill="hold">
                            <p:stCondLst>
                              <p:cond delay="0"/>
                            </p:stCondLst>
                            <p:childTnLst>
                              <p:par>
                                <p:cTn id="20" presetID="13" presetClass="entr" presetSubtype="16" fill="hold" nodeType="clickEffect">
                                  <p:stCondLst>
                                    <p:cond delay="0"/>
                                  </p:stCondLst>
                                  <p:childTnLst>
                                    <p:set>
                                      <p:cBhvr>
                                        <p:cTn id="21" dur="1" fill="hold">
                                          <p:stCondLst>
                                            <p:cond delay="0"/>
                                          </p:stCondLst>
                                        </p:cTn>
                                        <p:tgtEl>
                                          <p:spTgt spid="240648"/>
                                        </p:tgtEl>
                                        <p:attrNameLst>
                                          <p:attrName>style.visibility</p:attrName>
                                        </p:attrNameLst>
                                      </p:cBhvr>
                                      <p:to>
                                        <p:strVal val="visible"/>
                                      </p:to>
                                    </p:set>
                                    <p:animEffect transition="in" filter="plus(in)">
                                      <p:cBhvr>
                                        <p:cTn id="22" dur="1000"/>
                                        <p:tgtEl>
                                          <p:spTgt spid="24064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40665"/>
                                        </p:tgtEl>
                                        <p:attrNameLst>
                                          <p:attrName>style.visibility</p:attrName>
                                        </p:attrNameLst>
                                      </p:cBhvr>
                                      <p:to>
                                        <p:strVal val="visible"/>
                                      </p:to>
                                    </p:set>
                                    <p:animEffect transition="in" filter="dissolve">
                                      <p:cBhvr>
                                        <p:cTn id="27" dur="1000"/>
                                        <p:tgtEl>
                                          <p:spTgt spid="240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6" grpId="0"/>
      <p:bldP spid="240661" grpId="0"/>
      <p:bldP spid="24066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3" name="Rectangle 5"/>
          <p:cNvSpPr/>
          <p:nvPr/>
        </p:nvSpPr>
        <p:spPr>
          <a:xfrm>
            <a:off x="1162050" y="5892800"/>
            <a:ext cx="4224338" cy="522288"/>
          </a:xfrm>
          <a:prstGeom prst="rect">
            <a:avLst/>
          </a:prstGeom>
          <a:noFill/>
          <a:ln w="25400">
            <a:noFill/>
          </a:ln>
        </p:spPr>
        <p:txBody>
          <a:bodyPr wrap="none" anchor="t" anchorCtr="0">
            <a:spAutoFit/>
          </a:bodyPr>
          <a:lstStyle/>
          <a:p>
            <a:pPr marL="342900" indent="-342900" algn="ctr">
              <a:spcBef>
                <a:spcPct val="20000"/>
              </a:spcBef>
              <a:buClrTx/>
              <a:buFontTx/>
            </a:pPr>
            <a:r>
              <a:rPr lang="en-US" altLang="zh-CN" sz="2800" b="1" dirty="0">
                <a:solidFill>
                  <a:srgbClr val="FF0000"/>
                </a:solidFill>
                <a:latin typeface="Arial" panose="020B0604020202020204" pitchFamily="34" charset="0"/>
                <a:ea typeface="宋体" panose="02010600030101010101" pitchFamily="2" charset="-122"/>
              </a:rPr>
              <a:t>8.33M</a:t>
            </a:r>
            <a:r>
              <a:rPr lang="en-US" altLang="en-US" sz="2800" b="1" dirty="0">
                <a:solidFill>
                  <a:srgbClr val="FF0000"/>
                </a:solidFill>
                <a:latin typeface="Arial" panose="020B0604020202020204" pitchFamily="34" charset="0"/>
                <a:ea typeface="宋体" panose="02010600030101010101" pitchFamily="2" charset="-122"/>
              </a:rPr>
              <a:t>×</a:t>
            </a:r>
            <a:r>
              <a:rPr lang="en-US" altLang="zh-CN" sz="2800" b="1" dirty="0">
                <a:solidFill>
                  <a:srgbClr val="FF0000"/>
                </a:solidFill>
                <a:latin typeface="Arial" panose="020B0604020202020204" pitchFamily="34" charset="0"/>
                <a:ea typeface="宋体" panose="02010600030101010101" pitchFamily="2" charset="-122"/>
              </a:rPr>
              <a:t>2B/s=16.66MB/s</a:t>
            </a:r>
          </a:p>
        </p:txBody>
      </p:sp>
      <p:sp>
        <p:nvSpPr>
          <p:cNvPr id="58370" name="Text Box 7"/>
          <p:cNvSpPr txBox="1"/>
          <p:nvPr/>
        </p:nvSpPr>
        <p:spPr>
          <a:xfrm>
            <a:off x="304800" y="304800"/>
            <a:ext cx="6626225" cy="522288"/>
          </a:xfrm>
          <a:prstGeom prst="rect">
            <a:avLst/>
          </a:prstGeom>
          <a:noFill/>
          <a:ln w="9525">
            <a:noFill/>
          </a:ln>
        </p:spPr>
        <p:txBody>
          <a:bodyPr anchor="t" anchorCtr="0">
            <a:spAutoFit/>
          </a:bodyPr>
          <a:lstStyle/>
          <a:p>
            <a:pPr>
              <a:buClrTx/>
              <a:buFontTx/>
            </a:pPr>
            <a:r>
              <a:rPr lang="en-US" altLang="zh-CN" sz="2800" b="1" dirty="0">
                <a:latin typeface="Times New Roman" panose="02020603050405020304" pitchFamily="18" charset="0"/>
                <a:ea typeface="宋体" panose="02010600030101010101" pitchFamily="2" charset="-122"/>
              </a:rPr>
              <a:t>2. </a:t>
            </a:r>
            <a:r>
              <a:rPr lang="zh-CN" altLang="en-US" sz="2800" b="1" dirty="0">
                <a:latin typeface="Times New Roman" panose="02020603050405020304" pitchFamily="18" charset="0"/>
                <a:ea typeface="宋体" panose="02010600030101010101" pitchFamily="2" charset="-122"/>
              </a:rPr>
              <a:t>总线的工作时钟频率</a:t>
            </a:r>
            <a:r>
              <a:rPr lang="zh-CN" altLang="en-US" sz="2200" b="1" dirty="0">
                <a:latin typeface="Times New Roman" panose="02020603050405020304" pitchFamily="18" charset="0"/>
                <a:ea typeface="宋体" panose="02010600030101010101" pitchFamily="2" charset="-122"/>
              </a:rPr>
              <a:t> </a:t>
            </a:r>
          </a:p>
        </p:txBody>
      </p:sp>
      <p:sp>
        <p:nvSpPr>
          <p:cNvPr id="273418" name="Rectangle 10"/>
          <p:cNvSpPr/>
          <p:nvPr/>
        </p:nvSpPr>
        <p:spPr>
          <a:xfrm>
            <a:off x="-381000" y="990600"/>
            <a:ext cx="8810625" cy="1493838"/>
          </a:xfrm>
          <a:prstGeom prst="rect">
            <a:avLst/>
          </a:prstGeom>
          <a:noFill/>
          <a:ln w="3175">
            <a:noFill/>
          </a:ln>
        </p:spPr>
        <p:txBody>
          <a:bodyPr anchor="t" anchorCtr="0">
            <a:spAutoFit/>
          </a:bodyPr>
          <a:lstStyle/>
          <a:p>
            <a:pPr marL="1143000" indent="-228600">
              <a:lnSpc>
                <a:spcPct val="120000"/>
              </a:lnSpc>
              <a:buClrTx/>
              <a:buFontTx/>
            </a:pPr>
            <a:r>
              <a:rPr lang="zh-CN" altLang="en-US" sz="2800" b="1" dirty="0">
                <a:latin typeface="Helvetica" pitchFamily="34" charset="0"/>
                <a:ea typeface="宋体" panose="02010600030101010101" pitchFamily="2" charset="-122"/>
              </a:rPr>
              <a:t>控制总线中的时钟信号线所提供的时钟频率。</a:t>
            </a:r>
          </a:p>
          <a:p>
            <a:pPr marL="1143000" indent="-228600">
              <a:lnSpc>
                <a:spcPct val="120000"/>
              </a:lnSpc>
              <a:buClrTx/>
              <a:buFontTx/>
            </a:pPr>
            <a:r>
              <a:rPr lang="zh-CN" altLang="en-US" sz="2800" b="1" dirty="0">
                <a:latin typeface="Helvetica" pitchFamily="34" charset="0"/>
                <a:ea typeface="宋体" panose="02010600030101010101" pitchFamily="2" charset="-122"/>
              </a:rPr>
              <a:t>如</a:t>
            </a:r>
            <a:r>
              <a:rPr lang="en-US" altLang="zh-CN" sz="2800" b="1" dirty="0">
                <a:latin typeface="Helvetica" pitchFamily="34" charset="0"/>
                <a:ea typeface="宋体" panose="02010600030101010101" pitchFamily="2" charset="-122"/>
              </a:rPr>
              <a:t>:</a:t>
            </a:r>
          </a:p>
          <a:p>
            <a:pPr marL="1143000" indent="-228600">
              <a:lnSpc>
                <a:spcPct val="120000"/>
              </a:lnSpc>
              <a:buClrTx/>
              <a:buFontTx/>
            </a:pPr>
            <a:endParaRPr lang="en-US" altLang="zh-CN" sz="2000" b="1" dirty="0">
              <a:latin typeface="Helvetica" pitchFamily="34" charset="0"/>
              <a:ea typeface="宋体" panose="02010600030101010101" pitchFamily="2" charset="-122"/>
            </a:endParaRPr>
          </a:p>
        </p:txBody>
      </p:sp>
      <p:sp>
        <p:nvSpPr>
          <p:cNvPr id="273419" name="Rectangle 11"/>
          <p:cNvSpPr/>
          <p:nvPr/>
        </p:nvSpPr>
        <p:spPr>
          <a:xfrm>
            <a:off x="396875" y="1600200"/>
            <a:ext cx="6537325" cy="1103313"/>
          </a:xfrm>
          <a:prstGeom prst="rect">
            <a:avLst/>
          </a:prstGeom>
          <a:noFill/>
          <a:ln w="3175">
            <a:noFill/>
          </a:ln>
        </p:spPr>
        <p:txBody>
          <a:bodyPr anchor="t" anchorCtr="0">
            <a:spAutoFit/>
          </a:bodyPr>
          <a:lstStyle/>
          <a:p>
            <a:pPr marL="1143000" indent="-228600" eaLnBrk="0" hangingPunct="0">
              <a:spcBef>
                <a:spcPct val="35000"/>
              </a:spcBef>
              <a:buClr>
                <a:srgbClr val="800000"/>
              </a:buClr>
              <a:buSzPct val="85000"/>
              <a:buFont typeface="Wingdings" panose="05000000000000000000" pitchFamily="2" charset="2"/>
            </a:pPr>
            <a:r>
              <a:rPr lang="en-US" altLang="zh-CN" sz="2000" b="1" dirty="0">
                <a:latin typeface="Helvetica" pitchFamily="34" charset="0"/>
                <a:ea typeface="宋体" panose="02010600030101010101" pitchFamily="2" charset="-122"/>
              </a:rPr>
              <a:t> </a:t>
            </a:r>
            <a:r>
              <a:rPr lang="en-US" altLang="zh-CN" sz="2800" b="1" dirty="0">
                <a:latin typeface="Helvetica" pitchFamily="34" charset="0"/>
                <a:ea typeface="宋体" panose="02010600030101010101" pitchFamily="2" charset="-122"/>
              </a:rPr>
              <a:t>ISA</a:t>
            </a:r>
            <a:r>
              <a:rPr lang="zh-CN" altLang="en-US" sz="2800" b="1" dirty="0">
                <a:latin typeface="Helvetica" pitchFamily="34" charset="0"/>
                <a:ea typeface="宋体" panose="02010600030101010101" pitchFamily="2" charset="-122"/>
              </a:rPr>
              <a:t>和</a:t>
            </a:r>
            <a:r>
              <a:rPr lang="en-US" altLang="zh-CN" sz="2800" b="1" dirty="0">
                <a:latin typeface="Helvetica" pitchFamily="34" charset="0"/>
                <a:ea typeface="宋体" panose="02010600030101010101" pitchFamily="2" charset="-122"/>
              </a:rPr>
              <a:t>EISA</a:t>
            </a:r>
            <a:r>
              <a:rPr lang="zh-CN" altLang="en-US" sz="2800" b="1" dirty="0">
                <a:latin typeface="Helvetica" pitchFamily="34" charset="0"/>
                <a:ea typeface="宋体" panose="02010600030101010101" pitchFamily="2" charset="-122"/>
              </a:rPr>
              <a:t>总线为</a:t>
            </a:r>
            <a:r>
              <a:rPr lang="en-US" altLang="zh-CN" sz="2800" b="1" dirty="0">
                <a:latin typeface="Helvetica" pitchFamily="34" charset="0"/>
                <a:ea typeface="宋体" panose="02010600030101010101" pitchFamily="2" charset="-122"/>
              </a:rPr>
              <a:t>8MHz</a:t>
            </a:r>
            <a:r>
              <a:rPr lang="zh-CN" altLang="en-US" sz="2800" b="1" dirty="0">
                <a:latin typeface="Helvetica" pitchFamily="34" charset="0"/>
                <a:ea typeface="宋体" panose="02010600030101010101" pitchFamily="2" charset="-122"/>
              </a:rPr>
              <a:t>，</a:t>
            </a:r>
          </a:p>
          <a:p>
            <a:pPr marL="1143000" indent="-228600" eaLnBrk="0" hangingPunct="0">
              <a:spcBef>
                <a:spcPct val="35000"/>
              </a:spcBef>
              <a:buClr>
                <a:srgbClr val="800000"/>
              </a:buClr>
              <a:buSzPct val="85000"/>
              <a:buFont typeface="Wingdings" panose="05000000000000000000" pitchFamily="2" charset="2"/>
            </a:pPr>
            <a:r>
              <a:rPr lang="zh-CN" altLang="en-US" sz="2800" b="1" dirty="0">
                <a:latin typeface="Helvetica" pitchFamily="34" charset="0"/>
                <a:ea typeface="宋体" panose="02010600030101010101" pitchFamily="2" charset="-122"/>
              </a:rPr>
              <a:t> </a:t>
            </a:r>
            <a:r>
              <a:rPr lang="en-US" altLang="zh-CN" sz="2800" b="1" dirty="0">
                <a:latin typeface="Helvetica" pitchFamily="34" charset="0"/>
                <a:ea typeface="宋体" panose="02010600030101010101" pitchFamily="2" charset="-122"/>
              </a:rPr>
              <a:t>PCI</a:t>
            </a:r>
            <a:r>
              <a:rPr lang="zh-CN" altLang="en-US" sz="2800" b="1" dirty="0">
                <a:latin typeface="Helvetica" pitchFamily="34" charset="0"/>
                <a:ea typeface="宋体" panose="02010600030101010101" pitchFamily="2" charset="-122"/>
              </a:rPr>
              <a:t>总线为</a:t>
            </a:r>
            <a:r>
              <a:rPr lang="en-US" altLang="zh-CN" sz="2800" b="1" dirty="0">
                <a:latin typeface="Helvetica" pitchFamily="34" charset="0"/>
                <a:ea typeface="宋体" panose="02010600030101010101" pitchFamily="2" charset="-122"/>
              </a:rPr>
              <a:t>33.3 MHz</a:t>
            </a:r>
            <a:r>
              <a:rPr lang="zh-CN" altLang="en-US" sz="2800" b="1" dirty="0">
                <a:latin typeface="Helvetica" pitchFamily="34" charset="0"/>
                <a:ea typeface="宋体" panose="02010600030101010101" pitchFamily="2" charset="-122"/>
              </a:rPr>
              <a:t>。 </a:t>
            </a:r>
          </a:p>
        </p:txBody>
      </p:sp>
      <p:sp>
        <p:nvSpPr>
          <p:cNvPr id="273420" name="Text Box 12"/>
          <p:cNvSpPr txBox="1"/>
          <p:nvPr/>
        </p:nvSpPr>
        <p:spPr>
          <a:xfrm>
            <a:off x="319088" y="2778125"/>
            <a:ext cx="4511675" cy="522288"/>
          </a:xfrm>
          <a:prstGeom prst="rect">
            <a:avLst/>
          </a:prstGeom>
          <a:noFill/>
          <a:ln w="25400">
            <a:noFill/>
          </a:ln>
        </p:spPr>
        <p:txBody>
          <a:bodyPr wrap="none" anchor="t" anchorCtr="0">
            <a:spAutoFit/>
          </a:bodyPr>
          <a:lstStyle/>
          <a:p>
            <a:pPr marL="342900" indent="-342900">
              <a:spcBef>
                <a:spcPct val="20000"/>
              </a:spcBef>
              <a:buClrTx/>
              <a:buFontTx/>
            </a:pPr>
            <a:r>
              <a:rPr lang="en-US" altLang="zh-CN" sz="2800" b="1" dirty="0">
                <a:latin typeface="Arial" panose="020B0604020202020204" pitchFamily="34" charset="0"/>
                <a:ea typeface="宋体" panose="02010600030101010101" pitchFamily="2" charset="-122"/>
              </a:rPr>
              <a:t>3 </a:t>
            </a:r>
            <a:r>
              <a:rPr lang="en-US" altLang="zh-CN" sz="2800" b="1" dirty="0">
                <a:latin typeface="Helvetica"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标准传输率（总线带宽）</a:t>
            </a:r>
          </a:p>
        </p:txBody>
      </p:sp>
      <p:sp>
        <p:nvSpPr>
          <p:cNvPr id="273422" name="Rectangle 14"/>
          <p:cNvSpPr/>
          <p:nvPr/>
        </p:nvSpPr>
        <p:spPr>
          <a:xfrm>
            <a:off x="228600" y="5232400"/>
            <a:ext cx="8083550" cy="460375"/>
          </a:xfrm>
          <a:prstGeom prst="rect">
            <a:avLst/>
          </a:prstGeom>
          <a:noFill/>
          <a:ln w="25400">
            <a:noFill/>
          </a:ln>
        </p:spPr>
        <p:txBody>
          <a:bodyPr wrap="none" anchor="t" anchorCtr="0">
            <a:spAutoFit/>
          </a:bodyPr>
          <a:lstStyle/>
          <a:p>
            <a:pPr marL="342900" indent="-342900">
              <a:spcBef>
                <a:spcPct val="20000"/>
              </a:spcBef>
              <a:buClrTx/>
              <a:buFontTx/>
            </a:pPr>
            <a:r>
              <a:rPr lang="zh-CN" altLang="en-US" sz="2400" b="1" dirty="0">
                <a:latin typeface="Arial" panose="020B0604020202020204" pitchFamily="34" charset="0"/>
                <a:ea typeface="宋体" panose="02010600030101010101" pitchFamily="2" charset="-122"/>
              </a:rPr>
              <a:t>例如，总线时钟为</a:t>
            </a:r>
            <a:r>
              <a:rPr lang="en-US" altLang="zh-CN" sz="2400" b="1" dirty="0">
                <a:solidFill>
                  <a:srgbClr val="FF0000"/>
                </a:solidFill>
                <a:latin typeface="Arial" panose="020B0604020202020204" pitchFamily="34" charset="0"/>
                <a:ea typeface="宋体" panose="02010600030101010101" pitchFamily="2" charset="-122"/>
              </a:rPr>
              <a:t>8.33MHZ</a:t>
            </a: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，则</a:t>
            </a:r>
            <a:r>
              <a:rPr lang="en-US" altLang="zh-CN" sz="2400" b="1" dirty="0">
                <a:solidFill>
                  <a:srgbClr val="FF0000"/>
                </a:solidFill>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位总线则标准传输率为</a:t>
            </a:r>
            <a:r>
              <a:rPr lang="en-US" altLang="zh-CN" sz="2400" b="1" dirty="0">
                <a:latin typeface="Arial" panose="020B0604020202020204" pitchFamily="34" charset="0"/>
                <a:ea typeface="宋体" panose="02010600030101010101" pitchFamily="2" charset="-122"/>
              </a:rPr>
              <a:t>:</a:t>
            </a:r>
          </a:p>
        </p:txBody>
      </p:sp>
      <p:sp>
        <p:nvSpPr>
          <p:cNvPr id="273424" name="Rectangle 16"/>
          <p:cNvSpPr/>
          <p:nvPr/>
        </p:nvSpPr>
        <p:spPr>
          <a:xfrm>
            <a:off x="487363" y="3781425"/>
            <a:ext cx="5546725" cy="522288"/>
          </a:xfrm>
          <a:prstGeom prst="rect">
            <a:avLst/>
          </a:prstGeom>
          <a:noFill/>
          <a:ln w="12700">
            <a:noFill/>
          </a:ln>
        </p:spPr>
        <p:txBody>
          <a:bodyPr wrap="none" anchor="t" anchorCtr="0">
            <a:spAutoFit/>
          </a:bodyPr>
          <a:lstStyle/>
          <a:p>
            <a:pPr marL="342900" indent="-342900" algn="ctr">
              <a:spcBef>
                <a:spcPct val="20000"/>
              </a:spcBef>
              <a:buClrTx/>
              <a:buFontTx/>
            </a:pPr>
            <a:r>
              <a:rPr lang="zh-CN" altLang="en-US" sz="2800" b="1" dirty="0">
                <a:latin typeface="Arial" panose="020B0604020202020204" pitchFamily="34" charset="0"/>
                <a:ea typeface="宋体" panose="02010600030101010101" pitchFamily="2" charset="-122"/>
              </a:rPr>
              <a:t>总线本身所能达到的最高传送速率</a:t>
            </a:r>
          </a:p>
        </p:txBody>
      </p:sp>
      <p:sp>
        <p:nvSpPr>
          <p:cNvPr id="273427" name="Rectangle 19"/>
          <p:cNvSpPr/>
          <p:nvPr/>
        </p:nvSpPr>
        <p:spPr>
          <a:xfrm>
            <a:off x="-469900" y="3294063"/>
            <a:ext cx="8778875" cy="522287"/>
          </a:xfrm>
          <a:prstGeom prst="rect">
            <a:avLst/>
          </a:prstGeom>
          <a:noFill/>
          <a:ln w="3175">
            <a:noFill/>
          </a:ln>
        </p:spPr>
        <p:txBody>
          <a:bodyPr wrap="none" anchor="t" anchorCtr="0">
            <a:spAutoFit/>
          </a:bodyPr>
          <a:lstStyle/>
          <a:p>
            <a:pPr marL="1143000" indent="-228600">
              <a:spcBef>
                <a:spcPct val="20000"/>
              </a:spcBef>
              <a:buClrTx/>
              <a:buFontTx/>
            </a:pPr>
            <a:r>
              <a:rPr lang="zh-CN" altLang="en-US" sz="2800" b="1" dirty="0">
                <a:latin typeface="Helvetica" pitchFamily="34" charset="0"/>
                <a:ea typeface="宋体" panose="02010600030101010101" pitchFamily="2" charset="-122"/>
              </a:rPr>
              <a:t>总线上每秒钟能传输的最大字节量。以</a:t>
            </a:r>
            <a:r>
              <a:rPr lang="en-US" altLang="zh-CN" sz="2800" b="1" dirty="0">
                <a:solidFill>
                  <a:srgbClr val="FF0000"/>
                </a:solidFill>
                <a:latin typeface="Helvetica" pitchFamily="34" charset="0"/>
                <a:ea typeface="宋体" panose="02010600030101010101" pitchFamily="2" charset="-122"/>
              </a:rPr>
              <a:t>MB/S</a:t>
            </a:r>
            <a:r>
              <a:rPr lang="zh-CN" altLang="en-US" sz="2800" b="1" dirty="0">
                <a:latin typeface="Helvetica" pitchFamily="34" charset="0"/>
                <a:ea typeface="宋体" panose="02010600030101010101" pitchFamily="2" charset="-122"/>
              </a:rPr>
              <a:t>表示</a:t>
            </a:r>
          </a:p>
        </p:txBody>
      </p:sp>
      <p:sp>
        <p:nvSpPr>
          <p:cNvPr id="273428" name="Rectangle 20"/>
          <p:cNvSpPr/>
          <p:nvPr/>
        </p:nvSpPr>
        <p:spPr>
          <a:xfrm>
            <a:off x="1066800" y="4368800"/>
            <a:ext cx="7197725" cy="522288"/>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sz="2400" b="1" dirty="0">
                <a:solidFill>
                  <a:srgbClr val="FF0000"/>
                </a:solidFill>
                <a:latin typeface="Helvetica" pitchFamily="34" charset="0"/>
                <a:ea typeface="宋体" panose="02010600030101010101" pitchFamily="2" charset="-122"/>
              </a:rPr>
              <a:t> </a:t>
            </a:r>
            <a:r>
              <a:rPr lang="zh-CN" altLang="en-US" sz="2800" b="1" dirty="0">
                <a:solidFill>
                  <a:srgbClr val="FF0000"/>
                </a:solidFill>
                <a:latin typeface="Helvetica" pitchFamily="34" charset="0"/>
                <a:ea typeface="宋体" panose="02010600030101010101" pitchFamily="2" charset="-122"/>
              </a:rPr>
              <a:t>总线带宽＝总线位宽</a:t>
            </a:r>
            <a:r>
              <a:rPr lang="en-US" altLang="zh-CN" sz="2800" b="1" dirty="0">
                <a:solidFill>
                  <a:srgbClr val="FF0000"/>
                </a:solidFill>
                <a:latin typeface="Helvetica" pitchFamily="34" charset="0"/>
                <a:ea typeface="宋体" panose="02010600030101010101" pitchFamily="2" charset="-122"/>
              </a:rPr>
              <a:t>×</a:t>
            </a:r>
            <a:r>
              <a:rPr lang="zh-CN" altLang="en-US" sz="2800" b="1" dirty="0">
                <a:solidFill>
                  <a:srgbClr val="FF0000"/>
                </a:solidFill>
                <a:latin typeface="Helvetica" pitchFamily="34" charset="0"/>
                <a:ea typeface="宋体" panose="02010600030101010101" pitchFamily="2" charset="-122"/>
              </a:rPr>
              <a:t>总线工作频率</a:t>
            </a:r>
            <a:r>
              <a:rPr lang="en-US" altLang="zh-CN" sz="2800" b="1" dirty="0">
                <a:solidFill>
                  <a:srgbClr val="FF0000"/>
                </a:solidFill>
                <a:latin typeface="Helvetica" pitchFamily="34" charset="0"/>
                <a:ea typeface="宋体" panose="02010600030101010101" pitchFamily="2" charset="-122"/>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3418"/>
                                        </p:tgtEl>
                                        <p:attrNameLst>
                                          <p:attrName>style.visibility</p:attrName>
                                        </p:attrNameLst>
                                      </p:cBhvr>
                                      <p:to>
                                        <p:strVal val="visible"/>
                                      </p:to>
                                    </p:set>
                                    <p:animEffect transition="in" filter="dissolve">
                                      <p:cBhvr>
                                        <p:cTn id="7" dur="1000"/>
                                        <p:tgtEl>
                                          <p:spTgt spid="2734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3419"/>
                                        </p:tgtEl>
                                        <p:attrNameLst>
                                          <p:attrName>style.visibility</p:attrName>
                                        </p:attrNameLst>
                                      </p:cBhvr>
                                      <p:to>
                                        <p:strVal val="visible"/>
                                      </p:to>
                                    </p:set>
                                    <p:animEffect transition="in" filter="dissolve">
                                      <p:cBhvr>
                                        <p:cTn id="12" dur="1000"/>
                                        <p:tgtEl>
                                          <p:spTgt spid="27341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34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34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34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34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34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3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3" grpId="0"/>
      <p:bldP spid="273418" grpId="0"/>
      <p:bldP spid="273419" grpId="0"/>
      <p:bldP spid="273420" grpId="0"/>
      <p:bldP spid="273422" grpId="0"/>
      <p:bldP spid="273424" grpId="0"/>
      <p:bldP spid="273427" grpId="0"/>
      <p:bldP spid="27342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ext Box 5"/>
          <p:cNvSpPr txBox="1"/>
          <p:nvPr/>
        </p:nvSpPr>
        <p:spPr>
          <a:xfrm>
            <a:off x="228600" y="228600"/>
            <a:ext cx="6626225" cy="522288"/>
          </a:xfrm>
          <a:prstGeom prst="rect">
            <a:avLst/>
          </a:prstGeom>
          <a:noFill/>
          <a:ln w="9525">
            <a:noFill/>
          </a:ln>
        </p:spPr>
        <p:txBody>
          <a:bodyPr anchor="t" anchorCtr="0">
            <a:spAutoFit/>
          </a:bodyPr>
          <a:lstStyle/>
          <a:p>
            <a:pPr>
              <a:buClrTx/>
              <a:buFontTx/>
            </a:pPr>
            <a:r>
              <a:rPr lang="en-US" altLang="zh-CN" sz="2800" b="1" dirty="0">
                <a:latin typeface="Times New Roman" panose="02020603050405020304" pitchFamily="18" charset="0"/>
                <a:ea typeface="宋体" panose="02010600030101010101" pitchFamily="2" charset="-122"/>
              </a:rPr>
              <a:t>4. </a:t>
            </a:r>
            <a:r>
              <a:rPr lang="zh-CN" altLang="en-US" sz="2800" b="1" dirty="0">
                <a:latin typeface="Times New Roman" panose="02020603050405020304" pitchFamily="18" charset="0"/>
                <a:ea typeface="宋体" panose="02010600030101010101" pitchFamily="2" charset="-122"/>
              </a:rPr>
              <a:t>总线的负载能力  </a:t>
            </a:r>
          </a:p>
        </p:txBody>
      </p:sp>
      <p:sp>
        <p:nvSpPr>
          <p:cNvPr id="274440" name="Rectangle 8"/>
          <p:cNvSpPr/>
          <p:nvPr/>
        </p:nvSpPr>
        <p:spPr>
          <a:xfrm>
            <a:off x="-304800" y="685800"/>
            <a:ext cx="7620000" cy="1568450"/>
          </a:xfrm>
          <a:prstGeom prst="rect">
            <a:avLst/>
          </a:prstGeom>
          <a:noFill/>
          <a:ln w="3175">
            <a:noFill/>
          </a:ln>
        </p:spPr>
        <p:txBody>
          <a:bodyPr anchor="t" anchorCtr="0">
            <a:spAutoFit/>
          </a:bodyPr>
          <a:lstStyle/>
          <a:p>
            <a:pPr marL="1143000" indent="-228600">
              <a:lnSpc>
                <a:spcPct val="120000"/>
              </a:lnSpc>
              <a:buClrTx/>
              <a:buFontTx/>
            </a:pPr>
            <a:r>
              <a:rPr lang="zh-CN" altLang="en-US" sz="2800" b="1" dirty="0">
                <a:latin typeface="Helvetica" pitchFamily="34" charset="0"/>
                <a:ea typeface="宋体" panose="02010600030101010101" pitchFamily="2" charset="-122"/>
              </a:rPr>
              <a:t>总线上所能连接部件的最大个数。</a:t>
            </a:r>
          </a:p>
          <a:p>
            <a:pPr marL="1143000" indent="-228600">
              <a:lnSpc>
                <a:spcPct val="120000"/>
              </a:lnSpc>
              <a:buClrTx/>
              <a:buFontTx/>
            </a:pPr>
            <a:r>
              <a:rPr lang="zh-CN" altLang="en-US" sz="2800" b="1" dirty="0">
                <a:latin typeface="Helvetica" pitchFamily="34" charset="0"/>
                <a:ea typeface="宋体" panose="02010600030101010101" pitchFamily="2" charset="-122"/>
              </a:rPr>
              <a:t>例如</a:t>
            </a:r>
            <a:r>
              <a:rPr lang="zh-CN" altLang="en-US" sz="2000" b="1" dirty="0">
                <a:latin typeface="Helvetica" pitchFamily="34" charset="0"/>
                <a:ea typeface="宋体" panose="02010600030101010101" pitchFamily="2" charset="-122"/>
              </a:rPr>
              <a:t>， </a:t>
            </a:r>
            <a:r>
              <a:rPr lang="en-US" altLang="zh-CN" sz="2400" b="1" dirty="0">
                <a:latin typeface="Helvetica" pitchFamily="34" charset="0"/>
                <a:ea typeface="宋体" panose="02010600030101010101" pitchFamily="2" charset="-122"/>
              </a:rPr>
              <a:t>ISA</a:t>
            </a:r>
            <a:r>
              <a:rPr lang="zh-CN" altLang="en-US" sz="2400" b="1" dirty="0">
                <a:latin typeface="Helvetica" pitchFamily="34" charset="0"/>
                <a:ea typeface="宋体" panose="02010600030101010101" pitchFamily="2" charset="-122"/>
              </a:rPr>
              <a:t>总线的负载能力是</a:t>
            </a:r>
            <a:r>
              <a:rPr lang="en-US" altLang="zh-CN" sz="2400" b="1" dirty="0">
                <a:latin typeface="Helvetica" pitchFamily="34" charset="0"/>
                <a:ea typeface="宋体" panose="02010600030101010101" pitchFamily="2" charset="-122"/>
              </a:rPr>
              <a:t>8</a:t>
            </a:r>
            <a:r>
              <a:rPr lang="zh-CN" altLang="en-US" sz="2400" b="1" dirty="0">
                <a:latin typeface="Helvetica" pitchFamily="34" charset="0"/>
                <a:ea typeface="宋体" panose="02010600030101010101" pitchFamily="2" charset="-122"/>
              </a:rPr>
              <a:t>，</a:t>
            </a:r>
          </a:p>
          <a:p>
            <a:pPr marL="1143000" indent="-228600">
              <a:lnSpc>
                <a:spcPct val="120000"/>
              </a:lnSpc>
              <a:buClrTx/>
              <a:buFontTx/>
            </a:pPr>
            <a:r>
              <a:rPr lang="zh-CN" altLang="en-US" sz="2400" b="1" dirty="0">
                <a:latin typeface="Helvetica" pitchFamily="34" charset="0"/>
                <a:ea typeface="宋体" panose="02010600030101010101" pitchFamily="2" charset="-122"/>
              </a:rPr>
              <a:t>             </a:t>
            </a:r>
            <a:r>
              <a:rPr lang="en-US" altLang="zh-CN" sz="2400" b="1" dirty="0">
                <a:latin typeface="Helvetica" pitchFamily="34" charset="0"/>
                <a:ea typeface="宋体" panose="02010600030101010101" pitchFamily="2" charset="-122"/>
              </a:rPr>
              <a:t>PCI</a:t>
            </a:r>
            <a:r>
              <a:rPr lang="zh-CN" altLang="en-US" sz="2400" b="1" dirty="0">
                <a:latin typeface="Helvetica" pitchFamily="34" charset="0"/>
                <a:ea typeface="宋体" panose="02010600030101010101" pitchFamily="2" charset="-122"/>
              </a:rPr>
              <a:t>总线的的负载能力是</a:t>
            </a:r>
            <a:r>
              <a:rPr lang="en-US" altLang="zh-CN" sz="2400" b="1" dirty="0">
                <a:latin typeface="Helvetica" pitchFamily="34" charset="0"/>
                <a:ea typeface="宋体" panose="02010600030101010101" pitchFamily="2" charset="-122"/>
              </a:rPr>
              <a:t>3</a:t>
            </a:r>
            <a:r>
              <a:rPr lang="zh-CN" altLang="en-US" sz="2400" b="1" dirty="0">
                <a:latin typeface="Helvetica" pitchFamily="34" charset="0"/>
                <a:ea typeface="宋体" panose="02010600030101010101" pitchFamily="2" charset="-122"/>
              </a:rPr>
              <a:t>。</a:t>
            </a:r>
          </a:p>
        </p:txBody>
      </p:sp>
      <p:sp>
        <p:nvSpPr>
          <p:cNvPr id="274453" name="Text Box 21"/>
          <p:cNvSpPr txBox="1"/>
          <p:nvPr/>
        </p:nvSpPr>
        <p:spPr>
          <a:xfrm>
            <a:off x="304800" y="2819400"/>
            <a:ext cx="8458200" cy="952500"/>
          </a:xfrm>
          <a:prstGeom prst="rect">
            <a:avLst/>
          </a:prstGeom>
          <a:noFill/>
          <a:ln w="9525">
            <a:noFill/>
          </a:ln>
        </p:spPr>
        <p:txBody>
          <a:bodyPr anchor="t" anchorCtr="0">
            <a:spAutoFit/>
          </a:bodyPr>
          <a:lstStyle/>
          <a:p>
            <a:pPr>
              <a:buClrTx/>
              <a:buFontTx/>
            </a:pP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物理线路是一组，功能上</a:t>
            </a:r>
            <a:r>
              <a:rPr lang="zh-CN" altLang="en-US" sz="2800" b="1" dirty="0">
                <a:solidFill>
                  <a:srgbClr val="FF0000"/>
                </a:solidFill>
                <a:latin typeface="Times New Roman" panose="02020603050405020304" pitchFamily="18" charset="0"/>
                <a:ea typeface="宋体" panose="02010600030101010101" pitchFamily="2" charset="-122"/>
              </a:rPr>
              <a:t>地址线</a:t>
            </a:r>
            <a:r>
              <a:rPr lang="zh-CN" altLang="en-US" sz="2800" b="1" dirty="0">
                <a:solidFill>
                  <a:schemeClr val="folHlink"/>
                </a:solidFill>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与 </a:t>
            </a:r>
            <a:r>
              <a:rPr lang="zh-CN" altLang="en-US" sz="2800" b="1" dirty="0">
                <a:solidFill>
                  <a:srgbClr val="FF0000"/>
                </a:solidFill>
                <a:latin typeface="Times New Roman" panose="02020603050405020304" pitchFamily="18" charset="0"/>
                <a:ea typeface="宋体" panose="02010600030101010101" pitchFamily="2" charset="-122"/>
              </a:rPr>
              <a:t>数据线 </a:t>
            </a:r>
            <a:r>
              <a:rPr lang="zh-CN" altLang="en-US" sz="2800" b="1" dirty="0">
                <a:latin typeface="Times New Roman" panose="02020603050405020304" pitchFamily="18" charset="0"/>
                <a:ea typeface="宋体" panose="02010600030101010101" pitchFamily="2" charset="-122"/>
              </a:rPr>
              <a:t>复用</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分时复用</a:t>
            </a:r>
            <a:r>
              <a:rPr lang="zh-CN" altLang="en-US" sz="2800" b="1" dirty="0">
                <a:latin typeface="Times New Roman" panose="02020603050405020304" pitchFamily="18" charset="0"/>
                <a:ea typeface="宋体" panose="02010600030101010101" pitchFamily="2" charset="-122"/>
              </a:rPr>
              <a:t>。</a:t>
            </a:r>
          </a:p>
        </p:txBody>
      </p:sp>
      <p:sp>
        <p:nvSpPr>
          <p:cNvPr id="274454" name="Rectangle 22"/>
          <p:cNvSpPr/>
          <p:nvPr/>
        </p:nvSpPr>
        <p:spPr>
          <a:xfrm>
            <a:off x="228600" y="2286000"/>
            <a:ext cx="2008188" cy="522288"/>
          </a:xfrm>
          <a:prstGeom prst="rect">
            <a:avLst/>
          </a:prstGeom>
          <a:noFill/>
          <a:ln w="25400">
            <a:noFill/>
          </a:ln>
        </p:spPr>
        <p:txBody>
          <a:bodyPr wrap="none" anchor="t" anchorCtr="0">
            <a:spAutoFit/>
          </a:bodyPr>
          <a:lstStyle/>
          <a:p>
            <a:pPr marL="342900" indent="-342900">
              <a:spcBef>
                <a:spcPct val="20000"/>
              </a:spcBef>
              <a:buClrTx/>
              <a:buFontTx/>
            </a:pPr>
            <a:r>
              <a:rPr lang="en-US" altLang="zh-CN" sz="2800" b="1" dirty="0">
                <a:latin typeface="Arial" panose="020B0604020202020204" pitchFamily="34" charset="0"/>
                <a:ea typeface="宋体" panose="02010600030101010101" pitchFamily="2" charset="-122"/>
              </a:rPr>
              <a:t>5</a:t>
            </a:r>
            <a:r>
              <a:rPr lang="en-US" altLang="zh-CN" sz="2800" b="1" dirty="0">
                <a:latin typeface="Helvetica"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总线复用</a:t>
            </a:r>
          </a:p>
        </p:txBody>
      </p:sp>
      <p:sp>
        <p:nvSpPr>
          <p:cNvPr id="274459" name="Text Box 27"/>
          <p:cNvSpPr txBox="1"/>
          <p:nvPr/>
        </p:nvSpPr>
        <p:spPr>
          <a:xfrm>
            <a:off x="381000" y="4092575"/>
            <a:ext cx="4768850" cy="522288"/>
          </a:xfrm>
          <a:prstGeom prst="rect">
            <a:avLst/>
          </a:prstGeom>
          <a:noFill/>
          <a:ln w="25400">
            <a:noFill/>
          </a:ln>
        </p:spPr>
        <p:txBody>
          <a:bodyPr wrap="none" anchor="t" anchorCtr="0">
            <a:spAutoFit/>
          </a:bodyPr>
          <a:lstStyle/>
          <a:p>
            <a:pPr marL="342900" indent="-342900">
              <a:spcBef>
                <a:spcPct val="20000"/>
              </a:spcBef>
              <a:buClrTx/>
              <a:buFontTx/>
            </a:pPr>
            <a:r>
              <a:rPr lang="en-US" altLang="zh-CN" sz="2800" b="1" dirty="0">
                <a:latin typeface="Arial" panose="020B0604020202020204" pitchFamily="34" charset="0"/>
                <a:ea typeface="宋体" panose="02010600030101010101" pitchFamily="2" charset="-122"/>
              </a:rPr>
              <a:t>6</a:t>
            </a:r>
            <a:r>
              <a:rPr lang="en-US" altLang="en-US"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总线定时协议（握手机制）</a:t>
            </a:r>
          </a:p>
        </p:txBody>
      </p:sp>
      <p:sp>
        <p:nvSpPr>
          <p:cNvPr id="274460" name="Rectangle 28"/>
          <p:cNvSpPr/>
          <p:nvPr/>
        </p:nvSpPr>
        <p:spPr>
          <a:xfrm>
            <a:off x="6832600" y="5227638"/>
            <a:ext cx="795338" cy="460375"/>
          </a:xfrm>
          <a:prstGeom prst="rect">
            <a:avLst/>
          </a:prstGeom>
          <a:noFill/>
          <a:ln w="25400">
            <a:noFill/>
          </a:ln>
        </p:spPr>
        <p:txBody>
          <a:bodyPr wrap="none" anchor="t" anchorCtr="0">
            <a:spAutoFit/>
          </a:bodyPr>
          <a:lstStyle/>
          <a:p>
            <a:pPr marL="342900" indent="-342900">
              <a:spcBef>
                <a:spcPct val="20000"/>
              </a:spcBef>
              <a:buClr>
                <a:srgbClr val="0000FF"/>
              </a:buClr>
              <a:buFont typeface="Wingdings" panose="05000000000000000000" pitchFamily="2" charset="2"/>
            </a:pPr>
            <a:r>
              <a:rPr lang="zh-CN" altLang="en-US" sz="2400" b="1" dirty="0">
                <a:latin typeface="Arial" panose="020B0604020202020204" pitchFamily="34" charset="0"/>
                <a:ea typeface="宋体" panose="02010600030101010101" pitchFamily="2" charset="-122"/>
              </a:rPr>
              <a:t>异步</a:t>
            </a:r>
          </a:p>
        </p:txBody>
      </p:sp>
      <p:sp>
        <p:nvSpPr>
          <p:cNvPr id="274461" name="Rectangle 29"/>
          <p:cNvSpPr/>
          <p:nvPr/>
        </p:nvSpPr>
        <p:spPr>
          <a:xfrm>
            <a:off x="6832600" y="5622925"/>
            <a:ext cx="1101725" cy="460375"/>
          </a:xfrm>
          <a:prstGeom prst="rect">
            <a:avLst/>
          </a:prstGeom>
          <a:noFill/>
          <a:ln w="25400">
            <a:noFill/>
          </a:ln>
        </p:spPr>
        <p:txBody>
          <a:bodyPr wrap="none" anchor="t" anchorCtr="0">
            <a:spAutoFit/>
          </a:bodyPr>
          <a:lstStyle/>
          <a:p>
            <a:pPr marL="342900" indent="-342900">
              <a:spcBef>
                <a:spcPct val="20000"/>
              </a:spcBef>
              <a:buClr>
                <a:srgbClr val="0000FF"/>
              </a:buClr>
              <a:buFont typeface="Wingdings" panose="05000000000000000000" pitchFamily="2" charset="2"/>
            </a:pPr>
            <a:r>
              <a:rPr lang="zh-CN" altLang="en-US" sz="2400" b="1" dirty="0">
                <a:latin typeface="Arial" panose="020B0604020202020204" pitchFamily="34" charset="0"/>
                <a:ea typeface="宋体" panose="02010600030101010101" pitchFamily="2" charset="-122"/>
              </a:rPr>
              <a:t>半同步</a:t>
            </a:r>
          </a:p>
        </p:txBody>
      </p:sp>
      <p:sp>
        <p:nvSpPr>
          <p:cNvPr id="274462" name="Rectangle 30"/>
          <p:cNvSpPr/>
          <p:nvPr/>
        </p:nvSpPr>
        <p:spPr>
          <a:xfrm>
            <a:off x="6832600" y="6019800"/>
            <a:ext cx="1101725" cy="460375"/>
          </a:xfrm>
          <a:prstGeom prst="rect">
            <a:avLst/>
          </a:prstGeom>
          <a:noFill/>
          <a:ln w="25400">
            <a:noFill/>
          </a:ln>
        </p:spPr>
        <p:txBody>
          <a:bodyPr wrap="none" anchor="t" anchorCtr="0">
            <a:spAutoFit/>
          </a:bodyPr>
          <a:lstStyle/>
          <a:p>
            <a:pPr marL="342900" indent="-342900">
              <a:spcBef>
                <a:spcPct val="20000"/>
              </a:spcBef>
              <a:buClr>
                <a:srgbClr val="0000FF"/>
              </a:buClr>
              <a:buFont typeface="Wingdings" panose="05000000000000000000" pitchFamily="2" charset="2"/>
            </a:pPr>
            <a:r>
              <a:rPr lang="zh-CN" altLang="en-US" sz="2400" b="1" dirty="0">
                <a:latin typeface="Arial" panose="020B0604020202020204" pitchFamily="34" charset="0"/>
                <a:ea typeface="宋体" panose="02010600030101010101" pitchFamily="2" charset="-122"/>
              </a:rPr>
              <a:t>分离式</a:t>
            </a:r>
          </a:p>
        </p:txBody>
      </p:sp>
      <p:sp>
        <p:nvSpPr>
          <p:cNvPr id="274463" name="Rectangle 31"/>
          <p:cNvSpPr/>
          <p:nvPr/>
        </p:nvSpPr>
        <p:spPr>
          <a:xfrm>
            <a:off x="6781800" y="4800600"/>
            <a:ext cx="879475" cy="460375"/>
          </a:xfrm>
          <a:prstGeom prst="rect">
            <a:avLst/>
          </a:prstGeom>
          <a:noFill/>
          <a:ln w="25400">
            <a:noFill/>
          </a:ln>
        </p:spPr>
        <p:txBody>
          <a:bodyPr wrap="none" anchor="t" anchorCtr="0">
            <a:spAutoFit/>
          </a:bodyPr>
          <a:lstStyle/>
          <a:p>
            <a:pPr marL="342900" indent="-342900">
              <a:spcBef>
                <a:spcPct val="20000"/>
              </a:spcBef>
              <a:buClr>
                <a:srgbClr val="0000FF"/>
              </a:buClr>
              <a:buFont typeface="Wingdings" panose="05000000000000000000" pitchFamily="2" charset="2"/>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同步</a:t>
            </a:r>
          </a:p>
        </p:txBody>
      </p:sp>
      <p:sp>
        <p:nvSpPr>
          <p:cNvPr id="274464" name="AutoShape 32"/>
          <p:cNvSpPr/>
          <p:nvPr/>
        </p:nvSpPr>
        <p:spPr>
          <a:xfrm>
            <a:off x="6324600" y="4953000"/>
            <a:ext cx="244475" cy="1368425"/>
          </a:xfrm>
          <a:prstGeom prst="leftBrace">
            <a:avLst>
              <a:gd name="adj1" fmla="val 46463"/>
              <a:gd name="adj2" fmla="val 50000"/>
            </a:avLst>
          </a:prstGeom>
          <a:noFill/>
          <a:ln w="2540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74465" name="Rectangle 33"/>
          <p:cNvSpPr/>
          <p:nvPr/>
        </p:nvSpPr>
        <p:spPr>
          <a:xfrm>
            <a:off x="381000" y="5410200"/>
            <a:ext cx="5692775" cy="460375"/>
          </a:xfrm>
          <a:prstGeom prst="rect">
            <a:avLst/>
          </a:prstGeom>
          <a:noFill/>
          <a:ln w="25400">
            <a:noFill/>
          </a:ln>
        </p:spPr>
        <p:txBody>
          <a:bodyPr wrap="none" anchor="t" anchorCtr="0">
            <a:spAutoFit/>
          </a:bodyPr>
          <a:lstStyle/>
          <a:p>
            <a:pPr marL="342900" indent="-342900">
              <a:spcBef>
                <a:spcPct val="20000"/>
              </a:spcBef>
              <a:buClrTx/>
              <a:buFontTx/>
            </a:pPr>
            <a:r>
              <a:rPr lang="zh-CN" altLang="en-US" sz="2400" b="1" dirty="0">
                <a:latin typeface="Arial" panose="020B0604020202020204" pitchFamily="34" charset="0"/>
                <a:ea typeface="宋体" panose="02010600030101010101" pitchFamily="2" charset="-122"/>
              </a:rPr>
              <a:t>依据数据传输采用何种时钟控制，可分为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4440"/>
                                        </p:tgtEl>
                                        <p:attrNameLst>
                                          <p:attrName>style.visibility</p:attrName>
                                        </p:attrNameLst>
                                      </p:cBhvr>
                                      <p:to>
                                        <p:strVal val="visible"/>
                                      </p:to>
                                    </p:set>
                                    <p:animEffect transition="in" filter="dissolve">
                                      <p:cBhvr>
                                        <p:cTn id="7" dur="500"/>
                                        <p:tgtEl>
                                          <p:spTgt spid="2744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4453"/>
                                        </p:tgtEl>
                                        <p:attrNameLst>
                                          <p:attrName>style.visibility</p:attrName>
                                        </p:attrNameLst>
                                      </p:cBhvr>
                                      <p:to>
                                        <p:strVal val="visible"/>
                                      </p:to>
                                    </p:set>
                                    <p:animEffect transition="in" filter="dissolve">
                                      <p:cBhvr>
                                        <p:cTn id="12" dur="1000"/>
                                        <p:tgtEl>
                                          <p:spTgt spid="27445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74454"/>
                                        </p:tgtEl>
                                        <p:attrNameLst>
                                          <p:attrName>style.visibility</p:attrName>
                                        </p:attrNameLst>
                                      </p:cBhvr>
                                      <p:to>
                                        <p:strVal val="visible"/>
                                      </p:to>
                                    </p:set>
                                    <p:animEffect transition="in" filter="dissolve">
                                      <p:cBhvr>
                                        <p:cTn id="15" dur="1000"/>
                                        <p:tgtEl>
                                          <p:spTgt spid="27445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74459"/>
                                        </p:tgtEl>
                                        <p:attrNameLst>
                                          <p:attrName>style.visibility</p:attrName>
                                        </p:attrNameLst>
                                      </p:cBhvr>
                                      <p:to>
                                        <p:strVal val="visible"/>
                                      </p:to>
                                    </p:set>
                                    <p:animEffect transition="in" filter="dissolve">
                                      <p:cBhvr>
                                        <p:cTn id="20" dur="1000"/>
                                        <p:tgtEl>
                                          <p:spTgt spid="27445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74462"/>
                                        </p:tgtEl>
                                        <p:attrNameLst>
                                          <p:attrName>style.visibility</p:attrName>
                                        </p:attrNameLst>
                                      </p:cBhvr>
                                      <p:to>
                                        <p:strVal val="visible"/>
                                      </p:to>
                                    </p:set>
                                    <p:animEffect transition="in" filter="wipe(left)">
                                      <p:cBhvr>
                                        <p:cTn id="25" dur="1000"/>
                                        <p:tgtEl>
                                          <p:spTgt spid="27446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74461"/>
                                        </p:tgtEl>
                                        <p:attrNameLst>
                                          <p:attrName>style.visibility</p:attrName>
                                        </p:attrNameLst>
                                      </p:cBhvr>
                                      <p:to>
                                        <p:strVal val="visible"/>
                                      </p:to>
                                    </p:set>
                                    <p:animEffect transition="in" filter="wipe(left)">
                                      <p:cBhvr>
                                        <p:cTn id="28" dur="1000"/>
                                        <p:tgtEl>
                                          <p:spTgt spid="274461"/>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74460"/>
                                        </p:tgtEl>
                                        <p:attrNameLst>
                                          <p:attrName>style.visibility</p:attrName>
                                        </p:attrNameLst>
                                      </p:cBhvr>
                                      <p:to>
                                        <p:strVal val="visible"/>
                                      </p:to>
                                    </p:set>
                                    <p:animEffect transition="in" filter="wipe(left)">
                                      <p:cBhvr>
                                        <p:cTn id="31" dur="1000"/>
                                        <p:tgtEl>
                                          <p:spTgt spid="274460"/>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74463"/>
                                        </p:tgtEl>
                                        <p:attrNameLst>
                                          <p:attrName>style.visibility</p:attrName>
                                        </p:attrNameLst>
                                      </p:cBhvr>
                                      <p:to>
                                        <p:strVal val="visible"/>
                                      </p:to>
                                    </p:set>
                                    <p:animEffect transition="in" filter="wipe(left)">
                                      <p:cBhvr>
                                        <p:cTn id="34" dur="1000"/>
                                        <p:tgtEl>
                                          <p:spTgt spid="27446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74465"/>
                                        </p:tgtEl>
                                        <p:attrNameLst>
                                          <p:attrName>style.visibility</p:attrName>
                                        </p:attrNameLst>
                                      </p:cBhvr>
                                      <p:to>
                                        <p:strVal val="visible"/>
                                      </p:to>
                                    </p:set>
                                    <p:animEffect transition="in" filter="wipe(left)">
                                      <p:cBhvr>
                                        <p:cTn id="37" dur="1000"/>
                                        <p:tgtEl>
                                          <p:spTgt spid="27446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74464"/>
                                        </p:tgtEl>
                                        <p:attrNameLst>
                                          <p:attrName>style.visibility</p:attrName>
                                        </p:attrNameLst>
                                      </p:cBhvr>
                                      <p:to>
                                        <p:strVal val="visible"/>
                                      </p:to>
                                    </p:set>
                                    <p:animEffect transition="in" filter="wipe(left)">
                                      <p:cBhvr>
                                        <p:cTn id="40" dur="1000"/>
                                        <p:tgtEl>
                                          <p:spTgt spid="274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40" grpId="0"/>
      <p:bldP spid="274453" grpId="0"/>
      <p:bldP spid="274454" grpId="0"/>
      <p:bldP spid="274459" grpId="0"/>
      <p:bldP spid="274460" grpId="0"/>
      <p:bldP spid="274461" grpId="0"/>
      <p:bldP spid="274462" grpId="0"/>
      <p:bldP spid="274463" grpId="0"/>
      <p:bldP spid="274464" grpId="0" animBg="1"/>
      <p:bldP spid="27446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2690" name="Group 2"/>
          <p:cNvGraphicFramePr>
            <a:graphicFrameLocks noGrp="1"/>
          </p:cNvGraphicFramePr>
          <p:nvPr/>
        </p:nvGraphicFramePr>
        <p:xfrm>
          <a:off x="457200" y="838200"/>
          <a:ext cx="8134350" cy="5378452"/>
        </p:xfrm>
        <a:graphic>
          <a:graphicData uri="http://schemas.openxmlformats.org/drawingml/2006/table">
            <a:tbl>
              <a:tblPr/>
              <a:tblGrid>
                <a:gridCol w="1798638">
                  <a:extLst>
                    <a:ext uri="{9D8B030D-6E8A-4147-A177-3AD203B41FA5}">
                      <a16:colId xmlns:a16="http://schemas.microsoft.com/office/drawing/2014/main" val="20000"/>
                    </a:ext>
                  </a:extLst>
                </a:gridCol>
                <a:gridCol w="1798637">
                  <a:extLst>
                    <a:ext uri="{9D8B030D-6E8A-4147-A177-3AD203B41FA5}">
                      <a16:colId xmlns:a16="http://schemas.microsoft.com/office/drawing/2014/main" val="20001"/>
                    </a:ext>
                  </a:extLst>
                </a:gridCol>
                <a:gridCol w="2268538">
                  <a:extLst>
                    <a:ext uri="{9D8B030D-6E8A-4147-A177-3AD203B41FA5}">
                      <a16:colId xmlns:a16="http://schemas.microsoft.com/office/drawing/2014/main" val="20002"/>
                    </a:ext>
                  </a:extLst>
                </a:gridCol>
                <a:gridCol w="2268537">
                  <a:extLst>
                    <a:ext uri="{9D8B030D-6E8A-4147-A177-3AD203B41FA5}">
                      <a16:colId xmlns:a16="http://schemas.microsoft.com/office/drawing/2014/main" val="20003"/>
                    </a:ext>
                  </a:extLst>
                </a:gridCol>
              </a:tblGrid>
              <a:tr h="503243">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总线标准</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数据线</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总线时钟</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带宽</a:t>
                      </a: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231">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ISA</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16</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8 MHz</a:t>
                      </a: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（独立）</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16MBps</a:t>
                      </a: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31">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EISA</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32</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8.33 MHz</a:t>
                      </a: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（独立）</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33 MBps</a:t>
                      </a: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7112">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VESA</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(VL-BUS)</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32</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33 MHz</a:t>
                      </a: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CPU</a:t>
                      </a: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132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MBps</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7112">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PCI</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32</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64</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33 MHz</a:t>
                      </a: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（独立）</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64 MHz</a:t>
                      </a: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（独立）</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132 MBps</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266 MBps</a:t>
                      </a: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7112">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AGP</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32</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66.7 MHz</a:t>
                      </a: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（独立）</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133 MHz</a:t>
                      </a: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（独立）</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266 MBps</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533 MBps</a:t>
                      </a: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7112">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RS-232</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串行通信</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总线标准</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数据终端设备（计算机）和数据通信设备（调制解调器）之间的标准接口</a:t>
                      </a: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6"/>
                  </a:ext>
                </a:extLst>
              </a:tr>
              <a:tr h="1026299">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USB</a:t>
                      </a:r>
                    </a:p>
                  </a:txBody>
                  <a:tcPr marL="90000" marR="90000" marT="46801" marB="468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串行接口</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总线标准</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普通无屏蔽双绞线</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带屏蔽双绞线</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最高</a:t>
                      </a:r>
                    </a:p>
                  </a:txBody>
                  <a:tcPr marL="90000" marR="90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1.5 Mbps (USB1.0)</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12 Mbps (USB1.1)</a:t>
                      </a:r>
                    </a:p>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480 Mbps</a:t>
                      </a:r>
                      <a:r>
                        <a:rPr kumimoji="0" lang="en-US" altLang="zh-CN" sz="1800" b="1" i="0" u="none" strike="noStrike" cap="none" normalizeH="0" baseline="0">
                          <a:ln>
                            <a:noFill/>
                          </a:ln>
                          <a:solidFill>
                            <a:schemeClr val="folHlink"/>
                          </a:solidFill>
                          <a:effectLst/>
                          <a:latin typeface="Arial" panose="020B0604020202020204" pitchFamily="34" charset="0"/>
                          <a:ea typeface="宋体" panose="02010600030101010101" pitchFamily="2" charset="-122"/>
                        </a:rPr>
                        <a:t> </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(USB2.0)</a:t>
                      </a:r>
                    </a:p>
                  </a:txBody>
                  <a:tcPr marL="90000" marR="90000" marT="46801" marB="468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0464" name="Text Box 49"/>
          <p:cNvSpPr txBox="1"/>
          <p:nvPr/>
        </p:nvSpPr>
        <p:spPr>
          <a:xfrm>
            <a:off x="1295400" y="228600"/>
            <a:ext cx="6553200" cy="522288"/>
          </a:xfrm>
          <a:prstGeom prst="rect">
            <a:avLst/>
          </a:prstGeom>
          <a:noFill/>
          <a:ln w="9525">
            <a:noFill/>
          </a:ln>
        </p:spPr>
        <p:txBody>
          <a:bodyPr anchor="t" anchorCtr="0">
            <a:spAutoFit/>
          </a:bodyPr>
          <a:lstStyle/>
          <a:p>
            <a:pPr algn="ctr">
              <a:spcBef>
                <a:spcPct val="50000"/>
              </a:spcBef>
              <a:buClrTx/>
              <a:buFontTx/>
            </a:pPr>
            <a:r>
              <a:rPr lang="zh-CN" altLang="en-US" sz="2800" b="1" dirty="0">
                <a:latin typeface="Arial" panose="020B0604020202020204" pitchFamily="34" charset="0"/>
                <a:ea typeface="宋体" panose="02010600030101010101" pitchFamily="2" charset="-122"/>
              </a:rPr>
              <a:t>几种常见总线的性能</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idx="4294967295"/>
          </p:nvPr>
        </p:nvSpPr>
        <p:spPr>
          <a:xfrm>
            <a:off x="0" y="990600"/>
            <a:ext cx="8305800" cy="5334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defRPr/>
            </a:pPr>
            <a:r>
              <a:rPr kumimoji="0" lang="zh-CN" altLang="en-US" sz="4000" b="1" i="0" u="none" strike="noStrike" kern="0" cap="none" spc="0" normalizeH="0" baseline="0" noProof="0">
                <a:ln>
                  <a:noFill/>
                </a:ln>
                <a:solidFill>
                  <a:schemeClr val="tx1"/>
                </a:solidFill>
                <a:effectLst/>
                <a:uLnTx/>
                <a:uFillTx/>
                <a:latin typeface="+mn-lt"/>
                <a:ea typeface="+mn-ea"/>
                <a:cs typeface="+mn-cs"/>
              </a:rPr>
              <a:t>总线标准</a:t>
            </a:r>
            <a:endParaRPr kumimoji="0" lang="zh-CN" altLang="en-US" sz="4000" b="1" i="0" u="sng"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defRPr/>
            </a:pPr>
            <a:r>
              <a:rPr kumimoji="0" lang="zh-CN" altLang="en-US" sz="3200" b="1" i="0" u="none" strike="noStrike" kern="0" cap="none" spc="0" normalizeH="0" baseline="0" noProof="0">
                <a:ln>
                  <a:noFill/>
                </a:ln>
                <a:solidFill>
                  <a:schemeClr val="tx1"/>
                </a:solidFill>
                <a:effectLst/>
                <a:uLnTx/>
                <a:uFillTx/>
                <a:latin typeface="+mn-lt"/>
                <a:ea typeface="+mn-ea"/>
                <a:cs typeface="+mn-cs"/>
              </a:rPr>
              <a:t>           </a:t>
            </a:r>
            <a:r>
              <a:rPr kumimoji="0" lang="zh-CN" altLang="en-US" sz="3200" b="1" i="0" u="none" strike="noStrike" kern="0" cap="none" spc="0" normalizeH="0" baseline="0" noProof="0">
                <a:ln>
                  <a:noFill/>
                </a:ln>
                <a:solidFill>
                  <a:srgbClr val="FF0000"/>
                </a:solidFill>
                <a:effectLst/>
                <a:uLnTx/>
                <a:uFillTx/>
                <a:latin typeface="+mn-lt"/>
                <a:ea typeface="+mn-ea"/>
                <a:cs typeface="+mn-cs"/>
              </a:rPr>
              <a:t>为适应模块化设计</a:t>
            </a:r>
            <a:r>
              <a:rPr kumimoji="0" lang="zh-CN" altLang="en-US" sz="3200" b="1" i="0" u="none" strike="noStrike" kern="0" cap="none" spc="0" normalizeH="0" baseline="0" noProof="0">
                <a:ln>
                  <a:noFill/>
                </a:ln>
                <a:solidFill>
                  <a:schemeClr val="tx1"/>
                </a:solidFill>
                <a:effectLst/>
                <a:uLnTx/>
                <a:uFillTx/>
                <a:latin typeface="+mn-lt"/>
                <a:ea typeface="+mn-ea"/>
                <a:cs typeface="+mn-cs"/>
              </a:rPr>
              <a:t>，使各生产厂家的产品具有可组合性和可替换性，需要对总线进行规范，</a:t>
            </a:r>
            <a:r>
              <a:rPr kumimoji="0" lang="zh-CN" altLang="en-US" sz="3200" b="1" i="0" u="none" strike="noStrike" kern="0" cap="none" spc="0" normalizeH="0" baseline="0" noProof="0">
                <a:ln>
                  <a:noFill/>
                </a:ln>
                <a:solidFill>
                  <a:srgbClr val="FF0000"/>
                </a:solidFill>
                <a:effectLst/>
                <a:uLnTx/>
                <a:uFillTx/>
                <a:latin typeface="+mn-lt"/>
                <a:ea typeface="+mn-ea"/>
                <a:cs typeface="+mn-cs"/>
              </a:rPr>
              <a:t>提出一种标准的信息传递通道</a:t>
            </a:r>
            <a:r>
              <a:rPr kumimoji="0" lang="zh-CN" altLang="en-US" sz="3200" b="1" i="0" u="none" strike="noStrike" kern="0" cap="none" spc="0" normalizeH="0" baseline="0" noProof="0">
                <a:ln>
                  <a:noFill/>
                </a:ln>
                <a:solidFill>
                  <a:schemeClr val="hlink"/>
                </a:solidFill>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defRPr/>
            </a:pPr>
            <a:r>
              <a:rPr kumimoji="0" lang="zh-CN" altLang="en-US" sz="3200" b="1" i="0" u="none" strike="noStrike" kern="0" cap="none" spc="0" normalizeH="0" baseline="0" noProof="0">
                <a:ln>
                  <a:noFill/>
                </a:ln>
                <a:solidFill>
                  <a:schemeClr val="tx1"/>
                </a:solidFill>
                <a:effectLst/>
                <a:uLnTx/>
                <a:uFillTx/>
                <a:latin typeface="+mn-lt"/>
                <a:ea typeface="+mn-ea"/>
                <a:cs typeface="+mn-cs"/>
              </a:rPr>
              <a:t>           总线标准分为两类：一类是由国际权威机构制定的（ </a:t>
            </a:r>
            <a:r>
              <a:rPr kumimoji="0" lang="en-US" altLang="zh-CN" sz="3200" b="1" i="0" u="none" strike="noStrike" kern="0" cap="none" spc="0" normalizeH="0" baseline="0" noProof="0">
                <a:ln>
                  <a:noFill/>
                </a:ln>
                <a:solidFill>
                  <a:schemeClr val="tx1"/>
                </a:solidFill>
                <a:effectLst/>
                <a:uLnTx/>
                <a:uFillTx/>
                <a:latin typeface="+mn-lt"/>
                <a:ea typeface="+mn-ea"/>
                <a:cs typeface="+mn-cs"/>
              </a:rPr>
              <a:t>RS—232C  </a:t>
            </a:r>
            <a:r>
              <a:rPr kumimoji="0" lang="zh-CN" altLang="en-US" sz="3200" b="1" i="0" u="none" strike="noStrike" kern="0" cap="none" spc="0" normalizeH="0" baseline="0" noProof="0">
                <a:ln>
                  <a:noFill/>
                </a:ln>
                <a:solidFill>
                  <a:schemeClr val="tx1"/>
                </a:solidFill>
                <a:effectLst/>
                <a:uLnTx/>
                <a:uFillTx/>
                <a:latin typeface="+mn-lt"/>
                <a:ea typeface="+mn-ea"/>
                <a:cs typeface="+mn-cs"/>
              </a:rPr>
              <a:t>是美国电子工业协会（</a:t>
            </a:r>
            <a:r>
              <a:rPr kumimoji="0" lang="en-US" altLang="zh-CN" sz="3200" b="1" i="0" u="none" strike="noStrike" kern="0" cap="none" spc="0" normalizeH="0" baseline="0" noProof="0">
                <a:ln>
                  <a:noFill/>
                </a:ln>
                <a:solidFill>
                  <a:schemeClr val="tx1"/>
                </a:solidFill>
                <a:effectLst/>
                <a:uLnTx/>
                <a:uFillTx/>
                <a:latin typeface="+mn-lt"/>
                <a:ea typeface="+mn-ea"/>
                <a:cs typeface="+mn-cs"/>
              </a:rPr>
              <a:t>EIA</a:t>
            </a:r>
            <a:r>
              <a:rPr kumimoji="0" lang="zh-CN" altLang="en-US" sz="3200" b="1" i="0" u="none" strike="noStrike" kern="0" cap="none" spc="0" normalizeH="0" baseline="0" noProof="0">
                <a:ln>
                  <a:noFill/>
                </a:ln>
                <a:solidFill>
                  <a:schemeClr val="tx1"/>
                </a:solidFill>
                <a:effectLst/>
                <a:uLnTx/>
                <a:uFillTx/>
                <a:latin typeface="+mn-lt"/>
                <a:ea typeface="+mn-ea"/>
                <a:cs typeface="+mn-cs"/>
              </a:rPr>
              <a:t>）制定的</a:t>
            </a:r>
            <a:r>
              <a:rPr kumimoji="0" lang="zh-CN" altLang="en-US" sz="3200" b="0" i="0" u="none" strike="noStrike" kern="0" cap="none" spc="0" normalizeH="0" baseline="0" noProof="0">
                <a:ln>
                  <a:noFill/>
                </a:ln>
                <a:solidFill>
                  <a:schemeClr val="tx1"/>
                </a:solidFill>
                <a:effectLst/>
                <a:uLnTx/>
                <a:uFillTx/>
                <a:latin typeface="+mn-lt"/>
                <a:ea typeface="+mn-ea"/>
                <a:cs typeface="+mn-cs"/>
              </a:rPr>
              <a:t>） </a:t>
            </a:r>
            <a:r>
              <a:rPr kumimoji="0" lang="zh-CN" altLang="en-US" sz="3200" b="1" i="0" u="none" strike="noStrike" kern="0" cap="none" spc="0" normalizeH="0" baseline="0" noProof="0">
                <a:ln>
                  <a:noFill/>
                </a:ln>
                <a:solidFill>
                  <a:schemeClr val="tx1"/>
                </a:solidFill>
                <a:effectLst/>
                <a:uLnTx/>
                <a:uFillTx/>
                <a:latin typeface="+mn-lt"/>
                <a:ea typeface="+mn-ea"/>
                <a:cs typeface="+mn-cs"/>
              </a:rPr>
              <a:t>，另一类是由某厂家设计而广泛流行的（</a:t>
            </a:r>
            <a:r>
              <a:rPr kumimoji="0" lang="en-US" altLang="zh-CN" sz="3200" b="1" i="0" u="none" strike="noStrike" kern="0" cap="none" spc="0" normalizeH="0" baseline="0" noProof="0">
                <a:ln>
                  <a:noFill/>
                </a:ln>
                <a:solidFill>
                  <a:schemeClr val="tx1"/>
                </a:solidFill>
                <a:effectLst/>
                <a:uLnTx/>
                <a:uFillTx/>
                <a:latin typeface="+mn-lt"/>
                <a:ea typeface="+mn-ea"/>
                <a:cs typeface="+mn-cs"/>
              </a:rPr>
              <a:t>PCI</a:t>
            </a:r>
            <a:r>
              <a:rPr kumimoji="0" lang="zh-CN" altLang="en-US" sz="3200" b="1" i="0" u="none" strike="noStrike" kern="0" cap="none" spc="0" normalizeH="0" baseline="0" noProof="0">
                <a:ln>
                  <a:noFill/>
                </a:ln>
                <a:solidFill>
                  <a:schemeClr val="tx1"/>
                </a:solidFill>
                <a:effectLst/>
                <a:uLnTx/>
                <a:uFillTx/>
                <a:latin typeface="+mn-lt"/>
                <a:ea typeface="+mn-ea"/>
                <a:cs typeface="+mn-cs"/>
              </a:rPr>
              <a:t>总线：</a:t>
            </a:r>
            <a:r>
              <a:rPr kumimoji="0" lang="en-US" altLang="zh-CN" sz="3200" b="1" i="0" u="none" strike="noStrike" kern="0" cap="none" spc="0" normalizeH="0" baseline="0" noProof="0">
                <a:ln>
                  <a:noFill/>
                </a:ln>
                <a:solidFill>
                  <a:schemeClr val="tx1"/>
                </a:solidFill>
                <a:effectLst/>
                <a:uLnTx/>
                <a:uFillTx/>
                <a:latin typeface="+mn-lt"/>
                <a:ea typeface="+mn-ea"/>
                <a:cs typeface="+mn-cs"/>
              </a:rPr>
              <a:t>Intel</a:t>
            </a:r>
            <a:r>
              <a:rPr kumimoji="0" lang="zh-CN" altLang="en-US" sz="3200" b="1" i="0" u="none" strike="noStrike" kern="0" cap="none" spc="0" normalizeH="0" baseline="0" noProof="0">
                <a:ln>
                  <a:noFill/>
                </a:ln>
                <a:solidFill>
                  <a:schemeClr val="tx1"/>
                </a:solidFill>
                <a:effectLst/>
                <a:uLnTx/>
                <a:uFillTx/>
                <a:latin typeface="+mn-lt"/>
                <a:ea typeface="+mn-ea"/>
                <a:cs typeface="+mn-cs"/>
              </a:rPr>
              <a:t>联合</a:t>
            </a:r>
            <a:r>
              <a:rPr kumimoji="0" lang="en-US" altLang="zh-CN" sz="3200" b="1" i="0" u="none" strike="noStrike" kern="0" cap="none" spc="0" normalizeH="0" baseline="0" noProof="0">
                <a:ln>
                  <a:noFill/>
                </a:ln>
                <a:solidFill>
                  <a:schemeClr val="tx1"/>
                </a:solidFill>
                <a:effectLst/>
                <a:uLnTx/>
                <a:uFillTx/>
                <a:latin typeface="+mn-lt"/>
                <a:ea typeface="+mn-ea"/>
                <a:cs typeface="+mn-cs"/>
              </a:rPr>
              <a:t>IBM</a:t>
            </a:r>
            <a:r>
              <a:rPr kumimoji="0" lang="zh-CN" altLang="en-US" sz="3200" b="1" i="0" u="none" strike="noStrike" kern="0" cap="none" spc="0" normalizeH="0" baseline="0" noProof="0">
                <a:ln>
                  <a:noFill/>
                </a:ln>
                <a:solidFill>
                  <a:schemeClr val="tx1"/>
                </a:solidFill>
                <a:effectLst/>
                <a:uLnTx/>
                <a:uFillTx/>
                <a:latin typeface="+mn-lt"/>
                <a:ea typeface="+mn-ea"/>
                <a:cs typeface="+mn-cs"/>
              </a:rPr>
              <a:t>，</a:t>
            </a:r>
            <a:r>
              <a:rPr kumimoji="0" lang="en-US" altLang="zh-CN" sz="3200" b="1" i="0" u="none" strike="noStrike" kern="0" cap="none" spc="0" normalizeH="0" baseline="0" noProof="0">
                <a:ln>
                  <a:noFill/>
                </a:ln>
                <a:solidFill>
                  <a:schemeClr val="tx1"/>
                </a:solidFill>
                <a:effectLst/>
                <a:uLnTx/>
                <a:uFillTx/>
                <a:latin typeface="+mn-lt"/>
                <a:ea typeface="+mn-ea"/>
                <a:cs typeface="+mn-cs"/>
              </a:rPr>
              <a:t>Compaq</a:t>
            </a:r>
            <a:r>
              <a:rPr kumimoji="0" lang="zh-CN" altLang="en-US" sz="3200" b="1" i="0" u="none" strike="noStrike" kern="0" cap="none" spc="0" normalizeH="0" baseline="0" noProof="0">
                <a:ln>
                  <a:noFill/>
                </a:ln>
                <a:solidFill>
                  <a:schemeClr val="tx1"/>
                </a:solidFill>
                <a:effectLst/>
                <a:uLnTx/>
                <a:uFillTx/>
                <a:latin typeface="+mn-lt"/>
                <a:ea typeface="+mn-ea"/>
                <a:cs typeface="+mn-cs"/>
              </a:rPr>
              <a:t>等</a:t>
            </a:r>
            <a:r>
              <a:rPr kumimoji="0" lang="en-US" altLang="zh-CN" sz="3200" b="1" i="0" u="none" strike="noStrike" kern="0" cap="none" spc="0" normalizeH="0" baseline="0" noProof="0">
                <a:ln>
                  <a:noFill/>
                </a:ln>
                <a:solidFill>
                  <a:schemeClr val="tx1"/>
                </a:solidFill>
                <a:effectLst/>
                <a:uLnTx/>
                <a:uFillTx/>
                <a:latin typeface="+mn-lt"/>
                <a:ea typeface="+mn-ea"/>
                <a:cs typeface="+mn-cs"/>
              </a:rPr>
              <a:t>100</a:t>
            </a:r>
            <a:r>
              <a:rPr kumimoji="0" lang="zh-CN" altLang="en-US" sz="3200" b="1" i="0" u="none" strike="noStrike" kern="0" cap="none" spc="0" normalizeH="0" baseline="0" noProof="0">
                <a:ln>
                  <a:noFill/>
                </a:ln>
                <a:solidFill>
                  <a:schemeClr val="tx1"/>
                </a:solidFill>
                <a:effectLst/>
                <a:uLnTx/>
                <a:uFillTx/>
                <a:latin typeface="+mn-lt"/>
                <a:ea typeface="+mn-ea"/>
                <a:cs typeface="+mn-cs"/>
              </a:rPr>
              <a:t>多家公司联合共同开发）</a:t>
            </a:r>
          </a:p>
        </p:txBody>
      </p:sp>
      <p:sp>
        <p:nvSpPr>
          <p:cNvPr id="131075" name="Rectangle 3"/>
          <p:cNvSpPr>
            <a:spLocks noGrp="1" noChangeArrowheads="1"/>
          </p:cNvSpPr>
          <p:nvPr>
            <p:ph type="title" idx="4294967295"/>
          </p:nvPr>
        </p:nvSpPr>
        <p:spPr>
          <a:xfrm>
            <a:off x="0" y="152400"/>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1"/>
                </a:solidFill>
                <a:effectLst/>
                <a:uLnTx/>
                <a:uFillTx/>
                <a:latin typeface="+mj-lt"/>
                <a:ea typeface="+mj-ea"/>
                <a:cs typeface="+mj-cs"/>
              </a:rPr>
              <a:t>3.5 </a:t>
            </a:r>
            <a:r>
              <a:rPr kumimoji="0" lang="zh-CN" altLang="en-US" sz="4400" b="1" i="0" u="none" strike="noStrike" kern="0" cap="none" spc="0" normalizeH="0" baseline="0" noProof="0">
                <a:ln>
                  <a:noFill/>
                </a:ln>
                <a:solidFill>
                  <a:schemeClr val="tx1"/>
                </a:solidFill>
                <a:effectLst/>
                <a:uLnTx/>
                <a:uFillTx/>
                <a:latin typeface="+mj-lt"/>
                <a:ea typeface="+mj-ea"/>
                <a:cs typeface="+mj-cs"/>
              </a:rPr>
              <a:t>常用的总线标准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1074">
                                            <p:txEl>
                                              <p:pRg st="0" end="0"/>
                                            </p:txEl>
                                          </p:spTgt>
                                        </p:tgtEl>
                                        <p:attrNameLst>
                                          <p:attrName>style.visibility</p:attrName>
                                        </p:attrNameLst>
                                      </p:cBhvr>
                                      <p:to>
                                        <p:strVal val="visible"/>
                                      </p:to>
                                    </p:set>
                                    <p:animEffect transition="in" filter="blinds(horizontal)">
                                      <p:cBhvr>
                                        <p:cTn id="7" dur="500"/>
                                        <p:tgtEl>
                                          <p:spTgt spid="13107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1074">
                                            <p:txEl>
                                              <p:pRg st="1" end="1"/>
                                            </p:txEl>
                                          </p:spTgt>
                                        </p:tgtEl>
                                        <p:attrNameLst>
                                          <p:attrName>style.visibility</p:attrName>
                                        </p:attrNameLst>
                                      </p:cBhvr>
                                      <p:to>
                                        <p:strVal val="visible"/>
                                      </p:to>
                                    </p:set>
                                    <p:animEffect transition="in" filter="blinds(horizontal)">
                                      <p:cBhvr>
                                        <p:cTn id="10" dur="500"/>
                                        <p:tgtEl>
                                          <p:spTgt spid="13107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31074">
                                            <p:txEl>
                                              <p:pRg st="2" end="2"/>
                                            </p:txEl>
                                          </p:spTgt>
                                        </p:tgtEl>
                                        <p:attrNameLst>
                                          <p:attrName>style.visibility</p:attrName>
                                        </p:attrNameLst>
                                      </p:cBhvr>
                                      <p:to>
                                        <p:strVal val="visible"/>
                                      </p:to>
                                    </p:set>
                                    <p:animEffect transition="in" filter="blinds(horizontal)">
                                      <p:cBhvr>
                                        <p:cTn id="15" dur="500"/>
                                        <p:tgtEl>
                                          <p:spTgt spid="1310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Text Box 3"/>
          <p:cNvSpPr txBox="1"/>
          <p:nvPr/>
        </p:nvSpPr>
        <p:spPr>
          <a:xfrm>
            <a:off x="304800" y="762000"/>
            <a:ext cx="8610600" cy="5016500"/>
          </a:xfrm>
          <a:prstGeom prst="rect">
            <a:avLst/>
          </a:prstGeom>
          <a:noFill/>
          <a:ln w="9525">
            <a:noFill/>
          </a:ln>
        </p:spPr>
        <p:txBody>
          <a:bodyPr anchor="t" anchorCtr="0">
            <a:spAutoFit/>
          </a:bodyPr>
          <a:lstStyle/>
          <a:p>
            <a:pPr>
              <a:buClrTx/>
              <a:buFontTx/>
            </a:pPr>
            <a:r>
              <a:rPr lang="zh-CN" altLang="en-US" sz="3200" b="1" dirty="0">
                <a:solidFill>
                  <a:srgbClr val="FF0000"/>
                </a:solidFill>
                <a:latin typeface="Arial" panose="020B0604020202020204" pitchFamily="34" charset="0"/>
                <a:ea typeface="宋体" panose="02010600030101010101" pitchFamily="2" charset="-122"/>
              </a:rPr>
              <a:t>一、系统总线</a:t>
            </a:r>
          </a:p>
          <a:p>
            <a:pPr>
              <a:buClrTx/>
              <a:buFontTx/>
            </a:pP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S-100</a:t>
            </a:r>
            <a:r>
              <a:rPr lang="zh-CN" altLang="en-US" sz="2400" b="1" dirty="0">
                <a:latin typeface="Arial" panose="020B0604020202020204" pitchFamily="34" charset="0"/>
                <a:ea typeface="宋体" panose="02010600030101010101" pitchFamily="2" charset="-122"/>
              </a:rPr>
              <a:t>总线 </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S-100</a:t>
            </a:r>
            <a:r>
              <a:rPr lang="zh-CN" altLang="en-US" sz="2400" b="1" dirty="0">
                <a:latin typeface="Arial" panose="020B0604020202020204" pitchFamily="34" charset="0"/>
                <a:ea typeface="宋体" panose="02010600030101010101" pitchFamily="2" charset="-122"/>
              </a:rPr>
              <a:t>总线产生于</a:t>
            </a:r>
            <a:r>
              <a:rPr lang="en-US" altLang="zh-CN" sz="2400" b="1" dirty="0">
                <a:latin typeface="Arial" panose="020B0604020202020204" pitchFamily="34" charset="0"/>
                <a:ea typeface="宋体" panose="02010600030101010101" pitchFamily="2" charset="-122"/>
              </a:rPr>
              <a:t>1975</a:t>
            </a:r>
            <a:r>
              <a:rPr lang="zh-CN" altLang="en-US" sz="2400" b="1" dirty="0">
                <a:latin typeface="Arial" panose="020B0604020202020204" pitchFamily="34" charset="0"/>
                <a:ea typeface="宋体" panose="02010600030101010101" pitchFamily="2" charset="-122"/>
              </a:rPr>
              <a:t>年，第一个标准化总线，它有</a:t>
            </a:r>
            <a:r>
              <a:rPr lang="en-US" altLang="zh-CN" sz="2400" b="1" dirty="0">
                <a:latin typeface="Arial" panose="020B0604020202020204" pitchFamily="34" charset="0"/>
                <a:ea typeface="宋体" panose="02010600030101010101" pitchFamily="2" charset="-122"/>
              </a:rPr>
              <a:t>l00</a:t>
            </a:r>
            <a:r>
              <a:rPr lang="zh-CN" altLang="en-US" sz="2400" b="1" dirty="0">
                <a:latin typeface="Arial" panose="020B0604020202020204" pitchFamily="34" charset="0"/>
                <a:ea typeface="宋体" panose="02010600030101010101" pitchFamily="2" charset="-122"/>
              </a:rPr>
              <a:t>条信号线，是为</a:t>
            </a:r>
            <a:r>
              <a:rPr lang="en-US" altLang="zh-CN" sz="2400" b="1" dirty="0">
                <a:latin typeface="Arial" panose="020B0604020202020204" pitchFamily="34" charset="0"/>
                <a:ea typeface="宋体" panose="02010600030101010101" pitchFamily="2" charset="-122"/>
              </a:rPr>
              <a:t>8080</a:t>
            </a:r>
            <a:r>
              <a:rPr lang="zh-CN" altLang="en-US" sz="2400" b="1" dirty="0">
                <a:latin typeface="Arial" panose="020B0604020202020204" pitchFamily="34" charset="0"/>
                <a:ea typeface="宋体" panose="02010600030101010101" pitchFamily="2" charset="-122"/>
              </a:rPr>
              <a:t>微处理器设计的。</a:t>
            </a:r>
          </a:p>
          <a:p>
            <a:pPr>
              <a:buClrTx/>
              <a:buFontTx/>
            </a:pPr>
            <a:r>
              <a:rPr lang="zh-CN" altLang="en-US" sz="2400" b="1" dirty="0">
                <a:latin typeface="Arial" panose="020B0604020202020204" pitchFamily="34" charset="0"/>
                <a:ea typeface="宋体" panose="02010600030101010101" pitchFamily="2" charset="-122"/>
              </a:rPr>
              <a:t>这种总线的主要缺点：</a:t>
            </a:r>
          </a:p>
          <a:p>
            <a:pPr>
              <a:buClrTx/>
              <a:buFontTx/>
            </a:pP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）布线不合理，时钟信号线位于</a:t>
            </a:r>
            <a:r>
              <a:rPr lang="en-US" altLang="zh-CN" sz="2400" b="1" dirty="0">
                <a:latin typeface="Arial" panose="020B0604020202020204" pitchFamily="34" charset="0"/>
                <a:ea typeface="宋体" panose="02010600030101010101" pitchFamily="2" charset="-122"/>
              </a:rPr>
              <a:t>9</a:t>
            </a:r>
            <a:r>
              <a:rPr lang="zh-CN" altLang="en-US" sz="2400" b="1" dirty="0">
                <a:latin typeface="Arial" panose="020B0604020202020204" pitchFamily="34" charset="0"/>
                <a:ea typeface="宋体" panose="02010600030101010101" pitchFamily="2" charset="-122"/>
              </a:rPr>
              <a:t>条控制信号线之间，容易造成串扰；</a:t>
            </a:r>
          </a:p>
          <a:p>
            <a:pPr>
              <a:buClrTx/>
              <a:buFontTx/>
            </a:pP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）只规定了两条地线，接地点太少，容易造成地线干扰；</a:t>
            </a:r>
          </a:p>
          <a:p>
            <a:pPr>
              <a:buClrTx/>
              <a:buFontTx/>
            </a:pP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）对</a:t>
            </a:r>
            <a:r>
              <a:rPr lang="en-US" altLang="zh-CN" sz="2400" b="1" dirty="0">
                <a:latin typeface="Arial" panose="020B0604020202020204" pitchFamily="34" charset="0"/>
                <a:ea typeface="宋体" panose="02010600030101010101" pitchFamily="2" charset="-122"/>
              </a:rPr>
              <a:t>DMA</a:t>
            </a:r>
            <a:r>
              <a:rPr lang="zh-CN" altLang="en-US" sz="2400" b="1" dirty="0">
                <a:latin typeface="Arial" panose="020B0604020202020204" pitchFamily="34" charset="0"/>
                <a:ea typeface="宋体" panose="02010600030101010101" pitchFamily="2" charset="-122"/>
              </a:rPr>
              <a:t>传送虽然作了考虑，但对所需引脚并未明确定义；</a:t>
            </a:r>
          </a:p>
          <a:p>
            <a:pPr>
              <a:buClrTx/>
              <a:buFontTx/>
            </a:pPr>
            <a:r>
              <a:rPr lang="en-US" altLang="zh-CN" sz="2400" b="1" dirty="0">
                <a:latin typeface="Arial" panose="020B0604020202020204" pitchFamily="34" charset="0"/>
                <a:ea typeface="宋体" panose="02010600030101010101" pitchFamily="2" charset="-122"/>
              </a:rPr>
              <a:t>4</a:t>
            </a:r>
            <a:r>
              <a:rPr lang="zh-CN" altLang="en-US" sz="2400" b="1" dirty="0">
                <a:latin typeface="Arial" panose="020B0604020202020204" pitchFamily="34" charset="0"/>
                <a:ea typeface="宋体" panose="02010600030101010101" pitchFamily="2" charset="-122"/>
              </a:rPr>
              <a:t>）将＋</a:t>
            </a:r>
            <a:r>
              <a:rPr lang="en-US" altLang="zh-CN" sz="2400" b="1" dirty="0">
                <a:latin typeface="Arial" panose="020B0604020202020204" pitchFamily="34" charset="0"/>
                <a:ea typeface="宋体" panose="02010600030101010101" pitchFamily="2" charset="-122"/>
              </a:rPr>
              <a:t>8V</a:t>
            </a:r>
            <a:r>
              <a:rPr lang="zh-CN" altLang="en-US" sz="2400" b="1" dirty="0">
                <a:latin typeface="Arial" panose="020B0604020202020204" pitchFamily="34" charset="0"/>
                <a:ea typeface="宋体" panose="02010600030101010101" pitchFamily="2" charset="-122"/>
              </a:rPr>
              <a:t>与－</a:t>
            </a:r>
            <a:r>
              <a:rPr lang="en-US" altLang="zh-CN" sz="2400" b="1" dirty="0">
                <a:latin typeface="Arial" panose="020B0604020202020204" pitchFamily="34" charset="0"/>
                <a:ea typeface="宋体" panose="02010600030101010101" pitchFamily="2" charset="-122"/>
              </a:rPr>
              <a:t>18V</a:t>
            </a:r>
            <a:r>
              <a:rPr lang="zh-CN" altLang="en-US" sz="2400" b="1" dirty="0">
                <a:latin typeface="Arial" panose="020B0604020202020204" pitchFamily="34" charset="0"/>
                <a:ea typeface="宋体" panose="02010600030101010101" pitchFamily="2" charset="-122"/>
              </a:rPr>
              <a:t>电源紧排在一起，又没有保护措施，一旦插入操作有误，使＋</a:t>
            </a:r>
            <a:r>
              <a:rPr lang="en-US" altLang="zh-CN" sz="2400" b="1" dirty="0">
                <a:latin typeface="Arial" panose="020B0604020202020204" pitchFamily="34" charset="0"/>
                <a:ea typeface="宋体" panose="02010600030101010101" pitchFamily="2" charset="-122"/>
              </a:rPr>
              <a:t>8V</a:t>
            </a:r>
            <a:r>
              <a:rPr lang="zh-CN" altLang="en-US" sz="2400" b="1" dirty="0">
                <a:latin typeface="Arial" panose="020B0604020202020204" pitchFamily="34" charset="0"/>
                <a:ea typeface="宋体" panose="02010600030101010101" pitchFamily="2" charset="-122"/>
              </a:rPr>
              <a:t>与－</a:t>
            </a:r>
            <a:r>
              <a:rPr lang="en-US" altLang="zh-CN" sz="2400" b="1" dirty="0">
                <a:latin typeface="Arial" panose="020B0604020202020204" pitchFamily="34" charset="0"/>
                <a:ea typeface="宋体" panose="02010600030101010101" pitchFamily="2" charset="-122"/>
              </a:rPr>
              <a:t>18V</a:t>
            </a:r>
            <a:r>
              <a:rPr lang="zh-CN" altLang="en-US" sz="2400" b="1" dirty="0">
                <a:latin typeface="Arial" panose="020B0604020202020204" pitchFamily="34" charset="0"/>
                <a:ea typeface="宋体" panose="02010600030101010101" pitchFamily="2" charset="-122"/>
              </a:rPr>
              <a:t>相碰，轻则损坏电压调整器，重则使接到＋</a:t>
            </a:r>
            <a:r>
              <a:rPr lang="en-US" altLang="zh-CN" sz="2400" b="1" dirty="0">
                <a:latin typeface="Arial" panose="020B0604020202020204" pitchFamily="34" charset="0"/>
                <a:ea typeface="宋体" panose="02010600030101010101" pitchFamily="2" charset="-122"/>
              </a:rPr>
              <a:t>5V</a:t>
            </a:r>
            <a:r>
              <a:rPr lang="zh-CN" altLang="en-US" sz="2400" b="1" dirty="0">
                <a:latin typeface="Arial" panose="020B0604020202020204" pitchFamily="34" charset="0"/>
                <a:ea typeface="宋体" panose="02010600030101010101" pitchFamily="2" charset="-122"/>
              </a:rPr>
              <a:t>上的所有集成电路报废。没有总线仲裁机构，因此不适于多处理器系统。这种总线目前已很少有人使用。</a:t>
            </a:r>
            <a:r>
              <a:rPr lang="zh-CN" altLang="en-US" dirty="0">
                <a:latin typeface="Arial" panose="020B0604020202020204" pitchFamily="34"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blinds(horizontal)">
                                      <p:cBhvr>
                                        <p:cTn id="7" dur="500"/>
                                        <p:tgtEl>
                                          <p:spTgt spid="134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4147">
                                            <p:txEl>
                                              <p:pRg st="1" end="1"/>
                                            </p:txEl>
                                          </p:spTgt>
                                        </p:tgtEl>
                                        <p:attrNameLst>
                                          <p:attrName>style.visibility</p:attrName>
                                        </p:attrNameLst>
                                      </p:cBhvr>
                                      <p:to>
                                        <p:strVal val="visible"/>
                                      </p:to>
                                    </p:set>
                                    <p:animEffect transition="in" filter="blinds(horizontal)">
                                      <p:cBhvr>
                                        <p:cTn id="12" dur="500"/>
                                        <p:tgtEl>
                                          <p:spTgt spid="134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4147">
                                            <p:txEl>
                                              <p:pRg st="2" end="2"/>
                                            </p:txEl>
                                          </p:spTgt>
                                        </p:tgtEl>
                                        <p:attrNameLst>
                                          <p:attrName>style.visibility</p:attrName>
                                        </p:attrNameLst>
                                      </p:cBhvr>
                                      <p:to>
                                        <p:strVal val="visible"/>
                                      </p:to>
                                    </p:set>
                                    <p:animEffect transition="in" filter="blinds(horizontal)">
                                      <p:cBhvr>
                                        <p:cTn id="17" dur="500"/>
                                        <p:tgtEl>
                                          <p:spTgt spid="134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4147">
                                            <p:txEl>
                                              <p:pRg st="3" end="3"/>
                                            </p:txEl>
                                          </p:spTgt>
                                        </p:tgtEl>
                                        <p:attrNameLst>
                                          <p:attrName>style.visibility</p:attrName>
                                        </p:attrNameLst>
                                      </p:cBhvr>
                                      <p:to>
                                        <p:strVal val="visible"/>
                                      </p:to>
                                    </p:set>
                                    <p:animEffect transition="in" filter="blinds(horizontal)">
                                      <p:cBhvr>
                                        <p:cTn id="22" dur="500"/>
                                        <p:tgtEl>
                                          <p:spTgt spid="134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4147">
                                            <p:txEl>
                                              <p:pRg st="4" end="4"/>
                                            </p:txEl>
                                          </p:spTgt>
                                        </p:tgtEl>
                                        <p:attrNameLst>
                                          <p:attrName>style.visibility</p:attrName>
                                        </p:attrNameLst>
                                      </p:cBhvr>
                                      <p:to>
                                        <p:strVal val="visible"/>
                                      </p:to>
                                    </p:set>
                                    <p:animEffect transition="in" filter="blinds(horizontal)">
                                      <p:cBhvr>
                                        <p:cTn id="27" dur="500"/>
                                        <p:tgtEl>
                                          <p:spTgt spid="134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4147">
                                            <p:txEl>
                                              <p:pRg st="5" end="5"/>
                                            </p:txEl>
                                          </p:spTgt>
                                        </p:tgtEl>
                                        <p:attrNameLst>
                                          <p:attrName>style.visibility</p:attrName>
                                        </p:attrNameLst>
                                      </p:cBhvr>
                                      <p:to>
                                        <p:strVal val="visible"/>
                                      </p:to>
                                    </p:set>
                                    <p:animEffect transition="in" filter="blinds(horizontal)">
                                      <p:cBhvr>
                                        <p:cTn id="32" dur="500"/>
                                        <p:tgtEl>
                                          <p:spTgt spid="134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34147">
                                            <p:txEl>
                                              <p:pRg st="6" end="6"/>
                                            </p:txEl>
                                          </p:spTgt>
                                        </p:tgtEl>
                                        <p:attrNameLst>
                                          <p:attrName>style.visibility</p:attrName>
                                        </p:attrNameLst>
                                      </p:cBhvr>
                                      <p:to>
                                        <p:strVal val="visible"/>
                                      </p:to>
                                    </p:set>
                                    <p:animEffect transition="in" filter="blinds(horizontal)">
                                      <p:cBhvr>
                                        <p:cTn id="37" dur="500"/>
                                        <p:tgtEl>
                                          <p:spTgt spid="134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34147">
                                            <p:txEl>
                                              <p:pRg st="7" end="7"/>
                                            </p:txEl>
                                          </p:spTgt>
                                        </p:tgtEl>
                                        <p:attrNameLst>
                                          <p:attrName>style.visibility</p:attrName>
                                        </p:attrNameLst>
                                      </p:cBhvr>
                                      <p:to>
                                        <p:strVal val="visible"/>
                                      </p:to>
                                    </p:set>
                                    <p:animEffect transition="in" filter="blinds(horizontal)">
                                      <p:cBhvr>
                                        <p:cTn id="42" dur="500"/>
                                        <p:tgtEl>
                                          <p:spTgt spid="134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p:nvPr/>
        </p:nvSpPr>
        <p:spPr>
          <a:xfrm>
            <a:off x="228600" y="381000"/>
            <a:ext cx="8915400" cy="6184900"/>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2</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IBM PC</a:t>
            </a:r>
            <a:r>
              <a:rPr lang="zh-CN" altLang="en-US" sz="3600" b="1" dirty="0">
                <a:latin typeface="Arial" panose="020B0604020202020204" pitchFamily="34" charset="0"/>
                <a:ea typeface="宋体" panose="02010600030101010101" pitchFamily="2" charset="-122"/>
              </a:rPr>
              <a:t>总线和</a:t>
            </a:r>
            <a:r>
              <a:rPr lang="en-US" altLang="zh-CN" sz="3600" b="1" dirty="0">
                <a:latin typeface="Arial" panose="020B0604020202020204" pitchFamily="34" charset="0"/>
                <a:ea typeface="宋体" panose="02010600030101010101" pitchFamily="2" charset="-122"/>
              </a:rPr>
              <a:t>ISA</a:t>
            </a:r>
            <a:r>
              <a:rPr lang="zh-CN" altLang="en-US" sz="3600" b="1" dirty="0">
                <a:latin typeface="Arial" panose="020B0604020202020204" pitchFamily="34" charset="0"/>
                <a:ea typeface="宋体" panose="02010600030101010101" pitchFamily="2" charset="-122"/>
              </a:rPr>
              <a:t>总线</a:t>
            </a:r>
            <a:r>
              <a:rPr lang="zh-CN" altLang="en-US" b="1"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a:p>
            <a:pPr>
              <a:buClrTx/>
              <a:buFontTx/>
            </a:pPr>
            <a:r>
              <a:rPr lang="zh-CN" altLang="en-US"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IBM PC</a:t>
            </a:r>
            <a:r>
              <a:rPr lang="zh-CN" altLang="en-US" sz="2400" b="1" dirty="0">
                <a:latin typeface="Arial" panose="020B0604020202020204" pitchFamily="34" charset="0"/>
                <a:ea typeface="宋体" panose="02010600030101010101" pitchFamily="2" charset="-122"/>
              </a:rPr>
              <a:t>总线是</a:t>
            </a:r>
            <a:r>
              <a:rPr lang="en-US" altLang="zh-CN" sz="2400" b="1" dirty="0">
                <a:latin typeface="Arial" panose="020B0604020202020204" pitchFamily="34" charset="0"/>
                <a:ea typeface="宋体" panose="02010600030101010101" pitchFamily="2" charset="-122"/>
              </a:rPr>
              <a:t>IBM PC/XT</a:t>
            </a:r>
            <a:r>
              <a:rPr lang="zh-CN" altLang="en-US" sz="2400" b="1" dirty="0">
                <a:latin typeface="Arial" panose="020B0604020202020204" pitchFamily="34" charset="0"/>
                <a:ea typeface="宋体" panose="02010600030101010101" pitchFamily="2" charset="-122"/>
              </a:rPr>
              <a:t>个人计算机采用的微型机总线。它是针对</a:t>
            </a:r>
            <a:r>
              <a:rPr lang="en-US" altLang="zh-CN" sz="2400" b="1" dirty="0">
                <a:latin typeface="Arial" panose="020B0604020202020204" pitchFamily="34" charset="0"/>
                <a:ea typeface="宋体" panose="02010600030101010101" pitchFamily="2" charset="-122"/>
              </a:rPr>
              <a:t>Intel 8088</a:t>
            </a:r>
            <a:r>
              <a:rPr lang="zh-CN" altLang="en-US" sz="2400" b="1" dirty="0">
                <a:latin typeface="Arial" panose="020B0604020202020204" pitchFamily="34" charset="0"/>
                <a:ea typeface="宋体" panose="02010600030101010101" pitchFamily="2" charset="-122"/>
              </a:rPr>
              <a:t>微处理器设计的，有</a:t>
            </a:r>
            <a:r>
              <a:rPr lang="en-US" altLang="zh-CN" sz="2400" b="1" dirty="0">
                <a:latin typeface="Arial" panose="020B0604020202020204" pitchFamily="34" charset="0"/>
                <a:ea typeface="宋体" panose="02010600030101010101" pitchFamily="2" charset="-122"/>
              </a:rPr>
              <a:t>62</a:t>
            </a:r>
            <a:r>
              <a:rPr lang="zh-CN" altLang="en-US" sz="2400" b="1" dirty="0">
                <a:latin typeface="Arial" panose="020B0604020202020204" pitchFamily="34" charset="0"/>
                <a:ea typeface="宋体" panose="02010600030101010101" pitchFamily="2" charset="-122"/>
              </a:rPr>
              <a:t>条信号线，以适应</a:t>
            </a:r>
            <a:r>
              <a:rPr lang="en-US" altLang="zh-CN" sz="2400" b="1" dirty="0">
                <a:latin typeface="Arial" panose="020B0604020202020204" pitchFamily="34" charset="0"/>
                <a:ea typeface="宋体" panose="02010600030101010101" pitchFamily="2" charset="-122"/>
              </a:rPr>
              <a:t>8088</a:t>
            </a:r>
            <a:r>
              <a:rPr lang="zh-CN" altLang="en-US" sz="2400" b="1" dirty="0">
                <a:latin typeface="Arial" panose="020B0604020202020204" pitchFamily="34" charset="0"/>
                <a:ea typeface="宋体" panose="02010600030101010101" pitchFamily="2" charset="-122"/>
              </a:rPr>
              <a:t>的</a:t>
            </a:r>
            <a:r>
              <a:rPr lang="en-US" altLang="zh-CN" sz="2400" b="1" dirty="0">
                <a:latin typeface="Arial" panose="020B0604020202020204" pitchFamily="34" charset="0"/>
                <a:ea typeface="宋体" panose="02010600030101010101" pitchFamily="2" charset="-122"/>
              </a:rPr>
              <a:t>8</a:t>
            </a:r>
            <a:r>
              <a:rPr lang="zh-CN" altLang="en-US" sz="2400" b="1" dirty="0">
                <a:latin typeface="Arial" panose="020B0604020202020204" pitchFamily="34" charset="0"/>
                <a:ea typeface="宋体" panose="02010600030101010101" pitchFamily="2" charset="-122"/>
              </a:rPr>
              <a:t>位数据线和</a:t>
            </a:r>
            <a:r>
              <a:rPr lang="en-US" altLang="zh-CN" sz="2400" b="1" dirty="0">
                <a:latin typeface="Arial" panose="020B0604020202020204" pitchFamily="34" charset="0"/>
                <a:ea typeface="宋体" panose="02010600030101010101" pitchFamily="2" charset="-122"/>
              </a:rPr>
              <a:t>20</a:t>
            </a:r>
            <a:r>
              <a:rPr lang="zh-CN" altLang="en-US" sz="2400" b="1" dirty="0">
                <a:latin typeface="Arial" panose="020B0604020202020204" pitchFamily="34" charset="0"/>
                <a:ea typeface="宋体" panose="02010600030101010101" pitchFamily="2" charset="-122"/>
              </a:rPr>
              <a:t>位地址线。</a:t>
            </a:r>
          </a:p>
          <a:p>
            <a:pPr>
              <a:buClrTx/>
              <a:buFontTx/>
            </a:pPr>
            <a:r>
              <a:rPr lang="zh-CN" altLang="en-US" sz="2400" b="1" dirty="0">
                <a:latin typeface="Arial" panose="020B0604020202020204" pitchFamily="34" charset="0"/>
                <a:ea typeface="宋体" panose="02010600030101010101" pitchFamily="2" charset="-122"/>
              </a:rPr>
              <a:t>      为了和</a:t>
            </a:r>
            <a:r>
              <a:rPr lang="en-US" altLang="zh-CN" sz="2400" b="1" dirty="0">
                <a:latin typeface="Arial" panose="020B0604020202020204" pitchFamily="34" charset="0"/>
                <a:ea typeface="宋体" panose="02010600030101010101" pitchFamily="2" charset="-122"/>
              </a:rPr>
              <a:t>Inte1 80286</a:t>
            </a:r>
            <a:r>
              <a:rPr lang="zh-CN" altLang="en-US" sz="2400" b="1" dirty="0">
                <a:latin typeface="Arial" panose="020B0604020202020204" pitchFamily="34" charset="0"/>
                <a:ea typeface="宋体" panose="02010600030101010101" pitchFamily="2" charset="-122"/>
              </a:rPr>
              <a:t>等高性能</a:t>
            </a:r>
            <a:r>
              <a:rPr lang="en-US" altLang="zh-CN" sz="2400" b="1" dirty="0">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位微处理器兼容，</a:t>
            </a:r>
            <a:r>
              <a:rPr lang="en-US" altLang="zh-CN" sz="2400" b="1" dirty="0">
                <a:latin typeface="Arial" panose="020B0604020202020204" pitchFamily="34" charset="0"/>
                <a:ea typeface="宋体" panose="02010600030101010101" pitchFamily="2" charset="-122"/>
              </a:rPr>
              <a:t>IBM</a:t>
            </a:r>
            <a:r>
              <a:rPr lang="zh-CN" altLang="en-US" sz="2400" b="1" dirty="0">
                <a:latin typeface="Arial" panose="020B0604020202020204" pitchFamily="34" charset="0"/>
                <a:ea typeface="宋体" panose="02010600030101010101" pitchFamily="2" charset="-122"/>
              </a:rPr>
              <a:t>公司在</a:t>
            </a:r>
            <a:r>
              <a:rPr lang="en-US" altLang="zh-CN" sz="2400" b="1" dirty="0">
                <a:latin typeface="Arial" panose="020B0604020202020204" pitchFamily="34" charset="0"/>
                <a:ea typeface="宋体" panose="02010600030101010101" pitchFamily="2" charset="-122"/>
              </a:rPr>
              <a:t>PC</a:t>
            </a:r>
            <a:r>
              <a:rPr lang="zh-CN" altLang="en-US" sz="2400" b="1" dirty="0">
                <a:latin typeface="Arial" panose="020B0604020202020204" pitchFamily="34" charset="0"/>
                <a:ea typeface="宋体" panose="02010600030101010101" pitchFamily="2" charset="-122"/>
              </a:rPr>
              <a:t>总线基础上增加了一个</a:t>
            </a:r>
            <a:r>
              <a:rPr lang="en-US" altLang="zh-CN" sz="2400" b="1" dirty="0">
                <a:latin typeface="Arial" panose="020B0604020202020204" pitchFamily="34" charset="0"/>
                <a:ea typeface="宋体" panose="02010600030101010101" pitchFamily="2" charset="-122"/>
              </a:rPr>
              <a:t>36</a:t>
            </a:r>
            <a:r>
              <a:rPr lang="zh-CN" altLang="en-US" sz="2400" b="1" dirty="0">
                <a:latin typeface="Arial" panose="020B0604020202020204" pitchFamily="34" charset="0"/>
                <a:ea typeface="宋体" panose="02010600030101010101" pitchFamily="2" charset="-122"/>
              </a:rPr>
              <a:t>引脚的</a:t>
            </a:r>
            <a:r>
              <a:rPr lang="en-US" altLang="zh-CN" sz="2400" b="1" dirty="0">
                <a:latin typeface="Arial" panose="020B0604020202020204" pitchFamily="34" charset="0"/>
                <a:ea typeface="宋体" panose="02010600030101010101" pitchFamily="2" charset="-122"/>
              </a:rPr>
              <a:t>AT</a:t>
            </a:r>
            <a:r>
              <a:rPr lang="zh-CN" altLang="en-US" sz="2400" b="1" dirty="0">
                <a:latin typeface="Arial" panose="020B0604020202020204" pitchFamily="34" charset="0"/>
                <a:ea typeface="宋体" panose="02010600030101010101" pitchFamily="2" charset="-122"/>
              </a:rPr>
              <a:t>扩展插座而形成</a:t>
            </a:r>
            <a:r>
              <a:rPr lang="en-US" altLang="zh-CN" sz="2400" b="1" dirty="0">
                <a:latin typeface="Arial" panose="020B0604020202020204" pitchFamily="34" charset="0"/>
                <a:ea typeface="宋体" panose="02010600030101010101" pitchFamily="2" charset="-122"/>
              </a:rPr>
              <a:t>AT</a:t>
            </a:r>
            <a:r>
              <a:rPr lang="zh-CN" altLang="en-US" sz="2400" b="1" dirty="0">
                <a:latin typeface="Arial" panose="020B0604020202020204" pitchFamily="34" charset="0"/>
                <a:ea typeface="宋体" panose="02010600030101010101" pitchFamily="2" charset="-122"/>
              </a:rPr>
              <a:t>总线。在</a:t>
            </a:r>
            <a:r>
              <a:rPr lang="en-US" altLang="zh-CN" sz="2400" b="1" dirty="0">
                <a:latin typeface="Arial" panose="020B0604020202020204" pitchFamily="34" charset="0"/>
                <a:ea typeface="宋体" panose="02010600030101010101" pitchFamily="2" charset="-122"/>
              </a:rPr>
              <a:t>IBMPC/AT</a:t>
            </a:r>
            <a:r>
              <a:rPr lang="zh-CN" altLang="en-US" sz="2400" b="1" dirty="0">
                <a:latin typeface="Arial" panose="020B0604020202020204" pitchFamily="34" charset="0"/>
                <a:ea typeface="宋体" panose="02010600030101010101" pitchFamily="2" charset="-122"/>
              </a:rPr>
              <a:t>及其兼容机的机箱中，通常在母板上分别设置几个</a:t>
            </a:r>
            <a:r>
              <a:rPr lang="en-US" altLang="zh-CN" sz="2400" b="1" dirty="0">
                <a:latin typeface="Arial" panose="020B0604020202020204" pitchFamily="34" charset="0"/>
                <a:ea typeface="宋体" panose="02010600030101010101" pitchFamily="2" charset="-122"/>
              </a:rPr>
              <a:t>AT</a:t>
            </a:r>
            <a:r>
              <a:rPr lang="zh-CN" altLang="en-US" sz="2400" b="1" dirty="0">
                <a:latin typeface="Arial" panose="020B0604020202020204" pitchFamily="34" charset="0"/>
                <a:ea typeface="宋体" panose="02010600030101010101" pitchFamily="2" charset="-122"/>
              </a:rPr>
              <a:t>插槽和</a:t>
            </a:r>
            <a:r>
              <a:rPr lang="en-US" altLang="zh-CN" sz="2400" b="1" dirty="0">
                <a:latin typeface="Arial" panose="020B0604020202020204" pitchFamily="34" charset="0"/>
                <a:ea typeface="宋体" panose="02010600030101010101" pitchFamily="2" charset="-122"/>
              </a:rPr>
              <a:t>PC</a:t>
            </a:r>
            <a:r>
              <a:rPr lang="zh-CN" altLang="en-US" sz="2400" b="1" dirty="0">
                <a:latin typeface="Arial" panose="020B0604020202020204" pitchFamily="34" charset="0"/>
                <a:ea typeface="宋体" panose="02010600030101010101" pitchFamily="2" charset="-122"/>
              </a:rPr>
              <a:t>插槽，这种结构也称之为</a:t>
            </a:r>
            <a:r>
              <a:rPr lang="en-US" altLang="zh-CN" sz="2400" b="1" dirty="0">
                <a:latin typeface="Arial" panose="020B0604020202020204" pitchFamily="34" charset="0"/>
                <a:ea typeface="宋体" panose="02010600030101010101" pitchFamily="2" charset="-122"/>
              </a:rPr>
              <a:t>IBM</a:t>
            </a:r>
            <a:r>
              <a:rPr lang="zh-CN" altLang="en-US" sz="2400" b="1" dirty="0">
                <a:latin typeface="Arial" panose="020B0604020202020204" pitchFamily="34" charset="0"/>
                <a:ea typeface="宋体" panose="02010600030101010101" pitchFamily="2" charset="-122"/>
              </a:rPr>
              <a:t>公司的</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结构</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即工业标准结构</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IBM PC/AT</a:t>
            </a:r>
            <a:r>
              <a:rPr lang="zh-CN" altLang="en-US" sz="2400" b="1" dirty="0">
                <a:latin typeface="Arial" panose="020B0604020202020204" pitchFamily="34" charset="0"/>
                <a:ea typeface="宋体" panose="02010600030101010101" pitchFamily="2" charset="-122"/>
              </a:rPr>
              <a:t>总线也称为</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总线。</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是将微处理器芯片总线经缓冲直接映射到系统总线上，也是一种原始的总线设计。并且，</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总线没有支持总线仲裁的硬件逻辑，所以不支持多主设备系统。</a:t>
            </a:r>
          </a:p>
          <a:p>
            <a:pPr>
              <a:buClrTx/>
              <a:buFontTx/>
            </a:pPr>
            <a:r>
              <a:rPr lang="zh-CN" altLang="en-US" sz="2400" b="1" dirty="0">
                <a:latin typeface="Arial" panose="020B0604020202020204" pitchFamily="34" charset="0"/>
                <a:ea typeface="宋体" panose="02010600030101010101" pitchFamily="2" charset="-122"/>
              </a:rPr>
              <a:t>       现在，</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总线仍然被使用，特别是在工控机中。但在这种微机系统中，为了发挥</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位微处理器的性能，往往把主板上的存储器直接连到</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的芯片总线上，而</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总线仅作为扩展</a:t>
            </a:r>
            <a:r>
              <a:rPr lang="en-US" altLang="zh-CN" sz="2400" b="1" dirty="0">
                <a:latin typeface="Arial" panose="020B0604020202020204" pitchFamily="34" charset="0"/>
                <a:ea typeface="宋体" panose="02010600030101010101" pitchFamily="2" charset="-122"/>
              </a:rPr>
              <a:t>I/O</a:t>
            </a:r>
            <a:r>
              <a:rPr lang="zh-CN" altLang="en-US" sz="2400" b="1" dirty="0">
                <a:latin typeface="Arial" panose="020B0604020202020204" pitchFamily="34" charset="0"/>
                <a:ea typeface="宋体" panose="02010600030101010101" pitchFamily="2" charset="-122"/>
              </a:rPr>
              <a:t>模块的总线。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170">
                                            <p:txEl>
                                              <p:pRg st="0" end="0"/>
                                            </p:txEl>
                                          </p:spTgt>
                                        </p:tgtEl>
                                        <p:attrNameLst>
                                          <p:attrName>style.visibility</p:attrName>
                                        </p:attrNameLst>
                                      </p:cBhvr>
                                      <p:to>
                                        <p:strVal val="visible"/>
                                      </p:to>
                                    </p:set>
                                    <p:animEffect transition="in" filter="blinds(horizontal)">
                                      <p:cBhvr>
                                        <p:cTn id="7" dur="500"/>
                                        <p:tgtEl>
                                          <p:spTgt spid="1351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5170">
                                            <p:txEl>
                                              <p:pRg st="1" end="1"/>
                                            </p:txEl>
                                          </p:spTgt>
                                        </p:tgtEl>
                                        <p:attrNameLst>
                                          <p:attrName>style.visibility</p:attrName>
                                        </p:attrNameLst>
                                      </p:cBhvr>
                                      <p:to>
                                        <p:strVal val="visible"/>
                                      </p:to>
                                    </p:set>
                                    <p:animEffect transition="in" filter="blinds(horizontal)">
                                      <p:cBhvr>
                                        <p:cTn id="12" dur="500"/>
                                        <p:tgtEl>
                                          <p:spTgt spid="1351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5170">
                                            <p:txEl>
                                              <p:pRg st="2" end="2"/>
                                            </p:txEl>
                                          </p:spTgt>
                                        </p:tgtEl>
                                        <p:attrNameLst>
                                          <p:attrName>style.visibility</p:attrName>
                                        </p:attrNameLst>
                                      </p:cBhvr>
                                      <p:to>
                                        <p:strVal val="visible"/>
                                      </p:to>
                                    </p:set>
                                    <p:animEffect transition="in" filter="blinds(horizontal)">
                                      <p:cBhvr>
                                        <p:cTn id="17" dur="500"/>
                                        <p:tgtEl>
                                          <p:spTgt spid="1351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5170">
                                            <p:txEl>
                                              <p:pRg st="3" end="3"/>
                                            </p:txEl>
                                          </p:spTgt>
                                        </p:tgtEl>
                                        <p:attrNameLst>
                                          <p:attrName>style.visibility</p:attrName>
                                        </p:attrNameLst>
                                      </p:cBhvr>
                                      <p:to>
                                        <p:strVal val="visible"/>
                                      </p:to>
                                    </p:set>
                                    <p:animEffect transition="in" filter="blinds(horizontal)">
                                      <p:cBhvr>
                                        <p:cTn id="22" dur="500"/>
                                        <p:tgtEl>
                                          <p:spTgt spid="1351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5170">
                                            <p:txEl>
                                              <p:pRg st="4" end="4"/>
                                            </p:txEl>
                                          </p:spTgt>
                                        </p:tgtEl>
                                        <p:attrNameLst>
                                          <p:attrName>style.visibility</p:attrName>
                                        </p:attrNameLst>
                                      </p:cBhvr>
                                      <p:to>
                                        <p:strVal val="visible"/>
                                      </p:to>
                                    </p:set>
                                    <p:animEffect transition="in" filter="blinds(horizontal)">
                                      <p:cBhvr>
                                        <p:cTn id="27" dur="500"/>
                                        <p:tgtEl>
                                          <p:spTgt spid="1351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p:nvPr/>
        </p:nvSpPr>
        <p:spPr>
          <a:xfrm>
            <a:off x="0" y="0"/>
            <a:ext cx="9144000" cy="6858000"/>
          </a:xfrm>
          <a:prstGeom prst="rect">
            <a:avLst/>
          </a:prstGeom>
          <a:solidFill>
            <a:srgbClr val="FFFFFF"/>
          </a:solidFill>
          <a:ln w="6350" cap="flat" cmpd="sng">
            <a:solidFill>
              <a:srgbClr val="0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75459" name="Rectangle 3"/>
          <p:cNvSpPr/>
          <p:nvPr/>
        </p:nvSpPr>
        <p:spPr>
          <a:xfrm>
            <a:off x="0" y="0"/>
            <a:ext cx="9144000" cy="6858000"/>
          </a:xfrm>
          <a:prstGeom prst="rect">
            <a:avLst/>
          </a:prstGeom>
          <a:noFill/>
          <a:ln w="25400" cap="rnd" cmpd="sng">
            <a:solidFill>
              <a:srgbClr val="008000"/>
            </a:solidFill>
            <a:prstDash val="sysDot"/>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75460" name="Text Box 4"/>
          <p:cNvSpPr txBox="1"/>
          <p:nvPr/>
        </p:nvSpPr>
        <p:spPr>
          <a:xfrm>
            <a:off x="284163" y="198438"/>
            <a:ext cx="3373437" cy="6394450"/>
          </a:xfrm>
          <a:prstGeom prst="rect">
            <a:avLst/>
          </a:prstGeom>
          <a:noFill/>
          <a:ln w="9525">
            <a:noFill/>
          </a:ln>
        </p:spPr>
        <p:txBody>
          <a:bodyPr anchor="t" anchorCtr="0"/>
          <a:lstStyle/>
          <a:p>
            <a:pPr eaLnBrk="0" hangingPunct="0">
              <a:lnSpc>
                <a:spcPct val="96000"/>
              </a:lnSpc>
            </a:pPr>
            <a:r>
              <a:rPr lang="en-US" altLang="zh-CN" sz="900" b="1" dirty="0">
                <a:latin typeface="Times New Roman" panose="02020603050405020304" pitchFamily="18" charset="0"/>
                <a:ea typeface="宋体" panose="02010600030101010101" pitchFamily="2" charset="-122"/>
              </a:rPr>
              <a:t>                </a:t>
            </a:r>
            <a:r>
              <a:rPr lang="en-US" altLang="zh-CN" sz="1400" b="1" dirty="0">
                <a:latin typeface="Times New Roman" panose="02020603050405020304" pitchFamily="18" charset="0"/>
                <a:ea typeface="宋体" panose="02010600030101010101" pitchFamily="2" charset="-122"/>
              </a:rPr>
              <a:t>GND                              I/O CH CK                                              RESET DRV                           D7</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+5V                              D6</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IRQ2                             D5</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t>
            </a:r>
            <a:r>
              <a:rPr lang="en-US" altLang="zh-CN" sz="1400" b="1" dirty="0">
                <a:latin typeface="Lucida Console" panose="020B0609040504020204" pitchFamily="49" charset="0"/>
                <a:ea typeface="宋体" panose="02010600030101010101" pitchFamily="2" charset="-122"/>
              </a:rPr>
              <a:t>-</a:t>
            </a:r>
            <a:r>
              <a:rPr lang="en-US" altLang="zh-CN" sz="1400" b="1" dirty="0">
                <a:latin typeface="Times New Roman" panose="02020603050405020304" pitchFamily="18" charset="0"/>
                <a:ea typeface="宋体" panose="02010600030101010101" pitchFamily="2" charset="-122"/>
              </a:rPr>
              <a:t>5V                              D4   </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DRQ2                             D3</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t>
            </a:r>
            <a:r>
              <a:rPr lang="en-US" altLang="zh-CN" sz="1400" b="1" dirty="0">
                <a:latin typeface="Lucida Console" panose="020B0609040504020204" pitchFamily="49" charset="0"/>
                <a:ea typeface="宋体" panose="02010600030101010101" pitchFamily="2" charset="-122"/>
              </a:rPr>
              <a:t>-</a:t>
            </a:r>
            <a:r>
              <a:rPr lang="en-US" altLang="zh-CN" sz="1400" b="1" dirty="0">
                <a:latin typeface="Times New Roman" panose="02020603050405020304" pitchFamily="18" charset="0"/>
                <a:ea typeface="宋体" panose="02010600030101010101" pitchFamily="2" charset="-122"/>
              </a:rPr>
              <a:t>12V                                D2</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CARDSLCTD                        D1</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+12V                               D0</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GND                               I/O CH RDY</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MEMW                            AEN</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MEMR                             A19</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IOW                              A18</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IOR                               A17</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DACK3                             A16</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DRQ3                              A15</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DACK1                             A14      </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DRQ1                              A13</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DACK0                              A12</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CLOCK                             A11</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IRQ7                              A10</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IRQ6                              A9</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IRQ5                              A8</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IRQ4                              A7</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IRQ3                             A6</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DACK2                             A5</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T/C                               A4</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ALE                             A3</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+5V                             A2</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OSC                            A1</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GND                            A0</a:t>
            </a:r>
          </a:p>
          <a:p>
            <a:pPr algn="ctr" eaLnBrk="0" hangingPunct="0">
              <a:spcBef>
                <a:spcPct val="60000"/>
              </a:spcBef>
            </a:pPr>
            <a:r>
              <a:rPr lang="en-US" altLang="zh-CN" sz="1200" b="1" dirty="0">
                <a:latin typeface="Times New Roman" panose="02020603050405020304" pitchFamily="18" charset="0"/>
                <a:ea typeface="宋体" panose="02010600030101010101" pitchFamily="2" charset="-122"/>
              </a:rPr>
              <a:t>    </a:t>
            </a:r>
            <a:r>
              <a:rPr lang="en-US" altLang="zh-CN" sz="1200" b="1" dirty="0">
                <a:solidFill>
                  <a:srgbClr val="FF0000"/>
                </a:solidFill>
                <a:latin typeface="Times New Roman" panose="02020603050405020304" pitchFamily="18" charset="0"/>
                <a:ea typeface="宋体" panose="02010600030101010101" pitchFamily="2" charset="-122"/>
              </a:rPr>
              <a:t>XT</a:t>
            </a:r>
            <a:r>
              <a:rPr lang="zh-CN" altLang="en-US" sz="1200" b="1" dirty="0">
                <a:solidFill>
                  <a:srgbClr val="FF0000"/>
                </a:solidFill>
                <a:latin typeface="Times New Roman" panose="02020603050405020304" pitchFamily="18" charset="0"/>
                <a:ea typeface="宋体" panose="02010600030101010101" pitchFamily="2" charset="-122"/>
              </a:rPr>
              <a:t>总线信号</a:t>
            </a:r>
          </a:p>
        </p:txBody>
      </p:sp>
      <p:sp>
        <p:nvSpPr>
          <p:cNvPr id="275461" name="Text Box 5"/>
          <p:cNvSpPr txBox="1"/>
          <p:nvPr/>
        </p:nvSpPr>
        <p:spPr>
          <a:xfrm>
            <a:off x="1524000" y="261938"/>
            <a:ext cx="971550" cy="6324600"/>
          </a:xfrm>
          <a:prstGeom prst="rect">
            <a:avLst/>
          </a:prstGeom>
          <a:solidFill>
            <a:srgbClr val="00FF00"/>
          </a:solidFill>
          <a:ln w="9525" cap="flat" cmpd="sng">
            <a:solidFill>
              <a:srgbClr val="000000"/>
            </a:solidFill>
            <a:prstDash val="solid"/>
            <a:miter/>
            <a:headEnd type="none" w="med" len="med"/>
            <a:tailEnd type="none" w="med" len="med"/>
          </a:ln>
        </p:spPr>
        <p:txBody>
          <a:bodyPr lIns="18000" rIns="18000" anchor="t" anchorCtr="0"/>
          <a:lstStyle/>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B1      A1</a:t>
            </a: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B10   A10</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t>
            </a: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B20   A20</a:t>
            </a: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B31   A31</a:t>
            </a:r>
          </a:p>
          <a:p>
            <a:pPr algn="just" eaLnBrk="0" hangingPunct="0">
              <a:lnSpc>
                <a:spcPct val="95000"/>
              </a:lnSpc>
            </a:pPr>
            <a:endParaRPr lang="en-US" altLang="zh-CN" sz="1400" b="1" dirty="0">
              <a:latin typeface="Times New Roman" panose="02020603050405020304" pitchFamily="18" charset="0"/>
              <a:ea typeface="宋体" panose="02010600030101010101" pitchFamily="2" charset="-122"/>
            </a:endParaRPr>
          </a:p>
        </p:txBody>
      </p:sp>
      <p:sp>
        <p:nvSpPr>
          <p:cNvPr id="275462" name="Line 6"/>
          <p:cNvSpPr/>
          <p:nvPr/>
        </p:nvSpPr>
        <p:spPr>
          <a:xfrm>
            <a:off x="2667000" y="233363"/>
            <a:ext cx="823913" cy="0"/>
          </a:xfrm>
          <a:prstGeom prst="line">
            <a:avLst/>
          </a:prstGeom>
          <a:ln w="9525" cap="flat" cmpd="sng">
            <a:solidFill>
              <a:schemeClr val="tx1"/>
            </a:solidFill>
            <a:prstDash val="solid"/>
            <a:round/>
            <a:headEnd type="none" w="med" len="med"/>
            <a:tailEnd type="none" w="med" len="med"/>
          </a:ln>
        </p:spPr>
      </p:sp>
      <p:sp>
        <p:nvSpPr>
          <p:cNvPr id="275463" name="Line 7"/>
          <p:cNvSpPr/>
          <p:nvPr/>
        </p:nvSpPr>
        <p:spPr>
          <a:xfrm>
            <a:off x="379413" y="1682750"/>
            <a:ext cx="1047750" cy="0"/>
          </a:xfrm>
          <a:prstGeom prst="line">
            <a:avLst/>
          </a:prstGeom>
          <a:ln w="9525" cap="flat" cmpd="sng">
            <a:solidFill>
              <a:schemeClr val="tx1"/>
            </a:solidFill>
            <a:prstDash val="solid"/>
            <a:round/>
            <a:headEnd type="none" w="med" len="med"/>
            <a:tailEnd type="none" w="med" len="med"/>
          </a:ln>
        </p:spPr>
      </p:sp>
      <p:sp>
        <p:nvSpPr>
          <p:cNvPr id="275464" name="Line 8"/>
          <p:cNvSpPr/>
          <p:nvPr/>
        </p:nvSpPr>
        <p:spPr>
          <a:xfrm>
            <a:off x="762000" y="2319338"/>
            <a:ext cx="596900" cy="0"/>
          </a:xfrm>
          <a:prstGeom prst="line">
            <a:avLst/>
          </a:prstGeom>
          <a:ln w="9525" cap="flat" cmpd="sng">
            <a:solidFill>
              <a:schemeClr val="tx1"/>
            </a:solidFill>
            <a:prstDash val="solid"/>
            <a:round/>
            <a:headEnd type="none" w="med" len="med"/>
            <a:tailEnd type="none" w="med" len="med"/>
          </a:ln>
        </p:spPr>
      </p:sp>
      <p:sp>
        <p:nvSpPr>
          <p:cNvPr id="275465" name="Line 9"/>
          <p:cNvSpPr/>
          <p:nvPr/>
        </p:nvSpPr>
        <p:spPr>
          <a:xfrm>
            <a:off x="762000" y="2511425"/>
            <a:ext cx="525463" cy="0"/>
          </a:xfrm>
          <a:prstGeom prst="line">
            <a:avLst/>
          </a:prstGeom>
          <a:ln w="9525" cap="flat" cmpd="sng">
            <a:solidFill>
              <a:schemeClr val="tx1"/>
            </a:solidFill>
            <a:prstDash val="solid"/>
            <a:round/>
            <a:headEnd type="none" w="med" len="med"/>
            <a:tailEnd type="none" w="med" len="med"/>
          </a:ln>
        </p:spPr>
      </p:sp>
      <p:sp>
        <p:nvSpPr>
          <p:cNvPr id="275466" name="Line 10"/>
          <p:cNvSpPr/>
          <p:nvPr/>
        </p:nvSpPr>
        <p:spPr>
          <a:xfrm>
            <a:off x="914400" y="2700338"/>
            <a:ext cx="374650" cy="0"/>
          </a:xfrm>
          <a:prstGeom prst="line">
            <a:avLst/>
          </a:prstGeom>
          <a:ln w="9525" cap="flat" cmpd="sng">
            <a:solidFill>
              <a:schemeClr val="tx1"/>
            </a:solidFill>
            <a:prstDash val="solid"/>
            <a:round/>
            <a:headEnd type="none" w="med" len="med"/>
            <a:tailEnd type="none" w="med" len="med"/>
          </a:ln>
        </p:spPr>
      </p:sp>
      <p:sp>
        <p:nvSpPr>
          <p:cNvPr id="275467" name="Line 11"/>
          <p:cNvSpPr/>
          <p:nvPr/>
        </p:nvSpPr>
        <p:spPr>
          <a:xfrm>
            <a:off x="914400" y="2928938"/>
            <a:ext cx="374650" cy="0"/>
          </a:xfrm>
          <a:prstGeom prst="line">
            <a:avLst/>
          </a:prstGeom>
          <a:ln w="9525" cap="flat" cmpd="sng">
            <a:solidFill>
              <a:schemeClr val="tx1"/>
            </a:solidFill>
            <a:prstDash val="solid"/>
            <a:round/>
            <a:headEnd type="none" w="med" len="med"/>
            <a:tailEnd type="none" w="med" len="med"/>
          </a:ln>
        </p:spPr>
      </p:sp>
      <p:sp>
        <p:nvSpPr>
          <p:cNvPr id="275468" name="Line 12"/>
          <p:cNvSpPr/>
          <p:nvPr/>
        </p:nvSpPr>
        <p:spPr>
          <a:xfrm flipV="1">
            <a:off x="685800" y="3119438"/>
            <a:ext cx="600075" cy="0"/>
          </a:xfrm>
          <a:prstGeom prst="line">
            <a:avLst/>
          </a:prstGeom>
          <a:ln w="9525" cap="flat" cmpd="sng">
            <a:solidFill>
              <a:schemeClr val="tx1"/>
            </a:solidFill>
            <a:prstDash val="solid"/>
            <a:round/>
            <a:headEnd type="none" w="med" len="med"/>
            <a:tailEnd type="none" w="med" len="med"/>
          </a:ln>
        </p:spPr>
      </p:sp>
      <p:sp>
        <p:nvSpPr>
          <p:cNvPr id="275469" name="Line 13"/>
          <p:cNvSpPr/>
          <p:nvPr/>
        </p:nvSpPr>
        <p:spPr>
          <a:xfrm flipV="1">
            <a:off x="685800" y="3538538"/>
            <a:ext cx="600075" cy="0"/>
          </a:xfrm>
          <a:prstGeom prst="line">
            <a:avLst/>
          </a:prstGeom>
          <a:ln w="9525" cap="flat" cmpd="sng">
            <a:solidFill>
              <a:schemeClr val="tx1"/>
            </a:solidFill>
            <a:prstDash val="solid"/>
            <a:round/>
            <a:headEnd type="none" w="med" len="med"/>
            <a:tailEnd type="none" w="med" len="med"/>
          </a:ln>
        </p:spPr>
      </p:sp>
      <p:sp>
        <p:nvSpPr>
          <p:cNvPr id="275470" name="Line 14"/>
          <p:cNvSpPr/>
          <p:nvPr/>
        </p:nvSpPr>
        <p:spPr>
          <a:xfrm flipV="1">
            <a:off x="685800" y="3919538"/>
            <a:ext cx="598488" cy="0"/>
          </a:xfrm>
          <a:prstGeom prst="line">
            <a:avLst/>
          </a:prstGeom>
          <a:ln w="9525" cap="flat" cmpd="sng">
            <a:solidFill>
              <a:schemeClr val="tx1"/>
            </a:solidFill>
            <a:prstDash val="solid"/>
            <a:round/>
            <a:headEnd type="none" w="med" len="med"/>
            <a:tailEnd type="none" w="med" len="med"/>
          </a:ln>
        </p:spPr>
      </p:sp>
      <p:sp>
        <p:nvSpPr>
          <p:cNvPr id="275471" name="Line 15"/>
          <p:cNvSpPr/>
          <p:nvPr/>
        </p:nvSpPr>
        <p:spPr>
          <a:xfrm flipV="1">
            <a:off x="762000" y="5367338"/>
            <a:ext cx="598488" cy="0"/>
          </a:xfrm>
          <a:prstGeom prst="line">
            <a:avLst/>
          </a:prstGeom>
          <a:ln w="9525" cap="flat" cmpd="sng">
            <a:solidFill>
              <a:schemeClr val="tx1"/>
            </a:solidFill>
            <a:prstDash val="solid"/>
            <a:round/>
            <a:headEnd type="none" w="med" len="med"/>
            <a:tailEnd type="none" w="med" len="med"/>
          </a:ln>
        </p:spPr>
      </p:sp>
      <p:sp>
        <p:nvSpPr>
          <p:cNvPr id="275472" name="Text Box 16"/>
          <p:cNvSpPr txBox="1"/>
          <p:nvPr/>
        </p:nvSpPr>
        <p:spPr>
          <a:xfrm>
            <a:off x="4267200" y="533400"/>
            <a:ext cx="4724400" cy="5816600"/>
          </a:xfrm>
          <a:prstGeom prst="rect">
            <a:avLst/>
          </a:prstGeom>
          <a:noFill/>
          <a:ln w="9525" cap="flat" cmpd="sng">
            <a:solidFill>
              <a:srgbClr val="0000FF"/>
            </a:solidFill>
            <a:prstDash val="solid"/>
            <a:miter/>
            <a:headEnd type="none" w="med" len="med"/>
            <a:tailEnd type="none" w="med" len="med"/>
          </a:ln>
        </p:spPr>
        <p:txBody>
          <a:bodyPr lIns="18000" tIns="10800" rIns="18000" bIns="10800" anchor="t" anchorCtr="0">
            <a:spAutoFit/>
          </a:bodyPr>
          <a:lstStyle/>
          <a:p>
            <a:pPr>
              <a:spcBef>
                <a:spcPct val="50000"/>
              </a:spcBef>
            </a:pPr>
            <a:r>
              <a:rPr lang="en-US" altLang="zh-CN" b="1" dirty="0">
                <a:solidFill>
                  <a:schemeClr val="tx2"/>
                </a:solidFill>
                <a:latin typeface="Times New Roman" panose="02020603050405020304" pitchFamily="18" charset="0"/>
                <a:ea typeface="宋体" panose="02010600030101010101" pitchFamily="2" charset="-122"/>
              </a:rPr>
              <a:t>PC/XT</a:t>
            </a:r>
            <a:r>
              <a:rPr lang="zh-CN" altLang="en-US" b="1" dirty="0">
                <a:solidFill>
                  <a:schemeClr val="tx2"/>
                </a:solidFill>
                <a:latin typeface="Times New Roman" panose="02020603050405020304" pitchFamily="18" charset="0"/>
                <a:ea typeface="宋体" panose="02010600030101010101" pitchFamily="2" charset="-122"/>
              </a:rPr>
              <a:t>总线：</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地址线</a:t>
            </a:r>
            <a:r>
              <a:rPr lang="en-US" altLang="zh-CN" b="1" dirty="0">
                <a:solidFill>
                  <a:schemeClr val="tx2"/>
                </a:solidFill>
                <a:latin typeface="Times New Roman" panose="02020603050405020304" pitchFamily="18" charset="0"/>
                <a:ea typeface="宋体" panose="02010600030101010101" pitchFamily="2" charset="-122"/>
              </a:rPr>
              <a:t>——A19~A0</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数据线</a:t>
            </a:r>
            <a:r>
              <a:rPr lang="en-US" altLang="zh-CN" b="1" dirty="0">
                <a:solidFill>
                  <a:schemeClr val="tx2"/>
                </a:solidFill>
                <a:latin typeface="Times New Roman" panose="02020603050405020304" pitchFamily="18" charset="0"/>
                <a:ea typeface="宋体" panose="02010600030101010101" pitchFamily="2" charset="-122"/>
              </a:rPr>
              <a:t>——D7~D0</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控制线</a:t>
            </a:r>
            <a:r>
              <a:rPr lang="en-US" altLang="zh-CN" b="1" dirty="0">
                <a:solidFill>
                  <a:schemeClr val="tx2"/>
                </a:solidFill>
                <a:latin typeface="Times New Roman" panose="02020603050405020304" pitchFamily="18" charset="0"/>
                <a:ea typeface="宋体" panose="02010600030101010101" pitchFamily="2" charset="-122"/>
              </a:rPr>
              <a:t>——21</a:t>
            </a:r>
            <a:r>
              <a:rPr lang="zh-CN" altLang="en-US" b="1" dirty="0">
                <a:solidFill>
                  <a:schemeClr val="tx2"/>
                </a:solidFill>
                <a:latin typeface="Times New Roman" panose="02020603050405020304" pitchFamily="18" charset="0"/>
                <a:ea typeface="宋体" panose="02010600030101010101" pitchFamily="2" charset="-122"/>
              </a:rPr>
              <a:t>根</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ALE            	</a:t>
            </a:r>
            <a:r>
              <a:rPr lang="zh-CN" altLang="en-US" b="1" dirty="0">
                <a:solidFill>
                  <a:schemeClr val="tx2"/>
                </a:solidFill>
                <a:latin typeface="Times New Roman" panose="02020603050405020304" pitchFamily="18" charset="0"/>
                <a:ea typeface="宋体" panose="02010600030101010101" pitchFamily="2" charset="-122"/>
              </a:rPr>
              <a:t>地址锁存允许</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IRQ2~IRQ7	</a:t>
            </a:r>
            <a:r>
              <a:rPr lang="zh-CN" altLang="en-US" b="1" dirty="0">
                <a:solidFill>
                  <a:schemeClr val="tx2"/>
                </a:solidFill>
                <a:latin typeface="Times New Roman" panose="02020603050405020304" pitchFamily="18" charset="0"/>
                <a:ea typeface="宋体" panose="02010600030101010101" pitchFamily="2" charset="-122"/>
              </a:rPr>
              <a:t>中断请求</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IOR		IO</a:t>
            </a:r>
            <a:r>
              <a:rPr lang="zh-CN" altLang="en-US" b="1" dirty="0">
                <a:solidFill>
                  <a:schemeClr val="tx2"/>
                </a:solidFill>
                <a:latin typeface="Times New Roman" panose="02020603050405020304" pitchFamily="18" charset="0"/>
                <a:ea typeface="宋体" panose="02010600030101010101" pitchFamily="2" charset="-122"/>
              </a:rPr>
              <a:t>读</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IOW	IO</a:t>
            </a:r>
            <a:r>
              <a:rPr lang="zh-CN" altLang="en-US" b="1" dirty="0">
                <a:solidFill>
                  <a:schemeClr val="tx2"/>
                </a:solidFill>
                <a:latin typeface="Times New Roman" panose="02020603050405020304" pitchFamily="18" charset="0"/>
                <a:ea typeface="宋体" panose="02010600030101010101" pitchFamily="2" charset="-122"/>
              </a:rPr>
              <a:t>写</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MEMR	</a:t>
            </a:r>
            <a:r>
              <a:rPr lang="zh-CN" altLang="en-US" b="1" dirty="0">
                <a:solidFill>
                  <a:schemeClr val="tx2"/>
                </a:solidFill>
                <a:latin typeface="Times New Roman" panose="02020603050405020304" pitchFamily="18" charset="0"/>
                <a:ea typeface="宋体" panose="02010600030101010101" pitchFamily="2" charset="-122"/>
              </a:rPr>
              <a:t>存储器读</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MEMW	</a:t>
            </a:r>
            <a:r>
              <a:rPr lang="zh-CN" altLang="en-US" b="1" dirty="0">
                <a:solidFill>
                  <a:schemeClr val="tx2"/>
                </a:solidFill>
                <a:latin typeface="Times New Roman" panose="02020603050405020304" pitchFamily="18" charset="0"/>
                <a:ea typeface="宋体" panose="02010600030101010101" pitchFamily="2" charset="-122"/>
              </a:rPr>
              <a:t>存储器写</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DRQ1~DRQ3	DMA</a:t>
            </a:r>
            <a:r>
              <a:rPr lang="zh-CN" altLang="en-US" b="1" dirty="0">
                <a:solidFill>
                  <a:schemeClr val="tx2"/>
                </a:solidFill>
                <a:latin typeface="Times New Roman" panose="02020603050405020304" pitchFamily="18" charset="0"/>
                <a:ea typeface="宋体" panose="02010600030101010101" pitchFamily="2" charset="-122"/>
              </a:rPr>
              <a:t>请求</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DACK3~DACK0	DMA</a:t>
            </a:r>
            <a:r>
              <a:rPr lang="zh-CN" altLang="en-US" b="1" dirty="0">
                <a:solidFill>
                  <a:schemeClr val="tx2"/>
                </a:solidFill>
                <a:latin typeface="Times New Roman" panose="02020603050405020304" pitchFamily="18" charset="0"/>
                <a:ea typeface="宋体" panose="02010600030101010101" pitchFamily="2" charset="-122"/>
              </a:rPr>
              <a:t>响应</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AEN		 DMA</a:t>
            </a:r>
            <a:r>
              <a:rPr lang="zh-CN" altLang="en-US" b="1" dirty="0">
                <a:solidFill>
                  <a:schemeClr val="tx2"/>
                </a:solidFill>
                <a:latin typeface="Times New Roman" panose="02020603050405020304" pitchFamily="18" charset="0"/>
                <a:ea typeface="宋体" panose="02010600030101010101" pitchFamily="2" charset="-122"/>
              </a:rPr>
              <a:t>地址允许</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T/C		 DMA</a:t>
            </a:r>
            <a:r>
              <a:rPr lang="zh-CN" altLang="en-US" b="1" dirty="0">
                <a:solidFill>
                  <a:schemeClr val="tx2"/>
                </a:solidFill>
                <a:latin typeface="Times New Roman" panose="02020603050405020304" pitchFamily="18" charset="0"/>
                <a:ea typeface="宋体" panose="02010600030101010101" pitchFamily="2" charset="-122"/>
              </a:rPr>
              <a:t>计数结束</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RESET DRV	</a:t>
            </a:r>
            <a:r>
              <a:rPr lang="zh-CN" altLang="en-US" b="1" dirty="0">
                <a:solidFill>
                  <a:schemeClr val="tx2"/>
                </a:solidFill>
                <a:latin typeface="Times New Roman" panose="02020603050405020304" pitchFamily="18" charset="0"/>
                <a:ea typeface="宋体" panose="02010600030101010101" pitchFamily="2" charset="-122"/>
              </a:rPr>
              <a:t>复位驱动</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状态线</a:t>
            </a:r>
            <a:r>
              <a:rPr lang="en-US" altLang="zh-CN" b="1" dirty="0">
                <a:solidFill>
                  <a:schemeClr val="tx2"/>
                </a:solidFill>
                <a:latin typeface="Times New Roman" panose="02020603050405020304" pitchFamily="18" charset="0"/>
                <a:ea typeface="宋体" panose="02010600030101010101" pitchFamily="2" charset="-122"/>
              </a:rPr>
              <a:t>——3</a:t>
            </a:r>
            <a:r>
              <a:rPr lang="zh-CN" altLang="en-US" b="1" dirty="0">
                <a:solidFill>
                  <a:schemeClr val="tx2"/>
                </a:solidFill>
                <a:latin typeface="Times New Roman" panose="02020603050405020304" pitchFamily="18" charset="0"/>
                <a:ea typeface="宋体" panose="02010600030101010101" pitchFamily="2" charset="-122"/>
              </a:rPr>
              <a:t>根</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I/O CH CK	      I/O</a:t>
            </a:r>
            <a:r>
              <a:rPr lang="zh-CN" altLang="en-US" b="1" dirty="0">
                <a:solidFill>
                  <a:schemeClr val="tx2"/>
                </a:solidFill>
                <a:latin typeface="Times New Roman" panose="02020603050405020304" pitchFamily="18" charset="0"/>
                <a:ea typeface="宋体" panose="02010600030101010101" pitchFamily="2" charset="-122"/>
              </a:rPr>
              <a:t>通道校验</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输入</a:t>
            </a:r>
            <a:r>
              <a:rPr lang="en-US" altLang="zh-CN" b="1" dirty="0">
                <a:solidFill>
                  <a:schemeClr val="tx2"/>
                </a:solidFill>
                <a:latin typeface="Times New Roman" panose="02020603050405020304" pitchFamily="18" charset="0"/>
                <a:ea typeface="宋体" panose="02010600030101010101" pitchFamily="2" charset="-122"/>
              </a:rPr>
              <a:t>,0</a:t>
            </a:r>
            <a:r>
              <a:rPr lang="zh-CN" altLang="en-US" b="1" dirty="0">
                <a:solidFill>
                  <a:schemeClr val="tx2"/>
                </a:solidFill>
                <a:latin typeface="Times New Roman" panose="02020603050405020304" pitchFamily="18" charset="0"/>
                <a:ea typeface="宋体" panose="02010600030101010101" pitchFamily="2" charset="-122"/>
              </a:rPr>
              <a:t>有错</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Times New Roman" panose="02020603050405020304" pitchFamily="18" charset="0"/>
                <a:ea typeface="宋体" panose="02010600030101010101" pitchFamily="2" charset="-122"/>
              </a:rPr>
              <a:t>I/O CH RDY      I/O</a:t>
            </a:r>
            <a:r>
              <a:rPr lang="zh-CN" altLang="en-US" b="1" dirty="0">
                <a:solidFill>
                  <a:schemeClr val="tx2"/>
                </a:solidFill>
                <a:latin typeface="Times New Roman" panose="02020603050405020304" pitchFamily="18" charset="0"/>
                <a:ea typeface="宋体" panose="02010600030101010101" pitchFamily="2" charset="-122"/>
              </a:rPr>
              <a:t>通道准备好</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输入</a:t>
            </a:r>
            <a:r>
              <a:rPr lang="en-US" altLang="zh-CN" b="1" dirty="0">
                <a:solidFill>
                  <a:schemeClr val="tx2"/>
                </a:solidFill>
                <a:latin typeface="Times New Roman" panose="02020603050405020304" pitchFamily="18" charset="0"/>
                <a:ea typeface="宋体" panose="02010600030101010101" pitchFamily="2" charset="-122"/>
              </a:rPr>
              <a:t>,TW</a:t>
            </a:r>
          </a:p>
          <a:p>
            <a:pPr>
              <a:spcBef>
                <a:spcPct val="5000"/>
              </a:spcBef>
            </a:pPr>
            <a:r>
              <a:rPr lang="en-US" altLang="zh-CN" b="1" dirty="0">
                <a:solidFill>
                  <a:schemeClr val="tx2"/>
                </a:solidFill>
                <a:latin typeface="Times New Roman" panose="02020603050405020304" pitchFamily="18" charset="0"/>
                <a:ea typeface="宋体" panose="02010600030101010101" pitchFamily="2" charset="-122"/>
              </a:rPr>
              <a:t>       CARD SLCTD    </a:t>
            </a:r>
            <a:r>
              <a:rPr lang="zh-CN" altLang="en-US" b="1" dirty="0">
                <a:solidFill>
                  <a:schemeClr val="tx2"/>
                </a:solidFill>
                <a:latin typeface="Times New Roman" panose="02020603050405020304" pitchFamily="18" charset="0"/>
                <a:ea typeface="宋体" panose="02010600030101010101" pitchFamily="2" charset="-122"/>
              </a:rPr>
              <a:t>插件板选中信号</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输入 </a:t>
            </a:r>
          </a:p>
          <a:p>
            <a:pPr>
              <a:spcBef>
                <a:spcPct val="5000"/>
              </a:spcBef>
            </a:pPr>
            <a:r>
              <a:rPr lang="zh-CN" altLang="en-US" b="1" dirty="0">
                <a:solidFill>
                  <a:schemeClr val="tx2"/>
                </a:solidFill>
                <a:latin typeface="Times New Roman" panose="02020603050405020304" pitchFamily="18" charset="0"/>
                <a:ea typeface="宋体" panose="02010600030101010101" pitchFamily="2" charset="-122"/>
              </a:rPr>
              <a:t>电源线及其它线</a:t>
            </a:r>
            <a:r>
              <a:rPr lang="en-US" altLang="zh-CN" b="1" dirty="0">
                <a:solidFill>
                  <a:schemeClr val="tx2"/>
                </a:solidFill>
                <a:latin typeface="Times New Roman" panose="02020603050405020304" pitchFamily="18" charset="0"/>
                <a:ea typeface="宋体" panose="02010600030101010101" pitchFamily="2" charset="-122"/>
              </a:rPr>
              <a:t>——10</a:t>
            </a:r>
            <a:r>
              <a:rPr lang="zh-CN" altLang="en-US" b="1" dirty="0">
                <a:solidFill>
                  <a:schemeClr val="tx2"/>
                </a:solidFill>
                <a:latin typeface="Times New Roman" panose="02020603050405020304" pitchFamily="18" charset="0"/>
                <a:ea typeface="宋体" panose="02010600030101010101" pitchFamily="2" charset="-122"/>
              </a:rPr>
              <a:t>根</a:t>
            </a:r>
          </a:p>
        </p:txBody>
      </p:sp>
      <p:sp>
        <p:nvSpPr>
          <p:cNvPr id="275473" name="Rectangle 17"/>
          <p:cNvSpPr/>
          <p:nvPr/>
        </p:nvSpPr>
        <p:spPr>
          <a:xfrm>
            <a:off x="179388" y="128588"/>
            <a:ext cx="3887787" cy="6669087"/>
          </a:xfrm>
          <a:prstGeom prst="rect">
            <a:avLst/>
          </a:prstGeom>
          <a:noFill/>
          <a:ln w="3175" cap="flat" cmpd="sng">
            <a:solidFill>
              <a:srgbClr val="8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275459"/>
                                        </p:tgtEl>
                                        <p:attrNameLst>
                                          <p:attrName>style.visibility</p:attrName>
                                        </p:attrNameLst>
                                      </p:cBhvr>
                                      <p:to>
                                        <p:strVal val="visible"/>
                                      </p:to>
                                    </p:set>
                                    <p:animEffect transition="in" filter="plus(in)">
                                      <p:cBhvr>
                                        <p:cTn id="7" dur="2000"/>
                                        <p:tgtEl>
                                          <p:spTgt spid="275459"/>
                                        </p:tgtEl>
                                      </p:cBhvr>
                                    </p:animEffect>
                                  </p:childTnLst>
                                </p:cTn>
                              </p:par>
                              <p:par>
                                <p:cTn id="8" presetID="13" presetClass="entr" presetSubtype="16" fill="hold" grpId="0" nodeType="withEffect">
                                  <p:stCondLst>
                                    <p:cond delay="0"/>
                                  </p:stCondLst>
                                  <p:childTnLst>
                                    <p:set>
                                      <p:cBhvr>
                                        <p:cTn id="9" dur="1" fill="hold">
                                          <p:stCondLst>
                                            <p:cond delay="0"/>
                                          </p:stCondLst>
                                        </p:cTn>
                                        <p:tgtEl>
                                          <p:spTgt spid="275460"/>
                                        </p:tgtEl>
                                        <p:attrNameLst>
                                          <p:attrName>style.visibility</p:attrName>
                                        </p:attrNameLst>
                                      </p:cBhvr>
                                      <p:to>
                                        <p:strVal val="visible"/>
                                      </p:to>
                                    </p:set>
                                    <p:animEffect transition="in" filter="plus(in)">
                                      <p:cBhvr>
                                        <p:cTn id="10" dur="2000"/>
                                        <p:tgtEl>
                                          <p:spTgt spid="275460"/>
                                        </p:tgtEl>
                                      </p:cBhvr>
                                    </p:animEffect>
                                  </p:childTnLst>
                                </p:cTn>
                              </p:par>
                              <p:par>
                                <p:cTn id="11" presetID="13" presetClass="entr" presetSubtype="16" fill="hold" grpId="0" nodeType="withEffect">
                                  <p:stCondLst>
                                    <p:cond delay="0"/>
                                  </p:stCondLst>
                                  <p:childTnLst>
                                    <p:set>
                                      <p:cBhvr>
                                        <p:cTn id="12" dur="1" fill="hold">
                                          <p:stCondLst>
                                            <p:cond delay="0"/>
                                          </p:stCondLst>
                                        </p:cTn>
                                        <p:tgtEl>
                                          <p:spTgt spid="275461"/>
                                        </p:tgtEl>
                                        <p:attrNameLst>
                                          <p:attrName>style.visibility</p:attrName>
                                        </p:attrNameLst>
                                      </p:cBhvr>
                                      <p:to>
                                        <p:strVal val="visible"/>
                                      </p:to>
                                    </p:set>
                                    <p:animEffect transition="in" filter="plus(in)">
                                      <p:cBhvr>
                                        <p:cTn id="13" dur="2000"/>
                                        <p:tgtEl>
                                          <p:spTgt spid="275461"/>
                                        </p:tgtEl>
                                      </p:cBhvr>
                                    </p:animEffect>
                                  </p:childTnLst>
                                </p:cTn>
                              </p:par>
                              <p:par>
                                <p:cTn id="14" presetID="13" presetClass="entr" presetSubtype="16" fill="hold" nodeType="withEffect">
                                  <p:stCondLst>
                                    <p:cond delay="0"/>
                                  </p:stCondLst>
                                  <p:childTnLst>
                                    <p:set>
                                      <p:cBhvr>
                                        <p:cTn id="15" dur="1" fill="hold">
                                          <p:stCondLst>
                                            <p:cond delay="0"/>
                                          </p:stCondLst>
                                        </p:cTn>
                                        <p:tgtEl>
                                          <p:spTgt spid="275462"/>
                                        </p:tgtEl>
                                        <p:attrNameLst>
                                          <p:attrName>style.visibility</p:attrName>
                                        </p:attrNameLst>
                                      </p:cBhvr>
                                      <p:to>
                                        <p:strVal val="visible"/>
                                      </p:to>
                                    </p:set>
                                    <p:animEffect transition="in" filter="plus(in)">
                                      <p:cBhvr>
                                        <p:cTn id="16" dur="2000"/>
                                        <p:tgtEl>
                                          <p:spTgt spid="275462"/>
                                        </p:tgtEl>
                                      </p:cBhvr>
                                    </p:animEffect>
                                  </p:childTnLst>
                                </p:cTn>
                              </p:par>
                              <p:par>
                                <p:cTn id="17" presetID="13" presetClass="entr" presetSubtype="16" fill="hold" nodeType="withEffect">
                                  <p:stCondLst>
                                    <p:cond delay="0"/>
                                  </p:stCondLst>
                                  <p:childTnLst>
                                    <p:set>
                                      <p:cBhvr>
                                        <p:cTn id="18" dur="1" fill="hold">
                                          <p:stCondLst>
                                            <p:cond delay="0"/>
                                          </p:stCondLst>
                                        </p:cTn>
                                        <p:tgtEl>
                                          <p:spTgt spid="275463"/>
                                        </p:tgtEl>
                                        <p:attrNameLst>
                                          <p:attrName>style.visibility</p:attrName>
                                        </p:attrNameLst>
                                      </p:cBhvr>
                                      <p:to>
                                        <p:strVal val="visible"/>
                                      </p:to>
                                    </p:set>
                                    <p:animEffect transition="in" filter="plus(in)">
                                      <p:cBhvr>
                                        <p:cTn id="19" dur="2000"/>
                                        <p:tgtEl>
                                          <p:spTgt spid="275463"/>
                                        </p:tgtEl>
                                      </p:cBhvr>
                                    </p:animEffect>
                                  </p:childTnLst>
                                </p:cTn>
                              </p:par>
                              <p:par>
                                <p:cTn id="20" presetID="13" presetClass="entr" presetSubtype="16" fill="hold" nodeType="withEffect">
                                  <p:stCondLst>
                                    <p:cond delay="0"/>
                                  </p:stCondLst>
                                  <p:childTnLst>
                                    <p:set>
                                      <p:cBhvr>
                                        <p:cTn id="21" dur="1" fill="hold">
                                          <p:stCondLst>
                                            <p:cond delay="0"/>
                                          </p:stCondLst>
                                        </p:cTn>
                                        <p:tgtEl>
                                          <p:spTgt spid="275464"/>
                                        </p:tgtEl>
                                        <p:attrNameLst>
                                          <p:attrName>style.visibility</p:attrName>
                                        </p:attrNameLst>
                                      </p:cBhvr>
                                      <p:to>
                                        <p:strVal val="visible"/>
                                      </p:to>
                                    </p:set>
                                    <p:animEffect transition="in" filter="plus(in)">
                                      <p:cBhvr>
                                        <p:cTn id="22" dur="2000"/>
                                        <p:tgtEl>
                                          <p:spTgt spid="275464"/>
                                        </p:tgtEl>
                                      </p:cBhvr>
                                    </p:animEffect>
                                  </p:childTnLst>
                                </p:cTn>
                              </p:par>
                              <p:par>
                                <p:cTn id="23" presetID="13" presetClass="entr" presetSubtype="16" fill="hold" nodeType="withEffect">
                                  <p:stCondLst>
                                    <p:cond delay="0"/>
                                  </p:stCondLst>
                                  <p:childTnLst>
                                    <p:set>
                                      <p:cBhvr>
                                        <p:cTn id="24" dur="1" fill="hold">
                                          <p:stCondLst>
                                            <p:cond delay="0"/>
                                          </p:stCondLst>
                                        </p:cTn>
                                        <p:tgtEl>
                                          <p:spTgt spid="275465"/>
                                        </p:tgtEl>
                                        <p:attrNameLst>
                                          <p:attrName>style.visibility</p:attrName>
                                        </p:attrNameLst>
                                      </p:cBhvr>
                                      <p:to>
                                        <p:strVal val="visible"/>
                                      </p:to>
                                    </p:set>
                                    <p:animEffect transition="in" filter="plus(in)">
                                      <p:cBhvr>
                                        <p:cTn id="25" dur="2000"/>
                                        <p:tgtEl>
                                          <p:spTgt spid="275465"/>
                                        </p:tgtEl>
                                      </p:cBhvr>
                                    </p:animEffect>
                                  </p:childTnLst>
                                </p:cTn>
                              </p:par>
                              <p:par>
                                <p:cTn id="26" presetID="13" presetClass="entr" presetSubtype="16" fill="hold" nodeType="withEffect">
                                  <p:stCondLst>
                                    <p:cond delay="0"/>
                                  </p:stCondLst>
                                  <p:childTnLst>
                                    <p:set>
                                      <p:cBhvr>
                                        <p:cTn id="27" dur="1" fill="hold">
                                          <p:stCondLst>
                                            <p:cond delay="0"/>
                                          </p:stCondLst>
                                        </p:cTn>
                                        <p:tgtEl>
                                          <p:spTgt spid="275466"/>
                                        </p:tgtEl>
                                        <p:attrNameLst>
                                          <p:attrName>style.visibility</p:attrName>
                                        </p:attrNameLst>
                                      </p:cBhvr>
                                      <p:to>
                                        <p:strVal val="visible"/>
                                      </p:to>
                                    </p:set>
                                    <p:animEffect transition="in" filter="plus(in)">
                                      <p:cBhvr>
                                        <p:cTn id="28" dur="2000"/>
                                        <p:tgtEl>
                                          <p:spTgt spid="275466"/>
                                        </p:tgtEl>
                                      </p:cBhvr>
                                    </p:animEffect>
                                  </p:childTnLst>
                                </p:cTn>
                              </p:par>
                              <p:par>
                                <p:cTn id="29" presetID="13" presetClass="entr" presetSubtype="16" fill="hold" nodeType="withEffect">
                                  <p:stCondLst>
                                    <p:cond delay="0"/>
                                  </p:stCondLst>
                                  <p:childTnLst>
                                    <p:set>
                                      <p:cBhvr>
                                        <p:cTn id="30" dur="1" fill="hold">
                                          <p:stCondLst>
                                            <p:cond delay="0"/>
                                          </p:stCondLst>
                                        </p:cTn>
                                        <p:tgtEl>
                                          <p:spTgt spid="275467"/>
                                        </p:tgtEl>
                                        <p:attrNameLst>
                                          <p:attrName>style.visibility</p:attrName>
                                        </p:attrNameLst>
                                      </p:cBhvr>
                                      <p:to>
                                        <p:strVal val="visible"/>
                                      </p:to>
                                    </p:set>
                                    <p:animEffect transition="in" filter="plus(in)">
                                      <p:cBhvr>
                                        <p:cTn id="31" dur="2000"/>
                                        <p:tgtEl>
                                          <p:spTgt spid="275467"/>
                                        </p:tgtEl>
                                      </p:cBhvr>
                                    </p:animEffect>
                                  </p:childTnLst>
                                </p:cTn>
                              </p:par>
                              <p:par>
                                <p:cTn id="32" presetID="13" presetClass="entr" presetSubtype="16" fill="hold" nodeType="withEffect">
                                  <p:stCondLst>
                                    <p:cond delay="0"/>
                                  </p:stCondLst>
                                  <p:childTnLst>
                                    <p:set>
                                      <p:cBhvr>
                                        <p:cTn id="33" dur="1" fill="hold">
                                          <p:stCondLst>
                                            <p:cond delay="0"/>
                                          </p:stCondLst>
                                        </p:cTn>
                                        <p:tgtEl>
                                          <p:spTgt spid="275468"/>
                                        </p:tgtEl>
                                        <p:attrNameLst>
                                          <p:attrName>style.visibility</p:attrName>
                                        </p:attrNameLst>
                                      </p:cBhvr>
                                      <p:to>
                                        <p:strVal val="visible"/>
                                      </p:to>
                                    </p:set>
                                    <p:animEffect transition="in" filter="plus(in)">
                                      <p:cBhvr>
                                        <p:cTn id="34" dur="2000"/>
                                        <p:tgtEl>
                                          <p:spTgt spid="275468"/>
                                        </p:tgtEl>
                                      </p:cBhvr>
                                    </p:animEffect>
                                  </p:childTnLst>
                                </p:cTn>
                              </p:par>
                              <p:par>
                                <p:cTn id="35" presetID="13" presetClass="entr" presetSubtype="16" fill="hold" nodeType="withEffect">
                                  <p:stCondLst>
                                    <p:cond delay="0"/>
                                  </p:stCondLst>
                                  <p:childTnLst>
                                    <p:set>
                                      <p:cBhvr>
                                        <p:cTn id="36" dur="1" fill="hold">
                                          <p:stCondLst>
                                            <p:cond delay="0"/>
                                          </p:stCondLst>
                                        </p:cTn>
                                        <p:tgtEl>
                                          <p:spTgt spid="275469"/>
                                        </p:tgtEl>
                                        <p:attrNameLst>
                                          <p:attrName>style.visibility</p:attrName>
                                        </p:attrNameLst>
                                      </p:cBhvr>
                                      <p:to>
                                        <p:strVal val="visible"/>
                                      </p:to>
                                    </p:set>
                                    <p:animEffect transition="in" filter="plus(in)">
                                      <p:cBhvr>
                                        <p:cTn id="37" dur="2000"/>
                                        <p:tgtEl>
                                          <p:spTgt spid="275469"/>
                                        </p:tgtEl>
                                      </p:cBhvr>
                                    </p:animEffect>
                                  </p:childTnLst>
                                </p:cTn>
                              </p:par>
                              <p:par>
                                <p:cTn id="38" presetID="13" presetClass="entr" presetSubtype="16" fill="hold" nodeType="withEffect">
                                  <p:stCondLst>
                                    <p:cond delay="0"/>
                                  </p:stCondLst>
                                  <p:childTnLst>
                                    <p:set>
                                      <p:cBhvr>
                                        <p:cTn id="39" dur="1" fill="hold">
                                          <p:stCondLst>
                                            <p:cond delay="0"/>
                                          </p:stCondLst>
                                        </p:cTn>
                                        <p:tgtEl>
                                          <p:spTgt spid="275470"/>
                                        </p:tgtEl>
                                        <p:attrNameLst>
                                          <p:attrName>style.visibility</p:attrName>
                                        </p:attrNameLst>
                                      </p:cBhvr>
                                      <p:to>
                                        <p:strVal val="visible"/>
                                      </p:to>
                                    </p:set>
                                    <p:animEffect transition="in" filter="plus(in)">
                                      <p:cBhvr>
                                        <p:cTn id="40" dur="2000"/>
                                        <p:tgtEl>
                                          <p:spTgt spid="275470"/>
                                        </p:tgtEl>
                                      </p:cBhvr>
                                    </p:animEffect>
                                  </p:childTnLst>
                                </p:cTn>
                              </p:par>
                              <p:par>
                                <p:cTn id="41" presetID="13" presetClass="entr" presetSubtype="16" fill="hold" nodeType="withEffect">
                                  <p:stCondLst>
                                    <p:cond delay="0"/>
                                  </p:stCondLst>
                                  <p:childTnLst>
                                    <p:set>
                                      <p:cBhvr>
                                        <p:cTn id="42" dur="1" fill="hold">
                                          <p:stCondLst>
                                            <p:cond delay="0"/>
                                          </p:stCondLst>
                                        </p:cTn>
                                        <p:tgtEl>
                                          <p:spTgt spid="275471"/>
                                        </p:tgtEl>
                                        <p:attrNameLst>
                                          <p:attrName>style.visibility</p:attrName>
                                        </p:attrNameLst>
                                      </p:cBhvr>
                                      <p:to>
                                        <p:strVal val="visible"/>
                                      </p:to>
                                    </p:set>
                                    <p:animEffect transition="in" filter="plus(in)">
                                      <p:cBhvr>
                                        <p:cTn id="43" dur="2000"/>
                                        <p:tgtEl>
                                          <p:spTgt spid="275471"/>
                                        </p:tgtEl>
                                      </p:cBhvr>
                                    </p:animEffect>
                                  </p:childTnLst>
                                </p:cTn>
                              </p:par>
                              <p:par>
                                <p:cTn id="44" presetID="13" presetClass="entr" presetSubtype="16" fill="hold" grpId="0" nodeType="withEffect">
                                  <p:stCondLst>
                                    <p:cond delay="0"/>
                                  </p:stCondLst>
                                  <p:childTnLst>
                                    <p:set>
                                      <p:cBhvr>
                                        <p:cTn id="45" dur="1" fill="hold">
                                          <p:stCondLst>
                                            <p:cond delay="0"/>
                                          </p:stCondLst>
                                        </p:cTn>
                                        <p:tgtEl>
                                          <p:spTgt spid="275472"/>
                                        </p:tgtEl>
                                        <p:attrNameLst>
                                          <p:attrName>style.visibility</p:attrName>
                                        </p:attrNameLst>
                                      </p:cBhvr>
                                      <p:to>
                                        <p:strVal val="visible"/>
                                      </p:to>
                                    </p:set>
                                    <p:animEffect transition="in" filter="plus(in)">
                                      <p:cBhvr>
                                        <p:cTn id="46" dur="2000"/>
                                        <p:tgtEl>
                                          <p:spTgt spid="275472"/>
                                        </p:tgtEl>
                                      </p:cBhvr>
                                    </p:animEffect>
                                  </p:childTnLst>
                                </p:cTn>
                              </p:par>
                              <p:par>
                                <p:cTn id="47" presetID="16" presetClass="entr" presetSubtype="26" fill="hold" grpId="0" nodeType="withEffect">
                                  <p:stCondLst>
                                    <p:cond delay="0"/>
                                  </p:stCondLst>
                                  <p:childTnLst>
                                    <p:set>
                                      <p:cBhvr>
                                        <p:cTn id="48" dur="1" fill="hold">
                                          <p:stCondLst>
                                            <p:cond delay="0"/>
                                          </p:stCondLst>
                                        </p:cTn>
                                        <p:tgtEl>
                                          <p:spTgt spid="275473"/>
                                        </p:tgtEl>
                                        <p:attrNameLst>
                                          <p:attrName>style.visibility</p:attrName>
                                        </p:attrNameLst>
                                      </p:cBhvr>
                                      <p:to>
                                        <p:strVal val="visible"/>
                                      </p:to>
                                    </p:set>
                                    <p:animEffect transition="in" filter="barn(inHorizontal)">
                                      <p:cBhvr>
                                        <p:cTn id="49" dur="1000"/>
                                        <p:tgtEl>
                                          <p:spTgt spid="275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animBg="1"/>
      <p:bldP spid="275460" grpId="0"/>
      <p:bldP spid="275461" grpId="0" animBg="1"/>
      <p:bldP spid="275472" grpId="0" bldLvl="0" animBg="1"/>
      <p:bldP spid="27547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p:nvPr/>
        </p:nvSpPr>
        <p:spPr>
          <a:xfrm>
            <a:off x="0" y="0"/>
            <a:ext cx="9144000" cy="6858000"/>
          </a:xfrm>
          <a:prstGeom prst="rect">
            <a:avLst/>
          </a:prstGeom>
          <a:solidFill>
            <a:srgbClr val="FFFFFF"/>
          </a:solidFill>
          <a:ln w="6350" cap="flat" cmpd="sng">
            <a:solidFill>
              <a:srgbClr val="FF0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pSp>
        <p:nvGrpSpPr>
          <p:cNvPr id="276483" name="Group 3"/>
          <p:cNvGrpSpPr/>
          <p:nvPr/>
        </p:nvGrpSpPr>
        <p:grpSpPr>
          <a:xfrm>
            <a:off x="34925" y="44450"/>
            <a:ext cx="5105400" cy="6858000"/>
            <a:chOff x="0" y="0"/>
            <a:chExt cx="3216" cy="4320"/>
          </a:xfrm>
        </p:grpSpPr>
        <p:sp>
          <p:nvSpPr>
            <p:cNvPr id="66563" name="Rectangle 4"/>
            <p:cNvSpPr/>
            <p:nvPr/>
          </p:nvSpPr>
          <p:spPr>
            <a:xfrm>
              <a:off x="0" y="0"/>
              <a:ext cx="3216" cy="4320"/>
            </a:xfrm>
            <a:prstGeom prst="rect">
              <a:avLst/>
            </a:prstGeom>
            <a:noFill/>
            <a:ln w="9525">
              <a:noFill/>
            </a:ln>
          </p:spPr>
          <p:txBody>
            <a:bodyPr anchor="t" anchorCtr="0"/>
            <a:lstStyle/>
            <a:p>
              <a:pPr algn="just" eaLnBrk="0" hangingPunct="0">
                <a:lnSpc>
                  <a:spcPct val="96000"/>
                </a:lnSpc>
              </a:pPr>
              <a:endParaRPr lang="en-US" altLang="zh-CN" sz="900" b="1"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900" b="1" dirty="0">
                  <a:latin typeface="Times New Roman" panose="02020603050405020304" pitchFamily="18" charset="0"/>
                  <a:ea typeface="宋体" panose="02010600030101010101" pitchFamily="2" charset="-122"/>
                </a:rPr>
                <a:t>          </a:t>
              </a:r>
              <a:r>
                <a:rPr lang="en-US" altLang="zh-CN" sz="1400" b="1" dirty="0">
                  <a:latin typeface="Times New Roman" panose="02020603050405020304" pitchFamily="18" charset="0"/>
                  <a:ea typeface="宋体" panose="02010600030101010101" pitchFamily="2" charset="-122"/>
                </a:rPr>
                <a:t>GND                              I/O CH CK</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RESET DRV                      SD7</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+5V                           SD6</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IRQ9                         SD5</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a:t>
              </a:r>
              <a:r>
                <a:rPr lang="en-US" altLang="zh-CN" sz="1400" b="1" dirty="0">
                  <a:latin typeface="Lucida Console" panose="020B0609040504020204" pitchFamily="49" charset="0"/>
                  <a:ea typeface="宋体" panose="02010600030101010101" pitchFamily="2" charset="-122"/>
                </a:rPr>
                <a:t>-</a:t>
              </a:r>
              <a:r>
                <a:rPr lang="en-US" altLang="zh-CN" sz="1400" b="1" dirty="0">
                  <a:latin typeface="Times New Roman" panose="02020603050405020304" pitchFamily="18" charset="0"/>
                  <a:ea typeface="宋体" panose="02010600030101010101" pitchFamily="2" charset="-122"/>
                </a:rPr>
                <a:t>5V                           SD4 </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DRQ2                          SD3</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a:t>
              </a:r>
              <a:r>
                <a:rPr lang="en-US" altLang="zh-CN" sz="1400" b="1" dirty="0">
                  <a:latin typeface="Lucida Console" panose="020B0609040504020204" pitchFamily="49" charset="0"/>
                  <a:ea typeface="宋体" panose="02010600030101010101" pitchFamily="2" charset="-122"/>
                </a:rPr>
                <a:t>-</a:t>
              </a:r>
              <a:r>
                <a:rPr lang="en-US" altLang="zh-CN" sz="1400" b="1" dirty="0">
                  <a:latin typeface="Times New Roman" panose="02020603050405020304" pitchFamily="18" charset="0"/>
                  <a:ea typeface="宋体" panose="02010600030101010101" pitchFamily="2" charset="-122"/>
                </a:rPr>
                <a:t>12V                          SD2</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0WS                           SD1</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+12V                          SD0</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GND                           I/O CH RDY</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SMEMW                        AEN</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SMEMR                         SA19</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IOW                             SA18       MEMCS16                 SBHE           </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IOR                               SA17            IOCS16                 LA23</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DACK3                          SA16               IRQ10                 LA22</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DRQ3                          SA15               IRQ11                 LA21</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DACK1                          SA14               IRQ12                 LA20</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DRQ1                         SA13               IRQ15                 LA19</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REFRESH                       SA12               IRQ14                 LA18</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BCLOCK                      SA11              DACK0                 LA17</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IRQ7                          SA10                DRQ0                MEMW</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IRQ6                          SA9               DACK5                 MEMR</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IRQ5                          SA8                 DRQ5                  SD8</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IRQ4                          SA7              DACK6                  SD9</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IRQ3                         SA6                 DRQ6                  SD10</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DACK2                        SA5              DACK7                  SD11</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T/C                           SA4                 DRQ7                  SD12</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BALE                         SA3                   +5V                   SD13</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+5V                           SA2          MASTER                  SD14</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OSC                          SA1                  GND                   SD15</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GND                          SA0              </a:t>
              </a:r>
            </a:p>
            <a:p>
              <a:pPr algn="ctr" eaLnBrk="0" hangingPunct="0">
                <a:lnSpc>
                  <a:spcPct val="112000"/>
                </a:lnSpc>
              </a:pPr>
              <a:r>
                <a:rPr lang="en-US" altLang="zh-CN" sz="1400" b="1" dirty="0">
                  <a:latin typeface="Times New Roman" panose="02020603050405020304" pitchFamily="18" charset="0"/>
                  <a:ea typeface="宋体" panose="02010600030101010101" pitchFamily="2" charset="-122"/>
                </a:rPr>
                <a:t> </a:t>
              </a:r>
              <a:r>
                <a:rPr lang="en-US" altLang="zh-CN" sz="1400" b="1" dirty="0">
                  <a:solidFill>
                    <a:srgbClr val="FF0000"/>
                  </a:solidFill>
                  <a:latin typeface="Times New Roman" panose="02020603050405020304" pitchFamily="18" charset="0"/>
                  <a:ea typeface="宋体" panose="02010600030101010101" pitchFamily="2" charset="-122"/>
                </a:rPr>
                <a:t>ISA</a:t>
              </a:r>
              <a:r>
                <a:rPr lang="zh-CN" altLang="en-US" sz="1400" b="1" dirty="0">
                  <a:solidFill>
                    <a:srgbClr val="FF0000"/>
                  </a:solidFill>
                  <a:latin typeface="Times New Roman" panose="02020603050405020304" pitchFamily="18" charset="0"/>
                  <a:ea typeface="宋体" panose="02010600030101010101" pitchFamily="2" charset="-122"/>
                </a:rPr>
                <a:t>总线信号</a:t>
              </a:r>
            </a:p>
          </p:txBody>
        </p:sp>
        <p:sp>
          <p:nvSpPr>
            <p:cNvPr id="66564" name="Text Box 5"/>
            <p:cNvSpPr txBox="1"/>
            <p:nvPr/>
          </p:nvSpPr>
          <p:spPr>
            <a:xfrm>
              <a:off x="634" y="88"/>
              <a:ext cx="566" cy="4043"/>
            </a:xfrm>
            <a:prstGeom prst="rect">
              <a:avLst/>
            </a:prstGeom>
            <a:solidFill>
              <a:srgbClr val="CCFFCC"/>
            </a:solidFill>
            <a:ln w="9525" cap="flat" cmpd="sng">
              <a:solidFill>
                <a:srgbClr val="000000"/>
              </a:solidFill>
              <a:prstDash val="solid"/>
              <a:miter/>
              <a:headEnd type="none" w="med" len="med"/>
              <a:tailEnd type="none" w="med" len="med"/>
            </a:ln>
          </p:spPr>
          <p:txBody>
            <a:bodyPr lIns="18000" rIns="18000" anchor="t" anchorCtr="0"/>
            <a:lstStyle/>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B1        A1</a:t>
              </a: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a:t>
              </a: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B10    A10</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a:t>
              </a: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B20    A20</a:t>
              </a: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B31    A31</a:t>
              </a: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p:txBody>
        </p:sp>
        <p:sp>
          <p:nvSpPr>
            <p:cNvPr id="66565" name="Text Box 6"/>
            <p:cNvSpPr txBox="1"/>
            <p:nvPr/>
          </p:nvSpPr>
          <p:spPr>
            <a:xfrm>
              <a:off x="2296" y="1623"/>
              <a:ext cx="417" cy="2361"/>
            </a:xfrm>
            <a:prstGeom prst="rect">
              <a:avLst/>
            </a:prstGeom>
            <a:solidFill>
              <a:srgbClr val="CCFFCC"/>
            </a:solidFill>
            <a:ln w="9525" cap="flat" cmpd="sng">
              <a:solidFill>
                <a:srgbClr val="000000"/>
              </a:solidFill>
              <a:prstDash val="solid"/>
              <a:miter/>
              <a:headEnd type="none" w="med" len="med"/>
              <a:tailEnd type="none" w="med" len="med"/>
            </a:ln>
          </p:spPr>
          <p:txBody>
            <a:bodyPr lIns="18000" rIns="18000" anchor="t" anchorCtr="0"/>
            <a:lstStyle/>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D1   C1</a:t>
              </a: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D10C10</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a:t>
              </a: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  </a:t>
              </a: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b="1"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b="1" dirty="0">
                  <a:latin typeface="Times New Roman" panose="02020603050405020304" pitchFamily="18" charset="0"/>
                  <a:ea typeface="宋体" panose="02010600030101010101" pitchFamily="2" charset="-122"/>
                </a:rPr>
                <a:t>D18C18</a:t>
              </a:r>
            </a:p>
          </p:txBody>
        </p:sp>
        <p:sp>
          <p:nvSpPr>
            <p:cNvPr id="66566" name="Line 7"/>
            <p:cNvSpPr/>
            <p:nvPr/>
          </p:nvSpPr>
          <p:spPr>
            <a:xfrm>
              <a:off x="336" y="1008"/>
              <a:ext cx="192" cy="0"/>
            </a:xfrm>
            <a:prstGeom prst="line">
              <a:avLst/>
            </a:prstGeom>
            <a:ln w="9525" cap="flat" cmpd="sng">
              <a:solidFill>
                <a:schemeClr val="tx1"/>
              </a:solidFill>
              <a:prstDash val="solid"/>
              <a:round/>
              <a:headEnd type="none" w="med" len="med"/>
              <a:tailEnd type="none" w="med" len="med"/>
            </a:ln>
          </p:spPr>
        </p:sp>
        <p:sp>
          <p:nvSpPr>
            <p:cNvPr id="66567" name="Line 8"/>
            <p:cNvSpPr/>
            <p:nvPr/>
          </p:nvSpPr>
          <p:spPr>
            <a:xfrm>
              <a:off x="144" y="1392"/>
              <a:ext cx="432" cy="0"/>
            </a:xfrm>
            <a:prstGeom prst="line">
              <a:avLst/>
            </a:prstGeom>
            <a:ln w="9525" cap="flat" cmpd="sng">
              <a:solidFill>
                <a:schemeClr val="tx1"/>
              </a:solidFill>
              <a:prstDash val="solid"/>
              <a:round/>
              <a:headEnd type="none" w="med" len="med"/>
              <a:tailEnd type="none" w="med" len="med"/>
            </a:ln>
          </p:spPr>
        </p:sp>
        <p:sp>
          <p:nvSpPr>
            <p:cNvPr id="66568" name="Line 9"/>
            <p:cNvSpPr/>
            <p:nvPr/>
          </p:nvSpPr>
          <p:spPr>
            <a:xfrm>
              <a:off x="144" y="1514"/>
              <a:ext cx="384" cy="0"/>
            </a:xfrm>
            <a:prstGeom prst="line">
              <a:avLst/>
            </a:prstGeom>
            <a:ln w="9525" cap="flat" cmpd="sng">
              <a:solidFill>
                <a:schemeClr val="tx1"/>
              </a:solidFill>
              <a:prstDash val="solid"/>
              <a:round/>
              <a:headEnd type="none" w="med" len="med"/>
              <a:tailEnd type="none" w="med" len="med"/>
            </a:ln>
          </p:spPr>
        </p:sp>
        <p:sp>
          <p:nvSpPr>
            <p:cNvPr id="66569" name="Line 10"/>
            <p:cNvSpPr/>
            <p:nvPr/>
          </p:nvSpPr>
          <p:spPr>
            <a:xfrm flipV="1">
              <a:off x="240" y="1652"/>
              <a:ext cx="192" cy="0"/>
            </a:xfrm>
            <a:prstGeom prst="line">
              <a:avLst/>
            </a:prstGeom>
            <a:ln w="9525" cap="flat" cmpd="sng">
              <a:solidFill>
                <a:schemeClr val="tx1"/>
              </a:solidFill>
              <a:prstDash val="solid"/>
              <a:round/>
              <a:headEnd type="none" w="med" len="med"/>
              <a:tailEnd type="none" w="med" len="med"/>
            </a:ln>
          </p:spPr>
        </p:sp>
        <p:sp>
          <p:nvSpPr>
            <p:cNvPr id="66570" name="Line 11"/>
            <p:cNvSpPr/>
            <p:nvPr/>
          </p:nvSpPr>
          <p:spPr>
            <a:xfrm>
              <a:off x="240" y="1776"/>
              <a:ext cx="192" cy="0"/>
            </a:xfrm>
            <a:prstGeom prst="line">
              <a:avLst/>
            </a:prstGeom>
            <a:ln w="9525" cap="flat" cmpd="sng">
              <a:solidFill>
                <a:schemeClr val="tx1"/>
              </a:solidFill>
              <a:prstDash val="solid"/>
              <a:round/>
              <a:headEnd type="none" w="med" len="med"/>
              <a:tailEnd type="none" w="med" len="med"/>
            </a:ln>
          </p:spPr>
        </p:sp>
        <p:sp>
          <p:nvSpPr>
            <p:cNvPr id="66571" name="Line 12"/>
            <p:cNvSpPr/>
            <p:nvPr/>
          </p:nvSpPr>
          <p:spPr>
            <a:xfrm>
              <a:off x="192" y="1920"/>
              <a:ext cx="336" cy="0"/>
            </a:xfrm>
            <a:prstGeom prst="line">
              <a:avLst/>
            </a:prstGeom>
            <a:ln w="9525" cap="flat" cmpd="sng">
              <a:solidFill>
                <a:schemeClr val="tx1"/>
              </a:solidFill>
              <a:prstDash val="solid"/>
              <a:round/>
              <a:headEnd type="none" w="med" len="med"/>
              <a:tailEnd type="none" w="med" len="med"/>
            </a:ln>
          </p:spPr>
        </p:sp>
        <p:sp>
          <p:nvSpPr>
            <p:cNvPr id="66572" name="Line 13"/>
            <p:cNvSpPr/>
            <p:nvPr/>
          </p:nvSpPr>
          <p:spPr>
            <a:xfrm>
              <a:off x="192" y="2160"/>
              <a:ext cx="336" cy="0"/>
            </a:xfrm>
            <a:prstGeom prst="line">
              <a:avLst/>
            </a:prstGeom>
            <a:ln w="9525" cap="flat" cmpd="sng">
              <a:solidFill>
                <a:schemeClr val="tx1"/>
              </a:solidFill>
              <a:prstDash val="solid"/>
              <a:round/>
              <a:headEnd type="none" w="med" len="med"/>
              <a:tailEnd type="none" w="med" len="med"/>
            </a:ln>
          </p:spPr>
        </p:sp>
        <p:sp>
          <p:nvSpPr>
            <p:cNvPr id="66573" name="Line 14"/>
            <p:cNvSpPr/>
            <p:nvPr/>
          </p:nvSpPr>
          <p:spPr>
            <a:xfrm>
              <a:off x="96" y="2425"/>
              <a:ext cx="528" cy="0"/>
            </a:xfrm>
            <a:prstGeom prst="line">
              <a:avLst/>
            </a:prstGeom>
            <a:ln w="9525" cap="flat" cmpd="sng">
              <a:solidFill>
                <a:schemeClr val="tx1"/>
              </a:solidFill>
              <a:prstDash val="solid"/>
              <a:round/>
              <a:headEnd type="none" w="med" len="med"/>
              <a:tailEnd type="none" w="med" len="med"/>
            </a:ln>
          </p:spPr>
        </p:sp>
        <p:sp>
          <p:nvSpPr>
            <p:cNvPr id="66574" name="Line 15"/>
            <p:cNvSpPr/>
            <p:nvPr/>
          </p:nvSpPr>
          <p:spPr>
            <a:xfrm>
              <a:off x="240" y="3334"/>
              <a:ext cx="336" cy="0"/>
            </a:xfrm>
            <a:prstGeom prst="line">
              <a:avLst/>
            </a:prstGeom>
            <a:ln w="9525" cap="flat" cmpd="sng">
              <a:solidFill>
                <a:schemeClr val="tx1"/>
              </a:solidFill>
              <a:prstDash val="solid"/>
              <a:round/>
              <a:headEnd type="none" w="med" len="med"/>
              <a:tailEnd type="none" w="med" len="med"/>
            </a:ln>
          </p:spPr>
        </p:sp>
        <p:sp>
          <p:nvSpPr>
            <p:cNvPr id="66575" name="Line 16"/>
            <p:cNvSpPr/>
            <p:nvPr/>
          </p:nvSpPr>
          <p:spPr>
            <a:xfrm>
              <a:off x="1344" y="96"/>
              <a:ext cx="528" cy="0"/>
            </a:xfrm>
            <a:prstGeom prst="line">
              <a:avLst/>
            </a:prstGeom>
            <a:ln w="9525" cap="flat" cmpd="sng">
              <a:solidFill>
                <a:schemeClr val="tx1"/>
              </a:solidFill>
              <a:prstDash val="solid"/>
              <a:round/>
              <a:headEnd type="none" w="med" len="med"/>
              <a:tailEnd type="none" w="med" len="med"/>
            </a:ln>
          </p:spPr>
        </p:sp>
        <p:sp>
          <p:nvSpPr>
            <p:cNvPr id="66576" name="Line 17"/>
            <p:cNvSpPr/>
            <p:nvPr/>
          </p:nvSpPr>
          <p:spPr>
            <a:xfrm>
              <a:off x="1776" y="1657"/>
              <a:ext cx="480" cy="0"/>
            </a:xfrm>
            <a:prstGeom prst="line">
              <a:avLst/>
            </a:prstGeom>
            <a:ln w="9525" cap="flat" cmpd="sng">
              <a:solidFill>
                <a:schemeClr val="tx1"/>
              </a:solidFill>
              <a:prstDash val="solid"/>
              <a:round/>
              <a:headEnd type="none" w="med" len="med"/>
              <a:tailEnd type="none" w="med" len="med"/>
            </a:ln>
          </p:spPr>
        </p:sp>
        <p:sp>
          <p:nvSpPr>
            <p:cNvPr id="66577" name="Line 18"/>
            <p:cNvSpPr/>
            <p:nvPr/>
          </p:nvSpPr>
          <p:spPr>
            <a:xfrm>
              <a:off x="1920" y="1776"/>
              <a:ext cx="336" cy="0"/>
            </a:xfrm>
            <a:prstGeom prst="line">
              <a:avLst/>
            </a:prstGeom>
            <a:ln w="9525" cap="flat" cmpd="sng">
              <a:solidFill>
                <a:schemeClr val="tx1"/>
              </a:solidFill>
              <a:prstDash val="solid"/>
              <a:round/>
              <a:headEnd type="none" w="med" len="med"/>
              <a:tailEnd type="none" w="med" len="med"/>
            </a:ln>
          </p:spPr>
        </p:sp>
        <p:sp>
          <p:nvSpPr>
            <p:cNvPr id="66578" name="Line 19"/>
            <p:cNvSpPr/>
            <p:nvPr/>
          </p:nvSpPr>
          <p:spPr>
            <a:xfrm>
              <a:off x="1968" y="2566"/>
              <a:ext cx="288" cy="0"/>
            </a:xfrm>
            <a:prstGeom prst="line">
              <a:avLst/>
            </a:prstGeom>
            <a:ln w="9525" cap="flat" cmpd="sng">
              <a:solidFill>
                <a:schemeClr val="tx1"/>
              </a:solidFill>
              <a:prstDash val="solid"/>
              <a:round/>
              <a:headEnd type="none" w="med" len="med"/>
              <a:tailEnd type="none" w="med" len="med"/>
            </a:ln>
          </p:spPr>
        </p:sp>
        <p:sp>
          <p:nvSpPr>
            <p:cNvPr id="66579" name="Line 20"/>
            <p:cNvSpPr/>
            <p:nvPr/>
          </p:nvSpPr>
          <p:spPr>
            <a:xfrm>
              <a:off x="1920" y="2808"/>
              <a:ext cx="336" cy="0"/>
            </a:xfrm>
            <a:prstGeom prst="line">
              <a:avLst/>
            </a:prstGeom>
            <a:ln w="9525" cap="flat" cmpd="sng">
              <a:solidFill>
                <a:schemeClr val="tx1"/>
              </a:solidFill>
              <a:prstDash val="solid"/>
              <a:round/>
              <a:headEnd type="none" w="med" len="med"/>
              <a:tailEnd type="none" w="med" len="med"/>
            </a:ln>
          </p:spPr>
        </p:sp>
        <p:sp>
          <p:nvSpPr>
            <p:cNvPr id="66580" name="Line 21"/>
            <p:cNvSpPr/>
            <p:nvPr/>
          </p:nvSpPr>
          <p:spPr>
            <a:xfrm>
              <a:off x="1920" y="3072"/>
              <a:ext cx="384" cy="0"/>
            </a:xfrm>
            <a:prstGeom prst="line">
              <a:avLst/>
            </a:prstGeom>
            <a:ln w="9525" cap="flat" cmpd="sng">
              <a:solidFill>
                <a:schemeClr val="tx1"/>
              </a:solidFill>
              <a:prstDash val="solid"/>
              <a:round/>
              <a:headEnd type="none" w="med" len="med"/>
              <a:tailEnd type="none" w="med" len="med"/>
            </a:ln>
          </p:spPr>
        </p:sp>
        <p:sp>
          <p:nvSpPr>
            <p:cNvPr id="66581" name="Line 22"/>
            <p:cNvSpPr/>
            <p:nvPr/>
          </p:nvSpPr>
          <p:spPr>
            <a:xfrm>
              <a:off x="1920" y="3337"/>
              <a:ext cx="336" cy="0"/>
            </a:xfrm>
            <a:prstGeom prst="line">
              <a:avLst/>
            </a:prstGeom>
            <a:ln w="9525" cap="flat" cmpd="sng">
              <a:solidFill>
                <a:schemeClr val="tx1"/>
              </a:solidFill>
              <a:prstDash val="solid"/>
              <a:round/>
              <a:headEnd type="none" w="med" len="med"/>
              <a:tailEnd type="none" w="med" len="med"/>
            </a:ln>
          </p:spPr>
        </p:sp>
        <p:sp>
          <p:nvSpPr>
            <p:cNvPr id="66582" name="Line 23"/>
            <p:cNvSpPr/>
            <p:nvPr/>
          </p:nvSpPr>
          <p:spPr>
            <a:xfrm>
              <a:off x="1776" y="3717"/>
              <a:ext cx="480" cy="0"/>
            </a:xfrm>
            <a:prstGeom prst="line">
              <a:avLst/>
            </a:prstGeom>
            <a:ln w="9525" cap="flat" cmpd="sng">
              <a:solidFill>
                <a:schemeClr val="tx1"/>
              </a:solidFill>
              <a:prstDash val="solid"/>
              <a:round/>
              <a:headEnd type="none" w="med" len="med"/>
              <a:tailEnd type="none" w="med" len="med"/>
            </a:ln>
          </p:spPr>
        </p:sp>
        <p:sp>
          <p:nvSpPr>
            <p:cNvPr id="66583" name="Line 24"/>
            <p:cNvSpPr/>
            <p:nvPr/>
          </p:nvSpPr>
          <p:spPr>
            <a:xfrm>
              <a:off x="2784" y="1657"/>
              <a:ext cx="240" cy="0"/>
            </a:xfrm>
            <a:prstGeom prst="line">
              <a:avLst/>
            </a:prstGeom>
            <a:ln w="9525" cap="flat" cmpd="sng">
              <a:solidFill>
                <a:schemeClr val="tx1"/>
              </a:solidFill>
              <a:prstDash val="solid"/>
              <a:round/>
              <a:headEnd type="none" w="med" len="med"/>
              <a:tailEnd type="none" w="med" len="med"/>
            </a:ln>
          </p:spPr>
        </p:sp>
        <p:sp>
          <p:nvSpPr>
            <p:cNvPr id="66584" name="Line 25"/>
            <p:cNvSpPr/>
            <p:nvPr/>
          </p:nvSpPr>
          <p:spPr>
            <a:xfrm>
              <a:off x="2784" y="2688"/>
              <a:ext cx="336" cy="0"/>
            </a:xfrm>
            <a:prstGeom prst="line">
              <a:avLst/>
            </a:prstGeom>
            <a:ln w="9525" cap="flat" cmpd="sng">
              <a:solidFill>
                <a:schemeClr val="tx1"/>
              </a:solidFill>
              <a:prstDash val="solid"/>
              <a:round/>
              <a:headEnd type="none" w="med" len="med"/>
              <a:tailEnd type="none" w="med" len="med"/>
            </a:ln>
          </p:spPr>
        </p:sp>
        <p:sp>
          <p:nvSpPr>
            <p:cNvPr id="66585" name="Line 26"/>
            <p:cNvSpPr/>
            <p:nvPr/>
          </p:nvSpPr>
          <p:spPr>
            <a:xfrm>
              <a:off x="2780" y="2806"/>
              <a:ext cx="336" cy="0"/>
            </a:xfrm>
            <a:prstGeom prst="line">
              <a:avLst/>
            </a:prstGeom>
            <a:ln w="9525" cap="flat" cmpd="sng">
              <a:solidFill>
                <a:schemeClr val="tx1"/>
              </a:solidFill>
              <a:prstDash val="solid"/>
              <a:round/>
              <a:headEnd type="none" w="med" len="med"/>
              <a:tailEnd type="none" w="med" len="med"/>
            </a:ln>
          </p:spPr>
        </p:sp>
      </p:grpSp>
      <p:sp>
        <p:nvSpPr>
          <p:cNvPr id="276507" name="Text Box 27"/>
          <p:cNvSpPr txBox="1"/>
          <p:nvPr/>
        </p:nvSpPr>
        <p:spPr>
          <a:xfrm>
            <a:off x="5065713" y="292100"/>
            <a:ext cx="4041775" cy="6392863"/>
          </a:xfrm>
          <a:prstGeom prst="rect">
            <a:avLst/>
          </a:prstGeom>
          <a:noFill/>
          <a:ln w="9525" cap="flat" cmpd="sng">
            <a:solidFill>
              <a:srgbClr val="0000FF"/>
            </a:solidFill>
            <a:prstDash val="solid"/>
            <a:miter/>
            <a:headEnd type="none" w="med" len="med"/>
            <a:tailEnd type="none" w="med" len="med"/>
          </a:ln>
        </p:spPr>
        <p:txBody>
          <a:bodyPr lIns="18000" tIns="10800" rIns="18000" bIns="10800" anchor="t" anchorCtr="0">
            <a:spAutoFit/>
          </a:bodyPr>
          <a:lstStyle/>
          <a:p>
            <a:pPr algn="just">
              <a:spcBef>
                <a:spcPct val="50000"/>
              </a:spcBef>
            </a:pPr>
            <a:r>
              <a:rPr lang="en-US" altLang="zh-CN" b="1" dirty="0">
                <a:solidFill>
                  <a:schemeClr val="tx2"/>
                </a:solidFill>
                <a:latin typeface="Times New Roman" panose="02020603050405020304" pitchFamily="18" charset="0"/>
                <a:ea typeface="宋体" panose="02010600030101010101" pitchFamily="2" charset="-122"/>
              </a:rPr>
              <a:t>ISA</a:t>
            </a:r>
            <a:r>
              <a:rPr lang="zh-CN" altLang="en-US" b="1" dirty="0">
                <a:solidFill>
                  <a:schemeClr val="tx2"/>
                </a:solidFill>
                <a:latin typeface="Times New Roman" panose="02020603050405020304" pitchFamily="18" charset="0"/>
                <a:ea typeface="宋体" panose="02010600030101010101" pitchFamily="2" charset="-122"/>
              </a:rPr>
              <a:t>总线</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工业标准结构）：</a:t>
            </a:r>
          </a:p>
          <a:p>
            <a:pPr algn="just"/>
            <a:r>
              <a:rPr lang="en-US" altLang="zh-CN" b="1" dirty="0">
                <a:solidFill>
                  <a:schemeClr val="accent2"/>
                </a:solidFill>
                <a:latin typeface="Times New Roman" panose="02020603050405020304" pitchFamily="18" charset="0"/>
                <a:ea typeface="宋体" panose="02010600030101010101" pitchFamily="2" charset="-122"/>
              </a:rPr>
              <a:t>IRQ9</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原来是</a:t>
            </a:r>
            <a:r>
              <a:rPr lang="en-US" altLang="zh-CN" b="1" dirty="0">
                <a:solidFill>
                  <a:schemeClr val="tx2"/>
                </a:solidFill>
                <a:latin typeface="Times New Roman" panose="02020603050405020304" pitchFamily="18" charset="0"/>
                <a:ea typeface="宋体" panose="02010600030101010101" pitchFamily="2" charset="-122"/>
              </a:rPr>
              <a:t>IRQ2</a:t>
            </a:r>
            <a:r>
              <a:rPr lang="zh-CN" altLang="en-US" b="1" dirty="0">
                <a:solidFill>
                  <a:schemeClr val="tx2"/>
                </a:solidFill>
                <a:latin typeface="Times New Roman" panose="02020603050405020304" pitchFamily="18" charset="0"/>
                <a:ea typeface="宋体" panose="02010600030101010101" pitchFamily="2" charset="-122"/>
              </a:rPr>
              <a:t>，中断请求线</a:t>
            </a:r>
          </a:p>
          <a:p>
            <a:pPr algn="just"/>
            <a:r>
              <a:rPr lang="en-US" altLang="zh-CN" b="1" dirty="0">
                <a:solidFill>
                  <a:schemeClr val="accent2"/>
                </a:solidFill>
                <a:latin typeface="Times New Roman" panose="02020603050405020304" pitchFamily="18" charset="0"/>
                <a:ea typeface="宋体" panose="02010600030101010101" pitchFamily="2" charset="-122"/>
              </a:rPr>
              <a:t>REFRESH</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原为</a:t>
            </a:r>
            <a:r>
              <a:rPr lang="en-US" altLang="zh-CN" b="1" dirty="0">
                <a:solidFill>
                  <a:schemeClr val="tx2"/>
                </a:solidFill>
                <a:latin typeface="Times New Roman" panose="02020603050405020304" pitchFamily="18" charset="0"/>
                <a:ea typeface="宋体" panose="02010600030101010101" pitchFamily="2" charset="-122"/>
              </a:rPr>
              <a:t>DACK0,</a:t>
            </a:r>
            <a:r>
              <a:rPr lang="zh-CN" altLang="en-US" b="1" dirty="0">
                <a:solidFill>
                  <a:schemeClr val="tx2"/>
                </a:solidFill>
                <a:latin typeface="Times New Roman" panose="02020603050405020304" pitchFamily="18" charset="0"/>
                <a:ea typeface="宋体" panose="02010600030101010101" pitchFamily="2" charset="-122"/>
              </a:rPr>
              <a:t>刷新信号。</a:t>
            </a:r>
          </a:p>
          <a:p>
            <a:pPr algn="just"/>
            <a:r>
              <a:rPr lang="en-US" altLang="zh-CN" b="1" dirty="0">
                <a:solidFill>
                  <a:schemeClr val="tx2"/>
                </a:solidFill>
                <a:latin typeface="Times New Roman" panose="02020603050405020304" pitchFamily="18" charset="0"/>
                <a:ea typeface="宋体" panose="02010600030101010101" pitchFamily="2" charset="-122"/>
              </a:rPr>
              <a:t>36</a:t>
            </a:r>
            <a:r>
              <a:rPr lang="zh-CN" altLang="en-US" b="1" dirty="0">
                <a:solidFill>
                  <a:schemeClr val="tx2"/>
                </a:solidFill>
                <a:latin typeface="Times New Roman" panose="02020603050405020304" pitchFamily="18" charset="0"/>
                <a:ea typeface="宋体" panose="02010600030101010101" pitchFamily="2" charset="-122"/>
              </a:rPr>
              <a:t>线的定义如下：</a:t>
            </a:r>
          </a:p>
          <a:p>
            <a:pPr algn="just"/>
            <a:r>
              <a:rPr lang="en-US" altLang="zh-CN" b="1" dirty="0">
                <a:solidFill>
                  <a:schemeClr val="accent2"/>
                </a:solidFill>
                <a:latin typeface="Times New Roman" panose="02020603050405020304" pitchFamily="18" charset="0"/>
                <a:ea typeface="宋体" panose="02010600030101010101" pitchFamily="2" charset="-122"/>
              </a:rPr>
              <a:t>SD15</a:t>
            </a:r>
            <a:r>
              <a:rPr lang="en-US" altLang="zh-CN" b="1" dirty="0">
                <a:solidFill>
                  <a:schemeClr val="accent2"/>
                </a:solidFill>
                <a:latin typeface="Lucida Console" panose="020B0609040504020204" pitchFamily="49" charset="0"/>
                <a:ea typeface="宋体" panose="02010600030101010101" pitchFamily="2" charset="-122"/>
              </a:rPr>
              <a:t>~</a:t>
            </a:r>
            <a:r>
              <a:rPr lang="en-US" altLang="zh-CN" b="1" dirty="0">
                <a:solidFill>
                  <a:schemeClr val="accent2"/>
                </a:solidFill>
                <a:latin typeface="Times New Roman" panose="02020603050405020304" pitchFamily="18" charset="0"/>
                <a:ea typeface="宋体" panose="02010600030101010101" pitchFamily="2" charset="-122"/>
              </a:rPr>
              <a:t>SD8</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高</a:t>
            </a:r>
            <a:r>
              <a:rPr lang="en-US" altLang="zh-CN" b="1" dirty="0">
                <a:solidFill>
                  <a:schemeClr val="tx2"/>
                </a:solidFill>
                <a:latin typeface="Times New Roman" panose="02020603050405020304" pitchFamily="18" charset="0"/>
                <a:ea typeface="宋体" panose="02010600030101010101" pitchFamily="2" charset="-122"/>
              </a:rPr>
              <a:t>8</a:t>
            </a:r>
            <a:r>
              <a:rPr lang="zh-CN" altLang="en-US" b="1" dirty="0">
                <a:solidFill>
                  <a:schemeClr val="tx2"/>
                </a:solidFill>
                <a:latin typeface="Times New Roman" panose="02020603050405020304" pitchFamily="18" charset="0"/>
                <a:ea typeface="宋体" panose="02010600030101010101" pitchFamily="2" charset="-122"/>
              </a:rPr>
              <a:t>位数据线，双向</a:t>
            </a:r>
          </a:p>
          <a:p>
            <a:pPr algn="just"/>
            <a:r>
              <a:rPr lang="en-US" altLang="zh-CN" b="1" dirty="0">
                <a:solidFill>
                  <a:schemeClr val="accent2"/>
                </a:solidFill>
                <a:latin typeface="Times New Roman" panose="02020603050405020304" pitchFamily="18" charset="0"/>
                <a:ea typeface="宋体" panose="02010600030101010101" pitchFamily="2" charset="-122"/>
              </a:rPr>
              <a:t>SBHE</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数据高位允许信号，双向</a:t>
            </a:r>
          </a:p>
          <a:p>
            <a:pPr algn="just"/>
            <a:r>
              <a:rPr lang="en-US" altLang="zh-CN" b="1" dirty="0">
                <a:solidFill>
                  <a:schemeClr val="accent2"/>
                </a:solidFill>
                <a:latin typeface="Times New Roman" panose="02020603050405020304" pitchFamily="18" charset="0"/>
                <a:ea typeface="宋体" panose="02010600030101010101" pitchFamily="2" charset="-122"/>
              </a:rPr>
              <a:t>MEMCS16</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存储器</a:t>
            </a:r>
            <a:r>
              <a:rPr lang="en-US" altLang="zh-CN" b="1" dirty="0">
                <a:solidFill>
                  <a:schemeClr val="tx2"/>
                </a:solidFill>
                <a:latin typeface="Times New Roman" panose="02020603050405020304" pitchFamily="18" charset="0"/>
                <a:ea typeface="宋体" panose="02010600030101010101" pitchFamily="2" charset="-122"/>
              </a:rPr>
              <a:t>16</a:t>
            </a:r>
            <a:r>
              <a:rPr lang="zh-CN" altLang="en-US" b="1" dirty="0">
                <a:solidFill>
                  <a:schemeClr val="tx2"/>
                </a:solidFill>
                <a:latin typeface="Times New Roman" panose="02020603050405020304" pitchFamily="18" charset="0"/>
                <a:ea typeface="宋体" panose="02010600030101010101" pitchFamily="2" charset="-122"/>
              </a:rPr>
              <a:t>位选择信号，输入，进行</a:t>
            </a:r>
            <a:r>
              <a:rPr lang="en-US" altLang="zh-CN" b="1" dirty="0">
                <a:solidFill>
                  <a:schemeClr val="tx2"/>
                </a:solidFill>
                <a:latin typeface="Times New Roman" panose="02020603050405020304" pitchFamily="18" charset="0"/>
                <a:ea typeface="宋体" panose="02010600030101010101" pitchFamily="2" charset="-122"/>
              </a:rPr>
              <a:t>16</a:t>
            </a:r>
            <a:r>
              <a:rPr lang="zh-CN" altLang="en-US" b="1" dirty="0">
                <a:solidFill>
                  <a:schemeClr val="tx2"/>
                </a:solidFill>
                <a:latin typeface="Times New Roman" panose="02020603050405020304" pitchFamily="18" charset="0"/>
                <a:ea typeface="宋体" panose="02010600030101010101" pitchFamily="2" charset="-122"/>
              </a:rPr>
              <a:t>位数据传送，接口卡须回送这一信号</a:t>
            </a:r>
            <a:r>
              <a:rPr lang="en-US" altLang="zh-CN" b="1" dirty="0">
                <a:solidFill>
                  <a:schemeClr val="tx2"/>
                </a:solidFill>
                <a:latin typeface="Times New Roman" panose="02020603050405020304" pitchFamily="18" charset="0"/>
                <a:ea typeface="宋体" panose="02010600030101010101" pitchFamily="2" charset="-122"/>
              </a:rPr>
              <a:t>EISA</a:t>
            </a:r>
          </a:p>
          <a:p>
            <a:pPr algn="just"/>
            <a:r>
              <a:rPr lang="en-US" altLang="zh-CN" b="1" dirty="0">
                <a:solidFill>
                  <a:schemeClr val="accent2"/>
                </a:solidFill>
                <a:latin typeface="Times New Roman" panose="02020603050405020304" pitchFamily="18" charset="0"/>
                <a:ea typeface="宋体" panose="02010600030101010101" pitchFamily="2" charset="-122"/>
              </a:rPr>
              <a:t>IOCS16</a:t>
            </a:r>
            <a:r>
              <a:rPr lang="en-US" altLang="zh-CN" b="1" dirty="0">
                <a:solidFill>
                  <a:schemeClr val="tx2"/>
                </a:solidFill>
                <a:latin typeface="Times New Roman" panose="02020603050405020304" pitchFamily="18" charset="0"/>
                <a:ea typeface="宋体" panose="02010600030101010101" pitchFamily="2" charset="-122"/>
              </a:rPr>
              <a:t>——I/O</a:t>
            </a:r>
            <a:r>
              <a:rPr lang="zh-CN" altLang="en-US" b="1" dirty="0">
                <a:solidFill>
                  <a:schemeClr val="tx2"/>
                </a:solidFill>
                <a:latin typeface="Times New Roman" panose="02020603050405020304" pitchFamily="18" charset="0"/>
                <a:ea typeface="宋体" panose="02010600030101010101" pitchFamily="2" charset="-122"/>
              </a:rPr>
              <a:t>设备</a:t>
            </a:r>
            <a:r>
              <a:rPr lang="en-US" altLang="zh-CN" b="1" dirty="0">
                <a:solidFill>
                  <a:schemeClr val="tx2"/>
                </a:solidFill>
                <a:latin typeface="Times New Roman" panose="02020603050405020304" pitchFamily="18" charset="0"/>
                <a:ea typeface="宋体" panose="02010600030101010101" pitchFamily="2" charset="-122"/>
              </a:rPr>
              <a:t>16</a:t>
            </a:r>
            <a:r>
              <a:rPr lang="zh-CN" altLang="en-US" b="1" dirty="0">
                <a:solidFill>
                  <a:schemeClr val="tx2"/>
                </a:solidFill>
                <a:latin typeface="Times New Roman" panose="02020603050405020304" pitchFamily="18" charset="0"/>
                <a:ea typeface="宋体" panose="02010600030101010101" pitchFamily="2" charset="-122"/>
              </a:rPr>
              <a:t>位选择信号</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输入</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进行</a:t>
            </a:r>
            <a:r>
              <a:rPr lang="en-US" altLang="zh-CN" b="1" dirty="0">
                <a:solidFill>
                  <a:schemeClr val="tx2"/>
                </a:solidFill>
                <a:latin typeface="Times New Roman" panose="02020603050405020304" pitchFamily="18" charset="0"/>
                <a:ea typeface="宋体" panose="02010600030101010101" pitchFamily="2" charset="-122"/>
              </a:rPr>
              <a:t>16</a:t>
            </a:r>
            <a:r>
              <a:rPr lang="zh-CN" altLang="en-US" b="1" dirty="0">
                <a:solidFill>
                  <a:schemeClr val="tx2"/>
                </a:solidFill>
                <a:latin typeface="Times New Roman" panose="02020603050405020304" pitchFamily="18" charset="0"/>
                <a:ea typeface="宋体" panose="02010600030101010101" pitchFamily="2" charset="-122"/>
              </a:rPr>
              <a:t>位数据传送的</a:t>
            </a:r>
            <a:r>
              <a:rPr lang="en-US" altLang="zh-CN" b="1" dirty="0">
                <a:solidFill>
                  <a:schemeClr val="tx2"/>
                </a:solidFill>
                <a:latin typeface="Times New Roman" panose="02020603050405020304" pitchFamily="18" charset="0"/>
                <a:ea typeface="宋体" panose="02010600030101010101" pitchFamily="2" charset="-122"/>
              </a:rPr>
              <a:t>I/O</a:t>
            </a:r>
            <a:r>
              <a:rPr lang="zh-CN" altLang="en-US" b="1" dirty="0">
                <a:solidFill>
                  <a:schemeClr val="tx2"/>
                </a:solidFill>
                <a:latin typeface="Times New Roman" panose="02020603050405020304" pitchFamily="18" charset="0"/>
                <a:ea typeface="宋体" panose="02010600030101010101" pitchFamily="2" charset="-122"/>
              </a:rPr>
              <a:t>设备发之</a:t>
            </a:r>
          </a:p>
          <a:p>
            <a:pPr algn="just"/>
            <a:r>
              <a:rPr lang="en-US" altLang="zh-CN" b="1" dirty="0">
                <a:solidFill>
                  <a:schemeClr val="accent2"/>
                </a:solidFill>
                <a:latin typeface="Times New Roman" panose="02020603050405020304" pitchFamily="18" charset="0"/>
                <a:ea typeface="宋体" panose="02010600030101010101" pitchFamily="2" charset="-122"/>
              </a:rPr>
              <a:t>LA23</a:t>
            </a:r>
            <a:r>
              <a:rPr lang="en-US" altLang="zh-CN" b="1" dirty="0">
                <a:solidFill>
                  <a:schemeClr val="accent2"/>
                </a:solidFill>
                <a:latin typeface="Lucida Console" panose="020B0609040504020204" pitchFamily="49" charset="0"/>
                <a:ea typeface="宋体" panose="02010600030101010101" pitchFamily="2" charset="-122"/>
              </a:rPr>
              <a:t>~</a:t>
            </a:r>
            <a:r>
              <a:rPr lang="en-US" altLang="zh-CN" b="1" dirty="0">
                <a:solidFill>
                  <a:schemeClr val="accent2"/>
                </a:solidFill>
                <a:latin typeface="Times New Roman" panose="02020603050405020304" pitchFamily="18" charset="0"/>
                <a:ea typeface="宋体" panose="02010600030101010101" pitchFamily="2" charset="-122"/>
              </a:rPr>
              <a:t>LA17</a:t>
            </a:r>
            <a:r>
              <a:rPr lang="en-US" altLang="zh-CN" b="1" dirty="0">
                <a:solidFill>
                  <a:schemeClr val="tx2"/>
                </a:solidFill>
                <a:latin typeface="Times New Roman" panose="02020603050405020304" pitchFamily="18" charset="0"/>
                <a:ea typeface="宋体" panose="02010600030101010101" pitchFamily="2" charset="-122"/>
              </a:rPr>
              <a:t>——M/IO</a:t>
            </a:r>
            <a:r>
              <a:rPr lang="zh-CN" altLang="en-US" b="1" dirty="0">
                <a:solidFill>
                  <a:schemeClr val="tx2"/>
                </a:solidFill>
                <a:latin typeface="Times New Roman" panose="02020603050405020304" pitchFamily="18" charset="0"/>
                <a:ea typeface="宋体" panose="02010600030101010101" pitchFamily="2" charset="-122"/>
              </a:rPr>
              <a:t>设备高</a:t>
            </a:r>
            <a:r>
              <a:rPr lang="en-US" altLang="zh-CN" b="1" dirty="0">
                <a:solidFill>
                  <a:schemeClr val="tx2"/>
                </a:solidFill>
                <a:latin typeface="Times New Roman" panose="02020603050405020304" pitchFamily="18" charset="0"/>
                <a:ea typeface="宋体" panose="02010600030101010101" pitchFamily="2" charset="-122"/>
              </a:rPr>
              <a:t>7</a:t>
            </a:r>
            <a:r>
              <a:rPr lang="zh-CN" altLang="en-US" b="1" dirty="0">
                <a:solidFill>
                  <a:schemeClr val="tx2"/>
                </a:solidFill>
                <a:latin typeface="Times New Roman" panose="02020603050405020304" pitchFamily="18" charset="0"/>
                <a:ea typeface="宋体" panose="02010600030101010101" pitchFamily="2" charset="-122"/>
              </a:rPr>
              <a:t>位地址</a:t>
            </a:r>
          </a:p>
          <a:p>
            <a:pPr algn="just"/>
            <a:r>
              <a:rPr lang="en-US" altLang="zh-CN" b="1" dirty="0">
                <a:solidFill>
                  <a:schemeClr val="accent2"/>
                </a:solidFill>
                <a:latin typeface="Times New Roman" panose="02020603050405020304" pitchFamily="18" charset="0"/>
                <a:ea typeface="宋体" panose="02010600030101010101" pitchFamily="2" charset="-122"/>
              </a:rPr>
              <a:t>IRQ15</a:t>
            </a:r>
            <a:r>
              <a:rPr lang="en-US" altLang="zh-CN" b="1" dirty="0">
                <a:solidFill>
                  <a:schemeClr val="accent2"/>
                </a:solidFill>
                <a:latin typeface="Lucida Console" panose="020B0609040504020204" pitchFamily="49" charset="0"/>
                <a:ea typeface="宋体" panose="02010600030101010101" pitchFamily="2" charset="-122"/>
              </a:rPr>
              <a:t>~</a:t>
            </a:r>
            <a:r>
              <a:rPr lang="en-US" altLang="zh-CN" b="1" dirty="0">
                <a:solidFill>
                  <a:schemeClr val="accent2"/>
                </a:solidFill>
                <a:latin typeface="Times New Roman" panose="02020603050405020304" pitchFamily="18" charset="0"/>
                <a:ea typeface="宋体" panose="02010600030101010101" pitchFamily="2" charset="-122"/>
              </a:rPr>
              <a:t>IRQ10</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Lucida Console" panose="020B0609040504020204" pitchFamily="49" charset="0"/>
                <a:ea typeface="宋体" panose="02010600030101010101" pitchFamily="2" charset="-122"/>
              </a:rPr>
              <a:t>中断请求信号，输入。其中</a:t>
            </a:r>
            <a:r>
              <a:rPr lang="en-US" altLang="zh-CN" b="1" dirty="0">
                <a:solidFill>
                  <a:schemeClr val="tx2"/>
                </a:solidFill>
                <a:latin typeface="Times New Roman" panose="02020603050405020304" pitchFamily="18" charset="0"/>
                <a:ea typeface="宋体" panose="02010600030101010101" pitchFamily="2" charset="-122"/>
              </a:rPr>
              <a:t>IRQ13</a:t>
            </a:r>
            <a:r>
              <a:rPr lang="zh-CN" altLang="en-US" b="1" dirty="0">
                <a:solidFill>
                  <a:schemeClr val="tx2"/>
                </a:solidFill>
                <a:latin typeface="Lucida Console" panose="020B0609040504020204" pitchFamily="49" charset="0"/>
                <a:ea typeface="宋体" panose="02010600030101010101" pitchFamily="2" charset="-122"/>
              </a:rPr>
              <a:t>保留作为</a:t>
            </a:r>
            <a:r>
              <a:rPr lang="en-US" altLang="zh-CN" b="1" dirty="0">
                <a:solidFill>
                  <a:schemeClr val="tx2"/>
                </a:solidFill>
                <a:latin typeface="Lucida Console" panose="020B0609040504020204" pitchFamily="49" charset="0"/>
                <a:ea typeface="宋体" panose="02010600030101010101" pitchFamily="2" charset="-122"/>
              </a:rPr>
              <a:t>80287</a:t>
            </a:r>
            <a:r>
              <a:rPr lang="zh-CN" altLang="en-US" b="1" dirty="0">
                <a:solidFill>
                  <a:schemeClr val="tx2"/>
                </a:solidFill>
                <a:latin typeface="Lucida Console" panose="020B0609040504020204" pitchFamily="49" charset="0"/>
                <a:ea typeface="宋体" panose="02010600030101010101" pitchFamily="2" charset="-122"/>
              </a:rPr>
              <a:t>的中断请求线，没有对外引出</a:t>
            </a:r>
            <a:endParaRPr lang="zh-CN" altLang="en-US" b="1" dirty="0">
              <a:solidFill>
                <a:schemeClr val="tx2"/>
              </a:solidFill>
              <a:latin typeface="Times New Roman" panose="02020603050405020304" pitchFamily="18" charset="0"/>
              <a:ea typeface="宋体" panose="02010600030101010101" pitchFamily="2" charset="-122"/>
            </a:endParaRPr>
          </a:p>
          <a:p>
            <a:pPr algn="just"/>
            <a:r>
              <a:rPr lang="en-US" altLang="zh-CN" b="1" dirty="0">
                <a:solidFill>
                  <a:schemeClr val="accent2"/>
                </a:solidFill>
                <a:latin typeface="Times New Roman" panose="02020603050405020304" pitchFamily="18" charset="0"/>
                <a:ea typeface="宋体" panose="02010600030101010101" pitchFamily="2" charset="-122"/>
              </a:rPr>
              <a:t>DRQ7</a:t>
            </a:r>
            <a:r>
              <a:rPr lang="en-US" altLang="zh-CN" b="1" dirty="0">
                <a:solidFill>
                  <a:schemeClr val="accent2"/>
                </a:solidFill>
                <a:latin typeface="Lucida Console" panose="020B0609040504020204" pitchFamily="49" charset="0"/>
                <a:ea typeface="宋体" panose="02010600030101010101" pitchFamily="2" charset="-122"/>
              </a:rPr>
              <a:t>~</a:t>
            </a:r>
            <a:r>
              <a:rPr lang="en-US" altLang="zh-CN" b="1" dirty="0">
                <a:solidFill>
                  <a:schemeClr val="accent2"/>
                </a:solidFill>
                <a:latin typeface="Times New Roman" panose="02020603050405020304" pitchFamily="18" charset="0"/>
                <a:ea typeface="宋体" panose="02010600030101010101" pitchFamily="2" charset="-122"/>
              </a:rPr>
              <a:t>DRQ0</a:t>
            </a:r>
            <a:r>
              <a:rPr lang="en-US" altLang="zh-CN"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宋体" panose="02010600030101010101" pitchFamily="2" charset="-122"/>
                <a:ea typeface="宋体" panose="02010600030101010101" pitchFamily="2" charset="-122"/>
              </a:rPr>
              <a:t>DMA</a:t>
            </a:r>
            <a:r>
              <a:rPr lang="zh-CN" altLang="en-US" b="1" dirty="0">
                <a:solidFill>
                  <a:schemeClr val="tx2"/>
                </a:solidFill>
                <a:latin typeface="Lucida Console" panose="020B0609040504020204" pitchFamily="49" charset="0"/>
                <a:ea typeface="宋体" panose="02010600030101010101" pitchFamily="2" charset="-122"/>
              </a:rPr>
              <a:t>请求信号</a:t>
            </a:r>
            <a:r>
              <a:rPr lang="en-US" altLang="zh-CN" b="1" dirty="0">
                <a:solidFill>
                  <a:schemeClr val="tx2"/>
                </a:solidFill>
                <a:latin typeface="Lucida Console" panose="020B0609040504020204" pitchFamily="49" charset="0"/>
                <a:ea typeface="宋体" panose="02010600030101010101" pitchFamily="2" charset="-122"/>
              </a:rPr>
              <a:t>,</a:t>
            </a:r>
            <a:r>
              <a:rPr lang="zh-CN" altLang="en-US" b="1" dirty="0">
                <a:solidFill>
                  <a:schemeClr val="tx2"/>
                </a:solidFill>
                <a:latin typeface="Lucida Console" panose="020B0609040504020204" pitchFamily="49" charset="0"/>
                <a:ea typeface="宋体" panose="02010600030101010101" pitchFamily="2" charset="-122"/>
              </a:rPr>
              <a:t>输入</a:t>
            </a:r>
            <a:endParaRPr lang="zh-CN" altLang="en-US" b="1" dirty="0">
              <a:solidFill>
                <a:schemeClr val="tx2"/>
              </a:solidFill>
              <a:latin typeface="Times New Roman" panose="02020603050405020304" pitchFamily="18" charset="0"/>
              <a:ea typeface="宋体" panose="02010600030101010101" pitchFamily="2" charset="-122"/>
            </a:endParaRPr>
          </a:p>
          <a:p>
            <a:pPr algn="just"/>
            <a:r>
              <a:rPr lang="en-US" altLang="zh-CN" b="1" dirty="0">
                <a:solidFill>
                  <a:schemeClr val="accent2"/>
                </a:solidFill>
                <a:latin typeface="Lucida Console" panose="020B0609040504020204" pitchFamily="49" charset="0"/>
                <a:ea typeface="宋体" panose="02010600030101010101" pitchFamily="2" charset="-122"/>
              </a:rPr>
              <a:t>DACK7~DACK0</a:t>
            </a:r>
            <a:r>
              <a:rPr lang="en-US" altLang="zh-CN" b="1" dirty="0">
                <a:solidFill>
                  <a:schemeClr val="tx2"/>
                </a:solidFill>
                <a:latin typeface="Times New Roman" panose="02020603050405020304" pitchFamily="18" charset="0"/>
                <a:ea typeface="宋体" panose="02010600030101010101" pitchFamily="2" charset="-122"/>
              </a:rPr>
              <a:t>—— </a:t>
            </a:r>
            <a:r>
              <a:rPr lang="en-US" altLang="zh-CN" b="1" dirty="0">
                <a:solidFill>
                  <a:schemeClr val="tx2"/>
                </a:solidFill>
                <a:latin typeface="宋体" panose="02010600030101010101" pitchFamily="2" charset="-122"/>
                <a:ea typeface="宋体" panose="02010600030101010101" pitchFamily="2" charset="-122"/>
              </a:rPr>
              <a:t>DMA</a:t>
            </a:r>
            <a:r>
              <a:rPr lang="zh-CN" altLang="en-US" b="1" dirty="0">
                <a:solidFill>
                  <a:schemeClr val="tx2"/>
                </a:solidFill>
                <a:latin typeface="Lucida Console" panose="020B0609040504020204" pitchFamily="49" charset="0"/>
                <a:ea typeface="宋体" panose="02010600030101010101" pitchFamily="2" charset="-122"/>
              </a:rPr>
              <a:t>响应信号</a:t>
            </a:r>
            <a:r>
              <a:rPr lang="en-US" altLang="zh-CN" b="1" dirty="0">
                <a:solidFill>
                  <a:schemeClr val="tx2"/>
                </a:solidFill>
                <a:latin typeface="Lucida Console" panose="020B0609040504020204" pitchFamily="49" charset="0"/>
                <a:ea typeface="宋体" panose="02010600030101010101" pitchFamily="2" charset="-122"/>
              </a:rPr>
              <a:t>,</a:t>
            </a:r>
            <a:r>
              <a:rPr lang="zh-CN" altLang="en-US" b="1" dirty="0">
                <a:solidFill>
                  <a:schemeClr val="tx2"/>
                </a:solidFill>
                <a:latin typeface="Lucida Console" panose="020B0609040504020204" pitchFamily="49" charset="0"/>
                <a:ea typeface="宋体" panose="02010600030101010101" pitchFamily="2" charset="-122"/>
              </a:rPr>
              <a:t>输出</a:t>
            </a:r>
            <a:endParaRPr lang="zh-CN" altLang="en-US" b="1" dirty="0">
              <a:solidFill>
                <a:schemeClr val="tx2"/>
              </a:solidFill>
              <a:latin typeface="Times New Roman" panose="02020603050405020304" pitchFamily="18" charset="0"/>
              <a:ea typeface="宋体" panose="02010600030101010101" pitchFamily="2" charset="-122"/>
            </a:endParaRPr>
          </a:p>
          <a:p>
            <a:pPr algn="just"/>
            <a:r>
              <a:rPr lang="en-US" altLang="zh-CN" b="1" dirty="0">
                <a:solidFill>
                  <a:schemeClr val="accent2"/>
                </a:solidFill>
                <a:latin typeface="Times New Roman" panose="02020603050405020304" pitchFamily="18" charset="0"/>
                <a:ea typeface="宋体" panose="02010600030101010101" pitchFamily="2" charset="-122"/>
              </a:rPr>
              <a:t>MASTER</a:t>
            </a:r>
            <a:r>
              <a:rPr lang="en-US" altLang="zh-CN" b="1" dirty="0">
                <a:solidFill>
                  <a:schemeClr val="tx2"/>
                </a:solidFill>
                <a:latin typeface="Times New Roman" panose="02020603050405020304" pitchFamily="18" charset="0"/>
                <a:ea typeface="宋体" panose="02010600030101010101" pitchFamily="2" charset="-122"/>
              </a:rPr>
              <a:t>——I/O</a:t>
            </a:r>
            <a:r>
              <a:rPr lang="zh-CN" altLang="en-US" b="1" dirty="0">
                <a:solidFill>
                  <a:schemeClr val="tx2"/>
                </a:solidFill>
                <a:latin typeface="Times New Roman" panose="02020603050405020304" pitchFamily="18" charset="0"/>
                <a:ea typeface="宋体" panose="02010600030101010101" pitchFamily="2" charset="-122"/>
              </a:rPr>
              <a:t>处理器发出的总线控制信号，表示它已经控制了总线</a:t>
            </a:r>
            <a:r>
              <a:rPr lang="en-US" altLang="zh-CN" b="1" dirty="0">
                <a:solidFill>
                  <a:schemeClr val="tx2"/>
                </a:solidFill>
                <a:latin typeface="Times New Roman" panose="02020603050405020304" pitchFamily="18" charset="0"/>
                <a:ea typeface="宋体" panose="02010600030101010101" pitchFamily="2" charset="-122"/>
              </a:rPr>
              <a:t>, </a:t>
            </a:r>
            <a:r>
              <a:rPr lang="zh-CN" altLang="en-US" b="1" dirty="0">
                <a:solidFill>
                  <a:schemeClr val="tx2"/>
                </a:solidFill>
                <a:latin typeface="Times New Roman" panose="02020603050405020304" pitchFamily="18" charset="0"/>
                <a:ea typeface="宋体" panose="02010600030101010101" pitchFamily="2" charset="-122"/>
              </a:rPr>
              <a:t>输入</a:t>
            </a:r>
          </a:p>
          <a:p>
            <a:pPr algn="just"/>
            <a:r>
              <a:rPr lang="en-US" altLang="zh-CN" b="1" dirty="0">
                <a:solidFill>
                  <a:schemeClr val="accent2"/>
                </a:solidFill>
                <a:latin typeface="Times New Roman" panose="02020603050405020304" pitchFamily="18" charset="0"/>
                <a:ea typeface="宋体" panose="02010600030101010101" pitchFamily="2" charset="-122"/>
              </a:rPr>
              <a:t>MEMR</a:t>
            </a:r>
            <a:r>
              <a:rPr lang="en-US" altLang="zh-CN" b="1" dirty="0">
                <a:solidFill>
                  <a:schemeClr val="tx2"/>
                </a:solidFill>
                <a:latin typeface="Times New Roman" panose="02020603050405020304" pitchFamily="18" charset="0"/>
                <a:ea typeface="宋体" panose="02010600030101010101" pitchFamily="2" charset="-122"/>
              </a:rPr>
              <a:t>——16M</a:t>
            </a:r>
            <a:r>
              <a:rPr lang="zh-CN" altLang="en-US" b="1" dirty="0">
                <a:solidFill>
                  <a:schemeClr val="tx2"/>
                </a:solidFill>
                <a:latin typeface="Times New Roman" panose="02020603050405020304" pitchFamily="18" charset="0"/>
                <a:ea typeface="宋体" panose="02010600030101010101" pitchFamily="2" charset="-122"/>
              </a:rPr>
              <a:t>存储器读信号，双向</a:t>
            </a:r>
          </a:p>
          <a:p>
            <a:pPr algn="just"/>
            <a:r>
              <a:rPr lang="en-US" altLang="zh-CN" b="1" dirty="0">
                <a:solidFill>
                  <a:schemeClr val="accent2"/>
                </a:solidFill>
                <a:latin typeface="Times New Roman" panose="02020603050405020304" pitchFamily="18" charset="0"/>
                <a:ea typeface="宋体" panose="02010600030101010101" pitchFamily="2" charset="-122"/>
              </a:rPr>
              <a:t>SMEMR</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只读</a:t>
            </a:r>
            <a:r>
              <a:rPr lang="en-US" altLang="zh-CN" b="1" dirty="0">
                <a:solidFill>
                  <a:schemeClr val="tx2"/>
                </a:solidFill>
                <a:latin typeface="Times New Roman" panose="02020603050405020304" pitchFamily="18" charset="0"/>
                <a:ea typeface="宋体" panose="02010600030101010101" pitchFamily="2" charset="-122"/>
              </a:rPr>
              <a:t>1M</a:t>
            </a:r>
            <a:r>
              <a:rPr lang="zh-CN" altLang="en-US" b="1" dirty="0">
                <a:solidFill>
                  <a:schemeClr val="tx2"/>
                </a:solidFill>
                <a:latin typeface="Times New Roman" panose="02020603050405020304" pitchFamily="18" charset="0"/>
                <a:ea typeface="宋体" panose="02010600030101010101" pitchFamily="2" charset="-122"/>
              </a:rPr>
              <a:t>以内的存储空间</a:t>
            </a:r>
          </a:p>
          <a:p>
            <a:pPr algn="just"/>
            <a:r>
              <a:rPr lang="en-US" altLang="zh-CN" b="1" dirty="0">
                <a:solidFill>
                  <a:schemeClr val="accent2"/>
                </a:solidFill>
                <a:latin typeface="Times New Roman" panose="02020603050405020304" pitchFamily="18" charset="0"/>
                <a:ea typeface="宋体" panose="02010600030101010101" pitchFamily="2" charset="-122"/>
              </a:rPr>
              <a:t>MEMW</a:t>
            </a:r>
            <a:r>
              <a:rPr lang="en-US" altLang="zh-CN" b="1" dirty="0">
                <a:solidFill>
                  <a:schemeClr val="tx2"/>
                </a:solidFill>
                <a:latin typeface="Times New Roman" panose="02020603050405020304" pitchFamily="18" charset="0"/>
                <a:ea typeface="宋体" panose="02010600030101010101" pitchFamily="2" charset="-122"/>
              </a:rPr>
              <a:t>——16M</a:t>
            </a:r>
            <a:r>
              <a:rPr lang="zh-CN" altLang="en-US" b="1" dirty="0">
                <a:solidFill>
                  <a:schemeClr val="tx2"/>
                </a:solidFill>
                <a:latin typeface="Times New Roman" panose="02020603050405020304" pitchFamily="18" charset="0"/>
                <a:ea typeface="宋体" panose="02010600030101010101" pitchFamily="2" charset="-122"/>
              </a:rPr>
              <a:t>存储器写信号，双向</a:t>
            </a:r>
          </a:p>
          <a:p>
            <a:pPr algn="just"/>
            <a:r>
              <a:rPr lang="en-US" altLang="zh-CN" b="1" dirty="0">
                <a:solidFill>
                  <a:schemeClr val="accent2"/>
                </a:solidFill>
                <a:latin typeface="Times New Roman" panose="02020603050405020304" pitchFamily="18" charset="0"/>
                <a:ea typeface="宋体" panose="02010600030101010101" pitchFamily="2" charset="-122"/>
              </a:rPr>
              <a:t>SMEMW</a:t>
            </a:r>
            <a:r>
              <a:rPr lang="en-US" altLang="zh-CN" b="1" dirty="0">
                <a:solidFill>
                  <a:schemeClr val="tx2"/>
                </a:solidFill>
                <a:latin typeface="Times New Roman" panose="02020603050405020304" pitchFamily="18" charset="0"/>
                <a:ea typeface="宋体" panose="02010600030101010101" pitchFamily="2" charset="-122"/>
              </a:rPr>
              <a:t>——</a:t>
            </a:r>
            <a:r>
              <a:rPr lang="zh-CN" altLang="en-US" b="1" dirty="0">
                <a:solidFill>
                  <a:schemeClr val="tx2"/>
                </a:solidFill>
                <a:latin typeface="Times New Roman" panose="02020603050405020304" pitchFamily="18" charset="0"/>
                <a:ea typeface="宋体" panose="02010600030101010101" pitchFamily="2" charset="-122"/>
              </a:rPr>
              <a:t>只写</a:t>
            </a:r>
            <a:r>
              <a:rPr lang="en-US" altLang="zh-CN" b="1" dirty="0">
                <a:solidFill>
                  <a:schemeClr val="tx2"/>
                </a:solidFill>
                <a:latin typeface="Times New Roman" panose="02020603050405020304" pitchFamily="18" charset="0"/>
                <a:ea typeface="宋体" panose="02010600030101010101" pitchFamily="2" charset="-122"/>
              </a:rPr>
              <a:t>1M</a:t>
            </a:r>
            <a:r>
              <a:rPr lang="zh-CN" altLang="en-US" b="1" dirty="0">
                <a:solidFill>
                  <a:schemeClr val="tx2"/>
                </a:solidFill>
                <a:latin typeface="Times New Roman" panose="02020603050405020304" pitchFamily="18" charset="0"/>
                <a:ea typeface="宋体" panose="02010600030101010101" pitchFamily="2" charset="-122"/>
              </a:rPr>
              <a:t>以内的存储空间</a:t>
            </a:r>
          </a:p>
        </p:txBody>
      </p:sp>
      <p:sp>
        <p:nvSpPr>
          <p:cNvPr id="276508" name="Rectangle 28"/>
          <p:cNvSpPr/>
          <p:nvPr/>
        </p:nvSpPr>
        <p:spPr>
          <a:xfrm>
            <a:off x="93663" y="128588"/>
            <a:ext cx="4922837" cy="6669087"/>
          </a:xfrm>
          <a:prstGeom prst="rect">
            <a:avLst/>
          </a:prstGeom>
          <a:noFill/>
          <a:ln w="3175" cap="flat" cmpd="sng">
            <a:solidFill>
              <a:srgbClr val="8080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276483"/>
                                        </p:tgtEl>
                                        <p:attrNameLst>
                                          <p:attrName>style.visibility</p:attrName>
                                        </p:attrNameLst>
                                      </p:cBhvr>
                                      <p:to>
                                        <p:strVal val="visible"/>
                                      </p:to>
                                    </p:set>
                                    <p:animEffect transition="in" filter="wheel(4)">
                                      <p:cBhvr>
                                        <p:cTn id="7" dur="2000"/>
                                        <p:tgtEl>
                                          <p:spTgt spid="276483"/>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276507"/>
                                        </p:tgtEl>
                                        <p:attrNameLst>
                                          <p:attrName>style.visibility</p:attrName>
                                        </p:attrNameLst>
                                      </p:cBhvr>
                                      <p:to>
                                        <p:strVal val="visible"/>
                                      </p:to>
                                    </p:set>
                                    <p:animEffect transition="in" filter="wheel(4)">
                                      <p:cBhvr>
                                        <p:cTn id="10" dur="2000"/>
                                        <p:tgtEl>
                                          <p:spTgt spid="276507"/>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276508"/>
                                        </p:tgtEl>
                                        <p:attrNameLst>
                                          <p:attrName>style.visibility</p:attrName>
                                        </p:attrNameLst>
                                      </p:cBhvr>
                                      <p:to>
                                        <p:strVal val="visible"/>
                                      </p:to>
                                    </p:set>
                                    <p:animEffect transition="in" filter="barn(inHorizontal)">
                                      <p:cBhvr>
                                        <p:cTn id="13" dur="1000"/>
                                        <p:tgtEl>
                                          <p:spTgt spid="276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7" grpId="0" bldLvl="0" animBg="1"/>
      <p:bldP spid="27650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p:nvPr/>
        </p:nvSpPr>
        <p:spPr>
          <a:xfrm>
            <a:off x="0" y="0"/>
            <a:ext cx="9144000" cy="6858000"/>
          </a:xfrm>
          <a:prstGeom prst="rect">
            <a:avLst/>
          </a:prstGeom>
          <a:solidFill>
            <a:schemeClr val="bg1"/>
          </a:solidFill>
          <a:ln w="6350" cap="flat" cmpd="sng">
            <a:solidFill>
              <a:srgbClr val="FF00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77507" name="Rectangle 3"/>
          <p:cNvSpPr/>
          <p:nvPr/>
        </p:nvSpPr>
        <p:spPr>
          <a:xfrm>
            <a:off x="0" y="0"/>
            <a:ext cx="9144000" cy="6858000"/>
          </a:xfrm>
          <a:prstGeom prst="rect">
            <a:avLst/>
          </a:prstGeom>
          <a:solidFill>
            <a:srgbClr val="FFFFFF"/>
          </a:solidFill>
          <a:ln w="25400" cap="flat" cmpd="sng">
            <a:solidFill>
              <a:srgbClr val="FF0000"/>
            </a:solidFill>
            <a:prstDash val="solid"/>
            <a:miter/>
            <a:headEnd type="none" w="med" len="med"/>
            <a:tailEnd type="none" w="med" len="med"/>
          </a:ln>
        </p:spPr>
        <p:txBody>
          <a:bodyPr wrap="none" anchor="ctr" anchorCtr="0"/>
          <a:lstStyle/>
          <a:p>
            <a:pPr marL="342900" indent="-342900" algn="ctr">
              <a:spcBef>
                <a:spcPct val="20000"/>
              </a:spcBef>
              <a:buChar char="•"/>
            </a:pPr>
            <a:endParaRPr lang="zh-CN" altLang="zh-CN" sz="2000" dirty="0">
              <a:latin typeface="Arial" panose="020B0604020202020204" pitchFamily="34" charset="0"/>
              <a:ea typeface="宋体" panose="02010600030101010101" pitchFamily="2" charset="-122"/>
            </a:endParaRPr>
          </a:p>
        </p:txBody>
      </p:sp>
      <p:grpSp>
        <p:nvGrpSpPr>
          <p:cNvPr id="277508" name="Group 4"/>
          <p:cNvGrpSpPr/>
          <p:nvPr/>
        </p:nvGrpSpPr>
        <p:grpSpPr>
          <a:xfrm>
            <a:off x="284163" y="142875"/>
            <a:ext cx="3200400" cy="6556375"/>
            <a:chOff x="179" y="90"/>
            <a:chExt cx="2016" cy="4130"/>
          </a:xfrm>
        </p:grpSpPr>
        <p:sp>
          <p:nvSpPr>
            <p:cNvPr id="67588" name="Text Box 5"/>
            <p:cNvSpPr txBox="1"/>
            <p:nvPr/>
          </p:nvSpPr>
          <p:spPr>
            <a:xfrm>
              <a:off x="179" y="90"/>
              <a:ext cx="2016" cy="4130"/>
            </a:xfrm>
            <a:prstGeom prst="rect">
              <a:avLst/>
            </a:prstGeom>
            <a:noFill/>
            <a:ln w="9525">
              <a:noFill/>
            </a:ln>
          </p:spPr>
          <p:txBody>
            <a:bodyPr anchor="t" anchorCtr="0"/>
            <a:lstStyle/>
            <a:p>
              <a:pPr eaLnBrk="0" hangingPunct="0">
                <a:lnSpc>
                  <a:spcPct val="96000"/>
                </a:lnSpc>
              </a:pPr>
              <a:r>
                <a:rPr lang="en-US" altLang="zh-CN" sz="900" dirty="0">
                  <a:latin typeface="Times New Roman" panose="02020603050405020304" pitchFamily="18" charset="0"/>
                  <a:ea typeface="宋体" panose="02010600030101010101" pitchFamily="2" charset="-122"/>
                </a:rPr>
                <a:t>                   </a:t>
              </a:r>
              <a:r>
                <a:rPr lang="en-US" altLang="zh-CN" sz="1400" b="1" dirty="0">
                  <a:latin typeface="Times New Roman" panose="02020603050405020304" pitchFamily="18" charset="0"/>
                  <a:ea typeface="宋体" panose="02010600030101010101" pitchFamily="2" charset="-122"/>
                </a:rPr>
                <a:t>GND                       I/O CH CK                                              RESET DRV                      D7</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+5V                      D6</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IRQ2                      D5</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t>
              </a:r>
              <a:r>
                <a:rPr lang="en-US" altLang="zh-CN" sz="1400" b="1" dirty="0">
                  <a:latin typeface="Lucida Console" panose="020B0609040504020204" pitchFamily="49" charset="0"/>
                  <a:ea typeface="宋体" panose="02010600030101010101" pitchFamily="2" charset="-122"/>
                </a:rPr>
                <a:t>-</a:t>
              </a:r>
              <a:r>
                <a:rPr lang="en-US" altLang="zh-CN" sz="1400" b="1" dirty="0">
                  <a:latin typeface="Times New Roman" panose="02020603050405020304" pitchFamily="18" charset="0"/>
                  <a:ea typeface="宋体" panose="02010600030101010101" pitchFamily="2" charset="-122"/>
                </a:rPr>
                <a:t>5V                       D4   </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DRQ2                       D3</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t>
              </a:r>
              <a:r>
                <a:rPr lang="en-US" altLang="zh-CN" sz="1400" b="1" dirty="0">
                  <a:latin typeface="Lucida Console" panose="020B0609040504020204" pitchFamily="49" charset="0"/>
                  <a:ea typeface="宋体" panose="02010600030101010101" pitchFamily="2" charset="-122"/>
                </a:rPr>
                <a:t>-</a:t>
              </a:r>
              <a:r>
                <a:rPr lang="en-US" altLang="zh-CN" sz="1400" b="1" dirty="0">
                  <a:latin typeface="Times New Roman" panose="02020603050405020304" pitchFamily="18" charset="0"/>
                  <a:ea typeface="宋体" panose="02010600030101010101" pitchFamily="2" charset="-122"/>
                </a:rPr>
                <a:t>12V                         D2</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CARDSLCTD                    D1</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+12V                        D0</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GND                        I/O CH RDY</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MEMW                         AEN</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MEMR                         A19</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IOW                          A18</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IOR                           A17</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DACK3                        A16</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DRQ3                     A15</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DACK1                        A14      </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DRQ1                     A13</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DACK0                      A12</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CLOCK                      A11</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IRQ7                     A10</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IRQ6                     A9</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IRQ5                     A8</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IRQ4                     A7</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IRQ3                     A6</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DACK2                      A5</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T/C                    A4</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ALE                     A3</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+5V                     A2</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OSC                     A1</a:t>
              </a:r>
            </a:p>
            <a:p>
              <a:pPr algn="just" eaLnBrk="0" hangingPunct="0">
                <a:lnSpc>
                  <a:spcPct val="95000"/>
                </a:lnSpc>
              </a:pPr>
              <a:r>
                <a:rPr lang="en-US" altLang="zh-CN" sz="1400" b="1" dirty="0">
                  <a:latin typeface="Times New Roman" panose="02020603050405020304" pitchFamily="18" charset="0"/>
                  <a:ea typeface="宋体" panose="02010600030101010101" pitchFamily="2" charset="-122"/>
                </a:rPr>
                <a:t>             GND                     A0</a:t>
              </a:r>
            </a:p>
            <a:p>
              <a:pPr algn="ctr" eaLnBrk="0" hangingPunct="0">
                <a:spcBef>
                  <a:spcPct val="60000"/>
                </a:spcBef>
              </a:pPr>
              <a:r>
                <a:rPr lang="en-US" altLang="zh-CN" sz="1200" dirty="0">
                  <a:latin typeface="Times New Roman" panose="02020603050405020304" pitchFamily="18" charset="0"/>
                  <a:ea typeface="宋体" panose="02010600030101010101" pitchFamily="2" charset="-122"/>
                </a:rPr>
                <a:t> </a:t>
              </a:r>
              <a:r>
                <a:rPr lang="en-US" altLang="zh-CN" sz="1200" b="1" dirty="0">
                  <a:solidFill>
                    <a:srgbClr val="FF0000"/>
                  </a:solidFill>
                  <a:latin typeface="Times New Roman" panose="02020603050405020304" pitchFamily="18" charset="0"/>
                  <a:ea typeface="宋体" panose="02010600030101010101" pitchFamily="2" charset="-122"/>
                </a:rPr>
                <a:t>  XT</a:t>
              </a:r>
              <a:r>
                <a:rPr lang="zh-CN" altLang="en-US" sz="1200" b="1" dirty="0">
                  <a:solidFill>
                    <a:srgbClr val="FF0000"/>
                  </a:solidFill>
                  <a:latin typeface="Times New Roman" panose="02020603050405020304" pitchFamily="18" charset="0"/>
                  <a:ea typeface="宋体" panose="02010600030101010101" pitchFamily="2" charset="-122"/>
                </a:rPr>
                <a:t>总线信号</a:t>
              </a:r>
            </a:p>
          </p:txBody>
        </p:sp>
        <p:sp>
          <p:nvSpPr>
            <p:cNvPr id="67589" name="Text Box 6"/>
            <p:cNvSpPr txBox="1"/>
            <p:nvPr/>
          </p:nvSpPr>
          <p:spPr>
            <a:xfrm>
              <a:off x="888" y="105"/>
              <a:ext cx="515" cy="4017"/>
            </a:xfrm>
            <a:prstGeom prst="rect">
              <a:avLst/>
            </a:prstGeom>
            <a:solidFill>
              <a:srgbClr val="00FF00"/>
            </a:solidFill>
            <a:ln w="9525" cap="flat" cmpd="sng">
              <a:solidFill>
                <a:srgbClr val="000000"/>
              </a:solidFill>
              <a:prstDash val="solid"/>
              <a:miter/>
              <a:headEnd type="none" w="med" len="med"/>
              <a:tailEnd type="none" w="med" len="med"/>
            </a:ln>
          </p:spPr>
          <p:txBody>
            <a:bodyPr lIns="18000" rIns="18000" anchor="t" anchorCtr="0"/>
            <a:lstStyle/>
            <a:p>
              <a:pPr algn="just" eaLnBrk="0" hangingPunct="0">
                <a:lnSpc>
                  <a:spcPct val="95000"/>
                </a:lnSpc>
              </a:pPr>
              <a:r>
                <a:rPr lang="en-US" altLang="zh-CN" sz="1400" dirty="0">
                  <a:latin typeface="Times New Roman" panose="02020603050405020304" pitchFamily="18" charset="0"/>
                  <a:ea typeface="宋体" panose="02010600030101010101" pitchFamily="2" charset="-122"/>
                </a:rPr>
                <a:t>B1      A1</a:t>
              </a: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r>
                <a:rPr lang="en-US" altLang="zh-CN" sz="1400" dirty="0">
                  <a:latin typeface="Times New Roman" panose="02020603050405020304" pitchFamily="18" charset="0"/>
                  <a:ea typeface="宋体" panose="02010600030101010101" pitchFamily="2" charset="-122"/>
                </a:rPr>
                <a:t>B10   A10</a:t>
              </a:r>
            </a:p>
            <a:p>
              <a:pPr algn="just" eaLnBrk="0" hangingPunct="0">
                <a:lnSpc>
                  <a:spcPct val="95000"/>
                </a:lnSpc>
              </a:pPr>
              <a:r>
                <a:rPr lang="en-US" altLang="zh-CN" sz="1400" dirty="0">
                  <a:latin typeface="Times New Roman" panose="02020603050405020304" pitchFamily="18" charset="0"/>
                  <a:ea typeface="宋体" panose="02010600030101010101" pitchFamily="2" charset="-122"/>
                </a:rPr>
                <a:t> </a:t>
              </a:r>
            </a:p>
            <a:p>
              <a:pPr algn="just" eaLnBrk="0" hangingPunct="0">
                <a:lnSpc>
                  <a:spcPct val="95000"/>
                </a:lnSpc>
              </a:pPr>
              <a:r>
                <a:rPr lang="en-US" altLang="zh-CN" sz="1400" dirty="0">
                  <a:latin typeface="Times New Roman" panose="02020603050405020304" pitchFamily="18" charset="0"/>
                  <a:ea typeface="宋体" panose="02010600030101010101" pitchFamily="2" charset="-122"/>
                </a:rPr>
                <a:t>  </a:t>
              </a: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r>
                <a:rPr lang="en-US" altLang="zh-CN" sz="1400" dirty="0">
                  <a:latin typeface="Times New Roman" panose="02020603050405020304" pitchFamily="18" charset="0"/>
                  <a:ea typeface="宋体" panose="02010600030101010101" pitchFamily="2" charset="-122"/>
                </a:rPr>
                <a:t>B20   A20</a:t>
              </a: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5000"/>
                </a:lnSpc>
              </a:pPr>
              <a:r>
                <a:rPr lang="en-US" altLang="zh-CN" sz="1400" dirty="0">
                  <a:latin typeface="Times New Roman" panose="02020603050405020304" pitchFamily="18" charset="0"/>
                  <a:ea typeface="宋体" panose="02010600030101010101" pitchFamily="2" charset="-122"/>
                </a:rPr>
                <a:t>B31   A31</a:t>
              </a:r>
            </a:p>
            <a:p>
              <a:pPr algn="just" eaLnBrk="0" hangingPunct="0">
                <a:lnSpc>
                  <a:spcPct val="95000"/>
                </a:lnSpc>
              </a:pPr>
              <a:endParaRPr lang="en-US" altLang="zh-CN" sz="1400" dirty="0">
                <a:latin typeface="Times New Roman" panose="02020603050405020304" pitchFamily="18" charset="0"/>
                <a:ea typeface="宋体" panose="02010600030101010101" pitchFamily="2" charset="-122"/>
              </a:endParaRPr>
            </a:p>
          </p:txBody>
        </p:sp>
        <p:sp>
          <p:nvSpPr>
            <p:cNvPr id="67590" name="Line 7"/>
            <p:cNvSpPr/>
            <p:nvPr/>
          </p:nvSpPr>
          <p:spPr>
            <a:xfrm>
              <a:off x="1488" y="122"/>
              <a:ext cx="528" cy="0"/>
            </a:xfrm>
            <a:prstGeom prst="line">
              <a:avLst/>
            </a:prstGeom>
            <a:ln w="9525" cap="flat" cmpd="sng">
              <a:solidFill>
                <a:schemeClr val="tx1"/>
              </a:solidFill>
              <a:prstDash val="solid"/>
              <a:round/>
              <a:headEnd type="none" w="med" len="med"/>
              <a:tailEnd type="none" w="med" len="med"/>
            </a:ln>
          </p:spPr>
        </p:sp>
        <p:sp>
          <p:nvSpPr>
            <p:cNvPr id="67591" name="Line 8"/>
            <p:cNvSpPr/>
            <p:nvPr/>
          </p:nvSpPr>
          <p:spPr>
            <a:xfrm>
              <a:off x="240" y="1008"/>
              <a:ext cx="672" cy="0"/>
            </a:xfrm>
            <a:prstGeom prst="line">
              <a:avLst/>
            </a:prstGeom>
            <a:ln w="9525" cap="flat" cmpd="sng">
              <a:solidFill>
                <a:schemeClr val="tx1"/>
              </a:solidFill>
              <a:prstDash val="solid"/>
              <a:round/>
              <a:headEnd type="none" w="med" len="med"/>
              <a:tailEnd type="none" w="med" len="med"/>
            </a:ln>
          </p:spPr>
        </p:sp>
        <p:sp>
          <p:nvSpPr>
            <p:cNvPr id="67592" name="Line 9"/>
            <p:cNvSpPr/>
            <p:nvPr/>
          </p:nvSpPr>
          <p:spPr>
            <a:xfrm>
              <a:off x="336" y="1392"/>
              <a:ext cx="480" cy="0"/>
            </a:xfrm>
            <a:prstGeom prst="line">
              <a:avLst/>
            </a:prstGeom>
            <a:ln w="9525" cap="flat" cmpd="sng">
              <a:solidFill>
                <a:schemeClr val="tx1"/>
              </a:solidFill>
              <a:prstDash val="solid"/>
              <a:round/>
              <a:headEnd type="none" w="med" len="med"/>
              <a:tailEnd type="none" w="med" len="med"/>
            </a:ln>
          </p:spPr>
        </p:sp>
        <p:sp>
          <p:nvSpPr>
            <p:cNvPr id="67593" name="Line 10"/>
            <p:cNvSpPr/>
            <p:nvPr/>
          </p:nvSpPr>
          <p:spPr>
            <a:xfrm>
              <a:off x="384" y="1518"/>
              <a:ext cx="336" cy="0"/>
            </a:xfrm>
            <a:prstGeom prst="line">
              <a:avLst/>
            </a:prstGeom>
            <a:ln w="9525" cap="flat" cmpd="sng">
              <a:solidFill>
                <a:schemeClr val="tx1"/>
              </a:solidFill>
              <a:prstDash val="solid"/>
              <a:round/>
              <a:headEnd type="none" w="med" len="med"/>
              <a:tailEnd type="none" w="med" len="med"/>
            </a:ln>
          </p:spPr>
        </p:sp>
        <p:sp>
          <p:nvSpPr>
            <p:cNvPr id="67594" name="Line 11"/>
            <p:cNvSpPr/>
            <p:nvPr/>
          </p:nvSpPr>
          <p:spPr>
            <a:xfrm>
              <a:off x="480" y="1632"/>
              <a:ext cx="240" cy="0"/>
            </a:xfrm>
            <a:prstGeom prst="line">
              <a:avLst/>
            </a:prstGeom>
            <a:ln w="9525" cap="flat" cmpd="sng">
              <a:solidFill>
                <a:schemeClr val="tx1"/>
              </a:solidFill>
              <a:prstDash val="solid"/>
              <a:round/>
              <a:headEnd type="none" w="med" len="med"/>
              <a:tailEnd type="none" w="med" len="med"/>
            </a:ln>
          </p:spPr>
        </p:sp>
        <p:sp>
          <p:nvSpPr>
            <p:cNvPr id="67595" name="Line 12"/>
            <p:cNvSpPr/>
            <p:nvPr/>
          </p:nvSpPr>
          <p:spPr>
            <a:xfrm>
              <a:off x="480" y="1776"/>
              <a:ext cx="240" cy="0"/>
            </a:xfrm>
            <a:prstGeom prst="line">
              <a:avLst/>
            </a:prstGeom>
            <a:ln w="9525" cap="flat" cmpd="sng">
              <a:solidFill>
                <a:schemeClr val="tx1"/>
              </a:solidFill>
              <a:prstDash val="solid"/>
              <a:round/>
              <a:headEnd type="none" w="med" len="med"/>
              <a:tailEnd type="none" w="med" len="med"/>
            </a:ln>
          </p:spPr>
        </p:sp>
        <p:sp>
          <p:nvSpPr>
            <p:cNvPr id="67596" name="Line 13"/>
            <p:cNvSpPr/>
            <p:nvPr/>
          </p:nvSpPr>
          <p:spPr>
            <a:xfrm flipV="1">
              <a:off x="384" y="1895"/>
              <a:ext cx="384" cy="0"/>
            </a:xfrm>
            <a:prstGeom prst="line">
              <a:avLst/>
            </a:prstGeom>
            <a:ln w="9525" cap="flat" cmpd="sng">
              <a:solidFill>
                <a:schemeClr val="tx1"/>
              </a:solidFill>
              <a:prstDash val="solid"/>
              <a:round/>
              <a:headEnd type="none" w="med" len="med"/>
              <a:tailEnd type="none" w="med" len="med"/>
            </a:ln>
          </p:spPr>
        </p:sp>
        <p:sp>
          <p:nvSpPr>
            <p:cNvPr id="67597" name="Line 14"/>
            <p:cNvSpPr/>
            <p:nvPr/>
          </p:nvSpPr>
          <p:spPr>
            <a:xfrm flipV="1">
              <a:off x="387" y="2137"/>
              <a:ext cx="384" cy="0"/>
            </a:xfrm>
            <a:prstGeom prst="line">
              <a:avLst/>
            </a:prstGeom>
            <a:ln w="9525" cap="flat" cmpd="sng">
              <a:solidFill>
                <a:schemeClr val="tx1"/>
              </a:solidFill>
              <a:prstDash val="solid"/>
              <a:round/>
              <a:headEnd type="none" w="med" len="med"/>
              <a:tailEnd type="none" w="med" len="med"/>
            </a:ln>
          </p:spPr>
        </p:sp>
        <p:sp>
          <p:nvSpPr>
            <p:cNvPr id="67598" name="Line 15"/>
            <p:cNvSpPr/>
            <p:nvPr/>
          </p:nvSpPr>
          <p:spPr>
            <a:xfrm flipV="1">
              <a:off x="432" y="2400"/>
              <a:ext cx="384" cy="0"/>
            </a:xfrm>
            <a:prstGeom prst="line">
              <a:avLst/>
            </a:prstGeom>
            <a:ln w="9525" cap="flat" cmpd="sng">
              <a:solidFill>
                <a:schemeClr val="tx1"/>
              </a:solidFill>
              <a:prstDash val="solid"/>
              <a:round/>
              <a:headEnd type="none" w="med" len="med"/>
              <a:tailEnd type="none" w="med" len="med"/>
            </a:ln>
          </p:spPr>
        </p:sp>
        <p:sp>
          <p:nvSpPr>
            <p:cNvPr id="67599" name="Line 16"/>
            <p:cNvSpPr/>
            <p:nvPr/>
          </p:nvSpPr>
          <p:spPr>
            <a:xfrm flipV="1">
              <a:off x="432" y="3287"/>
              <a:ext cx="384" cy="0"/>
            </a:xfrm>
            <a:prstGeom prst="line">
              <a:avLst/>
            </a:prstGeom>
            <a:ln w="9525" cap="flat" cmpd="sng">
              <a:solidFill>
                <a:schemeClr val="tx1"/>
              </a:solidFill>
              <a:prstDash val="solid"/>
              <a:round/>
              <a:headEnd type="none" w="med" len="med"/>
              <a:tailEnd type="none" w="med" len="med"/>
            </a:ln>
          </p:spPr>
        </p:sp>
      </p:grpSp>
      <p:grpSp>
        <p:nvGrpSpPr>
          <p:cNvPr id="277521" name="Group 17"/>
          <p:cNvGrpSpPr/>
          <p:nvPr/>
        </p:nvGrpSpPr>
        <p:grpSpPr>
          <a:xfrm>
            <a:off x="3657600" y="0"/>
            <a:ext cx="5486400" cy="6858000"/>
            <a:chOff x="2304" y="0"/>
            <a:chExt cx="3456" cy="4320"/>
          </a:xfrm>
        </p:grpSpPr>
        <p:sp>
          <p:nvSpPr>
            <p:cNvPr id="67601" name="Rectangle 18"/>
            <p:cNvSpPr/>
            <p:nvPr/>
          </p:nvSpPr>
          <p:spPr>
            <a:xfrm>
              <a:off x="2304" y="0"/>
              <a:ext cx="3456" cy="4320"/>
            </a:xfrm>
            <a:prstGeom prst="rect">
              <a:avLst/>
            </a:prstGeom>
            <a:noFill/>
            <a:ln w="9525">
              <a:noFill/>
            </a:ln>
          </p:spPr>
          <p:txBody>
            <a:bodyPr anchor="t" anchorCtr="0"/>
            <a:lstStyle/>
            <a:p>
              <a:pPr algn="just" eaLnBrk="0" hangingPunct="0">
                <a:lnSpc>
                  <a:spcPct val="96000"/>
                </a:lnSpc>
              </a:pPr>
              <a:endParaRPr lang="en-US" altLang="zh-CN" sz="900"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900" dirty="0">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GND                          I/O CH CK</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RESET DRV                   SD7</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+5V                       SD6</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IRQ9                       SD5</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a:t>
              </a:r>
              <a:r>
                <a:rPr lang="en-US" altLang="zh-CN" sz="1400" dirty="0">
                  <a:latin typeface="Lucida Console" panose="020B0609040504020204" pitchFamily="49"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5V                        SD4 </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DRQ2                       SD3</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a:t>
              </a:r>
              <a:r>
                <a:rPr lang="en-US" altLang="zh-CN" sz="1400" dirty="0">
                  <a:latin typeface="Lucida Console" panose="020B0609040504020204" pitchFamily="49"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12V                       SD2</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0WS                         SD1</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+12V                        SD0</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GND                        I/O CH RDY</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SMEMW                      AEN</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SMEMR                        SA19</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IOW                           SA18           MEMCS16                 SBHE           </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IOR                            SA17                IOCS16                  LA23</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DACK3                        SA16                  IRQ10                  LA22</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DRQ3                       SA15                  IRQ11                 LA21</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DACK1                         SA14                 IRQ12                  LA20</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DRQ1                        SA13                 IRQ15                 LA19</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REFRESH                       SA12                 IRQ14                 LA18</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BCLOCK                     SA11               DACK0                 LA17</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IRQ7                         SA10                 DRQ0                 MEMW</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IRQ6                         SA9                DACK5                 MEMR</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IRQ5                         SA8                   DRQ5                   SD8</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IRQ4                         SA7                DACK6                 SD9</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IRQ3                         SA6                   DRQ6                  SD10</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DACK2                       SA5                 DACK7                  SD11</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T/C                           SA4                   DRQ7                  SD12</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BALE                        SA3                      +5V                   SD13</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+5V                         SA2             MASTER                   SD14</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OSC                          SA1                    GND                   SD15</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GND                         SA0                </a:t>
              </a:r>
            </a:p>
            <a:p>
              <a:pPr algn="ctr" eaLnBrk="0" hangingPunct="0">
                <a:lnSpc>
                  <a:spcPct val="112000"/>
                </a:lnSpc>
              </a:pPr>
              <a:r>
                <a:rPr lang="en-US" altLang="zh-CN" sz="1400" dirty="0">
                  <a:latin typeface="Times New Roman" panose="02020603050405020304" pitchFamily="18" charset="0"/>
                  <a:ea typeface="宋体" panose="02010600030101010101" pitchFamily="2" charset="-122"/>
                </a:rPr>
                <a:t> </a:t>
              </a:r>
              <a:r>
                <a:rPr lang="en-US" altLang="zh-CN" sz="1400" b="1" dirty="0">
                  <a:solidFill>
                    <a:srgbClr val="FF0000"/>
                  </a:solidFill>
                  <a:latin typeface="Times New Roman" panose="02020603050405020304" pitchFamily="18" charset="0"/>
                  <a:ea typeface="宋体" panose="02010600030101010101" pitchFamily="2" charset="-122"/>
                </a:rPr>
                <a:t>ISA</a:t>
              </a:r>
              <a:r>
                <a:rPr lang="zh-CN" altLang="en-US" sz="1400" b="1" dirty="0">
                  <a:solidFill>
                    <a:srgbClr val="FF0000"/>
                  </a:solidFill>
                  <a:latin typeface="Times New Roman" panose="02020603050405020304" pitchFamily="18" charset="0"/>
                  <a:ea typeface="宋体" panose="02010600030101010101" pitchFamily="2" charset="-122"/>
                </a:rPr>
                <a:t>总线信号</a:t>
              </a:r>
            </a:p>
            <a:p>
              <a:pPr algn="just" eaLnBrk="0" hangingPunct="0"/>
              <a:endParaRPr lang="en-US" altLang="zh-CN" sz="1400" b="1" dirty="0">
                <a:solidFill>
                  <a:srgbClr val="FF0000"/>
                </a:solidFill>
                <a:latin typeface="Times New Roman" panose="02020603050405020304" pitchFamily="18" charset="0"/>
                <a:ea typeface="宋体" panose="02010600030101010101" pitchFamily="2" charset="-122"/>
              </a:endParaRPr>
            </a:p>
          </p:txBody>
        </p:sp>
        <p:sp>
          <p:nvSpPr>
            <p:cNvPr id="67602" name="Text Box 19"/>
            <p:cNvSpPr txBox="1"/>
            <p:nvPr/>
          </p:nvSpPr>
          <p:spPr>
            <a:xfrm>
              <a:off x="2960" y="88"/>
              <a:ext cx="520" cy="4043"/>
            </a:xfrm>
            <a:prstGeom prst="rect">
              <a:avLst/>
            </a:prstGeom>
            <a:solidFill>
              <a:srgbClr val="CCFFCC"/>
            </a:solidFill>
            <a:ln w="9525" cap="flat" cmpd="sng">
              <a:solidFill>
                <a:srgbClr val="000000"/>
              </a:solidFill>
              <a:prstDash val="solid"/>
              <a:miter/>
              <a:headEnd type="none" w="med" len="med"/>
              <a:tailEnd type="none" w="med" len="med"/>
            </a:ln>
          </p:spPr>
          <p:txBody>
            <a:bodyPr lIns="18000" rIns="18000" anchor="t" anchorCtr="0"/>
            <a:lstStyle/>
            <a:p>
              <a:pPr algn="just" eaLnBrk="0" hangingPunct="0">
                <a:lnSpc>
                  <a:spcPct val="96000"/>
                </a:lnSpc>
              </a:pPr>
              <a:r>
                <a:rPr lang="en-US" altLang="zh-CN" sz="1400" dirty="0">
                  <a:latin typeface="Times New Roman" panose="02020603050405020304" pitchFamily="18" charset="0"/>
                  <a:ea typeface="宋体" panose="02010600030101010101" pitchFamily="2" charset="-122"/>
                </a:rPr>
                <a:t>B1        A1</a:t>
              </a: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a:t>
              </a: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B10    A10</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a:t>
              </a: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B20    A20</a:t>
              </a: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B31    A31</a:t>
              </a: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p:txBody>
        </p:sp>
        <p:sp>
          <p:nvSpPr>
            <p:cNvPr id="67603" name="Text Box 20"/>
            <p:cNvSpPr txBox="1"/>
            <p:nvPr/>
          </p:nvSpPr>
          <p:spPr>
            <a:xfrm>
              <a:off x="4600" y="1623"/>
              <a:ext cx="460" cy="2361"/>
            </a:xfrm>
            <a:prstGeom prst="rect">
              <a:avLst/>
            </a:prstGeom>
            <a:solidFill>
              <a:srgbClr val="CCFFCC"/>
            </a:solidFill>
            <a:ln w="9525" cap="flat" cmpd="sng">
              <a:solidFill>
                <a:srgbClr val="000000"/>
              </a:solidFill>
              <a:prstDash val="solid"/>
              <a:miter/>
              <a:headEnd type="none" w="med" len="med"/>
              <a:tailEnd type="none" w="med" len="med"/>
            </a:ln>
          </p:spPr>
          <p:txBody>
            <a:bodyPr lIns="18000" rIns="18000" anchor="t" anchorCtr="0"/>
            <a:lstStyle/>
            <a:p>
              <a:pPr algn="just" eaLnBrk="0" hangingPunct="0">
                <a:lnSpc>
                  <a:spcPct val="96000"/>
                </a:lnSpc>
              </a:pPr>
              <a:r>
                <a:rPr lang="en-US" altLang="zh-CN" sz="1400" dirty="0">
                  <a:latin typeface="Times New Roman" panose="02020603050405020304" pitchFamily="18" charset="0"/>
                  <a:ea typeface="宋体" panose="02010600030101010101" pitchFamily="2" charset="-122"/>
                </a:rPr>
                <a:t>D1     C1</a:t>
              </a: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D10 C10</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a:t>
              </a: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  </a:t>
              </a: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endParaRPr lang="en-US" altLang="zh-CN" sz="1400" dirty="0">
                <a:latin typeface="Times New Roman" panose="02020603050405020304" pitchFamily="18" charset="0"/>
                <a:ea typeface="宋体" panose="02010600030101010101" pitchFamily="2" charset="-122"/>
              </a:endParaRPr>
            </a:p>
            <a:p>
              <a:pPr algn="just" eaLnBrk="0" hangingPunct="0">
                <a:lnSpc>
                  <a:spcPct val="96000"/>
                </a:lnSpc>
              </a:pPr>
              <a:r>
                <a:rPr lang="en-US" altLang="zh-CN" sz="1400" dirty="0">
                  <a:latin typeface="Times New Roman" panose="02020603050405020304" pitchFamily="18" charset="0"/>
                  <a:ea typeface="宋体" panose="02010600030101010101" pitchFamily="2" charset="-122"/>
                </a:rPr>
                <a:t>D18 C18</a:t>
              </a:r>
            </a:p>
          </p:txBody>
        </p:sp>
        <p:sp>
          <p:nvSpPr>
            <p:cNvPr id="67604" name="Line 21"/>
            <p:cNvSpPr/>
            <p:nvPr/>
          </p:nvSpPr>
          <p:spPr>
            <a:xfrm>
              <a:off x="2640" y="1008"/>
              <a:ext cx="192" cy="0"/>
            </a:xfrm>
            <a:prstGeom prst="line">
              <a:avLst/>
            </a:prstGeom>
            <a:ln w="9525" cap="flat" cmpd="sng">
              <a:solidFill>
                <a:schemeClr val="tx1"/>
              </a:solidFill>
              <a:prstDash val="solid"/>
              <a:round/>
              <a:headEnd type="none" w="med" len="med"/>
              <a:tailEnd type="none" w="med" len="med"/>
            </a:ln>
          </p:spPr>
        </p:sp>
        <p:sp>
          <p:nvSpPr>
            <p:cNvPr id="67605" name="Line 22"/>
            <p:cNvSpPr/>
            <p:nvPr/>
          </p:nvSpPr>
          <p:spPr>
            <a:xfrm>
              <a:off x="2448" y="1392"/>
              <a:ext cx="432" cy="0"/>
            </a:xfrm>
            <a:prstGeom prst="line">
              <a:avLst/>
            </a:prstGeom>
            <a:ln w="9525" cap="flat" cmpd="sng">
              <a:solidFill>
                <a:schemeClr val="tx1"/>
              </a:solidFill>
              <a:prstDash val="solid"/>
              <a:round/>
              <a:headEnd type="none" w="med" len="med"/>
              <a:tailEnd type="none" w="med" len="med"/>
            </a:ln>
          </p:spPr>
        </p:sp>
        <p:sp>
          <p:nvSpPr>
            <p:cNvPr id="67606" name="Line 23"/>
            <p:cNvSpPr/>
            <p:nvPr/>
          </p:nvSpPr>
          <p:spPr>
            <a:xfrm>
              <a:off x="2448" y="1514"/>
              <a:ext cx="384" cy="0"/>
            </a:xfrm>
            <a:prstGeom prst="line">
              <a:avLst/>
            </a:prstGeom>
            <a:ln w="9525" cap="flat" cmpd="sng">
              <a:solidFill>
                <a:schemeClr val="tx1"/>
              </a:solidFill>
              <a:prstDash val="solid"/>
              <a:round/>
              <a:headEnd type="none" w="med" len="med"/>
              <a:tailEnd type="none" w="med" len="med"/>
            </a:ln>
          </p:spPr>
        </p:sp>
        <p:sp>
          <p:nvSpPr>
            <p:cNvPr id="67607" name="Line 24"/>
            <p:cNvSpPr/>
            <p:nvPr/>
          </p:nvSpPr>
          <p:spPr>
            <a:xfrm flipV="1">
              <a:off x="2544" y="1652"/>
              <a:ext cx="192" cy="0"/>
            </a:xfrm>
            <a:prstGeom prst="line">
              <a:avLst/>
            </a:prstGeom>
            <a:ln w="9525" cap="flat" cmpd="sng">
              <a:solidFill>
                <a:schemeClr val="tx1"/>
              </a:solidFill>
              <a:prstDash val="solid"/>
              <a:round/>
              <a:headEnd type="none" w="med" len="med"/>
              <a:tailEnd type="none" w="med" len="med"/>
            </a:ln>
          </p:spPr>
        </p:sp>
        <p:sp>
          <p:nvSpPr>
            <p:cNvPr id="67608" name="Line 25"/>
            <p:cNvSpPr/>
            <p:nvPr/>
          </p:nvSpPr>
          <p:spPr>
            <a:xfrm>
              <a:off x="2544" y="1776"/>
              <a:ext cx="192" cy="0"/>
            </a:xfrm>
            <a:prstGeom prst="line">
              <a:avLst/>
            </a:prstGeom>
            <a:ln w="9525" cap="flat" cmpd="sng">
              <a:solidFill>
                <a:schemeClr val="tx1"/>
              </a:solidFill>
              <a:prstDash val="solid"/>
              <a:round/>
              <a:headEnd type="none" w="med" len="med"/>
              <a:tailEnd type="none" w="med" len="med"/>
            </a:ln>
          </p:spPr>
        </p:sp>
        <p:sp>
          <p:nvSpPr>
            <p:cNvPr id="67609" name="Line 26"/>
            <p:cNvSpPr/>
            <p:nvPr/>
          </p:nvSpPr>
          <p:spPr>
            <a:xfrm>
              <a:off x="2496" y="1920"/>
              <a:ext cx="336" cy="0"/>
            </a:xfrm>
            <a:prstGeom prst="line">
              <a:avLst/>
            </a:prstGeom>
            <a:ln w="9525" cap="flat" cmpd="sng">
              <a:solidFill>
                <a:schemeClr val="tx1"/>
              </a:solidFill>
              <a:prstDash val="solid"/>
              <a:round/>
              <a:headEnd type="none" w="med" len="med"/>
              <a:tailEnd type="none" w="med" len="med"/>
            </a:ln>
          </p:spPr>
        </p:sp>
        <p:sp>
          <p:nvSpPr>
            <p:cNvPr id="67610" name="Line 27"/>
            <p:cNvSpPr/>
            <p:nvPr/>
          </p:nvSpPr>
          <p:spPr>
            <a:xfrm>
              <a:off x="2496" y="2160"/>
              <a:ext cx="336" cy="0"/>
            </a:xfrm>
            <a:prstGeom prst="line">
              <a:avLst/>
            </a:prstGeom>
            <a:ln w="9525" cap="flat" cmpd="sng">
              <a:solidFill>
                <a:schemeClr val="tx1"/>
              </a:solidFill>
              <a:prstDash val="solid"/>
              <a:round/>
              <a:headEnd type="none" w="med" len="med"/>
              <a:tailEnd type="none" w="med" len="med"/>
            </a:ln>
          </p:spPr>
        </p:sp>
        <p:sp>
          <p:nvSpPr>
            <p:cNvPr id="67611" name="Line 28"/>
            <p:cNvSpPr/>
            <p:nvPr/>
          </p:nvSpPr>
          <p:spPr>
            <a:xfrm>
              <a:off x="2400" y="2425"/>
              <a:ext cx="528" cy="0"/>
            </a:xfrm>
            <a:prstGeom prst="line">
              <a:avLst/>
            </a:prstGeom>
            <a:ln w="9525" cap="flat" cmpd="sng">
              <a:solidFill>
                <a:schemeClr val="tx1"/>
              </a:solidFill>
              <a:prstDash val="solid"/>
              <a:round/>
              <a:headEnd type="none" w="med" len="med"/>
              <a:tailEnd type="none" w="med" len="med"/>
            </a:ln>
          </p:spPr>
        </p:sp>
        <p:sp>
          <p:nvSpPr>
            <p:cNvPr id="67612" name="Line 29"/>
            <p:cNvSpPr/>
            <p:nvPr/>
          </p:nvSpPr>
          <p:spPr>
            <a:xfrm>
              <a:off x="2544" y="3334"/>
              <a:ext cx="336" cy="0"/>
            </a:xfrm>
            <a:prstGeom prst="line">
              <a:avLst/>
            </a:prstGeom>
            <a:ln w="9525" cap="flat" cmpd="sng">
              <a:solidFill>
                <a:schemeClr val="tx1"/>
              </a:solidFill>
              <a:prstDash val="solid"/>
              <a:round/>
              <a:headEnd type="none" w="med" len="med"/>
              <a:tailEnd type="none" w="med" len="med"/>
            </a:ln>
          </p:spPr>
        </p:sp>
        <p:sp>
          <p:nvSpPr>
            <p:cNvPr id="67613" name="Line 30"/>
            <p:cNvSpPr/>
            <p:nvPr/>
          </p:nvSpPr>
          <p:spPr>
            <a:xfrm>
              <a:off x="3504" y="122"/>
              <a:ext cx="528" cy="0"/>
            </a:xfrm>
            <a:prstGeom prst="line">
              <a:avLst/>
            </a:prstGeom>
            <a:ln w="9525" cap="flat" cmpd="sng">
              <a:solidFill>
                <a:schemeClr val="tx1"/>
              </a:solidFill>
              <a:prstDash val="solid"/>
              <a:round/>
              <a:headEnd type="none" w="med" len="med"/>
              <a:tailEnd type="none" w="med" len="med"/>
            </a:ln>
          </p:spPr>
        </p:sp>
        <p:sp>
          <p:nvSpPr>
            <p:cNvPr id="67614" name="Line 31"/>
            <p:cNvSpPr/>
            <p:nvPr/>
          </p:nvSpPr>
          <p:spPr>
            <a:xfrm>
              <a:off x="4080" y="1657"/>
              <a:ext cx="480" cy="0"/>
            </a:xfrm>
            <a:prstGeom prst="line">
              <a:avLst/>
            </a:prstGeom>
            <a:ln w="9525" cap="flat" cmpd="sng">
              <a:solidFill>
                <a:schemeClr val="tx1"/>
              </a:solidFill>
              <a:prstDash val="solid"/>
              <a:round/>
              <a:headEnd type="none" w="med" len="med"/>
              <a:tailEnd type="none" w="med" len="med"/>
            </a:ln>
          </p:spPr>
        </p:sp>
        <p:sp>
          <p:nvSpPr>
            <p:cNvPr id="67615" name="Line 32"/>
            <p:cNvSpPr/>
            <p:nvPr/>
          </p:nvSpPr>
          <p:spPr>
            <a:xfrm>
              <a:off x="4224" y="1776"/>
              <a:ext cx="336" cy="0"/>
            </a:xfrm>
            <a:prstGeom prst="line">
              <a:avLst/>
            </a:prstGeom>
            <a:ln w="9525" cap="flat" cmpd="sng">
              <a:solidFill>
                <a:schemeClr val="tx1"/>
              </a:solidFill>
              <a:prstDash val="solid"/>
              <a:round/>
              <a:headEnd type="none" w="med" len="med"/>
              <a:tailEnd type="none" w="med" len="med"/>
            </a:ln>
          </p:spPr>
        </p:sp>
        <p:sp>
          <p:nvSpPr>
            <p:cNvPr id="67616" name="Line 33"/>
            <p:cNvSpPr/>
            <p:nvPr/>
          </p:nvSpPr>
          <p:spPr>
            <a:xfrm>
              <a:off x="4272" y="2566"/>
              <a:ext cx="288" cy="0"/>
            </a:xfrm>
            <a:prstGeom prst="line">
              <a:avLst/>
            </a:prstGeom>
            <a:ln w="9525" cap="flat" cmpd="sng">
              <a:solidFill>
                <a:schemeClr val="tx1"/>
              </a:solidFill>
              <a:prstDash val="solid"/>
              <a:round/>
              <a:headEnd type="none" w="med" len="med"/>
              <a:tailEnd type="none" w="med" len="med"/>
            </a:ln>
          </p:spPr>
        </p:sp>
        <p:sp>
          <p:nvSpPr>
            <p:cNvPr id="67617" name="Line 34"/>
            <p:cNvSpPr/>
            <p:nvPr/>
          </p:nvSpPr>
          <p:spPr>
            <a:xfrm>
              <a:off x="4224" y="2808"/>
              <a:ext cx="336" cy="0"/>
            </a:xfrm>
            <a:prstGeom prst="line">
              <a:avLst/>
            </a:prstGeom>
            <a:ln w="9525" cap="flat" cmpd="sng">
              <a:solidFill>
                <a:schemeClr val="tx1"/>
              </a:solidFill>
              <a:prstDash val="solid"/>
              <a:round/>
              <a:headEnd type="none" w="med" len="med"/>
              <a:tailEnd type="none" w="med" len="med"/>
            </a:ln>
          </p:spPr>
        </p:sp>
        <p:sp>
          <p:nvSpPr>
            <p:cNvPr id="67618" name="Line 35"/>
            <p:cNvSpPr/>
            <p:nvPr/>
          </p:nvSpPr>
          <p:spPr>
            <a:xfrm>
              <a:off x="4224" y="3072"/>
              <a:ext cx="384" cy="0"/>
            </a:xfrm>
            <a:prstGeom prst="line">
              <a:avLst/>
            </a:prstGeom>
            <a:ln w="9525" cap="flat" cmpd="sng">
              <a:solidFill>
                <a:schemeClr val="tx1"/>
              </a:solidFill>
              <a:prstDash val="solid"/>
              <a:round/>
              <a:headEnd type="none" w="med" len="med"/>
              <a:tailEnd type="none" w="med" len="med"/>
            </a:ln>
          </p:spPr>
        </p:sp>
        <p:sp>
          <p:nvSpPr>
            <p:cNvPr id="67619" name="Line 36"/>
            <p:cNvSpPr/>
            <p:nvPr/>
          </p:nvSpPr>
          <p:spPr>
            <a:xfrm>
              <a:off x="4224" y="3337"/>
              <a:ext cx="336" cy="0"/>
            </a:xfrm>
            <a:prstGeom prst="line">
              <a:avLst/>
            </a:prstGeom>
            <a:ln w="9525" cap="flat" cmpd="sng">
              <a:solidFill>
                <a:schemeClr val="tx1"/>
              </a:solidFill>
              <a:prstDash val="solid"/>
              <a:round/>
              <a:headEnd type="none" w="med" len="med"/>
              <a:tailEnd type="none" w="med" len="med"/>
            </a:ln>
          </p:spPr>
        </p:sp>
        <p:sp>
          <p:nvSpPr>
            <p:cNvPr id="67620" name="Line 37"/>
            <p:cNvSpPr/>
            <p:nvPr/>
          </p:nvSpPr>
          <p:spPr>
            <a:xfrm>
              <a:off x="4080" y="3717"/>
              <a:ext cx="480" cy="0"/>
            </a:xfrm>
            <a:prstGeom prst="line">
              <a:avLst/>
            </a:prstGeom>
            <a:ln w="9525" cap="flat" cmpd="sng">
              <a:solidFill>
                <a:schemeClr val="tx1"/>
              </a:solidFill>
              <a:prstDash val="solid"/>
              <a:round/>
              <a:headEnd type="none" w="med" len="med"/>
              <a:tailEnd type="none" w="med" len="med"/>
            </a:ln>
          </p:spPr>
        </p:sp>
        <p:sp>
          <p:nvSpPr>
            <p:cNvPr id="67621" name="Line 38"/>
            <p:cNvSpPr/>
            <p:nvPr/>
          </p:nvSpPr>
          <p:spPr>
            <a:xfrm>
              <a:off x="5088" y="1657"/>
              <a:ext cx="240" cy="0"/>
            </a:xfrm>
            <a:prstGeom prst="line">
              <a:avLst/>
            </a:prstGeom>
            <a:ln w="9525" cap="flat" cmpd="sng">
              <a:solidFill>
                <a:schemeClr val="tx1"/>
              </a:solidFill>
              <a:prstDash val="solid"/>
              <a:round/>
              <a:headEnd type="none" w="med" len="med"/>
              <a:tailEnd type="none" w="med" len="med"/>
            </a:ln>
          </p:spPr>
        </p:sp>
        <p:sp>
          <p:nvSpPr>
            <p:cNvPr id="67622" name="Line 39"/>
            <p:cNvSpPr/>
            <p:nvPr/>
          </p:nvSpPr>
          <p:spPr>
            <a:xfrm>
              <a:off x="5088" y="2688"/>
              <a:ext cx="336" cy="0"/>
            </a:xfrm>
            <a:prstGeom prst="line">
              <a:avLst/>
            </a:prstGeom>
            <a:ln w="9525" cap="flat" cmpd="sng">
              <a:solidFill>
                <a:schemeClr val="tx1"/>
              </a:solidFill>
              <a:prstDash val="solid"/>
              <a:round/>
              <a:headEnd type="none" w="med" len="med"/>
              <a:tailEnd type="none" w="med" len="med"/>
            </a:ln>
          </p:spPr>
        </p:sp>
        <p:sp>
          <p:nvSpPr>
            <p:cNvPr id="67623" name="Line 40"/>
            <p:cNvSpPr/>
            <p:nvPr/>
          </p:nvSpPr>
          <p:spPr>
            <a:xfrm>
              <a:off x="5084" y="2806"/>
              <a:ext cx="336" cy="0"/>
            </a:xfrm>
            <a:prstGeom prst="line">
              <a:avLst/>
            </a:prstGeom>
            <a:ln w="9525" cap="flat" cmpd="sng">
              <a:solidFill>
                <a:schemeClr val="tx1"/>
              </a:solidFill>
              <a:prstDash val="solid"/>
              <a:round/>
              <a:headEnd type="none" w="med" len="med"/>
              <a:tailEnd type="none" w="med" len="med"/>
            </a:ln>
          </p:spPr>
        </p:sp>
      </p:grpSp>
      <p:sp>
        <p:nvSpPr>
          <p:cNvPr id="277545" name="Rectangle 41"/>
          <p:cNvSpPr/>
          <p:nvPr/>
        </p:nvSpPr>
        <p:spPr>
          <a:xfrm>
            <a:off x="3363913" y="28575"/>
            <a:ext cx="53975" cy="6788150"/>
          </a:xfrm>
          <a:prstGeom prst="rect">
            <a:avLst/>
          </a:prstGeom>
          <a:solidFill>
            <a:srgbClr val="008000"/>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77546" name="Rectangle 42"/>
          <p:cNvSpPr/>
          <p:nvPr/>
        </p:nvSpPr>
        <p:spPr>
          <a:xfrm>
            <a:off x="3457575" y="28575"/>
            <a:ext cx="53975" cy="6788150"/>
          </a:xfrm>
          <a:prstGeom prst="rect">
            <a:avLst/>
          </a:prstGeom>
          <a:solidFill>
            <a:srgbClr val="808000"/>
          </a:solidFill>
          <a:ln w="6350">
            <a:noFill/>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277507"/>
                                        </p:tgtEl>
                                        <p:attrNameLst>
                                          <p:attrName>style.visibility</p:attrName>
                                        </p:attrNameLst>
                                      </p:cBhvr>
                                      <p:to>
                                        <p:strVal val="visible"/>
                                      </p:to>
                                    </p:set>
                                    <p:animEffect transition="in" filter="wheel(4)">
                                      <p:cBhvr>
                                        <p:cTn id="7" dur="2000"/>
                                        <p:tgtEl>
                                          <p:spTgt spid="277507"/>
                                        </p:tgtEl>
                                      </p:cBhvr>
                                    </p:animEffect>
                                  </p:childTnLst>
                                </p:cTn>
                              </p:par>
                              <p:par>
                                <p:cTn id="8" presetID="21" presetClass="entr" presetSubtype="4" fill="hold" nodeType="withEffect">
                                  <p:stCondLst>
                                    <p:cond delay="0"/>
                                  </p:stCondLst>
                                  <p:childTnLst>
                                    <p:set>
                                      <p:cBhvr>
                                        <p:cTn id="9" dur="1" fill="hold">
                                          <p:stCondLst>
                                            <p:cond delay="0"/>
                                          </p:stCondLst>
                                        </p:cTn>
                                        <p:tgtEl>
                                          <p:spTgt spid="277508"/>
                                        </p:tgtEl>
                                        <p:attrNameLst>
                                          <p:attrName>style.visibility</p:attrName>
                                        </p:attrNameLst>
                                      </p:cBhvr>
                                      <p:to>
                                        <p:strVal val="visible"/>
                                      </p:to>
                                    </p:set>
                                    <p:animEffect transition="in" filter="wheel(4)">
                                      <p:cBhvr>
                                        <p:cTn id="10" dur="2000"/>
                                        <p:tgtEl>
                                          <p:spTgt spid="277508"/>
                                        </p:tgtEl>
                                      </p:cBhvr>
                                    </p:animEffect>
                                  </p:childTnLst>
                                </p:cTn>
                              </p:par>
                              <p:par>
                                <p:cTn id="11" presetID="21" presetClass="entr" presetSubtype="4" fill="hold" nodeType="withEffect">
                                  <p:stCondLst>
                                    <p:cond delay="0"/>
                                  </p:stCondLst>
                                  <p:childTnLst>
                                    <p:set>
                                      <p:cBhvr>
                                        <p:cTn id="12" dur="1" fill="hold">
                                          <p:stCondLst>
                                            <p:cond delay="0"/>
                                          </p:stCondLst>
                                        </p:cTn>
                                        <p:tgtEl>
                                          <p:spTgt spid="277521"/>
                                        </p:tgtEl>
                                        <p:attrNameLst>
                                          <p:attrName>style.visibility</p:attrName>
                                        </p:attrNameLst>
                                      </p:cBhvr>
                                      <p:to>
                                        <p:strVal val="visible"/>
                                      </p:to>
                                    </p:set>
                                    <p:animEffect transition="in" filter="wheel(4)">
                                      <p:cBhvr>
                                        <p:cTn id="13" dur="2000"/>
                                        <p:tgtEl>
                                          <p:spTgt spid="277521"/>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277546"/>
                                        </p:tgtEl>
                                        <p:attrNameLst>
                                          <p:attrName>style.visibility</p:attrName>
                                        </p:attrNameLst>
                                      </p:cBhvr>
                                      <p:to>
                                        <p:strVal val="visible"/>
                                      </p:to>
                                    </p:set>
                                    <p:animEffect transition="in" filter="wheel(4)">
                                      <p:cBhvr>
                                        <p:cTn id="16" dur="2000"/>
                                        <p:tgtEl>
                                          <p:spTgt spid="277546"/>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277545"/>
                                        </p:tgtEl>
                                        <p:attrNameLst>
                                          <p:attrName>style.visibility</p:attrName>
                                        </p:attrNameLst>
                                      </p:cBhvr>
                                      <p:to>
                                        <p:strVal val="visible"/>
                                      </p:to>
                                    </p:set>
                                    <p:animEffect transition="in" filter="wheel(4)">
                                      <p:cBhvr>
                                        <p:cTn id="19" dur="2000"/>
                                        <p:tgtEl>
                                          <p:spTgt spid="277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7" grpId="0" animBg="1"/>
      <p:bldP spid="277545" grpId="0" animBg="1"/>
      <p:bldP spid="27754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579" name="Picture 3" descr="200621515356833"/>
          <p:cNvPicPr>
            <a:picLocks noChangeAspect="1"/>
          </p:cNvPicPr>
          <p:nvPr/>
        </p:nvPicPr>
        <p:blipFill>
          <a:blip r:embed="rId2"/>
          <a:stretch>
            <a:fillRect/>
          </a:stretch>
        </p:blipFill>
        <p:spPr>
          <a:xfrm>
            <a:off x="0" y="0"/>
            <a:ext cx="9144000" cy="65436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0579"/>
                                        </p:tgtEl>
                                        <p:attrNameLst>
                                          <p:attrName>style.visibility</p:attrName>
                                        </p:attrNameLst>
                                      </p:cBhvr>
                                      <p:to>
                                        <p:strVal val="visible"/>
                                      </p:to>
                                    </p:set>
                                    <p:anim calcmode="lin" valueType="num">
                                      <p:cBhvr>
                                        <p:cTn id="7" dur="1000" fill="hold"/>
                                        <p:tgtEl>
                                          <p:spTgt spid="280579"/>
                                        </p:tgtEl>
                                        <p:attrNameLst>
                                          <p:attrName>ppt_w</p:attrName>
                                        </p:attrNameLst>
                                      </p:cBhvr>
                                      <p:tavLst>
                                        <p:tav tm="0">
                                          <p:val>
                                            <p:fltVal val="0"/>
                                          </p:val>
                                        </p:tav>
                                        <p:tav tm="100000">
                                          <p:val>
                                            <p:strVal val="#ppt_w"/>
                                          </p:val>
                                        </p:tav>
                                      </p:tavLst>
                                    </p:anim>
                                    <p:anim calcmode="lin" valueType="num">
                                      <p:cBhvr>
                                        <p:cTn id="8" dur="1000" fill="hold"/>
                                        <p:tgtEl>
                                          <p:spTgt spid="28057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 presetClass="exit" presetSubtype="10" fill="hold" nodeType="clickEffect">
                                  <p:stCondLst>
                                    <p:cond delay="0"/>
                                  </p:stCondLst>
                                  <p:childTnLst>
                                    <p:animEffect transition="out" filter="checkerboard(across)">
                                      <p:cBhvr>
                                        <p:cTn id="12" dur="1000"/>
                                        <p:tgtEl>
                                          <p:spTgt spid="280579"/>
                                        </p:tgtEl>
                                      </p:cBhvr>
                                    </p:animEffect>
                                    <p:set>
                                      <p:cBhvr>
                                        <p:cTn id="13" dur="1" fill="hold">
                                          <p:stCondLst>
                                            <p:cond delay="999"/>
                                          </p:stCondLst>
                                        </p:cTn>
                                        <p:tgtEl>
                                          <p:spTgt spid="2805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556" name="Picture 4" descr="big_bus6"/>
          <p:cNvPicPr>
            <a:picLocks noChangeAspect="1"/>
          </p:cNvPicPr>
          <p:nvPr/>
        </p:nvPicPr>
        <p:blipFill>
          <a:blip r:embed="rId2"/>
          <a:stretch>
            <a:fillRect/>
          </a:stretch>
        </p:blipFill>
        <p:spPr>
          <a:xfrm>
            <a:off x="0" y="0"/>
            <a:ext cx="9144000" cy="6172200"/>
          </a:xfrm>
          <a:prstGeom prst="rect">
            <a:avLst/>
          </a:prstGeom>
          <a:noFill/>
          <a:ln w="9525">
            <a:noFill/>
          </a:ln>
        </p:spPr>
      </p:pic>
      <p:sp>
        <p:nvSpPr>
          <p:cNvPr id="69634" name="Text Box 5"/>
          <p:cNvSpPr txBox="1"/>
          <p:nvPr/>
        </p:nvSpPr>
        <p:spPr>
          <a:xfrm>
            <a:off x="2133600" y="6248400"/>
            <a:ext cx="4648200" cy="522288"/>
          </a:xfrm>
          <a:prstGeom prst="rect">
            <a:avLst/>
          </a:prstGeom>
          <a:noFill/>
          <a:ln w="9525">
            <a:noFill/>
          </a:ln>
        </p:spPr>
        <p:txBody>
          <a:bodyPr anchor="t" anchorCtr="0">
            <a:spAutoFit/>
          </a:bodyPr>
          <a:lstStyle/>
          <a:p>
            <a:pPr>
              <a:spcBef>
                <a:spcPct val="50000"/>
              </a:spcBef>
            </a:pPr>
            <a:r>
              <a:rPr lang="zh-CN" altLang="en-US" sz="2800" b="1" dirty="0">
                <a:latin typeface="Arial" panose="020B0604020202020204" pitchFamily="34" charset="0"/>
                <a:ea typeface="宋体" panose="02010600030101010101" pitchFamily="2" charset="-122"/>
              </a:rPr>
              <a:t>采用</a:t>
            </a:r>
            <a:r>
              <a:rPr lang="en-US" altLang="zh-CN" sz="2800" b="1" dirty="0">
                <a:latin typeface="Arial" panose="020B0604020202020204" pitchFamily="34" charset="0"/>
                <a:ea typeface="宋体" panose="02010600030101010101" pitchFamily="2" charset="-122"/>
              </a:rPr>
              <a:t>16</a:t>
            </a:r>
            <a:r>
              <a:rPr lang="zh-CN" altLang="en-US" sz="2800" b="1" dirty="0">
                <a:latin typeface="Arial" panose="020B0604020202020204" pitchFamily="34" charset="0"/>
                <a:ea typeface="宋体" panose="02010600030101010101" pitchFamily="2" charset="-122"/>
              </a:rPr>
              <a:t>位</a:t>
            </a:r>
            <a:r>
              <a:rPr lang="en-US" altLang="zh-CN" sz="2800" b="1" dirty="0">
                <a:latin typeface="Arial" panose="020B0604020202020204" pitchFamily="34" charset="0"/>
                <a:ea typeface="宋体" panose="02010600030101010101" pitchFamily="2" charset="-122"/>
              </a:rPr>
              <a:t>ISA</a:t>
            </a:r>
            <a:r>
              <a:rPr lang="zh-CN" altLang="en-US" sz="2800" b="1" dirty="0">
                <a:latin typeface="Arial" panose="020B0604020202020204" pitchFamily="34" charset="0"/>
                <a:ea typeface="宋体" panose="02010600030101010101" pitchFamily="2" charset="-122"/>
              </a:rPr>
              <a:t>总线的声卡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79556"/>
                                        </p:tgtEl>
                                        <p:attrNameLst>
                                          <p:attrName>style.visibility</p:attrName>
                                        </p:attrNameLst>
                                      </p:cBhvr>
                                      <p:to>
                                        <p:strVal val="visible"/>
                                      </p:to>
                                    </p:set>
                                    <p:anim calcmode="lin" valueType="num">
                                      <p:cBhvr>
                                        <p:cTn id="7" dur="1000" fill="hold"/>
                                        <p:tgtEl>
                                          <p:spTgt spid="279556"/>
                                        </p:tgtEl>
                                        <p:attrNameLst>
                                          <p:attrName>ppt_w</p:attrName>
                                        </p:attrNameLst>
                                      </p:cBhvr>
                                      <p:tavLst>
                                        <p:tav tm="0">
                                          <p:val>
                                            <p:fltVal val="0"/>
                                          </p:val>
                                        </p:tav>
                                        <p:tav tm="100000">
                                          <p:val>
                                            <p:strVal val="#ppt_w"/>
                                          </p:val>
                                        </p:tav>
                                      </p:tavLst>
                                    </p:anim>
                                    <p:anim calcmode="lin" valueType="num">
                                      <p:cBhvr>
                                        <p:cTn id="8" dur="1000" fill="hold"/>
                                        <p:tgtEl>
                                          <p:spTgt spid="2795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idx="4294967295"/>
          </p:nvPr>
        </p:nvSpPr>
        <p:spPr>
          <a:xfrm>
            <a:off x="762000" y="228600"/>
            <a:ext cx="8382000" cy="589756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None/>
              <a:defRPr/>
            </a:pPr>
            <a:r>
              <a:rPr kumimoji="0" lang="en-US" altLang="zh-CN" sz="2800" b="1" i="0" u="none" strike="noStrike" kern="0" cap="none" spc="0" normalizeH="0" baseline="0" noProof="0">
                <a:ln>
                  <a:noFill/>
                </a:ln>
                <a:solidFill>
                  <a:schemeClr val="tx1"/>
                </a:solidFill>
                <a:effectLst/>
                <a:uLnTx/>
                <a:uFillTx/>
                <a:latin typeface="+mn-lt"/>
                <a:ea typeface="+mn-ea"/>
                <a:cs typeface="+mn-cs"/>
              </a:rPr>
              <a:t>   </a:t>
            </a:r>
            <a:r>
              <a:rPr kumimoji="0" lang="en-US" altLang="zh-CN" sz="3200" b="1" i="0" u="none" strike="noStrike" kern="0" cap="none" spc="0" normalizeH="0" baseline="0" noProof="0">
                <a:ln>
                  <a:noFill/>
                </a:ln>
                <a:solidFill>
                  <a:schemeClr val="tx1"/>
                </a:solidFill>
                <a:effectLst/>
                <a:uLnTx/>
                <a:uFillTx/>
                <a:latin typeface="+mn-lt"/>
                <a:ea typeface="+mn-ea"/>
                <a:cs typeface="+mn-cs"/>
              </a:rPr>
              <a:t>3</a:t>
            </a:r>
            <a:r>
              <a:rPr kumimoji="0" lang="zh-CN" altLang="en-US" sz="3200" b="1" i="0" u="none" strike="noStrike" kern="0" cap="none" spc="0" normalizeH="0" baseline="0" noProof="0">
                <a:ln>
                  <a:noFill/>
                </a:ln>
                <a:solidFill>
                  <a:schemeClr val="tx1"/>
                </a:solidFill>
                <a:effectLst/>
                <a:uLnTx/>
                <a:uFillTx/>
                <a:latin typeface="+mn-lt"/>
                <a:ea typeface="+mn-ea"/>
                <a:cs typeface="+mn-cs"/>
              </a:rPr>
              <a:t>、</a:t>
            </a:r>
            <a:r>
              <a:rPr kumimoji="0" lang="en-US" altLang="zh-CN" sz="3200" b="1" i="0" u="none" strike="noStrike" kern="0" cap="none" spc="0" normalizeH="0" baseline="0" noProof="0">
                <a:ln>
                  <a:noFill/>
                </a:ln>
                <a:solidFill>
                  <a:schemeClr val="tx1"/>
                </a:solidFill>
                <a:effectLst/>
                <a:uLnTx/>
                <a:uFillTx/>
                <a:latin typeface="+mn-lt"/>
                <a:ea typeface="+mn-ea"/>
                <a:cs typeface="+mn-cs"/>
              </a:rPr>
              <a:t>PC-104</a:t>
            </a:r>
            <a:r>
              <a:rPr kumimoji="0" lang="zh-CN" altLang="en-US" sz="3200" b="1" i="0" u="none" strike="noStrike" kern="0" cap="none" spc="0" normalizeH="0" baseline="0" noProof="0">
                <a:ln>
                  <a:noFill/>
                </a:ln>
                <a:solidFill>
                  <a:schemeClr val="tx1"/>
                </a:solidFill>
                <a:effectLst/>
                <a:uLnTx/>
                <a:uFillTx/>
                <a:latin typeface="+mn-lt"/>
                <a:ea typeface="+mn-ea"/>
                <a:cs typeface="+mn-cs"/>
              </a:rPr>
              <a:t>总线</a:t>
            </a: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None/>
              <a:defRPr/>
            </a:pPr>
            <a:r>
              <a:rPr kumimoji="0" lang="zh-CN" altLang="en-US" sz="2800" b="0" i="0" u="none" strike="noStrike" kern="0" cap="none" spc="0" normalizeH="0" baseline="0" noProof="0">
                <a:ln>
                  <a:noFill/>
                </a:ln>
                <a:solidFill>
                  <a:schemeClr val="tx1"/>
                </a:solidFill>
                <a:effectLst/>
                <a:uLnTx/>
                <a:uFillTx/>
                <a:latin typeface="+mn-lt"/>
                <a:ea typeface="+mn-ea"/>
                <a:cs typeface="+mn-cs"/>
              </a:rPr>
              <a:t>        </a:t>
            </a:r>
            <a:r>
              <a:rPr kumimoji="0" lang="zh-CN" altLang="en-US" sz="2800" b="1" i="0" u="none" strike="noStrike" kern="0" cap="none" spc="0" normalizeH="0" baseline="0" noProof="0">
                <a:ln>
                  <a:noFill/>
                </a:ln>
                <a:solidFill>
                  <a:schemeClr val="tx1"/>
                </a:solidFill>
                <a:effectLst/>
                <a:uLnTx/>
                <a:uFillTx/>
                <a:latin typeface="+mn-lt"/>
                <a:ea typeface="+mn-ea"/>
                <a:cs typeface="+mn-cs"/>
              </a:rPr>
              <a:t>采用超小尺寸插卡；自叠总线结构；总线驱动电流小，功耗低。现在大量地用于工业控制系统中，在信号上与</a:t>
            </a:r>
            <a:r>
              <a:rPr kumimoji="0" lang="en-US" altLang="zh-CN" sz="2800" b="1" i="0" u="none" strike="noStrike" kern="0" cap="none" spc="0" normalizeH="0" baseline="0" noProof="0">
                <a:ln>
                  <a:noFill/>
                </a:ln>
                <a:solidFill>
                  <a:schemeClr val="tx1"/>
                </a:solidFill>
                <a:effectLst/>
                <a:uLnTx/>
                <a:uFillTx/>
                <a:latin typeface="+mn-lt"/>
                <a:ea typeface="+mn-ea"/>
                <a:cs typeface="+mn-cs"/>
              </a:rPr>
              <a:t>ISA</a:t>
            </a:r>
            <a:r>
              <a:rPr kumimoji="0" lang="zh-CN" altLang="en-US" sz="2800" b="1" i="0" u="none" strike="noStrike" kern="0" cap="none" spc="0" normalizeH="0" baseline="0" noProof="0">
                <a:ln>
                  <a:noFill/>
                </a:ln>
                <a:solidFill>
                  <a:schemeClr val="tx1"/>
                </a:solidFill>
                <a:effectLst/>
                <a:uLnTx/>
                <a:uFillTx/>
                <a:latin typeface="+mn-lt"/>
                <a:ea typeface="+mn-ea"/>
                <a:cs typeface="+mn-cs"/>
              </a:rPr>
              <a:t>总线兼容。</a:t>
            </a:r>
          </a:p>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None/>
              <a:defRPr/>
            </a:pPr>
            <a:r>
              <a:rPr kumimoji="0" lang="zh-CN" altLang="en-US" sz="2800" b="1" i="0" u="none" strike="noStrike" kern="0" cap="none" spc="0" normalizeH="0" baseline="0" noProof="0">
                <a:ln>
                  <a:noFill/>
                </a:ln>
                <a:solidFill>
                  <a:schemeClr val="tx1"/>
                </a:solidFill>
                <a:effectLst/>
                <a:uLnTx/>
                <a:uFillTx/>
                <a:latin typeface="+mn-lt"/>
                <a:ea typeface="+mn-ea"/>
                <a:cs typeface="+mn-cs"/>
              </a:rPr>
              <a:t>   </a:t>
            </a:r>
            <a:r>
              <a:rPr kumimoji="0" lang="en-US" altLang="zh-CN" sz="3200" b="1" i="0" u="none" strike="noStrike" kern="0" cap="none" spc="0" normalizeH="0" baseline="0" noProof="0">
                <a:ln>
                  <a:noFill/>
                </a:ln>
                <a:solidFill>
                  <a:schemeClr val="tx1"/>
                </a:solidFill>
                <a:effectLst/>
                <a:uLnTx/>
                <a:uFillTx/>
                <a:latin typeface="+mn-lt"/>
                <a:ea typeface="+mn-ea"/>
                <a:cs typeface="+mn-cs"/>
              </a:rPr>
              <a:t>4</a:t>
            </a:r>
            <a:r>
              <a:rPr kumimoji="0" lang="zh-CN" altLang="en-US" sz="3200" b="1" i="0" u="none" strike="noStrike" kern="0" cap="none" spc="0" normalizeH="0" baseline="0" noProof="0">
                <a:ln>
                  <a:noFill/>
                </a:ln>
                <a:solidFill>
                  <a:schemeClr val="tx1"/>
                </a:solidFill>
                <a:effectLst/>
                <a:uLnTx/>
                <a:uFillTx/>
                <a:latin typeface="+mn-lt"/>
                <a:ea typeface="+mn-ea"/>
                <a:cs typeface="+mn-cs"/>
              </a:rPr>
              <a:t>、</a:t>
            </a:r>
            <a:r>
              <a:rPr kumimoji="0" lang="en-US" altLang="zh-CN" sz="3200" b="1" i="0" u="none" strike="noStrike" kern="0" cap="none" spc="0" normalizeH="0" baseline="0" noProof="0">
                <a:ln>
                  <a:noFill/>
                </a:ln>
                <a:solidFill>
                  <a:schemeClr val="tx1"/>
                </a:solidFill>
                <a:effectLst/>
                <a:uLnTx/>
                <a:uFillTx/>
                <a:latin typeface="+mn-lt"/>
                <a:ea typeface="+mn-ea"/>
                <a:cs typeface="+mn-cs"/>
              </a:rPr>
              <a:t>Multibus Ⅰ</a:t>
            </a:r>
            <a:r>
              <a:rPr kumimoji="0" lang="zh-CN" altLang="en-US" sz="3200" b="1" i="0" u="none" strike="noStrike" kern="0" cap="none" spc="0" normalizeH="0" baseline="0" noProof="0">
                <a:ln>
                  <a:noFill/>
                </a:ln>
                <a:solidFill>
                  <a:schemeClr val="tx1"/>
                </a:solidFill>
                <a:effectLst/>
                <a:uLnTx/>
                <a:uFillTx/>
                <a:latin typeface="+mn-lt"/>
                <a:ea typeface="+mn-ea"/>
                <a:cs typeface="+mn-cs"/>
              </a:rPr>
              <a:t>和</a:t>
            </a:r>
            <a:r>
              <a:rPr kumimoji="0" lang="en-US" altLang="zh-CN" sz="3200" b="1" i="0" u="none" strike="noStrike" kern="0" cap="none" spc="0" normalizeH="0" baseline="0" noProof="0">
                <a:ln>
                  <a:noFill/>
                </a:ln>
                <a:solidFill>
                  <a:schemeClr val="tx1"/>
                </a:solidFill>
                <a:effectLst/>
                <a:uLnTx/>
                <a:uFillTx/>
                <a:latin typeface="+mn-lt"/>
                <a:ea typeface="+mn-ea"/>
                <a:cs typeface="+mn-cs"/>
              </a:rPr>
              <a:t>Ⅱ</a:t>
            </a:r>
            <a:endParaRPr kumimoji="0" lang="en-US" altLang="zh-CN" sz="32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mn-lt"/>
                <a:ea typeface="+mn-ea"/>
                <a:cs typeface="+mn-cs"/>
              </a:rPr>
              <a:t>           </a:t>
            </a:r>
            <a:r>
              <a:rPr kumimoji="0" lang="en-US" altLang="zh-CN" sz="2800" b="1" i="0" u="none" strike="noStrike" kern="0" cap="none" spc="0" normalizeH="0" baseline="0" noProof="0">
                <a:ln>
                  <a:noFill/>
                </a:ln>
                <a:solidFill>
                  <a:schemeClr val="tx1"/>
                </a:solidFill>
                <a:effectLst/>
                <a:uLnTx/>
                <a:uFillTx/>
                <a:latin typeface="+mn-lt"/>
                <a:ea typeface="+mn-ea"/>
                <a:cs typeface="+mn-cs"/>
              </a:rPr>
              <a:t>Intel</a:t>
            </a:r>
            <a:r>
              <a:rPr kumimoji="0" lang="zh-CN" altLang="en-US" sz="2800" b="1" i="0" u="none" strike="noStrike" kern="0" cap="none" spc="0" normalizeH="0" baseline="0" noProof="0">
                <a:ln>
                  <a:noFill/>
                </a:ln>
                <a:solidFill>
                  <a:schemeClr val="tx1"/>
                </a:solidFill>
                <a:effectLst/>
                <a:uLnTx/>
                <a:uFillTx/>
                <a:latin typeface="+mn-lt"/>
                <a:ea typeface="+mn-ea"/>
                <a:cs typeface="+mn-cs"/>
              </a:rPr>
              <a:t>公司的</a:t>
            </a:r>
            <a:r>
              <a:rPr kumimoji="0" lang="en-US" altLang="zh-CN" sz="2800" b="1" i="0" u="none" strike="noStrike" kern="0" cap="none" spc="0" normalizeH="0" baseline="0" noProof="0">
                <a:ln>
                  <a:noFill/>
                </a:ln>
                <a:solidFill>
                  <a:schemeClr val="tx1"/>
                </a:solidFill>
                <a:effectLst/>
                <a:uLnTx/>
                <a:uFillTx/>
                <a:latin typeface="+mn-lt"/>
                <a:ea typeface="+mn-ea"/>
                <a:cs typeface="+mn-cs"/>
              </a:rPr>
              <a:t>Multibus</a:t>
            </a:r>
            <a:r>
              <a:rPr kumimoji="0" lang="zh-CN" altLang="en-US" sz="2800" b="1" i="0" u="none" strike="noStrike" kern="0" cap="none" spc="0" normalizeH="0" baseline="0" noProof="0">
                <a:ln>
                  <a:noFill/>
                </a:ln>
                <a:solidFill>
                  <a:schemeClr val="tx1"/>
                </a:solidFill>
                <a:effectLst/>
                <a:uLnTx/>
                <a:uFillTx/>
                <a:latin typeface="+mn-lt"/>
                <a:ea typeface="+mn-ea"/>
                <a:cs typeface="+mn-cs"/>
              </a:rPr>
              <a:t>总线是一种能支持多处理器并行运行的总线。这种总线实际存在多种总线概念，即包括系统总线、局部总线、和板上</a:t>
            </a:r>
            <a:r>
              <a:rPr kumimoji="0" lang="en-US" altLang="zh-CN" sz="2800" b="1" i="0" u="none" strike="noStrike" kern="0" cap="none" spc="0" normalizeH="0" baseline="0" noProof="0">
                <a:ln>
                  <a:noFill/>
                </a:ln>
                <a:solidFill>
                  <a:schemeClr val="tx1"/>
                </a:solidFill>
                <a:effectLst/>
                <a:uLnTx/>
                <a:uFillTx/>
                <a:latin typeface="+mn-lt"/>
                <a:ea typeface="+mn-ea"/>
                <a:cs typeface="+mn-cs"/>
              </a:rPr>
              <a:t>I/O</a:t>
            </a:r>
            <a:r>
              <a:rPr kumimoji="0" lang="zh-CN" altLang="en-US" sz="2800" b="1" i="0" u="none" strike="noStrike" kern="0" cap="none" spc="0" normalizeH="0" baseline="0" noProof="0">
                <a:ln>
                  <a:noFill/>
                </a:ln>
                <a:solidFill>
                  <a:schemeClr val="tx1"/>
                </a:solidFill>
                <a:effectLst/>
                <a:uLnTx/>
                <a:uFillTx/>
                <a:latin typeface="+mn-lt"/>
                <a:ea typeface="+mn-ea"/>
                <a:cs typeface="+mn-cs"/>
              </a:rPr>
              <a:t>扩展总线</a:t>
            </a:r>
            <a:r>
              <a:rPr kumimoji="0" lang="en-US" altLang="zh-CN" sz="2800" b="1" i="0" u="none" strike="noStrike" kern="0" cap="none" spc="0" normalizeH="0" baseline="0" noProof="0">
                <a:ln>
                  <a:noFill/>
                </a:ln>
                <a:solidFill>
                  <a:schemeClr val="tx1"/>
                </a:solidFill>
                <a:effectLst/>
                <a:uLnTx/>
                <a:uFillTx/>
                <a:latin typeface="+mn-lt"/>
                <a:ea typeface="+mn-ea"/>
                <a:cs typeface="+mn-cs"/>
              </a:rPr>
              <a:t>SBX</a:t>
            </a:r>
            <a:r>
              <a:rPr kumimoji="0" lang="zh-CN" altLang="en-US" sz="2800" b="1" i="0" u="none" strike="noStrike" kern="0" cap="none" spc="0" normalizeH="0" baseline="0" noProof="0">
                <a:ln>
                  <a:noFill/>
                </a:ln>
                <a:solidFill>
                  <a:schemeClr val="tx1"/>
                </a:solidFill>
                <a:effectLst/>
                <a:uLnTx/>
                <a:uFillTx/>
                <a:latin typeface="+mn-lt"/>
                <a:ea typeface="+mn-ea"/>
                <a:cs typeface="+mn-cs"/>
              </a:rPr>
              <a:t>、</a:t>
            </a:r>
            <a:r>
              <a:rPr kumimoji="0" lang="en-US" altLang="zh-CN" sz="2800" b="1" i="0" u="none" strike="noStrike" kern="0" cap="none" spc="0" normalizeH="0" baseline="0" noProof="0">
                <a:ln>
                  <a:noFill/>
                </a:ln>
                <a:solidFill>
                  <a:schemeClr val="tx1"/>
                </a:solidFill>
                <a:effectLst/>
                <a:uLnTx/>
                <a:uFillTx/>
                <a:latin typeface="+mn-lt"/>
                <a:ea typeface="+mn-ea"/>
                <a:cs typeface="+mn-cs"/>
              </a:rPr>
              <a:t>LBX</a:t>
            </a:r>
            <a:r>
              <a:rPr kumimoji="0" lang="zh-CN" altLang="en-US" sz="2800" b="1" i="0" u="none" strike="noStrike" kern="0" cap="none" spc="0" normalizeH="0" baseline="0" noProof="0">
                <a:ln>
                  <a:noFill/>
                </a:ln>
                <a:solidFill>
                  <a:schemeClr val="tx1"/>
                </a:solidFill>
                <a:effectLst/>
                <a:uLnTx/>
                <a:uFillTx/>
                <a:latin typeface="+mn-lt"/>
                <a:ea typeface="+mn-ea"/>
                <a:cs typeface="+mn-cs"/>
              </a:rPr>
              <a:t>。这也是多总线</a:t>
            </a:r>
            <a:r>
              <a:rPr kumimoji="0" lang="en-US" altLang="zh-CN" sz="2800" b="1" i="0" u="none" strike="noStrike" kern="0" cap="none" spc="0" normalizeH="0" baseline="0" noProof="0">
                <a:ln>
                  <a:noFill/>
                </a:ln>
                <a:solidFill>
                  <a:schemeClr val="tx1"/>
                </a:solidFill>
                <a:effectLst/>
                <a:uLnTx/>
                <a:uFillTx/>
                <a:latin typeface="+mn-lt"/>
                <a:ea typeface="+mn-ea"/>
                <a:cs typeface="+mn-cs"/>
              </a:rPr>
              <a:t>(Multibus)</a:t>
            </a:r>
            <a:r>
              <a:rPr kumimoji="0" lang="zh-CN" altLang="en-US" sz="2800" b="1" i="0" u="none" strike="noStrike" kern="0" cap="none" spc="0" normalizeH="0" baseline="0" noProof="0">
                <a:ln>
                  <a:noFill/>
                </a:ln>
                <a:solidFill>
                  <a:schemeClr val="tx1"/>
                </a:solidFill>
                <a:effectLst/>
                <a:uLnTx/>
                <a:uFillTx/>
                <a:latin typeface="+mn-lt"/>
                <a:ea typeface="+mn-ea"/>
                <a:cs typeface="+mn-cs"/>
              </a:rPr>
              <a:t>得名的由来。</a:t>
            </a:r>
          </a:p>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None/>
              <a:defRPr/>
            </a:pPr>
            <a:r>
              <a:rPr kumimoji="0" lang="zh-CN" altLang="en-US" sz="2800" b="1" i="0" u="none" strike="noStrike" kern="0" cap="none" spc="0" normalizeH="0" baseline="0" noProof="0">
                <a:ln>
                  <a:noFill/>
                </a:ln>
                <a:solidFill>
                  <a:schemeClr val="tx1"/>
                </a:solidFill>
                <a:effectLst/>
                <a:uLnTx/>
                <a:uFillTx/>
                <a:latin typeface="+mn-lt"/>
                <a:ea typeface="+mn-ea"/>
                <a:cs typeface="+mn-cs"/>
              </a:rPr>
              <a:t>          </a:t>
            </a:r>
            <a:r>
              <a:rPr kumimoji="0" lang="en-US" altLang="zh-CN" sz="2800" b="1" i="0" u="none" strike="noStrike" kern="0" cap="none" spc="0" normalizeH="0" baseline="0" noProof="0">
                <a:ln>
                  <a:noFill/>
                </a:ln>
                <a:solidFill>
                  <a:schemeClr val="tx1"/>
                </a:solidFill>
                <a:effectLst/>
                <a:uLnTx/>
                <a:uFillTx/>
                <a:latin typeface="+mn-lt"/>
                <a:ea typeface="+mn-ea"/>
                <a:cs typeface="+mn-cs"/>
              </a:rPr>
              <a:t>MultibusⅠ</a:t>
            </a:r>
            <a:r>
              <a:rPr kumimoji="0" lang="zh-CN" altLang="en-US" sz="2800" b="1" i="0" u="none" strike="noStrike" kern="0" cap="none" spc="0" normalizeH="0" baseline="0" noProof="0">
                <a:ln>
                  <a:noFill/>
                </a:ln>
                <a:solidFill>
                  <a:schemeClr val="tx1"/>
                </a:solidFill>
                <a:effectLst/>
                <a:uLnTx/>
                <a:uFillTx/>
                <a:latin typeface="+mn-lt"/>
                <a:ea typeface="+mn-ea"/>
                <a:cs typeface="+mn-cs"/>
              </a:rPr>
              <a:t>支持</a:t>
            </a:r>
            <a:r>
              <a:rPr kumimoji="0" lang="en-US" altLang="zh-CN" sz="2800" b="1" i="0" u="none" strike="noStrike" kern="0" cap="none" spc="0" normalizeH="0" baseline="0" noProof="0">
                <a:ln>
                  <a:noFill/>
                </a:ln>
                <a:solidFill>
                  <a:schemeClr val="tx1"/>
                </a:solidFill>
                <a:effectLst/>
                <a:uLnTx/>
                <a:uFillTx/>
                <a:latin typeface="+mn-lt"/>
                <a:ea typeface="+mn-ea"/>
                <a:cs typeface="+mn-cs"/>
              </a:rPr>
              <a:t>8</a:t>
            </a:r>
            <a:r>
              <a:rPr kumimoji="0" lang="zh-CN" altLang="en-US" sz="2800" b="1" i="0" u="none" strike="noStrike" kern="0" cap="none" spc="0" normalizeH="0" baseline="0" noProof="0">
                <a:ln>
                  <a:noFill/>
                </a:ln>
                <a:solidFill>
                  <a:schemeClr val="tx1"/>
                </a:solidFill>
                <a:effectLst/>
                <a:uLnTx/>
                <a:uFillTx/>
                <a:latin typeface="+mn-lt"/>
                <a:ea typeface="+mn-ea"/>
                <a:cs typeface="+mn-cs"/>
              </a:rPr>
              <a:t>位、</a:t>
            </a:r>
            <a:r>
              <a:rPr kumimoji="0" lang="en-US" altLang="zh-CN" sz="2800" b="1" i="0" u="none" strike="noStrike" kern="0" cap="none" spc="0" normalizeH="0" baseline="0" noProof="0">
                <a:ln>
                  <a:noFill/>
                </a:ln>
                <a:solidFill>
                  <a:schemeClr val="tx1"/>
                </a:solidFill>
                <a:effectLst/>
                <a:uLnTx/>
                <a:uFillTx/>
                <a:latin typeface="+mn-lt"/>
                <a:ea typeface="+mn-ea"/>
                <a:cs typeface="+mn-cs"/>
              </a:rPr>
              <a:t>16</a:t>
            </a:r>
            <a:r>
              <a:rPr kumimoji="0" lang="zh-CN" altLang="en-US" sz="2800" b="1" i="0" u="none" strike="noStrike" kern="0" cap="none" spc="0" normalizeH="0" baseline="0" noProof="0">
                <a:ln>
                  <a:noFill/>
                </a:ln>
                <a:solidFill>
                  <a:schemeClr val="tx1"/>
                </a:solidFill>
                <a:effectLst/>
                <a:uLnTx/>
                <a:uFillTx/>
                <a:latin typeface="+mn-lt"/>
                <a:ea typeface="+mn-ea"/>
                <a:cs typeface="+mn-cs"/>
              </a:rPr>
              <a:t>位的微处理器，采用单功能模板概念，适用于工业控制。</a:t>
            </a:r>
            <a:r>
              <a:rPr kumimoji="0" lang="en-US" altLang="zh-CN" sz="2800" b="1" i="0" u="none" strike="noStrike" kern="0" cap="none" spc="0" normalizeH="0" baseline="0" noProof="0">
                <a:ln>
                  <a:noFill/>
                </a:ln>
                <a:solidFill>
                  <a:schemeClr val="tx1"/>
                </a:solidFill>
                <a:effectLst/>
                <a:uLnTx/>
                <a:uFillTx/>
                <a:latin typeface="+mn-lt"/>
                <a:ea typeface="+mn-ea"/>
                <a:cs typeface="+mn-cs"/>
              </a:rPr>
              <a:t>MultibusⅡ</a:t>
            </a:r>
            <a:r>
              <a:rPr kumimoji="0" lang="zh-CN" altLang="en-US" sz="2800" b="1" i="0" u="none" strike="noStrike" kern="0" cap="none" spc="0" normalizeH="0" baseline="0" noProof="0">
                <a:ln>
                  <a:noFill/>
                </a:ln>
                <a:solidFill>
                  <a:schemeClr val="tx1"/>
                </a:solidFill>
                <a:effectLst/>
                <a:uLnTx/>
                <a:uFillTx/>
                <a:latin typeface="+mn-lt"/>
                <a:ea typeface="+mn-ea"/>
                <a:cs typeface="+mn-cs"/>
              </a:rPr>
              <a:t>支持</a:t>
            </a:r>
            <a:r>
              <a:rPr kumimoji="0" lang="en-US" altLang="zh-CN" sz="2800" b="1" i="0" u="none" strike="noStrike" kern="0" cap="none" spc="0" normalizeH="0" baseline="0" noProof="0">
                <a:ln>
                  <a:noFill/>
                </a:ln>
                <a:solidFill>
                  <a:schemeClr val="tx1"/>
                </a:solidFill>
                <a:effectLst/>
                <a:uLnTx/>
                <a:uFillTx/>
                <a:latin typeface="+mn-lt"/>
                <a:ea typeface="+mn-ea"/>
                <a:cs typeface="+mn-cs"/>
              </a:rPr>
              <a:t>32</a:t>
            </a:r>
            <a:r>
              <a:rPr kumimoji="0" lang="zh-CN" altLang="en-US" sz="2800" b="1" i="0" u="none" strike="noStrike" kern="0" cap="none" spc="0" normalizeH="0" baseline="0" noProof="0">
                <a:ln>
                  <a:noFill/>
                </a:ln>
                <a:solidFill>
                  <a:schemeClr val="tx1"/>
                </a:solidFill>
                <a:effectLst/>
                <a:uLnTx/>
                <a:uFillTx/>
                <a:latin typeface="+mn-lt"/>
                <a:ea typeface="+mn-ea"/>
                <a:cs typeface="+mn-cs"/>
              </a:rPr>
              <a:t>位微处理器。 </a:t>
            </a:r>
          </a:p>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None/>
              <a:defRPr/>
            </a:pPr>
            <a:endParaRPr kumimoji="0" lang="en-US"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6194">
                                            <p:txEl>
                                              <p:pRg st="0" end="0"/>
                                            </p:txEl>
                                          </p:spTgt>
                                        </p:tgtEl>
                                        <p:attrNameLst>
                                          <p:attrName>style.visibility</p:attrName>
                                        </p:attrNameLst>
                                      </p:cBhvr>
                                      <p:to>
                                        <p:strVal val="visible"/>
                                      </p:to>
                                    </p:set>
                                    <p:animEffect transition="in" filter="blinds(horizontal)">
                                      <p:cBhvr>
                                        <p:cTn id="7" dur="500"/>
                                        <p:tgtEl>
                                          <p:spTgt spid="1361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6194">
                                            <p:txEl>
                                              <p:pRg st="1" end="1"/>
                                            </p:txEl>
                                          </p:spTgt>
                                        </p:tgtEl>
                                        <p:attrNameLst>
                                          <p:attrName>style.visibility</p:attrName>
                                        </p:attrNameLst>
                                      </p:cBhvr>
                                      <p:to>
                                        <p:strVal val="visible"/>
                                      </p:to>
                                    </p:set>
                                    <p:animEffect transition="in" filter="blinds(horizontal)">
                                      <p:cBhvr>
                                        <p:cTn id="12" dur="500"/>
                                        <p:tgtEl>
                                          <p:spTgt spid="1361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6194">
                                            <p:txEl>
                                              <p:pRg st="2" end="2"/>
                                            </p:txEl>
                                          </p:spTgt>
                                        </p:tgtEl>
                                        <p:attrNameLst>
                                          <p:attrName>style.visibility</p:attrName>
                                        </p:attrNameLst>
                                      </p:cBhvr>
                                      <p:to>
                                        <p:strVal val="visible"/>
                                      </p:to>
                                    </p:set>
                                    <p:animEffect transition="in" filter="blinds(horizontal)">
                                      <p:cBhvr>
                                        <p:cTn id="17" dur="500"/>
                                        <p:tgtEl>
                                          <p:spTgt spid="1361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6194">
                                            <p:txEl>
                                              <p:pRg st="3" end="3"/>
                                            </p:txEl>
                                          </p:spTgt>
                                        </p:tgtEl>
                                        <p:attrNameLst>
                                          <p:attrName>style.visibility</p:attrName>
                                        </p:attrNameLst>
                                      </p:cBhvr>
                                      <p:to>
                                        <p:strVal val="visible"/>
                                      </p:to>
                                    </p:set>
                                    <p:animEffect transition="in" filter="blinds(horizontal)">
                                      <p:cBhvr>
                                        <p:cTn id="22" dur="500"/>
                                        <p:tgtEl>
                                          <p:spTgt spid="136194">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36194">
                                            <p:txEl>
                                              <p:pRg st="4" end="4"/>
                                            </p:txEl>
                                          </p:spTgt>
                                        </p:tgtEl>
                                        <p:attrNameLst>
                                          <p:attrName>style.visibility</p:attrName>
                                        </p:attrNameLst>
                                      </p:cBhvr>
                                      <p:to>
                                        <p:strVal val="visible"/>
                                      </p:to>
                                    </p:set>
                                    <p:animEffect transition="in" filter="blinds(horizontal)">
                                      <p:cBhvr>
                                        <p:cTn id="25" dur="500"/>
                                        <p:tgtEl>
                                          <p:spTgt spid="1361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p:cNvSpPr txBox="1"/>
          <p:nvPr/>
        </p:nvSpPr>
        <p:spPr>
          <a:xfrm>
            <a:off x="152400" y="0"/>
            <a:ext cx="8610600" cy="6985000"/>
          </a:xfrm>
          <a:prstGeom prst="rect">
            <a:avLst/>
          </a:prstGeom>
          <a:noFill/>
          <a:ln w="9525">
            <a:noFill/>
          </a:ln>
        </p:spPr>
        <p:txBody>
          <a:bodyPr anchor="t" anchorCtr="0">
            <a:spAutoFit/>
          </a:bodyPr>
          <a:lstStyle/>
          <a:p>
            <a:pPr>
              <a:buClrTx/>
              <a:buFontTx/>
            </a:pPr>
            <a:r>
              <a:rPr lang="en-US" altLang="zh-CN" sz="3200" b="1" dirty="0">
                <a:latin typeface="Arial" panose="020B0604020202020204" pitchFamily="34" charset="0"/>
                <a:ea typeface="宋体" panose="02010600030101010101" pitchFamily="2" charset="-122"/>
              </a:rPr>
              <a:t>5</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VME</a:t>
            </a:r>
            <a:r>
              <a:rPr lang="zh-CN" altLang="en-US" sz="3200" b="1" dirty="0">
                <a:latin typeface="Arial" panose="020B0604020202020204" pitchFamily="34" charset="0"/>
                <a:ea typeface="宋体" panose="02010600030101010101" pitchFamily="2" charset="-122"/>
              </a:rPr>
              <a:t>总线</a:t>
            </a:r>
            <a:endParaRPr lang="zh-CN" altLang="en-US" sz="3200"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MOTOTOLA</a:t>
            </a:r>
            <a:r>
              <a:rPr lang="zh-CN" altLang="en-US" sz="2400" b="1" dirty="0">
                <a:latin typeface="Arial" panose="020B0604020202020204" pitchFamily="34" charset="0"/>
                <a:ea typeface="宋体" panose="02010600030101010101" pitchFamily="2" charset="-122"/>
              </a:rPr>
              <a:t>公司的</a:t>
            </a:r>
            <a:r>
              <a:rPr lang="en-US" altLang="zh-CN" sz="2400" b="1" dirty="0">
                <a:latin typeface="Arial" panose="020B0604020202020204" pitchFamily="34" charset="0"/>
                <a:ea typeface="宋体" panose="02010600030101010101" pitchFamily="2" charset="-122"/>
              </a:rPr>
              <a:t>VME</a:t>
            </a:r>
            <a:r>
              <a:rPr lang="zh-CN" altLang="en-US" sz="2400" b="1" dirty="0">
                <a:latin typeface="Arial" panose="020B0604020202020204" pitchFamily="34" charset="0"/>
                <a:ea typeface="宋体" panose="02010600030101010101" pitchFamily="2" charset="-122"/>
              </a:rPr>
              <a:t>总线（</a:t>
            </a:r>
            <a:r>
              <a:rPr lang="en-US" altLang="zh-CN" sz="2400" b="1" dirty="0">
                <a:latin typeface="Arial" panose="020B0604020202020204" pitchFamily="34" charset="0"/>
                <a:ea typeface="宋体" panose="02010600030101010101" pitchFamily="2" charset="-122"/>
              </a:rPr>
              <a:t>IEEE</a:t>
            </a:r>
            <a:r>
              <a:rPr lang="zh-CN" altLang="en-US" sz="2400" b="1" dirty="0">
                <a:latin typeface="Arial" panose="020B0604020202020204" pitchFamily="34" charset="0"/>
                <a:ea typeface="宋体" panose="02010600030101010101" pitchFamily="2" charset="-122"/>
              </a:rPr>
              <a:t>（美国电子电机工程师协会） </a:t>
            </a:r>
            <a:r>
              <a:rPr lang="en-US" altLang="zh-CN" sz="2400" b="1" dirty="0">
                <a:latin typeface="Arial" panose="020B0604020202020204" pitchFamily="34" charset="0"/>
                <a:ea typeface="宋体" panose="02010600030101010101" pitchFamily="2" charset="-122"/>
              </a:rPr>
              <a:t>1014</a:t>
            </a:r>
            <a:r>
              <a:rPr lang="zh-CN" altLang="en-US" sz="2400" b="1" dirty="0">
                <a:latin typeface="Arial" panose="020B0604020202020204" pitchFamily="34" charset="0"/>
                <a:ea typeface="宋体" panose="02010600030101010101" pitchFamily="2" charset="-122"/>
              </a:rPr>
              <a:t>标准）也是一种支持多计算机</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多处理器的系统总线。</a:t>
            </a:r>
          </a:p>
          <a:p>
            <a:pPr>
              <a:buClrTx/>
              <a:buFontTx/>
            </a:pPr>
            <a:r>
              <a:rPr lang="zh-CN" altLang="en-US" sz="2400" b="1" dirty="0">
                <a:latin typeface="Arial" panose="020B0604020202020204" pitchFamily="34" charset="0"/>
                <a:ea typeface="宋体" panose="02010600030101010101" pitchFamily="2" charset="-122"/>
              </a:rPr>
              <a:t>      支持</a:t>
            </a:r>
            <a:r>
              <a:rPr lang="en-US" altLang="zh-CN" sz="2400" b="1" dirty="0">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位微处理器，支持四个主</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模板并行运行。 </a:t>
            </a:r>
          </a:p>
          <a:p>
            <a:pPr>
              <a:buClrTx/>
              <a:buFontTx/>
            </a:pPr>
            <a:r>
              <a:rPr lang="zh-CN" altLang="en-US" sz="2400" b="1" dirty="0">
                <a:latin typeface="Arial" panose="020B0604020202020204" pitchFamily="34" charset="0"/>
                <a:ea typeface="宋体" panose="02010600030101010101" pitchFamily="2" charset="-122"/>
              </a:rPr>
              <a:t>这种高性能总线是开放式总线结构，受到许多厂家，特别是欧洲以及那些与</a:t>
            </a:r>
            <a:r>
              <a:rPr lang="en-US" altLang="zh-CN" sz="2400" b="1" dirty="0">
                <a:latin typeface="Arial" panose="020B0604020202020204" pitchFamily="34" charset="0"/>
                <a:ea typeface="宋体" panose="02010600030101010101" pitchFamily="2" charset="-122"/>
              </a:rPr>
              <a:t>Motorola68000</a:t>
            </a:r>
            <a:r>
              <a:rPr lang="zh-CN" altLang="en-US" sz="2400" b="1" dirty="0">
                <a:latin typeface="Arial" panose="020B0604020202020204" pitchFamily="34" charset="0"/>
                <a:ea typeface="宋体" panose="02010600030101010101" pitchFamily="2" charset="-122"/>
              </a:rPr>
              <a:t>微处理器有关的用户欢迎。</a:t>
            </a:r>
            <a:r>
              <a:rPr lang="zh-CN" altLang="en-US" dirty="0">
                <a:latin typeface="Arial" panose="020B0604020202020204" pitchFamily="34" charset="0"/>
                <a:ea typeface="宋体" panose="02010600030101010101" pitchFamily="2" charset="-122"/>
              </a:rPr>
              <a:t>    </a:t>
            </a:r>
            <a:endParaRPr lang="zh-CN" altLang="en-US" b="1" dirty="0">
              <a:latin typeface="Arial" panose="020B0604020202020204" pitchFamily="34" charset="0"/>
              <a:ea typeface="宋体" panose="02010600030101010101" pitchFamily="2" charset="-122"/>
            </a:endParaRPr>
          </a:p>
          <a:p>
            <a:pPr>
              <a:buClrTx/>
              <a:buFontTx/>
            </a:pPr>
            <a:r>
              <a:rPr lang="en-US" altLang="zh-CN" sz="3200" b="1" dirty="0">
                <a:latin typeface="Arial" panose="020B0604020202020204" pitchFamily="34" charset="0"/>
                <a:ea typeface="宋体" panose="02010600030101010101" pitchFamily="2" charset="-122"/>
              </a:rPr>
              <a:t>6</a:t>
            </a:r>
            <a:r>
              <a:rPr lang="zh-CN" altLang="en-US" sz="3200" b="1" dirty="0">
                <a:latin typeface="Arial" panose="020B0604020202020204" pitchFamily="34" charset="0"/>
                <a:ea typeface="宋体" panose="02010600030101010101" pitchFamily="2" charset="-122"/>
              </a:rPr>
              <a:t>、微通道</a:t>
            </a:r>
            <a:r>
              <a:rPr lang="en-US" altLang="zh-CN" sz="3200" dirty="0">
                <a:latin typeface="Arial" panose="020B0604020202020204" pitchFamily="34" charset="0"/>
                <a:ea typeface="宋体" panose="02010600030101010101" pitchFamily="2" charset="-122"/>
              </a:rPr>
              <a:t>MCA</a:t>
            </a:r>
            <a:endParaRPr lang="en-US" altLang="zh-CN" dirty="0">
              <a:latin typeface="Arial" panose="020B0604020202020204" pitchFamily="34" charset="0"/>
              <a:ea typeface="宋体" panose="02010600030101010101" pitchFamily="2" charset="-122"/>
            </a:endParaRPr>
          </a:p>
          <a:p>
            <a:pPr>
              <a:buClrTx/>
              <a:buFontTx/>
            </a:pPr>
            <a:r>
              <a:rPr lang="en-US" altLang="zh-CN"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IBM</a:t>
            </a:r>
            <a:r>
              <a:rPr lang="zh-CN" altLang="en-US" sz="2400" b="1" dirty="0">
                <a:latin typeface="Arial" panose="020B0604020202020204" pitchFamily="34" charset="0"/>
                <a:ea typeface="宋体" panose="02010600030101010101" pitchFamily="2" charset="-122"/>
              </a:rPr>
              <a:t>公司于</a:t>
            </a:r>
            <a:r>
              <a:rPr lang="en-US" altLang="zh-CN" sz="2400" b="1" dirty="0">
                <a:latin typeface="Arial" panose="020B0604020202020204" pitchFamily="34" charset="0"/>
                <a:ea typeface="宋体" panose="02010600030101010101" pitchFamily="2" charset="-122"/>
              </a:rPr>
              <a:t>1987</a:t>
            </a:r>
            <a:r>
              <a:rPr lang="zh-CN" altLang="en-US" sz="2400" b="1" dirty="0">
                <a:latin typeface="Arial" panose="020B0604020202020204" pitchFamily="34" charset="0"/>
                <a:ea typeface="宋体" panose="02010600030101010101" pitchFamily="2" charset="-122"/>
              </a:rPr>
              <a:t>年推出微通道总线</a:t>
            </a:r>
            <a:r>
              <a:rPr lang="en-US" altLang="zh-CN" sz="2400" b="1" dirty="0">
                <a:latin typeface="Arial" panose="020B0604020202020204" pitchFamily="34" charset="0"/>
                <a:ea typeface="宋体" panose="02010600030101010101" pitchFamily="2" charset="-122"/>
              </a:rPr>
              <a:t>(Micro Channel Architecture)</a:t>
            </a:r>
            <a:r>
              <a:rPr lang="zh-CN" altLang="en-US" sz="2400" b="1" dirty="0">
                <a:latin typeface="Arial" panose="020B0604020202020204" pitchFamily="34" charset="0"/>
                <a:ea typeface="宋体" panose="02010600030101010101" pitchFamily="2" charset="-122"/>
              </a:rPr>
              <a:t>，即</a:t>
            </a:r>
            <a:r>
              <a:rPr lang="en-US" altLang="zh-CN" sz="2400" b="1" dirty="0">
                <a:latin typeface="Arial" panose="020B0604020202020204" pitchFamily="34" charset="0"/>
                <a:ea typeface="宋体" panose="02010600030101010101" pitchFamily="2" charset="-122"/>
              </a:rPr>
              <a:t>MCA</a:t>
            </a:r>
            <a:r>
              <a:rPr lang="zh-CN" altLang="en-US" sz="2400" b="1" dirty="0">
                <a:latin typeface="Arial" panose="020B0604020202020204" pitchFamily="34" charset="0"/>
                <a:ea typeface="宋体" panose="02010600030101010101" pitchFamily="2" charset="-122"/>
              </a:rPr>
              <a:t>。它是带有 </a:t>
            </a:r>
            <a:r>
              <a:rPr lang="en-US" altLang="zh-CN" sz="2400" b="1" dirty="0">
                <a:latin typeface="Arial" panose="020B0604020202020204" pitchFamily="34" charset="0"/>
                <a:ea typeface="宋体" panose="02010600030101010101" pitchFamily="2" charset="-122"/>
              </a:rPr>
              <a:t>24</a:t>
            </a:r>
            <a:r>
              <a:rPr lang="zh-CN" altLang="en-US" sz="2400" b="1" dirty="0">
                <a:latin typeface="Arial" panose="020B0604020202020204" pitchFamily="34" charset="0"/>
                <a:ea typeface="宋体" panose="02010600030101010101" pitchFamily="2" charset="-122"/>
              </a:rPr>
              <a:t>位</a:t>
            </a:r>
            <a:r>
              <a:rPr lang="en-US" altLang="zh-CN" sz="2400" b="1" dirty="0">
                <a:latin typeface="Arial" panose="020B0604020202020204" pitchFamily="34" charset="0"/>
                <a:ea typeface="宋体" panose="02010600030101010101" pitchFamily="2" charset="-122"/>
              </a:rPr>
              <a:t>DMA</a:t>
            </a:r>
            <a:r>
              <a:rPr lang="zh-CN" altLang="en-US" sz="2400" b="1" dirty="0">
                <a:latin typeface="Arial" panose="020B0604020202020204" pitchFamily="34" charset="0"/>
                <a:ea typeface="宋体" panose="02010600030101010101" pitchFamily="2" charset="-122"/>
              </a:rPr>
              <a:t>的</a:t>
            </a:r>
            <a:r>
              <a:rPr lang="en-US" altLang="zh-CN" sz="2400" b="1" dirty="0">
                <a:latin typeface="Arial" panose="020B0604020202020204" pitchFamily="34" charset="0"/>
                <a:ea typeface="宋体" panose="02010600030101010101" pitchFamily="2" charset="-122"/>
              </a:rPr>
              <a:t>10MHz</a:t>
            </a:r>
            <a:r>
              <a:rPr lang="zh-CN" altLang="en-US" sz="2400" b="1" dirty="0">
                <a:latin typeface="Arial" panose="020B0604020202020204" pitchFamily="34" charset="0"/>
                <a:ea typeface="宋体" panose="02010600030101010101" pitchFamily="2" charset="-122"/>
              </a:rPr>
              <a:t>总线，提供</a:t>
            </a:r>
            <a:r>
              <a:rPr lang="en-US" altLang="zh-CN" sz="2400" b="1" dirty="0">
                <a:latin typeface="Arial" panose="020B0604020202020204" pitchFamily="34" charset="0"/>
                <a:ea typeface="宋体" panose="02010600030101010101" pitchFamily="2" charset="-122"/>
              </a:rPr>
              <a:t>16MB</a:t>
            </a:r>
            <a:r>
              <a:rPr lang="zh-CN" altLang="en-US" sz="2400" b="1" dirty="0">
                <a:latin typeface="Arial" panose="020B0604020202020204" pitchFamily="34" charset="0"/>
                <a:ea typeface="宋体" panose="02010600030101010101" pitchFamily="2" charset="-122"/>
              </a:rPr>
              <a:t>的寻址能力，</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位数据总线。它配有总线仲裁机构，可支持</a:t>
            </a:r>
            <a:r>
              <a:rPr lang="en-US" altLang="zh-CN" sz="2400" b="1" dirty="0">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个总线主控器。</a:t>
            </a:r>
          </a:p>
          <a:p>
            <a:pPr>
              <a:buClrTx/>
              <a:buFontTx/>
            </a:pPr>
            <a:r>
              <a:rPr lang="zh-CN" altLang="en-US" sz="2400" b="1" dirty="0">
                <a:latin typeface="Arial" panose="020B0604020202020204" pitchFamily="34" charset="0"/>
                <a:ea typeface="宋体" panose="02010600030101010101" pitchFamily="2" charset="-122"/>
              </a:rPr>
              <a:t>    优点：它是一个经过很好定义的</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位总线标准，有利于形成更好更可靠的产品。</a:t>
            </a:r>
          </a:p>
          <a:p>
            <a:pPr>
              <a:buClrTx/>
              <a:buFontTx/>
            </a:pPr>
            <a:r>
              <a:rPr lang="zh-CN" altLang="en-US" sz="2400" b="1" dirty="0">
                <a:latin typeface="Arial" panose="020B0604020202020204" pitchFamily="34" charset="0"/>
                <a:ea typeface="宋体" panose="02010600030101010101" pitchFamily="2" charset="-122"/>
              </a:rPr>
              <a:t>    缺点：缺乏与已有硬件的兼容性，非开放式结构。</a:t>
            </a:r>
          </a:p>
          <a:p>
            <a:pPr>
              <a:buClrTx/>
              <a:buFontTx/>
            </a:pPr>
            <a:r>
              <a:rPr lang="zh-CN" altLang="en-US" sz="2400" b="1" dirty="0">
                <a:latin typeface="Arial" panose="020B0604020202020204" pitchFamily="34" charset="0"/>
                <a:ea typeface="宋体" panose="02010600030101010101" pitchFamily="2" charset="-122"/>
              </a:rPr>
              <a:t>微通道的研制成功，彻底改变了</a:t>
            </a:r>
            <a:r>
              <a:rPr lang="en-US" altLang="zh-CN" sz="2400" b="1" dirty="0">
                <a:latin typeface="Arial" panose="020B0604020202020204" pitchFamily="34" charset="0"/>
                <a:ea typeface="宋体" panose="02010600030101010101" pitchFamily="2" charset="-122"/>
              </a:rPr>
              <a:t>IBM</a:t>
            </a:r>
            <a:r>
              <a:rPr lang="zh-CN" altLang="en-US" sz="2400" b="1" dirty="0">
                <a:latin typeface="Arial" panose="020B0604020202020204" pitchFamily="34" charset="0"/>
                <a:ea typeface="宋体" panose="02010600030101010101" pitchFamily="2" charset="-122"/>
              </a:rPr>
              <a:t>公司于</a:t>
            </a:r>
            <a:r>
              <a:rPr lang="en-US" altLang="zh-CN" sz="2400" b="1" dirty="0">
                <a:latin typeface="Arial" panose="020B0604020202020204" pitchFamily="34" charset="0"/>
                <a:ea typeface="宋体" panose="02010600030101010101" pitchFamily="2" charset="-122"/>
              </a:rPr>
              <a:t>1981</a:t>
            </a:r>
            <a:r>
              <a:rPr lang="zh-CN" altLang="en-US" sz="2400" b="1" dirty="0">
                <a:latin typeface="Arial" panose="020B0604020202020204" pitchFamily="34" charset="0"/>
                <a:ea typeface="宋体" panose="02010600030101010101" pitchFamily="2" charset="-122"/>
              </a:rPr>
              <a:t>年为</a:t>
            </a:r>
            <a:r>
              <a:rPr lang="en-US" altLang="zh-CN" sz="2400" b="1" dirty="0">
                <a:latin typeface="Arial" panose="020B0604020202020204" pitchFamily="34" charset="0"/>
                <a:ea typeface="宋体" panose="02010600030101010101" pitchFamily="2" charset="-122"/>
              </a:rPr>
              <a:t>IBM PC</a:t>
            </a:r>
            <a:r>
              <a:rPr lang="zh-CN" altLang="en-US" sz="2400" b="1" dirty="0">
                <a:latin typeface="Arial" panose="020B0604020202020204" pitchFamily="34" charset="0"/>
                <a:ea typeface="宋体" panose="02010600030101010101" pitchFamily="2" charset="-122"/>
              </a:rPr>
              <a:t>扩展而建立的开放式硬件标准，回到了的老路。微通道与</a:t>
            </a:r>
            <a:r>
              <a:rPr lang="en-US" altLang="zh-CN" sz="2400" b="1" dirty="0">
                <a:latin typeface="Arial" panose="020B0604020202020204" pitchFamily="34" charset="0"/>
                <a:ea typeface="宋体" panose="02010600030101010101" pitchFamily="2" charset="-122"/>
              </a:rPr>
              <a:t>PC</a:t>
            </a:r>
            <a:r>
              <a:rPr lang="zh-CN" altLang="en-US" sz="2400" b="1" dirty="0">
                <a:latin typeface="Arial" panose="020B0604020202020204" pitchFamily="34" charset="0"/>
                <a:ea typeface="宋体" panose="02010600030101010101" pitchFamily="2" charset="-122"/>
              </a:rPr>
              <a:t>机的非兼容性为它自身的发展造成了困难。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7218">
                                            <p:txEl>
                                              <p:pRg st="0" end="0"/>
                                            </p:txEl>
                                          </p:spTgt>
                                        </p:tgtEl>
                                        <p:attrNameLst>
                                          <p:attrName>style.visibility</p:attrName>
                                        </p:attrNameLst>
                                      </p:cBhvr>
                                      <p:to>
                                        <p:strVal val="visible"/>
                                      </p:to>
                                    </p:set>
                                    <p:animEffect transition="in" filter="blinds(horizontal)">
                                      <p:cBhvr>
                                        <p:cTn id="7" dur="500"/>
                                        <p:tgtEl>
                                          <p:spTgt spid="13721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7218">
                                            <p:txEl>
                                              <p:pRg st="1" end="1"/>
                                            </p:txEl>
                                          </p:spTgt>
                                        </p:tgtEl>
                                        <p:attrNameLst>
                                          <p:attrName>style.visibility</p:attrName>
                                        </p:attrNameLst>
                                      </p:cBhvr>
                                      <p:to>
                                        <p:strVal val="visible"/>
                                      </p:to>
                                    </p:set>
                                    <p:animEffect transition="in" filter="blinds(horizontal)">
                                      <p:cBhvr>
                                        <p:cTn id="10" dur="500"/>
                                        <p:tgtEl>
                                          <p:spTgt spid="137218">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37218">
                                            <p:txEl>
                                              <p:pRg st="2" end="2"/>
                                            </p:txEl>
                                          </p:spTgt>
                                        </p:tgtEl>
                                        <p:attrNameLst>
                                          <p:attrName>style.visibility</p:attrName>
                                        </p:attrNameLst>
                                      </p:cBhvr>
                                      <p:to>
                                        <p:strVal val="visible"/>
                                      </p:to>
                                    </p:set>
                                    <p:animEffect transition="in" filter="blinds(horizontal)">
                                      <p:cBhvr>
                                        <p:cTn id="13" dur="500"/>
                                        <p:tgtEl>
                                          <p:spTgt spid="137218">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37218">
                                            <p:txEl>
                                              <p:pRg st="3" end="3"/>
                                            </p:txEl>
                                          </p:spTgt>
                                        </p:tgtEl>
                                        <p:attrNameLst>
                                          <p:attrName>style.visibility</p:attrName>
                                        </p:attrNameLst>
                                      </p:cBhvr>
                                      <p:to>
                                        <p:strVal val="visible"/>
                                      </p:to>
                                    </p:set>
                                    <p:animEffect transition="in" filter="blinds(horizontal)">
                                      <p:cBhvr>
                                        <p:cTn id="16" dur="500"/>
                                        <p:tgtEl>
                                          <p:spTgt spid="13721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37218">
                                            <p:txEl>
                                              <p:pRg st="4" end="4"/>
                                            </p:txEl>
                                          </p:spTgt>
                                        </p:tgtEl>
                                        <p:attrNameLst>
                                          <p:attrName>style.visibility</p:attrName>
                                        </p:attrNameLst>
                                      </p:cBhvr>
                                      <p:to>
                                        <p:strVal val="visible"/>
                                      </p:to>
                                    </p:set>
                                    <p:animEffect transition="in" filter="blinds(horizontal)">
                                      <p:cBhvr>
                                        <p:cTn id="21" dur="500"/>
                                        <p:tgtEl>
                                          <p:spTgt spid="137218">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37218">
                                            <p:txEl>
                                              <p:pRg st="5" end="5"/>
                                            </p:txEl>
                                          </p:spTgt>
                                        </p:tgtEl>
                                        <p:attrNameLst>
                                          <p:attrName>style.visibility</p:attrName>
                                        </p:attrNameLst>
                                      </p:cBhvr>
                                      <p:to>
                                        <p:strVal val="visible"/>
                                      </p:to>
                                    </p:set>
                                    <p:animEffect transition="in" filter="blinds(horizontal)">
                                      <p:cBhvr>
                                        <p:cTn id="24" dur="500"/>
                                        <p:tgtEl>
                                          <p:spTgt spid="137218">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37218">
                                            <p:txEl>
                                              <p:pRg st="6" end="6"/>
                                            </p:txEl>
                                          </p:spTgt>
                                        </p:tgtEl>
                                        <p:attrNameLst>
                                          <p:attrName>style.visibility</p:attrName>
                                        </p:attrNameLst>
                                      </p:cBhvr>
                                      <p:to>
                                        <p:strVal val="visible"/>
                                      </p:to>
                                    </p:set>
                                    <p:animEffect transition="in" filter="blinds(horizontal)">
                                      <p:cBhvr>
                                        <p:cTn id="27" dur="500"/>
                                        <p:tgtEl>
                                          <p:spTgt spid="137218">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37218">
                                            <p:txEl>
                                              <p:pRg st="7" end="7"/>
                                            </p:txEl>
                                          </p:spTgt>
                                        </p:tgtEl>
                                        <p:attrNameLst>
                                          <p:attrName>style.visibility</p:attrName>
                                        </p:attrNameLst>
                                      </p:cBhvr>
                                      <p:to>
                                        <p:strVal val="visible"/>
                                      </p:to>
                                    </p:set>
                                    <p:animEffect transition="in" filter="blinds(horizontal)">
                                      <p:cBhvr>
                                        <p:cTn id="30" dur="500"/>
                                        <p:tgtEl>
                                          <p:spTgt spid="137218">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37218">
                                            <p:txEl>
                                              <p:pRg st="8" end="8"/>
                                            </p:txEl>
                                          </p:spTgt>
                                        </p:tgtEl>
                                        <p:attrNameLst>
                                          <p:attrName>style.visibility</p:attrName>
                                        </p:attrNameLst>
                                      </p:cBhvr>
                                      <p:to>
                                        <p:strVal val="visible"/>
                                      </p:to>
                                    </p:set>
                                    <p:animEffect transition="in" filter="blinds(horizontal)">
                                      <p:cBhvr>
                                        <p:cTn id="33" dur="500"/>
                                        <p:tgtEl>
                                          <p:spTgt spid="13721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p:nvPr/>
        </p:nvSpPr>
        <p:spPr>
          <a:xfrm>
            <a:off x="0" y="533400"/>
            <a:ext cx="8839200" cy="5262563"/>
          </a:xfrm>
          <a:prstGeom prst="rect">
            <a:avLst/>
          </a:prstGeom>
          <a:noFill/>
          <a:ln w="9525">
            <a:noFill/>
          </a:ln>
        </p:spPr>
        <p:txBody>
          <a:bodyPr anchor="t" anchorCtr="0">
            <a:spAutoFit/>
          </a:bodyPr>
          <a:lstStyle/>
          <a:p>
            <a:pPr>
              <a:buClrTx/>
              <a:buFontTx/>
            </a:pPr>
            <a:r>
              <a:rPr lang="en-US" altLang="zh-CN" sz="2400" b="1" dirty="0">
                <a:latin typeface="Arial" panose="020B0604020202020204" pitchFamily="34" charset="0"/>
                <a:ea typeface="宋体" panose="02010600030101010101" pitchFamily="2" charset="-122"/>
              </a:rPr>
              <a:t>7</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EISA</a:t>
            </a:r>
            <a:r>
              <a:rPr lang="zh-CN" altLang="en-US" sz="2400" b="1" dirty="0">
                <a:latin typeface="Arial" panose="020B0604020202020204" pitchFamily="34" charset="0"/>
                <a:ea typeface="宋体" panose="02010600030101010101" pitchFamily="2" charset="-122"/>
              </a:rPr>
              <a:t>总线</a:t>
            </a:r>
            <a:r>
              <a:rPr lang="en-US" altLang="zh-CN" sz="2400" b="1" dirty="0">
                <a:latin typeface="Arial" panose="020B0604020202020204" pitchFamily="34" charset="0"/>
                <a:ea typeface="宋体" panose="02010600030101010101" pitchFamily="2" charset="-122"/>
              </a:rPr>
              <a:t>(Extend  industry Standard  Architecture)</a:t>
            </a:r>
          </a:p>
          <a:p>
            <a:pPr>
              <a:buClrTx/>
              <a:buFontTx/>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以</a:t>
            </a:r>
            <a:r>
              <a:rPr lang="en-US" altLang="zh-CN" sz="2400" b="1" dirty="0">
                <a:latin typeface="Arial" panose="020B0604020202020204" pitchFamily="34" charset="0"/>
                <a:ea typeface="宋体" panose="02010600030101010101" pitchFamily="2" charset="-122"/>
              </a:rPr>
              <a:t>Compaq</a:t>
            </a:r>
            <a:r>
              <a:rPr lang="zh-CN" altLang="en-US" sz="2400" b="1" dirty="0">
                <a:latin typeface="Arial" panose="020B0604020202020204" pitchFamily="34" charset="0"/>
                <a:ea typeface="宋体" panose="02010600030101010101" pitchFamily="2" charset="-122"/>
              </a:rPr>
              <a:t>为首联合起来推出的。</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EISA</a:t>
            </a:r>
            <a:r>
              <a:rPr lang="zh-CN" altLang="en-US" sz="2400" b="1" dirty="0">
                <a:latin typeface="Arial" panose="020B0604020202020204" pitchFamily="34" charset="0"/>
                <a:ea typeface="宋体" panose="02010600030101010101" pitchFamily="2" charset="-122"/>
              </a:rPr>
              <a:t>是</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总线的扩展，它既保持了与老的</a:t>
            </a:r>
            <a:r>
              <a:rPr lang="en-US" altLang="zh-CN" sz="2400" b="1" dirty="0">
                <a:latin typeface="Arial" panose="020B0604020202020204" pitchFamily="34" charset="0"/>
                <a:ea typeface="宋体" panose="02010600030101010101" pitchFamily="2" charset="-122"/>
              </a:rPr>
              <a:t>IBM PC</a:t>
            </a:r>
            <a:r>
              <a:rPr lang="zh-CN" altLang="en-US" sz="2400" b="1" dirty="0">
                <a:latin typeface="Arial" panose="020B0604020202020204" pitchFamily="34" charset="0"/>
                <a:ea typeface="宋体" panose="02010600030101010101" pitchFamily="2" charset="-122"/>
              </a:rPr>
              <a:t>系列机兼容，又具有</a:t>
            </a:r>
            <a:r>
              <a:rPr lang="en-US" altLang="zh-CN" sz="2400" b="1" dirty="0">
                <a:latin typeface="Arial" panose="020B0604020202020204" pitchFamily="34" charset="0"/>
                <a:ea typeface="宋体" panose="02010600030101010101" pitchFamily="2" charset="-122"/>
              </a:rPr>
              <a:t>MCA</a:t>
            </a:r>
            <a:r>
              <a:rPr lang="zh-CN" altLang="en-US" sz="2400" b="1" dirty="0">
                <a:latin typeface="Arial" panose="020B0604020202020204" pitchFamily="34" charset="0"/>
                <a:ea typeface="宋体" panose="02010600030101010101" pitchFamily="2" charset="-122"/>
              </a:rPr>
              <a:t>的先进性，但不与</a:t>
            </a:r>
            <a:r>
              <a:rPr lang="en-US" altLang="zh-CN" sz="2400" b="1" dirty="0">
                <a:latin typeface="Arial" panose="020B0604020202020204" pitchFamily="34" charset="0"/>
                <a:ea typeface="宋体" panose="02010600030101010101" pitchFamily="2" charset="-122"/>
              </a:rPr>
              <a:t>MCA</a:t>
            </a:r>
            <a:r>
              <a:rPr lang="zh-CN" altLang="en-US" sz="2400" b="1" dirty="0">
                <a:latin typeface="Arial" panose="020B0604020202020204" pitchFamily="34" charset="0"/>
                <a:ea typeface="宋体" panose="02010600030101010101" pitchFamily="2" charset="-122"/>
              </a:rPr>
              <a:t>兼容。</a:t>
            </a:r>
          </a:p>
          <a:p>
            <a:pPr>
              <a:buClrTx/>
              <a:buFontTx/>
            </a:pPr>
            <a:r>
              <a:rPr lang="zh-CN" altLang="en-US" sz="2400" b="1" dirty="0">
                <a:latin typeface="Arial" panose="020B0604020202020204" pitchFamily="34" charset="0"/>
                <a:ea typeface="宋体" panose="02010600030101010101" pitchFamily="2" charset="-122"/>
              </a:rPr>
              <a:t>      该总线作为</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总线完全兼容的扩展，支持多个总线主控器，并加强了</a:t>
            </a:r>
            <a:r>
              <a:rPr lang="en-US" altLang="zh-CN" sz="2400" b="1" dirty="0">
                <a:latin typeface="Arial" panose="020B0604020202020204" pitchFamily="34" charset="0"/>
                <a:ea typeface="宋体" panose="02010600030101010101" pitchFamily="2" charset="-122"/>
              </a:rPr>
              <a:t>DMA</a:t>
            </a:r>
            <a:r>
              <a:rPr lang="zh-CN" altLang="en-US" sz="2400" b="1" dirty="0">
                <a:latin typeface="Arial" panose="020B0604020202020204" pitchFamily="34" charset="0"/>
                <a:ea typeface="宋体" panose="02010600030101010101" pitchFamily="2" charset="-122"/>
              </a:rPr>
              <a:t>功能，增加了突发方式传输，是一种支持多处理机的高性能</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位标准总线。</a:t>
            </a:r>
          </a:p>
          <a:p>
            <a:pPr>
              <a:buClrTx/>
              <a:buFontTx/>
            </a:pPr>
            <a:r>
              <a:rPr lang="en-US" altLang="zh-CN" sz="2400" b="1" dirty="0">
                <a:latin typeface="Arial" panose="020B0604020202020204" pitchFamily="34" charset="0"/>
                <a:ea typeface="宋体" panose="02010600030101010101" pitchFamily="2" charset="-122"/>
              </a:rPr>
              <a:t>8</a:t>
            </a:r>
            <a:r>
              <a:rPr lang="zh-CN" altLang="en-US" sz="2400" b="1" dirty="0">
                <a:latin typeface="Arial" panose="020B0604020202020204" pitchFamily="34" charset="0"/>
                <a:ea typeface="宋体" panose="02010600030101010101" pitchFamily="2" charset="-122"/>
              </a:rPr>
              <a:t>、采用总线复用技术的</a:t>
            </a:r>
            <a:r>
              <a:rPr lang="en-US" altLang="zh-CN" sz="2400" b="1" dirty="0">
                <a:latin typeface="Arial" panose="020B0604020202020204" pitchFamily="34" charset="0"/>
                <a:ea typeface="宋体" panose="02010600030101010101" pitchFamily="2" charset="-122"/>
              </a:rPr>
              <a:t>Q</a:t>
            </a:r>
            <a:r>
              <a:rPr lang="zh-CN" altLang="en-US" sz="2400" b="1" dirty="0">
                <a:latin typeface="Arial" panose="020B0604020202020204" pitchFamily="34" charset="0"/>
                <a:ea typeface="宋体" panose="02010600030101010101" pitchFamily="2" charset="-122"/>
              </a:rPr>
              <a:t>总线和</a:t>
            </a:r>
            <a:r>
              <a:rPr lang="en-US" altLang="zh-CN" sz="2400" b="1" dirty="0">
                <a:latin typeface="Arial" panose="020B0604020202020204" pitchFamily="34" charset="0"/>
                <a:ea typeface="宋体" panose="02010600030101010101" pitchFamily="2" charset="-122"/>
              </a:rPr>
              <a:t>NUBUS</a:t>
            </a:r>
          </a:p>
          <a:p>
            <a:pPr>
              <a:buClrTx/>
              <a:buFontTx/>
            </a:pPr>
            <a:r>
              <a:rPr lang="en-US" altLang="zh-CN"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Q</a:t>
            </a:r>
            <a:r>
              <a:rPr lang="zh-CN" altLang="en-US" sz="2400" b="1" dirty="0">
                <a:latin typeface="Arial" panose="020B0604020202020204" pitchFamily="34" charset="0"/>
                <a:ea typeface="宋体" panose="02010600030101010101" pitchFamily="2" charset="-122"/>
              </a:rPr>
              <a:t>总线：</a:t>
            </a:r>
            <a:r>
              <a:rPr lang="en-US" altLang="zh-CN" sz="2400" b="1" dirty="0">
                <a:latin typeface="Arial" panose="020B0604020202020204" pitchFamily="34" charset="0"/>
                <a:ea typeface="宋体" panose="02010600030101010101" pitchFamily="2" charset="-122"/>
              </a:rPr>
              <a:t>DEC</a:t>
            </a:r>
            <a:r>
              <a:rPr lang="zh-CN" altLang="en-US" sz="2400" b="1" dirty="0">
                <a:latin typeface="Arial" panose="020B0604020202020204" pitchFamily="34" charset="0"/>
                <a:ea typeface="宋体" panose="02010600030101010101" pitchFamily="2" charset="-122"/>
              </a:rPr>
              <a:t>公司的工业总线，它采用复用数据线和地址线的办法来支持</a:t>
            </a:r>
            <a:r>
              <a:rPr lang="en-US" altLang="zh-CN" sz="2400" b="1" dirty="0">
                <a:latin typeface="Arial" panose="020B0604020202020204" pitchFamily="34" charset="0"/>
                <a:ea typeface="宋体" panose="02010600030101010101" pitchFamily="2" charset="-122"/>
              </a:rPr>
              <a:t>16</a:t>
            </a:r>
            <a:r>
              <a:rPr lang="zh-CN" altLang="en-US" sz="2400" b="1" dirty="0">
                <a:latin typeface="Arial" panose="020B0604020202020204" pitchFamily="34" charset="0"/>
                <a:ea typeface="宋体" panose="02010600030101010101" pitchFamily="2" charset="-122"/>
              </a:rPr>
              <a:t>位和</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位微型化的小型机。</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NUBUS</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APPLE</a:t>
            </a:r>
            <a:r>
              <a:rPr lang="zh-CN" altLang="en-US" sz="2400" b="1" dirty="0">
                <a:latin typeface="Arial" panose="020B0604020202020204" pitchFamily="34" charset="0"/>
                <a:ea typeface="宋体" panose="02010600030101010101" pitchFamily="2" charset="-122"/>
              </a:rPr>
              <a:t>公司和</a:t>
            </a:r>
            <a:r>
              <a:rPr lang="en-US" altLang="zh-CN" sz="2400" b="1" dirty="0">
                <a:latin typeface="Arial" panose="020B0604020202020204" pitchFamily="34" charset="0"/>
                <a:ea typeface="宋体" panose="02010600030101010101" pitchFamily="2" charset="-122"/>
              </a:rPr>
              <a:t>TI</a:t>
            </a:r>
            <a:r>
              <a:rPr lang="zh-CN" altLang="en-US" sz="2400" b="1" dirty="0">
                <a:latin typeface="Arial" panose="020B0604020202020204" pitchFamily="34" charset="0"/>
                <a:ea typeface="宋体" panose="02010600030101010101" pitchFamily="2" charset="-122"/>
              </a:rPr>
              <a:t>公司提出的，则采用数据总线、地址总线和控制总线三条总线复用</a:t>
            </a:r>
            <a:r>
              <a:rPr lang="en-US" altLang="zh-CN" sz="2400" b="1" dirty="0">
                <a:latin typeface="Arial" panose="020B0604020202020204" pitchFamily="34" charset="0"/>
                <a:ea typeface="宋体" panose="02010600030101010101" pitchFamily="2" charset="-122"/>
              </a:rPr>
              <a:t>44</a:t>
            </a:r>
            <a:r>
              <a:rPr lang="zh-CN" altLang="en-US" sz="2400" b="1" dirty="0">
                <a:latin typeface="Arial" panose="020B0604020202020204" pitchFamily="34" charset="0"/>
                <a:ea typeface="宋体" panose="02010600030101010101" pitchFamily="2" charset="-122"/>
              </a:rPr>
              <a:t>条信号线，另加</a:t>
            </a:r>
            <a:r>
              <a:rPr lang="en-US" altLang="zh-CN" sz="2400" b="1" dirty="0">
                <a:latin typeface="Arial" panose="020B0604020202020204" pitchFamily="34" charset="0"/>
                <a:ea typeface="宋体" panose="02010600030101010101" pitchFamily="2" charset="-122"/>
              </a:rPr>
              <a:t>5</a:t>
            </a:r>
            <a:r>
              <a:rPr lang="zh-CN" altLang="en-US" sz="2400" b="1" dirty="0">
                <a:latin typeface="Arial" panose="020B0604020202020204" pitchFamily="34" charset="0"/>
                <a:ea typeface="宋体" panose="02010600030101010101" pitchFamily="2" charset="-122"/>
              </a:rPr>
              <a:t>条总线仲裁，可支持</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位微处理器。</a:t>
            </a:r>
            <a:r>
              <a:rPr lang="en-US" altLang="zh-CN" sz="2400" b="1" dirty="0">
                <a:latin typeface="Arial" panose="020B0604020202020204" pitchFamily="34" charset="0"/>
                <a:ea typeface="宋体" panose="02010600030101010101" pitchFamily="2" charset="-122"/>
              </a:rPr>
              <a:t>APPLE</a:t>
            </a:r>
            <a:r>
              <a:rPr lang="zh-CN" altLang="en-US" sz="2400" b="1" dirty="0">
                <a:latin typeface="Arial" panose="020B0604020202020204" pitchFamily="34" charset="0"/>
                <a:ea typeface="宋体" panose="02010600030101010101" pitchFamily="2" charset="-122"/>
              </a:rPr>
              <a:t>和</a:t>
            </a:r>
            <a:r>
              <a:rPr lang="en-US" altLang="zh-CN" sz="2400" b="1" dirty="0">
                <a:latin typeface="Arial" panose="020B0604020202020204" pitchFamily="34" charset="0"/>
                <a:ea typeface="宋体" panose="02010600030101010101" pitchFamily="2" charset="-122"/>
              </a:rPr>
              <a:t>TI</a:t>
            </a:r>
            <a:r>
              <a:rPr lang="zh-CN" altLang="en-US" sz="2400" b="1" dirty="0">
                <a:latin typeface="Arial" panose="020B0604020202020204" pitchFamily="34" charset="0"/>
                <a:ea typeface="宋体" panose="02010600030101010101" pitchFamily="2" charset="-122"/>
              </a:rPr>
              <a:t>公司希望用这种总线取代微通道总线。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8242">
                                            <p:txEl>
                                              <p:pRg st="0" end="0"/>
                                            </p:txEl>
                                          </p:spTgt>
                                        </p:tgtEl>
                                        <p:attrNameLst>
                                          <p:attrName>style.visibility</p:attrName>
                                        </p:attrNameLst>
                                      </p:cBhvr>
                                      <p:to>
                                        <p:strVal val="visible"/>
                                      </p:to>
                                    </p:set>
                                    <p:animEffect transition="in" filter="blinds(horizontal)">
                                      <p:cBhvr>
                                        <p:cTn id="7" dur="500"/>
                                        <p:tgtEl>
                                          <p:spTgt spid="13824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8242">
                                            <p:txEl>
                                              <p:pRg st="1" end="1"/>
                                            </p:txEl>
                                          </p:spTgt>
                                        </p:tgtEl>
                                        <p:attrNameLst>
                                          <p:attrName>style.visibility</p:attrName>
                                        </p:attrNameLst>
                                      </p:cBhvr>
                                      <p:to>
                                        <p:strVal val="visible"/>
                                      </p:to>
                                    </p:set>
                                    <p:animEffect transition="in" filter="blinds(horizontal)">
                                      <p:cBhvr>
                                        <p:cTn id="10" dur="500"/>
                                        <p:tgtEl>
                                          <p:spTgt spid="13824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38242">
                                            <p:txEl>
                                              <p:pRg st="2" end="2"/>
                                            </p:txEl>
                                          </p:spTgt>
                                        </p:tgtEl>
                                        <p:attrNameLst>
                                          <p:attrName>style.visibility</p:attrName>
                                        </p:attrNameLst>
                                      </p:cBhvr>
                                      <p:to>
                                        <p:strVal val="visible"/>
                                      </p:to>
                                    </p:set>
                                    <p:animEffect transition="in" filter="blinds(horizontal)">
                                      <p:cBhvr>
                                        <p:cTn id="13" dur="500"/>
                                        <p:tgtEl>
                                          <p:spTgt spid="138242">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38242">
                                            <p:txEl>
                                              <p:pRg st="3" end="3"/>
                                            </p:txEl>
                                          </p:spTgt>
                                        </p:tgtEl>
                                        <p:attrNameLst>
                                          <p:attrName>style.visibility</p:attrName>
                                        </p:attrNameLst>
                                      </p:cBhvr>
                                      <p:to>
                                        <p:strVal val="visible"/>
                                      </p:to>
                                    </p:set>
                                    <p:animEffect transition="in" filter="blinds(horizontal)">
                                      <p:cBhvr>
                                        <p:cTn id="16" dur="500"/>
                                        <p:tgtEl>
                                          <p:spTgt spid="13824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38242">
                                            <p:txEl>
                                              <p:pRg st="4" end="4"/>
                                            </p:txEl>
                                          </p:spTgt>
                                        </p:tgtEl>
                                        <p:attrNameLst>
                                          <p:attrName>style.visibility</p:attrName>
                                        </p:attrNameLst>
                                      </p:cBhvr>
                                      <p:to>
                                        <p:strVal val="visible"/>
                                      </p:to>
                                    </p:set>
                                    <p:animEffect transition="in" filter="blinds(horizontal)">
                                      <p:cBhvr>
                                        <p:cTn id="21" dur="500"/>
                                        <p:tgtEl>
                                          <p:spTgt spid="138242">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38242">
                                            <p:txEl>
                                              <p:pRg st="5" end="5"/>
                                            </p:txEl>
                                          </p:spTgt>
                                        </p:tgtEl>
                                        <p:attrNameLst>
                                          <p:attrName>style.visibility</p:attrName>
                                        </p:attrNameLst>
                                      </p:cBhvr>
                                      <p:to>
                                        <p:strVal val="visible"/>
                                      </p:to>
                                    </p:set>
                                    <p:animEffect transition="in" filter="blinds(horizontal)">
                                      <p:cBhvr>
                                        <p:cTn id="24" dur="500"/>
                                        <p:tgtEl>
                                          <p:spTgt spid="138242">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38242">
                                            <p:txEl>
                                              <p:pRg st="6" end="6"/>
                                            </p:txEl>
                                          </p:spTgt>
                                        </p:tgtEl>
                                        <p:attrNameLst>
                                          <p:attrName>style.visibility</p:attrName>
                                        </p:attrNameLst>
                                      </p:cBhvr>
                                      <p:to>
                                        <p:strVal val="visible"/>
                                      </p:to>
                                    </p:set>
                                    <p:animEffect transition="in" filter="blinds(horizontal)">
                                      <p:cBhvr>
                                        <p:cTn id="27" dur="500"/>
                                        <p:tgtEl>
                                          <p:spTgt spid="13824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Text Box 3"/>
          <p:cNvSpPr txBox="1"/>
          <p:nvPr/>
        </p:nvSpPr>
        <p:spPr>
          <a:xfrm>
            <a:off x="228600" y="381000"/>
            <a:ext cx="8915400" cy="6062663"/>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9</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STD</a:t>
            </a:r>
            <a:r>
              <a:rPr lang="zh-CN" altLang="en-US" sz="3600" b="1" dirty="0">
                <a:latin typeface="Arial" panose="020B0604020202020204" pitchFamily="34" charset="0"/>
                <a:ea typeface="宋体" panose="02010600030101010101" pitchFamily="2" charset="-122"/>
              </a:rPr>
              <a:t>总线</a:t>
            </a:r>
            <a:endParaRPr lang="zh-CN" altLang="en-US" sz="3600" dirty="0">
              <a:latin typeface="Arial" panose="020B0604020202020204" pitchFamily="34" charset="0"/>
              <a:ea typeface="宋体" panose="02010600030101010101" pitchFamily="2" charset="-122"/>
            </a:endParaRPr>
          </a:p>
          <a:p>
            <a:pPr>
              <a:buClrTx/>
              <a:buFontTx/>
            </a:pPr>
            <a:r>
              <a:rPr lang="zh-CN" altLang="en-US" dirty="0">
                <a:latin typeface="Arial" panose="020B0604020202020204" pitchFamily="34" charset="0"/>
                <a:ea typeface="宋体" panose="02010600030101010101" pitchFamily="2" charset="-122"/>
              </a:rPr>
              <a:t>          </a:t>
            </a:r>
            <a:r>
              <a:rPr lang="en-US" altLang="zh-CN" sz="3200" b="1" dirty="0">
                <a:latin typeface="Arial" panose="020B0604020202020204" pitchFamily="34" charset="0"/>
                <a:ea typeface="宋体" panose="02010600030101010101" pitchFamily="2" charset="-122"/>
              </a:rPr>
              <a:t>1987</a:t>
            </a:r>
            <a:r>
              <a:rPr lang="zh-CN" altLang="en-US" sz="3200" b="1" dirty="0">
                <a:latin typeface="Arial" panose="020B0604020202020204" pitchFamily="34" charset="0"/>
                <a:ea typeface="宋体" panose="02010600030101010101" pitchFamily="2" charset="-122"/>
              </a:rPr>
              <a:t>年，</a:t>
            </a:r>
            <a:r>
              <a:rPr lang="en-US" altLang="zh-CN" sz="3200" b="1" dirty="0">
                <a:latin typeface="Arial" panose="020B0604020202020204" pitchFamily="34" charset="0"/>
                <a:ea typeface="宋体" panose="02010600030101010101" pitchFamily="2" charset="-122"/>
              </a:rPr>
              <a:t>STD</a:t>
            </a:r>
            <a:r>
              <a:rPr lang="zh-CN" altLang="en-US" sz="3200" b="1" dirty="0">
                <a:latin typeface="Arial" panose="020B0604020202020204" pitchFamily="34" charset="0"/>
                <a:ea typeface="宋体" panose="02010600030101010101" pitchFamily="2" charset="-122"/>
              </a:rPr>
              <a:t>总线最初的设计目标是和所有</a:t>
            </a:r>
            <a:r>
              <a:rPr lang="en-US" altLang="zh-CN" sz="3200" b="1" dirty="0">
                <a:latin typeface="Arial" panose="020B0604020202020204" pitchFamily="34" charset="0"/>
                <a:ea typeface="宋体" panose="02010600030101010101" pitchFamily="2" charset="-122"/>
              </a:rPr>
              <a:t>8</a:t>
            </a:r>
            <a:r>
              <a:rPr lang="zh-CN" altLang="en-US" sz="3200" b="1" dirty="0">
                <a:latin typeface="Arial" panose="020B0604020202020204" pitchFamily="34" charset="0"/>
                <a:ea typeface="宋体" panose="02010600030101010101" pitchFamily="2" charset="-122"/>
              </a:rPr>
              <a:t>位微处理器相兼容，以小尺寸</a:t>
            </a:r>
            <a:r>
              <a:rPr lang="en-US" altLang="zh-CN" sz="3200" b="1" dirty="0">
                <a:latin typeface="Arial" panose="020B0604020202020204" pitchFamily="34" charset="0"/>
                <a:ea typeface="宋体" panose="02010600030101010101" pitchFamily="2" charset="-122"/>
              </a:rPr>
              <a:t>(4.5in×6.5in)</a:t>
            </a:r>
            <a:r>
              <a:rPr lang="zh-CN" altLang="en-US" sz="3200" b="1" dirty="0">
                <a:latin typeface="Arial" panose="020B0604020202020204" pitchFamily="34" charset="0"/>
                <a:ea typeface="宋体" panose="02010600030101010101" pitchFamily="2" charset="-122"/>
              </a:rPr>
              <a:t>、高可靠性、低价格的面貌出现，为嵌入式系统提供解决手段。通常人们把</a:t>
            </a:r>
            <a:r>
              <a:rPr lang="en-US" altLang="zh-CN" sz="3200" b="1" dirty="0">
                <a:latin typeface="Arial" panose="020B0604020202020204" pitchFamily="34" charset="0"/>
                <a:ea typeface="宋体" panose="02010600030101010101" pitchFamily="2" charset="-122"/>
              </a:rPr>
              <a:t>STD</a:t>
            </a:r>
            <a:r>
              <a:rPr lang="zh-CN" altLang="en-US" sz="3200" b="1" dirty="0">
                <a:latin typeface="Arial" panose="020B0604020202020204" pitchFamily="34" charset="0"/>
                <a:ea typeface="宋体" panose="02010600030101010101" pitchFamily="2" charset="-122"/>
              </a:rPr>
              <a:t>总线称为“兰领总线”，因为它把侧重点放在工业测控应用上。</a:t>
            </a:r>
          </a:p>
          <a:p>
            <a:pPr>
              <a:buClrTx/>
              <a:buFontTx/>
            </a:pPr>
            <a:r>
              <a:rPr lang="zh-CN" altLang="en-US" sz="3200" b="1" dirty="0">
                <a:latin typeface="Arial" panose="020B0604020202020204" pitchFamily="34" charset="0"/>
                <a:ea typeface="宋体" panose="02010600030101010101" pitchFamily="2" charset="-122"/>
              </a:rPr>
              <a:t>     </a:t>
            </a:r>
            <a:r>
              <a:rPr lang="en-US" altLang="zh-CN" sz="3200" b="1" dirty="0">
                <a:latin typeface="Arial" panose="020B0604020202020204" pitchFamily="34" charset="0"/>
                <a:ea typeface="宋体" panose="02010600030101010101" pitchFamily="2" charset="-122"/>
              </a:rPr>
              <a:t>16</a:t>
            </a:r>
            <a:r>
              <a:rPr lang="zh-CN" altLang="en-US" sz="3200" b="1" dirty="0">
                <a:latin typeface="Arial" panose="020B0604020202020204" pitchFamily="34" charset="0"/>
                <a:ea typeface="宋体" panose="02010600030101010101" pitchFamily="2" charset="-122"/>
              </a:rPr>
              <a:t>位微处理器出现后，为了仍旧能使用该总线，采用周期窃取和总线复用技术来扩充地址线和数据线，所以</a:t>
            </a:r>
            <a:r>
              <a:rPr lang="en-US" altLang="zh-CN" sz="3200" b="1" dirty="0">
                <a:latin typeface="Arial" panose="020B0604020202020204" pitchFamily="34" charset="0"/>
                <a:ea typeface="宋体" panose="02010600030101010101" pitchFamily="2" charset="-122"/>
              </a:rPr>
              <a:t>STD</a:t>
            </a:r>
            <a:r>
              <a:rPr lang="zh-CN" altLang="en-US" sz="3200" b="1" dirty="0">
                <a:latin typeface="Arial" panose="020B0604020202020204" pitchFamily="34" charset="0"/>
                <a:ea typeface="宋体" panose="02010600030101010101" pitchFamily="2" charset="-122"/>
              </a:rPr>
              <a:t>是</a:t>
            </a:r>
            <a:r>
              <a:rPr lang="en-US" altLang="zh-CN" sz="3200" b="1" dirty="0">
                <a:latin typeface="Arial" panose="020B0604020202020204" pitchFamily="34" charset="0"/>
                <a:ea typeface="宋体" panose="02010600030101010101" pitchFamily="2" charset="-122"/>
              </a:rPr>
              <a:t>8</a:t>
            </a:r>
            <a:r>
              <a:rPr lang="zh-CN" altLang="en-US" sz="3200" b="1" dirty="0">
                <a:latin typeface="Arial" panose="020B0604020202020204" pitchFamily="34" charset="0"/>
                <a:ea typeface="宋体" panose="02010600030101010101" pitchFamily="2" charset="-122"/>
              </a:rPr>
              <a:t>位</a:t>
            </a:r>
            <a:r>
              <a:rPr lang="en-US" altLang="zh-CN" sz="3200" b="1" dirty="0">
                <a:latin typeface="Arial" panose="020B0604020202020204" pitchFamily="34" charset="0"/>
                <a:ea typeface="宋体" panose="02010600030101010101" pitchFamily="2" charset="-122"/>
              </a:rPr>
              <a:t>/16</a:t>
            </a:r>
            <a:r>
              <a:rPr lang="zh-CN" altLang="en-US" sz="3200" b="1" dirty="0">
                <a:latin typeface="Arial" panose="020B0604020202020204" pitchFamily="34" charset="0"/>
                <a:ea typeface="宋体" panose="02010600030101010101" pitchFamily="2" charset="-122"/>
              </a:rPr>
              <a:t>位兼容的总线。为了能和</a:t>
            </a:r>
            <a:r>
              <a:rPr lang="en-US" altLang="zh-CN" sz="3200" b="1" dirty="0">
                <a:latin typeface="Arial" panose="020B0604020202020204" pitchFamily="34" charset="0"/>
                <a:ea typeface="宋体" panose="02010600030101010101" pitchFamily="2" charset="-122"/>
              </a:rPr>
              <a:t>32</a:t>
            </a:r>
            <a:r>
              <a:rPr lang="zh-CN" altLang="en-US" sz="3200" b="1" dirty="0">
                <a:latin typeface="Arial" panose="020B0604020202020204" pitchFamily="34" charset="0"/>
                <a:ea typeface="宋体" panose="02010600030101010101" pitchFamily="2" charset="-122"/>
              </a:rPr>
              <a:t>位微处理器</a:t>
            </a:r>
            <a:r>
              <a:rPr lang="en-US" altLang="zh-CN" sz="3200" b="1" dirty="0">
                <a:latin typeface="Arial" panose="020B0604020202020204" pitchFamily="34" charset="0"/>
                <a:ea typeface="宋体" panose="02010600030101010101" pitchFamily="2" charset="-122"/>
              </a:rPr>
              <a:t>80386</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80486</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68030</a:t>
            </a:r>
            <a:r>
              <a:rPr lang="zh-CN" altLang="en-US" sz="3200" b="1" dirty="0">
                <a:latin typeface="Arial" panose="020B0604020202020204" pitchFamily="34" charset="0"/>
                <a:ea typeface="宋体" panose="02010600030101010101" pitchFamily="2" charset="-122"/>
              </a:rPr>
              <a:t>等兼容，近年来又定义了</a:t>
            </a:r>
            <a:r>
              <a:rPr lang="en-US" altLang="zh-CN" sz="3200" b="1" dirty="0">
                <a:latin typeface="Arial" panose="020B0604020202020204" pitchFamily="34" charset="0"/>
                <a:ea typeface="宋体" panose="02010600030101010101" pitchFamily="2" charset="-122"/>
              </a:rPr>
              <a:t>STD32</a:t>
            </a:r>
            <a:r>
              <a:rPr lang="zh-CN" altLang="en-US" sz="3200" b="1" dirty="0">
                <a:latin typeface="Arial" panose="020B0604020202020204" pitchFamily="34" charset="0"/>
                <a:ea typeface="宋体" panose="02010600030101010101" pitchFamily="2" charset="-122"/>
              </a:rPr>
              <a:t>总线标准，且与原来</a:t>
            </a:r>
            <a:r>
              <a:rPr lang="en-US" altLang="zh-CN" sz="3200" b="1" dirty="0">
                <a:latin typeface="Arial" panose="020B0604020202020204" pitchFamily="34" charset="0"/>
                <a:ea typeface="宋体" panose="02010600030101010101" pitchFamily="2" charset="-122"/>
              </a:rPr>
              <a:t>8</a:t>
            </a:r>
            <a:r>
              <a:rPr lang="zh-CN" altLang="en-US" sz="3200" b="1" dirty="0">
                <a:latin typeface="Arial" panose="020B0604020202020204" pitchFamily="34" charset="0"/>
                <a:ea typeface="宋体" panose="02010600030101010101" pitchFamily="2" charset="-122"/>
              </a:rPr>
              <a:t>位总线的</a:t>
            </a:r>
            <a:r>
              <a:rPr lang="en-US" altLang="zh-CN" sz="3200" b="1" dirty="0">
                <a:latin typeface="Arial" panose="020B0604020202020204" pitchFamily="34" charset="0"/>
                <a:ea typeface="宋体" panose="02010600030101010101" pitchFamily="2" charset="-122"/>
              </a:rPr>
              <a:t>I/O</a:t>
            </a:r>
            <a:r>
              <a:rPr lang="zh-CN" altLang="en-US" sz="3200" b="1" dirty="0">
                <a:latin typeface="Arial" panose="020B0604020202020204" pitchFamily="34" charset="0"/>
                <a:ea typeface="宋体" panose="02010600030101010101" pitchFamily="2" charset="-122"/>
              </a:rPr>
              <a:t>模板兼容。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9267">
                                            <p:txEl>
                                              <p:pRg st="1" end="1"/>
                                            </p:txEl>
                                          </p:spTgt>
                                        </p:tgtEl>
                                        <p:attrNameLst>
                                          <p:attrName>style.visibility</p:attrName>
                                        </p:attrNameLst>
                                      </p:cBhvr>
                                      <p:to>
                                        <p:strVal val="visible"/>
                                      </p:to>
                                    </p:set>
                                    <p:animEffect transition="in" filter="blinds(horizontal)">
                                      <p:cBhvr>
                                        <p:cTn id="7" dur="500"/>
                                        <p:tgtEl>
                                          <p:spTgt spid="1392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9267">
                                            <p:txEl>
                                              <p:pRg st="2" end="2"/>
                                            </p:txEl>
                                          </p:spTgt>
                                        </p:tgtEl>
                                        <p:attrNameLst>
                                          <p:attrName>style.visibility</p:attrName>
                                        </p:attrNameLst>
                                      </p:cBhvr>
                                      <p:to>
                                        <p:strVal val="visible"/>
                                      </p:to>
                                    </p:set>
                                    <p:animEffect transition="in" filter="blinds(horizontal)">
                                      <p:cBhvr>
                                        <p:cTn id="12" dur="500"/>
                                        <p:tgtEl>
                                          <p:spTgt spid="139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p:cNvSpPr txBox="1"/>
          <p:nvPr/>
        </p:nvSpPr>
        <p:spPr>
          <a:xfrm>
            <a:off x="152400" y="139700"/>
            <a:ext cx="8763000" cy="6554788"/>
          </a:xfrm>
          <a:prstGeom prst="rect">
            <a:avLst/>
          </a:prstGeom>
          <a:noFill/>
          <a:ln w="9525">
            <a:noFill/>
          </a:ln>
        </p:spPr>
        <p:txBody>
          <a:bodyPr anchor="t" anchorCtr="0">
            <a:spAutoFit/>
          </a:bodyPr>
          <a:lstStyle/>
          <a:p>
            <a:pPr>
              <a:buClrTx/>
              <a:buFontTx/>
            </a:pPr>
            <a:r>
              <a:rPr lang="zh-CN" altLang="en-US" sz="3600" b="1" dirty="0">
                <a:solidFill>
                  <a:srgbClr val="FF0000"/>
                </a:solidFill>
                <a:latin typeface="Arial" panose="020B0604020202020204" pitchFamily="34" charset="0"/>
                <a:ea typeface="宋体" panose="02010600030101010101" pitchFamily="2" charset="-122"/>
              </a:rPr>
              <a:t>二、局部总线简介</a:t>
            </a:r>
            <a:endParaRPr lang="zh-CN" altLang="en-US" sz="3600" b="1" dirty="0">
              <a:latin typeface="Arial" panose="020B0604020202020204" pitchFamily="34" charset="0"/>
              <a:ea typeface="宋体" panose="02010600030101010101" pitchFamily="2" charset="-122"/>
            </a:endParaRPr>
          </a:p>
          <a:p>
            <a:pPr>
              <a:buClrTx/>
              <a:buFontTx/>
            </a:pPr>
            <a:r>
              <a:rPr lang="zh-CN" altLang="en-US" sz="3200" b="1" dirty="0">
                <a:latin typeface="Arial" panose="020B0604020202020204" pitchFamily="34" charset="0"/>
                <a:ea typeface="宋体" panose="02010600030101010101" pitchFamily="2" charset="-122"/>
              </a:rPr>
              <a:t>       局部总线是为解决高性能</a:t>
            </a:r>
            <a:r>
              <a:rPr lang="en-US" altLang="zh-CN" sz="3200" b="1" dirty="0">
                <a:latin typeface="Arial" panose="020B0604020202020204" pitchFamily="34" charset="0"/>
                <a:ea typeface="宋体" panose="02010600030101010101" pitchFamily="2" charset="-122"/>
              </a:rPr>
              <a:t>CPU</a:t>
            </a:r>
            <a:r>
              <a:rPr lang="zh-CN" altLang="en-US" sz="3200" b="1" dirty="0">
                <a:latin typeface="Arial" panose="020B0604020202020204" pitchFamily="34" charset="0"/>
                <a:ea typeface="宋体" panose="02010600030101010101" pitchFamily="2" charset="-122"/>
              </a:rPr>
              <a:t>与低性能的系统总线之间的瓶颈问题而提出的。出于对兼容性的考虑，还不能将</a:t>
            </a:r>
            <a:r>
              <a:rPr lang="en-US" altLang="zh-CN" sz="3200" b="1" dirty="0">
                <a:latin typeface="Arial" panose="020B0604020202020204" pitchFamily="34" charset="0"/>
                <a:ea typeface="宋体" panose="02010600030101010101" pitchFamily="2" charset="-122"/>
              </a:rPr>
              <a:t>ISA</a:t>
            </a:r>
            <a:r>
              <a:rPr lang="zh-CN" altLang="en-US" sz="3200" b="1" dirty="0">
                <a:latin typeface="Arial" panose="020B0604020202020204" pitchFamily="34" charset="0"/>
                <a:ea typeface="宋体" panose="02010600030101010101" pitchFamily="2" charset="-122"/>
              </a:rPr>
              <a:t>总线淘汰掉，所以需要一个变通办法来解决该瓶颈，办法之一就是采用局部总线。</a:t>
            </a:r>
          </a:p>
          <a:p>
            <a:pPr>
              <a:buClrTx/>
              <a:buFontTx/>
            </a:pPr>
            <a:r>
              <a:rPr lang="zh-CN" altLang="en-US" sz="3200" dirty="0">
                <a:latin typeface="Arial" panose="020B0604020202020204" pitchFamily="34" charset="0"/>
                <a:ea typeface="宋体" panose="02010600030101010101" pitchFamily="2" charset="-122"/>
              </a:rPr>
              <a:t>       </a:t>
            </a:r>
            <a:r>
              <a:rPr lang="zh-CN" altLang="en-US" sz="3200" b="1" dirty="0">
                <a:latin typeface="Arial" panose="020B0604020202020204" pitchFamily="34" charset="0"/>
                <a:ea typeface="宋体" panose="02010600030101010101" pitchFamily="2" charset="-122"/>
              </a:rPr>
              <a:t>高性能</a:t>
            </a:r>
            <a:r>
              <a:rPr lang="en-US" altLang="zh-CN" sz="3200" b="1" dirty="0">
                <a:latin typeface="Arial" panose="020B0604020202020204" pitchFamily="34" charset="0"/>
                <a:ea typeface="宋体" panose="02010600030101010101" pitchFamily="2" charset="-122"/>
              </a:rPr>
              <a:t>CPU</a:t>
            </a:r>
            <a:r>
              <a:rPr lang="zh-CN" altLang="en-US" sz="3200" b="1" dirty="0">
                <a:latin typeface="Arial" panose="020B0604020202020204" pitchFamily="34" charset="0"/>
                <a:ea typeface="宋体" panose="02010600030101010101" pitchFamily="2" charset="-122"/>
              </a:rPr>
              <a:t>的芯片总线可以支持很高的数据传输率，因而可将某些模块直接挂接在芯片总线上，实际上许多主板上的存储器都是采用该方法。但对于多个模块，</a:t>
            </a:r>
            <a:r>
              <a:rPr lang="en-US" altLang="zh-CN" sz="3200" b="1" dirty="0">
                <a:latin typeface="Arial" panose="020B0604020202020204" pitchFamily="34" charset="0"/>
                <a:ea typeface="宋体" panose="02010600030101010101" pitchFamily="2" charset="-122"/>
              </a:rPr>
              <a:t>CPU</a:t>
            </a:r>
            <a:r>
              <a:rPr lang="zh-CN" altLang="en-US" sz="3200" b="1" dirty="0">
                <a:latin typeface="Arial" panose="020B0604020202020204" pitchFamily="34" charset="0"/>
                <a:ea typeface="宋体" panose="02010600030101010101" pitchFamily="2" charset="-122"/>
              </a:rPr>
              <a:t>的芯片总线驱动就能力不够了，因而需增加驱动电路，这样就形成了局部总线，它为</a:t>
            </a:r>
            <a:r>
              <a:rPr lang="en-US" altLang="zh-CN" sz="3200" b="1" dirty="0">
                <a:latin typeface="Arial" panose="020B0604020202020204" pitchFamily="34" charset="0"/>
                <a:ea typeface="宋体" panose="02010600030101010101" pitchFamily="2" charset="-122"/>
              </a:rPr>
              <a:t>CPU</a:t>
            </a:r>
            <a:r>
              <a:rPr lang="zh-CN" altLang="en-US" sz="3200" b="1" dirty="0">
                <a:latin typeface="Arial" panose="020B0604020202020204" pitchFamily="34" charset="0"/>
                <a:ea typeface="宋体" panose="02010600030101010101" pitchFamily="2" charset="-122"/>
              </a:rPr>
              <a:t>和高速的外设间提供了一条直接通路</a:t>
            </a:r>
            <a:r>
              <a:rPr lang="zh-CN" altLang="en-US" sz="3200" dirty="0">
                <a:latin typeface="Arial" panose="020B0604020202020204" pitchFamily="34"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0290">
                                            <p:txEl>
                                              <p:pRg st="1" end="1"/>
                                            </p:txEl>
                                          </p:spTgt>
                                        </p:tgtEl>
                                        <p:attrNameLst>
                                          <p:attrName>style.visibility</p:attrName>
                                        </p:attrNameLst>
                                      </p:cBhvr>
                                      <p:to>
                                        <p:strVal val="visible"/>
                                      </p:to>
                                    </p:set>
                                    <p:animEffect transition="in" filter="blinds(horizontal)">
                                      <p:cBhvr>
                                        <p:cTn id="7" dur="500"/>
                                        <p:tgtEl>
                                          <p:spTgt spid="14029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0290">
                                            <p:txEl>
                                              <p:pRg st="2" end="2"/>
                                            </p:txEl>
                                          </p:spTgt>
                                        </p:tgtEl>
                                        <p:attrNameLst>
                                          <p:attrName>style.visibility</p:attrName>
                                        </p:attrNameLst>
                                      </p:cBhvr>
                                      <p:to>
                                        <p:strVal val="visible"/>
                                      </p:to>
                                    </p:set>
                                    <p:animEffect transition="in" filter="blinds(horizontal)">
                                      <p:cBhvr>
                                        <p:cTn id="12" dur="500"/>
                                        <p:tgtEl>
                                          <p:spTgt spid="14029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p:cNvSpPr txBox="1"/>
          <p:nvPr/>
        </p:nvSpPr>
        <p:spPr>
          <a:xfrm>
            <a:off x="0" y="0"/>
            <a:ext cx="8839200" cy="6246813"/>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1</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VL-BUS</a:t>
            </a:r>
            <a:endParaRPr lang="en-US" altLang="zh-CN" sz="3600" dirty="0">
              <a:latin typeface="Arial" panose="020B0604020202020204" pitchFamily="34" charset="0"/>
              <a:ea typeface="宋体" panose="02010600030101010101" pitchFamily="2" charset="-122"/>
            </a:endParaRPr>
          </a:p>
          <a:p>
            <a:pPr>
              <a:buClrTx/>
              <a:buFontTx/>
            </a:pPr>
            <a:r>
              <a:rPr lang="en-US" altLang="zh-CN" sz="2800" b="1" dirty="0">
                <a:latin typeface="Arial" panose="020B0604020202020204" pitchFamily="34" charset="0"/>
                <a:ea typeface="宋体" panose="02010600030101010101" pitchFamily="2" charset="-122"/>
              </a:rPr>
              <a:t>      VESA</a:t>
            </a:r>
            <a:r>
              <a:rPr lang="zh-CN" altLang="en-US" sz="2800" b="1" dirty="0">
                <a:latin typeface="Arial" panose="020B0604020202020204" pitchFamily="34" charset="0"/>
                <a:ea typeface="宋体" panose="02010600030101010101" pitchFamily="2" charset="-122"/>
              </a:rPr>
              <a:t>（视频电子标准协会）与</a:t>
            </a:r>
            <a:r>
              <a:rPr lang="en-US" altLang="zh-CN" sz="2800" b="1" dirty="0">
                <a:latin typeface="Arial" panose="020B0604020202020204" pitchFamily="34" charset="0"/>
                <a:ea typeface="宋体" panose="02010600030101010101" pitchFamily="2" charset="-122"/>
              </a:rPr>
              <a:t>60</a:t>
            </a:r>
            <a:r>
              <a:rPr lang="zh-CN" altLang="en-US" sz="2800" b="1" dirty="0">
                <a:latin typeface="Arial" panose="020B0604020202020204" pitchFamily="34" charset="0"/>
                <a:ea typeface="宋体" panose="02010600030101010101" pitchFamily="2" charset="-122"/>
              </a:rPr>
              <a:t>余家公司联合推出的局部总线；</a:t>
            </a:r>
            <a:r>
              <a:rPr lang="en-US" altLang="zh-CN" sz="2800" b="1" dirty="0">
                <a:latin typeface="Arial" panose="020B0604020202020204" pitchFamily="34" charset="0"/>
                <a:ea typeface="宋体" panose="02010600030101010101" pitchFamily="2" charset="-122"/>
              </a:rPr>
              <a:t>32bit</a:t>
            </a:r>
            <a:r>
              <a:rPr lang="zh-CN" altLang="en-US" sz="2800" b="1" dirty="0">
                <a:latin typeface="Arial" panose="020B0604020202020204" pitchFamily="34" charset="0"/>
                <a:ea typeface="宋体" panose="02010600030101010101" pitchFamily="2" charset="-122"/>
              </a:rPr>
              <a:t>总线，在标准的</a:t>
            </a:r>
            <a:r>
              <a:rPr lang="en-US" altLang="zh-CN" sz="2800" b="1" dirty="0">
                <a:latin typeface="Arial" panose="020B0604020202020204" pitchFamily="34" charset="0"/>
                <a:ea typeface="宋体" panose="02010600030101010101" pitchFamily="2" charset="-122"/>
              </a:rPr>
              <a:t>ISA</a:t>
            </a:r>
            <a:r>
              <a:rPr lang="zh-CN" altLang="en-US" sz="2800" b="1" dirty="0">
                <a:latin typeface="Arial" panose="020B0604020202020204" pitchFamily="34" charset="0"/>
                <a:ea typeface="宋体" panose="02010600030101010101" pitchFamily="2" charset="-122"/>
              </a:rPr>
              <a:t>插槽之后提供附加的第三和第四接口，额定频率</a:t>
            </a:r>
            <a:r>
              <a:rPr lang="en-US" altLang="zh-CN" sz="2800" b="1" dirty="0">
                <a:latin typeface="Arial" panose="020B0604020202020204" pitchFamily="34" charset="0"/>
                <a:ea typeface="宋体" panose="02010600030101010101" pitchFamily="2" charset="-122"/>
              </a:rPr>
              <a:t>33MHz</a:t>
            </a:r>
            <a:r>
              <a:rPr lang="zh-CN" altLang="en-US" sz="2800" b="1" dirty="0">
                <a:latin typeface="Arial" panose="020B0604020202020204" pitchFamily="34" charset="0"/>
                <a:ea typeface="宋体" panose="02010600030101010101" pitchFamily="2" charset="-122"/>
              </a:rPr>
              <a:t>，并且能够提供超过</a:t>
            </a:r>
            <a:r>
              <a:rPr lang="en-US" altLang="zh-CN" sz="2800" b="1" dirty="0">
                <a:latin typeface="Arial" panose="020B0604020202020204" pitchFamily="34" charset="0"/>
                <a:ea typeface="宋体" panose="02010600030101010101" pitchFamily="2" charset="-122"/>
              </a:rPr>
              <a:t>ISA</a:t>
            </a:r>
            <a:r>
              <a:rPr lang="zh-CN" altLang="en-US" sz="2800" b="1" dirty="0">
                <a:latin typeface="Arial" panose="020B0604020202020204" pitchFamily="34" charset="0"/>
                <a:ea typeface="宋体" panose="02010600030101010101" pitchFamily="2" charset="-122"/>
              </a:rPr>
              <a:t>的卓越性能。</a:t>
            </a:r>
          </a:p>
          <a:p>
            <a:pPr>
              <a:buClrTx/>
              <a:buFontTx/>
            </a:pPr>
            <a:r>
              <a:rPr lang="zh-CN" altLang="en-US" sz="2800" b="1" dirty="0">
                <a:latin typeface="Arial" panose="020B0604020202020204" pitchFamily="34"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VL-BUS</a:t>
            </a:r>
            <a:r>
              <a:rPr lang="zh-CN" altLang="en-US" sz="2800" b="1" dirty="0">
                <a:latin typeface="Arial" panose="020B0604020202020204" pitchFamily="34" charset="0"/>
                <a:ea typeface="宋体" panose="02010600030101010101" pitchFamily="2" charset="-122"/>
              </a:rPr>
              <a:t>最主要的特点也是其没落的最主要原因。本来，它是作为</a:t>
            </a:r>
            <a:r>
              <a:rPr lang="en-US" altLang="zh-CN" sz="2800" b="1" dirty="0">
                <a:latin typeface="Arial" panose="020B0604020202020204" pitchFamily="34" charset="0"/>
                <a:ea typeface="宋体" panose="02010600030101010101" pitchFamily="2" charset="-122"/>
              </a:rPr>
              <a:t>486</a:t>
            </a:r>
            <a:r>
              <a:rPr lang="zh-CN" altLang="en-US" sz="2800" b="1" dirty="0">
                <a:latin typeface="Arial" panose="020B0604020202020204" pitchFamily="34" charset="0"/>
                <a:ea typeface="宋体" panose="02010600030101010101" pitchFamily="2" charset="-122"/>
              </a:rPr>
              <a:t>处理器</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内存总线的直接扩展，运行在与处理器相同的频率上，因此名为“本地总线”。这种直接的扩展意味着如果连接的设备过多，则很可能会干扰处理器自身的工作，特别是当信号通过一个插槽时。</a:t>
            </a:r>
            <a:r>
              <a:rPr lang="en-US" altLang="zh-CN" sz="2800" b="1" dirty="0">
                <a:latin typeface="Arial" panose="020B0604020202020204" pitchFamily="34" charset="0"/>
                <a:ea typeface="宋体" panose="02010600030101010101" pitchFamily="2" charset="-122"/>
              </a:rPr>
              <a:t>VESA</a:t>
            </a:r>
            <a:r>
              <a:rPr lang="zh-CN" altLang="en-US" sz="2800" b="1" dirty="0">
                <a:latin typeface="Arial" panose="020B0604020202020204" pitchFamily="34" charset="0"/>
                <a:ea typeface="宋体" panose="02010600030101010101" pitchFamily="2" charset="-122"/>
              </a:rPr>
              <a:t>建议在</a:t>
            </a:r>
            <a:r>
              <a:rPr lang="en-US" altLang="zh-CN" sz="2800" b="1" dirty="0">
                <a:latin typeface="Arial" panose="020B0604020202020204" pitchFamily="34" charset="0"/>
                <a:ea typeface="宋体" panose="02010600030101010101" pitchFamily="2" charset="-122"/>
              </a:rPr>
              <a:t>33MHz</a:t>
            </a:r>
            <a:r>
              <a:rPr lang="zh-CN" altLang="en-US" sz="2800" b="1" dirty="0">
                <a:latin typeface="Arial" panose="020B0604020202020204" pitchFamily="34" charset="0"/>
                <a:ea typeface="宋体" panose="02010600030101010101" pitchFamily="2" charset="-122"/>
              </a:rPr>
              <a:t>的频率上只使用</a:t>
            </a:r>
            <a:r>
              <a:rPr lang="en-US" altLang="zh-CN" sz="2800" b="1" dirty="0">
                <a:latin typeface="Arial" panose="020B0604020202020204" pitchFamily="34" charset="0"/>
                <a:ea typeface="宋体" panose="02010600030101010101" pitchFamily="2" charset="-122"/>
              </a:rPr>
              <a:t>2</a:t>
            </a:r>
            <a:r>
              <a:rPr lang="zh-CN" altLang="en-US" sz="2800" b="1" dirty="0">
                <a:latin typeface="Arial" panose="020B0604020202020204" pitchFamily="34" charset="0"/>
                <a:ea typeface="宋体" panose="02010600030101010101" pitchFamily="2" charset="-122"/>
              </a:rPr>
              <a:t>个插槽，或者在总线使用电子缓冲时使用</a:t>
            </a:r>
            <a:r>
              <a:rPr lang="en-US" altLang="zh-CN" sz="2800" b="1" dirty="0">
                <a:latin typeface="Arial" panose="020B0604020202020204" pitchFamily="34" charset="0"/>
                <a:ea typeface="宋体" panose="02010600030101010101" pitchFamily="2" charset="-122"/>
              </a:rPr>
              <a:t>3</a:t>
            </a:r>
            <a:r>
              <a:rPr lang="zh-CN" altLang="en-US" sz="2800" b="1" dirty="0">
                <a:latin typeface="Arial" panose="020B0604020202020204" pitchFamily="34" charset="0"/>
                <a:ea typeface="宋体" panose="02010600030101010101" pitchFamily="2" charset="-122"/>
              </a:rPr>
              <a:t>个。在更高的频率上不能连接</a:t>
            </a:r>
            <a:r>
              <a:rPr lang="en-US" altLang="zh-CN" sz="2800" b="1" dirty="0">
                <a:latin typeface="Arial" panose="020B0604020202020204" pitchFamily="34" charset="0"/>
                <a:ea typeface="宋体" panose="02010600030101010101" pitchFamily="2" charset="-122"/>
              </a:rPr>
              <a:t>2</a:t>
            </a:r>
            <a:r>
              <a:rPr lang="zh-CN" altLang="en-US" sz="2800" b="1" dirty="0">
                <a:latin typeface="Arial" panose="020B0604020202020204" pitchFamily="34" charset="0"/>
                <a:ea typeface="宋体" panose="02010600030101010101" pitchFamily="2" charset="-122"/>
              </a:rPr>
              <a:t>个以上的设备，而在</a:t>
            </a:r>
            <a:r>
              <a:rPr lang="en-US" altLang="zh-CN" sz="2800" b="1" dirty="0">
                <a:latin typeface="Arial" panose="020B0604020202020204" pitchFamily="34" charset="0"/>
                <a:ea typeface="宋体" panose="02010600030101010101" pitchFamily="2" charset="-122"/>
              </a:rPr>
              <a:t>50MHz</a:t>
            </a:r>
            <a:r>
              <a:rPr lang="zh-CN" altLang="en-US" sz="2800" b="1" dirty="0">
                <a:latin typeface="Arial" panose="020B0604020202020204" pitchFamily="34" charset="0"/>
                <a:ea typeface="宋体" panose="02010600030101010101" pitchFamily="2" charset="-122"/>
              </a:rPr>
              <a:t>时它们则必须都内建于主板内。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1314">
                                            <p:txEl>
                                              <p:pRg st="1" end="1"/>
                                            </p:txEl>
                                          </p:spTgt>
                                        </p:tgtEl>
                                        <p:attrNameLst>
                                          <p:attrName>style.visibility</p:attrName>
                                        </p:attrNameLst>
                                      </p:cBhvr>
                                      <p:to>
                                        <p:strVal val="visible"/>
                                      </p:to>
                                    </p:set>
                                    <p:animEffect transition="in" filter="blinds(horizontal)">
                                      <p:cBhvr>
                                        <p:cTn id="7" dur="500"/>
                                        <p:tgtEl>
                                          <p:spTgt spid="1413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1314">
                                            <p:txEl>
                                              <p:pRg st="2" end="2"/>
                                            </p:txEl>
                                          </p:spTgt>
                                        </p:tgtEl>
                                        <p:attrNameLst>
                                          <p:attrName>style.visibility</p:attrName>
                                        </p:attrNameLst>
                                      </p:cBhvr>
                                      <p:to>
                                        <p:strVal val="visible"/>
                                      </p:to>
                                    </p:set>
                                    <p:animEffect transition="in" filter="blinds(horizontal)">
                                      <p:cBhvr>
                                        <p:cTn id="12" dur="500"/>
                                        <p:tgtEl>
                                          <p:spTgt spid="1413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p:nvPr/>
        </p:nvSpPr>
        <p:spPr>
          <a:xfrm>
            <a:off x="0" y="228600"/>
            <a:ext cx="8991600" cy="6000750"/>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2</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PCI</a:t>
            </a:r>
            <a:r>
              <a:rPr lang="zh-CN" altLang="en-US" sz="3600" b="1" dirty="0">
                <a:latin typeface="Arial" panose="020B0604020202020204" pitchFamily="34" charset="0"/>
                <a:ea typeface="宋体" panose="02010600030101010101" pitchFamily="2" charset="-122"/>
              </a:rPr>
              <a:t>总线</a:t>
            </a:r>
            <a:endParaRPr lang="zh-CN" altLang="en-US" sz="36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总线是厂家自发制定的一种企业联盟标准总线，是专门为奔腾系列芯片而设计，可满足图形界面及高速传输率扩展卡的需求。</a:t>
            </a:r>
            <a:r>
              <a:rPr lang="en-US" altLang="zh-CN" sz="2400" b="1" dirty="0">
                <a:latin typeface="Arial" panose="020B0604020202020204" pitchFamily="34" charset="0"/>
                <a:ea typeface="宋体" panose="02010600030101010101" pitchFamily="2" charset="-122"/>
              </a:rPr>
              <a:t>Intel</a:t>
            </a:r>
            <a:r>
              <a:rPr lang="zh-CN" altLang="en-US" sz="2400" b="1" dirty="0">
                <a:latin typeface="Arial" panose="020B0604020202020204" pitchFamily="34" charset="0"/>
                <a:ea typeface="宋体" panose="02010600030101010101" pitchFamily="2" charset="-122"/>
              </a:rPr>
              <a:t>公司于</a:t>
            </a:r>
            <a:r>
              <a:rPr lang="en-US" altLang="zh-CN" sz="2400" b="1" dirty="0">
                <a:latin typeface="Arial" panose="020B0604020202020204" pitchFamily="34" charset="0"/>
                <a:ea typeface="宋体" panose="02010600030101010101" pitchFamily="2" charset="-122"/>
              </a:rPr>
              <a:t>1991</a:t>
            </a:r>
            <a:r>
              <a:rPr lang="zh-CN" altLang="en-US" sz="2400" b="1" dirty="0">
                <a:latin typeface="Arial" panose="020B0604020202020204" pitchFamily="34" charset="0"/>
                <a:ea typeface="宋体" panose="02010600030101010101" pitchFamily="2" charset="-122"/>
              </a:rPr>
              <a:t>年首先提出了</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总线的概念。之后，</a:t>
            </a:r>
            <a:r>
              <a:rPr lang="en-US" altLang="zh-CN" sz="2400" b="1" dirty="0">
                <a:latin typeface="Arial" panose="020B0604020202020204" pitchFamily="34" charset="0"/>
                <a:ea typeface="宋体" panose="02010600030101010101" pitchFamily="2" charset="-122"/>
              </a:rPr>
              <a:t>Intel</a:t>
            </a:r>
            <a:r>
              <a:rPr lang="zh-CN" altLang="en-US" sz="2400" b="1" dirty="0">
                <a:latin typeface="Arial" panose="020B0604020202020204" pitchFamily="34" charset="0"/>
                <a:ea typeface="宋体" panose="02010600030101010101" pitchFamily="2" charset="-122"/>
              </a:rPr>
              <a:t>联合</a:t>
            </a:r>
            <a:r>
              <a:rPr lang="en-US" altLang="zh-CN" sz="2400" b="1" dirty="0">
                <a:latin typeface="Arial" panose="020B0604020202020204" pitchFamily="34" charset="0"/>
                <a:ea typeface="宋体" panose="02010600030101010101" pitchFamily="2" charset="-122"/>
              </a:rPr>
              <a:t>IBM</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Compaq</a:t>
            </a:r>
            <a:r>
              <a:rPr lang="zh-CN" altLang="en-US" sz="2400" b="1" dirty="0">
                <a:latin typeface="Arial" panose="020B0604020202020204" pitchFamily="34" charset="0"/>
                <a:ea typeface="宋体" panose="02010600030101010101" pitchFamily="2" charset="-122"/>
              </a:rPr>
              <a:t>等</a:t>
            </a:r>
            <a:r>
              <a:rPr lang="en-US" altLang="zh-CN" sz="2400" b="1" dirty="0">
                <a:latin typeface="Arial" panose="020B0604020202020204" pitchFamily="34" charset="0"/>
                <a:ea typeface="宋体" panose="02010600030101010101" pitchFamily="2" charset="-122"/>
              </a:rPr>
              <a:t>100</a:t>
            </a:r>
            <a:r>
              <a:rPr lang="zh-CN" altLang="en-US" sz="2400" b="1" dirty="0">
                <a:latin typeface="Arial" panose="020B0604020202020204" pitchFamily="34" charset="0"/>
                <a:ea typeface="宋体" panose="02010600030101010101" pitchFamily="2" charset="-122"/>
              </a:rPr>
              <a:t>多家公司联合共同开发</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总线，并于</a:t>
            </a:r>
            <a:r>
              <a:rPr lang="en-US" altLang="zh-CN" sz="2400" b="1" dirty="0">
                <a:latin typeface="Arial" panose="020B0604020202020204" pitchFamily="34" charset="0"/>
                <a:ea typeface="宋体" panose="02010600030101010101" pitchFamily="2" charset="-122"/>
              </a:rPr>
              <a:t>1992</a:t>
            </a:r>
            <a:r>
              <a:rPr lang="zh-CN" altLang="en-US" sz="2400" b="1" dirty="0">
                <a:latin typeface="Arial" panose="020B0604020202020204" pitchFamily="34" charset="0"/>
                <a:ea typeface="宋体" panose="02010600030101010101" pitchFamily="2" charset="-122"/>
              </a:rPr>
              <a:t>年推出了</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总线标准。因局部总线</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等非常流行和普及，现在大多数人认为局部总线</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等就是系统总线。因此，局部总线和系统总线没有本质区别，现在统称为系统总线</a:t>
            </a:r>
            <a:r>
              <a:rPr lang="zh-CN" altLang="en-US" sz="2400" dirty="0">
                <a:latin typeface="Arial" panose="020B0604020202020204" pitchFamily="34" charset="0"/>
                <a:ea typeface="宋体" panose="02010600030101010101" pitchFamily="2" charset="-122"/>
              </a:rPr>
              <a:t>。</a:t>
            </a:r>
          </a:p>
          <a:p>
            <a:pPr>
              <a:buClrTx/>
              <a:buFontTx/>
            </a:pPr>
            <a:r>
              <a:rPr lang="zh-CN" altLang="en-US" sz="3600" b="1" dirty="0">
                <a:latin typeface="Arial" panose="020B0604020202020204" pitchFamily="34" charset="0"/>
                <a:ea typeface="宋体" panose="02010600030101010101" pitchFamily="2" charset="-122"/>
              </a:rPr>
              <a:t>   </a:t>
            </a:r>
            <a:r>
              <a:rPr lang="en-US" altLang="zh-CN" sz="3600" b="1" dirty="0">
                <a:latin typeface="Arial" panose="020B0604020202020204" pitchFamily="34" charset="0"/>
                <a:ea typeface="宋体" panose="02010600030101010101" pitchFamily="2" charset="-122"/>
              </a:rPr>
              <a:t>PCI</a:t>
            </a:r>
            <a:r>
              <a:rPr lang="zh-CN" altLang="en-US" sz="3600" b="1" dirty="0">
                <a:latin typeface="Arial" panose="020B0604020202020204" pitchFamily="34" charset="0"/>
                <a:ea typeface="宋体" panose="02010600030101010101" pitchFamily="2" charset="-122"/>
              </a:rPr>
              <a:t>总线的特点</a:t>
            </a: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独立于处理器</a:t>
            </a:r>
            <a:r>
              <a:rPr lang="zh-CN" altLang="en-US" sz="2400" b="1" dirty="0">
                <a:latin typeface="Arial" panose="020B0604020202020204" pitchFamily="34" charset="0"/>
                <a:ea typeface="宋体" panose="02010600030101010101" pitchFamily="2" charset="-122"/>
              </a:rPr>
              <a:t>。工作频率与</a:t>
            </a:r>
            <a:r>
              <a:rPr lang="en-US" altLang="zh-CN" sz="2400" b="1" dirty="0">
                <a:latin typeface="Arial" panose="020B0604020202020204" pitchFamily="34" charset="0"/>
                <a:ea typeface="宋体" panose="02010600030101010101" pitchFamily="2" charset="-122"/>
              </a:rPr>
              <a:t>CPU</a:t>
            </a:r>
            <a:r>
              <a:rPr lang="zh-CN" altLang="en-US" sz="2400" b="1" dirty="0">
                <a:latin typeface="Arial" panose="020B0604020202020204" pitchFamily="34" charset="0"/>
                <a:ea typeface="宋体" panose="02010600030101010101" pitchFamily="2" charset="-122"/>
              </a:rPr>
              <a:t>时钟无关，可支持多机系统及未来的处理器。</a:t>
            </a: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传输效率高</a:t>
            </a:r>
            <a:r>
              <a:rPr lang="zh-CN" altLang="en-US" sz="2400" b="1" dirty="0">
                <a:latin typeface="Arial" panose="020B0604020202020204" pitchFamily="34" charset="0"/>
                <a:ea typeface="宋体" panose="02010600030101010101" pitchFamily="2" charset="-122"/>
              </a:rPr>
              <a:t>。支持</a:t>
            </a:r>
            <a:r>
              <a:rPr lang="en-US" altLang="zh-CN" sz="2400" b="1" dirty="0">
                <a:latin typeface="Arial" panose="020B0604020202020204" pitchFamily="34" charset="0"/>
                <a:ea typeface="宋体" panose="02010600030101010101" pitchFamily="2" charset="-122"/>
              </a:rPr>
              <a:t>64</a:t>
            </a:r>
            <a:r>
              <a:rPr lang="zh-CN" altLang="en-US" sz="2400" b="1" dirty="0">
                <a:latin typeface="Arial" panose="020B0604020202020204" pitchFamily="34" charset="0"/>
                <a:ea typeface="宋体" panose="02010600030101010101" pitchFamily="2" charset="-122"/>
              </a:rPr>
              <a:t>位数据总线，总线速度为</a:t>
            </a:r>
            <a:r>
              <a:rPr lang="en-US" altLang="zh-CN" sz="2400" b="1" dirty="0">
                <a:latin typeface="Arial" panose="020B0604020202020204" pitchFamily="34" charset="0"/>
                <a:ea typeface="宋体" panose="02010600030101010101" pitchFamily="2" charset="-122"/>
              </a:rPr>
              <a:t>66MHz</a:t>
            </a:r>
            <a:r>
              <a:rPr lang="zh-CN" altLang="en-US" sz="2400" b="1" dirty="0">
                <a:latin typeface="Arial" panose="020B0604020202020204" pitchFamily="34" charset="0"/>
                <a:ea typeface="宋体" panose="02010600030101010101" pitchFamily="2" charset="-122"/>
              </a:rPr>
              <a:t>，最大数据传输率达</a:t>
            </a:r>
            <a:r>
              <a:rPr lang="en-US" altLang="zh-CN" sz="2400" b="1" dirty="0">
                <a:latin typeface="Arial" panose="020B0604020202020204" pitchFamily="34" charset="0"/>
                <a:ea typeface="宋体" panose="02010600030101010101" pitchFamily="2" charset="-122"/>
              </a:rPr>
              <a:t>528MB/s</a:t>
            </a:r>
            <a:r>
              <a:rPr lang="zh-CN" altLang="en-US" sz="2400" b="1" dirty="0">
                <a:latin typeface="Arial" panose="020B0604020202020204" pitchFamily="34" charset="0"/>
                <a:ea typeface="宋体" panose="02010600030101010101" pitchFamily="2" charset="-122"/>
              </a:rPr>
              <a:t>。</a:t>
            </a: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多总线共存</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有良好的兼容性，可支持</a:t>
            </a:r>
            <a:r>
              <a:rPr lang="en-US" altLang="zh-CN" sz="2400" b="1" dirty="0">
                <a:latin typeface="Arial" panose="020B0604020202020204" pitchFamily="34" charset="0"/>
                <a:ea typeface="宋体" panose="02010600030101010101" pitchFamily="2" charset="-122"/>
              </a:rPr>
              <a:t>ISA</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EISA</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MCA</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SCSI</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IDE</a:t>
            </a:r>
            <a:r>
              <a:rPr lang="zh-CN" altLang="en-US" sz="2400" b="1" dirty="0">
                <a:latin typeface="Arial" panose="020B0604020202020204" pitchFamily="34" charset="0"/>
                <a:ea typeface="宋体" panose="02010600030101010101" pitchFamily="2" charset="-122"/>
              </a:rPr>
              <a:t>等多种总线，同时还预留了发展空间。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2338">
                                            <p:txEl>
                                              <p:pRg st="1" end="1"/>
                                            </p:txEl>
                                          </p:spTgt>
                                        </p:tgtEl>
                                        <p:attrNameLst>
                                          <p:attrName>style.visibility</p:attrName>
                                        </p:attrNameLst>
                                      </p:cBhvr>
                                      <p:to>
                                        <p:strVal val="visible"/>
                                      </p:to>
                                    </p:set>
                                    <p:animEffect transition="in" filter="blinds(horizontal)">
                                      <p:cBhvr>
                                        <p:cTn id="7" dur="500"/>
                                        <p:tgtEl>
                                          <p:spTgt spid="14233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2338">
                                            <p:txEl>
                                              <p:pRg st="2" end="2"/>
                                            </p:txEl>
                                          </p:spTgt>
                                        </p:tgtEl>
                                        <p:attrNameLst>
                                          <p:attrName>style.visibility</p:attrName>
                                        </p:attrNameLst>
                                      </p:cBhvr>
                                      <p:to>
                                        <p:strVal val="visible"/>
                                      </p:to>
                                    </p:set>
                                    <p:animEffect transition="in" filter="blinds(horizontal)">
                                      <p:cBhvr>
                                        <p:cTn id="12" dur="500"/>
                                        <p:tgtEl>
                                          <p:spTgt spid="14233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2338">
                                            <p:txEl>
                                              <p:pRg st="3" end="3"/>
                                            </p:txEl>
                                          </p:spTgt>
                                        </p:tgtEl>
                                        <p:attrNameLst>
                                          <p:attrName>style.visibility</p:attrName>
                                        </p:attrNameLst>
                                      </p:cBhvr>
                                      <p:to>
                                        <p:strVal val="visible"/>
                                      </p:to>
                                    </p:set>
                                    <p:animEffect transition="in" filter="blinds(horizontal)">
                                      <p:cBhvr>
                                        <p:cTn id="17" dur="500"/>
                                        <p:tgtEl>
                                          <p:spTgt spid="14233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2338">
                                            <p:txEl>
                                              <p:pRg st="4" end="4"/>
                                            </p:txEl>
                                          </p:spTgt>
                                        </p:tgtEl>
                                        <p:attrNameLst>
                                          <p:attrName>style.visibility</p:attrName>
                                        </p:attrNameLst>
                                      </p:cBhvr>
                                      <p:to>
                                        <p:strVal val="visible"/>
                                      </p:to>
                                    </p:set>
                                    <p:animEffect transition="in" filter="blinds(horizontal)">
                                      <p:cBhvr>
                                        <p:cTn id="22" dur="500"/>
                                        <p:tgtEl>
                                          <p:spTgt spid="14233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2338">
                                            <p:txEl>
                                              <p:pRg st="5" end="5"/>
                                            </p:txEl>
                                          </p:spTgt>
                                        </p:tgtEl>
                                        <p:attrNameLst>
                                          <p:attrName>style.visibility</p:attrName>
                                        </p:attrNameLst>
                                      </p:cBhvr>
                                      <p:to>
                                        <p:strVal val="visible"/>
                                      </p:to>
                                    </p:set>
                                    <p:animEffect transition="in" filter="blinds(horizontal)">
                                      <p:cBhvr>
                                        <p:cTn id="27" dur="500"/>
                                        <p:tgtEl>
                                          <p:spTgt spid="14233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p:nvPr/>
        </p:nvSpPr>
        <p:spPr>
          <a:xfrm>
            <a:off x="152400" y="457200"/>
            <a:ext cx="8686800" cy="5259388"/>
          </a:xfrm>
          <a:prstGeom prst="rect">
            <a:avLst/>
          </a:prstGeom>
          <a:noFill/>
          <a:ln w="9525">
            <a:noFill/>
          </a:ln>
        </p:spPr>
        <p:txBody>
          <a:bodyPr anchor="t" anchorCtr="0">
            <a:spAutoFit/>
          </a:bodyPr>
          <a:lstStyle/>
          <a:p>
            <a:pPr>
              <a:lnSpc>
                <a:spcPct val="140000"/>
              </a:lnSpc>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4</a:t>
            </a:r>
            <a:r>
              <a:rPr lang="zh-CN" altLang="en-US" sz="2400" b="1" dirty="0">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支持两种电压</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提供两种信号环境：</a:t>
            </a:r>
            <a:r>
              <a:rPr lang="en-US" altLang="zh-CN" sz="2400" b="1" dirty="0">
                <a:latin typeface="Arial" panose="020B0604020202020204" pitchFamily="34" charset="0"/>
                <a:ea typeface="宋体" panose="02010600030101010101" pitchFamily="2" charset="-122"/>
              </a:rPr>
              <a:t>5V</a:t>
            </a:r>
            <a:r>
              <a:rPr lang="zh-CN" altLang="en-US" sz="2400" b="1" dirty="0">
                <a:latin typeface="Arial" panose="020B0604020202020204" pitchFamily="34" charset="0"/>
                <a:ea typeface="宋体" panose="02010600030101010101" pitchFamily="2" charset="-122"/>
              </a:rPr>
              <a:t>和</a:t>
            </a:r>
            <a:r>
              <a:rPr lang="en-US" altLang="zh-CN" sz="2400" b="1" dirty="0">
                <a:latin typeface="Arial" panose="020B0604020202020204" pitchFamily="34" charset="0"/>
                <a:ea typeface="宋体" panose="02010600030101010101" pitchFamily="2" charset="-122"/>
              </a:rPr>
              <a:t>3.3V</a:t>
            </a:r>
            <a:r>
              <a:rPr lang="zh-CN" altLang="en-US" sz="2400" b="1" dirty="0">
                <a:latin typeface="Arial" panose="020B0604020202020204" pitchFamily="34" charset="0"/>
                <a:ea typeface="宋体" panose="02010600030101010101" pitchFamily="2" charset="-122"/>
              </a:rPr>
              <a:t>，并可进行两种环境的转换，扩大了的适应范围。</a:t>
            </a:r>
          </a:p>
          <a:p>
            <a:pPr>
              <a:lnSpc>
                <a:spcPct val="140000"/>
              </a:lnSpc>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5</a:t>
            </a:r>
            <a:r>
              <a:rPr lang="zh-CN" altLang="en-US" sz="2400" b="1" dirty="0">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具有即插即用功能</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标准允许</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局部总线扩展卡和元件进行自动配置，提供了即插即用的能力。 </a:t>
            </a:r>
          </a:p>
          <a:p>
            <a:pPr>
              <a:lnSpc>
                <a:spcPct val="140000"/>
              </a:lnSpc>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6</a:t>
            </a:r>
            <a:r>
              <a:rPr lang="zh-CN" altLang="en-US" sz="2400" b="1" dirty="0">
                <a:latin typeface="Arial" panose="020B0604020202020204" pitchFamily="34" charset="0"/>
                <a:ea typeface="宋体" panose="02010600030101010101" pitchFamily="2" charset="-122"/>
              </a:rPr>
              <a:t>）</a:t>
            </a:r>
            <a:r>
              <a:rPr lang="zh-CN" altLang="en-US" sz="2400" b="1" dirty="0">
                <a:solidFill>
                  <a:srgbClr val="FF0000"/>
                </a:solidFill>
                <a:latin typeface="Arial" panose="020B0604020202020204" pitchFamily="34" charset="0"/>
                <a:ea typeface="宋体" panose="02010600030101010101" pitchFamily="2" charset="-122"/>
              </a:rPr>
              <a:t>合理的管脚安排</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总线采用数据线和地址线复用结构，减少了总线的引用脚数，从而可节省线路空间降低设计成本，目标设备可用</a:t>
            </a:r>
            <a:r>
              <a:rPr lang="en-US" altLang="zh-CN" sz="2400" b="1" dirty="0">
                <a:latin typeface="Arial" panose="020B0604020202020204" pitchFamily="34" charset="0"/>
                <a:ea typeface="宋体" panose="02010600030101010101" pitchFamily="2" charset="-122"/>
              </a:rPr>
              <a:t>47</a:t>
            </a:r>
            <a:r>
              <a:rPr lang="zh-CN" altLang="en-US" sz="2400" b="1" dirty="0">
                <a:latin typeface="Arial" panose="020B0604020202020204" pitchFamily="34" charset="0"/>
                <a:ea typeface="宋体" panose="02010600030101010101" pitchFamily="2" charset="-122"/>
              </a:rPr>
              <a:t>引脚，总线主控设备可用</a:t>
            </a:r>
            <a:r>
              <a:rPr lang="en-US" altLang="zh-CN" sz="2400" b="1" dirty="0">
                <a:latin typeface="Arial" panose="020B0604020202020204" pitchFamily="34" charset="0"/>
                <a:ea typeface="宋体" panose="02010600030101010101" pitchFamily="2" charset="-122"/>
              </a:rPr>
              <a:t>49</a:t>
            </a:r>
            <a:r>
              <a:rPr lang="zh-CN" altLang="en-US" sz="2400" b="1" dirty="0">
                <a:latin typeface="Arial" panose="020B0604020202020204" pitchFamily="34" charset="0"/>
                <a:ea typeface="宋体" panose="02010600030101010101" pitchFamily="2" charset="-122"/>
              </a:rPr>
              <a:t>引脚。</a:t>
            </a:r>
          </a:p>
          <a:p>
            <a:pPr>
              <a:lnSpc>
                <a:spcPct val="140000"/>
              </a:lnSpc>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7</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PCI</a:t>
            </a:r>
            <a:r>
              <a:rPr lang="zh-CN" altLang="en-US" sz="2400" b="1" dirty="0">
                <a:latin typeface="Arial" panose="020B0604020202020204" pitchFamily="34" charset="0"/>
                <a:ea typeface="宋体" panose="02010600030101010101" pitchFamily="2" charset="-122"/>
              </a:rPr>
              <a:t>对</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位与</a:t>
            </a:r>
            <a:r>
              <a:rPr lang="en-US" altLang="zh-CN" sz="2400" b="1" dirty="0">
                <a:latin typeface="Arial" panose="020B0604020202020204" pitchFamily="34" charset="0"/>
                <a:ea typeface="宋体" panose="02010600030101010101" pitchFamily="2" charset="-122"/>
              </a:rPr>
              <a:t>64</a:t>
            </a:r>
            <a:r>
              <a:rPr lang="zh-CN" altLang="en-US" sz="2400" b="1" dirty="0">
                <a:latin typeface="Arial" panose="020B0604020202020204" pitchFamily="34" charset="0"/>
                <a:ea typeface="宋体" panose="02010600030101010101" pitchFamily="2" charset="-122"/>
              </a:rPr>
              <a:t>位总线的使用是透明的，它允许</a:t>
            </a:r>
            <a:r>
              <a:rPr lang="en-US" altLang="zh-CN" sz="2400" b="1" dirty="0">
                <a:latin typeface="Arial" panose="020B0604020202020204" pitchFamily="34" charset="0"/>
                <a:ea typeface="宋体" panose="02010600030101010101" pitchFamily="2" charset="-122"/>
              </a:rPr>
              <a:t>32</a:t>
            </a:r>
            <a:r>
              <a:rPr lang="zh-CN" altLang="en-US" sz="2400" b="1" dirty="0">
                <a:latin typeface="Arial" panose="020B0604020202020204" pitchFamily="34" charset="0"/>
                <a:ea typeface="宋体" panose="02010600030101010101" pitchFamily="2" charset="-122"/>
              </a:rPr>
              <a:t>位与</a:t>
            </a:r>
            <a:r>
              <a:rPr lang="en-US" altLang="zh-CN" sz="2400" b="1" dirty="0">
                <a:latin typeface="Arial" panose="020B0604020202020204" pitchFamily="34" charset="0"/>
                <a:ea typeface="宋体" panose="02010600030101010101" pitchFamily="2" charset="-122"/>
              </a:rPr>
              <a:t>64</a:t>
            </a:r>
            <a:r>
              <a:rPr lang="zh-CN" altLang="en-US" sz="2400" b="1" dirty="0">
                <a:latin typeface="Arial" panose="020B0604020202020204" pitchFamily="34" charset="0"/>
                <a:ea typeface="宋体" panose="02010600030101010101" pitchFamily="2" charset="-122"/>
              </a:rPr>
              <a:t>位器件相互协作。</a:t>
            </a:r>
          </a:p>
          <a:p>
            <a:pPr>
              <a:lnSpc>
                <a:spcPct val="140000"/>
              </a:lnSpc>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8</a:t>
            </a:r>
            <a:r>
              <a:rPr lang="zh-CN" altLang="en-US" sz="2400" b="1" dirty="0">
                <a:latin typeface="Arial" panose="020B0604020202020204" pitchFamily="34" charset="0"/>
                <a:ea typeface="宋体" panose="02010600030101010101" pitchFamily="2" charset="-122"/>
              </a:rPr>
              <a:t>）支持突发传输，支持总线主控方式，采用同步操作。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62">
                                            <p:txEl>
                                              <p:pRg st="0" end="0"/>
                                            </p:txEl>
                                          </p:spTgt>
                                        </p:tgtEl>
                                        <p:attrNameLst>
                                          <p:attrName>style.visibility</p:attrName>
                                        </p:attrNameLst>
                                      </p:cBhvr>
                                      <p:to>
                                        <p:strVal val="visible"/>
                                      </p:to>
                                    </p:set>
                                    <p:animEffect transition="in" filter="blinds(horizontal)">
                                      <p:cBhvr>
                                        <p:cTn id="7" dur="500"/>
                                        <p:tgtEl>
                                          <p:spTgt spid="1433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3362">
                                            <p:txEl>
                                              <p:pRg st="1" end="1"/>
                                            </p:txEl>
                                          </p:spTgt>
                                        </p:tgtEl>
                                        <p:attrNameLst>
                                          <p:attrName>style.visibility</p:attrName>
                                        </p:attrNameLst>
                                      </p:cBhvr>
                                      <p:to>
                                        <p:strVal val="visible"/>
                                      </p:to>
                                    </p:set>
                                    <p:animEffect transition="in" filter="blinds(horizontal)">
                                      <p:cBhvr>
                                        <p:cTn id="12" dur="500"/>
                                        <p:tgtEl>
                                          <p:spTgt spid="1433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3362">
                                            <p:txEl>
                                              <p:pRg st="2" end="2"/>
                                            </p:txEl>
                                          </p:spTgt>
                                        </p:tgtEl>
                                        <p:attrNameLst>
                                          <p:attrName>style.visibility</p:attrName>
                                        </p:attrNameLst>
                                      </p:cBhvr>
                                      <p:to>
                                        <p:strVal val="visible"/>
                                      </p:to>
                                    </p:set>
                                    <p:animEffect transition="in" filter="blinds(horizontal)">
                                      <p:cBhvr>
                                        <p:cTn id="17" dur="500"/>
                                        <p:tgtEl>
                                          <p:spTgt spid="1433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3362">
                                            <p:txEl>
                                              <p:pRg st="3" end="3"/>
                                            </p:txEl>
                                          </p:spTgt>
                                        </p:tgtEl>
                                        <p:attrNameLst>
                                          <p:attrName>style.visibility</p:attrName>
                                        </p:attrNameLst>
                                      </p:cBhvr>
                                      <p:to>
                                        <p:strVal val="visible"/>
                                      </p:to>
                                    </p:set>
                                    <p:animEffect transition="in" filter="blinds(horizontal)">
                                      <p:cBhvr>
                                        <p:cTn id="22" dur="500"/>
                                        <p:tgtEl>
                                          <p:spTgt spid="1433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3362">
                                            <p:txEl>
                                              <p:pRg st="4" end="4"/>
                                            </p:txEl>
                                          </p:spTgt>
                                        </p:tgtEl>
                                        <p:attrNameLst>
                                          <p:attrName>style.visibility</p:attrName>
                                        </p:attrNameLst>
                                      </p:cBhvr>
                                      <p:to>
                                        <p:strVal val="visible"/>
                                      </p:to>
                                    </p:set>
                                    <p:animEffect transition="in" filter="blinds(horizontal)">
                                      <p:cBhvr>
                                        <p:cTn id="27" dur="500"/>
                                        <p:tgtEl>
                                          <p:spTgt spid="14336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p:nvPr/>
        </p:nvSpPr>
        <p:spPr>
          <a:xfrm>
            <a:off x="0" y="0"/>
            <a:ext cx="9144000" cy="6858000"/>
          </a:xfrm>
          <a:prstGeom prst="rect">
            <a:avLst/>
          </a:prstGeom>
          <a:solidFill>
            <a:srgbClr val="FFFFFF"/>
          </a:solidFill>
          <a:ln w="25400" cap="rnd" cmpd="sng">
            <a:solidFill>
              <a:srgbClr val="008000"/>
            </a:solidFill>
            <a:prstDash val="sysDot"/>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pic>
        <p:nvPicPr>
          <p:cNvPr id="283651" name="Picture 3" descr="FIGURE41"/>
          <p:cNvPicPr>
            <a:picLocks noChangeAspect="1"/>
          </p:cNvPicPr>
          <p:nvPr/>
        </p:nvPicPr>
        <p:blipFill>
          <a:blip r:embed="rId2"/>
          <a:stretch>
            <a:fillRect/>
          </a:stretch>
        </p:blipFill>
        <p:spPr>
          <a:xfrm>
            <a:off x="152400" y="228600"/>
            <a:ext cx="8763000" cy="6400800"/>
          </a:xfrm>
          <a:prstGeom prst="rect">
            <a:avLst/>
          </a:prstGeom>
          <a:noFill/>
          <a:ln w="9525">
            <a:noFill/>
          </a:ln>
        </p:spPr>
      </p:pic>
      <p:sp>
        <p:nvSpPr>
          <p:cNvPr id="283652" name="AutoShape 4"/>
          <p:cNvSpPr/>
          <p:nvPr/>
        </p:nvSpPr>
        <p:spPr>
          <a:xfrm>
            <a:off x="3090863" y="6122988"/>
            <a:ext cx="2590800" cy="431800"/>
          </a:xfrm>
          <a:prstGeom prst="roundRect">
            <a:avLst>
              <a:gd name="adj" fmla="val 16667"/>
            </a:avLst>
          </a:prstGeom>
          <a:solidFill>
            <a:srgbClr val="3366FF"/>
          </a:solidFill>
          <a:ln w="3175">
            <a:noFill/>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283653" name="Text Box 5"/>
          <p:cNvSpPr txBox="1"/>
          <p:nvPr/>
        </p:nvSpPr>
        <p:spPr>
          <a:xfrm>
            <a:off x="2757488" y="6165850"/>
            <a:ext cx="2397125" cy="368300"/>
          </a:xfrm>
          <a:prstGeom prst="rect">
            <a:avLst/>
          </a:prstGeom>
          <a:noFill/>
          <a:ln w="3175">
            <a:noFill/>
          </a:ln>
        </p:spPr>
        <p:txBody>
          <a:bodyPr wrap="none" anchor="t" anchorCtr="0">
            <a:spAutoFit/>
          </a:bodyPr>
          <a:lstStyle/>
          <a:p>
            <a:pPr marL="1143000" indent="-228600" eaLnBrk="0" hangingPunct="0">
              <a:spcBef>
                <a:spcPct val="35000"/>
              </a:spcBef>
              <a:buClr>
                <a:srgbClr val="000099"/>
              </a:buClr>
              <a:buSzPct val="85000"/>
              <a:buFont typeface="Wingdings" panose="05000000000000000000" pitchFamily="2" charset="2"/>
            </a:pPr>
            <a:r>
              <a:rPr lang="en-US" altLang="zh-CN" b="1" dirty="0">
                <a:solidFill>
                  <a:srgbClr val="F8F8F8"/>
                </a:solidFill>
                <a:latin typeface="Helvetica" pitchFamily="34" charset="0"/>
                <a:ea typeface="宋体" panose="02010600030101010101" pitchFamily="2" charset="-122"/>
              </a:rPr>
              <a:t>PCI</a:t>
            </a:r>
            <a:r>
              <a:rPr lang="zh-CN" altLang="en-US" b="1" dirty="0">
                <a:solidFill>
                  <a:srgbClr val="F8F8F8"/>
                </a:solidFill>
                <a:latin typeface="Helvetica" pitchFamily="34" charset="0"/>
                <a:ea typeface="宋体" panose="02010600030101010101" pitchFamily="2" charset="-122"/>
              </a:rPr>
              <a:t>总线信号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83651"/>
                                        </p:tgtEl>
                                        <p:attrNameLst>
                                          <p:attrName>style.visibility</p:attrName>
                                        </p:attrNameLst>
                                      </p:cBhvr>
                                      <p:to>
                                        <p:strVal val="visible"/>
                                      </p:to>
                                    </p:set>
                                    <p:animEffect transition="in" filter="plus(in)">
                                      <p:cBhvr>
                                        <p:cTn id="7" dur="2000"/>
                                        <p:tgtEl>
                                          <p:spTgt spid="28365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83653"/>
                                        </p:tgtEl>
                                        <p:attrNameLst>
                                          <p:attrName>style.visibility</p:attrName>
                                        </p:attrNameLst>
                                      </p:cBhvr>
                                      <p:to>
                                        <p:strVal val="visible"/>
                                      </p:to>
                                    </p:set>
                                    <p:animEffect transition="in" filter="dissolve">
                                      <p:cBhvr>
                                        <p:cTn id="10" dur="1000"/>
                                        <p:tgtEl>
                                          <p:spTgt spid="28365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83652"/>
                                        </p:tgtEl>
                                        <p:attrNameLst>
                                          <p:attrName>style.visibility</p:attrName>
                                        </p:attrNameLst>
                                      </p:cBhvr>
                                      <p:to>
                                        <p:strVal val="visible"/>
                                      </p:to>
                                    </p:set>
                                    <p:animEffect transition="in" filter="dissolve">
                                      <p:cBhvr>
                                        <p:cTn id="13" dur="1000"/>
                                        <p:tgtEl>
                                          <p:spTgt spid="28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2" grpId="0" animBg="1"/>
      <p:bldP spid="28365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2626" name="Picture 2" descr="big_bus7"/>
          <p:cNvPicPr>
            <a:picLocks noChangeAspect="1"/>
          </p:cNvPicPr>
          <p:nvPr/>
        </p:nvPicPr>
        <p:blipFill>
          <a:blip r:embed="rId2"/>
          <a:stretch>
            <a:fillRect/>
          </a:stretch>
        </p:blipFill>
        <p:spPr>
          <a:xfrm>
            <a:off x="288925" y="1125538"/>
            <a:ext cx="8459788" cy="5111750"/>
          </a:xfrm>
          <a:prstGeom prst="rect">
            <a:avLst/>
          </a:prstGeom>
          <a:noFill/>
          <a:ln w="9525">
            <a:noFill/>
          </a:ln>
        </p:spPr>
      </p:pic>
      <p:grpSp>
        <p:nvGrpSpPr>
          <p:cNvPr id="282628" name="Group 4"/>
          <p:cNvGrpSpPr/>
          <p:nvPr/>
        </p:nvGrpSpPr>
        <p:grpSpPr>
          <a:xfrm>
            <a:off x="250825" y="1038225"/>
            <a:ext cx="8532813" cy="5054600"/>
            <a:chOff x="136" y="518"/>
            <a:chExt cx="5375" cy="3320"/>
          </a:xfrm>
        </p:grpSpPr>
        <p:pic>
          <p:nvPicPr>
            <p:cNvPr id="79875" name="Picture 5" descr="big_bus8"/>
            <p:cNvPicPr>
              <a:picLocks noChangeAspect="1"/>
            </p:cNvPicPr>
            <p:nvPr/>
          </p:nvPicPr>
          <p:blipFill>
            <a:blip r:embed="rId3"/>
            <a:stretch>
              <a:fillRect/>
            </a:stretch>
          </p:blipFill>
          <p:spPr>
            <a:xfrm>
              <a:off x="136" y="518"/>
              <a:ext cx="5375" cy="3320"/>
            </a:xfrm>
            <a:prstGeom prst="rect">
              <a:avLst/>
            </a:prstGeom>
            <a:noFill/>
            <a:ln w="9525">
              <a:noFill/>
            </a:ln>
          </p:spPr>
        </p:pic>
        <p:sp>
          <p:nvSpPr>
            <p:cNvPr id="79876" name="Text Box 6"/>
            <p:cNvSpPr txBox="1"/>
            <p:nvPr/>
          </p:nvSpPr>
          <p:spPr>
            <a:xfrm>
              <a:off x="1327" y="3378"/>
              <a:ext cx="2324" cy="291"/>
            </a:xfrm>
            <a:prstGeom prst="rect">
              <a:avLst/>
            </a:prstGeom>
            <a:noFill/>
            <a:ln w="25400">
              <a:noFill/>
            </a:ln>
          </p:spPr>
          <p:txBody>
            <a:bodyPr wrap="none" anchor="t" anchorCtr="0">
              <a:spAutoFit/>
            </a:bodyPr>
            <a:lstStyle/>
            <a:p>
              <a:pPr marL="342900" indent="-342900">
                <a:spcBef>
                  <a:spcPct val="20000"/>
                </a:spcBef>
                <a:buClrTx/>
                <a:buFontTx/>
              </a:pPr>
              <a:r>
                <a:rPr lang="en-US" altLang="zh-CN" sz="2300" b="1" dirty="0">
                  <a:solidFill>
                    <a:srgbClr val="FF0000"/>
                  </a:solidFill>
                  <a:latin typeface="Arial" panose="020B0604020202020204" pitchFamily="34" charset="0"/>
                  <a:ea typeface="宋体" panose="02010600030101010101" pitchFamily="2" charset="-122"/>
                </a:rPr>
                <a:t> </a:t>
              </a:r>
              <a:r>
                <a:rPr lang="zh-CN" altLang="en-US" sz="2300" b="1" dirty="0">
                  <a:solidFill>
                    <a:srgbClr val="FF0000"/>
                  </a:solidFill>
                  <a:latin typeface="Arial" panose="020B0604020202020204" pitchFamily="34" charset="0"/>
                  <a:ea typeface="宋体" panose="02010600030101010101" pitchFamily="2" charset="-122"/>
                </a:rPr>
                <a:t>这是采用</a:t>
              </a:r>
              <a:r>
                <a:rPr lang="en-US" altLang="zh-CN" sz="2300" b="1" dirty="0">
                  <a:solidFill>
                    <a:srgbClr val="FF0000"/>
                  </a:solidFill>
                  <a:latin typeface="Arial" panose="020B0604020202020204" pitchFamily="34" charset="0"/>
                  <a:ea typeface="宋体" panose="02010600030101010101" pitchFamily="2" charset="-122"/>
                </a:rPr>
                <a:t>PCI</a:t>
              </a:r>
              <a:r>
                <a:rPr lang="zh-CN" altLang="en-US" sz="2300" b="1" dirty="0">
                  <a:solidFill>
                    <a:srgbClr val="FF0000"/>
                  </a:solidFill>
                  <a:latin typeface="Arial" panose="020B0604020202020204" pitchFamily="34" charset="0"/>
                  <a:ea typeface="宋体" panose="02010600030101010101" pitchFamily="2" charset="-122"/>
                </a:rPr>
                <a:t>总线的显示卡</a:t>
              </a:r>
            </a:p>
          </p:txBody>
        </p:sp>
      </p:grpSp>
      <p:pic>
        <p:nvPicPr>
          <p:cNvPr id="282631" name="Picture 7" descr="按此在新窗口浏览图片">
            <a:hlinkClick r:id="rId4"/>
          </p:cNvPr>
          <p:cNvPicPr>
            <a:picLocks noChangeAspect="1"/>
          </p:cNvPicPr>
          <p:nvPr/>
        </p:nvPicPr>
        <p:blipFill>
          <a:blip r:embed="rId5"/>
          <a:stretch>
            <a:fillRect/>
          </a:stretch>
        </p:blipFill>
        <p:spPr>
          <a:xfrm>
            <a:off x="250825" y="1033463"/>
            <a:ext cx="8642350" cy="5059362"/>
          </a:xfrm>
          <a:prstGeom prst="rect">
            <a:avLst/>
          </a:prstGeom>
          <a:noFill/>
          <a:ln w="9525">
            <a:noFill/>
          </a:ln>
        </p:spPr>
      </p:pic>
      <p:sp>
        <p:nvSpPr>
          <p:cNvPr id="282632" name="Text Box 8"/>
          <p:cNvSpPr txBox="1"/>
          <p:nvPr/>
        </p:nvSpPr>
        <p:spPr>
          <a:xfrm>
            <a:off x="5892800" y="5726113"/>
            <a:ext cx="3155950" cy="368300"/>
          </a:xfrm>
          <a:prstGeom prst="rect">
            <a:avLst/>
          </a:prstGeom>
          <a:noFill/>
          <a:ln w="25400">
            <a:noFill/>
          </a:ln>
        </p:spPr>
        <p:txBody>
          <a:bodyPr wrap="none" anchor="t" anchorCtr="0">
            <a:spAutoFit/>
          </a:bodyPr>
          <a:lstStyle/>
          <a:p>
            <a:pPr marL="342900" indent="-342900">
              <a:spcBef>
                <a:spcPct val="20000"/>
              </a:spcBef>
              <a:buClrTx/>
              <a:buFontTx/>
            </a:pPr>
            <a:r>
              <a:rPr lang="zh-CN" altLang="en-US" b="1" dirty="0">
                <a:solidFill>
                  <a:srgbClr val="FF00FF"/>
                </a:solidFill>
                <a:latin typeface="Arial" panose="020B0604020202020204" pitchFamily="34" charset="0"/>
                <a:ea typeface="宋体" panose="02010600030101010101" pitchFamily="2" charset="-122"/>
              </a:rPr>
              <a:t>（这是采用</a:t>
            </a:r>
            <a:r>
              <a:rPr lang="en-US" altLang="zh-CN" b="1" dirty="0">
                <a:solidFill>
                  <a:srgbClr val="FF00FF"/>
                </a:solidFill>
                <a:latin typeface="Arial" panose="020B0604020202020204" pitchFamily="34" charset="0"/>
                <a:ea typeface="宋体" panose="02010600030101010101" pitchFamily="2" charset="-122"/>
              </a:rPr>
              <a:t>PCI</a:t>
            </a:r>
            <a:r>
              <a:rPr lang="zh-CN" altLang="en-US" b="1" dirty="0">
                <a:solidFill>
                  <a:srgbClr val="FF00FF"/>
                </a:solidFill>
                <a:latin typeface="Arial" panose="020B0604020202020204" pitchFamily="34" charset="0"/>
                <a:ea typeface="宋体" panose="02010600030101010101" pitchFamily="2" charset="-122"/>
              </a:rPr>
              <a:t>总线的网卡）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2626"/>
                                        </p:tgtEl>
                                        <p:attrNameLst>
                                          <p:attrName>style.visibility</p:attrName>
                                        </p:attrNameLst>
                                      </p:cBhvr>
                                      <p:to>
                                        <p:strVal val="visible"/>
                                      </p:to>
                                    </p:set>
                                    <p:anim calcmode="lin" valueType="num">
                                      <p:cBhvr>
                                        <p:cTn id="7" dur="1000" fill="hold"/>
                                        <p:tgtEl>
                                          <p:spTgt spid="282626"/>
                                        </p:tgtEl>
                                        <p:attrNameLst>
                                          <p:attrName>ppt_w</p:attrName>
                                        </p:attrNameLst>
                                      </p:cBhvr>
                                      <p:tavLst>
                                        <p:tav tm="0">
                                          <p:val>
                                            <p:fltVal val="0"/>
                                          </p:val>
                                        </p:tav>
                                        <p:tav tm="100000">
                                          <p:val>
                                            <p:strVal val="#ppt_w"/>
                                          </p:val>
                                        </p:tav>
                                      </p:tavLst>
                                    </p:anim>
                                    <p:anim calcmode="lin" valueType="num">
                                      <p:cBhvr>
                                        <p:cTn id="8" dur="1000" fill="hold"/>
                                        <p:tgtEl>
                                          <p:spTgt spid="28262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xit" presetSubtype="16" fill="hold" nodeType="clickEffect">
                                  <p:stCondLst>
                                    <p:cond delay="0"/>
                                  </p:stCondLst>
                                  <p:childTnLst>
                                    <p:animEffect transition="out" filter="box(in)">
                                      <p:cBhvr>
                                        <p:cTn id="12" dur="1000"/>
                                        <p:tgtEl>
                                          <p:spTgt spid="282626"/>
                                        </p:tgtEl>
                                      </p:cBhvr>
                                    </p:animEffect>
                                    <p:set>
                                      <p:cBhvr>
                                        <p:cTn id="13" dur="1" fill="hold">
                                          <p:stCondLst>
                                            <p:cond delay="999"/>
                                          </p:stCondLst>
                                        </p:cTn>
                                        <p:tgtEl>
                                          <p:spTgt spid="28262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282628"/>
                                        </p:tgtEl>
                                        <p:attrNameLst>
                                          <p:attrName>style.visibility</p:attrName>
                                        </p:attrNameLst>
                                      </p:cBhvr>
                                      <p:to>
                                        <p:strVal val="visible"/>
                                      </p:to>
                                    </p:set>
                                    <p:anim calcmode="lin" valueType="num">
                                      <p:cBhvr>
                                        <p:cTn id="18" dur="2000" fill="hold"/>
                                        <p:tgtEl>
                                          <p:spTgt spid="282628"/>
                                        </p:tgtEl>
                                        <p:attrNameLst>
                                          <p:attrName>ppt_w</p:attrName>
                                        </p:attrNameLst>
                                      </p:cBhvr>
                                      <p:tavLst>
                                        <p:tav tm="0">
                                          <p:val>
                                            <p:fltVal val="0"/>
                                          </p:val>
                                        </p:tav>
                                        <p:tav tm="100000">
                                          <p:val>
                                            <p:strVal val="#ppt_w"/>
                                          </p:val>
                                        </p:tav>
                                      </p:tavLst>
                                    </p:anim>
                                    <p:anim calcmode="lin" valueType="num">
                                      <p:cBhvr>
                                        <p:cTn id="19" dur="2000" fill="hold"/>
                                        <p:tgtEl>
                                          <p:spTgt spid="282628"/>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4" presetClass="exit" presetSubtype="16" fill="hold" nodeType="clickEffect">
                                  <p:stCondLst>
                                    <p:cond delay="0"/>
                                  </p:stCondLst>
                                  <p:childTnLst>
                                    <p:animEffect transition="out" filter="box(in)">
                                      <p:cBhvr>
                                        <p:cTn id="23" dur="1000"/>
                                        <p:tgtEl>
                                          <p:spTgt spid="282628"/>
                                        </p:tgtEl>
                                      </p:cBhvr>
                                    </p:animEffect>
                                    <p:set>
                                      <p:cBhvr>
                                        <p:cTn id="24" dur="1" fill="hold">
                                          <p:stCondLst>
                                            <p:cond delay="999"/>
                                          </p:stCondLst>
                                        </p:cTn>
                                        <p:tgtEl>
                                          <p:spTgt spid="282628"/>
                                        </p:tgtEl>
                                        <p:attrNameLst>
                                          <p:attrName>style.visibility</p:attrName>
                                        </p:attrNameLst>
                                      </p:cBhvr>
                                      <p:to>
                                        <p:strVal val="hidden"/>
                                      </p:to>
                                    </p:set>
                                  </p:childTnLst>
                                </p:cTn>
                              </p:par>
                              <p:par>
                                <p:cTn id="25" presetID="23" presetClass="entr" presetSubtype="16" fill="hold" grpId="0" nodeType="withEffect">
                                  <p:stCondLst>
                                    <p:cond delay="0"/>
                                  </p:stCondLst>
                                  <p:childTnLst>
                                    <p:set>
                                      <p:cBhvr>
                                        <p:cTn id="26" dur="1" fill="hold">
                                          <p:stCondLst>
                                            <p:cond delay="0"/>
                                          </p:stCondLst>
                                        </p:cTn>
                                        <p:tgtEl>
                                          <p:spTgt spid="282632"/>
                                        </p:tgtEl>
                                        <p:attrNameLst>
                                          <p:attrName>style.visibility</p:attrName>
                                        </p:attrNameLst>
                                      </p:cBhvr>
                                      <p:to>
                                        <p:strVal val="visible"/>
                                      </p:to>
                                    </p:set>
                                    <p:anim calcmode="lin" valueType="num">
                                      <p:cBhvr>
                                        <p:cTn id="27" dur="1000" fill="hold"/>
                                        <p:tgtEl>
                                          <p:spTgt spid="282632"/>
                                        </p:tgtEl>
                                        <p:attrNameLst>
                                          <p:attrName>ppt_w</p:attrName>
                                        </p:attrNameLst>
                                      </p:cBhvr>
                                      <p:tavLst>
                                        <p:tav tm="0">
                                          <p:val>
                                            <p:fltVal val="0"/>
                                          </p:val>
                                        </p:tav>
                                        <p:tav tm="100000">
                                          <p:val>
                                            <p:strVal val="#ppt_w"/>
                                          </p:val>
                                        </p:tav>
                                      </p:tavLst>
                                    </p:anim>
                                    <p:anim calcmode="lin" valueType="num">
                                      <p:cBhvr>
                                        <p:cTn id="28" dur="1000" fill="hold"/>
                                        <p:tgtEl>
                                          <p:spTgt spid="282632"/>
                                        </p:tgtEl>
                                        <p:attrNameLst>
                                          <p:attrName>ppt_h</p:attrName>
                                        </p:attrNameLst>
                                      </p:cBhvr>
                                      <p:tavLst>
                                        <p:tav tm="0">
                                          <p:val>
                                            <p:fltVal val="0"/>
                                          </p:val>
                                        </p:tav>
                                        <p:tav tm="100000">
                                          <p:val>
                                            <p:strVal val="#ppt_h"/>
                                          </p:val>
                                        </p:tav>
                                      </p:tavLst>
                                    </p:anim>
                                  </p:childTnLst>
                                </p:cTn>
                              </p:par>
                              <p:par>
                                <p:cTn id="29" presetID="23" presetClass="entr" presetSubtype="16" fill="hold" nodeType="withEffect">
                                  <p:stCondLst>
                                    <p:cond delay="0"/>
                                  </p:stCondLst>
                                  <p:childTnLst>
                                    <p:set>
                                      <p:cBhvr>
                                        <p:cTn id="30" dur="1" fill="hold">
                                          <p:stCondLst>
                                            <p:cond delay="0"/>
                                          </p:stCondLst>
                                        </p:cTn>
                                        <p:tgtEl>
                                          <p:spTgt spid="282631"/>
                                        </p:tgtEl>
                                        <p:attrNameLst>
                                          <p:attrName>style.visibility</p:attrName>
                                        </p:attrNameLst>
                                      </p:cBhvr>
                                      <p:to>
                                        <p:strVal val="visible"/>
                                      </p:to>
                                    </p:set>
                                    <p:anim calcmode="lin" valueType="num">
                                      <p:cBhvr>
                                        <p:cTn id="31" dur="1000" fill="hold"/>
                                        <p:tgtEl>
                                          <p:spTgt spid="282631"/>
                                        </p:tgtEl>
                                        <p:attrNameLst>
                                          <p:attrName>ppt_w</p:attrName>
                                        </p:attrNameLst>
                                      </p:cBhvr>
                                      <p:tavLst>
                                        <p:tav tm="0">
                                          <p:val>
                                            <p:fltVal val="0"/>
                                          </p:val>
                                        </p:tav>
                                        <p:tav tm="100000">
                                          <p:val>
                                            <p:strVal val="#ppt_w"/>
                                          </p:val>
                                        </p:tav>
                                      </p:tavLst>
                                    </p:anim>
                                    <p:anim calcmode="lin" valueType="num">
                                      <p:cBhvr>
                                        <p:cTn id="32" dur="1000" fill="hold"/>
                                        <p:tgtEl>
                                          <p:spTgt spid="28263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3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txBox="1"/>
          <p:nvPr/>
        </p:nvSpPr>
        <p:spPr>
          <a:xfrm>
            <a:off x="152400" y="228600"/>
            <a:ext cx="8610600" cy="6492875"/>
          </a:xfrm>
          <a:prstGeom prst="rect">
            <a:avLst/>
          </a:prstGeom>
          <a:noFill/>
          <a:ln w="9525">
            <a:noFill/>
          </a:ln>
        </p:spPr>
        <p:txBody>
          <a:bodyPr anchor="t" anchorCtr="0">
            <a:spAutoFit/>
          </a:bodyPr>
          <a:lstStyle/>
          <a:p>
            <a:pPr>
              <a:buClrTx/>
              <a:buFontTx/>
            </a:pPr>
            <a:r>
              <a:rPr lang="zh-CN" altLang="en-US" sz="3600" b="1" dirty="0">
                <a:solidFill>
                  <a:srgbClr val="FF0000"/>
                </a:solidFill>
                <a:latin typeface="Arial" panose="020B0604020202020204" pitchFamily="34" charset="0"/>
                <a:ea typeface="宋体" panose="02010600030101010101" pitchFamily="2" charset="-122"/>
              </a:rPr>
              <a:t>三、设备总线</a:t>
            </a:r>
            <a:endParaRPr lang="zh-CN" altLang="en-US" sz="3600" dirty="0">
              <a:solidFill>
                <a:srgbClr val="FF0000"/>
              </a:solidFill>
              <a:latin typeface="Arial" panose="020B0604020202020204" pitchFamily="34" charset="0"/>
              <a:ea typeface="宋体" panose="02010600030101010101" pitchFamily="2" charset="-122"/>
            </a:endParaRPr>
          </a:p>
          <a:p>
            <a:pPr>
              <a:buClrTx/>
              <a:buFontTx/>
            </a:pPr>
            <a:r>
              <a:rPr lang="zh-CN" altLang="en-US" sz="28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计算机与外部设备的信息交换称为通信，这里的设备可以是外部设备，也可以是计算机。设备总线，也称为通信总线，就是实现计算机或外部设备间互连的一类总线。按通信方式可分为并行总线和串行总线。</a:t>
            </a:r>
            <a:endParaRPr lang="zh-CN" altLang="en-US" sz="2400" b="1" dirty="0">
              <a:latin typeface="Arial" panose="020B0604020202020204" pitchFamily="34" charset="0"/>
              <a:ea typeface="宋体" panose="02010600030101010101" pitchFamily="2" charset="-122"/>
            </a:endParaRPr>
          </a:p>
          <a:p>
            <a:pPr>
              <a:buClrTx/>
              <a:buFontTx/>
            </a:pPr>
            <a:r>
              <a:rPr lang="zh-CN" altLang="en-US" b="1" dirty="0">
                <a:latin typeface="Arial" panose="020B0604020202020204" pitchFamily="34" charset="0"/>
                <a:ea typeface="宋体" panose="02010600030101010101" pitchFamily="2" charset="-122"/>
              </a:rPr>
              <a:t>  </a:t>
            </a:r>
            <a:r>
              <a:rPr lang="en-US" altLang="zh-CN" sz="3200" b="1" dirty="0">
                <a:latin typeface="Arial" panose="020B0604020202020204" pitchFamily="34" charset="0"/>
                <a:ea typeface="宋体" panose="02010600030101010101" pitchFamily="2" charset="-122"/>
              </a:rPr>
              <a:t>1</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RS—232C</a:t>
            </a:r>
            <a:r>
              <a:rPr lang="en-US" altLang="zh-CN" b="1"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a:p>
            <a:pPr>
              <a:buClrTx/>
              <a:buFontTx/>
            </a:pPr>
            <a:r>
              <a:rPr lang="en-US" altLang="zh-CN" sz="28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是美国电子工业协会（</a:t>
            </a:r>
            <a:r>
              <a:rPr lang="en-US" altLang="zh-CN" sz="2400" dirty="0">
                <a:latin typeface="Arial" panose="020B0604020202020204" pitchFamily="34" charset="0"/>
                <a:ea typeface="宋体" panose="02010600030101010101" pitchFamily="2" charset="-122"/>
              </a:rPr>
              <a:t>EIA</a:t>
            </a:r>
            <a:r>
              <a:rPr lang="zh-CN" altLang="en-US" sz="2400" dirty="0">
                <a:latin typeface="Arial" panose="020B0604020202020204" pitchFamily="34" charset="0"/>
                <a:ea typeface="宋体" panose="02010600030101010101" pitchFamily="2" charset="-122"/>
              </a:rPr>
              <a:t>）与</a:t>
            </a:r>
            <a:r>
              <a:rPr lang="en-US" altLang="zh-CN" sz="2400" dirty="0">
                <a:latin typeface="Arial" panose="020B0604020202020204" pitchFamily="34" charset="0"/>
                <a:ea typeface="宋体" panose="02010600030101010101" pitchFamily="2" charset="-122"/>
              </a:rPr>
              <a:t>BELL</a:t>
            </a:r>
            <a:r>
              <a:rPr lang="zh-CN" altLang="en-US" sz="2400" dirty="0">
                <a:latin typeface="Arial" panose="020B0604020202020204" pitchFamily="34" charset="0"/>
                <a:ea typeface="宋体" panose="02010600030101010101" pitchFamily="2" charset="-122"/>
              </a:rPr>
              <a:t>等公司一起开发的</a:t>
            </a:r>
            <a:r>
              <a:rPr lang="en-US" altLang="zh-CN" sz="2400" dirty="0">
                <a:latin typeface="Arial" panose="020B0604020202020204" pitchFamily="34" charset="0"/>
                <a:ea typeface="宋体" panose="02010600030101010101" pitchFamily="2" charset="-122"/>
              </a:rPr>
              <a:t>1969</a:t>
            </a:r>
            <a:r>
              <a:rPr lang="zh-CN" altLang="en-US" sz="2400" dirty="0">
                <a:latin typeface="Arial" panose="020B0604020202020204" pitchFamily="34" charset="0"/>
                <a:ea typeface="宋体" panose="02010600030101010101" pitchFamily="2" charset="-122"/>
              </a:rPr>
              <a:t>年颁布的数据通信协议。字母</a:t>
            </a:r>
            <a:r>
              <a:rPr lang="en-US" altLang="zh-CN" sz="2400" dirty="0">
                <a:latin typeface="Arial" panose="020B0604020202020204" pitchFamily="34" charset="0"/>
                <a:ea typeface="宋体" panose="02010600030101010101" pitchFamily="2" charset="-122"/>
              </a:rPr>
              <a:t>RS</a:t>
            </a:r>
            <a:r>
              <a:rPr lang="zh-CN" altLang="en-US" sz="2400" dirty="0">
                <a:latin typeface="Arial" panose="020B0604020202020204" pitchFamily="34" charset="0"/>
                <a:ea typeface="宋体" panose="02010600030101010101" pitchFamily="2" charset="-122"/>
              </a:rPr>
              <a:t>表示</a:t>
            </a:r>
            <a:r>
              <a:rPr lang="en-US" altLang="zh-CN" sz="2400" dirty="0">
                <a:latin typeface="Arial" panose="020B0604020202020204" pitchFamily="34" charset="0"/>
                <a:ea typeface="宋体" panose="02010600030101010101" pitchFamily="2" charset="-122"/>
              </a:rPr>
              <a:t>Recommanded  Standard</a:t>
            </a:r>
            <a:r>
              <a:rPr lang="zh-CN" altLang="en-US" sz="2400" dirty="0">
                <a:latin typeface="Arial" panose="020B0604020202020204" pitchFamily="34" charset="0"/>
                <a:ea typeface="宋体" panose="02010600030101010101" pitchFamily="2" charset="-122"/>
              </a:rPr>
              <a:t>（推荐标准），</a:t>
            </a:r>
            <a:r>
              <a:rPr lang="en-US" altLang="zh-CN" sz="2400" dirty="0">
                <a:latin typeface="Arial" panose="020B0604020202020204" pitchFamily="34" charset="0"/>
                <a:ea typeface="宋体" panose="02010600030101010101" pitchFamily="2" charset="-122"/>
              </a:rPr>
              <a:t>232</a:t>
            </a:r>
            <a:r>
              <a:rPr lang="zh-CN" altLang="en-US" sz="2400" dirty="0">
                <a:latin typeface="Arial" panose="020B0604020202020204" pitchFamily="34" charset="0"/>
                <a:ea typeface="宋体" panose="02010600030101010101" pitchFamily="2" charset="-122"/>
              </a:rPr>
              <a:t>是识别代码，</a:t>
            </a:r>
            <a:r>
              <a:rPr lang="en-US" altLang="zh-CN" sz="2400" dirty="0">
                <a:latin typeface="Arial" panose="020B0604020202020204" pitchFamily="34" charset="0"/>
                <a:ea typeface="宋体" panose="02010600030101010101" pitchFamily="2" charset="-122"/>
              </a:rPr>
              <a:t>C</a:t>
            </a:r>
            <a:r>
              <a:rPr lang="zh-CN" altLang="en-US" sz="2400" dirty="0">
                <a:latin typeface="Arial" panose="020B0604020202020204" pitchFamily="34" charset="0"/>
                <a:ea typeface="宋体" panose="02010600030101010101" pitchFamily="2" charset="-122"/>
              </a:rPr>
              <a:t>是标准的版本号。</a:t>
            </a:r>
          </a:p>
          <a:p>
            <a:pPr>
              <a:buClrTx/>
              <a:buFontTx/>
            </a:pPr>
            <a:r>
              <a:rPr lang="en-US" altLang="zh-CN" sz="2800" b="1" dirty="0">
                <a:latin typeface="Arial" panose="020B0604020202020204" pitchFamily="34" charset="0"/>
                <a:ea typeface="宋体" panose="02010600030101010101" pitchFamily="2" charset="-122"/>
              </a:rPr>
              <a:t>RS232C</a:t>
            </a:r>
            <a:r>
              <a:rPr lang="zh-CN" altLang="en-US" sz="2800" b="1" dirty="0">
                <a:latin typeface="Arial" panose="020B0604020202020204" pitchFamily="34" charset="0"/>
                <a:ea typeface="宋体" panose="02010600030101010101" pitchFamily="2" charset="-122"/>
              </a:rPr>
              <a:t>总线的特点</a:t>
            </a: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）可实现双工通信</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总线规定了</a:t>
            </a:r>
            <a:r>
              <a:rPr lang="en-US" altLang="zh-CN" sz="2400" dirty="0">
                <a:latin typeface="Arial" panose="020B0604020202020204" pitchFamily="34" charset="0"/>
                <a:ea typeface="宋体" panose="02010600030101010101" pitchFamily="2" charset="-122"/>
              </a:rPr>
              <a:t>25</a:t>
            </a:r>
            <a:r>
              <a:rPr lang="zh-CN" altLang="en-US" sz="2400" dirty="0">
                <a:latin typeface="Arial" panose="020B0604020202020204" pitchFamily="34" charset="0"/>
                <a:ea typeface="宋体" panose="02010600030101010101" pitchFamily="2" charset="-122"/>
              </a:rPr>
              <a:t>条线，包含两个信号通道，即第一个通道（又称主通道）和第二通道（又称副通道），因此可以实现双工通信。对于一般应用，最多使用</a:t>
            </a:r>
            <a:r>
              <a:rPr lang="en-US" altLang="zh-CN" sz="2400" dirty="0">
                <a:latin typeface="Arial" panose="020B0604020202020204" pitchFamily="34" charset="0"/>
                <a:ea typeface="宋体" panose="02010600030101010101" pitchFamily="2" charset="-122"/>
              </a:rPr>
              <a:t>9</a:t>
            </a:r>
            <a:r>
              <a:rPr lang="zh-CN" altLang="en-US" sz="2400" dirty="0">
                <a:latin typeface="Arial" panose="020B0604020202020204" pitchFamily="34" charset="0"/>
                <a:ea typeface="宋体" panose="02010600030101010101" pitchFamily="2" charset="-122"/>
              </a:rPr>
              <a:t>条线即可以完成，所以，在微机系统中既有</a:t>
            </a:r>
            <a:r>
              <a:rPr lang="en-US" altLang="zh-CN" sz="2400" dirty="0">
                <a:latin typeface="Arial" panose="020B0604020202020204" pitchFamily="34" charset="0"/>
                <a:ea typeface="宋体" panose="02010600030101010101" pitchFamily="2" charset="-122"/>
              </a:rPr>
              <a:t>25</a:t>
            </a:r>
            <a:r>
              <a:rPr lang="zh-CN" altLang="en-US" sz="2400" dirty="0">
                <a:latin typeface="Arial" panose="020B0604020202020204" pitchFamily="34" charset="0"/>
                <a:ea typeface="宋体" panose="02010600030101010101" pitchFamily="2" charset="-122"/>
              </a:rPr>
              <a:t>针</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接口，也有</a:t>
            </a:r>
            <a:r>
              <a:rPr lang="en-US" altLang="zh-CN" sz="2400" dirty="0">
                <a:latin typeface="Arial" panose="020B0604020202020204" pitchFamily="34" charset="0"/>
                <a:ea typeface="宋体" panose="02010600030101010101" pitchFamily="2" charset="-122"/>
              </a:rPr>
              <a:t>9</a:t>
            </a:r>
            <a:r>
              <a:rPr lang="zh-CN" altLang="en-US" sz="2400" dirty="0">
                <a:latin typeface="Arial" panose="020B0604020202020204" pitchFamily="34" charset="0"/>
                <a:ea typeface="宋体" panose="02010600030101010101" pitchFamily="2" charset="-122"/>
              </a:rPr>
              <a:t>针</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接口。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4386">
                                            <p:txEl>
                                              <p:pRg st="0" end="0"/>
                                            </p:txEl>
                                          </p:spTgt>
                                        </p:tgtEl>
                                        <p:attrNameLst>
                                          <p:attrName>style.visibility</p:attrName>
                                        </p:attrNameLst>
                                      </p:cBhvr>
                                      <p:to>
                                        <p:strVal val="visible"/>
                                      </p:to>
                                    </p:set>
                                    <p:animEffect transition="in" filter="blinds(horizontal)">
                                      <p:cBhvr>
                                        <p:cTn id="7" dur="500"/>
                                        <p:tgtEl>
                                          <p:spTgt spid="144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4386">
                                            <p:txEl>
                                              <p:pRg st="1" end="1"/>
                                            </p:txEl>
                                          </p:spTgt>
                                        </p:tgtEl>
                                        <p:attrNameLst>
                                          <p:attrName>style.visibility</p:attrName>
                                        </p:attrNameLst>
                                      </p:cBhvr>
                                      <p:to>
                                        <p:strVal val="visible"/>
                                      </p:to>
                                    </p:set>
                                    <p:animEffect transition="in" filter="blinds(horizontal)">
                                      <p:cBhvr>
                                        <p:cTn id="12" dur="500"/>
                                        <p:tgtEl>
                                          <p:spTgt spid="144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4386">
                                            <p:txEl>
                                              <p:pRg st="2" end="2"/>
                                            </p:txEl>
                                          </p:spTgt>
                                        </p:tgtEl>
                                        <p:attrNameLst>
                                          <p:attrName>style.visibility</p:attrName>
                                        </p:attrNameLst>
                                      </p:cBhvr>
                                      <p:to>
                                        <p:strVal val="visible"/>
                                      </p:to>
                                    </p:set>
                                    <p:animEffect transition="in" filter="blinds(horizontal)">
                                      <p:cBhvr>
                                        <p:cTn id="17" dur="500"/>
                                        <p:tgtEl>
                                          <p:spTgt spid="1443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4386">
                                            <p:txEl>
                                              <p:pRg st="3" end="3"/>
                                            </p:txEl>
                                          </p:spTgt>
                                        </p:tgtEl>
                                        <p:attrNameLst>
                                          <p:attrName>style.visibility</p:attrName>
                                        </p:attrNameLst>
                                      </p:cBhvr>
                                      <p:to>
                                        <p:strVal val="visible"/>
                                      </p:to>
                                    </p:set>
                                    <p:animEffect transition="in" filter="blinds(horizontal)">
                                      <p:cBhvr>
                                        <p:cTn id="22" dur="500"/>
                                        <p:tgtEl>
                                          <p:spTgt spid="144386">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44386">
                                            <p:txEl>
                                              <p:pRg st="4" end="4"/>
                                            </p:txEl>
                                          </p:spTgt>
                                        </p:tgtEl>
                                        <p:attrNameLst>
                                          <p:attrName>style.visibility</p:attrName>
                                        </p:attrNameLst>
                                      </p:cBhvr>
                                      <p:to>
                                        <p:strVal val="visible"/>
                                      </p:to>
                                    </p:set>
                                    <p:animEffect transition="in" filter="blinds(horizontal)">
                                      <p:cBhvr>
                                        <p:cTn id="25" dur="500"/>
                                        <p:tgtEl>
                                          <p:spTgt spid="14438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44386">
                                            <p:txEl>
                                              <p:pRg st="5" end="5"/>
                                            </p:txEl>
                                          </p:spTgt>
                                        </p:tgtEl>
                                        <p:attrNameLst>
                                          <p:attrName>style.visibility</p:attrName>
                                        </p:attrNameLst>
                                      </p:cBhvr>
                                      <p:to>
                                        <p:strVal val="visible"/>
                                      </p:to>
                                    </p:set>
                                    <p:animEffect transition="in" filter="blinds(horizontal)">
                                      <p:cBhvr>
                                        <p:cTn id="30" dur="500"/>
                                        <p:tgtEl>
                                          <p:spTgt spid="144386">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44386">
                                            <p:txEl>
                                              <p:pRg st="6" end="6"/>
                                            </p:txEl>
                                          </p:spTgt>
                                        </p:tgtEl>
                                        <p:attrNameLst>
                                          <p:attrName>style.visibility</p:attrName>
                                        </p:attrNameLst>
                                      </p:cBhvr>
                                      <p:to>
                                        <p:strVal val="visible"/>
                                      </p:to>
                                    </p:set>
                                    <p:animEffect transition="in" filter="blinds(horizontal)">
                                      <p:cBhvr>
                                        <p:cTn id="33" dur="500"/>
                                        <p:tgtEl>
                                          <p:spTgt spid="14438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p:cNvSpPr txBox="1"/>
          <p:nvPr/>
        </p:nvSpPr>
        <p:spPr>
          <a:xfrm>
            <a:off x="152400" y="304800"/>
            <a:ext cx="8534400" cy="6000750"/>
          </a:xfrm>
          <a:prstGeom prst="rect">
            <a:avLst/>
          </a:prstGeom>
          <a:noFill/>
          <a:ln w="9525">
            <a:noFill/>
          </a:ln>
        </p:spPr>
        <p:txBody>
          <a:bodyPr anchor="t" anchorCtr="0">
            <a:spAutoFit/>
          </a:bodyPr>
          <a:lstStyle/>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）具有多种传输速率，可适应不同速率的外设</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规定了</a:t>
            </a:r>
            <a:r>
              <a:rPr lang="en-US" altLang="zh-CN" sz="2400" dirty="0">
                <a:latin typeface="Arial" panose="020B0604020202020204" pitchFamily="34" charset="0"/>
                <a:ea typeface="宋体" panose="02010600030101010101" pitchFamily="2" charset="-122"/>
              </a:rPr>
              <a:t>11</a:t>
            </a:r>
            <a:r>
              <a:rPr lang="zh-CN" altLang="en-US" sz="2400" dirty="0">
                <a:latin typeface="Arial" panose="020B0604020202020204" pitchFamily="34" charset="0"/>
                <a:ea typeface="宋体" panose="02010600030101010101" pitchFamily="2" charset="-122"/>
              </a:rPr>
              <a:t>种标准传输速率有：</a:t>
            </a:r>
            <a:r>
              <a:rPr lang="en-US" altLang="zh-CN" sz="2400" dirty="0">
                <a:latin typeface="Arial" panose="020B0604020202020204" pitchFamily="34" charset="0"/>
                <a:ea typeface="宋体" panose="02010600030101010101" pitchFamily="2" charset="-122"/>
              </a:rPr>
              <a:t>50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75</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110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150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300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600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1200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2400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4800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9600</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19200</a:t>
            </a:r>
            <a:r>
              <a:rPr lang="zh-CN" altLang="en-US" sz="2400" dirty="0">
                <a:latin typeface="Arial" panose="020B0604020202020204" pitchFamily="34" charset="0"/>
                <a:ea typeface="宋体" panose="02010600030101010101" pitchFamily="2" charset="-122"/>
              </a:rPr>
              <a:t>波特。因此，</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总线还可以灵活地适应于不同速率的设备。在应用时，对于慢速外设可以选低的传输速率，反之，可选较高的传输速率。</a:t>
            </a:r>
            <a:endParaRPr lang="zh-CN" altLang="en-US" sz="2400" b="1"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）采用串行传输方式，传输距离远  </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由于</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将微机的</a:t>
            </a:r>
            <a:r>
              <a:rPr lang="en-US" altLang="zh-CN" sz="2400" dirty="0">
                <a:latin typeface="Arial" panose="020B0604020202020204" pitchFamily="34" charset="0"/>
                <a:ea typeface="宋体" panose="02010600030101010101" pitchFamily="2" charset="-122"/>
              </a:rPr>
              <a:t>TTL</a:t>
            </a:r>
            <a:r>
              <a:rPr lang="zh-CN" altLang="en-US" sz="2400" dirty="0">
                <a:latin typeface="Arial" panose="020B0604020202020204" pitchFamily="34" charset="0"/>
                <a:ea typeface="宋体" panose="02010600030101010101" pitchFamily="2" charset="-122"/>
              </a:rPr>
              <a:t>电平转换为</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电平，其传送距离在基带传送时可达</a:t>
            </a:r>
            <a:r>
              <a:rPr lang="en-US" altLang="zh-CN" sz="2400" dirty="0">
                <a:latin typeface="Arial" panose="020B0604020202020204" pitchFamily="34" charset="0"/>
                <a:ea typeface="宋体" panose="02010600030101010101" pitchFamily="2" charset="-122"/>
              </a:rPr>
              <a:t>30m</a:t>
            </a:r>
            <a:r>
              <a:rPr lang="zh-CN" altLang="en-US" sz="2400" dirty="0">
                <a:latin typeface="Arial" panose="020B0604020202020204" pitchFamily="34" charset="0"/>
                <a:ea typeface="宋体" panose="02010600030101010101" pitchFamily="2" charset="-122"/>
              </a:rPr>
              <a:t>。若是利用光电隔离</a:t>
            </a:r>
            <a:r>
              <a:rPr lang="en-US" altLang="zh-CN" sz="2400" dirty="0">
                <a:latin typeface="Arial" panose="020B0604020202020204" pitchFamily="34" charset="0"/>
                <a:ea typeface="宋体" panose="02010600030101010101" pitchFamily="2" charset="-122"/>
              </a:rPr>
              <a:t>20mA</a:t>
            </a:r>
            <a:r>
              <a:rPr lang="zh-CN" altLang="en-US" sz="2400" dirty="0">
                <a:latin typeface="Arial" panose="020B0604020202020204" pitchFamily="34" charset="0"/>
                <a:ea typeface="宋体" panose="02010600030101010101" pitchFamily="2" charset="-122"/>
              </a:rPr>
              <a:t>电流环进行传送，其传送距离可达</a:t>
            </a:r>
            <a:r>
              <a:rPr lang="en-US" altLang="zh-CN" sz="2400" dirty="0">
                <a:latin typeface="Arial" panose="020B0604020202020204" pitchFamily="34" charset="0"/>
                <a:ea typeface="宋体" panose="02010600030101010101" pitchFamily="2" charset="-122"/>
              </a:rPr>
              <a:t>100m</a:t>
            </a:r>
            <a:r>
              <a:rPr lang="zh-CN" altLang="en-US" sz="2400" dirty="0">
                <a:latin typeface="Arial" panose="020B0604020202020204" pitchFamily="34" charset="0"/>
                <a:ea typeface="宋体" panose="02010600030101010101" pitchFamily="2" charset="-122"/>
              </a:rPr>
              <a:t>。如果在该总线接口上再加上调制解调器</a:t>
            </a:r>
            <a:r>
              <a:rPr lang="en-US" altLang="zh-CN" sz="2400" dirty="0">
                <a:latin typeface="Arial" panose="020B0604020202020204" pitchFamily="34" charset="0"/>
                <a:ea typeface="宋体" panose="02010600030101010101" pitchFamily="2" charset="-122"/>
              </a:rPr>
              <a:t>(MODEM)</a:t>
            </a:r>
            <a:r>
              <a:rPr lang="zh-CN" altLang="en-US" sz="2400" dirty="0">
                <a:latin typeface="Arial" panose="020B0604020202020204" pitchFamily="34" charset="0"/>
                <a:ea typeface="宋体" panose="02010600030101010101" pitchFamily="2" charset="-122"/>
              </a:rPr>
              <a:t>，利用有线、无线或光纤进行传送，其距离会更远。</a:t>
            </a:r>
            <a:endParaRPr lang="zh-CN" altLang="en-US" sz="2400" b="1"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4</a:t>
            </a:r>
            <a:r>
              <a:rPr lang="zh-CN" altLang="en-US" sz="2400" b="1" dirty="0">
                <a:latin typeface="Arial" panose="020B0604020202020204" pitchFamily="34" charset="0"/>
                <a:ea typeface="宋体" panose="02010600030101010101" pitchFamily="2" charset="-122"/>
              </a:rPr>
              <a:t>）采用负逻辑，抗干扰能力强</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规定逻辑“</a:t>
            </a:r>
            <a:r>
              <a:rPr lang="en-US" altLang="zh-CN"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为低于</a:t>
            </a:r>
            <a:r>
              <a:rPr lang="en-US" altLang="zh-CN" sz="2400" dirty="0">
                <a:latin typeface="Arial" panose="020B0604020202020204" pitchFamily="34" charset="0"/>
                <a:ea typeface="宋体" panose="02010600030101010101" pitchFamily="2" charset="-122"/>
              </a:rPr>
              <a:t>-5V</a:t>
            </a:r>
            <a:r>
              <a:rPr lang="zh-CN" altLang="en-US" sz="2400" dirty="0">
                <a:latin typeface="Arial" panose="020B0604020202020204" pitchFamily="34" charset="0"/>
                <a:ea typeface="宋体" panose="02010600030101010101" pitchFamily="2" charset="-122"/>
              </a:rPr>
              <a:t>的信号，逻辑“</a:t>
            </a:r>
            <a:r>
              <a:rPr lang="en-US" altLang="zh-CN" sz="2400" dirty="0">
                <a:latin typeface="Arial" panose="020B0604020202020204" pitchFamily="34" charset="0"/>
                <a:ea typeface="宋体" panose="02010600030101010101" pitchFamily="2" charset="-122"/>
              </a:rPr>
              <a:t>0”</a:t>
            </a:r>
            <a:r>
              <a:rPr lang="zh-CN" altLang="en-US" sz="2400" dirty="0">
                <a:latin typeface="Arial" panose="020B0604020202020204" pitchFamily="34" charset="0"/>
                <a:ea typeface="宋体" panose="02010600030101010101" pitchFamily="2" charset="-122"/>
              </a:rPr>
              <a:t>为大于</a:t>
            </a:r>
            <a:r>
              <a:rPr lang="en-US" altLang="zh-CN" sz="2400" dirty="0">
                <a:latin typeface="Arial" panose="020B0604020202020204" pitchFamily="34" charset="0"/>
                <a:ea typeface="宋体" panose="02010600030101010101" pitchFamily="2" charset="-122"/>
              </a:rPr>
              <a:t>+5V</a:t>
            </a:r>
            <a:r>
              <a:rPr lang="zh-CN" altLang="en-US" sz="2400" dirty="0">
                <a:latin typeface="Arial" panose="020B0604020202020204" pitchFamily="34" charset="0"/>
                <a:ea typeface="宋体" panose="02010600030101010101" pitchFamily="2" charset="-122"/>
              </a:rPr>
              <a:t>的信号。一般信号电平多采用</a:t>
            </a:r>
            <a:r>
              <a:rPr lang="en-US" altLang="zh-CN" sz="2400" dirty="0">
                <a:latin typeface="Arial" panose="020B0604020202020204" pitchFamily="34" charset="0"/>
                <a:ea typeface="宋体" panose="02010600030101010101" pitchFamily="2" charset="-122"/>
              </a:rPr>
              <a:t>±12V</a:t>
            </a:r>
            <a:r>
              <a:rPr lang="zh-CN" altLang="en-US" sz="2400" dirty="0">
                <a:latin typeface="Arial" panose="020B0604020202020204" pitchFamily="34" charset="0"/>
                <a:ea typeface="宋体" panose="02010600030101010101" pitchFamily="2" charset="-122"/>
              </a:rPr>
              <a:t>或</a:t>
            </a:r>
            <a:r>
              <a:rPr lang="en-US" altLang="zh-CN" sz="2400" dirty="0">
                <a:latin typeface="Arial" panose="020B0604020202020204" pitchFamily="34" charset="0"/>
                <a:ea typeface="宋体" panose="02010600030101010101" pitchFamily="2" charset="-122"/>
              </a:rPr>
              <a:t>±15V</a:t>
            </a:r>
            <a:r>
              <a:rPr lang="zh-CN" altLang="en-US" sz="2400" dirty="0">
                <a:latin typeface="Arial" panose="020B0604020202020204" pitchFamily="34" charset="0"/>
                <a:ea typeface="宋体" panose="02010600030101010101" pitchFamily="2" charset="-122"/>
              </a:rPr>
              <a:t>，这就大大提高了抗干扰能力</a:t>
            </a:r>
            <a:r>
              <a:rPr lang="zh-CN" altLang="en-US" dirty="0">
                <a:latin typeface="Arial" panose="020B0604020202020204" pitchFamily="34"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5410">
                                            <p:txEl>
                                              <p:pRg st="0" end="0"/>
                                            </p:txEl>
                                          </p:spTgt>
                                        </p:tgtEl>
                                        <p:attrNameLst>
                                          <p:attrName>style.visibility</p:attrName>
                                        </p:attrNameLst>
                                      </p:cBhvr>
                                      <p:to>
                                        <p:strVal val="visible"/>
                                      </p:to>
                                    </p:set>
                                    <p:animEffect transition="in" filter="blinds(horizontal)">
                                      <p:cBhvr>
                                        <p:cTn id="7" dur="500"/>
                                        <p:tgtEl>
                                          <p:spTgt spid="14541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5410">
                                            <p:txEl>
                                              <p:pRg st="1" end="1"/>
                                            </p:txEl>
                                          </p:spTgt>
                                        </p:tgtEl>
                                        <p:attrNameLst>
                                          <p:attrName>style.visibility</p:attrName>
                                        </p:attrNameLst>
                                      </p:cBhvr>
                                      <p:to>
                                        <p:strVal val="visible"/>
                                      </p:to>
                                    </p:set>
                                    <p:animEffect transition="in" filter="blinds(horizontal)">
                                      <p:cBhvr>
                                        <p:cTn id="10" dur="500"/>
                                        <p:tgtEl>
                                          <p:spTgt spid="14541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45410">
                                            <p:txEl>
                                              <p:pRg st="2" end="2"/>
                                            </p:txEl>
                                          </p:spTgt>
                                        </p:tgtEl>
                                        <p:attrNameLst>
                                          <p:attrName>style.visibility</p:attrName>
                                        </p:attrNameLst>
                                      </p:cBhvr>
                                      <p:to>
                                        <p:strVal val="visible"/>
                                      </p:to>
                                    </p:set>
                                    <p:animEffect transition="in" filter="blinds(horizontal)">
                                      <p:cBhvr>
                                        <p:cTn id="15" dur="500"/>
                                        <p:tgtEl>
                                          <p:spTgt spid="145410">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45410">
                                            <p:txEl>
                                              <p:pRg st="3" end="3"/>
                                            </p:txEl>
                                          </p:spTgt>
                                        </p:tgtEl>
                                        <p:attrNameLst>
                                          <p:attrName>style.visibility</p:attrName>
                                        </p:attrNameLst>
                                      </p:cBhvr>
                                      <p:to>
                                        <p:strVal val="visible"/>
                                      </p:to>
                                    </p:set>
                                    <p:animEffect transition="in" filter="blinds(horizontal)">
                                      <p:cBhvr>
                                        <p:cTn id="18" dur="500"/>
                                        <p:tgtEl>
                                          <p:spTgt spid="145410">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5410">
                                            <p:txEl>
                                              <p:pRg st="4" end="4"/>
                                            </p:txEl>
                                          </p:spTgt>
                                        </p:tgtEl>
                                        <p:attrNameLst>
                                          <p:attrName>style.visibility</p:attrName>
                                        </p:attrNameLst>
                                      </p:cBhvr>
                                      <p:to>
                                        <p:strVal val="visible"/>
                                      </p:to>
                                    </p:set>
                                    <p:animEffect transition="in" filter="blinds(horizontal)">
                                      <p:cBhvr>
                                        <p:cTn id="23" dur="500"/>
                                        <p:tgtEl>
                                          <p:spTgt spid="145410">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45410">
                                            <p:txEl>
                                              <p:pRg st="5" end="5"/>
                                            </p:txEl>
                                          </p:spTgt>
                                        </p:tgtEl>
                                        <p:attrNameLst>
                                          <p:attrName>style.visibility</p:attrName>
                                        </p:attrNameLst>
                                      </p:cBhvr>
                                      <p:to>
                                        <p:strVal val="visible"/>
                                      </p:to>
                                    </p:set>
                                    <p:animEffect transition="in" filter="blinds(horizontal)">
                                      <p:cBhvr>
                                        <p:cTn id="26" dur="500"/>
                                        <p:tgtEl>
                                          <p:spTgt spid="1454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ext Box 2"/>
          <p:cNvSpPr txBox="1"/>
          <p:nvPr/>
        </p:nvSpPr>
        <p:spPr>
          <a:xfrm>
            <a:off x="152400" y="152400"/>
            <a:ext cx="8534400" cy="522288"/>
          </a:xfrm>
          <a:prstGeom prst="rect">
            <a:avLst/>
          </a:prstGeom>
          <a:noFill/>
          <a:ln w="9525">
            <a:noFill/>
          </a:ln>
        </p:spPr>
        <p:txBody>
          <a:bodyPr anchor="t" anchorCtr="0">
            <a:spAutoFit/>
          </a:bodyPr>
          <a:lstStyle/>
          <a:p>
            <a:pPr>
              <a:spcBef>
                <a:spcPct val="50000"/>
              </a:spcBef>
              <a:buClrTx/>
              <a:buFontTx/>
            </a:pP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5</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RS</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232</a:t>
            </a:r>
            <a:r>
              <a:rPr lang="zh-CN" altLang="en-US" sz="2800" b="1" dirty="0">
                <a:latin typeface="Arial" panose="020B0604020202020204" pitchFamily="34" charset="0"/>
                <a:ea typeface="宋体" panose="02010600030101010101" pitchFamily="2" charset="-122"/>
              </a:rPr>
              <a:t>总线定义</a:t>
            </a:r>
          </a:p>
        </p:txBody>
      </p:sp>
      <p:graphicFrame>
        <p:nvGraphicFramePr>
          <p:cNvPr id="146435" name="Group 3"/>
          <p:cNvGraphicFramePr>
            <a:graphicFrameLocks noGrp="1"/>
          </p:cNvGraphicFramePr>
          <p:nvPr/>
        </p:nvGraphicFramePr>
        <p:xfrm>
          <a:off x="381000" y="685800"/>
          <a:ext cx="8229600" cy="5411788"/>
        </p:xfrm>
        <a:graphic>
          <a:graphicData uri="http://schemas.openxmlformats.org/drawingml/2006/table">
            <a:tbl>
              <a:tblPr/>
              <a:tblGrid>
                <a:gridCol w="5715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2814638">
                  <a:extLst>
                    <a:ext uri="{9D8B030D-6E8A-4147-A177-3AD203B41FA5}">
                      <a16:colId xmlns:a16="http://schemas.microsoft.com/office/drawing/2014/main" val="20002"/>
                    </a:ext>
                  </a:extLst>
                </a:gridCol>
                <a:gridCol w="500062">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1005958">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引脚号</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信号名称</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说明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引脚号</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信号名称</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说明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05830">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5" marB="4572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PG</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TxD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RxD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RTS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CTS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DSR</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SG</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DCD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备用</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备用</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备用</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SCF</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SCB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保护地</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输出，发送数据</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输入，接收数据</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输出，请求发送</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输入，允许发送</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输入，数据设备就绪</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信号地</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输入，接收信号检出</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输入，第二接收信号检出</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输入，第二清除发送</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SBA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SBB</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备用</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SCA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DTR</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CG</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RI</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CH/CI</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备用</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buClr>
                          <a:schemeClr val="tx2"/>
                        </a:buClr>
                        <a:buSzPct val="50000"/>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buClr>
                          <a:schemeClr val="folHlink"/>
                        </a:buClr>
                        <a:buSzPct val="5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hlink"/>
                        </a:buClr>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输出，第二发送数据</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发送码元定时（</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DCE</a:t>
                      </a: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输入，第二接收数据</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输出，接收码元定时</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输出，第二请求发送</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输出，数据终端就绪</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输出，数据质量检出</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输入，振铃</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数码速率选择</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输出，发送码元定时</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5" marB="4572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p:nvPr/>
        </p:nvSpPr>
        <p:spPr>
          <a:xfrm>
            <a:off x="152400" y="152400"/>
            <a:ext cx="8686800" cy="1335088"/>
          </a:xfrm>
          <a:prstGeom prst="rect">
            <a:avLst/>
          </a:prstGeom>
          <a:noFill/>
          <a:ln w="9525">
            <a:noFill/>
          </a:ln>
        </p:spPr>
        <p:txBody>
          <a:bodyPr anchor="t" anchorCtr="0">
            <a:spAutoFit/>
          </a:bodyPr>
          <a:lstStyle/>
          <a:p>
            <a:pPr>
              <a:spcBef>
                <a:spcPct val="20000"/>
              </a:spcBef>
              <a:buClrTx/>
              <a:buFontTx/>
            </a:pPr>
            <a:r>
              <a:rPr lang="zh-CN" altLang="en-US" sz="2800" dirty="0">
                <a:latin typeface="Arial" panose="020B0604020202020204" pitchFamily="34" charset="0"/>
                <a:ea typeface="宋体" panose="02010600030101010101" pitchFamily="2" charset="-122"/>
              </a:rPr>
              <a:t>（</a:t>
            </a:r>
            <a:r>
              <a:rPr lang="en-US" altLang="zh-CN" sz="2800" dirty="0">
                <a:latin typeface="Arial" panose="020B0604020202020204" pitchFamily="34" charset="0"/>
                <a:ea typeface="宋体" panose="02010600030101010101" pitchFamily="2" charset="-122"/>
              </a:rPr>
              <a:t>6</a:t>
            </a:r>
            <a:r>
              <a:rPr lang="zh-CN" altLang="en-US" sz="2800" dirty="0">
                <a:latin typeface="Arial" panose="020B0604020202020204" pitchFamily="34" charset="0"/>
                <a:ea typeface="宋体" panose="02010600030101010101" pitchFamily="2" charset="-122"/>
              </a:rPr>
              <a:t>）</a:t>
            </a:r>
            <a:r>
              <a:rPr lang="en-US" altLang="zh-CN" sz="2800" dirty="0">
                <a:latin typeface="Arial" panose="020B0604020202020204" pitchFamily="34" charset="0"/>
                <a:ea typeface="宋体" panose="02010600030101010101" pitchFamily="2" charset="-122"/>
              </a:rPr>
              <a:t>PC</a:t>
            </a:r>
            <a:r>
              <a:rPr lang="zh-CN" altLang="en-US" sz="2800" dirty="0">
                <a:latin typeface="Arial" panose="020B0604020202020204" pitchFamily="34" charset="0"/>
                <a:ea typeface="宋体" panose="02010600030101010101" pitchFamily="2" charset="-122"/>
              </a:rPr>
              <a:t>机与其他设备的连接</a:t>
            </a:r>
          </a:p>
          <a:p>
            <a:pPr>
              <a:spcBef>
                <a:spcPct val="20000"/>
              </a:spcBef>
              <a:buClrTx/>
              <a:buFontTx/>
            </a:pPr>
            <a:r>
              <a:rPr lang="zh-CN" altLang="en-US" sz="2400" dirty="0">
                <a:latin typeface="Arial" panose="020B0604020202020204" pitchFamily="34" charset="0"/>
                <a:ea typeface="宋体" panose="02010600030101010101" pitchFamily="2" charset="-122"/>
              </a:rPr>
              <a:t>      利用</a:t>
            </a:r>
            <a:r>
              <a:rPr lang="en-US" altLang="zh-CN" sz="2400" dirty="0">
                <a:latin typeface="Arial" panose="020B0604020202020204" pitchFamily="34" charset="0"/>
                <a:ea typeface="宋体" panose="02010600030101010101" pitchFamily="2" charset="-122"/>
              </a:rPr>
              <a:t>PC</a:t>
            </a:r>
            <a:r>
              <a:rPr lang="zh-CN" altLang="en-US" sz="2400" dirty="0">
                <a:latin typeface="Arial" panose="020B0604020202020204" pitchFamily="34" charset="0"/>
                <a:ea typeface="宋体" panose="02010600030101010101" pitchFamily="2" charset="-122"/>
              </a:rPr>
              <a:t>机的</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串行接口总线可以实现</a:t>
            </a:r>
            <a:r>
              <a:rPr lang="en-US" altLang="zh-CN" sz="2400" dirty="0">
                <a:latin typeface="Arial" panose="020B0604020202020204" pitchFamily="34" charset="0"/>
                <a:ea typeface="宋体" panose="02010600030101010101" pitchFamily="2" charset="-122"/>
              </a:rPr>
              <a:t>PC</a:t>
            </a:r>
            <a:r>
              <a:rPr lang="zh-CN" altLang="en-US" sz="2400" dirty="0">
                <a:latin typeface="Arial" panose="020B0604020202020204" pitchFamily="34" charset="0"/>
                <a:ea typeface="宋体" panose="02010600030101010101" pitchFamily="2" charset="-122"/>
              </a:rPr>
              <a:t>机与其他的具有</a:t>
            </a:r>
            <a:r>
              <a:rPr lang="en-US" altLang="zh-CN" sz="2400" dirty="0">
                <a:latin typeface="Arial" panose="020B0604020202020204" pitchFamily="34" charset="0"/>
                <a:ea typeface="宋体" panose="02010600030101010101" pitchFamily="2" charset="-122"/>
              </a:rPr>
              <a:t>RS232C</a:t>
            </a:r>
            <a:r>
              <a:rPr lang="zh-CN" altLang="en-US" sz="2400" dirty="0">
                <a:latin typeface="Arial" panose="020B0604020202020204" pitchFamily="34" charset="0"/>
                <a:ea typeface="宋体" panose="02010600030101010101" pitchFamily="2" charset="-122"/>
              </a:rPr>
              <a:t>接口的设备或计算机的连接。 </a:t>
            </a:r>
          </a:p>
        </p:txBody>
      </p:sp>
      <p:sp>
        <p:nvSpPr>
          <p:cNvPr id="147459" name="Rectangle 3"/>
          <p:cNvSpPr/>
          <p:nvPr/>
        </p:nvSpPr>
        <p:spPr>
          <a:xfrm>
            <a:off x="533400" y="2667000"/>
            <a:ext cx="1066800" cy="2133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147460" name="Rectangle 4"/>
          <p:cNvSpPr/>
          <p:nvPr/>
        </p:nvSpPr>
        <p:spPr>
          <a:xfrm>
            <a:off x="2590800" y="2667000"/>
            <a:ext cx="1143000" cy="2133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147461" name="Rectangle 5"/>
          <p:cNvSpPr/>
          <p:nvPr/>
        </p:nvSpPr>
        <p:spPr>
          <a:xfrm>
            <a:off x="4876800" y="2743200"/>
            <a:ext cx="1066800" cy="2438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147462" name="Rectangle 6"/>
          <p:cNvSpPr/>
          <p:nvPr/>
        </p:nvSpPr>
        <p:spPr>
          <a:xfrm>
            <a:off x="7239000" y="2743200"/>
            <a:ext cx="1143000" cy="2438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Arial" panose="020B0604020202020204" pitchFamily="34" charset="0"/>
              <a:ea typeface="宋体" panose="02010600030101010101" pitchFamily="2" charset="-122"/>
            </a:endParaRPr>
          </a:p>
        </p:txBody>
      </p:sp>
      <p:sp>
        <p:nvSpPr>
          <p:cNvPr id="147463" name="Text Box 7"/>
          <p:cNvSpPr txBox="1"/>
          <p:nvPr/>
        </p:nvSpPr>
        <p:spPr>
          <a:xfrm>
            <a:off x="2590800" y="41148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7</a:t>
            </a:r>
          </a:p>
        </p:txBody>
      </p:sp>
      <p:sp>
        <p:nvSpPr>
          <p:cNvPr id="147464" name="Text Box 8"/>
          <p:cNvSpPr txBox="1"/>
          <p:nvPr/>
        </p:nvSpPr>
        <p:spPr>
          <a:xfrm>
            <a:off x="2590800" y="35052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2</a:t>
            </a:r>
          </a:p>
        </p:txBody>
      </p:sp>
      <p:sp>
        <p:nvSpPr>
          <p:cNvPr id="147465" name="Text Box 9"/>
          <p:cNvSpPr txBox="1"/>
          <p:nvPr/>
        </p:nvSpPr>
        <p:spPr>
          <a:xfrm>
            <a:off x="2590800" y="29718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3</a:t>
            </a:r>
          </a:p>
        </p:txBody>
      </p:sp>
      <p:sp>
        <p:nvSpPr>
          <p:cNvPr id="147466" name="Text Box 10"/>
          <p:cNvSpPr txBox="1"/>
          <p:nvPr/>
        </p:nvSpPr>
        <p:spPr>
          <a:xfrm>
            <a:off x="1219200" y="41148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7</a:t>
            </a:r>
          </a:p>
        </p:txBody>
      </p:sp>
      <p:sp>
        <p:nvSpPr>
          <p:cNvPr id="147467" name="Text Box 11"/>
          <p:cNvSpPr txBox="1"/>
          <p:nvPr/>
        </p:nvSpPr>
        <p:spPr>
          <a:xfrm>
            <a:off x="1219200" y="35814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3</a:t>
            </a:r>
          </a:p>
        </p:txBody>
      </p:sp>
      <p:sp>
        <p:nvSpPr>
          <p:cNvPr id="147468" name="Text Box 12"/>
          <p:cNvSpPr txBox="1"/>
          <p:nvPr/>
        </p:nvSpPr>
        <p:spPr>
          <a:xfrm>
            <a:off x="7239000" y="48006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1</a:t>
            </a:r>
          </a:p>
        </p:txBody>
      </p:sp>
      <p:sp>
        <p:nvSpPr>
          <p:cNvPr id="147469" name="Text Box 13"/>
          <p:cNvSpPr txBox="1"/>
          <p:nvPr/>
        </p:nvSpPr>
        <p:spPr>
          <a:xfrm>
            <a:off x="7239000" y="45720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5</a:t>
            </a:r>
          </a:p>
        </p:txBody>
      </p:sp>
      <p:sp>
        <p:nvSpPr>
          <p:cNvPr id="147470" name="Text Box 14"/>
          <p:cNvSpPr txBox="1"/>
          <p:nvPr/>
        </p:nvSpPr>
        <p:spPr>
          <a:xfrm>
            <a:off x="7239000" y="42672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4</a:t>
            </a:r>
          </a:p>
        </p:txBody>
      </p:sp>
      <p:sp>
        <p:nvSpPr>
          <p:cNvPr id="147471" name="Text Box 15"/>
          <p:cNvSpPr txBox="1"/>
          <p:nvPr/>
        </p:nvSpPr>
        <p:spPr>
          <a:xfrm>
            <a:off x="7239000" y="39624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2</a:t>
            </a:r>
          </a:p>
        </p:txBody>
      </p:sp>
      <p:sp>
        <p:nvSpPr>
          <p:cNvPr id="147472" name="Text Box 16"/>
          <p:cNvSpPr txBox="1"/>
          <p:nvPr/>
        </p:nvSpPr>
        <p:spPr>
          <a:xfrm>
            <a:off x="7239000" y="36576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3</a:t>
            </a:r>
          </a:p>
        </p:txBody>
      </p:sp>
      <p:sp>
        <p:nvSpPr>
          <p:cNvPr id="147473" name="Text Box 17"/>
          <p:cNvSpPr txBox="1"/>
          <p:nvPr/>
        </p:nvSpPr>
        <p:spPr>
          <a:xfrm>
            <a:off x="7239000" y="33528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7</a:t>
            </a:r>
          </a:p>
        </p:txBody>
      </p:sp>
      <p:sp>
        <p:nvSpPr>
          <p:cNvPr id="147474" name="Text Box 18"/>
          <p:cNvSpPr txBox="1"/>
          <p:nvPr/>
        </p:nvSpPr>
        <p:spPr>
          <a:xfrm>
            <a:off x="7239000" y="3048000"/>
            <a:ext cx="6858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20</a:t>
            </a:r>
          </a:p>
        </p:txBody>
      </p:sp>
      <p:sp>
        <p:nvSpPr>
          <p:cNvPr id="147475" name="Text Box 19"/>
          <p:cNvSpPr txBox="1"/>
          <p:nvPr/>
        </p:nvSpPr>
        <p:spPr>
          <a:xfrm>
            <a:off x="7239000" y="27432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6</a:t>
            </a:r>
          </a:p>
        </p:txBody>
      </p:sp>
      <p:sp>
        <p:nvSpPr>
          <p:cNvPr id="147476" name="Text Box 20"/>
          <p:cNvSpPr txBox="1"/>
          <p:nvPr/>
        </p:nvSpPr>
        <p:spPr>
          <a:xfrm>
            <a:off x="5562600" y="48006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1</a:t>
            </a:r>
          </a:p>
        </p:txBody>
      </p:sp>
      <p:sp>
        <p:nvSpPr>
          <p:cNvPr id="147477" name="Text Box 21"/>
          <p:cNvSpPr txBox="1"/>
          <p:nvPr/>
        </p:nvSpPr>
        <p:spPr>
          <a:xfrm>
            <a:off x="5562600" y="44958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5</a:t>
            </a:r>
          </a:p>
        </p:txBody>
      </p:sp>
      <p:sp>
        <p:nvSpPr>
          <p:cNvPr id="147478" name="Text Box 22"/>
          <p:cNvSpPr txBox="1"/>
          <p:nvPr/>
        </p:nvSpPr>
        <p:spPr>
          <a:xfrm>
            <a:off x="5562600" y="41910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4</a:t>
            </a:r>
          </a:p>
        </p:txBody>
      </p:sp>
      <p:sp>
        <p:nvSpPr>
          <p:cNvPr id="147479" name="Text Box 23"/>
          <p:cNvSpPr txBox="1"/>
          <p:nvPr/>
        </p:nvSpPr>
        <p:spPr>
          <a:xfrm>
            <a:off x="5562600" y="39624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3</a:t>
            </a:r>
          </a:p>
        </p:txBody>
      </p:sp>
      <p:sp>
        <p:nvSpPr>
          <p:cNvPr id="147480" name="Text Box 24"/>
          <p:cNvSpPr txBox="1"/>
          <p:nvPr/>
        </p:nvSpPr>
        <p:spPr>
          <a:xfrm>
            <a:off x="5562600" y="36576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2</a:t>
            </a:r>
          </a:p>
        </p:txBody>
      </p:sp>
      <p:sp>
        <p:nvSpPr>
          <p:cNvPr id="147481" name="Text Box 25"/>
          <p:cNvSpPr txBox="1"/>
          <p:nvPr/>
        </p:nvSpPr>
        <p:spPr>
          <a:xfrm>
            <a:off x="5562600" y="33528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7</a:t>
            </a:r>
          </a:p>
        </p:txBody>
      </p:sp>
      <p:sp>
        <p:nvSpPr>
          <p:cNvPr id="147482" name="Text Box 26"/>
          <p:cNvSpPr txBox="1"/>
          <p:nvPr/>
        </p:nvSpPr>
        <p:spPr>
          <a:xfrm>
            <a:off x="5562600" y="30480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6</a:t>
            </a:r>
          </a:p>
        </p:txBody>
      </p:sp>
      <p:sp>
        <p:nvSpPr>
          <p:cNvPr id="147483" name="Text Box 27"/>
          <p:cNvSpPr txBox="1"/>
          <p:nvPr/>
        </p:nvSpPr>
        <p:spPr>
          <a:xfrm>
            <a:off x="5410200" y="2743200"/>
            <a:ext cx="5334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20</a:t>
            </a:r>
          </a:p>
        </p:txBody>
      </p:sp>
      <p:sp>
        <p:nvSpPr>
          <p:cNvPr id="147484" name="Text Box 28"/>
          <p:cNvSpPr txBox="1"/>
          <p:nvPr/>
        </p:nvSpPr>
        <p:spPr>
          <a:xfrm>
            <a:off x="1219200" y="3048000"/>
            <a:ext cx="381000" cy="398463"/>
          </a:xfrm>
          <a:prstGeom prst="rect">
            <a:avLst/>
          </a:prstGeom>
          <a:noFill/>
          <a:ln w="9525">
            <a:noFill/>
          </a:ln>
        </p:spPr>
        <p:txBody>
          <a:bodyPr anchor="t" anchorCtr="0">
            <a:spAutoFit/>
          </a:bodyPr>
          <a:lstStyle/>
          <a:p>
            <a:pPr>
              <a:spcBef>
                <a:spcPct val="50000"/>
              </a:spcBef>
              <a:buClrTx/>
              <a:buFontTx/>
            </a:pPr>
            <a:r>
              <a:rPr lang="en-US" altLang="zh-CN" sz="2000" b="1" dirty="0">
                <a:latin typeface="Arial" panose="020B0604020202020204" pitchFamily="34" charset="0"/>
                <a:ea typeface="宋体" panose="02010600030101010101" pitchFamily="2" charset="-122"/>
              </a:rPr>
              <a:t>2</a:t>
            </a:r>
          </a:p>
        </p:txBody>
      </p:sp>
      <p:sp>
        <p:nvSpPr>
          <p:cNvPr id="147485" name="Text Box 29"/>
          <p:cNvSpPr txBox="1"/>
          <p:nvPr/>
        </p:nvSpPr>
        <p:spPr>
          <a:xfrm>
            <a:off x="609600" y="3505200"/>
            <a:ext cx="533400" cy="368300"/>
          </a:xfrm>
          <a:prstGeom prst="rect">
            <a:avLst/>
          </a:prstGeom>
          <a:noFill/>
          <a:ln w="9525">
            <a:noFill/>
          </a:ln>
        </p:spPr>
        <p:txBody>
          <a:bodyPr anchor="t" anchorCtr="0">
            <a:spAutoFit/>
          </a:bodyPr>
          <a:lstStyle/>
          <a:p>
            <a:pPr>
              <a:spcBef>
                <a:spcPct val="50000"/>
              </a:spcBef>
              <a:buClrTx/>
              <a:buFontTx/>
            </a:pPr>
            <a:r>
              <a:rPr lang="en-US" altLang="zh-CN" b="1" dirty="0">
                <a:latin typeface="Arial" panose="020B0604020202020204" pitchFamily="34" charset="0"/>
                <a:ea typeface="宋体" panose="02010600030101010101" pitchFamily="2" charset="-122"/>
              </a:rPr>
              <a:t>PC</a:t>
            </a:r>
          </a:p>
        </p:txBody>
      </p:sp>
      <p:sp>
        <p:nvSpPr>
          <p:cNvPr id="147486" name="Text Box 30"/>
          <p:cNvSpPr txBox="1"/>
          <p:nvPr/>
        </p:nvSpPr>
        <p:spPr>
          <a:xfrm>
            <a:off x="7693025" y="3124200"/>
            <a:ext cx="552450" cy="1371600"/>
          </a:xfrm>
          <a:prstGeom prst="rect">
            <a:avLst/>
          </a:prstGeom>
          <a:noFill/>
          <a:ln w="9525">
            <a:noFill/>
          </a:ln>
        </p:spPr>
        <p:txBody>
          <a:bodyPr vert="eaVert"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外  设</a:t>
            </a:r>
          </a:p>
        </p:txBody>
      </p:sp>
      <p:sp>
        <p:nvSpPr>
          <p:cNvPr id="147487" name="Text Box 31"/>
          <p:cNvSpPr txBox="1"/>
          <p:nvPr/>
        </p:nvSpPr>
        <p:spPr>
          <a:xfrm>
            <a:off x="3181350" y="3124200"/>
            <a:ext cx="552450" cy="1371600"/>
          </a:xfrm>
          <a:prstGeom prst="rect">
            <a:avLst/>
          </a:prstGeom>
          <a:noFill/>
          <a:ln w="9525">
            <a:noFill/>
          </a:ln>
        </p:spPr>
        <p:txBody>
          <a:bodyPr vert="eaVert" anchor="t" anchorCtr="0">
            <a:spAutoFit/>
          </a:bodyPr>
          <a:lstStyle/>
          <a:p>
            <a:pPr>
              <a:spcBef>
                <a:spcPct val="50000"/>
              </a:spcBef>
              <a:buClrTx/>
              <a:buFontTx/>
            </a:pPr>
            <a:r>
              <a:rPr lang="zh-CN" altLang="en-US" sz="2400" b="1" dirty="0">
                <a:latin typeface="Arial" panose="020B0604020202020204" pitchFamily="34" charset="0"/>
                <a:ea typeface="宋体" panose="02010600030101010101" pitchFamily="2" charset="-122"/>
              </a:rPr>
              <a:t>外  设</a:t>
            </a:r>
          </a:p>
        </p:txBody>
      </p:sp>
      <p:sp>
        <p:nvSpPr>
          <p:cNvPr id="147488" name="Text Box 32"/>
          <p:cNvSpPr txBox="1"/>
          <p:nvPr/>
        </p:nvSpPr>
        <p:spPr>
          <a:xfrm>
            <a:off x="5029200" y="3733800"/>
            <a:ext cx="533400" cy="368300"/>
          </a:xfrm>
          <a:prstGeom prst="rect">
            <a:avLst/>
          </a:prstGeom>
          <a:noFill/>
          <a:ln w="9525">
            <a:noFill/>
          </a:ln>
        </p:spPr>
        <p:txBody>
          <a:bodyPr anchor="t" anchorCtr="0">
            <a:spAutoFit/>
          </a:bodyPr>
          <a:lstStyle/>
          <a:p>
            <a:pPr>
              <a:spcBef>
                <a:spcPct val="50000"/>
              </a:spcBef>
              <a:buClrTx/>
              <a:buFontTx/>
            </a:pPr>
            <a:r>
              <a:rPr lang="en-US" altLang="zh-CN" b="1" dirty="0">
                <a:latin typeface="Arial" panose="020B0604020202020204" pitchFamily="34" charset="0"/>
                <a:ea typeface="宋体" panose="02010600030101010101" pitchFamily="2" charset="-122"/>
              </a:rPr>
              <a:t>PC</a:t>
            </a:r>
          </a:p>
        </p:txBody>
      </p:sp>
      <p:sp>
        <p:nvSpPr>
          <p:cNvPr id="147489" name="Line 33"/>
          <p:cNvSpPr/>
          <p:nvPr/>
        </p:nvSpPr>
        <p:spPr>
          <a:xfrm>
            <a:off x="1600200" y="3200400"/>
            <a:ext cx="990600" cy="0"/>
          </a:xfrm>
          <a:prstGeom prst="line">
            <a:avLst/>
          </a:prstGeom>
          <a:ln w="28575" cap="flat" cmpd="sng">
            <a:solidFill>
              <a:schemeClr val="tx1"/>
            </a:solidFill>
            <a:prstDash val="solid"/>
            <a:round/>
            <a:headEnd type="none" w="med" len="med"/>
            <a:tailEnd type="triangle" w="med" len="med"/>
          </a:ln>
        </p:spPr>
      </p:sp>
      <p:sp>
        <p:nvSpPr>
          <p:cNvPr id="147490" name="Line 34"/>
          <p:cNvSpPr/>
          <p:nvPr/>
        </p:nvSpPr>
        <p:spPr>
          <a:xfrm flipH="1">
            <a:off x="1600200" y="3733800"/>
            <a:ext cx="990600" cy="0"/>
          </a:xfrm>
          <a:prstGeom prst="line">
            <a:avLst/>
          </a:prstGeom>
          <a:ln w="28575" cap="flat" cmpd="sng">
            <a:solidFill>
              <a:schemeClr val="tx1"/>
            </a:solidFill>
            <a:prstDash val="solid"/>
            <a:round/>
            <a:headEnd type="none" w="med" len="med"/>
            <a:tailEnd type="triangle" w="med" len="med"/>
          </a:ln>
        </p:spPr>
      </p:sp>
      <p:sp>
        <p:nvSpPr>
          <p:cNvPr id="147491" name="Line 35"/>
          <p:cNvSpPr/>
          <p:nvPr/>
        </p:nvSpPr>
        <p:spPr>
          <a:xfrm>
            <a:off x="1600200" y="4343400"/>
            <a:ext cx="990600" cy="0"/>
          </a:xfrm>
          <a:prstGeom prst="line">
            <a:avLst/>
          </a:prstGeom>
          <a:ln w="28575" cap="flat" cmpd="sng">
            <a:solidFill>
              <a:schemeClr val="tx1"/>
            </a:solidFill>
            <a:prstDash val="solid"/>
            <a:round/>
            <a:headEnd type="none" w="med" len="med"/>
            <a:tailEnd type="none" w="med" len="med"/>
          </a:ln>
        </p:spPr>
      </p:sp>
      <p:sp>
        <p:nvSpPr>
          <p:cNvPr id="147492" name="Line 36"/>
          <p:cNvSpPr/>
          <p:nvPr/>
        </p:nvSpPr>
        <p:spPr>
          <a:xfrm>
            <a:off x="2057400" y="4343400"/>
            <a:ext cx="0" cy="228600"/>
          </a:xfrm>
          <a:prstGeom prst="line">
            <a:avLst/>
          </a:prstGeom>
          <a:ln w="28575" cap="flat" cmpd="sng">
            <a:solidFill>
              <a:schemeClr val="tx1"/>
            </a:solidFill>
            <a:prstDash val="solid"/>
            <a:round/>
            <a:headEnd type="none" w="med" len="med"/>
            <a:tailEnd type="none" w="med" len="med"/>
          </a:ln>
        </p:spPr>
      </p:sp>
      <p:sp>
        <p:nvSpPr>
          <p:cNvPr id="147493" name="Line 37"/>
          <p:cNvSpPr/>
          <p:nvPr/>
        </p:nvSpPr>
        <p:spPr>
          <a:xfrm>
            <a:off x="1905000" y="4572000"/>
            <a:ext cx="304800" cy="0"/>
          </a:xfrm>
          <a:prstGeom prst="line">
            <a:avLst/>
          </a:prstGeom>
          <a:ln w="28575" cap="flat" cmpd="sng">
            <a:solidFill>
              <a:schemeClr val="tx1"/>
            </a:solidFill>
            <a:prstDash val="solid"/>
            <a:round/>
            <a:headEnd type="none" w="med" len="med"/>
            <a:tailEnd type="none" w="med" len="med"/>
          </a:ln>
        </p:spPr>
      </p:sp>
      <p:sp>
        <p:nvSpPr>
          <p:cNvPr id="147494" name="Line 38"/>
          <p:cNvSpPr/>
          <p:nvPr/>
        </p:nvSpPr>
        <p:spPr>
          <a:xfrm>
            <a:off x="5943600" y="2895600"/>
            <a:ext cx="1295400" cy="0"/>
          </a:xfrm>
          <a:prstGeom prst="line">
            <a:avLst/>
          </a:prstGeom>
          <a:ln w="28575" cap="flat" cmpd="sng">
            <a:solidFill>
              <a:schemeClr val="tx1"/>
            </a:solidFill>
            <a:prstDash val="solid"/>
            <a:round/>
            <a:headEnd type="none" w="med" len="med"/>
            <a:tailEnd type="triangle" w="med" len="med"/>
          </a:ln>
        </p:spPr>
      </p:sp>
      <p:sp>
        <p:nvSpPr>
          <p:cNvPr id="147495" name="Line 39"/>
          <p:cNvSpPr/>
          <p:nvPr/>
        </p:nvSpPr>
        <p:spPr>
          <a:xfrm flipH="1">
            <a:off x="5943600" y="3276600"/>
            <a:ext cx="1295400" cy="0"/>
          </a:xfrm>
          <a:prstGeom prst="line">
            <a:avLst/>
          </a:prstGeom>
          <a:ln w="28575" cap="flat" cmpd="sng">
            <a:solidFill>
              <a:schemeClr val="tx1"/>
            </a:solidFill>
            <a:prstDash val="solid"/>
            <a:round/>
            <a:headEnd type="none" w="med" len="med"/>
            <a:tailEnd type="triangle" w="med" len="med"/>
          </a:ln>
        </p:spPr>
      </p:sp>
      <p:sp>
        <p:nvSpPr>
          <p:cNvPr id="147496" name="Line 40"/>
          <p:cNvSpPr/>
          <p:nvPr/>
        </p:nvSpPr>
        <p:spPr>
          <a:xfrm>
            <a:off x="5943600" y="3581400"/>
            <a:ext cx="1295400" cy="0"/>
          </a:xfrm>
          <a:prstGeom prst="line">
            <a:avLst/>
          </a:prstGeom>
          <a:ln w="28575" cap="flat" cmpd="sng">
            <a:solidFill>
              <a:schemeClr val="tx1"/>
            </a:solidFill>
            <a:prstDash val="solid"/>
            <a:round/>
            <a:headEnd type="none" w="med" len="med"/>
            <a:tailEnd type="none" w="med" len="med"/>
          </a:ln>
        </p:spPr>
      </p:sp>
      <p:sp>
        <p:nvSpPr>
          <p:cNvPr id="147497" name="Line 41"/>
          <p:cNvSpPr/>
          <p:nvPr/>
        </p:nvSpPr>
        <p:spPr>
          <a:xfrm>
            <a:off x="5943600" y="3886200"/>
            <a:ext cx="1295400" cy="0"/>
          </a:xfrm>
          <a:prstGeom prst="line">
            <a:avLst/>
          </a:prstGeom>
          <a:ln w="28575" cap="flat" cmpd="sng">
            <a:solidFill>
              <a:schemeClr val="tx1"/>
            </a:solidFill>
            <a:prstDash val="solid"/>
            <a:round/>
            <a:headEnd type="none" w="med" len="med"/>
            <a:tailEnd type="triangle" w="med" len="med"/>
          </a:ln>
        </p:spPr>
      </p:sp>
      <p:sp>
        <p:nvSpPr>
          <p:cNvPr id="147498" name="Line 42"/>
          <p:cNvSpPr/>
          <p:nvPr/>
        </p:nvSpPr>
        <p:spPr>
          <a:xfrm flipH="1">
            <a:off x="5943600" y="4191000"/>
            <a:ext cx="1295400" cy="0"/>
          </a:xfrm>
          <a:prstGeom prst="line">
            <a:avLst/>
          </a:prstGeom>
          <a:ln w="28575" cap="flat" cmpd="sng">
            <a:solidFill>
              <a:schemeClr val="tx1"/>
            </a:solidFill>
            <a:prstDash val="solid"/>
            <a:round/>
            <a:headEnd type="none" w="med" len="med"/>
            <a:tailEnd type="triangle" w="med" len="med"/>
          </a:ln>
        </p:spPr>
      </p:sp>
      <p:sp>
        <p:nvSpPr>
          <p:cNvPr id="147499" name="Line 43"/>
          <p:cNvSpPr/>
          <p:nvPr/>
        </p:nvSpPr>
        <p:spPr>
          <a:xfrm>
            <a:off x="5943600" y="4419600"/>
            <a:ext cx="228600" cy="0"/>
          </a:xfrm>
          <a:prstGeom prst="line">
            <a:avLst/>
          </a:prstGeom>
          <a:ln w="28575" cap="flat" cmpd="sng">
            <a:solidFill>
              <a:schemeClr val="tx1"/>
            </a:solidFill>
            <a:prstDash val="solid"/>
            <a:round/>
            <a:headEnd type="none" w="med" len="med"/>
            <a:tailEnd type="none" w="med" len="med"/>
          </a:ln>
        </p:spPr>
      </p:sp>
      <p:sp>
        <p:nvSpPr>
          <p:cNvPr id="147500" name="Line 44"/>
          <p:cNvSpPr/>
          <p:nvPr/>
        </p:nvSpPr>
        <p:spPr>
          <a:xfrm>
            <a:off x="6172200" y="4419600"/>
            <a:ext cx="0" cy="304800"/>
          </a:xfrm>
          <a:prstGeom prst="line">
            <a:avLst/>
          </a:prstGeom>
          <a:ln w="28575" cap="flat" cmpd="sng">
            <a:solidFill>
              <a:schemeClr val="tx1"/>
            </a:solidFill>
            <a:prstDash val="solid"/>
            <a:round/>
            <a:headEnd type="none" w="med" len="med"/>
            <a:tailEnd type="none" w="med" len="med"/>
          </a:ln>
        </p:spPr>
      </p:sp>
      <p:sp>
        <p:nvSpPr>
          <p:cNvPr id="147501" name="Line 45"/>
          <p:cNvSpPr/>
          <p:nvPr/>
        </p:nvSpPr>
        <p:spPr>
          <a:xfrm flipH="1">
            <a:off x="5943600" y="4724400"/>
            <a:ext cx="228600" cy="0"/>
          </a:xfrm>
          <a:prstGeom prst="line">
            <a:avLst/>
          </a:prstGeom>
          <a:ln w="28575" cap="flat" cmpd="sng">
            <a:solidFill>
              <a:schemeClr val="tx1"/>
            </a:solidFill>
            <a:prstDash val="solid"/>
            <a:round/>
            <a:headEnd type="none" w="med" len="med"/>
            <a:tailEnd type="triangle" w="med" len="med"/>
          </a:ln>
        </p:spPr>
      </p:sp>
      <p:sp>
        <p:nvSpPr>
          <p:cNvPr id="147502" name="Line 46"/>
          <p:cNvSpPr/>
          <p:nvPr/>
        </p:nvSpPr>
        <p:spPr>
          <a:xfrm flipH="1">
            <a:off x="6934200" y="4495800"/>
            <a:ext cx="304800" cy="0"/>
          </a:xfrm>
          <a:prstGeom prst="line">
            <a:avLst/>
          </a:prstGeom>
          <a:ln w="28575" cap="flat" cmpd="sng">
            <a:solidFill>
              <a:schemeClr val="tx1"/>
            </a:solidFill>
            <a:prstDash val="solid"/>
            <a:round/>
            <a:headEnd type="none" w="med" len="med"/>
            <a:tailEnd type="none" w="med" len="med"/>
          </a:ln>
        </p:spPr>
      </p:sp>
      <p:sp>
        <p:nvSpPr>
          <p:cNvPr id="147503" name="Line 47"/>
          <p:cNvSpPr/>
          <p:nvPr/>
        </p:nvSpPr>
        <p:spPr>
          <a:xfrm>
            <a:off x="6934200" y="4495800"/>
            <a:ext cx="0" cy="304800"/>
          </a:xfrm>
          <a:prstGeom prst="line">
            <a:avLst/>
          </a:prstGeom>
          <a:ln w="28575" cap="flat" cmpd="sng">
            <a:solidFill>
              <a:schemeClr val="tx1"/>
            </a:solidFill>
            <a:prstDash val="solid"/>
            <a:round/>
            <a:headEnd type="none" w="med" len="med"/>
            <a:tailEnd type="none" w="med" len="med"/>
          </a:ln>
        </p:spPr>
      </p:sp>
      <p:sp>
        <p:nvSpPr>
          <p:cNvPr id="147504" name="Line 48"/>
          <p:cNvSpPr/>
          <p:nvPr/>
        </p:nvSpPr>
        <p:spPr>
          <a:xfrm>
            <a:off x="6934200" y="4800600"/>
            <a:ext cx="304800" cy="0"/>
          </a:xfrm>
          <a:prstGeom prst="line">
            <a:avLst/>
          </a:prstGeom>
          <a:ln w="28575" cap="flat" cmpd="sng">
            <a:solidFill>
              <a:schemeClr val="tx1"/>
            </a:solidFill>
            <a:prstDash val="solid"/>
            <a:round/>
            <a:headEnd type="none" w="med" len="med"/>
            <a:tailEnd type="triangle" w="med" len="med"/>
          </a:ln>
        </p:spPr>
      </p:sp>
      <p:sp>
        <p:nvSpPr>
          <p:cNvPr id="147505" name="Line 49"/>
          <p:cNvSpPr/>
          <p:nvPr/>
        </p:nvSpPr>
        <p:spPr>
          <a:xfrm>
            <a:off x="5943600" y="5029200"/>
            <a:ext cx="1295400" cy="0"/>
          </a:xfrm>
          <a:prstGeom prst="line">
            <a:avLst/>
          </a:prstGeom>
          <a:ln w="28575" cap="flat" cmpd="sng">
            <a:solidFill>
              <a:schemeClr val="tx1"/>
            </a:solidFill>
            <a:prstDash val="solid"/>
            <a:round/>
            <a:headEnd type="none" w="med" len="med"/>
            <a:tailEnd type="none" w="med" len="med"/>
          </a:ln>
        </p:spPr>
      </p:sp>
      <p:sp>
        <p:nvSpPr>
          <p:cNvPr id="147506" name="Line 50"/>
          <p:cNvSpPr/>
          <p:nvPr/>
        </p:nvSpPr>
        <p:spPr>
          <a:xfrm>
            <a:off x="6553200" y="5029200"/>
            <a:ext cx="0" cy="228600"/>
          </a:xfrm>
          <a:prstGeom prst="line">
            <a:avLst/>
          </a:prstGeom>
          <a:ln w="28575" cap="flat" cmpd="sng">
            <a:solidFill>
              <a:schemeClr val="tx1"/>
            </a:solidFill>
            <a:prstDash val="solid"/>
            <a:round/>
            <a:headEnd type="none" w="med" len="med"/>
            <a:tailEnd type="none" w="med" len="med"/>
          </a:ln>
        </p:spPr>
      </p:sp>
      <p:sp>
        <p:nvSpPr>
          <p:cNvPr id="147507" name="Line 51"/>
          <p:cNvSpPr/>
          <p:nvPr/>
        </p:nvSpPr>
        <p:spPr>
          <a:xfrm>
            <a:off x="6400800" y="5257800"/>
            <a:ext cx="304800" cy="0"/>
          </a:xfrm>
          <a:prstGeom prst="line">
            <a:avLst/>
          </a:prstGeom>
          <a:ln w="28575" cap="flat" cmpd="sng">
            <a:solidFill>
              <a:schemeClr val="tx1"/>
            </a:solidFill>
            <a:prstDash val="solid"/>
            <a:roun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7458"/>
                                        </p:tgtEl>
                                        <p:attrNameLst>
                                          <p:attrName>style.visibility</p:attrName>
                                        </p:attrNameLst>
                                      </p:cBhvr>
                                      <p:to>
                                        <p:strVal val="visible"/>
                                      </p:to>
                                    </p:set>
                                    <p:animEffect transition="in" filter="blinds(horizontal)">
                                      <p:cBhvr>
                                        <p:cTn id="7" dur="500"/>
                                        <p:tgtEl>
                                          <p:spTgt spid="1474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7459"/>
                                        </p:tgtEl>
                                        <p:attrNameLst>
                                          <p:attrName>style.visibility</p:attrName>
                                        </p:attrNameLst>
                                      </p:cBhvr>
                                      <p:to>
                                        <p:strVal val="visible"/>
                                      </p:to>
                                    </p:set>
                                    <p:animEffect transition="in" filter="blinds(horizontal)">
                                      <p:cBhvr>
                                        <p:cTn id="12" dur="500"/>
                                        <p:tgtEl>
                                          <p:spTgt spid="14745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47460"/>
                                        </p:tgtEl>
                                        <p:attrNameLst>
                                          <p:attrName>style.visibility</p:attrName>
                                        </p:attrNameLst>
                                      </p:cBhvr>
                                      <p:to>
                                        <p:strVal val="visible"/>
                                      </p:to>
                                    </p:set>
                                    <p:animEffect transition="in" filter="blinds(horizontal)">
                                      <p:cBhvr>
                                        <p:cTn id="15" dur="500"/>
                                        <p:tgtEl>
                                          <p:spTgt spid="14746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7463"/>
                                        </p:tgtEl>
                                        <p:attrNameLst>
                                          <p:attrName>style.visibility</p:attrName>
                                        </p:attrNameLst>
                                      </p:cBhvr>
                                      <p:to>
                                        <p:strVal val="visible"/>
                                      </p:to>
                                    </p:set>
                                    <p:animEffect transition="in" filter="blinds(horizontal)">
                                      <p:cBhvr>
                                        <p:cTn id="18" dur="500"/>
                                        <p:tgtEl>
                                          <p:spTgt spid="147463"/>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47464"/>
                                        </p:tgtEl>
                                        <p:attrNameLst>
                                          <p:attrName>style.visibility</p:attrName>
                                        </p:attrNameLst>
                                      </p:cBhvr>
                                      <p:to>
                                        <p:strVal val="visible"/>
                                      </p:to>
                                    </p:set>
                                    <p:animEffect transition="in" filter="blinds(horizontal)">
                                      <p:cBhvr>
                                        <p:cTn id="21" dur="500"/>
                                        <p:tgtEl>
                                          <p:spTgt spid="147464"/>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47465"/>
                                        </p:tgtEl>
                                        <p:attrNameLst>
                                          <p:attrName>style.visibility</p:attrName>
                                        </p:attrNameLst>
                                      </p:cBhvr>
                                      <p:to>
                                        <p:strVal val="visible"/>
                                      </p:to>
                                    </p:set>
                                    <p:animEffect transition="in" filter="blinds(horizontal)">
                                      <p:cBhvr>
                                        <p:cTn id="24" dur="500"/>
                                        <p:tgtEl>
                                          <p:spTgt spid="14746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47466"/>
                                        </p:tgtEl>
                                        <p:attrNameLst>
                                          <p:attrName>style.visibility</p:attrName>
                                        </p:attrNameLst>
                                      </p:cBhvr>
                                      <p:to>
                                        <p:strVal val="visible"/>
                                      </p:to>
                                    </p:set>
                                    <p:animEffect transition="in" filter="blinds(horizontal)">
                                      <p:cBhvr>
                                        <p:cTn id="27" dur="500"/>
                                        <p:tgtEl>
                                          <p:spTgt spid="14746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47467"/>
                                        </p:tgtEl>
                                        <p:attrNameLst>
                                          <p:attrName>style.visibility</p:attrName>
                                        </p:attrNameLst>
                                      </p:cBhvr>
                                      <p:to>
                                        <p:strVal val="visible"/>
                                      </p:to>
                                    </p:set>
                                    <p:animEffect transition="in" filter="blinds(horizontal)">
                                      <p:cBhvr>
                                        <p:cTn id="30" dur="500"/>
                                        <p:tgtEl>
                                          <p:spTgt spid="14746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47484"/>
                                        </p:tgtEl>
                                        <p:attrNameLst>
                                          <p:attrName>style.visibility</p:attrName>
                                        </p:attrNameLst>
                                      </p:cBhvr>
                                      <p:to>
                                        <p:strVal val="visible"/>
                                      </p:to>
                                    </p:set>
                                    <p:animEffect transition="in" filter="blinds(horizontal)">
                                      <p:cBhvr>
                                        <p:cTn id="33" dur="500"/>
                                        <p:tgtEl>
                                          <p:spTgt spid="14748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47485"/>
                                        </p:tgtEl>
                                        <p:attrNameLst>
                                          <p:attrName>style.visibility</p:attrName>
                                        </p:attrNameLst>
                                      </p:cBhvr>
                                      <p:to>
                                        <p:strVal val="visible"/>
                                      </p:to>
                                    </p:set>
                                    <p:animEffect transition="in" filter="blinds(horizontal)">
                                      <p:cBhvr>
                                        <p:cTn id="36" dur="500"/>
                                        <p:tgtEl>
                                          <p:spTgt spid="147485"/>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47487"/>
                                        </p:tgtEl>
                                        <p:attrNameLst>
                                          <p:attrName>style.visibility</p:attrName>
                                        </p:attrNameLst>
                                      </p:cBhvr>
                                      <p:to>
                                        <p:strVal val="visible"/>
                                      </p:to>
                                    </p:set>
                                    <p:animEffect transition="in" filter="blinds(horizontal)">
                                      <p:cBhvr>
                                        <p:cTn id="39" dur="500"/>
                                        <p:tgtEl>
                                          <p:spTgt spid="147487"/>
                                        </p:tgtEl>
                                      </p:cBhvr>
                                    </p:animEffect>
                                  </p:childTnLst>
                                </p:cTn>
                              </p:par>
                              <p:par>
                                <p:cTn id="40" presetID="3" presetClass="entr" presetSubtype="10" fill="hold" nodeType="withEffect">
                                  <p:stCondLst>
                                    <p:cond delay="0"/>
                                  </p:stCondLst>
                                  <p:childTnLst>
                                    <p:set>
                                      <p:cBhvr>
                                        <p:cTn id="41" dur="1" fill="hold">
                                          <p:stCondLst>
                                            <p:cond delay="0"/>
                                          </p:stCondLst>
                                        </p:cTn>
                                        <p:tgtEl>
                                          <p:spTgt spid="147489"/>
                                        </p:tgtEl>
                                        <p:attrNameLst>
                                          <p:attrName>style.visibility</p:attrName>
                                        </p:attrNameLst>
                                      </p:cBhvr>
                                      <p:to>
                                        <p:strVal val="visible"/>
                                      </p:to>
                                    </p:set>
                                    <p:animEffect transition="in" filter="blinds(horizontal)">
                                      <p:cBhvr>
                                        <p:cTn id="42" dur="500"/>
                                        <p:tgtEl>
                                          <p:spTgt spid="147489"/>
                                        </p:tgtEl>
                                      </p:cBhvr>
                                    </p:animEffect>
                                  </p:childTnLst>
                                </p:cTn>
                              </p:par>
                              <p:par>
                                <p:cTn id="43" presetID="3" presetClass="entr" presetSubtype="10" fill="hold" nodeType="withEffect">
                                  <p:stCondLst>
                                    <p:cond delay="0"/>
                                  </p:stCondLst>
                                  <p:childTnLst>
                                    <p:set>
                                      <p:cBhvr>
                                        <p:cTn id="44" dur="1" fill="hold">
                                          <p:stCondLst>
                                            <p:cond delay="0"/>
                                          </p:stCondLst>
                                        </p:cTn>
                                        <p:tgtEl>
                                          <p:spTgt spid="147490"/>
                                        </p:tgtEl>
                                        <p:attrNameLst>
                                          <p:attrName>style.visibility</p:attrName>
                                        </p:attrNameLst>
                                      </p:cBhvr>
                                      <p:to>
                                        <p:strVal val="visible"/>
                                      </p:to>
                                    </p:set>
                                    <p:animEffect transition="in" filter="blinds(horizontal)">
                                      <p:cBhvr>
                                        <p:cTn id="45" dur="500"/>
                                        <p:tgtEl>
                                          <p:spTgt spid="147490"/>
                                        </p:tgtEl>
                                      </p:cBhvr>
                                    </p:animEffect>
                                  </p:childTnLst>
                                </p:cTn>
                              </p:par>
                              <p:par>
                                <p:cTn id="46" presetID="3" presetClass="entr" presetSubtype="10" fill="hold" nodeType="withEffect">
                                  <p:stCondLst>
                                    <p:cond delay="0"/>
                                  </p:stCondLst>
                                  <p:childTnLst>
                                    <p:set>
                                      <p:cBhvr>
                                        <p:cTn id="47" dur="1" fill="hold">
                                          <p:stCondLst>
                                            <p:cond delay="0"/>
                                          </p:stCondLst>
                                        </p:cTn>
                                        <p:tgtEl>
                                          <p:spTgt spid="147491"/>
                                        </p:tgtEl>
                                        <p:attrNameLst>
                                          <p:attrName>style.visibility</p:attrName>
                                        </p:attrNameLst>
                                      </p:cBhvr>
                                      <p:to>
                                        <p:strVal val="visible"/>
                                      </p:to>
                                    </p:set>
                                    <p:animEffect transition="in" filter="blinds(horizontal)">
                                      <p:cBhvr>
                                        <p:cTn id="48" dur="500"/>
                                        <p:tgtEl>
                                          <p:spTgt spid="147491"/>
                                        </p:tgtEl>
                                      </p:cBhvr>
                                    </p:animEffect>
                                  </p:childTnLst>
                                </p:cTn>
                              </p:par>
                              <p:par>
                                <p:cTn id="49" presetID="3" presetClass="entr" presetSubtype="10" fill="hold" nodeType="withEffect">
                                  <p:stCondLst>
                                    <p:cond delay="0"/>
                                  </p:stCondLst>
                                  <p:childTnLst>
                                    <p:set>
                                      <p:cBhvr>
                                        <p:cTn id="50" dur="1" fill="hold">
                                          <p:stCondLst>
                                            <p:cond delay="0"/>
                                          </p:stCondLst>
                                        </p:cTn>
                                        <p:tgtEl>
                                          <p:spTgt spid="147492"/>
                                        </p:tgtEl>
                                        <p:attrNameLst>
                                          <p:attrName>style.visibility</p:attrName>
                                        </p:attrNameLst>
                                      </p:cBhvr>
                                      <p:to>
                                        <p:strVal val="visible"/>
                                      </p:to>
                                    </p:set>
                                    <p:animEffect transition="in" filter="blinds(horizontal)">
                                      <p:cBhvr>
                                        <p:cTn id="51" dur="500"/>
                                        <p:tgtEl>
                                          <p:spTgt spid="147492"/>
                                        </p:tgtEl>
                                      </p:cBhvr>
                                    </p:animEffect>
                                  </p:childTnLst>
                                </p:cTn>
                              </p:par>
                              <p:par>
                                <p:cTn id="52" presetID="3" presetClass="entr" presetSubtype="10" fill="hold" nodeType="withEffect">
                                  <p:stCondLst>
                                    <p:cond delay="0"/>
                                  </p:stCondLst>
                                  <p:childTnLst>
                                    <p:set>
                                      <p:cBhvr>
                                        <p:cTn id="53" dur="1" fill="hold">
                                          <p:stCondLst>
                                            <p:cond delay="0"/>
                                          </p:stCondLst>
                                        </p:cTn>
                                        <p:tgtEl>
                                          <p:spTgt spid="147493"/>
                                        </p:tgtEl>
                                        <p:attrNameLst>
                                          <p:attrName>style.visibility</p:attrName>
                                        </p:attrNameLst>
                                      </p:cBhvr>
                                      <p:to>
                                        <p:strVal val="visible"/>
                                      </p:to>
                                    </p:set>
                                    <p:animEffect transition="in" filter="blinds(horizontal)">
                                      <p:cBhvr>
                                        <p:cTn id="54" dur="500"/>
                                        <p:tgtEl>
                                          <p:spTgt spid="147493"/>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47461"/>
                                        </p:tgtEl>
                                        <p:attrNameLst>
                                          <p:attrName>style.visibility</p:attrName>
                                        </p:attrNameLst>
                                      </p:cBhvr>
                                      <p:to>
                                        <p:strVal val="visible"/>
                                      </p:to>
                                    </p:set>
                                    <p:animEffect transition="in" filter="blinds(horizontal)">
                                      <p:cBhvr>
                                        <p:cTn id="59" dur="500"/>
                                        <p:tgtEl>
                                          <p:spTgt spid="147461"/>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47462"/>
                                        </p:tgtEl>
                                        <p:attrNameLst>
                                          <p:attrName>style.visibility</p:attrName>
                                        </p:attrNameLst>
                                      </p:cBhvr>
                                      <p:to>
                                        <p:strVal val="visible"/>
                                      </p:to>
                                    </p:set>
                                    <p:animEffect transition="in" filter="blinds(horizontal)">
                                      <p:cBhvr>
                                        <p:cTn id="62" dur="500"/>
                                        <p:tgtEl>
                                          <p:spTgt spid="147462"/>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147468"/>
                                        </p:tgtEl>
                                        <p:attrNameLst>
                                          <p:attrName>style.visibility</p:attrName>
                                        </p:attrNameLst>
                                      </p:cBhvr>
                                      <p:to>
                                        <p:strVal val="visible"/>
                                      </p:to>
                                    </p:set>
                                    <p:animEffect transition="in" filter="blinds(horizontal)">
                                      <p:cBhvr>
                                        <p:cTn id="65" dur="500"/>
                                        <p:tgtEl>
                                          <p:spTgt spid="147468"/>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147469"/>
                                        </p:tgtEl>
                                        <p:attrNameLst>
                                          <p:attrName>style.visibility</p:attrName>
                                        </p:attrNameLst>
                                      </p:cBhvr>
                                      <p:to>
                                        <p:strVal val="visible"/>
                                      </p:to>
                                    </p:set>
                                    <p:animEffect transition="in" filter="blinds(horizontal)">
                                      <p:cBhvr>
                                        <p:cTn id="68" dur="500"/>
                                        <p:tgtEl>
                                          <p:spTgt spid="147469"/>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147470"/>
                                        </p:tgtEl>
                                        <p:attrNameLst>
                                          <p:attrName>style.visibility</p:attrName>
                                        </p:attrNameLst>
                                      </p:cBhvr>
                                      <p:to>
                                        <p:strVal val="visible"/>
                                      </p:to>
                                    </p:set>
                                    <p:animEffect transition="in" filter="blinds(horizontal)">
                                      <p:cBhvr>
                                        <p:cTn id="71" dur="500"/>
                                        <p:tgtEl>
                                          <p:spTgt spid="147470"/>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147471"/>
                                        </p:tgtEl>
                                        <p:attrNameLst>
                                          <p:attrName>style.visibility</p:attrName>
                                        </p:attrNameLst>
                                      </p:cBhvr>
                                      <p:to>
                                        <p:strVal val="visible"/>
                                      </p:to>
                                    </p:set>
                                    <p:animEffect transition="in" filter="blinds(horizontal)">
                                      <p:cBhvr>
                                        <p:cTn id="74" dur="500"/>
                                        <p:tgtEl>
                                          <p:spTgt spid="147471"/>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147472"/>
                                        </p:tgtEl>
                                        <p:attrNameLst>
                                          <p:attrName>style.visibility</p:attrName>
                                        </p:attrNameLst>
                                      </p:cBhvr>
                                      <p:to>
                                        <p:strVal val="visible"/>
                                      </p:to>
                                    </p:set>
                                    <p:animEffect transition="in" filter="blinds(horizontal)">
                                      <p:cBhvr>
                                        <p:cTn id="77" dur="500"/>
                                        <p:tgtEl>
                                          <p:spTgt spid="147472"/>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147473"/>
                                        </p:tgtEl>
                                        <p:attrNameLst>
                                          <p:attrName>style.visibility</p:attrName>
                                        </p:attrNameLst>
                                      </p:cBhvr>
                                      <p:to>
                                        <p:strVal val="visible"/>
                                      </p:to>
                                    </p:set>
                                    <p:animEffect transition="in" filter="blinds(horizontal)">
                                      <p:cBhvr>
                                        <p:cTn id="80" dur="500"/>
                                        <p:tgtEl>
                                          <p:spTgt spid="147473"/>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147474"/>
                                        </p:tgtEl>
                                        <p:attrNameLst>
                                          <p:attrName>style.visibility</p:attrName>
                                        </p:attrNameLst>
                                      </p:cBhvr>
                                      <p:to>
                                        <p:strVal val="visible"/>
                                      </p:to>
                                    </p:set>
                                    <p:animEffect transition="in" filter="blinds(horizontal)">
                                      <p:cBhvr>
                                        <p:cTn id="83" dur="500"/>
                                        <p:tgtEl>
                                          <p:spTgt spid="147474"/>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147475"/>
                                        </p:tgtEl>
                                        <p:attrNameLst>
                                          <p:attrName>style.visibility</p:attrName>
                                        </p:attrNameLst>
                                      </p:cBhvr>
                                      <p:to>
                                        <p:strVal val="visible"/>
                                      </p:to>
                                    </p:set>
                                    <p:animEffect transition="in" filter="blinds(horizontal)">
                                      <p:cBhvr>
                                        <p:cTn id="86" dur="500"/>
                                        <p:tgtEl>
                                          <p:spTgt spid="147475"/>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147476"/>
                                        </p:tgtEl>
                                        <p:attrNameLst>
                                          <p:attrName>style.visibility</p:attrName>
                                        </p:attrNameLst>
                                      </p:cBhvr>
                                      <p:to>
                                        <p:strVal val="visible"/>
                                      </p:to>
                                    </p:set>
                                    <p:animEffect transition="in" filter="blinds(horizontal)">
                                      <p:cBhvr>
                                        <p:cTn id="89" dur="500"/>
                                        <p:tgtEl>
                                          <p:spTgt spid="147476"/>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147477"/>
                                        </p:tgtEl>
                                        <p:attrNameLst>
                                          <p:attrName>style.visibility</p:attrName>
                                        </p:attrNameLst>
                                      </p:cBhvr>
                                      <p:to>
                                        <p:strVal val="visible"/>
                                      </p:to>
                                    </p:set>
                                    <p:animEffect transition="in" filter="blinds(horizontal)">
                                      <p:cBhvr>
                                        <p:cTn id="92" dur="500"/>
                                        <p:tgtEl>
                                          <p:spTgt spid="147477"/>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147478"/>
                                        </p:tgtEl>
                                        <p:attrNameLst>
                                          <p:attrName>style.visibility</p:attrName>
                                        </p:attrNameLst>
                                      </p:cBhvr>
                                      <p:to>
                                        <p:strVal val="visible"/>
                                      </p:to>
                                    </p:set>
                                    <p:animEffect transition="in" filter="blinds(horizontal)">
                                      <p:cBhvr>
                                        <p:cTn id="95" dur="500"/>
                                        <p:tgtEl>
                                          <p:spTgt spid="147478"/>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147479"/>
                                        </p:tgtEl>
                                        <p:attrNameLst>
                                          <p:attrName>style.visibility</p:attrName>
                                        </p:attrNameLst>
                                      </p:cBhvr>
                                      <p:to>
                                        <p:strVal val="visible"/>
                                      </p:to>
                                    </p:set>
                                    <p:animEffect transition="in" filter="blinds(horizontal)">
                                      <p:cBhvr>
                                        <p:cTn id="98" dur="500"/>
                                        <p:tgtEl>
                                          <p:spTgt spid="147479"/>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147480"/>
                                        </p:tgtEl>
                                        <p:attrNameLst>
                                          <p:attrName>style.visibility</p:attrName>
                                        </p:attrNameLst>
                                      </p:cBhvr>
                                      <p:to>
                                        <p:strVal val="visible"/>
                                      </p:to>
                                    </p:set>
                                    <p:animEffect transition="in" filter="blinds(horizontal)">
                                      <p:cBhvr>
                                        <p:cTn id="101" dur="500"/>
                                        <p:tgtEl>
                                          <p:spTgt spid="147480"/>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147481"/>
                                        </p:tgtEl>
                                        <p:attrNameLst>
                                          <p:attrName>style.visibility</p:attrName>
                                        </p:attrNameLst>
                                      </p:cBhvr>
                                      <p:to>
                                        <p:strVal val="visible"/>
                                      </p:to>
                                    </p:set>
                                    <p:animEffect transition="in" filter="blinds(horizontal)">
                                      <p:cBhvr>
                                        <p:cTn id="104" dur="500"/>
                                        <p:tgtEl>
                                          <p:spTgt spid="147481"/>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147482"/>
                                        </p:tgtEl>
                                        <p:attrNameLst>
                                          <p:attrName>style.visibility</p:attrName>
                                        </p:attrNameLst>
                                      </p:cBhvr>
                                      <p:to>
                                        <p:strVal val="visible"/>
                                      </p:to>
                                    </p:set>
                                    <p:animEffect transition="in" filter="blinds(horizontal)">
                                      <p:cBhvr>
                                        <p:cTn id="107" dur="500"/>
                                        <p:tgtEl>
                                          <p:spTgt spid="147482"/>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147483"/>
                                        </p:tgtEl>
                                        <p:attrNameLst>
                                          <p:attrName>style.visibility</p:attrName>
                                        </p:attrNameLst>
                                      </p:cBhvr>
                                      <p:to>
                                        <p:strVal val="visible"/>
                                      </p:to>
                                    </p:set>
                                    <p:animEffect transition="in" filter="blinds(horizontal)">
                                      <p:cBhvr>
                                        <p:cTn id="110" dur="500"/>
                                        <p:tgtEl>
                                          <p:spTgt spid="147483"/>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147486"/>
                                        </p:tgtEl>
                                        <p:attrNameLst>
                                          <p:attrName>style.visibility</p:attrName>
                                        </p:attrNameLst>
                                      </p:cBhvr>
                                      <p:to>
                                        <p:strVal val="visible"/>
                                      </p:to>
                                    </p:set>
                                    <p:animEffect transition="in" filter="blinds(horizontal)">
                                      <p:cBhvr>
                                        <p:cTn id="113" dur="500"/>
                                        <p:tgtEl>
                                          <p:spTgt spid="147486"/>
                                        </p:tgtEl>
                                      </p:cBhvr>
                                    </p:animEffect>
                                  </p:childTnLst>
                                </p:cTn>
                              </p:par>
                              <p:par>
                                <p:cTn id="114" presetID="3" presetClass="entr" presetSubtype="10" fill="hold" grpId="0" nodeType="withEffect">
                                  <p:stCondLst>
                                    <p:cond delay="0"/>
                                  </p:stCondLst>
                                  <p:childTnLst>
                                    <p:set>
                                      <p:cBhvr>
                                        <p:cTn id="115" dur="1" fill="hold">
                                          <p:stCondLst>
                                            <p:cond delay="0"/>
                                          </p:stCondLst>
                                        </p:cTn>
                                        <p:tgtEl>
                                          <p:spTgt spid="147488"/>
                                        </p:tgtEl>
                                        <p:attrNameLst>
                                          <p:attrName>style.visibility</p:attrName>
                                        </p:attrNameLst>
                                      </p:cBhvr>
                                      <p:to>
                                        <p:strVal val="visible"/>
                                      </p:to>
                                    </p:set>
                                    <p:animEffect transition="in" filter="blinds(horizontal)">
                                      <p:cBhvr>
                                        <p:cTn id="116" dur="500"/>
                                        <p:tgtEl>
                                          <p:spTgt spid="147488"/>
                                        </p:tgtEl>
                                      </p:cBhvr>
                                    </p:animEffect>
                                  </p:childTnLst>
                                </p:cTn>
                              </p:par>
                              <p:par>
                                <p:cTn id="117" presetID="3" presetClass="entr" presetSubtype="10" fill="hold" nodeType="withEffect">
                                  <p:stCondLst>
                                    <p:cond delay="0"/>
                                  </p:stCondLst>
                                  <p:childTnLst>
                                    <p:set>
                                      <p:cBhvr>
                                        <p:cTn id="118" dur="1" fill="hold">
                                          <p:stCondLst>
                                            <p:cond delay="0"/>
                                          </p:stCondLst>
                                        </p:cTn>
                                        <p:tgtEl>
                                          <p:spTgt spid="147494"/>
                                        </p:tgtEl>
                                        <p:attrNameLst>
                                          <p:attrName>style.visibility</p:attrName>
                                        </p:attrNameLst>
                                      </p:cBhvr>
                                      <p:to>
                                        <p:strVal val="visible"/>
                                      </p:to>
                                    </p:set>
                                    <p:animEffect transition="in" filter="blinds(horizontal)">
                                      <p:cBhvr>
                                        <p:cTn id="119" dur="500"/>
                                        <p:tgtEl>
                                          <p:spTgt spid="147494"/>
                                        </p:tgtEl>
                                      </p:cBhvr>
                                    </p:animEffect>
                                  </p:childTnLst>
                                </p:cTn>
                              </p:par>
                              <p:par>
                                <p:cTn id="120" presetID="3" presetClass="entr" presetSubtype="10" fill="hold" nodeType="withEffect">
                                  <p:stCondLst>
                                    <p:cond delay="0"/>
                                  </p:stCondLst>
                                  <p:childTnLst>
                                    <p:set>
                                      <p:cBhvr>
                                        <p:cTn id="121" dur="1" fill="hold">
                                          <p:stCondLst>
                                            <p:cond delay="0"/>
                                          </p:stCondLst>
                                        </p:cTn>
                                        <p:tgtEl>
                                          <p:spTgt spid="147495"/>
                                        </p:tgtEl>
                                        <p:attrNameLst>
                                          <p:attrName>style.visibility</p:attrName>
                                        </p:attrNameLst>
                                      </p:cBhvr>
                                      <p:to>
                                        <p:strVal val="visible"/>
                                      </p:to>
                                    </p:set>
                                    <p:animEffect transition="in" filter="blinds(horizontal)">
                                      <p:cBhvr>
                                        <p:cTn id="122" dur="500"/>
                                        <p:tgtEl>
                                          <p:spTgt spid="147495"/>
                                        </p:tgtEl>
                                      </p:cBhvr>
                                    </p:animEffect>
                                  </p:childTnLst>
                                </p:cTn>
                              </p:par>
                              <p:par>
                                <p:cTn id="123" presetID="3" presetClass="entr" presetSubtype="10" fill="hold" nodeType="withEffect">
                                  <p:stCondLst>
                                    <p:cond delay="0"/>
                                  </p:stCondLst>
                                  <p:childTnLst>
                                    <p:set>
                                      <p:cBhvr>
                                        <p:cTn id="124" dur="1" fill="hold">
                                          <p:stCondLst>
                                            <p:cond delay="0"/>
                                          </p:stCondLst>
                                        </p:cTn>
                                        <p:tgtEl>
                                          <p:spTgt spid="147496"/>
                                        </p:tgtEl>
                                        <p:attrNameLst>
                                          <p:attrName>style.visibility</p:attrName>
                                        </p:attrNameLst>
                                      </p:cBhvr>
                                      <p:to>
                                        <p:strVal val="visible"/>
                                      </p:to>
                                    </p:set>
                                    <p:animEffect transition="in" filter="blinds(horizontal)">
                                      <p:cBhvr>
                                        <p:cTn id="125" dur="500"/>
                                        <p:tgtEl>
                                          <p:spTgt spid="147496"/>
                                        </p:tgtEl>
                                      </p:cBhvr>
                                    </p:animEffect>
                                  </p:childTnLst>
                                </p:cTn>
                              </p:par>
                              <p:par>
                                <p:cTn id="126" presetID="3" presetClass="entr" presetSubtype="10" fill="hold" nodeType="withEffect">
                                  <p:stCondLst>
                                    <p:cond delay="0"/>
                                  </p:stCondLst>
                                  <p:childTnLst>
                                    <p:set>
                                      <p:cBhvr>
                                        <p:cTn id="127" dur="1" fill="hold">
                                          <p:stCondLst>
                                            <p:cond delay="0"/>
                                          </p:stCondLst>
                                        </p:cTn>
                                        <p:tgtEl>
                                          <p:spTgt spid="147497"/>
                                        </p:tgtEl>
                                        <p:attrNameLst>
                                          <p:attrName>style.visibility</p:attrName>
                                        </p:attrNameLst>
                                      </p:cBhvr>
                                      <p:to>
                                        <p:strVal val="visible"/>
                                      </p:to>
                                    </p:set>
                                    <p:animEffect transition="in" filter="blinds(horizontal)">
                                      <p:cBhvr>
                                        <p:cTn id="128" dur="500"/>
                                        <p:tgtEl>
                                          <p:spTgt spid="147497"/>
                                        </p:tgtEl>
                                      </p:cBhvr>
                                    </p:animEffect>
                                  </p:childTnLst>
                                </p:cTn>
                              </p:par>
                              <p:par>
                                <p:cTn id="129" presetID="3" presetClass="entr" presetSubtype="10" fill="hold" nodeType="withEffect">
                                  <p:stCondLst>
                                    <p:cond delay="0"/>
                                  </p:stCondLst>
                                  <p:childTnLst>
                                    <p:set>
                                      <p:cBhvr>
                                        <p:cTn id="130" dur="1" fill="hold">
                                          <p:stCondLst>
                                            <p:cond delay="0"/>
                                          </p:stCondLst>
                                        </p:cTn>
                                        <p:tgtEl>
                                          <p:spTgt spid="147498"/>
                                        </p:tgtEl>
                                        <p:attrNameLst>
                                          <p:attrName>style.visibility</p:attrName>
                                        </p:attrNameLst>
                                      </p:cBhvr>
                                      <p:to>
                                        <p:strVal val="visible"/>
                                      </p:to>
                                    </p:set>
                                    <p:animEffect transition="in" filter="blinds(horizontal)">
                                      <p:cBhvr>
                                        <p:cTn id="131" dur="500"/>
                                        <p:tgtEl>
                                          <p:spTgt spid="147498"/>
                                        </p:tgtEl>
                                      </p:cBhvr>
                                    </p:animEffect>
                                  </p:childTnLst>
                                </p:cTn>
                              </p:par>
                              <p:par>
                                <p:cTn id="132" presetID="3" presetClass="entr" presetSubtype="10" fill="hold" nodeType="withEffect">
                                  <p:stCondLst>
                                    <p:cond delay="0"/>
                                  </p:stCondLst>
                                  <p:childTnLst>
                                    <p:set>
                                      <p:cBhvr>
                                        <p:cTn id="133" dur="1" fill="hold">
                                          <p:stCondLst>
                                            <p:cond delay="0"/>
                                          </p:stCondLst>
                                        </p:cTn>
                                        <p:tgtEl>
                                          <p:spTgt spid="147499"/>
                                        </p:tgtEl>
                                        <p:attrNameLst>
                                          <p:attrName>style.visibility</p:attrName>
                                        </p:attrNameLst>
                                      </p:cBhvr>
                                      <p:to>
                                        <p:strVal val="visible"/>
                                      </p:to>
                                    </p:set>
                                    <p:animEffect transition="in" filter="blinds(horizontal)">
                                      <p:cBhvr>
                                        <p:cTn id="134" dur="500"/>
                                        <p:tgtEl>
                                          <p:spTgt spid="147499"/>
                                        </p:tgtEl>
                                      </p:cBhvr>
                                    </p:animEffect>
                                  </p:childTnLst>
                                </p:cTn>
                              </p:par>
                              <p:par>
                                <p:cTn id="135" presetID="3" presetClass="entr" presetSubtype="10" fill="hold" nodeType="withEffect">
                                  <p:stCondLst>
                                    <p:cond delay="0"/>
                                  </p:stCondLst>
                                  <p:childTnLst>
                                    <p:set>
                                      <p:cBhvr>
                                        <p:cTn id="136" dur="1" fill="hold">
                                          <p:stCondLst>
                                            <p:cond delay="0"/>
                                          </p:stCondLst>
                                        </p:cTn>
                                        <p:tgtEl>
                                          <p:spTgt spid="147500"/>
                                        </p:tgtEl>
                                        <p:attrNameLst>
                                          <p:attrName>style.visibility</p:attrName>
                                        </p:attrNameLst>
                                      </p:cBhvr>
                                      <p:to>
                                        <p:strVal val="visible"/>
                                      </p:to>
                                    </p:set>
                                    <p:animEffect transition="in" filter="blinds(horizontal)">
                                      <p:cBhvr>
                                        <p:cTn id="137" dur="500"/>
                                        <p:tgtEl>
                                          <p:spTgt spid="147500"/>
                                        </p:tgtEl>
                                      </p:cBhvr>
                                    </p:animEffect>
                                  </p:childTnLst>
                                </p:cTn>
                              </p:par>
                              <p:par>
                                <p:cTn id="138" presetID="3" presetClass="entr" presetSubtype="10" fill="hold" nodeType="withEffect">
                                  <p:stCondLst>
                                    <p:cond delay="0"/>
                                  </p:stCondLst>
                                  <p:childTnLst>
                                    <p:set>
                                      <p:cBhvr>
                                        <p:cTn id="139" dur="1" fill="hold">
                                          <p:stCondLst>
                                            <p:cond delay="0"/>
                                          </p:stCondLst>
                                        </p:cTn>
                                        <p:tgtEl>
                                          <p:spTgt spid="147501"/>
                                        </p:tgtEl>
                                        <p:attrNameLst>
                                          <p:attrName>style.visibility</p:attrName>
                                        </p:attrNameLst>
                                      </p:cBhvr>
                                      <p:to>
                                        <p:strVal val="visible"/>
                                      </p:to>
                                    </p:set>
                                    <p:animEffect transition="in" filter="blinds(horizontal)">
                                      <p:cBhvr>
                                        <p:cTn id="140" dur="500"/>
                                        <p:tgtEl>
                                          <p:spTgt spid="147501"/>
                                        </p:tgtEl>
                                      </p:cBhvr>
                                    </p:animEffect>
                                  </p:childTnLst>
                                </p:cTn>
                              </p:par>
                              <p:par>
                                <p:cTn id="141" presetID="3" presetClass="entr" presetSubtype="10" fill="hold" nodeType="withEffect">
                                  <p:stCondLst>
                                    <p:cond delay="0"/>
                                  </p:stCondLst>
                                  <p:childTnLst>
                                    <p:set>
                                      <p:cBhvr>
                                        <p:cTn id="142" dur="1" fill="hold">
                                          <p:stCondLst>
                                            <p:cond delay="0"/>
                                          </p:stCondLst>
                                        </p:cTn>
                                        <p:tgtEl>
                                          <p:spTgt spid="147502"/>
                                        </p:tgtEl>
                                        <p:attrNameLst>
                                          <p:attrName>style.visibility</p:attrName>
                                        </p:attrNameLst>
                                      </p:cBhvr>
                                      <p:to>
                                        <p:strVal val="visible"/>
                                      </p:to>
                                    </p:set>
                                    <p:animEffect transition="in" filter="blinds(horizontal)">
                                      <p:cBhvr>
                                        <p:cTn id="143" dur="500"/>
                                        <p:tgtEl>
                                          <p:spTgt spid="147502"/>
                                        </p:tgtEl>
                                      </p:cBhvr>
                                    </p:animEffect>
                                  </p:childTnLst>
                                </p:cTn>
                              </p:par>
                              <p:par>
                                <p:cTn id="144" presetID="3" presetClass="entr" presetSubtype="10" fill="hold" nodeType="withEffect">
                                  <p:stCondLst>
                                    <p:cond delay="0"/>
                                  </p:stCondLst>
                                  <p:childTnLst>
                                    <p:set>
                                      <p:cBhvr>
                                        <p:cTn id="145" dur="1" fill="hold">
                                          <p:stCondLst>
                                            <p:cond delay="0"/>
                                          </p:stCondLst>
                                        </p:cTn>
                                        <p:tgtEl>
                                          <p:spTgt spid="147503"/>
                                        </p:tgtEl>
                                        <p:attrNameLst>
                                          <p:attrName>style.visibility</p:attrName>
                                        </p:attrNameLst>
                                      </p:cBhvr>
                                      <p:to>
                                        <p:strVal val="visible"/>
                                      </p:to>
                                    </p:set>
                                    <p:animEffect transition="in" filter="blinds(horizontal)">
                                      <p:cBhvr>
                                        <p:cTn id="146" dur="500"/>
                                        <p:tgtEl>
                                          <p:spTgt spid="147503"/>
                                        </p:tgtEl>
                                      </p:cBhvr>
                                    </p:animEffect>
                                  </p:childTnLst>
                                </p:cTn>
                              </p:par>
                              <p:par>
                                <p:cTn id="147" presetID="3" presetClass="entr" presetSubtype="10" fill="hold" nodeType="withEffect">
                                  <p:stCondLst>
                                    <p:cond delay="0"/>
                                  </p:stCondLst>
                                  <p:childTnLst>
                                    <p:set>
                                      <p:cBhvr>
                                        <p:cTn id="148" dur="1" fill="hold">
                                          <p:stCondLst>
                                            <p:cond delay="0"/>
                                          </p:stCondLst>
                                        </p:cTn>
                                        <p:tgtEl>
                                          <p:spTgt spid="147504"/>
                                        </p:tgtEl>
                                        <p:attrNameLst>
                                          <p:attrName>style.visibility</p:attrName>
                                        </p:attrNameLst>
                                      </p:cBhvr>
                                      <p:to>
                                        <p:strVal val="visible"/>
                                      </p:to>
                                    </p:set>
                                    <p:animEffect transition="in" filter="blinds(horizontal)">
                                      <p:cBhvr>
                                        <p:cTn id="149" dur="500"/>
                                        <p:tgtEl>
                                          <p:spTgt spid="147504"/>
                                        </p:tgtEl>
                                      </p:cBhvr>
                                    </p:animEffect>
                                  </p:childTnLst>
                                </p:cTn>
                              </p:par>
                              <p:par>
                                <p:cTn id="150" presetID="3" presetClass="entr" presetSubtype="10" fill="hold" nodeType="withEffect">
                                  <p:stCondLst>
                                    <p:cond delay="0"/>
                                  </p:stCondLst>
                                  <p:childTnLst>
                                    <p:set>
                                      <p:cBhvr>
                                        <p:cTn id="151" dur="1" fill="hold">
                                          <p:stCondLst>
                                            <p:cond delay="0"/>
                                          </p:stCondLst>
                                        </p:cTn>
                                        <p:tgtEl>
                                          <p:spTgt spid="147505"/>
                                        </p:tgtEl>
                                        <p:attrNameLst>
                                          <p:attrName>style.visibility</p:attrName>
                                        </p:attrNameLst>
                                      </p:cBhvr>
                                      <p:to>
                                        <p:strVal val="visible"/>
                                      </p:to>
                                    </p:set>
                                    <p:animEffect transition="in" filter="blinds(horizontal)">
                                      <p:cBhvr>
                                        <p:cTn id="152" dur="500"/>
                                        <p:tgtEl>
                                          <p:spTgt spid="147505"/>
                                        </p:tgtEl>
                                      </p:cBhvr>
                                    </p:animEffect>
                                  </p:childTnLst>
                                </p:cTn>
                              </p:par>
                              <p:par>
                                <p:cTn id="153" presetID="3" presetClass="entr" presetSubtype="10" fill="hold" nodeType="withEffect">
                                  <p:stCondLst>
                                    <p:cond delay="0"/>
                                  </p:stCondLst>
                                  <p:childTnLst>
                                    <p:set>
                                      <p:cBhvr>
                                        <p:cTn id="154" dur="1" fill="hold">
                                          <p:stCondLst>
                                            <p:cond delay="0"/>
                                          </p:stCondLst>
                                        </p:cTn>
                                        <p:tgtEl>
                                          <p:spTgt spid="147506"/>
                                        </p:tgtEl>
                                        <p:attrNameLst>
                                          <p:attrName>style.visibility</p:attrName>
                                        </p:attrNameLst>
                                      </p:cBhvr>
                                      <p:to>
                                        <p:strVal val="visible"/>
                                      </p:to>
                                    </p:set>
                                    <p:animEffect transition="in" filter="blinds(horizontal)">
                                      <p:cBhvr>
                                        <p:cTn id="155" dur="500"/>
                                        <p:tgtEl>
                                          <p:spTgt spid="147506"/>
                                        </p:tgtEl>
                                      </p:cBhvr>
                                    </p:animEffect>
                                  </p:childTnLst>
                                </p:cTn>
                              </p:par>
                              <p:par>
                                <p:cTn id="156" presetID="3" presetClass="entr" presetSubtype="10" fill="hold" nodeType="withEffect">
                                  <p:stCondLst>
                                    <p:cond delay="0"/>
                                  </p:stCondLst>
                                  <p:childTnLst>
                                    <p:set>
                                      <p:cBhvr>
                                        <p:cTn id="157" dur="1" fill="hold">
                                          <p:stCondLst>
                                            <p:cond delay="0"/>
                                          </p:stCondLst>
                                        </p:cTn>
                                        <p:tgtEl>
                                          <p:spTgt spid="147507"/>
                                        </p:tgtEl>
                                        <p:attrNameLst>
                                          <p:attrName>style.visibility</p:attrName>
                                        </p:attrNameLst>
                                      </p:cBhvr>
                                      <p:to>
                                        <p:strVal val="visible"/>
                                      </p:to>
                                    </p:set>
                                    <p:animEffect transition="in" filter="blinds(horizontal)">
                                      <p:cBhvr>
                                        <p:cTn id="158" dur="500"/>
                                        <p:tgtEl>
                                          <p:spTgt spid="147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p:bldP spid="147459" grpId="0" animBg="1"/>
      <p:bldP spid="147460" grpId="0" animBg="1"/>
      <p:bldP spid="147461" grpId="0" animBg="1"/>
      <p:bldP spid="147462" grpId="0" animBg="1"/>
      <p:bldP spid="147463" grpId="0"/>
      <p:bldP spid="147464" grpId="0"/>
      <p:bldP spid="147465" grpId="0"/>
      <p:bldP spid="147466" grpId="0"/>
      <p:bldP spid="147467" grpId="0"/>
      <p:bldP spid="147468" grpId="0"/>
      <p:bldP spid="147469" grpId="0"/>
      <p:bldP spid="147470" grpId="0"/>
      <p:bldP spid="147471" grpId="0"/>
      <p:bldP spid="147472" grpId="0"/>
      <p:bldP spid="147473" grpId="0"/>
      <p:bldP spid="147474" grpId="0"/>
      <p:bldP spid="147475" grpId="0"/>
      <p:bldP spid="147476" grpId="0"/>
      <p:bldP spid="147477" grpId="0"/>
      <p:bldP spid="147478" grpId="0"/>
      <p:bldP spid="147479" grpId="0"/>
      <p:bldP spid="147480" grpId="0"/>
      <p:bldP spid="147481" grpId="0"/>
      <p:bldP spid="147482" grpId="0"/>
      <p:bldP spid="147483" grpId="0"/>
      <p:bldP spid="147484" grpId="0"/>
      <p:bldP spid="147485" grpId="0"/>
      <p:bldP spid="147486" grpId="0"/>
      <p:bldP spid="147487" grpId="0"/>
      <p:bldP spid="14748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p:nvPr/>
        </p:nvSpPr>
        <p:spPr>
          <a:xfrm>
            <a:off x="0" y="152400"/>
            <a:ext cx="9144000" cy="2368550"/>
          </a:xfrm>
          <a:prstGeom prst="rect">
            <a:avLst/>
          </a:prstGeom>
          <a:noFill/>
          <a:ln w="9525">
            <a:noFill/>
          </a:ln>
        </p:spPr>
        <p:txBody>
          <a:bodyPr anchor="t" anchorCtr="0">
            <a:spAutoFit/>
          </a:bodyPr>
          <a:lstStyle/>
          <a:p>
            <a:pPr>
              <a:buClrTx/>
              <a:buFontTx/>
            </a:pPr>
            <a:r>
              <a:rPr lang="en-US" altLang="zh-CN" sz="2800" b="1" dirty="0">
                <a:latin typeface="Arial" panose="020B0604020202020204" pitchFamily="34" charset="0"/>
                <a:ea typeface="宋体" panose="02010600030101010101" pitchFamily="2" charset="-122"/>
              </a:rPr>
              <a:t>2</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SCSI</a:t>
            </a:r>
            <a:r>
              <a:rPr lang="zh-CN" altLang="en-US" sz="2800" b="1" dirty="0">
                <a:latin typeface="Arial" panose="020B0604020202020204" pitchFamily="34" charset="0"/>
                <a:ea typeface="宋体" panose="02010600030101010101" pitchFamily="2" charset="-122"/>
              </a:rPr>
              <a:t>总线</a:t>
            </a:r>
            <a:r>
              <a:rPr lang="en-US" altLang="zh-CN" sz="2800" b="1" dirty="0">
                <a:latin typeface="Arial" panose="020B0604020202020204" pitchFamily="34" charset="0"/>
                <a:ea typeface="宋体" panose="02010600030101010101" pitchFamily="2" charset="-122"/>
              </a:rPr>
              <a:t>(small computer system interface)</a:t>
            </a:r>
            <a:endParaRPr lang="en-US" altLang="zh-CN" sz="2800" dirty="0">
              <a:latin typeface="Arial" panose="020B0604020202020204" pitchFamily="34" charset="0"/>
              <a:ea typeface="宋体" panose="02010600030101010101" pitchFamily="2" charset="-122"/>
            </a:endParaRPr>
          </a:p>
          <a:p>
            <a:pPr>
              <a:buClrTx/>
              <a:buFontTx/>
            </a:pPr>
            <a:r>
              <a:rPr lang="en-US" altLang="zh-CN"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SCSI</a:t>
            </a:r>
            <a:r>
              <a:rPr lang="zh-CN" altLang="en-US" sz="2400" b="1" dirty="0">
                <a:latin typeface="Arial" panose="020B0604020202020204" pitchFamily="34" charset="0"/>
                <a:ea typeface="宋体" panose="02010600030101010101" pitchFamily="2" charset="-122"/>
              </a:rPr>
              <a:t>是小型计算机系统接口简称。</a:t>
            </a:r>
            <a:r>
              <a:rPr lang="en-US" altLang="zh-CN" sz="2400" b="1" dirty="0">
                <a:latin typeface="Arial" panose="020B0604020202020204" pitchFamily="34" charset="0"/>
                <a:ea typeface="宋体" panose="02010600030101010101" pitchFamily="2" charset="-122"/>
              </a:rPr>
              <a:t>SCSI</a:t>
            </a:r>
            <a:r>
              <a:rPr lang="zh-CN" altLang="en-US" sz="2400" b="1" dirty="0">
                <a:latin typeface="Arial" panose="020B0604020202020204" pitchFamily="34" charset="0"/>
                <a:ea typeface="宋体" panose="02010600030101010101" pitchFamily="2" charset="-122"/>
              </a:rPr>
              <a:t>接口是高速硬盘接口规范，采用</a:t>
            </a:r>
            <a:r>
              <a:rPr lang="en-US" altLang="zh-CN" sz="2400" b="1" dirty="0">
                <a:latin typeface="Arial" panose="020B0604020202020204" pitchFamily="34" charset="0"/>
                <a:ea typeface="宋体" panose="02010600030101010101" pitchFamily="2" charset="-122"/>
              </a:rPr>
              <a:t>8/16/32</a:t>
            </a:r>
            <a:r>
              <a:rPr lang="zh-CN" altLang="en-US" sz="2400" b="1" dirty="0">
                <a:latin typeface="Arial" panose="020B0604020202020204" pitchFamily="34" charset="0"/>
                <a:ea typeface="宋体" panose="02010600030101010101" pitchFamily="2" charset="-122"/>
              </a:rPr>
              <a:t>位并行总线，可用于硬盘、光盘、扫描仪、打印机、磁带机等多种外围设备的连接。</a:t>
            </a:r>
          </a:p>
          <a:p>
            <a:pPr>
              <a:buClrTx/>
              <a:buFontTx/>
            </a:pPr>
            <a:r>
              <a:rPr lang="zh-CN" altLang="en-US" sz="2400" b="1" dirty="0">
                <a:latin typeface="Arial" panose="020B0604020202020204" pitchFamily="34" charset="0"/>
                <a:ea typeface="宋体" panose="02010600030101010101" pitchFamily="2" charset="-122"/>
              </a:rPr>
              <a:t>      下图是一个有两个主适配器和多个外设的</a:t>
            </a:r>
            <a:r>
              <a:rPr lang="en-US" altLang="zh-CN" sz="2400" b="1" dirty="0">
                <a:latin typeface="Arial" panose="020B0604020202020204" pitchFamily="34" charset="0"/>
                <a:ea typeface="宋体" panose="02010600030101010101" pitchFamily="2" charset="-122"/>
              </a:rPr>
              <a:t>SCSI</a:t>
            </a:r>
            <a:r>
              <a:rPr lang="zh-CN" altLang="en-US" sz="2400" b="1" dirty="0">
                <a:latin typeface="Arial" panose="020B0604020202020204" pitchFamily="34" charset="0"/>
                <a:ea typeface="宋体" panose="02010600030101010101" pitchFamily="2" charset="-122"/>
              </a:rPr>
              <a:t>系统，主机与适配器通过系统总线联系。</a:t>
            </a:r>
          </a:p>
        </p:txBody>
      </p:sp>
      <p:graphicFrame>
        <p:nvGraphicFramePr>
          <p:cNvPr id="148484" name="Object 4"/>
          <p:cNvGraphicFramePr>
            <a:graphicFrameLocks noGrp="1" noChangeAspect="1"/>
          </p:cNvGraphicFramePr>
          <p:nvPr>
            <p:ph idx="4294967295"/>
          </p:nvPr>
        </p:nvGraphicFramePr>
        <p:xfrm>
          <a:off x="2819400" y="2057400"/>
          <a:ext cx="6324600" cy="4541838"/>
        </p:xfrm>
        <a:graphic>
          <a:graphicData uri="http://schemas.openxmlformats.org/presentationml/2006/ole">
            <mc:AlternateContent xmlns:mc="http://schemas.openxmlformats.org/markup-compatibility/2006">
              <mc:Choice xmlns:v="urn:schemas-microsoft-com:vml" Requires="v">
                <p:oleObj spid="_x0000_s3079" r:id="rId3" imgW="6457315" imgH="4639945" progId="Visio.Drawing.11">
                  <p:embed/>
                </p:oleObj>
              </mc:Choice>
              <mc:Fallback>
                <p:oleObj r:id="rId3" imgW="6457315" imgH="4639945" progId="Visio.Drawing.11">
                  <p:embed/>
                  <p:pic>
                    <p:nvPicPr>
                      <p:cNvPr id="0" name="图片 3075"/>
                      <p:cNvPicPr/>
                      <p:nvPr/>
                    </p:nvPicPr>
                    <p:blipFill>
                      <a:blip r:embed="rId4"/>
                      <a:stretch>
                        <a:fillRect/>
                      </a:stretch>
                    </p:blipFill>
                    <p:spPr>
                      <a:xfrm>
                        <a:off x="2819400" y="2057400"/>
                        <a:ext cx="6324600" cy="4541838"/>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8482">
                                            <p:txEl>
                                              <p:pRg st="0" end="0"/>
                                            </p:txEl>
                                          </p:spTgt>
                                        </p:tgtEl>
                                        <p:attrNameLst>
                                          <p:attrName>style.visibility</p:attrName>
                                        </p:attrNameLst>
                                      </p:cBhvr>
                                      <p:to>
                                        <p:strVal val="visible"/>
                                      </p:to>
                                    </p:set>
                                    <p:animEffect transition="in" filter="blinds(horizontal)">
                                      <p:cBhvr>
                                        <p:cTn id="7" dur="500"/>
                                        <p:tgtEl>
                                          <p:spTgt spid="148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8482">
                                            <p:txEl>
                                              <p:pRg st="1" end="1"/>
                                            </p:txEl>
                                          </p:spTgt>
                                        </p:tgtEl>
                                        <p:attrNameLst>
                                          <p:attrName>style.visibility</p:attrName>
                                        </p:attrNameLst>
                                      </p:cBhvr>
                                      <p:to>
                                        <p:strVal val="visible"/>
                                      </p:to>
                                    </p:set>
                                    <p:animEffect transition="in" filter="blinds(horizontal)">
                                      <p:cBhvr>
                                        <p:cTn id="12" dur="500"/>
                                        <p:tgtEl>
                                          <p:spTgt spid="1484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8482">
                                            <p:txEl>
                                              <p:pRg st="2" end="2"/>
                                            </p:txEl>
                                          </p:spTgt>
                                        </p:tgtEl>
                                        <p:attrNameLst>
                                          <p:attrName>style.visibility</p:attrName>
                                        </p:attrNameLst>
                                      </p:cBhvr>
                                      <p:to>
                                        <p:strVal val="visible"/>
                                      </p:to>
                                    </p:set>
                                    <p:animEffect transition="in" filter="blinds(horizontal)">
                                      <p:cBhvr>
                                        <p:cTn id="17" dur="500"/>
                                        <p:tgtEl>
                                          <p:spTgt spid="1484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8484"/>
                                        </p:tgtEl>
                                        <p:attrNameLst>
                                          <p:attrName>style.visibility</p:attrName>
                                        </p:attrNameLst>
                                      </p:cBhvr>
                                      <p:to>
                                        <p:strVal val="visible"/>
                                      </p:to>
                                    </p:set>
                                    <p:animEffect transition="in" filter="blinds(horizontal)">
                                      <p:cBhvr>
                                        <p:cTn id="22" dur="500"/>
                                        <p:tgtEl>
                                          <p:spTgt spid="148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p:nvPr/>
        </p:nvSpPr>
        <p:spPr>
          <a:xfrm>
            <a:off x="152400" y="304800"/>
            <a:ext cx="8763000" cy="6308725"/>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3</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ATA</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AT Attachment</a:t>
            </a:r>
            <a:r>
              <a:rPr lang="zh-CN" altLang="en-US" sz="3600" b="1" dirty="0">
                <a:latin typeface="Arial" panose="020B0604020202020204" pitchFamily="34" charset="0"/>
                <a:ea typeface="宋体" panose="02010600030101010101" pitchFamily="2" charset="-122"/>
              </a:rPr>
              <a:t>）</a:t>
            </a:r>
            <a:endParaRPr lang="zh-CN" altLang="en-US" sz="3600" dirty="0">
              <a:latin typeface="Arial" panose="020B0604020202020204" pitchFamily="34" charset="0"/>
              <a:ea typeface="宋体" panose="02010600030101010101" pitchFamily="2" charset="-122"/>
            </a:endParaRPr>
          </a:p>
          <a:p>
            <a:pPr>
              <a:buClrTx/>
              <a:buFontTx/>
            </a:pPr>
            <a:r>
              <a:rPr lang="zh-CN" altLang="en-US" sz="3200"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又称</a:t>
            </a:r>
            <a:r>
              <a:rPr lang="en-US" altLang="zh-CN" sz="2800" b="1" dirty="0">
                <a:latin typeface="Arial" panose="020B0604020202020204" pitchFamily="34" charset="0"/>
                <a:ea typeface="宋体" panose="02010600030101010101" pitchFamily="2" charset="-122"/>
              </a:rPr>
              <a:t>IDE</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Integrated Drive Electronics</a:t>
            </a:r>
            <a:r>
              <a:rPr lang="zh-CN" altLang="en-US" sz="2800" b="1" dirty="0">
                <a:latin typeface="Arial" panose="020B0604020202020204" pitchFamily="34" charset="0"/>
                <a:ea typeface="宋体" panose="02010600030101010101" pitchFamily="2" charset="-122"/>
              </a:rPr>
              <a:t>）。从</a:t>
            </a:r>
            <a:r>
              <a:rPr lang="en-US" altLang="zh-CN" sz="2800" b="1" dirty="0">
                <a:latin typeface="Arial" panose="020B0604020202020204" pitchFamily="34" charset="0"/>
                <a:ea typeface="宋体" panose="02010600030101010101" pitchFamily="2" charset="-122"/>
              </a:rPr>
              <a:t>1985</a:t>
            </a:r>
            <a:r>
              <a:rPr lang="zh-CN" altLang="en-US" sz="2800" b="1" dirty="0">
                <a:latin typeface="Arial" panose="020B0604020202020204" pitchFamily="34" charset="0"/>
                <a:ea typeface="宋体" panose="02010600030101010101" pitchFamily="2" charset="-122"/>
              </a:rPr>
              <a:t>年上市到</a:t>
            </a:r>
            <a:r>
              <a:rPr lang="en-US" altLang="zh-CN" sz="2800" b="1" dirty="0">
                <a:latin typeface="Arial" panose="020B0604020202020204" pitchFamily="34" charset="0"/>
                <a:ea typeface="宋体" panose="02010600030101010101" pitchFamily="2" charset="-122"/>
              </a:rPr>
              <a:t>1992</a:t>
            </a:r>
            <a:r>
              <a:rPr lang="zh-CN" altLang="en-US" sz="2800" b="1" dirty="0">
                <a:latin typeface="Arial" panose="020B0604020202020204" pitchFamily="34" charset="0"/>
                <a:ea typeface="宋体" panose="02010600030101010101" pitchFamily="2" charset="-122"/>
              </a:rPr>
              <a:t>年，它一直是纯硬盘驱动接口。为了与</a:t>
            </a:r>
            <a:r>
              <a:rPr lang="en-US" altLang="zh-CN" sz="2800" b="1" dirty="0">
                <a:latin typeface="Arial" panose="020B0604020202020204" pitchFamily="34" charset="0"/>
                <a:ea typeface="宋体" panose="02010600030101010101" pitchFamily="2" charset="-122"/>
              </a:rPr>
              <a:t>SCSI</a:t>
            </a:r>
            <a:r>
              <a:rPr lang="zh-CN" altLang="en-US" sz="2800" b="1" dirty="0">
                <a:latin typeface="Arial" panose="020B0604020202020204" pitchFamily="34" charset="0"/>
                <a:ea typeface="宋体" panose="02010600030101010101" pitchFamily="2" charset="-122"/>
              </a:rPr>
              <a:t>竞争，</a:t>
            </a:r>
            <a:r>
              <a:rPr lang="en-US" altLang="zh-CN" sz="2800" b="1" dirty="0">
                <a:latin typeface="Arial" panose="020B0604020202020204" pitchFamily="34" charset="0"/>
                <a:ea typeface="宋体" panose="02010600030101010101" pitchFamily="2" charset="-122"/>
              </a:rPr>
              <a:t>WD</a:t>
            </a:r>
            <a:r>
              <a:rPr lang="zh-CN" altLang="en-US" sz="2800" b="1" dirty="0">
                <a:latin typeface="Arial" panose="020B0604020202020204" pitchFamily="34" charset="0"/>
                <a:ea typeface="宋体" panose="02010600030101010101" pitchFamily="2" charset="-122"/>
              </a:rPr>
              <a:t>公司推出了增强型</a:t>
            </a:r>
            <a:r>
              <a:rPr lang="en-US" altLang="zh-CN" sz="2800" b="1" dirty="0">
                <a:latin typeface="Arial" panose="020B0604020202020204" pitchFamily="34" charset="0"/>
                <a:ea typeface="宋体" panose="02010600030101010101" pitchFamily="2" charset="-122"/>
              </a:rPr>
              <a:t>IDE</a:t>
            </a:r>
            <a:r>
              <a:rPr lang="zh-CN" altLang="en-US" sz="2800" b="1" dirty="0">
                <a:latin typeface="Arial" panose="020B0604020202020204" pitchFamily="34" charset="0"/>
                <a:ea typeface="宋体" panose="02010600030101010101" pitchFamily="2" charset="-122"/>
              </a:rPr>
              <a:t>标准</a:t>
            </a:r>
            <a:r>
              <a:rPr lang="en-US" altLang="zh-CN" sz="2800" b="1" dirty="0">
                <a:latin typeface="Arial" panose="020B0604020202020204" pitchFamily="34" charset="0"/>
                <a:ea typeface="宋体" panose="02010600030101010101" pitchFamily="2" charset="-122"/>
              </a:rPr>
              <a:t>EIDE</a:t>
            </a:r>
            <a:r>
              <a:rPr lang="zh-CN" altLang="en-US" sz="2800" b="1" dirty="0">
                <a:latin typeface="Arial" panose="020B0604020202020204" pitchFamily="34" charset="0"/>
                <a:ea typeface="宋体" panose="02010600030101010101" pitchFamily="2" charset="-122"/>
              </a:rPr>
              <a:t>，即</a:t>
            </a:r>
            <a:r>
              <a:rPr lang="en-US" altLang="zh-CN" sz="2800" b="1" dirty="0">
                <a:latin typeface="Arial" panose="020B0604020202020204" pitchFamily="34" charset="0"/>
                <a:ea typeface="宋体" panose="02010600030101010101" pitchFamily="2" charset="-122"/>
              </a:rPr>
              <a:t>ATA-2</a:t>
            </a:r>
            <a:r>
              <a:rPr lang="zh-CN" altLang="en-US" sz="2800" b="1" dirty="0">
                <a:latin typeface="Arial" panose="020B0604020202020204" pitchFamily="34" charset="0"/>
                <a:ea typeface="宋体" panose="02010600030101010101" pitchFamily="2" charset="-122"/>
              </a:rPr>
              <a:t>标准，</a:t>
            </a:r>
            <a:r>
              <a:rPr lang="en-US" altLang="zh-CN" sz="2800" b="1" dirty="0">
                <a:latin typeface="Arial" panose="020B0604020202020204" pitchFamily="34" charset="0"/>
                <a:ea typeface="宋体" panose="02010600030101010101" pitchFamily="2" charset="-122"/>
              </a:rPr>
              <a:t>ATA-2</a:t>
            </a:r>
            <a:r>
              <a:rPr lang="zh-CN" altLang="en-US" sz="2800" b="1" dirty="0">
                <a:latin typeface="Arial" panose="020B0604020202020204" pitchFamily="34" charset="0"/>
                <a:ea typeface="宋体" panose="02010600030101010101" pitchFamily="2" charset="-122"/>
              </a:rPr>
              <a:t>不仅可以连接硬盘，而且可以连接</a:t>
            </a:r>
            <a:r>
              <a:rPr lang="en-US" altLang="zh-CN" sz="2800" b="1" dirty="0">
                <a:latin typeface="Arial" panose="020B0604020202020204" pitchFamily="34" charset="0"/>
                <a:ea typeface="宋体" panose="02010600030101010101" pitchFamily="2" charset="-122"/>
              </a:rPr>
              <a:t>CD-ROM</a:t>
            </a:r>
            <a:r>
              <a:rPr lang="zh-CN" altLang="en-US" sz="2800" b="1" dirty="0">
                <a:latin typeface="Arial" panose="020B0604020202020204" pitchFamily="34" charset="0"/>
                <a:ea typeface="宋体" panose="02010600030101010101" pitchFamily="2" charset="-122"/>
              </a:rPr>
              <a:t>磁带机等存储设备，它允许接</a:t>
            </a:r>
            <a:r>
              <a:rPr lang="en-US" altLang="zh-CN" sz="2800" b="1" dirty="0">
                <a:latin typeface="Arial" panose="020B0604020202020204" pitchFamily="34" charset="0"/>
                <a:ea typeface="宋体" panose="02010600030101010101" pitchFamily="2" charset="-122"/>
              </a:rPr>
              <a:t>4</a:t>
            </a:r>
            <a:r>
              <a:rPr lang="zh-CN" altLang="en-US" sz="2800" b="1" dirty="0">
                <a:latin typeface="Arial" panose="020B0604020202020204" pitchFamily="34" charset="0"/>
                <a:ea typeface="宋体" panose="02010600030101010101" pitchFamily="2" charset="-122"/>
              </a:rPr>
              <a:t>台设备，支持大于</a:t>
            </a:r>
            <a:r>
              <a:rPr lang="en-US" altLang="zh-CN" sz="2800" b="1" dirty="0">
                <a:latin typeface="Arial" panose="020B0604020202020204" pitchFamily="34" charset="0"/>
                <a:ea typeface="宋体" panose="02010600030101010101" pitchFamily="2" charset="-122"/>
              </a:rPr>
              <a:t>528MB</a:t>
            </a:r>
            <a:r>
              <a:rPr lang="zh-CN" altLang="en-US" sz="2800" b="1" dirty="0">
                <a:latin typeface="Arial" panose="020B0604020202020204" pitchFamily="34" charset="0"/>
                <a:ea typeface="宋体" panose="02010600030101010101" pitchFamily="2" charset="-122"/>
              </a:rPr>
              <a:t>的硬盘容量。</a:t>
            </a:r>
          </a:p>
          <a:p>
            <a:pPr>
              <a:buClrTx/>
              <a:buFontTx/>
            </a:pPr>
            <a:r>
              <a:rPr lang="zh-CN" altLang="en-US" sz="2800" b="1" dirty="0">
                <a:latin typeface="Arial" panose="020B0604020202020204" pitchFamily="34"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2001</a:t>
            </a:r>
            <a:r>
              <a:rPr lang="zh-CN" altLang="en-US" sz="2800" b="1" dirty="0">
                <a:latin typeface="Arial" panose="020B0604020202020204" pitchFamily="34" charset="0"/>
                <a:ea typeface="宋体" panose="02010600030101010101" pitchFamily="2" charset="-122"/>
              </a:rPr>
              <a:t>年</a:t>
            </a:r>
            <a:r>
              <a:rPr lang="en-US" altLang="zh-CN" sz="2800" b="1" dirty="0">
                <a:latin typeface="Arial" panose="020B0604020202020204" pitchFamily="34" charset="0"/>
                <a:ea typeface="宋体" panose="02010600030101010101" pitchFamily="2" charset="-122"/>
              </a:rPr>
              <a:t>Intel</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IBM</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Dell</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APT</a:t>
            </a:r>
            <a:r>
              <a:rPr lang="zh-CN" altLang="en-US" sz="2800" b="1" dirty="0">
                <a:latin typeface="Arial" panose="020B0604020202020204" pitchFamily="34" charset="0"/>
                <a:ea typeface="宋体" panose="02010600030101010101" pitchFamily="2" charset="-122"/>
              </a:rPr>
              <a:t>、</a:t>
            </a:r>
            <a:r>
              <a:rPr lang="en-US" altLang="zh-CN" sz="2800" b="1" dirty="0">
                <a:latin typeface="Arial" panose="020B0604020202020204" pitchFamily="34" charset="0"/>
                <a:ea typeface="宋体" panose="02010600030101010101" pitchFamily="2" charset="-122"/>
              </a:rPr>
              <a:t>Maxtor</a:t>
            </a:r>
            <a:r>
              <a:rPr lang="zh-CN" altLang="en-US" sz="2800" b="1" dirty="0">
                <a:latin typeface="Arial" panose="020B0604020202020204" pitchFamily="34" charset="0"/>
                <a:ea typeface="宋体" panose="02010600030101010101" pitchFamily="2" charset="-122"/>
              </a:rPr>
              <a:t>和</a:t>
            </a:r>
            <a:r>
              <a:rPr lang="en-US" altLang="zh-CN" sz="2800" b="1" dirty="0">
                <a:latin typeface="Arial" panose="020B0604020202020204" pitchFamily="34" charset="0"/>
                <a:ea typeface="宋体" panose="02010600030101010101" pitchFamily="2" charset="-122"/>
              </a:rPr>
              <a:t>Seagate</a:t>
            </a:r>
            <a:r>
              <a:rPr lang="zh-CN" altLang="en-US" sz="2800" b="1" dirty="0">
                <a:latin typeface="Arial" panose="020B0604020202020204" pitchFamily="34" charset="0"/>
                <a:ea typeface="宋体" panose="02010600030101010101" pitchFamily="2" charset="-122"/>
              </a:rPr>
              <a:t>公司共同提出新的硬盘接口规范</a:t>
            </a:r>
            <a:r>
              <a:rPr lang="en-US" altLang="zh-CN" sz="2800" b="1" dirty="0">
                <a:latin typeface="Arial" panose="020B0604020202020204" pitchFamily="34" charset="0"/>
                <a:ea typeface="宋体" panose="02010600030101010101" pitchFamily="2" charset="-122"/>
              </a:rPr>
              <a:t>Serial ATA</a:t>
            </a:r>
            <a:r>
              <a:rPr lang="zh-CN" altLang="en-US" sz="2800" b="1" dirty="0">
                <a:latin typeface="Arial" panose="020B0604020202020204" pitchFamily="34" charset="0"/>
                <a:ea typeface="宋体" panose="02010600030101010101" pitchFamily="2" charset="-122"/>
              </a:rPr>
              <a:t>（即串行</a:t>
            </a:r>
            <a:r>
              <a:rPr lang="en-US" altLang="zh-CN" sz="2800" b="1" dirty="0">
                <a:latin typeface="Arial" panose="020B0604020202020204" pitchFamily="34" charset="0"/>
                <a:ea typeface="宋体" panose="02010600030101010101" pitchFamily="2" charset="-122"/>
              </a:rPr>
              <a:t>ATA</a:t>
            </a:r>
            <a:r>
              <a:rPr lang="zh-CN" altLang="en-US" sz="2800" b="1" dirty="0">
                <a:latin typeface="Arial" panose="020B0604020202020204" pitchFamily="34" charset="0"/>
                <a:ea typeface="宋体" panose="02010600030101010101" pitchFamily="2" charset="-122"/>
              </a:rPr>
              <a:t>），简称</a:t>
            </a:r>
            <a:r>
              <a:rPr lang="en-US" altLang="zh-CN" sz="2800" b="1" dirty="0">
                <a:latin typeface="Arial" panose="020B0604020202020204" pitchFamily="34" charset="0"/>
                <a:ea typeface="宋体" panose="02010600030101010101" pitchFamily="2" charset="-122"/>
              </a:rPr>
              <a:t>SATA</a:t>
            </a:r>
            <a:r>
              <a:rPr lang="zh-CN" altLang="en-US" sz="2800" b="1" dirty="0">
                <a:latin typeface="Arial" panose="020B0604020202020204" pitchFamily="34" charset="0"/>
                <a:ea typeface="宋体" panose="02010600030101010101" pitchFamily="2" charset="-122"/>
              </a:rPr>
              <a:t>，它以连续串行的方式传送资料，在同一时间点内只会有</a:t>
            </a:r>
            <a:r>
              <a:rPr lang="en-US" altLang="zh-CN" sz="2800" b="1" dirty="0">
                <a:latin typeface="Arial" panose="020B0604020202020204" pitchFamily="34" charset="0"/>
                <a:ea typeface="宋体" panose="02010600030101010101" pitchFamily="2" charset="-122"/>
              </a:rPr>
              <a:t>1</a:t>
            </a:r>
            <a:r>
              <a:rPr lang="zh-CN" altLang="en-US" sz="2800" b="1" dirty="0">
                <a:latin typeface="Arial" panose="020B0604020202020204" pitchFamily="34" charset="0"/>
                <a:ea typeface="宋体" panose="02010600030101010101" pitchFamily="2" charset="-122"/>
              </a:rPr>
              <a:t>位数据传输，此做法能减小接口的针脚数目，用四个针就完成了所有的工作（第</a:t>
            </a:r>
            <a:r>
              <a:rPr lang="en-US" altLang="zh-CN" sz="2800" b="1" dirty="0">
                <a:latin typeface="Arial" panose="020B0604020202020204" pitchFamily="34" charset="0"/>
                <a:ea typeface="宋体" panose="02010600030101010101" pitchFamily="2" charset="-122"/>
              </a:rPr>
              <a:t>1</a:t>
            </a:r>
            <a:r>
              <a:rPr lang="zh-CN" altLang="en-US" sz="2800" b="1" dirty="0">
                <a:latin typeface="Arial" panose="020B0604020202020204" pitchFamily="34" charset="0"/>
                <a:ea typeface="宋体" panose="02010600030101010101" pitchFamily="2" charset="-122"/>
              </a:rPr>
              <a:t>针发出、</a:t>
            </a:r>
            <a:r>
              <a:rPr lang="en-US" altLang="zh-CN" sz="2800" b="1" dirty="0">
                <a:latin typeface="Arial" panose="020B0604020202020204" pitchFamily="34" charset="0"/>
                <a:ea typeface="宋体" panose="02010600030101010101" pitchFamily="2" charset="-122"/>
              </a:rPr>
              <a:t>2</a:t>
            </a:r>
            <a:r>
              <a:rPr lang="zh-CN" altLang="en-US" sz="2800" b="1" dirty="0">
                <a:latin typeface="Arial" panose="020B0604020202020204" pitchFamily="34" charset="0"/>
                <a:ea typeface="宋体" panose="02010600030101010101" pitchFamily="2" charset="-122"/>
              </a:rPr>
              <a:t>针接收、</a:t>
            </a:r>
            <a:r>
              <a:rPr lang="en-US" altLang="zh-CN" sz="2800" b="1" dirty="0">
                <a:latin typeface="Arial" panose="020B0604020202020204" pitchFamily="34" charset="0"/>
                <a:ea typeface="宋体" panose="02010600030101010101" pitchFamily="2" charset="-122"/>
              </a:rPr>
              <a:t>3</a:t>
            </a:r>
            <a:r>
              <a:rPr lang="zh-CN" altLang="en-US" sz="2800" b="1" dirty="0">
                <a:latin typeface="Arial" panose="020B0604020202020204" pitchFamily="34" charset="0"/>
                <a:ea typeface="宋体" panose="02010600030101010101" pitchFamily="2" charset="-122"/>
              </a:rPr>
              <a:t>针供电、</a:t>
            </a:r>
            <a:r>
              <a:rPr lang="en-US" altLang="zh-CN" sz="2800" b="1" dirty="0">
                <a:latin typeface="Arial" panose="020B0604020202020204" pitchFamily="34" charset="0"/>
                <a:ea typeface="宋体" panose="02010600030101010101" pitchFamily="2" charset="-122"/>
              </a:rPr>
              <a:t>4</a:t>
            </a:r>
            <a:r>
              <a:rPr lang="zh-CN" altLang="en-US" sz="2800" b="1" dirty="0">
                <a:latin typeface="Arial" panose="020B0604020202020204" pitchFamily="34" charset="0"/>
                <a:ea typeface="宋体" panose="02010600030101010101" pitchFamily="2" charset="-122"/>
              </a:rPr>
              <a:t>针地线）。这样做法能降低电力消耗，减小发热量。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9506">
                                            <p:txEl>
                                              <p:pRg st="0" end="0"/>
                                            </p:txEl>
                                          </p:spTgt>
                                        </p:tgtEl>
                                        <p:attrNameLst>
                                          <p:attrName>style.visibility</p:attrName>
                                        </p:attrNameLst>
                                      </p:cBhvr>
                                      <p:to>
                                        <p:strVal val="visible"/>
                                      </p:to>
                                    </p:set>
                                    <p:animEffect transition="in" filter="blinds(horizontal)">
                                      <p:cBhvr>
                                        <p:cTn id="7" dur="500"/>
                                        <p:tgtEl>
                                          <p:spTgt spid="149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9506">
                                            <p:txEl>
                                              <p:pRg st="1" end="1"/>
                                            </p:txEl>
                                          </p:spTgt>
                                        </p:tgtEl>
                                        <p:attrNameLst>
                                          <p:attrName>style.visibility</p:attrName>
                                        </p:attrNameLst>
                                      </p:cBhvr>
                                      <p:to>
                                        <p:strVal val="visible"/>
                                      </p:to>
                                    </p:set>
                                    <p:animEffect transition="in" filter="blinds(horizontal)">
                                      <p:cBhvr>
                                        <p:cTn id="12" dur="500"/>
                                        <p:tgtEl>
                                          <p:spTgt spid="1495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9506">
                                            <p:txEl>
                                              <p:pRg st="2" end="2"/>
                                            </p:txEl>
                                          </p:spTgt>
                                        </p:tgtEl>
                                        <p:attrNameLst>
                                          <p:attrName>style.visibility</p:attrName>
                                        </p:attrNameLst>
                                      </p:cBhvr>
                                      <p:to>
                                        <p:strVal val="visible"/>
                                      </p:to>
                                    </p:set>
                                    <p:animEffect transition="in" filter="blinds(horizontal)">
                                      <p:cBhvr>
                                        <p:cTn id="17" dur="500"/>
                                        <p:tgtEl>
                                          <p:spTgt spid="1495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p:nvPr/>
        </p:nvSpPr>
        <p:spPr>
          <a:xfrm>
            <a:off x="228600" y="304800"/>
            <a:ext cx="8763000" cy="5568950"/>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4</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IEEE488</a:t>
            </a:r>
            <a:endParaRPr lang="en-US" altLang="zh-CN" sz="3600" dirty="0">
              <a:latin typeface="Arial" panose="020B0604020202020204" pitchFamily="34" charset="0"/>
              <a:ea typeface="宋体" panose="02010600030101010101" pitchFamily="2" charset="-122"/>
            </a:endParaRPr>
          </a:p>
          <a:p>
            <a:pPr>
              <a:buClrTx/>
              <a:buFontTx/>
            </a:pPr>
            <a:r>
              <a:rPr lang="en-US" altLang="zh-CN" sz="3200" dirty="0">
                <a:latin typeface="Arial" panose="020B0604020202020204" pitchFamily="34" charset="0"/>
                <a:ea typeface="宋体" panose="02010600030101010101" pitchFamily="2" charset="-122"/>
              </a:rPr>
              <a:t>       </a:t>
            </a:r>
            <a:r>
              <a:rPr lang="zh-CN" altLang="en-US" sz="3200" b="1" dirty="0">
                <a:latin typeface="Arial" panose="020B0604020202020204" pitchFamily="34" charset="0"/>
                <a:ea typeface="宋体" panose="02010600030101010101" pitchFamily="2" charset="-122"/>
              </a:rPr>
              <a:t>是</a:t>
            </a:r>
            <a:r>
              <a:rPr lang="en-US" altLang="zh-CN" sz="3200" b="1" dirty="0">
                <a:latin typeface="Arial" panose="020B0604020202020204" pitchFamily="34" charset="0"/>
                <a:ea typeface="宋体" panose="02010600030101010101" pitchFamily="2" charset="-122"/>
              </a:rPr>
              <a:t>HP</a:t>
            </a:r>
            <a:r>
              <a:rPr lang="zh-CN" altLang="en-US" sz="3200" b="1" dirty="0">
                <a:latin typeface="Arial" panose="020B0604020202020204" pitchFamily="34" charset="0"/>
                <a:ea typeface="宋体" panose="02010600030101010101" pitchFamily="2" charset="-122"/>
              </a:rPr>
              <a:t>公司在</a:t>
            </a:r>
            <a:r>
              <a:rPr lang="en-US" altLang="zh-CN" sz="3200" b="1" dirty="0">
                <a:latin typeface="Arial" panose="020B0604020202020204" pitchFamily="34" charset="0"/>
                <a:ea typeface="宋体" panose="02010600030101010101" pitchFamily="2" charset="-122"/>
              </a:rPr>
              <a:t>20</a:t>
            </a:r>
            <a:r>
              <a:rPr lang="zh-CN" altLang="en-US" sz="3200" b="1" dirty="0">
                <a:latin typeface="Arial" panose="020B0604020202020204" pitchFamily="34" charset="0"/>
                <a:ea typeface="宋体" panose="02010600030101010101" pitchFamily="2" charset="-122"/>
              </a:rPr>
              <a:t>世纪</a:t>
            </a:r>
            <a:r>
              <a:rPr lang="en-US" altLang="zh-CN" sz="3200" b="1" dirty="0">
                <a:latin typeface="Arial" panose="020B0604020202020204" pitchFamily="34" charset="0"/>
                <a:ea typeface="宋体" panose="02010600030101010101" pitchFamily="2" charset="-122"/>
              </a:rPr>
              <a:t>70</a:t>
            </a:r>
            <a:r>
              <a:rPr lang="zh-CN" altLang="en-US" sz="3200" b="1" dirty="0">
                <a:latin typeface="Arial" panose="020B0604020202020204" pitchFamily="34" charset="0"/>
                <a:ea typeface="宋体" panose="02010600030101010101" pitchFamily="2" charset="-122"/>
              </a:rPr>
              <a:t>年代为解决各种仪器仪表与各类计算机接口互不兼容的问题而研制的通用接口总线</a:t>
            </a:r>
            <a:r>
              <a:rPr lang="en-US" altLang="zh-CN" sz="3200" b="1" dirty="0">
                <a:latin typeface="Arial" panose="020B0604020202020204" pitchFamily="34" charset="0"/>
                <a:ea typeface="宋体" panose="02010600030101010101" pitchFamily="2" charset="-122"/>
              </a:rPr>
              <a:t>HP-IB</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1975</a:t>
            </a:r>
            <a:r>
              <a:rPr lang="zh-CN" altLang="en-US" sz="3200" b="1" dirty="0">
                <a:latin typeface="Arial" panose="020B0604020202020204" pitchFamily="34" charset="0"/>
                <a:ea typeface="宋体" panose="02010600030101010101" pitchFamily="2" charset="-122"/>
              </a:rPr>
              <a:t>年</a:t>
            </a:r>
            <a:r>
              <a:rPr lang="en-US" altLang="zh-CN" sz="3200" b="1" dirty="0">
                <a:latin typeface="Arial" panose="020B0604020202020204" pitchFamily="34" charset="0"/>
                <a:ea typeface="宋体" panose="02010600030101010101" pitchFamily="2" charset="-122"/>
              </a:rPr>
              <a:t>IEEE</a:t>
            </a:r>
            <a:r>
              <a:rPr lang="zh-CN" altLang="en-US" sz="3200" b="1" dirty="0">
                <a:latin typeface="Arial" panose="020B0604020202020204" pitchFamily="34" charset="0"/>
                <a:ea typeface="宋体" panose="02010600030101010101" pitchFamily="2" charset="-122"/>
              </a:rPr>
              <a:t>委员会以</a:t>
            </a:r>
            <a:r>
              <a:rPr lang="en-US" altLang="zh-CN" sz="3200" b="1" dirty="0">
                <a:latin typeface="Arial" panose="020B0604020202020204" pitchFamily="34" charset="0"/>
                <a:ea typeface="宋体" panose="02010600030101010101" pitchFamily="2" charset="-122"/>
              </a:rPr>
              <a:t>IEEE488</a:t>
            </a:r>
            <a:r>
              <a:rPr lang="zh-CN" altLang="en-US" sz="3200" b="1" dirty="0">
                <a:latin typeface="Arial" panose="020B0604020202020204" pitchFamily="34" charset="0"/>
                <a:ea typeface="宋体" panose="02010600030101010101" pitchFamily="2" charset="-122"/>
              </a:rPr>
              <a:t>标准予以推荐。</a:t>
            </a:r>
          </a:p>
          <a:p>
            <a:pPr>
              <a:buClrTx/>
              <a:buFontTx/>
            </a:pPr>
            <a:r>
              <a:rPr lang="zh-CN" altLang="en-US" sz="3200" b="1" dirty="0">
                <a:latin typeface="Arial" panose="020B0604020202020204" pitchFamily="34" charset="0"/>
                <a:ea typeface="宋体" panose="02010600030101010101" pitchFamily="2" charset="-122"/>
              </a:rPr>
              <a:t>       </a:t>
            </a:r>
            <a:r>
              <a:rPr lang="en-US" altLang="zh-CN" sz="3200" b="1" dirty="0">
                <a:latin typeface="Arial" panose="020B0604020202020204" pitchFamily="34" charset="0"/>
                <a:ea typeface="宋体" panose="02010600030101010101" pitchFamily="2" charset="-122"/>
              </a:rPr>
              <a:t>IEEE488</a:t>
            </a:r>
            <a:r>
              <a:rPr lang="zh-CN" altLang="en-US" sz="3200" b="1" dirty="0">
                <a:latin typeface="Arial" panose="020B0604020202020204" pitchFamily="34" charset="0"/>
                <a:ea typeface="宋体" panose="02010600030101010101" pitchFamily="2" charset="-122"/>
              </a:rPr>
              <a:t>总线包括</a:t>
            </a:r>
            <a:r>
              <a:rPr lang="en-US" altLang="zh-CN" sz="3200" b="1" dirty="0">
                <a:latin typeface="Arial" panose="020B0604020202020204" pitchFamily="34" charset="0"/>
                <a:ea typeface="宋体" panose="02010600030101010101" pitchFamily="2" charset="-122"/>
              </a:rPr>
              <a:t>8</a:t>
            </a:r>
            <a:r>
              <a:rPr lang="zh-CN" altLang="en-US" sz="3200" b="1" dirty="0">
                <a:latin typeface="Arial" panose="020B0604020202020204" pitchFamily="34" charset="0"/>
                <a:ea typeface="宋体" panose="02010600030101010101" pitchFamily="2" charset="-122"/>
              </a:rPr>
              <a:t>条双向数据线，</a:t>
            </a:r>
            <a:r>
              <a:rPr lang="en-US" altLang="zh-CN" sz="3200" b="1" dirty="0">
                <a:latin typeface="Arial" panose="020B0604020202020204" pitchFamily="34" charset="0"/>
                <a:ea typeface="宋体" panose="02010600030101010101" pitchFamily="2" charset="-122"/>
              </a:rPr>
              <a:t>3</a:t>
            </a:r>
            <a:r>
              <a:rPr lang="zh-CN" altLang="en-US" sz="3200" b="1" dirty="0">
                <a:latin typeface="Arial" panose="020B0604020202020204" pitchFamily="34" charset="0"/>
                <a:ea typeface="宋体" panose="02010600030101010101" pitchFamily="2" charset="-122"/>
              </a:rPr>
              <a:t>条字节传送控制线和</a:t>
            </a:r>
            <a:r>
              <a:rPr lang="en-US" altLang="zh-CN" sz="3200" b="1" dirty="0">
                <a:latin typeface="Arial" panose="020B0604020202020204" pitchFamily="34" charset="0"/>
                <a:ea typeface="宋体" panose="02010600030101010101" pitchFamily="2" charset="-122"/>
              </a:rPr>
              <a:t>5</a:t>
            </a:r>
            <a:r>
              <a:rPr lang="zh-CN" altLang="en-US" sz="3200" b="1" dirty="0">
                <a:latin typeface="Arial" panose="020B0604020202020204" pitchFamily="34" charset="0"/>
                <a:ea typeface="宋体" panose="02010600030101010101" pitchFamily="2" charset="-122"/>
              </a:rPr>
              <a:t>条通用控制线，它可以将计算机，电压表，电源，频率发生器等装置通过一条</a:t>
            </a:r>
            <a:r>
              <a:rPr lang="en-US" altLang="zh-CN" sz="3200" b="1" dirty="0">
                <a:latin typeface="Arial" panose="020B0604020202020204" pitchFamily="34" charset="0"/>
                <a:ea typeface="宋体" panose="02010600030101010101" pitchFamily="2" charset="-122"/>
              </a:rPr>
              <a:t>488</a:t>
            </a:r>
            <a:r>
              <a:rPr lang="zh-CN" altLang="en-US" sz="3200" b="1" dirty="0">
                <a:latin typeface="Arial" panose="020B0604020202020204" pitchFamily="34" charset="0"/>
                <a:ea typeface="宋体" panose="02010600030101010101" pitchFamily="2" charset="-122"/>
              </a:rPr>
              <a:t>总线电缆连接起来。</a:t>
            </a:r>
            <a:r>
              <a:rPr lang="en-US" altLang="zh-CN" sz="3200" b="1" dirty="0">
                <a:latin typeface="Arial" panose="020B0604020202020204" pitchFamily="34" charset="0"/>
                <a:ea typeface="宋体" panose="02010600030101010101" pitchFamily="2" charset="-122"/>
              </a:rPr>
              <a:t>IEEE488</a:t>
            </a:r>
            <a:r>
              <a:rPr lang="zh-CN" altLang="en-US" sz="3200" b="1" dirty="0">
                <a:latin typeface="Arial" panose="020B0604020202020204" pitchFamily="34" charset="0"/>
                <a:ea typeface="宋体" panose="02010600030101010101" pitchFamily="2" charset="-122"/>
              </a:rPr>
              <a:t>系统以机架层叠式智能仪器为主要器件，可以以积木方式构成开放式系统。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0530">
                                            <p:txEl>
                                              <p:pRg st="0" end="0"/>
                                            </p:txEl>
                                          </p:spTgt>
                                        </p:tgtEl>
                                        <p:attrNameLst>
                                          <p:attrName>style.visibility</p:attrName>
                                        </p:attrNameLst>
                                      </p:cBhvr>
                                      <p:to>
                                        <p:strVal val="visible"/>
                                      </p:to>
                                    </p:set>
                                    <p:animEffect transition="in" filter="blinds(horizontal)">
                                      <p:cBhvr>
                                        <p:cTn id="7" dur="500"/>
                                        <p:tgtEl>
                                          <p:spTgt spid="150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0530">
                                            <p:txEl>
                                              <p:pRg st="1" end="1"/>
                                            </p:txEl>
                                          </p:spTgt>
                                        </p:tgtEl>
                                        <p:attrNameLst>
                                          <p:attrName>style.visibility</p:attrName>
                                        </p:attrNameLst>
                                      </p:cBhvr>
                                      <p:to>
                                        <p:strVal val="visible"/>
                                      </p:to>
                                    </p:set>
                                    <p:animEffect transition="in" filter="blinds(horizontal)">
                                      <p:cBhvr>
                                        <p:cTn id="12" dur="500"/>
                                        <p:tgtEl>
                                          <p:spTgt spid="150530">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50530">
                                            <p:txEl>
                                              <p:pRg st="2" end="2"/>
                                            </p:txEl>
                                          </p:spTgt>
                                        </p:tgtEl>
                                        <p:attrNameLst>
                                          <p:attrName>style.visibility</p:attrName>
                                        </p:attrNameLst>
                                      </p:cBhvr>
                                      <p:to>
                                        <p:strVal val="visible"/>
                                      </p:to>
                                    </p:set>
                                    <p:animEffect transition="in" filter="blinds(horizontal)">
                                      <p:cBhvr>
                                        <p:cTn id="15" dur="500"/>
                                        <p:tgtEl>
                                          <p:spTgt spid="1505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p:nvPr/>
        </p:nvSpPr>
        <p:spPr>
          <a:xfrm>
            <a:off x="152400" y="152400"/>
            <a:ext cx="8610600" cy="5568950"/>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5</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Centronics</a:t>
            </a:r>
            <a:r>
              <a:rPr lang="en-US" altLang="zh-CN" dirty="0">
                <a:latin typeface="Arial" panose="020B0604020202020204" pitchFamily="34" charset="0"/>
                <a:ea typeface="宋体" panose="02010600030101010101" pitchFamily="2" charset="-122"/>
              </a:rPr>
              <a:t>  </a:t>
            </a:r>
          </a:p>
          <a:p>
            <a:pPr>
              <a:buClrTx/>
              <a:buFontTx/>
            </a:pPr>
            <a:r>
              <a:rPr lang="en-US" altLang="zh-CN" sz="3200" dirty="0">
                <a:latin typeface="Arial" panose="020B0604020202020204" pitchFamily="34" charset="0"/>
                <a:ea typeface="宋体" panose="02010600030101010101" pitchFamily="2" charset="-122"/>
              </a:rPr>
              <a:t>       Centronics</a:t>
            </a:r>
            <a:r>
              <a:rPr lang="zh-CN" altLang="en-US" sz="3200" dirty="0">
                <a:latin typeface="Arial" panose="020B0604020202020204" pitchFamily="34" charset="0"/>
                <a:ea typeface="宋体" panose="02010600030101010101" pitchFamily="2" charset="-122"/>
              </a:rPr>
              <a:t>是一个打印机厂商的名字，也是一种较早推出的计算机与打印机和绘图仪进行连接的并行总线。该总线由</a:t>
            </a:r>
            <a:r>
              <a:rPr lang="en-US" altLang="zh-CN" sz="3200" dirty="0">
                <a:latin typeface="Arial" panose="020B0604020202020204" pitchFamily="34" charset="0"/>
                <a:ea typeface="宋体" panose="02010600030101010101" pitchFamily="2" charset="-122"/>
              </a:rPr>
              <a:t>36</a:t>
            </a:r>
            <a:r>
              <a:rPr lang="zh-CN" altLang="en-US" sz="3200" dirty="0">
                <a:latin typeface="Arial" panose="020B0604020202020204" pitchFamily="34" charset="0"/>
                <a:ea typeface="宋体" panose="02010600030101010101" pitchFamily="2" charset="-122"/>
              </a:rPr>
              <a:t>个信号线构成，采用扁平电缆或多芯电缆 进行</a:t>
            </a:r>
            <a:r>
              <a:rPr lang="en-US" altLang="zh-CN" sz="3200" dirty="0">
                <a:latin typeface="Arial" panose="020B0604020202020204" pitchFamily="34" charset="0"/>
                <a:ea typeface="宋体" panose="02010600030101010101" pitchFamily="2" charset="-122"/>
              </a:rPr>
              <a:t>8</a:t>
            </a:r>
            <a:r>
              <a:rPr lang="zh-CN" altLang="en-US" sz="3200" dirty="0">
                <a:latin typeface="Arial" panose="020B0604020202020204" pitchFamily="34" charset="0"/>
                <a:ea typeface="宋体" panose="02010600030101010101" pitchFamily="2" charset="-122"/>
              </a:rPr>
              <a:t>位数据传输，传输率为</a:t>
            </a:r>
            <a:r>
              <a:rPr lang="en-US" altLang="zh-CN" sz="3200" dirty="0">
                <a:latin typeface="Arial" panose="020B0604020202020204" pitchFamily="34" charset="0"/>
                <a:ea typeface="宋体" panose="02010600030101010101" pitchFamily="2" charset="-122"/>
              </a:rPr>
              <a:t>100KB/s</a:t>
            </a:r>
            <a:r>
              <a:rPr lang="zh-CN" altLang="en-US" sz="3200" dirty="0">
                <a:latin typeface="Arial" panose="020B0604020202020204" pitchFamily="34" charset="0"/>
                <a:ea typeface="宋体" panose="02010600030101010101" pitchFamily="2" charset="-122"/>
              </a:rPr>
              <a:t>，最大传送距离为</a:t>
            </a:r>
            <a:r>
              <a:rPr lang="en-US" altLang="zh-CN" sz="3200" dirty="0">
                <a:latin typeface="Arial" panose="020B0604020202020204" pitchFamily="34" charset="0"/>
                <a:ea typeface="宋体" panose="02010600030101010101" pitchFamily="2" charset="-122"/>
              </a:rPr>
              <a:t>2m</a:t>
            </a:r>
            <a:r>
              <a:rPr lang="zh-CN" altLang="en-US" sz="3200" dirty="0">
                <a:latin typeface="Arial" panose="020B0604020202020204" pitchFamily="34" charset="0"/>
                <a:ea typeface="宋体" panose="02010600030101010101" pitchFamily="2" charset="-122"/>
              </a:rPr>
              <a:t>。在用扁平电缆做传输线时，每两条传输线之间加一条地线，较好的克服了数据间的干扰。这种总线应用非常广泛，有多外设通过</a:t>
            </a:r>
            <a:r>
              <a:rPr lang="en-US" altLang="zh-CN" sz="3200" dirty="0">
                <a:latin typeface="Arial" panose="020B0604020202020204" pitchFamily="34" charset="0"/>
                <a:ea typeface="宋体" panose="02010600030101010101" pitchFamily="2" charset="-122"/>
              </a:rPr>
              <a:t>Centronics</a:t>
            </a:r>
            <a:r>
              <a:rPr lang="zh-CN" altLang="en-US" sz="3200" dirty="0">
                <a:latin typeface="Arial" panose="020B0604020202020204" pitchFamily="34" charset="0"/>
                <a:ea typeface="宋体" panose="02010600030101010101" pitchFamily="2" charset="-122"/>
              </a:rPr>
              <a:t>总线和计算机进行通信，例如：编程器、大容量软盘驱动器和刻录光驱等。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1554">
                                            <p:txEl>
                                              <p:pRg st="0" end="0"/>
                                            </p:txEl>
                                          </p:spTgt>
                                        </p:tgtEl>
                                        <p:attrNameLst>
                                          <p:attrName>style.visibility</p:attrName>
                                        </p:attrNameLst>
                                      </p:cBhvr>
                                      <p:to>
                                        <p:strVal val="visible"/>
                                      </p:to>
                                    </p:set>
                                    <p:animEffect transition="in" filter="blinds(horizontal)">
                                      <p:cBhvr>
                                        <p:cTn id="7" dur="500"/>
                                        <p:tgtEl>
                                          <p:spTgt spid="151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1554">
                                            <p:txEl>
                                              <p:pRg st="1" end="1"/>
                                            </p:txEl>
                                          </p:spTgt>
                                        </p:tgtEl>
                                        <p:attrNameLst>
                                          <p:attrName>style.visibility</p:attrName>
                                        </p:attrNameLst>
                                      </p:cBhvr>
                                      <p:to>
                                        <p:strVal val="visible"/>
                                      </p:to>
                                    </p:set>
                                    <p:animEffect transition="in" filter="blinds(horizontal)">
                                      <p:cBhvr>
                                        <p:cTn id="12" dur="500"/>
                                        <p:tgtEl>
                                          <p:spTgt spid="1515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p:nvPr/>
        </p:nvSpPr>
        <p:spPr>
          <a:xfrm>
            <a:off x="152400" y="304800"/>
            <a:ext cx="8686800" cy="4584700"/>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6</a:t>
            </a:r>
            <a:r>
              <a:rPr lang="zh-CN" altLang="en-US" sz="3600" b="1" dirty="0">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USB(UNIVERSAL SERIAL BUS )</a:t>
            </a:r>
            <a:r>
              <a:rPr lang="en-US" altLang="zh-CN" b="1"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a:p>
            <a:pPr>
              <a:buClrTx/>
              <a:buFontTx/>
            </a:pPr>
            <a:r>
              <a:rPr lang="en-US" altLang="zh-CN" sz="3200" dirty="0">
                <a:latin typeface="Arial" panose="020B0604020202020204" pitchFamily="34" charset="0"/>
                <a:ea typeface="宋体" panose="02010600030101010101" pitchFamily="2" charset="-122"/>
              </a:rPr>
              <a:t>      USB</a:t>
            </a:r>
            <a:r>
              <a:rPr lang="zh-CN" altLang="en-US" sz="3200" dirty="0">
                <a:latin typeface="Arial" panose="020B0604020202020204" pitchFamily="34" charset="0"/>
                <a:ea typeface="宋体" panose="02010600030101010101" pitchFamily="2" charset="-122"/>
              </a:rPr>
              <a:t>总线是</a:t>
            </a:r>
            <a:r>
              <a:rPr lang="en-US" altLang="zh-CN" sz="3200" dirty="0">
                <a:latin typeface="Arial" panose="020B0604020202020204" pitchFamily="34" charset="0"/>
                <a:ea typeface="宋体" panose="02010600030101010101" pitchFamily="2" charset="-122"/>
              </a:rPr>
              <a:t>1994</a:t>
            </a:r>
            <a:r>
              <a:rPr lang="zh-CN" altLang="en-US" sz="3200" dirty="0">
                <a:latin typeface="Arial" panose="020B0604020202020204" pitchFamily="34" charset="0"/>
                <a:ea typeface="宋体" panose="02010600030101010101" pitchFamily="2" charset="-122"/>
              </a:rPr>
              <a:t>年以</a:t>
            </a:r>
            <a:r>
              <a:rPr lang="en-US" altLang="zh-CN" sz="3200" dirty="0">
                <a:latin typeface="Arial" panose="020B0604020202020204" pitchFamily="34" charset="0"/>
                <a:ea typeface="宋体" panose="02010600030101010101" pitchFamily="2" charset="-122"/>
              </a:rPr>
              <a:t>Intel</a:t>
            </a:r>
            <a:r>
              <a:rPr lang="zh-CN" altLang="en-US" sz="3200" dirty="0">
                <a:latin typeface="Arial" panose="020B0604020202020204" pitchFamily="34" charset="0"/>
                <a:ea typeface="宋体" panose="02010600030101010101" pitchFamily="2" charset="-122"/>
              </a:rPr>
              <a:t>为首包括</a:t>
            </a:r>
            <a:r>
              <a:rPr lang="en-US" altLang="zh-CN" sz="3200" dirty="0">
                <a:latin typeface="Arial" panose="020B0604020202020204" pitchFamily="34" charset="0"/>
                <a:ea typeface="宋体" panose="02010600030101010101" pitchFamily="2" charset="-122"/>
              </a:rPr>
              <a:t>Compad</a:t>
            </a:r>
            <a:r>
              <a:rPr lang="zh-CN" altLang="en-US" sz="3200" dirty="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HP</a:t>
            </a:r>
            <a:r>
              <a:rPr lang="zh-CN" altLang="en-US" sz="3200" dirty="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Lucent</a:t>
            </a:r>
            <a:r>
              <a:rPr lang="zh-CN" altLang="en-US" sz="3200" dirty="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Microsoft</a:t>
            </a:r>
            <a:r>
              <a:rPr lang="zh-CN" altLang="en-US" sz="3200" dirty="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NEC</a:t>
            </a:r>
            <a:r>
              <a:rPr lang="zh-CN" altLang="en-US" sz="3200" dirty="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Philips7</a:t>
            </a:r>
            <a:r>
              <a:rPr lang="zh-CN" altLang="en-US" sz="3200" dirty="0">
                <a:latin typeface="Arial" panose="020B0604020202020204" pitchFamily="34" charset="0"/>
                <a:ea typeface="宋体" panose="02010600030101010101" pitchFamily="2" charset="-122"/>
              </a:rPr>
              <a:t>家公司联合发布的新一代通用串行总线。</a:t>
            </a:r>
            <a:r>
              <a:rPr lang="en-US" altLang="zh-CN" sz="3200" dirty="0">
                <a:latin typeface="Arial" panose="020B0604020202020204" pitchFamily="34" charset="0"/>
                <a:ea typeface="宋体" panose="02010600030101010101" pitchFamily="2" charset="-122"/>
              </a:rPr>
              <a:t>1996</a:t>
            </a:r>
            <a:r>
              <a:rPr lang="zh-CN" altLang="en-US" sz="3200" dirty="0">
                <a:latin typeface="Arial" panose="020B0604020202020204" pitchFamily="34" charset="0"/>
                <a:ea typeface="宋体" panose="02010600030101010101" pitchFamily="2" charset="-122"/>
              </a:rPr>
              <a:t>年推出了标准版本</a:t>
            </a:r>
            <a:r>
              <a:rPr lang="en-US" altLang="zh-CN" sz="3200" dirty="0">
                <a:latin typeface="Arial" panose="020B0604020202020204" pitchFamily="34" charset="0"/>
                <a:ea typeface="宋体" panose="02010600030101010101" pitchFamily="2" charset="-122"/>
              </a:rPr>
              <a:t>USB1.0</a:t>
            </a:r>
            <a:r>
              <a:rPr lang="zh-CN" altLang="en-US" sz="3200" dirty="0">
                <a:latin typeface="Arial" panose="020B0604020202020204" pitchFamily="34" charset="0"/>
                <a:ea typeface="宋体" panose="02010600030101010101" pitchFamily="2" charset="-122"/>
              </a:rPr>
              <a:t>， </a:t>
            </a:r>
            <a:r>
              <a:rPr lang="en-US" altLang="zh-CN" sz="3200" dirty="0">
                <a:latin typeface="Arial" panose="020B0604020202020204" pitchFamily="34" charset="0"/>
                <a:ea typeface="宋体" panose="02010600030101010101" pitchFamily="2" charset="-122"/>
              </a:rPr>
              <a:t>2000</a:t>
            </a:r>
            <a:r>
              <a:rPr lang="zh-CN" altLang="en-US" sz="3200" dirty="0">
                <a:latin typeface="Arial" panose="020B0604020202020204" pitchFamily="34" charset="0"/>
                <a:ea typeface="宋体" panose="02010600030101010101" pitchFamily="2" charset="-122"/>
              </a:rPr>
              <a:t>年又推出了标准版本</a:t>
            </a:r>
            <a:r>
              <a:rPr lang="en-US" altLang="zh-CN" sz="3200" dirty="0">
                <a:latin typeface="Arial" panose="020B0604020202020204" pitchFamily="34" charset="0"/>
                <a:ea typeface="宋体" panose="02010600030101010101" pitchFamily="2" charset="-122"/>
              </a:rPr>
              <a:t>USB2.0, 2008</a:t>
            </a:r>
            <a:r>
              <a:rPr lang="zh-CN" altLang="en-US" sz="3200" dirty="0">
                <a:latin typeface="Arial" panose="020B0604020202020204" pitchFamily="34" charset="0"/>
                <a:ea typeface="宋体" panose="02010600030101010101" pitchFamily="2" charset="-122"/>
              </a:rPr>
              <a:t>年发布了</a:t>
            </a:r>
            <a:r>
              <a:rPr lang="en-US" altLang="zh-CN" sz="3200" dirty="0">
                <a:latin typeface="Arial" panose="020B0604020202020204" pitchFamily="34" charset="0"/>
                <a:ea typeface="宋体" panose="02010600030101010101" pitchFamily="2" charset="-122"/>
              </a:rPr>
              <a:t>USB3.0</a:t>
            </a:r>
            <a:r>
              <a:rPr lang="zh-CN" altLang="en-US" sz="3200" dirty="0">
                <a:latin typeface="Arial" panose="020B0604020202020204" pitchFamily="34" charset="0"/>
                <a:ea typeface="宋体" panose="02010600030101010101" pitchFamily="2" charset="-122"/>
              </a:rPr>
              <a:t>标准，最大传输带宽高达</a:t>
            </a:r>
            <a:r>
              <a:rPr lang="en-US" altLang="zh-CN" sz="3200" dirty="0">
                <a:latin typeface="Arial" panose="020B0604020202020204" pitchFamily="34" charset="0"/>
                <a:ea typeface="宋体" panose="02010600030101010101" pitchFamily="2" charset="-122"/>
              </a:rPr>
              <a:t>625MB/s</a:t>
            </a:r>
            <a:r>
              <a:rPr lang="zh-CN" altLang="en-US" sz="3200" dirty="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USB</a:t>
            </a:r>
            <a:r>
              <a:rPr lang="zh-CN" altLang="en-US" sz="3200" dirty="0">
                <a:latin typeface="Arial" panose="020B0604020202020204" pitchFamily="34" charset="0"/>
                <a:ea typeface="宋体" panose="02010600030101010101" pitchFamily="2" charset="-122"/>
              </a:rPr>
              <a:t>有可能取代许多总线标准，成为微机与许多外设或系统进行连接的主要或唯一的途径。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2578">
                                            <p:txEl>
                                              <p:pRg st="0" end="0"/>
                                            </p:txEl>
                                          </p:spTgt>
                                        </p:tgtEl>
                                        <p:attrNameLst>
                                          <p:attrName>style.visibility</p:attrName>
                                        </p:attrNameLst>
                                      </p:cBhvr>
                                      <p:to>
                                        <p:strVal val="visible"/>
                                      </p:to>
                                    </p:set>
                                    <p:animEffect transition="in" filter="blinds(horizontal)">
                                      <p:cBhvr>
                                        <p:cTn id="7" dur="500"/>
                                        <p:tgtEl>
                                          <p:spTgt spid="1525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2578">
                                            <p:txEl>
                                              <p:pRg st="1" end="1"/>
                                            </p:txEl>
                                          </p:spTgt>
                                        </p:tgtEl>
                                        <p:attrNameLst>
                                          <p:attrName>style.visibility</p:attrName>
                                        </p:attrNameLst>
                                      </p:cBhvr>
                                      <p:to>
                                        <p:strVal val="visible"/>
                                      </p:to>
                                    </p:set>
                                    <p:animEffect transition="in" filter="blinds(horizontal)">
                                      <p:cBhvr>
                                        <p:cTn id="12" dur="500"/>
                                        <p:tgtEl>
                                          <p:spTgt spid="1525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p:nvPr/>
        </p:nvSpPr>
        <p:spPr>
          <a:xfrm>
            <a:off x="0" y="152400"/>
            <a:ext cx="9144000" cy="6492875"/>
          </a:xfrm>
          <a:prstGeom prst="rect">
            <a:avLst/>
          </a:prstGeom>
          <a:noFill/>
          <a:ln w="9525">
            <a:noFill/>
          </a:ln>
        </p:spPr>
        <p:txBody>
          <a:bodyPr anchor="t" anchorCtr="0">
            <a:spAutoFit/>
          </a:bodyPr>
          <a:lstStyle/>
          <a:p>
            <a:pPr>
              <a:buClrTx/>
              <a:buFontTx/>
            </a:pPr>
            <a:r>
              <a:rPr lang="en-US" altLang="zh-CN" sz="3200" b="1" dirty="0">
                <a:latin typeface="Arial" panose="020B0604020202020204" pitchFamily="34" charset="0"/>
                <a:ea typeface="宋体" panose="02010600030101010101" pitchFamily="2" charset="-122"/>
              </a:rPr>
              <a:t>USB</a:t>
            </a:r>
            <a:r>
              <a:rPr lang="zh-CN" altLang="en-US" sz="3200" b="1" dirty="0">
                <a:latin typeface="Arial" panose="020B0604020202020204" pitchFamily="34" charset="0"/>
                <a:ea typeface="宋体" panose="02010600030101010101" pitchFamily="2" charset="-122"/>
              </a:rPr>
              <a:t>的特点</a:t>
            </a:r>
            <a:r>
              <a:rPr lang="zh-CN" altLang="en-US" b="1"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USB</a:t>
            </a:r>
            <a:r>
              <a:rPr lang="zh-CN" altLang="en-US" sz="2400" dirty="0">
                <a:latin typeface="Arial" panose="020B0604020202020204" pitchFamily="34" charset="0"/>
                <a:ea typeface="宋体" panose="02010600030101010101" pitchFamily="2" charset="-122"/>
              </a:rPr>
              <a:t>是一种快速的、双向的、同步的、低成本的可动态加入的串行总线。它有许多优良的性能。</a:t>
            </a:r>
            <a:br>
              <a:rPr lang="zh-CN" altLang="en-US" sz="2400" dirty="0">
                <a:latin typeface="Arial" panose="020B0604020202020204" pitchFamily="34" charset="0"/>
                <a:ea typeface="宋体" panose="02010600030101010101" pitchFamily="2" charset="-122"/>
              </a:rPr>
            </a:br>
            <a:r>
              <a:rPr lang="zh-CN" altLang="en-US" sz="2400"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）提供热即插即用功能</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连接外设不必打开机箱，也不必关闭主机电源，能够自我识别外设，能自动在驱动器与配置间进行功能映射；可动态地加入与重新配显外设。</a:t>
            </a:r>
            <a:endParaRPr lang="zh-CN" altLang="en-US" sz="2400" b="1"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）适用范围很宽</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它适用于带宽从几</a:t>
            </a:r>
            <a:r>
              <a:rPr lang="en-US" altLang="zh-CN" sz="2400" dirty="0">
                <a:latin typeface="Arial" panose="020B0604020202020204" pitchFamily="34" charset="0"/>
                <a:ea typeface="宋体" panose="02010600030101010101" pitchFamily="2" charset="-122"/>
              </a:rPr>
              <a:t>Kb/s</a:t>
            </a:r>
            <a:r>
              <a:rPr lang="zh-CN" altLang="en-US" sz="2400" dirty="0">
                <a:latin typeface="Arial" panose="020B0604020202020204" pitchFamily="34" charset="0"/>
                <a:ea typeface="宋体" panose="02010600030101010101" pitchFamily="2" charset="-122"/>
              </a:rPr>
              <a:t>到几百</a:t>
            </a:r>
            <a:r>
              <a:rPr lang="en-US" altLang="zh-CN" sz="2400" dirty="0">
                <a:latin typeface="Arial" panose="020B0604020202020204" pitchFamily="34" charset="0"/>
                <a:ea typeface="宋体" panose="02010600030101010101" pitchFamily="2" charset="-122"/>
              </a:rPr>
              <a:t>Mb/s</a:t>
            </a:r>
            <a:r>
              <a:rPr lang="zh-CN" altLang="en-US" sz="2400" dirty="0">
                <a:latin typeface="Arial" panose="020B0604020202020204" pitchFamily="34" charset="0"/>
                <a:ea typeface="宋体" panose="02010600030101010101" pitchFamily="2" charset="-122"/>
              </a:rPr>
              <a:t>范围的设备，即可连接键盘、鼠标、摄像头、游戏设备、虚拟现实外设的低速设备，也可连接电话、声卡、麦克风、压缩视频这样的全速设备，还可以连接视频、存储器、图像这样的高速设备。</a:t>
            </a:r>
            <a:endParaRPr lang="zh-CN" altLang="en-US" sz="2400" b="1"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）总线利用率高</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支持同一束电缆上的同步以及异步传输，支持多设备的并行操作，支持最多</a:t>
            </a:r>
            <a:r>
              <a:rPr lang="en-US" altLang="zh-CN" sz="2400" dirty="0">
                <a:latin typeface="Arial" panose="020B0604020202020204" pitchFamily="34" charset="0"/>
                <a:ea typeface="宋体" panose="02010600030101010101" pitchFamily="2" charset="-122"/>
              </a:rPr>
              <a:t>127</a:t>
            </a:r>
            <a:r>
              <a:rPr lang="zh-CN" altLang="en-US" sz="2400" dirty="0">
                <a:latin typeface="Arial" panose="020B0604020202020204" pitchFamily="34" charset="0"/>
                <a:ea typeface="宋体" panose="02010600030101010101" pitchFamily="2" charset="-122"/>
              </a:rPr>
              <a:t>个物理设备，支持主机与设备间的多数据和消息流传输；允许接入复合设备。因为协议的额外开销较低，所以总线利用率很高。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02">
                                            <p:txEl>
                                              <p:pRg st="0" end="0"/>
                                            </p:txEl>
                                          </p:spTgt>
                                        </p:tgtEl>
                                        <p:attrNameLst>
                                          <p:attrName>style.visibility</p:attrName>
                                        </p:attrNameLst>
                                      </p:cBhvr>
                                      <p:to>
                                        <p:strVal val="visible"/>
                                      </p:to>
                                    </p:set>
                                    <p:animEffect transition="in" filter="blinds(horizontal)">
                                      <p:cBhvr>
                                        <p:cTn id="7" dur="500"/>
                                        <p:tgtEl>
                                          <p:spTgt spid="1536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02">
                                            <p:txEl>
                                              <p:pRg st="1" end="1"/>
                                            </p:txEl>
                                          </p:spTgt>
                                        </p:tgtEl>
                                        <p:attrNameLst>
                                          <p:attrName>style.visibility</p:attrName>
                                        </p:attrNameLst>
                                      </p:cBhvr>
                                      <p:to>
                                        <p:strVal val="visible"/>
                                      </p:to>
                                    </p:set>
                                    <p:animEffect transition="in" filter="blinds(horizontal)">
                                      <p:cBhvr>
                                        <p:cTn id="12" dur="500"/>
                                        <p:tgtEl>
                                          <p:spTgt spid="1536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02">
                                            <p:txEl>
                                              <p:pRg st="1" end="1"/>
                                            </p:txEl>
                                          </p:spTgt>
                                        </p:tgtEl>
                                        <p:attrNameLst>
                                          <p:attrName>style.visibility</p:attrName>
                                        </p:attrNameLst>
                                      </p:cBhvr>
                                      <p:to>
                                        <p:strVal val="visible"/>
                                      </p:to>
                                    </p:set>
                                    <p:animEffect transition="in" filter="blinds(horizontal)">
                                      <p:cBhvr>
                                        <p:cTn id="17" dur="500"/>
                                        <p:tgtEl>
                                          <p:spTgt spid="153602">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53602">
                                            <p:txEl>
                                              <p:pRg st="2" end="2"/>
                                            </p:txEl>
                                          </p:spTgt>
                                        </p:tgtEl>
                                        <p:attrNameLst>
                                          <p:attrName>style.visibility</p:attrName>
                                        </p:attrNameLst>
                                      </p:cBhvr>
                                      <p:to>
                                        <p:strVal val="visible"/>
                                      </p:to>
                                    </p:set>
                                    <p:animEffect transition="in" filter="blinds(horizontal)">
                                      <p:cBhvr>
                                        <p:cTn id="20" dur="500"/>
                                        <p:tgtEl>
                                          <p:spTgt spid="15360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53602">
                                            <p:txEl>
                                              <p:pRg st="3" end="3"/>
                                            </p:txEl>
                                          </p:spTgt>
                                        </p:tgtEl>
                                        <p:attrNameLst>
                                          <p:attrName>style.visibility</p:attrName>
                                        </p:attrNameLst>
                                      </p:cBhvr>
                                      <p:to>
                                        <p:strVal val="visible"/>
                                      </p:to>
                                    </p:set>
                                    <p:animEffect transition="in" filter="blinds(horizontal)">
                                      <p:cBhvr>
                                        <p:cTn id="25" dur="500"/>
                                        <p:tgtEl>
                                          <p:spTgt spid="153602">
                                            <p:txEl>
                                              <p:pRg st="3" end="3"/>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53602">
                                            <p:txEl>
                                              <p:pRg st="4" end="4"/>
                                            </p:txEl>
                                          </p:spTgt>
                                        </p:tgtEl>
                                        <p:attrNameLst>
                                          <p:attrName>style.visibility</p:attrName>
                                        </p:attrNameLst>
                                      </p:cBhvr>
                                      <p:to>
                                        <p:strVal val="visible"/>
                                      </p:to>
                                    </p:set>
                                    <p:animEffect transition="in" filter="blinds(horizontal)">
                                      <p:cBhvr>
                                        <p:cTn id="28" dur="500"/>
                                        <p:tgtEl>
                                          <p:spTgt spid="153602">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53602">
                                            <p:txEl>
                                              <p:pRg st="5" end="5"/>
                                            </p:txEl>
                                          </p:spTgt>
                                        </p:tgtEl>
                                        <p:attrNameLst>
                                          <p:attrName>style.visibility</p:attrName>
                                        </p:attrNameLst>
                                      </p:cBhvr>
                                      <p:to>
                                        <p:strVal val="visible"/>
                                      </p:to>
                                    </p:set>
                                    <p:animEffect transition="in" filter="blinds(horizontal)">
                                      <p:cBhvr>
                                        <p:cTn id="33" dur="500"/>
                                        <p:tgtEl>
                                          <p:spTgt spid="153602">
                                            <p:txEl>
                                              <p:pRg st="5" end="5"/>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53602">
                                            <p:txEl>
                                              <p:pRg st="6" end="6"/>
                                            </p:txEl>
                                          </p:spTgt>
                                        </p:tgtEl>
                                        <p:attrNameLst>
                                          <p:attrName>style.visibility</p:attrName>
                                        </p:attrNameLst>
                                      </p:cBhvr>
                                      <p:to>
                                        <p:strVal val="visible"/>
                                      </p:to>
                                    </p:set>
                                    <p:animEffect transition="in" filter="blinds(horizontal)">
                                      <p:cBhvr>
                                        <p:cTn id="36" dur="500"/>
                                        <p:tgtEl>
                                          <p:spTgt spid="1536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2"/>
          <p:cNvSpPr txBox="1"/>
          <p:nvPr/>
        </p:nvSpPr>
        <p:spPr>
          <a:xfrm>
            <a:off x="152400" y="533400"/>
            <a:ext cx="8991600" cy="5262563"/>
          </a:xfrm>
          <a:prstGeom prst="rect">
            <a:avLst/>
          </a:prstGeom>
          <a:noFill/>
          <a:ln w="9525">
            <a:noFill/>
          </a:ln>
        </p:spPr>
        <p:txBody>
          <a:bodyPr anchor="t" anchorCtr="0">
            <a:spAutoFit/>
          </a:bodyPr>
          <a:lstStyle/>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4</a:t>
            </a:r>
            <a:r>
              <a:rPr lang="zh-CN" altLang="en-US" sz="2400" b="1" dirty="0">
                <a:latin typeface="Arial" panose="020B0604020202020204" pitchFamily="34" charset="0"/>
                <a:ea typeface="宋体" panose="02010600030101010101" pitchFamily="2" charset="-122"/>
              </a:rPr>
              <a:t>）传输灵活</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它允许传送不同大小的包，并通过适配包的大小与等待时间来允许设备数据率有一定范围的变化；它在协议中建立了用于缓冲处理的流控制。</a:t>
            </a:r>
            <a:endParaRPr lang="zh-CN" altLang="en-US" sz="2400" b="1"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5</a:t>
            </a:r>
            <a:r>
              <a:rPr lang="zh-CN" altLang="en-US" sz="2400" b="1" dirty="0">
                <a:latin typeface="Arial" panose="020B0604020202020204" pitchFamily="34" charset="0"/>
                <a:ea typeface="宋体" panose="02010600030101010101" pitchFamily="2" charset="-122"/>
              </a:rPr>
              <a:t>）机制强壮</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它在协议中建立了错误处理</a:t>
            </a:r>
            <a:r>
              <a:rPr lang="en-US" altLang="zh-CN"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故障恢复机制；可在被用户察觉的时间内识别动态加入和退出的设备，并支持故障设备的识别。</a:t>
            </a:r>
            <a:endParaRPr lang="zh-CN" altLang="en-US" sz="2400" b="1"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6</a:t>
            </a:r>
            <a:r>
              <a:rPr lang="zh-CN" altLang="en-US" sz="2400" b="1" dirty="0">
                <a:latin typeface="Arial" panose="020B0604020202020204" pitchFamily="34" charset="0"/>
                <a:ea typeface="宋体" panose="02010600030101010101" pitchFamily="2" charset="-122"/>
              </a:rPr>
              <a:t>）提供了低成本的实现方案</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它对外设与主机硬件中的集成进行了优化；适应低成本外设的开发；提供低成本电缆和连接器使用商品技术；</a:t>
            </a:r>
            <a:r>
              <a:rPr lang="en-US" altLang="zh-CN" sz="2400" dirty="0">
                <a:latin typeface="Arial" panose="020B0604020202020204" pitchFamily="34" charset="0"/>
                <a:ea typeface="宋体" panose="02010600030101010101" pitchFamily="2" charset="-122"/>
              </a:rPr>
              <a:t>USB</a:t>
            </a:r>
            <a:r>
              <a:rPr lang="zh-CN" altLang="en-US" sz="2400" dirty="0">
                <a:latin typeface="Arial" panose="020B0604020202020204" pitchFamily="34" charset="0"/>
                <a:ea typeface="宋体" panose="02010600030101010101" pitchFamily="2" charset="-122"/>
              </a:rPr>
              <a:t>结构可以升级为在一个系统中支持多个</a:t>
            </a:r>
            <a:r>
              <a:rPr lang="en-US" altLang="zh-CN" sz="2400" dirty="0">
                <a:latin typeface="Arial" panose="020B0604020202020204" pitchFamily="34" charset="0"/>
                <a:ea typeface="宋体" panose="02010600030101010101" pitchFamily="2" charset="-122"/>
              </a:rPr>
              <a:t>USB</a:t>
            </a:r>
            <a:r>
              <a:rPr lang="zh-CN" altLang="en-US" sz="2400" dirty="0">
                <a:latin typeface="Arial" panose="020B0604020202020204" pitchFamily="34" charset="0"/>
                <a:ea typeface="宋体" panose="02010600030101010101" pitchFamily="2" charset="-122"/>
              </a:rPr>
              <a:t>主机控制器。</a:t>
            </a: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7</a:t>
            </a:r>
            <a:r>
              <a:rPr lang="zh-CN" altLang="en-US" sz="2400" b="1" dirty="0">
                <a:latin typeface="Arial" panose="020B0604020202020204" pitchFamily="34" charset="0"/>
                <a:ea typeface="宋体" panose="02010600030101010101" pitchFamily="2" charset="-122"/>
              </a:rPr>
              <a:t>）生命力强</a:t>
            </a:r>
          </a:p>
          <a:p>
            <a:pPr>
              <a:buClrTx/>
              <a:buFontTx/>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USB</a:t>
            </a:r>
            <a:r>
              <a:rPr lang="zh-CN" altLang="en-US" sz="2400" dirty="0">
                <a:latin typeface="Arial" panose="020B0604020202020204" pitchFamily="34" charset="0"/>
                <a:ea typeface="宋体" panose="02010600030101010101" pitchFamily="2" charset="-122"/>
              </a:rPr>
              <a:t>是一种开放性的不具有专利版权的工业标准，因此不存在版权问题，具有强大的生命力。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4626">
                                            <p:txEl>
                                              <p:pRg st="0" end="0"/>
                                            </p:txEl>
                                          </p:spTgt>
                                        </p:tgtEl>
                                        <p:attrNameLst>
                                          <p:attrName>style.visibility</p:attrName>
                                        </p:attrNameLst>
                                      </p:cBhvr>
                                      <p:to>
                                        <p:strVal val="visible"/>
                                      </p:to>
                                    </p:set>
                                    <p:animEffect transition="in" filter="blinds(horizontal)">
                                      <p:cBhvr>
                                        <p:cTn id="7" dur="500"/>
                                        <p:tgtEl>
                                          <p:spTgt spid="15462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4626">
                                            <p:txEl>
                                              <p:pRg st="1" end="1"/>
                                            </p:txEl>
                                          </p:spTgt>
                                        </p:tgtEl>
                                        <p:attrNameLst>
                                          <p:attrName>style.visibility</p:attrName>
                                        </p:attrNameLst>
                                      </p:cBhvr>
                                      <p:to>
                                        <p:strVal val="visible"/>
                                      </p:to>
                                    </p:set>
                                    <p:animEffect transition="in" filter="blinds(horizontal)">
                                      <p:cBhvr>
                                        <p:cTn id="10" dur="500"/>
                                        <p:tgtEl>
                                          <p:spTgt spid="15462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4626">
                                            <p:txEl>
                                              <p:pRg st="2" end="2"/>
                                            </p:txEl>
                                          </p:spTgt>
                                        </p:tgtEl>
                                        <p:attrNameLst>
                                          <p:attrName>style.visibility</p:attrName>
                                        </p:attrNameLst>
                                      </p:cBhvr>
                                      <p:to>
                                        <p:strVal val="visible"/>
                                      </p:to>
                                    </p:set>
                                    <p:animEffect transition="in" filter="blinds(horizontal)">
                                      <p:cBhvr>
                                        <p:cTn id="15" dur="500"/>
                                        <p:tgtEl>
                                          <p:spTgt spid="154626">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4626">
                                            <p:txEl>
                                              <p:pRg st="3" end="3"/>
                                            </p:txEl>
                                          </p:spTgt>
                                        </p:tgtEl>
                                        <p:attrNameLst>
                                          <p:attrName>style.visibility</p:attrName>
                                        </p:attrNameLst>
                                      </p:cBhvr>
                                      <p:to>
                                        <p:strVal val="visible"/>
                                      </p:to>
                                    </p:set>
                                    <p:animEffect transition="in" filter="blinds(horizontal)">
                                      <p:cBhvr>
                                        <p:cTn id="18" dur="500"/>
                                        <p:tgtEl>
                                          <p:spTgt spid="15462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54626">
                                            <p:txEl>
                                              <p:pRg st="4" end="4"/>
                                            </p:txEl>
                                          </p:spTgt>
                                        </p:tgtEl>
                                        <p:attrNameLst>
                                          <p:attrName>style.visibility</p:attrName>
                                        </p:attrNameLst>
                                      </p:cBhvr>
                                      <p:to>
                                        <p:strVal val="visible"/>
                                      </p:to>
                                    </p:set>
                                    <p:animEffect transition="in" filter="blinds(horizontal)">
                                      <p:cBhvr>
                                        <p:cTn id="23" dur="500"/>
                                        <p:tgtEl>
                                          <p:spTgt spid="154626">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54626">
                                            <p:txEl>
                                              <p:pRg st="5" end="5"/>
                                            </p:txEl>
                                          </p:spTgt>
                                        </p:tgtEl>
                                        <p:attrNameLst>
                                          <p:attrName>style.visibility</p:attrName>
                                        </p:attrNameLst>
                                      </p:cBhvr>
                                      <p:to>
                                        <p:strVal val="visible"/>
                                      </p:to>
                                    </p:set>
                                    <p:animEffect transition="in" filter="blinds(horizontal)">
                                      <p:cBhvr>
                                        <p:cTn id="26" dur="500"/>
                                        <p:tgtEl>
                                          <p:spTgt spid="15462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54626">
                                            <p:txEl>
                                              <p:pRg st="6" end="6"/>
                                            </p:txEl>
                                          </p:spTgt>
                                        </p:tgtEl>
                                        <p:attrNameLst>
                                          <p:attrName>style.visibility</p:attrName>
                                        </p:attrNameLst>
                                      </p:cBhvr>
                                      <p:to>
                                        <p:strVal val="visible"/>
                                      </p:to>
                                    </p:set>
                                    <p:animEffect transition="in" filter="blinds(horizontal)">
                                      <p:cBhvr>
                                        <p:cTn id="31" dur="500"/>
                                        <p:tgtEl>
                                          <p:spTgt spid="154626">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54626">
                                            <p:txEl>
                                              <p:pRg st="7" end="7"/>
                                            </p:txEl>
                                          </p:spTgt>
                                        </p:tgtEl>
                                        <p:attrNameLst>
                                          <p:attrName>style.visibility</p:attrName>
                                        </p:attrNameLst>
                                      </p:cBhvr>
                                      <p:to>
                                        <p:strVal val="visible"/>
                                      </p:to>
                                    </p:set>
                                    <p:animEffect transition="in" filter="blinds(horizontal)">
                                      <p:cBhvr>
                                        <p:cTn id="34" dur="500"/>
                                        <p:tgtEl>
                                          <p:spTgt spid="15462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2"/>
          <p:cNvSpPr txBox="1"/>
          <p:nvPr/>
        </p:nvSpPr>
        <p:spPr>
          <a:xfrm>
            <a:off x="0" y="152400"/>
            <a:ext cx="8763000" cy="3908425"/>
          </a:xfrm>
          <a:prstGeom prst="rect">
            <a:avLst/>
          </a:prstGeom>
          <a:noFill/>
          <a:ln w="9525">
            <a:noFill/>
          </a:ln>
        </p:spPr>
        <p:txBody>
          <a:bodyPr anchor="t" anchorCtr="0">
            <a:spAutoFit/>
          </a:bodyPr>
          <a:lstStyle/>
          <a:p>
            <a:pPr>
              <a:buClrTx/>
              <a:buFontTx/>
            </a:pPr>
            <a:r>
              <a:rPr lang="en-US" altLang="zh-CN" sz="3200" b="1" dirty="0">
                <a:latin typeface="Arial" panose="020B0604020202020204" pitchFamily="34" charset="0"/>
                <a:ea typeface="宋体" panose="02010600030101010101" pitchFamily="2" charset="-122"/>
              </a:rPr>
              <a:t>USB</a:t>
            </a:r>
            <a:r>
              <a:rPr lang="zh-CN" altLang="en-US" sz="3200" b="1" dirty="0">
                <a:latin typeface="Arial" panose="020B0604020202020204" pitchFamily="34" charset="0"/>
                <a:ea typeface="宋体" panose="02010600030101010101" pitchFamily="2" charset="-122"/>
              </a:rPr>
              <a:t>物理接口</a:t>
            </a:r>
            <a:endParaRPr lang="zh-CN" altLang="en-US" sz="32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USB</a:t>
            </a:r>
            <a:r>
              <a:rPr lang="zh-CN" altLang="en-US" sz="2400" dirty="0">
                <a:latin typeface="Arial" panose="020B0604020202020204" pitchFamily="34" charset="0"/>
                <a:ea typeface="宋体" panose="02010600030101010101" pitchFamily="2" charset="-122"/>
              </a:rPr>
              <a:t>定义了</a:t>
            </a:r>
            <a:r>
              <a:rPr lang="en-US" altLang="zh-CN" sz="2400" dirty="0">
                <a:latin typeface="Arial" panose="020B0604020202020204" pitchFamily="34" charset="0"/>
                <a:ea typeface="宋体" panose="02010600030101010101" pitchFamily="2" charset="-122"/>
              </a:rPr>
              <a:t>4</a:t>
            </a:r>
            <a:r>
              <a:rPr lang="zh-CN" altLang="en-US" sz="2400" dirty="0">
                <a:latin typeface="Arial" panose="020B0604020202020204" pitchFamily="34" charset="0"/>
                <a:ea typeface="宋体" panose="02010600030101010101" pitchFamily="2" charset="-122"/>
              </a:rPr>
              <a:t>个信号：</a:t>
            </a:r>
            <a:r>
              <a:rPr lang="en-US" altLang="zh-CN" sz="2400" dirty="0">
                <a:latin typeface="Arial" panose="020B0604020202020204" pitchFamily="34" charset="0"/>
                <a:ea typeface="宋体" panose="02010600030101010101" pitchFamily="2" charset="-122"/>
              </a:rPr>
              <a:t>Vbus</a:t>
            </a:r>
            <a:r>
              <a:rPr lang="zh-CN" altLang="en-US" sz="2400" dirty="0">
                <a:latin typeface="Arial" panose="020B0604020202020204" pitchFamily="34" charset="0"/>
                <a:ea typeface="宋体" panose="02010600030101010101" pitchFamily="2" charset="-122"/>
              </a:rPr>
              <a:t>（电源），</a:t>
            </a:r>
            <a:r>
              <a:rPr lang="en-US" altLang="zh-CN" sz="2400" dirty="0">
                <a:latin typeface="Arial" panose="020B0604020202020204" pitchFamily="34" charset="0"/>
                <a:ea typeface="宋体" panose="02010600030101010101" pitchFamily="2" charset="-122"/>
              </a:rPr>
              <a:t>GND</a:t>
            </a:r>
            <a:r>
              <a:rPr lang="zh-CN" altLang="en-US" sz="2400" dirty="0">
                <a:latin typeface="Arial" panose="020B0604020202020204" pitchFamily="34" charset="0"/>
                <a:ea typeface="宋体" panose="02010600030101010101" pitchFamily="2" charset="-122"/>
              </a:rPr>
              <a:t>（地），</a:t>
            </a:r>
            <a:r>
              <a:rPr lang="en-US" altLang="zh-CN" sz="2400" dirty="0">
                <a:latin typeface="Arial" panose="020B0604020202020204" pitchFamily="34" charset="0"/>
                <a:ea typeface="宋体" panose="02010600030101010101" pitchFamily="2" charset="-122"/>
              </a:rPr>
              <a:t>D+(</a:t>
            </a:r>
            <a:r>
              <a:rPr lang="zh-CN" altLang="en-US" sz="2400" dirty="0">
                <a:latin typeface="Arial" panose="020B0604020202020204" pitchFamily="34" charset="0"/>
                <a:ea typeface="宋体" panose="02010600030101010101" pitchFamily="2" charset="-122"/>
              </a:rPr>
              <a:t>信号正端</a:t>
            </a:r>
            <a:r>
              <a:rPr lang="en-US" altLang="zh-CN"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D-</a:t>
            </a:r>
            <a:r>
              <a:rPr lang="zh-CN" altLang="en-US" sz="2400" dirty="0">
                <a:latin typeface="Arial" panose="020B0604020202020204" pitchFamily="34" charset="0"/>
                <a:ea typeface="宋体" panose="02010600030101010101" pitchFamily="2" charset="-122"/>
              </a:rPr>
              <a:t>（信号负端）。它在一条</a:t>
            </a:r>
            <a:r>
              <a:rPr lang="en-US" altLang="zh-CN" sz="2400" dirty="0">
                <a:latin typeface="Arial" panose="020B0604020202020204" pitchFamily="34" charset="0"/>
                <a:ea typeface="宋体" panose="02010600030101010101" pitchFamily="2" charset="-122"/>
              </a:rPr>
              <a:t>4</a:t>
            </a:r>
            <a:r>
              <a:rPr lang="zh-CN" altLang="en-US" sz="2400" dirty="0">
                <a:latin typeface="Arial" panose="020B0604020202020204" pitchFamily="34" charset="0"/>
                <a:ea typeface="宋体" panose="02010600030101010101" pitchFamily="2" charset="-122"/>
              </a:rPr>
              <a:t>线电缆上传送信号和电源，如下图所示。其中一对标准规格的双绞信号线既可以传送单端信号，也可以传送差动信号；另一对电源线则可以为外设提供电源，最大电流</a:t>
            </a:r>
            <a:r>
              <a:rPr lang="en-US" altLang="zh-CN" sz="2400" dirty="0">
                <a:latin typeface="Arial" panose="020B0604020202020204" pitchFamily="34" charset="0"/>
                <a:ea typeface="宋体" panose="02010600030101010101" pitchFamily="2" charset="-122"/>
              </a:rPr>
              <a:t>0.5A</a:t>
            </a:r>
            <a:r>
              <a:rPr lang="zh-CN" altLang="en-US" sz="2400" dirty="0">
                <a:latin typeface="Arial" panose="020B0604020202020204" pitchFamily="34" charset="0"/>
                <a:ea typeface="宋体" panose="02010600030101010101" pitchFamily="2" charset="-122"/>
              </a:rPr>
              <a:t>。</a:t>
            </a:r>
          </a:p>
          <a:p>
            <a:pPr>
              <a:buClrTx/>
              <a:buFontTx/>
            </a:pP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Vbus</a:t>
            </a:r>
            <a:r>
              <a:rPr lang="zh-CN" altLang="en-US" sz="2400" dirty="0">
                <a:latin typeface="Arial" panose="020B0604020202020204" pitchFamily="34" charset="0"/>
                <a:ea typeface="宋体" panose="02010600030101010101" pitchFamily="2" charset="-122"/>
              </a:rPr>
              <a:t>在源端一般为</a:t>
            </a:r>
            <a:r>
              <a:rPr lang="en-US" altLang="zh-CN" sz="2400" dirty="0">
                <a:latin typeface="Arial" panose="020B0604020202020204" pitchFamily="34" charset="0"/>
                <a:ea typeface="宋体" panose="02010600030101010101" pitchFamily="2" charset="-122"/>
              </a:rPr>
              <a:t>+5V</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USB</a:t>
            </a:r>
            <a:r>
              <a:rPr lang="zh-CN" altLang="en-US" sz="2400" dirty="0">
                <a:latin typeface="Arial" panose="020B0604020202020204" pitchFamily="34" charset="0"/>
                <a:ea typeface="宋体" panose="02010600030101010101" pitchFamily="2" charset="-122"/>
              </a:rPr>
              <a:t>每段电缆线的长度是可变的，其长度可达到几米。所有的设备都有一个上游连接器。上游连接器和下游连接器在机械上是不可互换的，因此消除了</a:t>
            </a:r>
            <a:r>
              <a:rPr lang="en-US" altLang="zh-CN" sz="2400" dirty="0">
                <a:latin typeface="Arial" panose="020B0604020202020204" pitchFamily="34" charset="0"/>
                <a:ea typeface="宋体" panose="02010600030101010101" pitchFamily="2" charset="-122"/>
              </a:rPr>
              <a:t>Hub</a:t>
            </a:r>
            <a:r>
              <a:rPr lang="zh-CN" altLang="en-US" sz="2400" dirty="0">
                <a:latin typeface="Arial" panose="020B0604020202020204" pitchFamily="34" charset="0"/>
                <a:ea typeface="宋体" panose="02010600030101010101" pitchFamily="2" charset="-122"/>
              </a:rPr>
              <a:t>的非法环路连接。</a:t>
            </a:r>
          </a:p>
        </p:txBody>
      </p:sp>
      <p:pic>
        <p:nvPicPr>
          <p:cNvPr id="155651" name="Picture 3" descr="122"/>
          <p:cNvPicPr>
            <a:picLocks noChangeAspect="1"/>
          </p:cNvPicPr>
          <p:nvPr/>
        </p:nvPicPr>
        <p:blipFill>
          <a:blip r:embed="rId2"/>
          <a:srcRect l="5692" t="8740" r="4497" b="16377"/>
          <a:stretch>
            <a:fillRect/>
          </a:stretch>
        </p:blipFill>
        <p:spPr>
          <a:xfrm>
            <a:off x="1143000" y="4343400"/>
            <a:ext cx="6781800" cy="20447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5650"/>
                                        </p:tgtEl>
                                        <p:attrNameLst>
                                          <p:attrName>style.visibility</p:attrName>
                                        </p:attrNameLst>
                                      </p:cBhvr>
                                      <p:to>
                                        <p:strVal val="visible"/>
                                      </p:to>
                                    </p:set>
                                    <p:animEffect transition="in" filter="blinds(horizontal)">
                                      <p:cBhvr>
                                        <p:cTn id="7" dur="500"/>
                                        <p:tgtEl>
                                          <p:spTgt spid="1556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5651"/>
                                        </p:tgtEl>
                                        <p:attrNameLst>
                                          <p:attrName>style.visibility</p:attrName>
                                        </p:attrNameLst>
                                      </p:cBhvr>
                                      <p:to>
                                        <p:strVal val="visible"/>
                                      </p:to>
                                    </p:set>
                                    <p:animEffect transition="in" filter="blinds(horizontal)">
                                      <p:cBhvr>
                                        <p:cTn id="12" dur="500"/>
                                        <p:tgtEl>
                                          <p:spTgt spid="155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p:cNvSpPr txBox="1"/>
          <p:nvPr/>
        </p:nvSpPr>
        <p:spPr>
          <a:xfrm>
            <a:off x="304800" y="304800"/>
            <a:ext cx="8534400" cy="4860925"/>
          </a:xfrm>
          <a:prstGeom prst="rect">
            <a:avLst/>
          </a:prstGeom>
          <a:noFill/>
          <a:ln w="9525">
            <a:noFill/>
          </a:ln>
        </p:spPr>
        <p:txBody>
          <a:bodyPr anchor="t" anchorCtr="0">
            <a:spAutoFit/>
          </a:bodyPr>
          <a:lstStyle/>
          <a:p>
            <a:pPr>
              <a:buClrTx/>
              <a:buFontTx/>
            </a:pPr>
            <a:r>
              <a:rPr lang="en-US" altLang="zh-CN" sz="3600" b="1" dirty="0">
                <a:latin typeface="Arial" panose="020B0604020202020204" pitchFamily="34" charset="0"/>
                <a:ea typeface="宋体" panose="02010600030101010101" pitchFamily="2" charset="-122"/>
              </a:rPr>
              <a:t>USB</a:t>
            </a:r>
            <a:r>
              <a:rPr lang="zh-CN" altLang="en-US" sz="3600" b="1" dirty="0">
                <a:latin typeface="Arial" panose="020B0604020202020204" pitchFamily="34" charset="0"/>
                <a:ea typeface="宋体" panose="02010600030101010101" pitchFamily="2" charset="-122"/>
              </a:rPr>
              <a:t>总线支持以下三种数据速率传输：</a:t>
            </a:r>
          </a:p>
          <a:p>
            <a:pPr>
              <a:buClrTx/>
              <a:buFontTx/>
            </a:pPr>
            <a:r>
              <a:rPr lang="zh-CN" altLang="en-US" b="1"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a:p>
            <a:pPr>
              <a:buClrTx/>
              <a:buFontTx/>
            </a:pPr>
            <a:r>
              <a:rPr lang="zh-CN" altLang="en-US" dirty="0">
                <a:latin typeface="Arial" panose="020B0604020202020204" pitchFamily="34" charset="0"/>
                <a:ea typeface="宋体" panose="02010600030101010101" pitchFamily="2" charset="-122"/>
              </a:rPr>
              <a:t>   </a:t>
            </a:r>
            <a:r>
              <a:rPr lang="en-US" altLang="zh-CN" sz="3200" dirty="0">
                <a:latin typeface="Arial" panose="020B0604020202020204" pitchFamily="34" charset="0"/>
                <a:ea typeface="宋体" panose="02010600030101010101" pitchFamily="2" charset="-122"/>
              </a:rPr>
              <a:t>※USB</a:t>
            </a:r>
            <a:r>
              <a:rPr lang="zh-CN" altLang="en-US" sz="3200" dirty="0">
                <a:latin typeface="Arial" panose="020B0604020202020204" pitchFamily="34" charset="0"/>
                <a:ea typeface="宋体" panose="02010600030101010101" pitchFamily="2" charset="-122"/>
              </a:rPr>
              <a:t>高速</a:t>
            </a:r>
            <a:r>
              <a:rPr lang="en-US" altLang="zh-CN" sz="3200" dirty="0">
                <a:latin typeface="Arial" panose="020B0604020202020204" pitchFamily="34" charset="0"/>
                <a:ea typeface="宋体" panose="02010600030101010101" pitchFamily="2" charset="-122"/>
              </a:rPr>
              <a:t>(high-speed)</a:t>
            </a:r>
            <a:r>
              <a:rPr lang="zh-CN" altLang="en-US" sz="3200" dirty="0">
                <a:latin typeface="Arial" panose="020B0604020202020204" pitchFamily="34" charset="0"/>
                <a:ea typeface="宋体" panose="02010600030101010101" pitchFamily="2" charset="-122"/>
              </a:rPr>
              <a:t>信号传输位速率为</a:t>
            </a:r>
            <a:r>
              <a:rPr lang="en-US" altLang="zh-CN" sz="3200" dirty="0">
                <a:latin typeface="Arial" panose="020B0604020202020204" pitchFamily="34" charset="0"/>
                <a:ea typeface="宋体" panose="02010600030101010101" pitchFamily="2" charset="-122"/>
              </a:rPr>
              <a:t>480Mb/s</a:t>
            </a:r>
            <a:r>
              <a:rPr lang="zh-CN" altLang="en-US" sz="3200" dirty="0">
                <a:latin typeface="Arial" panose="020B0604020202020204" pitchFamily="34" charset="0"/>
                <a:ea typeface="宋体" panose="02010600030101010101" pitchFamily="2" charset="-122"/>
              </a:rPr>
              <a:t>；</a:t>
            </a:r>
          </a:p>
          <a:p>
            <a:pPr>
              <a:buClrTx/>
              <a:buFontTx/>
            </a:pPr>
            <a:r>
              <a:rPr lang="zh-CN" altLang="en-US" sz="3200" dirty="0">
                <a:latin typeface="Arial" panose="020B0604020202020204" pitchFamily="34" charset="0"/>
                <a:ea typeface="宋体" panose="02010600030101010101" pitchFamily="2" charset="-122"/>
              </a:rPr>
              <a:t> </a:t>
            </a:r>
            <a:br>
              <a:rPr lang="zh-CN" altLang="en-US" sz="3200" dirty="0">
                <a:latin typeface="Arial" panose="020B0604020202020204" pitchFamily="34" charset="0"/>
                <a:ea typeface="宋体" panose="02010600030101010101" pitchFamily="2" charset="-122"/>
              </a:rPr>
            </a:br>
            <a:r>
              <a:rPr lang="zh-CN" altLang="en-US" sz="3200" dirty="0">
                <a:latin typeface="Arial" panose="020B0604020202020204" pitchFamily="34" charset="0"/>
                <a:ea typeface="宋体" panose="02010600030101010101" pitchFamily="2" charset="-122"/>
              </a:rPr>
              <a:t>   </a:t>
            </a:r>
            <a:r>
              <a:rPr lang="en-US" altLang="zh-CN" sz="3200" dirty="0">
                <a:latin typeface="Arial" panose="020B0604020202020204" pitchFamily="34" charset="0"/>
                <a:ea typeface="宋体" panose="02010600030101010101" pitchFamily="2" charset="-122"/>
              </a:rPr>
              <a:t>※USB</a:t>
            </a:r>
            <a:r>
              <a:rPr lang="zh-CN" altLang="en-US" sz="3200" dirty="0">
                <a:latin typeface="Arial" panose="020B0604020202020204" pitchFamily="34" charset="0"/>
                <a:ea typeface="宋体" panose="02010600030101010101" pitchFamily="2" charset="-122"/>
              </a:rPr>
              <a:t>全速</a:t>
            </a:r>
            <a:r>
              <a:rPr lang="en-US" altLang="zh-CN" sz="3200" dirty="0">
                <a:latin typeface="Arial" panose="020B0604020202020204" pitchFamily="34" charset="0"/>
                <a:ea typeface="宋体" panose="02010600030101010101" pitchFamily="2" charset="-122"/>
              </a:rPr>
              <a:t>(full--speed)</a:t>
            </a:r>
            <a:r>
              <a:rPr lang="zh-CN" altLang="en-US" sz="3200" dirty="0">
                <a:latin typeface="Arial" panose="020B0604020202020204" pitchFamily="34" charset="0"/>
                <a:ea typeface="宋体" panose="02010600030101010101" pitchFamily="2" charset="-122"/>
              </a:rPr>
              <a:t>信号传输位速率为</a:t>
            </a:r>
            <a:r>
              <a:rPr lang="en-US" altLang="zh-CN" sz="3200" dirty="0">
                <a:latin typeface="Arial" panose="020B0604020202020204" pitchFamily="34" charset="0"/>
                <a:ea typeface="宋体" panose="02010600030101010101" pitchFamily="2" charset="-122"/>
              </a:rPr>
              <a:t>12Mbs</a:t>
            </a:r>
            <a:r>
              <a:rPr lang="zh-CN" altLang="en-US" sz="3200" dirty="0">
                <a:latin typeface="Arial" panose="020B0604020202020204" pitchFamily="34" charset="0"/>
                <a:ea typeface="宋体" panose="02010600030101010101" pitchFamily="2" charset="-122"/>
              </a:rPr>
              <a:t>；</a:t>
            </a:r>
          </a:p>
          <a:p>
            <a:pPr>
              <a:buClrTx/>
              <a:buFontTx/>
            </a:pPr>
            <a:r>
              <a:rPr lang="zh-CN" altLang="en-US" sz="3200" dirty="0">
                <a:latin typeface="Arial" panose="020B0604020202020204" pitchFamily="34" charset="0"/>
                <a:ea typeface="宋体" panose="02010600030101010101" pitchFamily="2" charset="-122"/>
              </a:rPr>
              <a:t> </a:t>
            </a:r>
            <a:br>
              <a:rPr lang="zh-CN" altLang="en-US" sz="3200" dirty="0">
                <a:latin typeface="Arial" panose="020B0604020202020204" pitchFamily="34" charset="0"/>
                <a:ea typeface="宋体" panose="02010600030101010101" pitchFamily="2" charset="-122"/>
              </a:rPr>
            </a:br>
            <a:r>
              <a:rPr lang="zh-CN" altLang="en-US" sz="3200" dirty="0">
                <a:latin typeface="Arial" panose="020B0604020202020204" pitchFamily="34" charset="0"/>
                <a:ea typeface="宋体" panose="02010600030101010101" pitchFamily="2" charset="-122"/>
              </a:rPr>
              <a:t>   </a:t>
            </a:r>
            <a:r>
              <a:rPr lang="en-US" altLang="zh-CN" sz="3200" dirty="0">
                <a:latin typeface="Arial" panose="020B0604020202020204" pitchFamily="34" charset="0"/>
                <a:ea typeface="宋体" panose="02010600030101010101" pitchFamily="2" charset="-122"/>
              </a:rPr>
              <a:t>※</a:t>
            </a:r>
            <a:r>
              <a:rPr lang="zh-CN" altLang="en-US" sz="3200" dirty="0">
                <a:latin typeface="Arial" panose="020B0604020202020204" pitchFamily="34" charset="0"/>
                <a:ea typeface="宋体" panose="02010600030101010101" pitchFamily="2" charset="-122"/>
              </a:rPr>
              <a:t>有限能力的低速</a:t>
            </a:r>
            <a:r>
              <a:rPr lang="en-US" altLang="zh-CN" sz="3200" dirty="0">
                <a:latin typeface="Arial" panose="020B0604020202020204" pitchFamily="34" charset="0"/>
                <a:ea typeface="宋体" panose="02010600030101010101" pitchFamily="2" charset="-122"/>
              </a:rPr>
              <a:t>(low-speed)</a:t>
            </a:r>
            <a:r>
              <a:rPr lang="zh-CN" altLang="en-US" sz="3200" dirty="0">
                <a:latin typeface="Arial" panose="020B0604020202020204" pitchFamily="34" charset="0"/>
                <a:ea typeface="宋体" panose="02010600030101010101" pitchFamily="2" charset="-122"/>
              </a:rPr>
              <a:t>信号传输模式位速率为</a:t>
            </a:r>
            <a:r>
              <a:rPr lang="en-US" altLang="zh-CN" sz="3200" dirty="0">
                <a:latin typeface="Arial" panose="020B0604020202020204" pitchFamily="34" charset="0"/>
                <a:ea typeface="宋体" panose="02010600030101010101" pitchFamily="2" charset="-122"/>
              </a:rPr>
              <a:t>1.5Mb/s</a:t>
            </a:r>
            <a:r>
              <a:rPr lang="zh-CN" altLang="en-US" sz="3200" dirty="0">
                <a:latin typeface="Arial" panose="020B0604020202020204" pitchFamily="34"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674">
                                            <p:txEl>
                                              <p:pRg st="0" end="0"/>
                                            </p:txEl>
                                          </p:spTgt>
                                        </p:tgtEl>
                                        <p:attrNameLst>
                                          <p:attrName>style.visibility</p:attrName>
                                        </p:attrNameLst>
                                      </p:cBhvr>
                                      <p:to>
                                        <p:strVal val="visible"/>
                                      </p:to>
                                    </p:set>
                                    <p:animEffect transition="in" filter="blinds(horizontal)">
                                      <p:cBhvr>
                                        <p:cTn id="7" dur="500"/>
                                        <p:tgtEl>
                                          <p:spTgt spid="15667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6674">
                                            <p:txEl>
                                              <p:pRg st="1" end="1"/>
                                            </p:txEl>
                                          </p:spTgt>
                                        </p:tgtEl>
                                        <p:attrNameLst>
                                          <p:attrName>style.visibility</p:attrName>
                                        </p:attrNameLst>
                                      </p:cBhvr>
                                      <p:to>
                                        <p:strVal val="visible"/>
                                      </p:to>
                                    </p:set>
                                    <p:animEffect transition="in" filter="blinds(horizontal)">
                                      <p:cBhvr>
                                        <p:cTn id="10" dur="500"/>
                                        <p:tgtEl>
                                          <p:spTgt spid="15667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6674">
                                            <p:txEl>
                                              <p:pRg st="2" end="2"/>
                                            </p:txEl>
                                          </p:spTgt>
                                        </p:tgtEl>
                                        <p:attrNameLst>
                                          <p:attrName>style.visibility</p:attrName>
                                        </p:attrNameLst>
                                      </p:cBhvr>
                                      <p:to>
                                        <p:strVal val="visible"/>
                                      </p:to>
                                    </p:set>
                                    <p:animEffect transition="in" filter="blinds(horizontal)">
                                      <p:cBhvr>
                                        <p:cTn id="15" dur="500"/>
                                        <p:tgtEl>
                                          <p:spTgt spid="15667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56674">
                                            <p:txEl>
                                              <p:pRg st="3" end="3"/>
                                            </p:txEl>
                                          </p:spTgt>
                                        </p:tgtEl>
                                        <p:attrNameLst>
                                          <p:attrName>style.visibility</p:attrName>
                                        </p:attrNameLst>
                                      </p:cBhvr>
                                      <p:to>
                                        <p:strVal val="visible"/>
                                      </p:to>
                                    </p:set>
                                    <p:animEffect transition="in" filter="blinds(horizontal)">
                                      <p:cBhvr>
                                        <p:cTn id="20" dur="500"/>
                                        <p:tgtEl>
                                          <p:spTgt spid="15667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56674">
                                            <p:txEl>
                                              <p:pRg st="4" end="4"/>
                                            </p:txEl>
                                          </p:spTgt>
                                        </p:tgtEl>
                                        <p:attrNameLst>
                                          <p:attrName>style.visibility</p:attrName>
                                        </p:attrNameLst>
                                      </p:cBhvr>
                                      <p:to>
                                        <p:strVal val="visible"/>
                                      </p:to>
                                    </p:set>
                                    <p:animEffect transition="in" filter="blinds(horizontal)">
                                      <p:cBhvr>
                                        <p:cTn id="25" dur="500"/>
                                        <p:tgtEl>
                                          <p:spTgt spid="1566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p:nvPr/>
        </p:nvSpPr>
        <p:spPr>
          <a:xfrm>
            <a:off x="228600" y="228600"/>
            <a:ext cx="8686800" cy="5384800"/>
          </a:xfrm>
          <a:prstGeom prst="rect">
            <a:avLst/>
          </a:prstGeom>
          <a:noFill/>
          <a:ln w="9525">
            <a:noFill/>
          </a:ln>
        </p:spPr>
        <p:txBody>
          <a:bodyPr anchor="t" anchorCtr="0">
            <a:spAutoFit/>
          </a:bodyPr>
          <a:lstStyle/>
          <a:p>
            <a:pPr>
              <a:buClrTx/>
              <a:buFontTx/>
            </a:pPr>
            <a:r>
              <a:rPr lang="en-US" altLang="zh-CN" sz="3200" b="1" dirty="0">
                <a:latin typeface="Arial" panose="020B0604020202020204" pitchFamily="34" charset="0"/>
                <a:ea typeface="宋体" panose="02010600030101010101" pitchFamily="2" charset="-122"/>
              </a:rPr>
              <a:t>7</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IEEE1394</a:t>
            </a:r>
            <a:r>
              <a:rPr lang="en-US" altLang="zh-CN" sz="3200" dirty="0">
                <a:latin typeface="Arial" panose="020B0604020202020204" pitchFamily="34" charset="0"/>
                <a:ea typeface="宋体" panose="02010600030101010101" pitchFamily="2" charset="-122"/>
              </a:rPr>
              <a:t>  </a:t>
            </a:r>
          </a:p>
          <a:p>
            <a:pPr>
              <a:buClrTx/>
              <a:buFontTx/>
            </a:pPr>
            <a:r>
              <a:rPr lang="en-US" altLang="zh-CN" sz="2400"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是</a:t>
            </a:r>
            <a:r>
              <a:rPr lang="en-US" altLang="zh-CN" sz="2400" b="1" dirty="0">
                <a:latin typeface="Arial" panose="020B0604020202020204" pitchFamily="34" charset="0"/>
                <a:ea typeface="宋体" panose="02010600030101010101" pitchFamily="2" charset="-122"/>
              </a:rPr>
              <a:t>IEEE</a:t>
            </a:r>
            <a:r>
              <a:rPr lang="zh-CN" altLang="en-US" sz="2400" b="1" dirty="0">
                <a:latin typeface="Arial" panose="020B0604020202020204" pitchFamily="34" charset="0"/>
                <a:ea typeface="宋体" panose="02010600030101010101" pitchFamily="2" charset="-122"/>
              </a:rPr>
              <a:t>在</a:t>
            </a:r>
            <a:r>
              <a:rPr lang="en-US" altLang="zh-CN" sz="2400" b="1" dirty="0">
                <a:latin typeface="Arial" panose="020B0604020202020204" pitchFamily="34" charset="0"/>
                <a:ea typeface="宋体" panose="02010600030101010101" pitchFamily="2" charset="-122"/>
              </a:rPr>
              <a:t>APPLE</a:t>
            </a:r>
            <a:r>
              <a:rPr lang="zh-CN" altLang="en-US" sz="2400" b="1" dirty="0">
                <a:latin typeface="Arial" panose="020B0604020202020204" pitchFamily="34" charset="0"/>
                <a:ea typeface="宋体" panose="02010600030101010101" pitchFamily="2" charset="-122"/>
              </a:rPr>
              <a:t>公司的高速串行总线</a:t>
            </a:r>
            <a:r>
              <a:rPr lang="en-US" altLang="zh-CN" sz="2400" b="1" dirty="0">
                <a:latin typeface="Arial" panose="020B0604020202020204" pitchFamily="34" charset="0"/>
                <a:ea typeface="宋体" panose="02010600030101010101" pitchFamily="2" charset="-122"/>
              </a:rPr>
              <a:t>Fire wire</a:t>
            </a:r>
            <a:r>
              <a:rPr lang="zh-CN" altLang="en-US" sz="2400" b="1" dirty="0">
                <a:latin typeface="Arial" panose="020B0604020202020204" pitchFamily="34" charset="0"/>
                <a:ea typeface="宋体" panose="02010600030101010101" pitchFamily="2" charset="-122"/>
              </a:rPr>
              <a:t>（火线）基础上制定的串行总线标准。</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1394</a:t>
            </a:r>
            <a:r>
              <a:rPr lang="zh-CN" altLang="en-US" sz="2400" b="1" dirty="0">
                <a:latin typeface="Arial" panose="020B0604020202020204" pitchFamily="34" charset="0"/>
                <a:ea typeface="宋体" panose="02010600030101010101" pitchFamily="2" charset="-122"/>
              </a:rPr>
              <a:t>具有更多的外设支持能力，尤其在影视多媒体方面有优异的支持能力；使用存储器映射地址总线；有真正的即插即用和热插拔能力；提供更长的电缆（设备间</a:t>
            </a:r>
            <a:r>
              <a:rPr lang="en-US" altLang="zh-CN" sz="2400" b="1" dirty="0">
                <a:latin typeface="Arial" panose="020B0604020202020204" pitchFamily="34" charset="0"/>
                <a:ea typeface="宋体" panose="02010600030101010101" pitchFamily="2" charset="-122"/>
              </a:rPr>
              <a:t>4.5m</a:t>
            </a:r>
            <a:r>
              <a:rPr lang="zh-CN" altLang="en-US" sz="2400" b="1" dirty="0">
                <a:latin typeface="Arial" panose="020B0604020202020204" pitchFamily="34" charset="0"/>
                <a:ea typeface="宋体" panose="02010600030101010101" pitchFamily="2" charset="-122"/>
              </a:rPr>
              <a:t>，总线末端间为</a:t>
            </a:r>
            <a:r>
              <a:rPr lang="en-US" altLang="zh-CN" sz="2400" b="1" dirty="0">
                <a:latin typeface="Arial" panose="020B0604020202020204" pitchFamily="34" charset="0"/>
                <a:ea typeface="宋体" panose="02010600030101010101" pitchFamily="2" charset="-122"/>
              </a:rPr>
              <a:t>72m</a:t>
            </a:r>
            <a:r>
              <a:rPr lang="zh-CN" altLang="en-US" sz="2400" b="1" dirty="0">
                <a:latin typeface="Arial" panose="020B0604020202020204" pitchFamily="34" charset="0"/>
                <a:ea typeface="宋体" panose="02010600030101010101" pitchFamily="2" charset="-122"/>
              </a:rPr>
              <a:t>）和更高的速率（数据传输率为</a:t>
            </a:r>
            <a:r>
              <a:rPr lang="en-US" altLang="zh-CN" sz="2400" b="1" dirty="0">
                <a:latin typeface="Arial" panose="020B0604020202020204" pitchFamily="34" charset="0"/>
                <a:ea typeface="宋体" panose="02010600030101010101" pitchFamily="2" charset="-122"/>
              </a:rPr>
              <a:t>50Mb/s</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100Mb/s</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400Mb/s</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1394</a:t>
            </a:r>
            <a:r>
              <a:rPr lang="zh-CN" altLang="en-US" sz="2400" b="1" dirty="0">
                <a:latin typeface="Arial" panose="020B0604020202020204" pitchFamily="34" charset="0"/>
                <a:ea typeface="宋体" panose="02010600030101010101" pitchFamily="2" charset="-122"/>
              </a:rPr>
              <a:t>十分容易配置，它采用</a:t>
            </a:r>
            <a:r>
              <a:rPr lang="en-US" altLang="zh-CN" sz="2400" b="1" dirty="0">
                <a:latin typeface="Arial" panose="020B0604020202020204" pitchFamily="34" charset="0"/>
                <a:ea typeface="宋体" panose="02010600030101010101" pitchFamily="2" charset="-122"/>
              </a:rPr>
              <a:t>6</a:t>
            </a:r>
            <a:r>
              <a:rPr lang="zh-CN" altLang="en-US" sz="2400" b="1" dirty="0">
                <a:latin typeface="Arial" panose="020B0604020202020204" pitchFamily="34" charset="0"/>
                <a:ea typeface="宋体" panose="02010600030101010101" pitchFamily="2" charset="-122"/>
              </a:rPr>
              <a:t>线连接，树状结构，最多可接</a:t>
            </a:r>
            <a:r>
              <a:rPr lang="en-US" altLang="zh-CN" sz="2400" b="1" dirty="0">
                <a:latin typeface="Arial" panose="020B0604020202020204" pitchFamily="34" charset="0"/>
                <a:ea typeface="宋体" panose="02010600030101010101" pitchFamily="2" charset="-122"/>
              </a:rPr>
              <a:t>63</a:t>
            </a:r>
            <a:r>
              <a:rPr lang="zh-CN" altLang="en-US" sz="2400" b="1" dirty="0">
                <a:latin typeface="Arial" panose="020B0604020202020204" pitchFamily="34" charset="0"/>
                <a:ea typeface="宋体" panose="02010600030101010101" pitchFamily="2" charset="-122"/>
              </a:rPr>
              <a:t>个设备。在存储设备接口中，</a:t>
            </a:r>
            <a:r>
              <a:rPr lang="en-US" altLang="zh-CN" sz="2400" b="1" dirty="0">
                <a:latin typeface="Arial" panose="020B0604020202020204" pitchFamily="34" charset="0"/>
                <a:ea typeface="宋体" panose="02010600030101010101" pitchFamily="2" charset="-122"/>
              </a:rPr>
              <a:t>IEEE1394</a:t>
            </a:r>
            <a:r>
              <a:rPr lang="zh-CN" altLang="en-US" sz="2400" b="1" dirty="0">
                <a:latin typeface="Arial" panose="020B0604020202020204" pitchFamily="34" charset="0"/>
                <a:ea typeface="宋体" panose="02010600030101010101" pitchFamily="2" charset="-122"/>
              </a:rPr>
              <a:t>被认为将有可能取代</a:t>
            </a:r>
            <a:r>
              <a:rPr lang="en-US" altLang="zh-CN" sz="2400" b="1" dirty="0">
                <a:latin typeface="Arial" panose="020B0604020202020204" pitchFamily="34" charset="0"/>
                <a:ea typeface="宋体" panose="02010600030101010101" pitchFamily="2" charset="-122"/>
              </a:rPr>
              <a:t>SCSI</a:t>
            </a:r>
            <a:r>
              <a:rPr lang="zh-CN" altLang="en-US" sz="2400" b="1" dirty="0">
                <a:latin typeface="Arial" panose="020B0604020202020204" pitchFamily="34" charset="0"/>
                <a:ea typeface="宋体" panose="02010600030101010101" pitchFamily="2" charset="-122"/>
              </a:rPr>
              <a:t>及</a:t>
            </a:r>
            <a:r>
              <a:rPr lang="en-US" altLang="zh-CN" sz="2400" b="1" dirty="0">
                <a:latin typeface="Arial" panose="020B0604020202020204" pitchFamily="34" charset="0"/>
                <a:ea typeface="宋体" panose="02010600030101010101" pitchFamily="2" charset="-122"/>
              </a:rPr>
              <a:t>ATA</a:t>
            </a:r>
            <a:r>
              <a:rPr lang="zh-CN" altLang="en-US" sz="2400" b="1" dirty="0">
                <a:latin typeface="Arial" panose="020B0604020202020204" pitchFamily="34" charset="0"/>
                <a:ea typeface="宋体" panose="02010600030101010101" pitchFamily="2" charset="-122"/>
              </a:rPr>
              <a:t>接口。</a:t>
            </a:r>
            <a:r>
              <a:rPr lang="en-US" altLang="zh-CN" sz="2400" b="1" dirty="0">
                <a:latin typeface="Arial" panose="020B0604020202020204" pitchFamily="34" charset="0"/>
                <a:ea typeface="宋体" panose="02010600030101010101" pitchFamily="2" charset="-122"/>
              </a:rPr>
              <a:t>1997</a:t>
            </a:r>
            <a:r>
              <a:rPr lang="zh-CN" altLang="en-US" sz="2400" b="1" dirty="0">
                <a:latin typeface="Arial" panose="020B0604020202020204" pitchFamily="34" charset="0"/>
                <a:ea typeface="宋体" panose="02010600030101010101" pitchFamily="2" charset="-122"/>
              </a:rPr>
              <a:t>年</a:t>
            </a:r>
            <a:r>
              <a:rPr lang="en-US" altLang="zh-CN" sz="2400" b="1" dirty="0">
                <a:latin typeface="Arial" panose="020B0604020202020204" pitchFamily="34" charset="0"/>
                <a:ea typeface="宋体" panose="02010600030101010101" pitchFamily="2" charset="-122"/>
              </a:rPr>
              <a:t>Seagate</a:t>
            </a:r>
            <a:r>
              <a:rPr lang="zh-CN" altLang="en-US" sz="2400" b="1" dirty="0">
                <a:latin typeface="Arial" panose="020B0604020202020204" pitchFamily="34" charset="0"/>
                <a:ea typeface="宋体" panose="02010600030101010101" pitchFamily="2" charset="-122"/>
              </a:rPr>
              <a:t>及</a:t>
            </a:r>
            <a:r>
              <a:rPr lang="en-US" altLang="zh-CN" sz="2400" b="1" dirty="0">
                <a:latin typeface="Arial" panose="020B0604020202020204" pitchFamily="34" charset="0"/>
                <a:ea typeface="宋体" panose="02010600030101010101" pitchFamily="2" charset="-122"/>
              </a:rPr>
              <a:t>Maxtor</a:t>
            </a:r>
            <a:r>
              <a:rPr lang="zh-CN" altLang="en-US" sz="2400" b="1" dirty="0">
                <a:latin typeface="Arial" panose="020B0604020202020204" pitchFamily="34" charset="0"/>
                <a:ea typeface="宋体" panose="02010600030101010101" pitchFamily="2" charset="-122"/>
              </a:rPr>
              <a:t>分别于</a:t>
            </a:r>
            <a:r>
              <a:rPr lang="en-US" altLang="zh-CN" sz="2400" b="1" dirty="0">
                <a:latin typeface="Arial" panose="020B0604020202020204" pitchFamily="34" charset="0"/>
                <a:ea typeface="宋体" panose="02010600030101010101" pitchFamily="2" charset="-122"/>
              </a:rPr>
              <a:t>Comdex’97</a:t>
            </a:r>
            <a:r>
              <a:rPr lang="zh-CN" altLang="en-US" sz="2400" b="1" dirty="0">
                <a:latin typeface="Arial" panose="020B0604020202020204" pitchFamily="34" charset="0"/>
                <a:ea typeface="宋体" panose="02010600030101010101" pitchFamily="2" charset="-122"/>
              </a:rPr>
              <a:t>中展示了</a:t>
            </a:r>
            <a:r>
              <a:rPr lang="en-US" altLang="zh-CN" sz="2400" b="1" dirty="0">
                <a:latin typeface="Arial" panose="020B0604020202020204" pitchFamily="34" charset="0"/>
                <a:ea typeface="宋体" panose="02010600030101010101" pitchFamily="2" charset="-122"/>
              </a:rPr>
              <a:t>1394</a:t>
            </a:r>
            <a:r>
              <a:rPr lang="zh-CN" altLang="en-US" sz="2400" b="1" dirty="0">
                <a:latin typeface="Arial" panose="020B0604020202020204" pitchFamily="34" charset="0"/>
                <a:ea typeface="宋体" panose="02010600030101010101" pitchFamily="2" charset="-122"/>
              </a:rPr>
              <a:t>接口硬盘驱动器的雏形机种，</a:t>
            </a:r>
            <a:r>
              <a:rPr lang="en-US" altLang="zh-CN" sz="2400" b="1" dirty="0">
                <a:latin typeface="Arial" panose="020B0604020202020204" pitchFamily="34" charset="0"/>
                <a:ea typeface="宋体" panose="02010600030101010101" pitchFamily="2" charset="-122"/>
              </a:rPr>
              <a:t>1995</a:t>
            </a:r>
            <a:r>
              <a:rPr lang="zh-CN" altLang="en-US" sz="2400" b="1" dirty="0">
                <a:latin typeface="Arial" panose="020B0604020202020204" pitchFamily="34" charset="0"/>
                <a:ea typeface="宋体" panose="02010600030101010101" pitchFamily="2" charset="-122"/>
              </a:rPr>
              <a:t>年</a:t>
            </a:r>
            <a:r>
              <a:rPr lang="en-US" altLang="zh-CN" sz="2400" b="1" dirty="0">
                <a:latin typeface="Arial" panose="020B0604020202020204" pitchFamily="34" charset="0"/>
                <a:ea typeface="宋体" panose="02010600030101010101" pitchFamily="2" charset="-122"/>
              </a:rPr>
              <a:t>10</a:t>
            </a:r>
            <a:r>
              <a:rPr lang="zh-CN" altLang="en-US" sz="2400" b="1" dirty="0">
                <a:latin typeface="Arial" panose="020B0604020202020204" pitchFamily="34" charset="0"/>
                <a:ea typeface="宋体" panose="02010600030101010101" pitchFamily="2" charset="-122"/>
              </a:rPr>
              <a:t>月，</a:t>
            </a:r>
            <a:r>
              <a:rPr lang="en-US" altLang="zh-CN" sz="2400" b="1" dirty="0">
                <a:latin typeface="Arial" panose="020B0604020202020204" pitchFamily="34" charset="0"/>
                <a:ea typeface="宋体" panose="02010600030101010101" pitchFamily="2" charset="-122"/>
              </a:rPr>
              <a:t>Sony</a:t>
            </a:r>
            <a:r>
              <a:rPr lang="zh-CN" altLang="en-US" sz="2400" b="1" dirty="0">
                <a:latin typeface="Arial" panose="020B0604020202020204" pitchFamily="34" charset="0"/>
                <a:ea typeface="宋体" panose="02010600030101010101" pitchFamily="2" charset="-122"/>
              </a:rPr>
              <a:t>在可摄式录象机上首先将</a:t>
            </a:r>
            <a:r>
              <a:rPr lang="en-US" altLang="zh-CN" sz="2400" b="1" dirty="0">
                <a:latin typeface="Arial" panose="020B0604020202020204" pitchFamily="34" charset="0"/>
                <a:ea typeface="宋体" panose="02010600030101010101" pitchFamily="2" charset="-122"/>
              </a:rPr>
              <a:t>1394</a:t>
            </a:r>
            <a:r>
              <a:rPr lang="zh-CN" altLang="en-US" sz="2400" b="1" dirty="0">
                <a:latin typeface="Arial" panose="020B0604020202020204" pitchFamily="34" charset="0"/>
                <a:ea typeface="宋体" panose="02010600030101010101" pitchFamily="2" charset="-122"/>
              </a:rPr>
              <a:t>接口列为标准。</a:t>
            </a:r>
          </a:p>
          <a:p>
            <a:pPr>
              <a:buClrTx/>
              <a:buFontTx/>
            </a:pPr>
            <a:r>
              <a:rPr lang="zh-CN" altLang="en-US" sz="2400" b="1" dirty="0">
                <a:latin typeface="Arial" panose="020B0604020202020204" pitchFamily="34" charset="0"/>
                <a:ea typeface="宋体" panose="02010600030101010101" pitchFamily="2" charset="-122"/>
              </a:rPr>
              <a:t>         总之，</a:t>
            </a:r>
            <a:r>
              <a:rPr lang="en-US" altLang="zh-CN" sz="2400" b="1" dirty="0">
                <a:latin typeface="Arial" panose="020B0604020202020204" pitchFamily="34" charset="0"/>
                <a:ea typeface="宋体" panose="02010600030101010101" pitchFamily="2" charset="-122"/>
              </a:rPr>
              <a:t>IEEE1394</a:t>
            </a:r>
            <a:r>
              <a:rPr lang="zh-CN" altLang="en-US" sz="2400" b="1" dirty="0">
                <a:latin typeface="Arial" panose="020B0604020202020204" pitchFamily="34" charset="0"/>
                <a:ea typeface="宋体" panose="02010600030101010101" pitchFamily="2" charset="-122"/>
              </a:rPr>
              <a:t>是一种高速外设总线，就是面对高速外设 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698">
                                            <p:txEl>
                                              <p:pRg st="0" end="0"/>
                                            </p:txEl>
                                          </p:spTgt>
                                        </p:tgtEl>
                                        <p:attrNameLst>
                                          <p:attrName>style.visibility</p:attrName>
                                        </p:attrNameLst>
                                      </p:cBhvr>
                                      <p:to>
                                        <p:strVal val="visible"/>
                                      </p:to>
                                    </p:set>
                                    <p:animEffect transition="in" filter="blinds(horizontal)">
                                      <p:cBhvr>
                                        <p:cTn id="7" dur="500"/>
                                        <p:tgtEl>
                                          <p:spTgt spid="157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7698">
                                            <p:txEl>
                                              <p:pRg st="1" end="1"/>
                                            </p:txEl>
                                          </p:spTgt>
                                        </p:tgtEl>
                                        <p:attrNameLst>
                                          <p:attrName>style.visibility</p:attrName>
                                        </p:attrNameLst>
                                      </p:cBhvr>
                                      <p:to>
                                        <p:strVal val="visible"/>
                                      </p:to>
                                    </p:set>
                                    <p:animEffect transition="in" filter="blinds(horizontal)">
                                      <p:cBhvr>
                                        <p:cTn id="12" dur="500"/>
                                        <p:tgtEl>
                                          <p:spTgt spid="157698">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57698">
                                            <p:txEl>
                                              <p:pRg st="2" end="2"/>
                                            </p:txEl>
                                          </p:spTgt>
                                        </p:tgtEl>
                                        <p:attrNameLst>
                                          <p:attrName>style.visibility</p:attrName>
                                        </p:attrNameLst>
                                      </p:cBhvr>
                                      <p:to>
                                        <p:strVal val="visible"/>
                                      </p:to>
                                    </p:set>
                                    <p:animEffect transition="in" filter="blinds(horizontal)">
                                      <p:cBhvr>
                                        <p:cTn id="15" dur="500"/>
                                        <p:tgtEl>
                                          <p:spTgt spid="157698">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7698">
                                            <p:txEl>
                                              <p:pRg st="3" end="3"/>
                                            </p:txEl>
                                          </p:spTgt>
                                        </p:tgtEl>
                                        <p:attrNameLst>
                                          <p:attrName>style.visibility</p:attrName>
                                        </p:attrNameLst>
                                      </p:cBhvr>
                                      <p:to>
                                        <p:strVal val="visible"/>
                                      </p:to>
                                    </p:set>
                                    <p:animEffect transition="in" filter="blinds(horizontal)">
                                      <p:cBhvr>
                                        <p:cTn id="18" dur="500"/>
                                        <p:tgtEl>
                                          <p:spTgt spid="15769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p:nvPr/>
        </p:nvSpPr>
        <p:spPr>
          <a:xfrm>
            <a:off x="152400" y="152400"/>
            <a:ext cx="6477000" cy="584200"/>
          </a:xfrm>
          <a:prstGeom prst="rect">
            <a:avLst/>
          </a:prstGeom>
          <a:noFill/>
          <a:ln w="9525">
            <a:noFill/>
          </a:ln>
        </p:spPr>
        <p:txBody>
          <a:bodyPr anchor="t" anchorCtr="0">
            <a:spAutoFit/>
          </a:bodyPr>
          <a:lstStyle/>
          <a:p>
            <a:pPr>
              <a:spcBef>
                <a:spcPct val="50000"/>
              </a:spcBef>
              <a:buClrTx/>
              <a:buFontTx/>
            </a:pPr>
            <a:r>
              <a:rPr lang="en-US" altLang="zh-CN" sz="3200" dirty="0">
                <a:latin typeface="Arial" panose="020B0604020202020204" pitchFamily="34" charset="0"/>
                <a:ea typeface="宋体" panose="02010600030101010101" pitchFamily="2" charset="-122"/>
              </a:rPr>
              <a:t>8 CAN</a:t>
            </a:r>
            <a:r>
              <a:rPr lang="zh-CN" altLang="en-US" sz="3200" dirty="0">
                <a:latin typeface="Arial" panose="020B0604020202020204" pitchFamily="34" charset="0"/>
                <a:ea typeface="宋体" panose="02010600030101010101" pitchFamily="2" charset="-122"/>
              </a:rPr>
              <a:t>总线</a:t>
            </a:r>
          </a:p>
        </p:txBody>
      </p:sp>
      <p:sp>
        <p:nvSpPr>
          <p:cNvPr id="158723" name="Text Box 3"/>
          <p:cNvSpPr txBox="1"/>
          <p:nvPr/>
        </p:nvSpPr>
        <p:spPr>
          <a:xfrm>
            <a:off x="228600" y="685800"/>
            <a:ext cx="8915400" cy="1630363"/>
          </a:xfrm>
          <a:prstGeom prst="rect">
            <a:avLst/>
          </a:prstGeom>
          <a:noFill/>
          <a:ln w="9525">
            <a:noFill/>
          </a:ln>
        </p:spPr>
        <p:txBody>
          <a:bodyPr anchor="t" anchorCtr="0">
            <a:spAutoFit/>
          </a:bodyPr>
          <a:lstStyle/>
          <a:p>
            <a:pPr>
              <a:spcBef>
                <a:spcPct val="50000"/>
              </a:spcBef>
              <a:buClrTx/>
              <a:buFontTx/>
            </a:pPr>
            <a:r>
              <a:rPr lang="en-US" altLang="zh-CN" dirty="0">
                <a:latin typeface="Arial" panose="020B0604020202020204" pitchFamily="34" charset="0"/>
                <a:ea typeface="宋体" panose="02010600030101010101" pitchFamily="2" charset="-122"/>
              </a:rPr>
              <a:t>      </a:t>
            </a:r>
            <a:r>
              <a:rPr lang="en-US" altLang="zh-CN" sz="2000" b="1" dirty="0">
                <a:latin typeface="Arial" panose="020B0604020202020204" pitchFamily="34" charset="0"/>
                <a:ea typeface="宋体" panose="02010600030101010101" pitchFamily="2" charset="-122"/>
              </a:rPr>
              <a:t>1986</a:t>
            </a:r>
            <a:r>
              <a:rPr lang="zh-CN" altLang="en-US" sz="2000" b="1" dirty="0">
                <a:latin typeface="Arial" panose="020B0604020202020204" pitchFamily="34" charset="0"/>
                <a:ea typeface="宋体" panose="02010600030101010101" pitchFamily="2" charset="-122"/>
              </a:rPr>
              <a:t>年</a:t>
            </a:r>
            <a:r>
              <a:rPr lang="en-US" altLang="zh-CN" sz="2000" b="1" dirty="0">
                <a:latin typeface="Arial" panose="020B0604020202020204" pitchFamily="34" charset="0"/>
                <a:ea typeface="宋体" panose="02010600030101010101" pitchFamily="2" charset="-122"/>
              </a:rPr>
              <a:t>2</a:t>
            </a:r>
            <a:r>
              <a:rPr lang="zh-CN" altLang="en-US" sz="2000" b="1" dirty="0">
                <a:latin typeface="Arial" panose="020B0604020202020204" pitchFamily="34" charset="0"/>
                <a:ea typeface="宋体" panose="02010600030101010101" pitchFamily="2" charset="-122"/>
              </a:rPr>
              <a:t>月，在</a:t>
            </a:r>
            <a:r>
              <a:rPr lang="en-US" altLang="zh-CN" sz="2000" b="1" dirty="0">
                <a:latin typeface="Arial" panose="020B0604020202020204" pitchFamily="34" charset="0"/>
                <a:ea typeface="宋体" panose="02010600030101010101" pitchFamily="2" charset="-122"/>
              </a:rPr>
              <a:t>SAE</a:t>
            </a:r>
            <a:r>
              <a:rPr lang="zh-CN" altLang="en-US" sz="2000" b="1" dirty="0">
                <a:latin typeface="Arial" panose="020B0604020202020204" pitchFamily="34" charset="0"/>
                <a:ea typeface="宋体" panose="02010600030101010101" pitchFamily="2" charset="-122"/>
              </a:rPr>
              <a:t>（汽车工程人员协会）大会上，</a:t>
            </a:r>
            <a:r>
              <a:rPr lang="en-US" altLang="zh-CN" sz="2000" b="1" dirty="0">
                <a:latin typeface="Arial" panose="020B0604020202020204" pitchFamily="34" charset="0"/>
                <a:ea typeface="宋体" panose="02010600030101010101" pitchFamily="2" charset="-122"/>
              </a:rPr>
              <a:t>Rober Bosch</a:t>
            </a:r>
            <a:r>
              <a:rPr lang="zh-CN" altLang="en-US" sz="2000" b="1" dirty="0">
                <a:latin typeface="Arial" panose="020B0604020202020204" pitchFamily="34" charset="0"/>
                <a:ea typeface="宋体" panose="02010600030101010101" pitchFamily="2" charset="-122"/>
              </a:rPr>
              <a:t>公司提出</a:t>
            </a:r>
            <a:r>
              <a:rPr lang="en-US" altLang="zh-CN" sz="2000" b="1" dirty="0">
                <a:latin typeface="Arial" panose="020B0604020202020204" pitchFamily="34" charset="0"/>
                <a:ea typeface="宋体" panose="02010600030101010101" pitchFamily="2" charset="-122"/>
              </a:rPr>
              <a:t>CAN</a:t>
            </a:r>
            <a:r>
              <a:rPr lang="zh-CN" altLang="en-US" sz="2000" b="1" dirty="0">
                <a:latin typeface="Arial" panose="020B0604020202020204" pitchFamily="34" charset="0"/>
                <a:ea typeface="宋体" panose="02010600030101010101" pitchFamily="2" charset="-122"/>
              </a:rPr>
              <a:t>。这个由</a:t>
            </a:r>
            <a:r>
              <a:rPr lang="en-US" altLang="zh-CN" sz="2000" b="1" dirty="0">
                <a:latin typeface="Arial" panose="020B0604020202020204" pitchFamily="34" charset="0"/>
                <a:ea typeface="宋体" panose="02010600030101010101" pitchFamily="2" charset="-122"/>
              </a:rPr>
              <a:t>Bosch</a:t>
            </a:r>
            <a:r>
              <a:rPr lang="zh-CN" altLang="en-US" sz="2000" b="1" dirty="0">
                <a:latin typeface="Arial" panose="020B0604020202020204" pitchFamily="34" charset="0"/>
                <a:ea typeface="宋体" panose="02010600030101010101" pitchFamily="2" charset="-122"/>
              </a:rPr>
              <a:t>公司设计的新的总线系统．称之为“</a:t>
            </a:r>
            <a:r>
              <a:rPr lang="en-US" altLang="zh-CN" sz="2000" b="1" dirty="0">
                <a:latin typeface="Arial" panose="020B0604020202020204" pitchFamily="34" charset="0"/>
                <a:ea typeface="宋体" panose="02010600030101010101" pitchFamily="2" charset="-122"/>
              </a:rPr>
              <a:t>Automotive Serial Controller Area Network”</a:t>
            </a:r>
            <a:r>
              <a:rPr lang="zh-CN" altLang="en-US" sz="2000" b="1" dirty="0">
                <a:latin typeface="Arial" panose="020B0604020202020204" pitchFamily="34" charset="0"/>
                <a:ea typeface="宋体" panose="02010600030101010101" pitchFamily="2" charset="-122"/>
              </a:rPr>
              <a:t>（汽车串行控制局域网）    </a:t>
            </a:r>
            <a:r>
              <a:rPr lang="en-US" altLang="zh-CN" sz="2000" b="1" dirty="0">
                <a:latin typeface="Arial" panose="020B0604020202020204" pitchFamily="34" charset="0"/>
                <a:ea typeface="宋体" panose="02010600030101010101" pitchFamily="2" charset="-122"/>
              </a:rPr>
              <a:t>1987</a:t>
            </a:r>
            <a:r>
              <a:rPr lang="zh-CN" altLang="en-US" sz="2000" b="1" dirty="0">
                <a:latin typeface="Arial" panose="020B0604020202020204" pitchFamily="34" charset="0"/>
                <a:ea typeface="宋体" panose="02010600030101010101" pitchFamily="2" charset="-122"/>
              </a:rPr>
              <a:t>年， </a:t>
            </a:r>
            <a:r>
              <a:rPr lang="en-US" altLang="zh-CN" sz="2000" b="1" dirty="0">
                <a:latin typeface="Arial" panose="020B0604020202020204" pitchFamily="34" charset="0"/>
                <a:ea typeface="宋体" panose="02010600030101010101" pitchFamily="2" charset="-122"/>
              </a:rPr>
              <a:t>Intel</a:t>
            </a:r>
            <a:r>
              <a:rPr lang="zh-CN" altLang="en-US" sz="2000" b="1" dirty="0">
                <a:latin typeface="Arial" panose="020B0604020202020204" pitchFamily="34" charset="0"/>
                <a:ea typeface="宋体" panose="02010600030101010101" pitchFamily="2" charset="-122"/>
              </a:rPr>
              <a:t>公司推出第一片</a:t>
            </a:r>
            <a:r>
              <a:rPr lang="en-US" altLang="zh-CN" sz="2000" b="1" dirty="0">
                <a:latin typeface="Arial" panose="020B0604020202020204" pitchFamily="34" charset="0"/>
                <a:ea typeface="宋体" panose="02010600030101010101" pitchFamily="2" charset="-122"/>
              </a:rPr>
              <a:t>CAN</a:t>
            </a:r>
            <a:r>
              <a:rPr lang="zh-CN" altLang="en-US" sz="2000" b="1" dirty="0">
                <a:latin typeface="Arial" panose="020B0604020202020204" pitchFamily="34" charset="0"/>
                <a:ea typeface="宋体" panose="02010600030101010101" pitchFamily="2" charset="-122"/>
              </a:rPr>
              <a:t>控制芯片</a:t>
            </a:r>
            <a:r>
              <a:rPr lang="en-US" altLang="zh-CN" sz="2000" b="1" dirty="0">
                <a:latin typeface="Arial" panose="020B0604020202020204" pitchFamily="34" charset="0"/>
                <a:ea typeface="宋体" panose="02010600030101010101" pitchFamily="2" charset="-122"/>
              </a:rPr>
              <a:t>——82526</a:t>
            </a:r>
            <a:r>
              <a:rPr lang="zh-CN" altLang="en-US" sz="2000" b="1" dirty="0">
                <a:latin typeface="Arial" panose="020B0604020202020204" pitchFamily="34" charset="0"/>
                <a:ea typeface="宋体" panose="02010600030101010101" pitchFamily="2" charset="-122"/>
              </a:rPr>
              <a:t>。它是</a:t>
            </a:r>
            <a:r>
              <a:rPr lang="en-US" altLang="zh-CN" sz="2000" b="1" dirty="0">
                <a:latin typeface="Arial" panose="020B0604020202020204" pitchFamily="34" charset="0"/>
                <a:ea typeface="宋体" panose="02010600030101010101" pitchFamily="2" charset="-122"/>
              </a:rPr>
              <a:t>CAN</a:t>
            </a:r>
            <a:r>
              <a:rPr lang="zh-CN" altLang="en-US" sz="2000" b="1" dirty="0">
                <a:latin typeface="Arial" panose="020B0604020202020204" pitchFamily="34" charset="0"/>
                <a:ea typeface="宋体" panose="02010600030101010101" pitchFamily="2" charset="-122"/>
              </a:rPr>
              <a:t>协议的第一个在硬件上的实现。 </a:t>
            </a:r>
          </a:p>
        </p:txBody>
      </p:sp>
      <p:sp>
        <p:nvSpPr>
          <p:cNvPr id="158724" name="Text Box 4"/>
          <p:cNvSpPr txBox="1"/>
          <p:nvPr/>
        </p:nvSpPr>
        <p:spPr>
          <a:xfrm>
            <a:off x="0" y="2057400"/>
            <a:ext cx="8763000" cy="2306638"/>
          </a:xfrm>
          <a:prstGeom prst="rect">
            <a:avLst/>
          </a:prstGeom>
          <a:noFill/>
          <a:ln w="9525">
            <a:noFill/>
          </a:ln>
        </p:spPr>
        <p:txBody>
          <a:bodyPr anchor="t" anchorCtr="0">
            <a:spAutoFit/>
          </a:bodyPr>
          <a:lstStyle/>
          <a:p>
            <a:pPr>
              <a:buClrTx/>
              <a:buFontTx/>
            </a:pPr>
            <a:r>
              <a:rPr lang="en-US" altLang="zh-CN"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由于采用了许多新技术及独特的设什，</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总线与一般的通信总线相比，它的数据通信具有突出的可靠性、实时性和灵活性。其特点可概括如下</a:t>
            </a:r>
            <a:r>
              <a:rPr lang="zh-CN" altLang="en-US" sz="2000" b="1" dirty="0">
                <a:latin typeface="Arial" panose="020B0604020202020204" pitchFamily="34" charset="0"/>
                <a:ea typeface="宋体" panose="02010600030101010101" pitchFamily="2" charset="-122"/>
              </a:rPr>
              <a:t>：</a:t>
            </a:r>
          </a:p>
          <a:p>
            <a:pPr>
              <a:buClrTx/>
              <a:buFontTx/>
            </a:pPr>
            <a:r>
              <a:rPr lang="zh-CN" altLang="en-US" sz="20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是到目前为止唯一有国际标准的现场总线。</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为多主方式工作，网络上任一节点均可在任意时刻主动地向网络上其他节点发送信息，而不分主从。</a:t>
            </a:r>
          </a:p>
        </p:txBody>
      </p:sp>
      <p:sp>
        <p:nvSpPr>
          <p:cNvPr id="158725" name="Text Box 5"/>
          <p:cNvSpPr txBox="1"/>
          <p:nvPr/>
        </p:nvSpPr>
        <p:spPr>
          <a:xfrm>
            <a:off x="0" y="4267200"/>
            <a:ext cx="8839200" cy="2306638"/>
          </a:xfrm>
          <a:prstGeom prst="rect">
            <a:avLst/>
          </a:prstGeom>
          <a:noFill/>
          <a:ln w="9525">
            <a:noFill/>
          </a:ln>
        </p:spPr>
        <p:txBody>
          <a:bodyPr anchor="t" anchorCtr="0">
            <a:spAutoFit/>
          </a:bodyPr>
          <a:lstStyle/>
          <a:p>
            <a:pPr>
              <a:buClrTx/>
              <a:buFontTx/>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．在报文标识符上，</a:t>
            </a:r>
            <a:r>
              <a:rPr lang="en-US" altLang="zh-CN" sz="2400" b="1" dirty="0">
                <a:latin typeface="Arial" panose="020B0604020202020204" pitchFamily="34" charset="0"/>
                <a:ea typeface="宋体" panose="02010600030101010101" pitchFamily="2" charset="-122"/>
              </a:rPr>
              <a:t>CAN </a:t>
            </a:r>
            <a:r>
              <a:rPr lang="zh-CN" altLang="en-US" sz="2400" b="1" dirty="0">
                <a:latin typeface="Arial" panose="020B0604020202020204" pitchFamily="34" charset="0"/>
                <a:ea typeface="宋体" panose="02010600030101010101" pitchFamily="2" charset="-122"/>
              </a:rPr>
              <a:t>上的节点分成不同的优先级，可满足不同的实时要求，优先级高的数据最多可在</a:t>
            </a:r>
            <a:r>
              <a:rPr lang="en-US" altLang="zh-CN" sz="2400" b="1" dirty="0">
                <a:latin typeface="Arial" panose="020B0604020202020204" pitchFamily="34" charset="0"/>
                <a:ea typeface="宋体" panose="02010600030101010101" pitchFamily="2" charset="-122"/>
              </a:rPr>
              <a:t>134μs</a:t>
            </a:r>
            <a:r>
              <a:rPr lang="zh-CN" altLang="en-US" sz="2400" b="1" dirty="0">
                <a:latin typeface="Arial" panose="020B0604020202020204" pitchFamily="34" charset="0"/>
                <a:ea typeface="宋体" panose="02010600030101010101" pitchFamily="2" charset="-122"/>
              </a:rPr>
              <a:t>内得到传输</a:t>
            </a:r>
            <a:r>
              <a:rPr lang="zh-CN" altLang="en-US"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采用非破坏总线仲裁技术。当多个节点同时向总线发迭信息出现冲突时，优先级较低的节点会主动地退出发送，而最高优先级的节点可不受影响地继续传输数据，</a:t>
            </a:r>
          </a:p>
          <a:p>
            <a:pPr>
              <a:buClrTx/>
              <a:buFontTx/>
            </a:pPr>
            <a:r>
              <a:rPr lang="zh-CN" altLang="en-US" sz="2400" b="1" dirty="0">
                <a:latin typeface="Arial" panose="020B0604020202020204" pitchFamily="34"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722">
                                            <p:txEl>
                                              <p:pRg st="0" end="0"/>
                                            </p:txEl>
                                          </p:spTgt>
                                        </p:tgtEl>
                                        <p:attrNameLst>
                                          <p:attrName>style.visibility</p:attrName>
                                        </p:attrNameLst>
                                      </p:cBhvr>
                                      <p:to>
                                        <p:strVal val="visible"/>
                                      </p:to>
                                    </p:set>
                                    <p:animEffect transition="in" filter="blinds(horizontal)">
                                      <p:cBhvr>
                                        <p:cTn id="7" dur="500"/>
                                        <p:tgtEl>
                                          <p:spTgt spid="1587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8723"/>
                                        </p:tgtEl>
                                        <p:attrNameLst>
                                          <p:attrName>style.visibility</p:attrName>
                                        </p:attrNameLst>
                                      </p:cBhvr>
                                      <p:to>
                                        <p:strVal val="visible"/>
                                      </p:to>
                                    </p:set>
                                    <p:animEffect transition="in" filter="blinds(horizontal)">
                                      <p:cBhvr>
                                        <p:cTn id="12" dur="500"/>
                                        <p:tgtEl>
                                          <p:spTgt spid="1587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8724"/>
                                        </p:tgtEl>
                                        <p:attrNameLst>
                                          <p:attrName>style.visibility</p:attrName>
                                        </p:attrNameLst>
                                      </p:cBhvr>
                                      <p:to>
                                        <p:strVal val="visible"/>
                                      </p:to>
                                    </p:set>
                                    <p:animEffect transition="in" filter="blinds(horizontal)">
                                      <p:cBhvr>
                                        <p:cTn id="17" dur="500"/>
                                        <p:tgtEl>
                                          <p:spTgt spid="1587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8725"/>
                                        </p:tgtEl>
                                        <p:attrNameLst>
                                          <p:attrName>style.visibility</p:attrName>
                                        </p:attrNameLst>
                                      </p:cBhvr>
                                      <p:to>
                                        <p:strVal val="visible"/>
                                      </p:to>
                                    </p:set>
                                    <p:animEffect transition="in" filter="blinds(horizontal)">
                                      <p:cBhvr>
                                        <p:cTn id="22" dur="500"/>
                                        <p:tgtEl>
                                          <p:spTgt spid="158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p:bldP spid="158724" grpId="0"/>
      <p:bldP spid="15872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p:nvPr/>
        </p:nvSpPr>
        <p:spPr>
          <a:xfrm>
            <a:off x="304800" y="457200"/>
            <a:ext cx="8534400" cy="3414713"/>
          </a:xfrm>
          <a:prstGeom prst="rect">
            <a:avLst/>
          </a:prstGeom>
          <a:noFill/>
          <a:ln w="9525">
            <a:noFill/>
          </a:ln>
        </p:spPr>
        <p:txBody>
          <a:bodyPr anchor="t" anchorCtr="0">
            <a:spAutoFit/>
          </a:bodyPr>
          <a:lstStyle/>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节点只需通过对报文的标识符滤波即可实现点对点、一点对多点及全局广播等几种方式传送接收数据。</a:t>
            </a:r>
            <a:endParaRPr lang="zh-CN" altLang="en-US" sz="2400" dirty="0">
              <a:latin typeface="Arial" panose="020B0604020202020204" pitchFamily="34" charset="0"/>
              <a:ea typeface="宋体" panose="02010600030101010101" pitchFamily="2" charset="-122"/>
            </a:endParaRPr>
          </a:p>
          <a:p>
            <a:pPr>
              <a:buClrTx/>
              <a:buFontTx/>
            </a:pPr>
            <a:r>
              <a:rPr lang="zh-CN" altLang="en-US" sz="2400"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的直接通信距离最远可达 </a:t>
            </a:r>
            <a:r>
              <a:rPr lang="en-US" altLang="zh-CN" sz="2400" b="1" dirty="0">
                <a:latin typeface="Arial" panose="020B0604020202020204" pitchFamily="34" charset="0"/>
                <a:ea typeface="宋体" panose="02010600030101010101" pitchFamily="2" charset="-122"/>
              </a:rPr>
              <a:t>11 km</a:t>
            </a:r>
            <a:r>
              <a:rPr lang="zh-CN" altLang="en-US" sz="2400" b="1" dirty="0">
                <a:latin typeface="Arial" panose="020B0604020202020204" pitchFamily="34" charset="0"/>
                <a:ea typeface="宋体" panose="02010600030101010101" pitchFamily="2" charset="-122"/>
              </a:rPr>
              <a:t>；通信速率最高可达</a:t>
            </a:r>
            <a:r>
              <a:rPr lang="en-US" altLang="zh-CN" sz="2400" b="1" dirty="0">
                <a:latin typeface="Arial" panose="020B0604020202020204" pitchFamily="34" charset="0"/>
                <a:ea typeface="宋体" panose="02010600030101010101" pitchFamily="2" charset="-122"/>
              </a:rPr>
              <a:t>1Mbps</a:t>
            </a:r>
            <a:r>
              <a:rPr lang="zh-CN" altLang="en-US" sz="2400" b="1" dirty="0">
                <a:latin typeface="Arial" panose="020B0604020202020204" pitchFamily="34" charset="0"/>
                <a:ea typeface="宋体" panose="02010600030101010101" pitchFamily="2" charset="-122"/>
              </a:rPr>
              <a:t>。</a:t>
            </a:r>
          </a:p>
          <a:p>
            <a:pPr>
              <a:buClrTx/>
              <a:buFontTx/>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CAN </a:t>
            </a:r>
            <a:r>
              <a:rPr lang="zh-CN" altLang="en-US" sz="2400" b="1" dirty="0">
                <a:latin typeface="Arial" panose="020B0604020202020204" pitchFamily="34" charset="0"/>
                <a:ea typeface="宋体" panose="02010600030101010101" pitchFamily="2" charset="-122"/>
              </a:rPr>
              <a:t>上的节点数主要取决于总线驱动电路，目前可达 </a:t>
            </a:r>
            <a:r>
              <a:rPr lang="en-US" altLang="zh-CN" sz="2400" b="1" dirty="0">
                <a:latin typeface="Arial" panose="020B0604020202020204" pitchFamily="34" charset="0"/>
                <a:ea typeface="宋体" panose="02010600030101010101" pitchFamily="2" charset="-122"/>
              </a:rPr>
              <a:t>110</a:t>
            </a:r>
            <a:r>
              <a:rPr lang="zh-CN" altLang="en-US" sz="2400" b="1" dirty="0">
                <a:latin typeface="Arial" panose="020B0604020202020204" pitchFamily="34" charset="0"/>
                <a:ea typeface="宋体" panose="02010600030101010101" pitchFamily="2" charset="-122"/>
              </a:rPr>
              <a:t>个。</a:t>
            </a: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的通信介质可为双绞线、同轴电缆或光纤，选择灵活。</a:t>
            </a:r>
          </a:p>
          <a:p>
            <a:pPr>
              <a:buClrTx/>
              <a:buFontTx/>
            </a:pPr>
            <a:r>
              <a:rPr lang="zh-CN" altLang="en-US" sz="2400" b="1" dirty="0">
                <a:latin typeface="Arial" panose="020B0604020202020204" pitchFamily="34" charset="0"/>
                <a:ea typeface="宋体" panose="02010600030101010101" pitchFamily="2" charset="-122"/>
              </a:rPr>
              <a:t>．</a:t>
            </a:r>
            <a:r>
              <a:rPr lang="en-US" altLang="zh-CN" sz="2400" b="1" dirty="0">
                <a:latin typeface="Arial" panose="020B0604020202020204" pitchFamily="34" charset="0"/>
                <a:ea typeface="宋体" panose="02010600030101010101" pitchFamily="2" charset="-122"/>
              </a:rPr>
              <a:t>CAN</a:t>
            </a:r>
            <a:r>
              <a:rPr lang="zh-CN" altLang="en-US" sz="2400" b="1" dirty="0">
                <a:latin typeface="Arial" panose="020B0604020202020204" pitchFamily="34" charset="0"/>
                <a:ea typeface="宋体" panose="02010600030101010101" pitchFamily="2" charset="-122"/>
              </a:rPr>
              <a:t>节点在错误严重的情况下具有自动关闭输出功能，以使总线上其他节点的操作不受影响．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blinds(horizontal)">
                                      <p:cBhvr>
                                        <p:cTn id="7" dur="500"/>
                                        <p:tgtEl>
                                          <p:spTgt spid="159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1" name="Picture 2" descr="主板图"/>
          <p:cNvPicPr>
            <a:picLocks noChangeAspect="1"/>
          </p:cNvPicPr>
          <p:nvPr/>
        </p:nvPicPr>
        <p:blipFill>
          <a:blip r:embed="rId2"/>
          <a:stretch>
            <a:fillRect/>
          </a:stretch>
        </p:blipFill>
        <p:spPr>
          <a:xfrm>
            <a:off x="914400" y="228600"/>
            <a:ext cx="7696200" cy="5765800"/>
          </a:xfrm>
          <a:prstGeom prst="rect">
            <a:avLst/>
          </a:prstGeom>
          <a:noFill/>
          <a:ln w="9525">
            <a:noFill/>
          </a:ln>
        </p:spPr>
      </p:pic>
      <p:sp>
        <p:nvSpPr>
          <p:cNvPr id="97282" name="Rectangle 3"/>
          <p:cNvSpPr/>
          <p:nvPr/>
        </p:nvSpPr>
        <p:spPr>
          <a:xfrm>
            <a:off x="1219200" y="6096000"/>
            <a:ext cx="6705600" cy="460375"/>
          </a:xfrm>
          <a:prstGeom prst="rect">
            <a:avLst/>
          </a:prstGeom>
          <a:noFill/>
          <a:ln w="9525">
            <a:noFill/>
          </a:ln>
        </p:spPr>
        <p:txBody>
          <a:bodyPr anchor="t" anchorCtr="0">
            <a:spAutoFit/>
          </a:bodyPr>
          <a:lstStyle/>
          <a:p>
            <a:pPr algn="ctr">
              <a:buClrTx/>
              <a:buFontTx/>
            </a:pPr>
            <a:r>
              <a:rPr lang="en-US" altLang="zh-CN" sz="2400" b="1" dirty="0">
                <a:latin typeface="Times New Roman" panose="02020603050405020304" pitchFamily="18" charset="0"/>
                <a:ea typeface="宋体" panose="02010600030101010101" pitchFamily="2" charset="-122"/>
              </a:rPr>
              <a:t>PⅢ</a:t>
            </a:r>
            <a:r>
              <a:rPr lang="zh-CN" altLang="en-US" sz="2400" b="1" dirty="0">
                <a:latin typeface="Times New Roman" panose="02020603050405020304" pitchFamily="18" charset="0"/>
                <a:ea typeface="宋体" panose="02010600030101010101" pitchFamily="2" charset="-122"/>
              </a:rPr>
              <a:t>微型计算机典型系统主板结构图</a:t>
            </a:r>
            <a:r>
              <a:rPr lang="zh-CN" altLang="en-US" sz="2400" dirty="0">
                <a:latin typeface="Times New Roman" panose="02020603050405020304" pitchFamily="18" charset="0"/>
                <a:ea typeface="宋体" panose="02010600030101010101" pitchFamily="2" charset="-122"/>
              </a:rPr>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ext Box 2"/>
          <p:cNvSpPr txBox="1"/>
          <p:nvPr/>
        </p:nvSpPr>
        <p:spPr>
          <a:xfrm>
            <a:off x="152400" y="228600"/>
            <a:ext cx="5105400" cy="584200"/>
          </a:xfrm>
          <a:prstGeom prst="rect">
            <a:avLst/>
          </a:prstGeom>
          <a:noFill/>
          <a:ln w="9525">
            <a:noFill/>
          </a:ln>
        </p:spPr>
        <p:txBody>
          <a:bodyPr anchor="t" anchorCtr="0">
            <a:spAutoFit/>
          </a:bodyPr>
          <a:lstStyle/>
          <a:p>
            <a:pPr>
              <a:spcBef>
                <a:spcPct val="50000"/>
              </a:spcBef>
              <a:buClrTx/>
              <a:buFontTx/>
            </a:pPr>
            <a:r>
              <a:rPr lang="zh-CN" altLang="en-US" sz="3200" b="1" dirty="0">
                <a:latin typeface="Arial" panose="020B0604020202020204" pitchFamily="34" charset="0"/>
                <a:ea typeface="宋体" panose="02010600030101010101" pitchFamily="2" charset="-122"/>
              </a:rPr>
              <a:t>总结</a:t>
            </a:r>
            <a:r>
              <a:rPr lang="zh-CN" altLang="en-US" sz="3200" dirty="0">
                <a:latin typeface="Arial" panose="020B0604020202020204" pitchFamily="34" charset="0"/>
                <a:ea typeface="宋体" panose="02010600030101010101" pitchFamily="2" charset="-122"/>
              </a:rPr>
              <a:t>：</a:t>
            </a:r>
          </a:p>
        </p:txBody>
      </p:sp>
      <p:sp>
        <p:nvSpPr>
          <p:cNvPr id="98306" name="Text Box 3"/>
          <p:cNvSpPr txBox="1"/>
          <p:nvPr/>
        </p:nvSpPr>
        <p:spPr>
          <a:xfrm>
            <a:off x="228600" y="914400"/>
            <a:ext cx="8686800" cy="4371975"/>
          </a:xfrm>
          <a:prstGeom prst="rect">
            <a:avLst/>
          </a:prstGeom>
          <a:noFill/>
          <a:ln w="9525">
            <a:noFill/>
          </a:ln>
        </p:spPr>
        <p:txBody>
          <a:bodyPr anchor="t" anchorCtr="0">
            <a:spAutoFit/>
          </a:bodyPr>
          <a:lstStyle/>
          <a:p>
            <a:pPr>
              <a:spcBef>
                <a:spcPct val="50000"/>
              </a:spcBef>
              <a:buClrTx/>
              <a:buFontTx/>
            </a:pPr>
            <a:r>
              <a:rPr lang="en-US" altLang="zh-CN" sz="2400" b="1">
                <a:latin typeface="Arial" panose="020B0604020202020204" pitchFamily="34" charset="0"/>
                <a:ea typeface="宋体" panose="02010600030101010101" pitchFamily="2" charset="-122"/>
              </a:rPr>
              <a:t>1.</a:t>
            </a:r>
            <a:r>
              <a:rPr lang="zh-CN" altLang="en-US" sz="2400" b="1">
                <a:latin typeface="Arial" panose="020B0604020202020204" pitchFamily="34" charset="0"/>
                <a:ea typeface="宋体" panose="02010600030101010101" pitchFamily="2" charset="-122"/>
              </a:rPr>
              <a:t>为什么要用总线：分散连接连线复杂、效率低</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2.</a:t>
            </a:r>
            <a:r>
              <a:rPr lang="zh-CN" altLang="en-US" sz="2400" b="1">
                <a:latin typeface="Arial" panose="020B0604020202020204" pitchFamily="34" charset="0"/>
                <a:ea typeface="宋体" panose="02010600030101010101" pitchFamily="2" charset="-122"/>
              </a:rPr>
              <a:t>总线：是计算机系统中各部件之间的公共的信息传递通道。</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3.</a:t>
            </a:r>
            <a:r>
              <a:rPr lang="zh-CN" altLang="en-US" sz="2400" b="1">
                <a:latin typeface="Arial" panose="020B0604020202020204" pitchFamily="34" charset="0"/>
                <a:ea typeface="宋体" panose="02010600030101010101" pitchFamily="2" charset="-122"/>
              </a:rPr>
              <a:t>总线的特点：连线少；易于集成化，可替换性好；</a:t>
            </a:r>
            <a:r>
              <a:rPr lang="zh-CN" altLang="en-US" sz="2400" b="1">
                <a:solidFill>
                  <a:srgbClr val="FF0000"/>
                </a:solidFill>
                <a:latin typeface="Arial" panose="020B0604020202020204" pitchFamily="34" charset="0"/>
                <a:ea typeface="宋体" panose="02010600030101010101" pitchFamily="2" charset="-122"/>
              </a:rPr>
              <a:t>分时传送</a:t>
            </a:r>
            <a:r>
              <a:rPr lang="zh-CN" altLang="en-US" sz="2400" b="1">
                <a:latin typeface="Arial" panose="020B0604020202020204" pitchFamily="34" charset="0"/>
                <a:ea typeface="宋体" panose="02010600030101010101" pitchFamily="2" charset="-122"/>
              </a:rPr>
              <a:t>；缺点</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4.</a:t>
            </a:r>
            <a:r>
              <a:rPr lang="zh-CN" altLang="en-US" sz="2400" b="1">
                <a:latin typeface="Arial" panose="020B0604020202020204" pitchFamily="34" charset="0"/>
                <a:ea typeface="宋体" panose="02010600030101010101" pitchFamily="2" charset="-122"/>
              </a:rPr>
              <a:t>总线的分类</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5.</a:t>
            </a:r>
            <a:r>
              <a:rPr lang="zh-CN" altLang="en-US" sz="2400" b="1">
                <a:latin typeface="Arial" panose="020B0604020202020204" pitchFamily="34" charset="0"/>
                <a:ea typeface="宋体" panose="02010600030101010101" pitchFamily="2" charset="-122"/>
              </a:rPr>
              <a:t>总线特性及性能指标</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6.</a:t>
            </a:r>
            <a:r>
              <a:rPr lang="zh-CN" altLang="en-US" sz="2400" b="1">
                <a:latin typeface="Arial" panose="020B0604020202020204" pitchFamily="34" charset="0"/>
                <a:ea typeface="宋体" panose="02010600030101010101" pitchFamily="2" charset="-122"/>
              </a:rPr>
              <a:t>总线结构</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7.</a:t>
            </a:r>
            <a:r>
              <a:rPr lang="zh-CN" altLang="en-US" sz="2400" b="1">
                <a:latin typeface="Arial" panose="020B0604020202020204" pitchFamily="34" charset="0"/>
                <a:ea typeface="宋体" panose="02010600030101010101" pitchFamily="2" charset="-122"/>
              </a:rPr>
              <a:t>集中仲裁的几种方式：链式查询、计数器定时查询、独立请求的判优方法及特点</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9.</a:t>
            </a:r>
            <a:r>
              <a:rPr lang="zh-CN" altLang="en-US" sz="2400" b="1">
                <a:latin typeface="Arial" panose="020B0604020202020204" pitchFamily="34" charset="0"/>
                <a:ea typeface="宋体" panose="02010600030101010101" pitchFamily="2" charset="-122"/>
              </a:rPr>
              <a:t>总线通信的四种方式：同步、异步、半同步及分离式</a:t>
            </a:r>
          </a:p>
          <a:p>
            <a:pPr>
              <a:lnSpc>
                <a:spcPct val="90000"/>
              </a:lnSpc>
              <a:spcBef>
                <a:spcPct val="20000"/>
              </a:spcBef>
              <a:buClr>
                <a:schemeClr val="hlink"/>
              </a:buClr>
              <a:buSzPct val="80000"/>
              <a:buFont typeface="Wingdings" panose="05000000000000000000" pitchFamily="2" charset="2"/>
            </a:pPr>
            <a:r>
              <a:rPr lang="en-US" altLang="zh-CN" sz="2400" b="1">
                <a:latin typeface="Arial" panose="020B0604020202020204" pitchFamily="34" charset="0"/>
                <a:ea typeface="宋体" panose="02010600030101010101" pitchFamily="2" charset="-122"/>
              </a:rPr>
              <a:t>10. </a:t>
            </a:r>
            <a:r>
              <a:rPr lang="zh-CN" altLang="en-US" sz="2400" b="1">
                <a:latin typeface="Arial" panose="020B0604020202020204" pitchFamily="34" charset="0"/>
                <a:ea typeface="宋体" panose="02010600030101010101" pitchFamily="2" charset="-122"/>
              </a:rPr>
              <a:t>常见总线的特点</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10362</Words>
  <Application>Microsoft Office PowerPoint</Application>
  <PresentationFormat>全屏显示(4:3)</PresentationFormat>
  <Paragraphs>1292</Paragraphs>
  <Slides>90</Slides>
  <Notes>3</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1</vt:i4>
      </vt:variant>
      <vt:variant>
        <vt:lpstr>幻灯片标题</vt:lpstr>
      </vt:variant>
      <vt:variant>
        <vt:i4>90</vt:i4>
      </vt:variant>
    </vt:vector>
  </HeadingPairs>
  <TitlesOfParts>
    <vt:vector size="103" baseType="lpstr">
      <vt:lpstr>Monotype Sorts</vt:lpstr>
      <vt:lpstr>宋体</vt:lpstr>
      <vt:lpstr>Arial</vt:lpstr>
      <vt:lpstr>Helvetica</vt:lpstr>
      <vt:lpstr>Lucida Console</vt:lpstr>
      <vt:lpstr>Tahoma</vt:lpstr>
      <vt:lpstr>Times New Roman</vt:lpstr>
      <vt:lpstr>Wingdings</vt:lpstr>
      <vt:lpstr>Wingdings 2</vt:lpstr>
      <vt:lpstr>默认设计模板</vt:lpstr>
      <vt:lpstr>1_默认设计模板</vt:lpstr>
      <vt:lpstr>2_默认设计模板</vt:lpstr>
      <vt:lpstr>Microsoft Visio 2003-2010 Drawing</vt:lpstr>
      <vt:lpstr>PowerPoint 演示文稿</vt:lpstr>
      <vt:lpstr>3.1  总线概述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 总线控制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 常用的总线标准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雅菡 石</cp:lastModifiedBy>
  <cp:revision>115</cp:revision>
  <dcterms:created xsi:type="dcterms:W3CDTF">2022-01-12T06:35:00Z</dcterms:created>
  <dcterms:modified xsi:type="dcterms:W3CDTF">2026-01-27T02:17:50Z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2EE5CD86B1F346D59CA1FF7024794A2E_13</vt:lpwstr>
  </property>
  <property fmtid="{D5CDD505-2E9C-101B-9397-08002B2CF9AE}" pid="4" name="KSOProductBuildVer">
    <vt:lpwstr>2052-12.1.0.20305</vt:lpwstr>
  </property>
</Properties>
</file>