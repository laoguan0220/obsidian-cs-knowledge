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92" r:id="rId1"/>
    <p:sldMasterId id="2147483707" r:id="rId2"/>
  </p:sldMasterIdLst>
  <p:notesMasterIdLst>
    <p:notesMasterId r:id="rId117"/>
  </p:notesMasterIdLst>
  <p:sldIdLst>
    <p:sldId id="256" r:id="rId3"/>
    <p:sldId id="312" r:id="rId4"/>
    <p:sldId id="752" r:id="rId5"/>
    <p:sldId id="753" r:id="rId6"/>
    <p:sldId id="556" r:id="rId7"/>
    <p:sldId id="754" r:id="rId8"/>
    <p:sldId id="395" r:id="rId9"/>
    <p:sldId id="756" r:id="rId10"/>
    <p:sldId id="645" r:id="rId11"/>
    <p:sldId id="757" r:id="rId12"/>
    <p:sldId id="758" r:id="rId13"/>
    <p:sldId id="759" r:id="rId14"/>
    <p:sldId id="760" r:id="rId15"/>
    <p:sldId id="761" r:id="rId16"/>
    <p:sldId id="762" r:id="rId17"/>
    <p:sldId id="763" r:id="rId18"/>
    <p:sldId id="764" r:id="rId19"/>
    <p:sldId id="765" r:id="rId20"/>
    <p:sldId id="766" r:id="rId21"/>
    <p:sldId id="767" r:id="rId22"/>
    <p:sldId id="768" r:id="rId23"/>
    <p:sldId id="769" r:id="rId24"/>
    <p:sldId id="770" r:id="rId25"/>
    <p:sldId id="778" r:id="rId26"/>
    <p:sldId id="771" r:id="rId27"/>
    <p:sldId id="773" r:id="rId28"/>
    <p:sldId id="774" r:id="rId29"/>
    <p:sldId id="775" r:id="rId30"/>
    <p:sldId id="776" r:id="rId31"/>
    <p:sldId id="777" r:id="rId32"/>
    <p:sldId id="813" r:id="rId33"/>
    <p:sldId id="814" r:id="rId34"/>
    <p:sldId id="815" r:id="rId35"/>
    <p:sldId id="816" r:id="rId36"/>
    <p:sldId id="817" r:id="rId37"/>
    <p:sldId id="818" r:id="rId38"/>
    <p:sldId id="819" r:id="rId39"/>
    <p:sldId id="807" r:id="rId40"/>
    <p:sldId id="402" r:id="rId41"/>
    <p:sldId id="697" r:id="rId42"/>
    <p:sldId id="779" r:id="rId43"/>
    <p:sldId id="784" r:id="rId44"/>
    <p:sldId id="698" r:id="rId45"/>
    <p:sldId id="751" r:id="rId46"/>
    <p:sldId id="808" r:id="rId47"/>
    <p:sldId id="699" r:id="rId48"/>
    <p:sldId id="700" r:id="rId49"/>
    <p:sldId id="666" r:id="rId50"/>
    <p:sldId id="787" r:id="rId51"/>
    <p:sldId id="788" r:id="rId52"/>
    <p:sldId id="703" r:id="rId53"/>
    <p:sldId id="704" r:id="rId54"/>
    <p:sldId id="701" r:id="rId55"/>
    <p:sldId id="673" r:id="rId56"/>
    <p:sldId id="809" r:id="rId57"/>
    <p:sldId id="392" r:id="rId58"/>
    <p:sldId id="705" r:id="rId59"/>
    <p:sldId id="488" r:id="rId60"/>
    <p:sldId id="706" r:id="rId61"/>
    <p:sldId id="707" r:id="rId62"/>
    <p:sldId id="708" r:id="rId63"/>
    <p:sldId id="713" r:id="rId64"/>
    <p:sldId id="717" r:id="rId65"/>
    <p:sldId id="718" r:id="rId66"/>
    <p:sldId id="719" r:id="rId67"/>
    <p:sldId id="710" r:id="rId68"/>
    <p:sldId id="721" r:id="rId69"/>
    <p:sldId id="722" r:id="rId70"/>
    <p:sldId id="724" r:id="rId71"/>
    <p:sldId id="493" r:id="rId72"/>
    <p:sldId id="501" r:id="rId73"/>
    <p:sldId id="504" r:id="rId74"/>
    <p:sldId id="810" r:id="rId75"/>
    <p:sldId id="726" r:id="rId76"/>
    <p:sldId id="780" r:id="rId77"/>
    <p:sldId id="781" r:id="rId78"/>
    <p:sldId id="782" r:id="rId79"/>
    <p:sldId id="783" r:id="rId80"/>
    <p:sldId id="727" r:id="rId81"/>
    <p:sldId id="728" r:id="rId82"/>
    <p:sldId id="747" r:id="rId83"/>
    <p:sldId id="748" r:id="rId84"/>
    <p:sldId id="749" r:id="rId85"/>
    <p:sldId id="730" r:id="rId86"/>
    <p:sldId id="731" r:id="rId87"/>
    <p:sldId id="732" r:id="rId88"/>
    <p:sldId id="733" r:id="rId89"/>
    <p:sldId id="734" r:id="rId90"/>
    <p:sldId id="735" r:id="rId91"/>
    <p:sldId id="736" r:id="rId92"/>
    <p:sldId id="737" r:id="rId93"/>
    <p:sldId id="739" r:id="rId94"/>
    <p:sldId id="740" r:id="rId95"/>
    <p:sldId id="741" r:id="rId96"/>
    <p:sldId id="750" r:id="rId97"/>
    <p:sldId id="811" r:id="rId98"/>
    <p:sldId id="789" r:id="rId99"/>
    <p:sldId id="790" r:id="rId100"/>
    <p:sldId id="791" r:id="rId101"/>
    <p:sldId id="792" r:id="rId102"/>
    <p:sldId id="793" r:id="rId103"/>
    <p:sldId id="794" r:id="rId104"/>
    <p:sldId id="795" r:id="rId105"/>
    <p:sldId id="796" r:id="rId106"/>
    <p:sldId id="797" r:id="rId107"/>
    <p:sldId id="812" r:id="rId108"/>
    <p:sldId id="799" r:id="rId109"/>
    <p:sldId id="800" r:id="rId110"/>
    <p:sldId id="801" r:id="rId111"/>
    <p:sldId id="802" r:id="rId112"/>
    <p:sldId id="803" r:id="rId113"/>
    <p:sldId id="804" r:id="rId114"/>
    <p:sldId id="805" r:id="rId115"/>
    <p:sldId id="806" r:id="rId116"/>
  </p:sldIdLst>
  <p:sldSz cx="12192000" cy="6858000"/>
  <p:notesSz cx="6858000" cy="9144000"/>
  <p:embeddedFontLst>
    <p:embeddedFont>
      <p:font typeface="PingFang SC" panose="020B0400000000000000" pitchFamily="34" charset="-122"/>
      <p:regular r:id="rId118"/>
      <p:bold r:id="rId119"/>
      <p:italic r:id="rId120"/>
      <p:boldItalic r:id="rId121"/>
    </p:embeddedFont>
    <p:embeddedFont>
      <p:font typeface="黑体" panose="02010609060101010101" pitchFamily="49" charset="-122"/>
      <p:regular r:id="rId122"/>
    </p:embeddedFont>
    <p:embeddedFont>
      <p:font typeface="华文行楷" panose="02010800040101010101" pitchFamily="2" charset="-122"/>
      <p:regular r:id="rId123"/>
    </p:embeddedFont>
    <p:embeddedFont>
      <p:font typeface="宋体" panose="02010600030101010101" pitchFamily="2" charset="-122"/>
      <p:regular r:id="rId124"/>
    </p:embeddedFont>
    <p:embeddedFont>
      <p:font typeface="微软雅黑" panose="020B0503020204020204" pitchFamily="34" charset="-122"/>
      <p:regular r:id="rId125"/>
      <p:bold r:id="rId126"/>
    </p:embeddedFont>
    <p:embeddedFont>
      <p:font typeface="微软雅黑" panose="020B0503020204020204" pitchFamily="34" charset="-122"/>
      <p:regular r:id="rId125"/>
      <p:bold r:id="rId126"/>
    </p:embeddedFont>
    <p:embeddedFont>
      <p:font typeface="Cambria Math" panose="02040503050406030204" pitchFamily="18" charset="0"/>
      <p:regular r:id="rId127"/>
    </p:embeddedFont>
    <p:embeddedFont>
      <p:font typeface="Tahoma" panose="020B0604030504040204" pitchFamily="34" charset="0"/>
      <p:regular r:id="rId128"/>
      <p:bold r:id="rId129"/>
    </p:embeddedFont>
  </p:embeddedFontLst>
  <p:defaultTextStyle>
    <a:defPPr>
      <a:defRPr lang="ko-KR"/>
    </a:defPPr>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Gulim" panose="020B0600000101010101" pitchFamily="34" charset="-127"/>
        <a:ea typeface="Gulim" panose="020B0600000101010101" pitchFamily="34" charset="-127"/>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Gulim" panose="020B0600000101010101" pitchFamily="34" charset="-127"/>
        <a:ea typeface="Gulim" panose="020B0600000101010101" pitchFamily="34" charset="-127"/>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Gulim" panose="020B0600000101010101" pitchFamily="34" charset="-127"/>
        <a:ea typeface="Gulim" panose="020B0600000101010101" pitchFamily="34" charset="-127"/>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Gulim" panose="020B0600000101010101" pitchFamily="34" charset="-127"/>
        <a:ea typeface="Gulim" panose="020B0600000101010101" pitchFamily="34" charset="-127"/>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Gulim" panose="020B0600000101010101" pitchFamily="34" charset="-127"/>
        <a:ea typeface="Gulim" panose="020B0600000101010101" pitchFamily="34" charset="-127"/>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Gulim" panose="020B0600000101010101" pitchFamily="34" charset="-127"/>
        <a:ea typeface="Gulim" panose="020B0600000101010101" pitchFamily="34" charset="-127"/>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Gulim" panose="020B0600000101010101" pitchFamily="34" charset="-127"/>
        <a:ea typeface="Gulim" panose="020B0600000101010101" pitchFamily="34" charset="-127"/>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Gulim" panose="020B0600000101010101" pitchFamily="34" charset="-127"/>
        <a:ea typeface="Gulim" panose="020B0600000101010101" pitchFamily="34" charset="-127"/>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Gulim" panose="020B0600000101010101" pitchFamily="34" charset="-127"/>
        <a:ea typeface="Gulim" panose="020B0600000101010101" pitchFamily="34" charset="-127"/>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774"/>
    <p:restoredTop sz="94223"/>
  </p:normalViewPr>
  <p:slideViewPr>
    <p:cSldViewPr showGuides="1">
      <p:cViewPr varScale="1">
        <p:scale>
          <a:sx n="115" d="100"/>
          <a:sy n="115" d="100"/>
        </p:scale>
        <p:origin x="240" y="280"/>
      </p:cViewPr>
      <p:guideLst>
        <p:guide orient="horz" pos="2160"/>
        <p:guide pos="383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954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notesMaster" Target="notesMasters/notesMaster1.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font" Target="fonts/font6.fntdata"/><Relationship Id="rId128" Type="http://schemas.openxmlformats.org/officeDocument/2006/relationships/font" Target="fonts/font11.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font" Target="fonts/font1.fnt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font" Target="fonts/font7.fntdata"/><Relationship Id="rId129" Type="http://schemas.openxmlformats.org/officeDocument/2006/relationships/font" Target="fonts/font12.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font" Target="fonts/font2.fntdata"/><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font" Target="fonts/font3.fntdata"/><Relationship Id="rId125" Type="http://schemas.openxmlformats.org/officeDocument/2006/relationships/font" Target="fonts/font8.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font" Target="fonts/font9.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font" Target="fonts/font4.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font" Target="fonts/font10.fntdata"/><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latinLnBrk="1" hangingPunct="1">
              <a:defRPr sz="1200"/>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endParaRPr>
          </a:p>
        </p:txBody>
      </p:sp>
      <p:sp>
        <p:nvSpPr>
          <p:cNvPr id="5632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latinLnBrk="1" hangingPunct="1">
              <a:defRPr sz="1200"/>
            </a:lvl1pPr>
          </a:lstStyle>
          <a:p>
            <a:pPr marL="0" marR="0" lvl="0" indent="0" algn="r" defTabSz="914400" rtl="0" eaLnBrk="1" fontAlgn="base" latinLnBrk="1"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endParaRPr>
          </a:p>
        </p:txBody>
      </p:sp>
      <p:sp>
        <p:nvSpPr>
          <p:cNvPr id="4100" name="Rectangle 4"/>
          <p:cNvSpPr>
            <a:spLocks noGrp="1" noRot="1" noChangeAspect="1" noTextEdit="1"/>
          </p:cNvSpPr>
          <p:nvPr>
            <p:ph type="sldImg" idx="2"/>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5632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1"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rPr>
              <a:t>单击此处编辑母版文本样式</a:t>
            </a:r>
          </a:p>
          <a:p>
            <a:pPr marL="457200" marR="0" lvl="1" indent="0" algn="l" defTabSz="914400" rtl="0" eaLnBrk="0" fontAlgn="base" latinLnBrk="1"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rPr>
              <a:t>第二级</a:t>
            </a:r>
          </a:p>
          <a:p>
            <a:pPr marL="914400" marR="0" lvl="2" indent="0" algn="l" defTabSz="914400" rtl="0" eaLnBrk="0" fontAlgn="base" latinLnBrk="1"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rPr>
              <a:t>第三级</a:t>
            </a:r>
          </a:p>
          <a:p>
            <a:pPr marL="1371600" marR="0" lvl="3" indent="0" algn="l" defTabSz="914400" rtl="0" eaLnBrk="0" fontAlgn="base" latinLnBrk="1"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rPr>
              <a:t>第四级</a:t>
            </a:r>
          </a:p>
          <a:p>
            <a:pPr marL="1828800" marR="0" lvl="4" indent="0" algn="l" defTabSz="914400" rtl="0" eaLnBrk="0" fontAlgn="base" latinLnBrk="1"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rPr>
              <a:t>第五级</a:t>
            </a:r>
          </a:p>
        </p:txBody>
      </p:sp>
      <p:sp>
        <p:nvSpPr>
          <p:cNvPr id="5632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latinLnBrk="1" hangingPunct="1">
              <a:defRPr sz="1200"/>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endParaRPr>
          </a:p>
        </p:txBody>
      </p:sp>
      <p:sp>
        <p:nvSpPr>
          <p:cNvPr id="5632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latinLnBrk="1" hangingPunct="1">
              <a:defRPr sz="1200"/>
            </a:lvl1pPr>
          </a:lstStyle>
          <a:p>
            <a:pPr marL="0" marR="0" lvl="0" indent="0" algn="r" defTabSz="914400" rtl="0" eaLnBrk="1" fontAlgn="base" latinLnBrk="1" hangingPunct="1">
              <a:lnSpc>
                <a:spcPct val="100000"/>
              </a:lnSpc>
              <a:spcBef>
                <a:spcPct val="0"/>
              </a:spcBef>
              <a:spcAft>
                <a:spcPct val="0"/>
              </a:spcAft>
              <a:buClrTx/>
              <a:buSzTx/>
              <a:buFontTx/>
              <a:buNone/>
              <a:defRPr/>
            </a:pPr>
            <a:fld id="{1DD6C00B-17F3-4562-9CD2-80450F117E46}" type="slidenum">
              <a:rPr kumimoji="1" lang="zh-CN" altLang="en-US"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rPr>
              <a:t>‹#›</a:t>
            </a:fld>
            <a:endParaRPr kumimoji="1" lang="en-US" altLang="zh-CN"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endParaRPr>
          </a:p>
        </p:txBody>
      </p:sp>
    </p:spTree>
    <p:extLst>
      <p:ext uri="{BB962C8B-B14F-4D97-AF65-F5344CB8AC3E}">
        <p14:creationId xmlns:p14="http://schemas.microsoft.com/office/powerpoint/2010/main" val="3759401521"/>
      </p:ext>
    </p:extLst>
  </p:cSld>
  <p:clrMap bg1="lt1" tx1="dk1" bg2="lt2" tx2="dk2" accent1="accent1" accent2="accent2" accent3="accent3" accent4="accent4" accent5="accent5" accent6="accent6" hlink="hlink" folHlink="folHlink"/>
  <p:hf sldNum="0" hdr="0" ftr="0" dt="0"/>
  <p:notesStyle>
    <a:lvl1pPr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1pPr>
    <a:lvl2pPr marL="4572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2pPr>
    <a:lvl3pPr marL="9144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3pPr>
    <a:lvl4pPr marL="13716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4pPr>
    <a:lvl5pPr marL="18288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1</a:t>
            </a:fld>
            <a:endParaRPr lang="zh-CN" altLang="en-US" dirty="0"/>
          </a:p>
        </p:txBody>
      </p:sp>
      <p:sp>
        <p:nvSpPr>
          <p:cNvPr id="6147" name="Rectangle 2"/>
          <p:cNvSpPr>
            <a:spLocks noGrp="1" noRot="1" noChangeAspect="1" noTextEdit="1"/>
          </p:cNvSpPr>
          <p:nvPr>
            <p:ph type="sldImg"/>
          </p:nvPr>
        </p:nvSpPr>
        <p:spPr>
          <a:xfrm>
            <a:off x="381000" y="685800"/>
            <a:ext cx="6096000" cy="3429000"/>
          </a:xfrm>
          <a:ln/>
        </p:spPr>
      </p:sp>
      <p:sp>
        <p:nvSpPr>
          <p:cNvPr id="6148" name="Rectangle 3"/>
          <p:cNvSpPr>
            <a:spLocks noGrp="1"/>
          </p:cNvSpPr>
          <p:nvPr>
            <p:ph type="body" idx="1"/>
          </p:nvPr>
        </p:nvSpPr>
        <p:spPr>
          <a:ln/>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154316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2</a:t>
            </a:fld>
            <a:endParaRPr lang="zh-CN" altLang="en-US" dirty="0"/>
          </a:p>
        </p:txBody>
      </p:sp>
      <p:sp>
        <p:nvSpPr>
          <p:cNvPr id="8195" name="Rectangle 2"/>
          <p:cNvSpPr>
            <a:spLocks noGrp="1" noRot="1" noChangeAspect="1" noTextEdit="1"/>
          </p:cNvSpPr>
          <p:nvPr>
            <p:ph type="sldImg"/>
          </p:nvPr>
        </p:nvSpPr>
        <p:spPr>
          <a:xfrm>
            <a:off x="381000" y="685800"/>
            <a:ext cx="6096000" cy="3429000"/>
          </a:xfrm>
          <a:ln/>
        </p:spPr>
      </p:sp>
      <p:sp>
        <p:nvSpPr>
          <p:cNvPr id="8196" name="Rectangle 3"/>
          <p:cNvSpPr>
            <a:spLocks noGrp="1"/>
          </p:cNvSpPr>
          <p:nvPr>
            <p:ph type="body" idx="1"/>
          </p:nvPr>
        </p:nvSpPr>
        <p:spPr>
          <a:ln/>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2068479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8505039-6962-D646-9A2B-17047581DB25}" type="slidenum">
              <a:rPr kumimoji="1" lang="zh-CN" altLang="en-US" smtClean="0"/>
              <a:pPr/>
              <a:t>6</a:t>
            </a:fld>
            <a:endParaRPr kumimoji="1" lang="zh-CN" altLang="en-US"/>
          </a:p>
        </p:txBody>
      </p:sp>
    </p:spTree>
    <p:extLst>
      <p:ext uri="{BB962C8B-B14F-4D97-AF65-F5344CB8AC3E}">
        <p14:creationId xmlns:p14="http://schemas.microsoft.com/office/powerpoint/2010/main" val="2031897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lang="zh-CN" altLang="en-US" sz="1200" dirty="0">
                <a:latin typeface="微软雅黑" panose="020B0503020204020204" charset="-122"/>
                <a:ea typeface="微软雅黑" panose="020B0503020204020204" charset="-122"/>
                <a:sym typeface="+mn-ea"/>
              </a:rPr>
              <a:t>。根据该假设，决策边界就应该尽量通过数据较为稀疏的地方。</a:t>
            </a:r>
            <a:endParaRPr lang="en-US" altLang="zh-CN" sz="1200" dirty="0">
              <a:latin typeface="微软雅黑" panose="020B0503020204020204" charset="-122"/>
              <a:ea typeface="微软雅黑" panose="020B0503020204020204" charset="-122"/>
              <a:sym typeface="+mn-ea"/>
            </a:endParaRPr>
          </a:p>
          <a:p>
            <a:pPr marL="0" marR="0" lvl="0" indent="0" algn="l" defTabSz="914400" rtl="0" eaLnBrk="0" fontAlgn="base" latinLnBrk="1" hangingPunct="0">
              <a:lnSpc>
                <a:spcPct val="100000"/>
              </a:lnSpc>
              <a:spcBef>
                <a:spcPct val="30000"/>
              </a:spcBef>
              <a:spcAft>
                <a:spcPct val="0"/>
              </a:spcAft>
              <a:buClrTx/>
              <a:buSzTx/>
              <a:buFontTx/>
              <a:buNone/>
              <a:tabLst/>
              <a:defRPr/>
            </a:pPr>
            <a:r>
              <a:rPr lang="zh-CN" altLang="en-US" sz="1200" dirty="0">
                <a:latin typeface="微软雅黑" panose="020B0503020204020204" charset="-122"/>
                <a:ea typeface="微软雅黑" panose="020B0503020204020204" charset="-122"/>
                <a:sym typeface="+mn-ea"/>
              </a:rPr>
              <a:t>在该假设下，大量未标记示例的作用就是让数据空间变得更加稠密，从而有助于更加准确地刻画局部特性，使得决策函数能够更好地进行数据拟合</a:t>
            </a:r>
            <a:endParaRPr lang="en-US" altLang="zh-CN" sz="1200" dirty="0">
              <a:latin typeface="微软雅黑" panose="020B0503020204020204" charset="-122"/>
              <a:ea typeface="微软雅黑" panose="020B0503020204020204" charset="-122"/>
              <a:sym typeface="+mn-ea"/>
            </a:endParaRPr>
          </a:p>
          <a:p>
            <a:endParaRPr lang="zh-CN" altLang="en-US" dirty="0"/>
          </a:p>
        </p:txBody>
      </p:sp>
    </p:spTree>
    <p:extLst>
      <p:ext uri="{BB962C8B-B14F-4D97-AF65-F5344CB8AC3E}">
        <p14:creationId xmlns:p14="http://schemas.microsoft.com/office/powerpoint/2010/main" val="2470071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xfrm>
            <a:off x="685800" y="1143000"/>
            <a:ext cx="5486400" cy="3086100"/>
          </a:xfrm>
        </p:spPr>
      </p:sp>
      <p:sp>
        <p:nvSpPr>
          <p:cNvPr id="13107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31076"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zh-CN" altLang="en-US" sz="1200" dirty="0">
                <a:latin typeface="Gulim" panose="020B0600000101010101" charset="-127"/>
              </a:rPr>
              <a:t>32</a:t>
            </a:fld>
            <a:endParaRPr lang="zh-CN" altLang="en-US" sz="1200" dirty="0">
              <a:latin typeface="Gulim" panose="020B0600000101010101" charset="-127"/>
            </a:endParaRPr>
          </a:p>
        </p:txBody>
      </p:sp>
    </p:spTree>
    <p:extLst>
      <p:ext uri="{BB962C8B-B14F-4D97-AF65-F5344CB8AC3E}">
        <p14:creationId xmlns:p14="http://schemas.microsoft.com/office/powerpoint/2010/main" val="3351702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xfrm>
            <a:off x="685800" y="1143000"/>
            <a:ext cx="5486400" cy="3086100"/>
          </a:xfrm>
        </p:spPr>
      </p:sp>
      <p:sp>
        <p:nvSpPr>
          <p:cNvPr id="133123"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33124"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zh-CN" altLang="en-US" sz="1200" dirty="0">
                <a:latin typeface="Gulim" panose="020B0600000101010101" charset="-127"/>
              </a:rPr>
              <a:t>33</a:t>
            </a:fld>
            <a:endParaRPr lang="zh-CN" altLang="en-US" sz="1200" dirty="0">
              <a:latin typeface="Gulim" panose="020B0600000101010101" charset="-127"/>
            </a:endParaRPr>
          </a:p>
        </p:txBody>
      </p:sp>
    </p:spTree>
    <p:extLst>
      <p:ext uri="{BB962C8B-B14F-4D97-AF65-F5344CB8AC3E}">
        <p14:creationId xmlns:p14="http://schemas.microsoft.com/office/powerpoint/2010/main" val="3043315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a:xfrm>
            <a:off x="685800" y="1143000"/>
            <a:ext cx="5486400" cy="3086100"/>
          </a:xfrm>
        </p:spPr>
      </p:sp>
      <p:sp>
        <p:nvSpPr>
          <p:cNvPr id="13619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36196"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zh-CN" altLang="en-US" sz="1200" dirty="0">
                <a:latin typeface="Gulim" panose="020B0600000101010101" charset="-127"/>
              </a:rPr>
              <a:t>35</a:t>
            </a:fld>
            <a:endParaRPr lang="zh-CN" altLang="en-US" sz="1200" dirty="0">
              <a:latin typeface="Gulim" panose="020B0600000101010101" charset="-127"/>
            </a:endParaRPr>
          </a:p>
        </p:txBody>
      </p:sp>
    </p:spTree>
    <p:extLst>
      <p:ext uri="{BB962C8B-B14F-4D97-AF65-F5344CB8AC3E}">
        <p14:creationId xmlns:p14="http://schemas.microsoft.com/office/powerpoint/2010/main" val="1792559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a:xfrm>
            <a:off x="381000" y="685800"/>
            <a:ext cx="6096000" cy="3429000"/>
          </a:xfrm>
        </p:spPr>
      </p:sp>
      <p:sp>
        <p:nvSpPr>
          <p:cNvPr id="138243"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382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zh-CN" altLang="en-US" sz="1200" dirty="0">
                <a:latin typeface="Gulim" panose="020B0600000101010101" charset="-127"/>
              </a:rPr>
              <a:t>36</a:t>
            </a:fld>
            <a:endParaRPr lang="zh-CN" altLang="en-US" sz="1200" dirty="0">
              <a:latin typeface="Gulim" panose="020B0600000101010101" charset="-127"/>
            </a:endParaRPr>
          </a:p>
        </p:txBody>
      </p:sp>
    </p:spTree>
    <p:extLst>
      <p:ext uri="{BB962C8B-B14F-4D97-AF65-F5344CB8AC3E}">
        <p14:creationId xmlns:p14="http://schemas.microsoft.com/office/powerpoint/2010/main" val="3711680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a:xfrm>
            <a:off x="381000" y="685800"/>
            <a:ext cx="6096000" cy="3429000"/>
          </a:xfrm>
        </p:spPr>
      </p:sp>
      <p:sp>
        <p:nvSpPr>
          <p:cNvPr id="138243"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382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zh-CN" altLang="en-US" sz="1200" dirty="0">
                <a:latin typeface="Gulim" panose="020B0600000101010101" charset="-127"/>
              </a:rPr>
              <a:t>37</a:t>
            </a:fld>
            <a:endParaRPr lang="zh-CN" altLang="en-US" sz="1200" dirty="0">
              <a:latin typeface="Gulim" panose="020B0600000101010101" charset="-127"/>
            </a:endParaRPr>
          </a:p>
        </p:txBody>
      </p:sp>
    </p:spTree>
    <p:extLst>
      <p:ext uri="{BB962C8B-B14F-4D97-AF65-F5344CB8AC3E}">
        <p14:creationId xmlns:p14="http://schemas.microsoft.com/office/powerpoint/2010/main" val="1378926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fld id="{9A0DB2DC-4C9A-4742-B13C-FB6460FD3503}" type="slidenum">
              <a:rPr lang="zh-CN" altLang="en-US" dirty="0">
                <a:solidFill>
                  <a:srgbClr val="000000"/>
                </a:solidFill>
              </a:rPr>
              <a:pPr/>
              <a:t>38</a:t>
            </a:fld>
            <a:endParaRPr lang="zh-CN" altLang="en-US" dirty="0">
              <a:solidFill>
                <a:srgbClr val="000000"/>
              </a:solidFill>
            </a:endParaRPr>
          </a:p>
        </p:txBody>
      </p:sp>
      <p:sp>
        <p:nvSpPr>
          <p:cNvPr id="8195" name="Rectangle 2"/>
          <p:cNvSpPr>
            <a:spLocks noGrp="1" noRot="1" noChangeAspect="1" noTextEdit="1"/>
          </p:cNvSpPr>
          <p:nvPr>
            <p:ph type="sldImg"/>
          </p:nvPr>
        </p:nvSpPr>
        <p:spPr>
          <a:xfrm>
            <a:off x="381000" y="685800"/>
            <a:ext cx="6096000" cy="3429000"/>
          </a:xfrm>
          <a:ln/>
        </p:spPr>
      </p:sp>
      <p:sp>
        <p:nvSpPr>
          <p:cNvPr id="8196" name="Rectangle 3"/>
          <p:cNvSpPr>
            <a:spLocks noGrp="1"/>
          </p:cNvSpPr>
          <p:nvPr>
            <p:ph type="body" idx="1"/>
          </p:nvPr>
        </p:nvSpPr>
        <p:spPr>
          <a:ln/>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964374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8505039-6962-D646-9A2B-17047581DB25}" type="slidenum">
              <a:rPr kumimoji="1" lang="zh-CN" altLang="en-US" smtClean="0"/>
              <a:pPr/>
              <a:t>41</a:t>
            </a:fld>
            <a:endParaRPr kumimoji="1" lang="zh-CN" altLang="en-US"/>
          </a:p>
        </p:txBody>
      </p:sp>
    </p:spTree>
    <p:extLst>
      <p:ext uri="{BB962C8B-B14F-4D97-AF65-F5344CB8AC3E}">
        <p14:creationId xmlns:p14="http://schemas.microsoft.com/office/powerpoint/2010/main" val="817550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8505039-6962-D646-9A2B-17047581DB25}" type="slidenum">
              <a:rPr kumimoji="1" lang="zh-CN" altLang="en-US" smtClean="0"/>
              <a:pPr/>
              <a:t>42</a:t>
            </a:fld>
            <a:endParaRPr kumimoji="1" lang="zh-CN" altLang="en-US"/>
          </a:p>
        </p:txBody>
      </p:sp>
    </p:spTree>
    <p:extLst>
      <p:ext uri="{BB962C8B-B14F-4D97-AF65-F5344CB8AC3E}">
        <p14:creationId xmlns:p14="http://schemas.microsoft.com/office/powerpoint/2010/main" val="18842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fld id="{9A0DB2DC-4C9A-4742-B13C-FB6460FD3503}" type="slidenum">
              <a:rPr lang="zh-CN" altLang="en-US" dirty="0">
                <a:solidFill>
                  <a:srgbClr val="000000"/>
                </a:solidFill>
              </a:rPr>
              <a:pPr/>
              <a:t>45</a:t>
            </a:fld>
            <a:endParaRPr lang="zh-CN" altLang="en-US" dirty="0">
              <a:solidFill>
                <a:srgbClr val="000000"/>
              </a:solidFill>
            </a:endParaRPr>
          </a:p>
        </p:txBody>
      </p:sp>
      <p:sp>
        <p:nvSpPr>
          <p:cNvPr id="8195" name="Rectangle 2"/>
          <p:cNvSpPr>
            <a:spLocks noGrp="1" noRot="1" noChangeAspect="1" noTextEdit="1"/>
          </p:cNvSpPr>
          <p:nvPr>
            <p:ph type="sldImg"/>
          </p:nvPr>
        </p:nvSpPr>
        <p:spPr>
          <a:xfrm>
            <a:off x="381000" y="685800"/>
            <a:ext cx="6096000" cy="3429000"/>
          </a:xfrm>
          <a:ln/>
        </p:spPr>
      </p:sp>
      <p:sp>
        <p:nvSpPr>
          <p:cNvPr id="8196" name="Rectangle 3"/>
          <p:cNvSpPr>
            <a:spLocks noGrp="1"/>
          </p:cNvSpPr>
          <p:nvPr>
            <p:ph type="body" idx="1"/>
          </p:nvPr>
        </p:nvSpPr>
        <p:spPr>
          <a:ln/>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139588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48</a:t>
            </a:fld>
            <a:endParaRPr lang="zh-CN" altLang="en-US" dirty="0"/>
          </a:p>
        </p:txBody>
      </p:sp>
      <p:sp>
        <p:nvSpPr>
          <p:cNvPr id="56323" name="Rectangle 2"/>
          <p:cNvSpPr>
            <a:spLocks noGrp="1" noRot="1" noChangeAspect="1" noTextEdit="1"/>
          </p:cNvSpPr>
          <p:nvPr>
            <p:ph type="sldImg"/>
          </p:nvPr>
        </p:nvSpPr>
        <p:spPr>
          <a:xfrm>
            <a:off x="381000" y="685800"/>
            <a:ext cx="6096000" cy="3429000"/>
          </a:xfrm>
          <a:ln/>
        </p:spPr>
      </p:sp>
      <p:sp>
        <p:nvSpPr>
          <p:cNvPr id="56324" name="Rectangle 3"/>
          <p:cNvSpPr>
            <a:spLocks noGrp="1"/>
          </p:cNvSpPr>
          <p:nvPr>
            <p:ph type="body" idx="1"/>
          </p:nvPr>
        </p:nvSpPr>
        <p:spPr>
          <a:ln/>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2355754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zh-CN" altLang="en-US" sz="1200" dirty="0"/>
              <a:t>51</a:t>
            </a:fld>
            <a:endParaRPr lang="zh-CN" altLang="en-US" sz="1200" dirty="0"/>
          </a:p>
        </p:txBody>
      </p:sp>
      <p:sp>
        <p:nvSpPr>
          <p:cNvPr id="58371" name="Rectangle 2"/>
          <p:cNvSpPr>
            <a:spLocks noGrp="1" noRot="1" noChangeAspect="1" noTextEdit="1"/>
          </p:cNvSpPr>
          <p:nvPr>
            <p:ph type="sldImg"/>
          </p:nvPr>
        </p:nvSpPr>
        <p:spPr>
          <a:xfrm>
            <a:off x="381000" y="685800"/>
            <a:ext cx="6096000" cy="3429000"/>
          </a:xfrm>
          <a:ln/>
        </p:spPr>
      </p:sp>
      <p:sp>
        <p:nvSpPr>
          <p:cNvPr id="58372" name="Rectangle 3"/>
          <p:cNvSpPr>
            <a:spLocks noGrp="1"/>
          </p:cNvSpPr>
          <p:nvPr>
            <p:ph type="body" idx="1"/>
          </p:nvPr>
        </p:nvSpPr>
        <p:spPr>
          <a:ln/>
        </p:spPr>
        <p:txBody>
          <a:bodyPr wrap="square" lIns="91440" tIns="45720" rIns="91440" bIns="45720" anchor="t" anchorCtr="0"/>
          <a:lstStyle/>
          <a:p>
            <a:pPr lvl="0"/>
            <a:endParaRPr lang="zh-CN" altLang="en-US" dirty="0"/>
          </a:p>
        </p:txBody>
      </p:sp>
    </p:spTree>
    <p:extLst>
      <p:ext uri="{BB962C8B-B14F-4D97-AF65-F5344CB8AC3E}">
        <p14:creationId xmlns:p14="http://schemas.microsoft.com/office/powerpoint/2010/main" val="2777189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zh-CN" altLang="en-US" sz="1200" dirty="0"/>
              <a:t>52</a:t>
            </a:fld>
            <a:endParaRPr lang="zh-CN" altLang="en-US" sz="1200" dirty="0"/>
          </a:p>
        </p:txBody>
      </p:sp>
      <p:sp>
        <p:nvSpPr>
          <p:cNvPr id="60419" name="Rectangle 2"/>
          <p:cNvSpPr>
            <a:spLocks noGrp="1" noRot="1" noChangeAspect="1" noTextEdit="1"/>
          </p:cNvSpPr>
          <p:nvPr>
            <p:ph type="sldImg"/>
          </p:nvPr>
        </p:nvSpPr>
        <p:spPr>
          <a:xfrm>
            <a:off x="381000" y="685800"/>
            <a:ext cx="6096000" cy="3429000"/>
          </a:xfrm>
          <a:ln/>
        </p:spPr>
      </p:sp>
      <p:sp>
        <p:nvSpPr>
          <p:cNvPr id="60420" name="Rectangle 3"/>
          <p:cNvSpPr>
            <a:spLocks noGrp="1"/>
          </p:cNvSpPr>
          <p:nvPr>
            <p:ph type="body" idx="1"/>
          </p:nvPr>
        </p:nvSpPr>
        <p:spPr>
          <a:ln/>
        </p:spPr>
        <p:txBody>
          <a:bodyPr wrap="square" lIns="91440" tIns="45720" rIns="91440" bIns="45720" anchor="t" anchorCtr="0"/>
          <a:lstStyle/>
          <a:p>
            <a:pPr lvl="0"/>
            <a:endParaRPr lang="zh-CN" altLang="en-US" dirty="0"/>
          </a:p>
        </p:txBody>
      </p:sp>
    </p:spTree>
    <p:extLst>
      <p:ext uri="{BB962C8B-B14F-4D97-AF65-F5344CB8AC3E}">
        <p14:creationId xmlns:p14="http://schemas.microsoft.com/office/powerpoint/2010/main" val="981549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54</a:t>
            </a:fld>
            <a:endParaRPr lang="zh-CN" altLang="en-US" dirty="0"/>
          </a:p>
        </p:txBody>
      </p:sp>
      <p:sp>
        <p:nvSpPr>
          <p:cNvPr id="75779" name="Rectangle 2"/>
          <p:cNvSpPr>
            <a:spLocks noGrp="1" noRot="1" noChangeAspect="1" noTextEdit="1"/>
          </p:cNvSpPr>
          <p:nvPr>
            <p:ph type="sldImg"/>
          </p:nvPr>
        </p:nvSpPr>
        <p:spPr>
          <a:xfrm>
            <a:off x="381000" y="685800"/>
            <a:ext cx="6096000" cy="3429000"/>
          </a:xfrm>
          <a:ln/>
        </p:spPr>
      </p:sp>
      <p:sp>
        <p:nvSpPr>
          <p:cNvPr id="75780" name="Rectangle 3"/>
          <p:cNvSpPr>
            <a:spLocks noGrp="1"/>
          </p:cNvSpPr>
          <p:nvPr>
            <p:ph type="body" idx="1"/>
          </p:nvPr>
        </p:nvSpPr>
        <p:spPr>
          <a:ln/>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300583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fld id="{9A0DB2DC-4C9A-4742-B13C-FB6460FD3503}" type="slidenum">
              <a:rPr lang="zh-CN" altLang="en-US" dirty="0">
                <a:solidFill>
                  <a:srgbClr val="000000"/>
                </a:solidFill>
              </a:rPr>
              <a:pPr/>
              <a:t>55</a:t>
            </a:fld>
            <a:endParaRPr lang="zh-CN" altLang="en-US" dirty="0">
              <a:solidFill>
                <a:srgbClr val="000000"/>
              </a:solidFill>
            </a:endParaRPr>
          </a:p>
        </p:txBody>
      </p:sp>
      <p:sp>
        <p:nvSpPr>
          <p:cNvPr id="8195" name="Rectangle 2"/>
          <p:cNvSpPr>
            <a:spLocks noGrp="1" noRot="1" noChangeAspect="1" noTextEdit="1"/>
          </p:cNvSpPr>
          <p:nvPr>
            <p:ph type="sldImg"/>
          </p:nvPr>
        </p:nvSpPr>
        <p:spPr>
          <a:xfrm>
            <a:off x="381000" y="685800"/>
            <a:ext cx="6096000" cy="3429000"/>
          </a:xfrm>
          <a:ln/>
        </p:spPr>
      </p:sp>
      <p:sp>
        <p:nvSpPr>
          <p:cNvPr id="8196" name="Rectangle 3"/>
          <p:cNvSpPr>
            <a:spLocks noGrp="1"/>
          </p:cNvSpPr>
          <p:nvPr>
            <p:ph type="body" idx="1"/>
          </p:nvPr>
        </p:nvSpPr>
        <p:spPr>
          <a:ln/>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39061073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381000" y="685800"/>
            <a:ext cx="6096000" cy="3429000"/>
          </a:xfrm>
          <a:ln/>
        </p:spPr>
      </p:sp>
      <p:sp>
        <p:nvSpPr>
          <p:cNvPr id="84995"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849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en-US" altLang="zh-CN" sz="1200" dirty="0">
                <a:latin typeface="Tahoma" panose="020B0604030504040204" pitchFamily="34" charset="0"/>
                <a:ea typeface="宋体" panose="02010600030101010101" pitchFamily="2" charset="-122"/>
              </a:rPr>
              <a:t>61</a:t>
            </a:fld>
            <a:endParaRPr lang="en-US" altLang="zh-CN" sz="12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036170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xfrm>
            <a:off x="381000" y="685800"/>
            <a:ext cx="6096000" cy="3429000"/>
          </a:xfrm>
          <a:ln/>
        </p:spPr>
      </p:sp>
      <p:sp>
        <p:nvSpPr>
          <p:cNvPr id="93187"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931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en-US" altLang="zh-CN" sz="1200" dirty="0">
                <a:latin typeface="Tahoma" panose="020B0604030504040204" pitchFamily="34" charset="0"/>
                <a:ea typeface="宋体" panose="02010600030101010101" pitchFamily="2" charset="-122"/>
              </a:rPr>
              <a:t>62</a:t>
            </a:fld>
            <a:endParaRPr lang="en-US" altLang="zh-CN" sz="12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62154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xfrm>
            <a:off x="381000" y="685800"/>
            <a:ext cx="6096000" cy="3429000"/>
          </a:xfrm>
          <a:ln/>
        </p:spPr>
      </p:sp>
      <p:sp>
        <p:nvSpPr>
          <p:cNvPr id="95235"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952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en-US" altLang="zh-CN" sz="1200" dirty="0">
                <a:latin typeface="Tahoma" panose="020B0604030504040204" pitchFamily="34" charset="0"/>
                <a:ea typeface="宋体" panose="02010600030101010101" pitchFamily="2" charset="-122"/>
              </a:rPr>
              <a:t>63</a:t>
            </a:fld>
            <a:endParaRPr lang="en-US" altLang="zh-CN" sz="12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532889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xfrm>
            <a:off x="381000" y="685800"/>
            <a:ext cx="6096000" cy="3429000"/>
          </a:xfrm>
          <a:ln/>
        </p:spPr>
      </p:sp>
      <p:sp>
        <p:nvSpPr>
          <p:cNvPr id="97283"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972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en-US" altLang="zh-CN" sz="1200" dirty="0">
                <a:latin typeface="Tahoma" panose="020B0604030504040204" pitchFamily="34" charset="0"/>
                <a:ea typeface="宋体" panose="02010600030101010101" pitchFamily="2" charset="-122"/>
              </a:rPr>
              <a:t>64</a:t>
            </a:fld>
            <a:endParaRPr lang="en-US" altLang="zh-CN" sz="12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579018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a:xfrm>
            <a:off x="381000" y="685800"/>
            <a:ext cx="6096000" cy="3429000"/>
          </a:xfrm>
          <a:ln/>
        </p:spPr>
      </p:sp>
      <p:sp>
        <p:nvSpPr>
          <p:cNvPr id="99331"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993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en-US" altLang="zh-CN" sz="1200" dirty="0">
                <a:latin typeface="Tahoma" panose="020B0604030504040204" pitchFamily="34" charset="0"/>
                <a:ea typeface="宋体" panose="02010600030101010101" pitchFamily="2" charset="-122"/>
              </a:rPr>
              <a:t>65</a:t>
            </a:fld>
            <a:endParaRPr lang="en-US" altLang="zh-CN" sz="12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766029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xfrm>
            <a:off x="381000" y="685800"/>
            <a:ext cx="6096000" cy="3429000"/>
          </a:xfrm>
          <a:ln/>
        </p:spPr>
      </p:sp>
      <p:sp>
        <p:nvSpPr>
          <p:cNvPr id="87043"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870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en-US" altLang="zh-CN" sz="1200" dirty="0">
                <a:latin typeface="Tahoma" panose="020B0604030504040204" pitchFamily="34" charset="0"/>
                <a:ea typeface="宋体" panose="02010600030101010101" pitchFamily="2" charset="-122"/>
              </a:rPr>
              <a:t>66</a:t>
            </a:fld>
            <a:endParaRPr lang="en-US" altLang="zh-CN" sz="12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457555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xfrm>
            <a:off x="381000" y="685800"/>
            <a:ext cx="6096000" cy="3429000"/>
          </a:xfrm>
          <a:ln/>
        </p:spPr>
      </p:sp>
      <p:sp>
        <p:nvSpPr>
          <p:cNvPr id="101379"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1013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en-US" altLang="zh-CN" sz="1200" dirty="0">
                <a:latin typeface="Tahoma" panose="020B0604030504040204" pitchFamily="34" charset="0"/>
                <a:ea typeface="宋体" panose="02010600030101010101" pitchFamily="2" charset="-122"/>
              </a:rPr>
              <a:t>67</a:t>
            </a:fld>
            <a:endParaRPr lang="en-US" altLang="zh-CN" sz="12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20728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xfrm>
            <a:off x="381000" y="685800"/>
            <a:ext cx="6096000" cy="3429000"/>
          </a:xfrm>
          <a:ln/>
        </p:spPr>
      </p:sp>
      <p:sp>
        <p:nvSpPr>
          <p:cNvPr id="103427"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1034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en-US" altLang="zh-CN" sz="1200" dirty="0">
                <a:latin typeface="Tahoma" panose="020B0604030504040204" pitchFamily="34" charset="0"/>
                <a:ea typeface="宋体" panose="02010600030101010101" pitchFamily="2" charset="-122"/>
              </a:rPr>
              <a:t>68</a:t>
            </a:fld>
            <a:endParaRPr lang="en-US" altLang="zh-CN" sz="12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227912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xfrm>
            <a:off x="381000" y="685800"/>
            <a:ext cx="6096000" cy="3429000"/>
          </a:xfrm>
          <a:ln/>
        </p:spPr>
      </p:sp>
      <p:sp>
        <p:nvSpPr>
          <p:cNvPr id="105475"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1054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en-US" altLang="zh-CN" sz="1200" dirty="0">
                <a:latin typeface="Tahoma" panose="020B0604030504040204" pitchFamily="34" charset="0"/>
                <a:ea typeface="宋体" panose="02010600030101010101" pitchFamily="2" charset="-122"/>
              </a:rPr>
              <a:t>69</a:t>
            </a:fld>
            <a:endParaRPr lang="en-US" altLang="zh-CN" sz="12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83045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fld id="{9A0DB2DC-4C9A-4742-B13C-FB6460FD3503}" type="slidenum">
              <a:rPr lang="zh-CN" altLang="en-US" dirty="0">
                <a:solidFill>
                  <a:srgbClr val="000000"/>
                </a:solidFill>
              </a:rPr>
              <a:pPr/>
              <a:t>73</a:t>
            </a:fld>
            <a:endParaRPr lang="zh-CN" altLang="en-US" dirty="0">
              <a:solidFill>
                <a:srgbClr val="000000"/>
              </a:solidFill>
            </a:endParaRPr>
          </a:p>
        </p:txBody>
      </p:sp>
      <p:sp>
        <p:nvSpPr>
          <p:cNvPr id="8195" name="Rectangle 2"/>
          <p:cNvSpPr>
            <a:spLocks noGrp="1" noRot="1" noChangeAspect="1" noTextEdit="1"/>
          </p:cNvSpPr>
          <p:nvPr>
            <p:ph type="sldImg"/>
          </p:nvPr>
        </p:nvSpPr>
        <p:spPr>
          <a:xfrm>
            <a:off x="381000" y="685800"/>
            <a:ext cx="6096000" cy="3429000"/>
          </a:xfrm>
          <a:ln/>
        </p:spPr>
      </p:sp>
      <p:sp>
        <p:nvSpPr>
          <p:cNvPr id="8196" name="Rectangle 3"/>
          <p:cNvSpPr>
            <a:spLocks noGrp="1"/>
          </p:cNvSpPr>
          <p:nvPr>
            <p:ph type="body" idx="1"/>
          </p:nvPr>
        </p:nvSpPr>
        <p:spPr>
          <a:ln/>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37581115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xfrm>
            <a:off x="381000" y="685800"/>
            <a:ext cx="6096000" cy="3429000"/>
          </a:xfrm>
          <a:ln/>
        </p:spPr>
      </p:sp>
      <p:sp>
        <p:nvSpPr>
          <p:cNvPr id="117763" name="备注占位符 2"/>
          <p:cNvSpPr>
            <a:spLocks noGrp="1"/>
          </p:cNvSpPr>
          <p:nvPr>
            <p:ph type="body" idx="1"/>
          </p:nvPr>
        </p:nvSpPr>
        <p:spPr>
          <a:ln/>
        </p:spPr>
        <p:txBody>
          <a:bodyPr wrap="square" lIns="91440" tIns="45720" rIns="91440" bIns="45720" anchor="t" anchorCtr="0"/>
          <a:lstStyle/>
          <a:p>
            <a:pPr lvl="0"/>
            <a:endParaRPr lang="zh-CN" altLang="en-US" dirty="0"/>
          </a:p>
        </p:txBody>
      </p:sp>
      <p:sp>
        <p:nvSpPr>
          <p:cNvPr id="1177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latinLnBrk="1" hangingPunct="1"/>
            <a:fld id="{9A0DB2DC-4C9A-4742-B13C-FB6460FD3503}" type="slidenum">
              <a:rPr lang="zh-CN" altLang="en-US" sz="1200" dirty="0"/>
              <a:t>83</a:t>
            </a:fld>
            <a:endParaRPr lang="zh-CN" altLang="en-US" sz="1200" dirty="0"/>
          </a:p>
        </p:txBody>
      </p:sp>
    </p:spTree>
    <p:extLst>
      <p:ext uri="{BB962C8B-B14F-4D97-AF65-F5344CB8AC3E}">
        <p14:creationId xmlns:p14="http://schemas.microsoft.com/office/powerpoint/2010/main" val="149009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2109392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96</a:t>
            </a:fld>
            <a:endParaRPr lang="zh-CN" altLang="en-US" dirty="0"/>
          </a:p>
        </p:txBody>
      </p:sp>
      <p:sp>
        <p:nvSpPr>
          <p:cNvPr id="8195" name="Rectangle 2"/>
          <p:cNvSpPr>
            <a:spLocks noGrp="1" noRot="1" noChangeAspect="1" noTextEdit="1"/>
          </p:cNvSpPr>
          <p:nvPr>
            <p:ph type="sldImg"/>
          </p:nvPr>
        </p:nvSpPr>
        <p:spPr>
          <a:xfrm>
            <a:off x="381000" y="685800"/>
            <a:ext cx="6096000" cy="3429000"/>
          </a:xfrm>
          <a:ln/>
        </p:spPr>
      </p:sp>
      <p:sp>
        <p:nvSpPr>
          <p:cNvPr id="8196" name="Rectangle 3"/>
          <p:cNvSpPr>
            <a:spLocks noGrp="1"/>
          </p:cNvSpPr>
          <p:nvPr>
            <p:ph type="body" idx="1"/>
          </p:nvPr>
        </p:nvSpPr>
        <p:spPr>
          <a:ln/>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9738125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ChangeArrowheads="1" noTextEdit="1"/>
          </p:cNvSpPr>
          <p:nvPr>
            <p:ph type="sldImg"/>
          </p:nvPr>
        </p:nvSpPr>
        <p:spPr>
          <a:xfrm>
            <a:off x="381000" y="685800"/>
            <a:ext cx="6096000" cy="3429000"/>
          </a:xfrm>
          <a:ln/>
        </p:spPr>
      </p:sp>
      <p:sp>
        <p:nvSpPr>
          <p:cNvPr id="25603" name="备注占位符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Gulim" panose="02010600030101010101" charset="-122"/>
              <a:ea typeface="Gulim" panose="02010600030101010101" charset="-122"/>
            </a:endParaRPr>
          </a:p>
        </p:txBody>
      </p:sp>
      <p:sp>
        <p:nvSpPr>
          <p:cNvPr id="25604" name="灯片编号占位符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Gulim" panose="02010600030101010101" charset="-122"/>
              </a:defRPr>
            </a:lvl1pPr>
            <a:lvl2pPr marL="742950" indent="-285750">
              <a:defRPr kumimoji="1" sz="2800">
                <a:solidFill>
                  <a:schemeClr val="tx1"/>
                </a:solidFill>
                <a:latin typeface="Times New Roman" panose="02020603050405020304" pitchFamily="18" charset="0"/>
                <a:ea typeface="Gulim" panose="02010600030101010101" charset="-122"/>
              </a:defRPr>
            </a:lvl2pPr>
            <a:lvl3pPr marL="1143000" indent="-228600">
              <a:defRPr kumimoji="1" sz="2800">
                <a:solidFill>
                  <a:schemeClr val="tx1"/>
                </a:solidFill>
                <a:latin typeface="Times New Roman" panose="02020603050405020304" pitchFamily="18" charset="0"/>
                <a:ea typeface="Gulim" panose="02010600030101010101" charset="-122"/>
              </a:defRPr>
            </a:lvl3pPr>
            <a:lvl4pPr marL="1600200" indent="-228600">
              <a:defRPr kumimoji="1" sz="2800">
                <a:solidFill>
                  <a:schemeClr val="tx1"/>
                </a:solidFill>
                <a:latin typeface="Times New Roman" panose="02020603050405020304" pitchFamily="18" charset="0"/>
                <a:ea typeface="Gulim" panose="02010600030101010101" charset="-122"/>
              </a:defRPr>
            </a:lvl4pPr>
            <a:lvl5pPr marL="2057400" indent="-228600">
              <a:defRPr kumimoji="1" sz="2800">
                <a:solidFill>
                  <a:schemeClr val="tx1"/>
                </a:solidFill>
                <a:latin typeface="Times New Roman" panose="02020603050405020304" pitchFamily="18" charset="0"/>
                <a:ea typeface="Gulim" panose="02010600030101010101"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Gulim" panose="02010600030101010101"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Gulim" panose="02010600030101010101"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Gulim" panose="02010600030101010101"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Gulim" panose="02010600030101010101" charset="-122"/>
              </a:defRPr>
            </a:lvl9pPr>
          </a:lstStyle>
          <a:p>
            <a:fld id="{D994592A-3AB9-43D4-91F3-F5CFCB1A850C}" type="slidenum">
              <a:rPr lang="zh-CN" altLang="en-US" sz="1200" smtClean="0">
                <a:latin typeface="Gulim" panose="02010600030101010101" charset="-122"/>
              </a:rPr>
              <a:pPr/>
              <a:t>98</a:t>
            </a:fld>
            <a:endParaRPr lang="en-US" altLang="zh-CN" sz="1200">
              <a:latin typeface="Gulim" panose="02010600030101010101" charset="-122"/>
            </a:endParaRPr>
          </a:p>
        </p:txBody>
      </p:sp>
    </p:spTree>
    <p:extLst>
      <p:ext uri="{BB962C8B-B14F-4D97-AF65-F5344CB8AC3E}">
        <p14:creationId xmlns:p14="http://schemas.microsoft.com/office/powerpoint/2010/main" val="21181474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fld id="{9A0DB2DC-4C9A-4742-B13C-FB6460FD3503}" type="slidenum">
              <a:rPr lang="zh-CN" altLang="en-US" dirty="0">
                <a:solidFill>
                  <a:srgbClr val="000000"/>
                </a:solidFill>
              </a:rPr>
              <a:pPr/>
              <a:t>106</a:t>
            </a:fld>
            <a:endParaRPr lang="zh-CN" altLang="en-US" dirty="0">
              <a:solidFill>
                <a:srgbClr val="000000"/>
              </a:solidFill>
            </a:endParaRPr>
          </a:p>
        </p:txBody>
      </p:sp>
      <p:sp>
        <p:nvSpPr>
          <p:cNvPr id="8195" name="Rectangle 2"/>
          <p:cNvSpPr>
            <a:spLocks noGrp="1" noRot="1" noChangeAspect="1" noTextEdit="1"/>
          </p:cNvSpPr>
          <p:nvPr>
            <p:ph type="sldImg"/>
          </p:nvPr>
        </p:nvSpPr>
        <p:spPr>
          <a:xfrm>
            <a:off x="381000" y="685800"/>
            <a:ext cx="6096000" cy="3429000"/>
          </a:xfrm>
          <a:ln/>
        </p:spPr>
      </p:sp>
      <p:sp>
        <p:nvSpPr>
          <p:cNvPr id="8196" name="Rectangle 3"/>
          <p:cNvSpPr>
            <a:spLocks noGrp="1"/>
          </p:cNvSpPr>
          <p:nvPr>
            <p:ph type="body" idx="1"/>
          </p:nvPr>
        </p:nvSpPr>
        <p:spPr>
          <a:ln/>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4994533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ChangeArrowheads="1" noTextEdit="1"/>
          </p:cNvSpPr>
          <p:nvPr>
            <p:ph type="sldImg" idx="2"/>
          </p:nvPr>
        </p:nvSpPr>
        <p:spPr>
          <a:xfrm>
            <a:off x="381000" y="685800"/>
            <a:ext cx="6096000" cy="3429000"/>
          </a:xfrm>
          <a:ln/>
        </p:spPr>
      </p:sp>
      <p:sp>
        <p:nvSpPr>
          <p:cNvPr id="40963" name="文本占位符 2"/>
          <p:cNvSpPr>
            <a:spLocks noGrp="1" noChangeArrowheads="1"/>
          </p:cNvSpPr>
          <p:nvPr>
            <p:ph type="body" idx="3"/>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Gulim" panose="02010600030101010101" charset="-122"/>
              <a:ea typeface="Gulim" panose="02010600030101010101" charset="-122"/>
            </a:endParaRPr>
          </a:p>
        </p:txBody>
      </p:sp>
    </p:spTree>
    <p:extLst>
      <p:ext uri="{BB962C8B-B14F-4D97-AF65-F5344CB8AC3E}">
        <p14:creationId xmlns:p14="http://schemas.microsoft.com/office/powerpoint/2010/main" val="31513959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ChangeArrowheads="1" noTextEdit="1"/>
          </p:cNvSpPr>
          <p:nvPr>
            <p:ph type="sldImg" idx="2"/>
          </p:nvPr>
        </p:nvSpPr>
        <p:spPr>
          <a:xfrm>
            <a:off x="381000" y="685800"/>
            <a:ext cx="6096000" cy="3429000"/>
          </a:xfrm>
          <a:ln/>
        </p:spPr>
      </p:sp>
      <p:sp>
        <p:nvSpPr>
          <p:cNvPr id="44035" name="文本占位符 2"/>
          <p:cNvSpPr>
            <a:spLocks noGrp="1" noChangeArrowheads="1"/>
          </p:cNvSpPr>
          <p:nvPr>
            <p:ph type="body" idx="3"/>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Gulim" panose="02010600030101010101" charset="-122"/>
              <a:ea typeface="Gulim" panose="02010600030101010101" charset="-122"/>
            </a:endParaRPr>
          </a:p>
        </p:txBody>
      </p:sp>
    </p:spTree>
    <p:extLst>
      <p:ext uri="{BB962C8B-B14F-4D97-AF65-F5344CB8AC3E}">
        <p14:creationId xmlns:p14="http://schemas.microsoft.com/office/powerpoint/2010/main" val="150741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kumimoji="1" lang="en-US" altLang="ko-KR"/>
          </a:p>
        </p:txBody>
      </p:sp>
      <p:sp>
        <p:nvSpPr>
          <p:cNvPr id="5" name="Footer Placeholder 4"/>
          <p:cNvSpPr>
            <a:spLocks noGrp="1"/>
          </p:cNvSpPr>
          <p:nvPr>
            <p:ph type="ftr" sz="quarter" idx="11"/>
          </p:nvPr>
        </p:nvSpPr>
        <p:spPr/>
        <p:txBody>
          <a:bodyPr/>
          <a:lstStyle/>
          <a:p>
            <a:pPr>
              <a:defRPr/>
            </a:pPr>
            <a:endParaRPr kumimoji="1" lang="en-US" altLang="ko-KR"/>
          </a:p>
        </p:txBody>
      </p:sp>
      <p:sp>
        <p:nvSpPr>
          <p:cNvPr id="6" name="Slide Number Placeholder 5"/>
          <p:cNvSpPr>
            <a:spLocks noGrp="1"/>
          </p:cNvSpPr>
          <p:nvPr>
            <p:ph type="sldNum" sz="quarter" idx="12"/>
          </p:nvPr>
        </p:nvSpPr>
        <p:spPr/>
        <p:txBody>
          <a:bodyPr/>
          <a:lstStyle/>
          <a:p>
            <a:pPr>
              <a:defRPr/>
            </a:pPr>
            <a:fld id="{0240724E-5A5B-4437-8257-33AF09A0E1ED}" type="slidenum">
              <a:rPr kumimoji="1" lang="en-US" altLang="ko-KR" smtClean="0"/>
              <a:pPr>
                <a:defRPr/>
              </a:pPr>
              <a:t>‹#›</a:t>
            </a:fld>
            <a:endParaRPr kumimoji="1" lang="en-US" altLang="ko-KR"/>
          </a:p>
        </p:txBody>
      </p:sp>
    </p:spTree>
    <p:extLst>
      <p:ext uri="{BB962C8B-B14F-4D97-AF65-F5344CB8AC3E}">
        <p14:creationId xmlns:p14="http://schemas.microsoft.com/office/powerpoint/2010/main" val="1636878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2383739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3/24/26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3729346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3/24/26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181176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3/24/26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1469580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3/24/26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2430397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3/24/26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2217899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3/24/26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1577249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3/24/26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3821799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2714513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2201336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pic>
        <p:nvPicPr>
          <p:cNvPr id="3076" name="图片 6"/>
          <p:cNvPicPr>
            <a:picLocks noChangeAspect="1"/>
          </p:cNvPicPr>
          <p:nvPr userDrawn="1"/>
        </p:nvPicPr>
        <p:blipFill>
          <a:blip r:embed="rId2"/>
          <a:stretch>
            <a:fillRect/>
          </a:stretch>
        </p:blipFill>
        <p:spPr>
          <a:xfrm>
            <a:off x="330201" y="376238"/>
            <a:ext cx="937684" cy="482600"/>
          </a:xfrm>
          <a:prstGeom prst="rect">
            <a:avLst/>
          </a:prstGeom>
          <a:noFill/>
          <a:ln w="9525">
            <a:noFill/>
          </a:ln>
        </p:spPr>
      </p:pic>
      <p:pic>
        <p:nvPicPr>
          <p:cNvPr id="3077" name="图片 7"/>
          <p:cNvPicPr>
            <a:picLocks noChangeAspect="1"/>
          </p:cNvPicPr>
          <p:nvPr userDrawn="1"/>
        </p:nvPicPr>
        <p:blipFill>
          <a:blip r:embed="rId3"/>
          <a:stretch>
            <a:fillRect/>
          </a:stretch>
        </p:blipFill>
        <p:spPr>
          <a:xfrm>
            <a:off x="0" y="6527800"/>
            <a:ext cx="12192000" cy="330200"/>
          </a:xfrm>
          <a:prstGeom prst="rect">
            <a:avLst/>
          </a:prstGeom>
          <a:noFill/>
          <a:ln w="9525">
            <a:noFill/>
          </a:ln>
        </p:spPr>
      </p:pic>
      <p:pic>
        <p:nvPicPr>
          <p:cNvPr id="3078" name="图片 8"/>
          <p:cNvPicPr>
            <a:picLocks noChangeAspect="1"/>
          </p:cNvPicPr>
          <p:nvPr userDrawn="1"/>
        </p:nvPicPr>
        <p:blipFill>
          <a:blip r:embed="rId4"/>
          <a:stretch>
            <a:fillRect/>
          </a:stretch>
        </p:blipFill>
        <p:spPr>
          <a:xfrm>
            <a:off x="10238317" y="444501"/>
            <a:ext cx="1953683" cy="544513"/>
          </a:xfrm>
          <a:prstGeom prst="rect">
            <a:avLst/>
          </a:prstGeom>
          <a:noFill/>
          <a:ln w="9525">
            <a:noFill/>
          </a:ln>
        </p:spPr>
      </p:pic>
      <p:sp>
        <p:nvSpPr>
          <p:cNvPr id="2" name="灯片编号占位符 1"/>
          <p:cNvSpPr>
            <a:spLocks noGrp="1"/>
          </p:cNvSpPr>
          <p:nvPr>
            <p:ph type="sldNum" sz="quarter" idx="10"/>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37577302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731838"/>
          </a:xfrm>
        </p:spPr>
        <p:txBody>
          <a:bodyPr/>
          <a:lstStyle/>
          <a:p>
            <a:r>
              <a:rPr lang="zh-CN" altLang="en-US"/>
              <a:t>单击此处编辑母版标题样式</a:t>
            </a:r>
          </a:p>
        </p:txBody>
      </p:sp>
      <p:sp>
        <p:nvSpPr>
          <p:cNvPr id="3" name="文本占位符 2"/>
          <p:cNvSpPr>
            <a:spLocks noGrp="1"/>
          </p:cNvSpPr>
          <p:nvPr>
            <p:ph type="body" sz="half" idx="1"/>
          </p:nvPr>
        </p:nvSpPr>
        <p:spPr>
          <a:xfrm>
            <a:off x="931333" y="1804988"/>
            <a:ext cx="5080000" cy="4303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4533" y="1804988"/>
            <a:ext cx="5080000" cy="4303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35058648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731838"/>
          </a:xfrm>
        </p:spPr>
        <p:txBody>
          <a:bodyPr/>
          <a:lstStyle/>
          <a:p>
            <a:r>
              <a:rPr lang="zh-CN" altLang="en-US"/>
              <a:t>单击此处编辑母版标题样式</a:t>
            </a:r>
          </a:p>
        </p:txBody>
      </p:sp>
      <p:sp>
        <p:nvSpPr>
          <p:cNvPr id="3" name="文本占位符 2"/>
          <p:cNvSpPr>
            <a:spLocks noGrp="1"/>
          </p:cNvSpPr>
          <p:nvPr>
            <p:ph type="body" sz="half" idx="1"/>
          </p:nvPr>
        </p:nvSpPr>
        <p:spPr>
          <a:xfrm>
            <a:off x="931333" y="1804988"/>
            <a:ext cx="5080000" cy="43037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14533" y="1804988"/>
            <a:ext cx="5080000" cy="20748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14533" y="4032250"/>
            <a:ext cx="5080000" cy="20764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0"/>
          </p:nvPr>
        </p:nvSpPr>
        <p:spPr/>
        <p:txBody>
          <a:body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30207724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solidFill>
                <a:srgbClr val="000000"/>
              </a:solidFill>
            </a:endParaRPr>
          </a:p>
        </p:txBody>
      </p:sp>
      <p:sp>
        <p:nvSpPr>
          <p:cNvPr id="5" name="Footer Placeholder 4"/>
          <p:cNvSpPr>
            <a:spLocks noGrp="1"/>
          </p:cNvSpPr>
          <p:nvPr>
            <p:ph type="ftr" sz="quarter" idx="11"/>
          </p:nvPr>
        </p:nvSpPr>
        <p:spPr/>
        <p:txBody>
          <a:bodyPr/>
          <a:lstStyle/>
          <a:p>
            <a:pPr>
              <a:defRPr/>
            </a:pPr>
            <a:endParaRPr lang="en-US" altLang="zh-CN">
              <a:solidFill>
                <a:srgbClr val="000000"/>
              </a:solidFill>
            </a:endParaRPr>
          </a:p>
        </p:txBody>
      </p:sp>
      <p:sp>
        <p:nvSpPr>
          <p:cNvPr id="6" name="Slide Number Placeholder 5"/>
          <p:cNvSpPr>
            <a:spLocks noGrp="1"/>
          </p:cNvSpPr>
          <p:nvPr>
            <p:ph type="sldNum" sz="quarter" idx="12"/>
          </p:nvPr>
        </p:nvSpPr>
        <p:spPr/>
        <p:txBody>
          <a:bodyPr/>
          <a:lstStyle/>
          <a:p>
            <a:pPr>
              <a:defRPr/>
            </a:pPr>
            <a:fld id="{1486A192-605E-4523-A9E9-0400F72C4B1E}"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083211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endParaRPr lang="en-US" altLang="zh-CN">
              <a:solidFill>
                <a:srgbClr val="000000"/>
              </a:solidFill>
            </a:endParaRPr>
          </a:p>
        </p:txBody>
      </p:sp>
      <p:sp>
        <p:nvSpPr>
          <p:cNvPr id="5" name="Footer Placeholder 4"/>
          <p:cNvSpPr>
            <a:spLocks noGrp="1"/>
          </p:cNvSpPr>
          <p:nvPr>
            <p:ph type="ftr" sz="quarter" idx="11"/>
          </p:nvPr>
        </p:nvSpPr>
        <p:spPr/>
        <p:txBody>
          <a:bodyPr/>
          <a:lstStyle/>
          <a:p>
            <a:pPr>
              <a:defRPr/>
            </a:pPr>
            <a:endParaRPr lang="en-US" altLang="zh-CN">
              <a:solidFill>
                <a:srgbClr val="000000"/>
              </a:solidFill>
            </a:endParaRPr>
          </a:p>
        </p:txBody>
      </p:sp>
      <p:sp>
        <p:nvSpPr>
          <p:cNvPr id="6" name="Slide Number Placeholder 5"/>
          <p:cNvSpPr>
            <a:spLocks noGrp="1"/>
          </p:cNvSpPr>
          <p:nvPr>
            <p:ph type="sldNum" sz="quarter" idx="12"/>
          </p:nvPr>
        </p:nvSpPr>
        <p:spPr/>
        <p:txBody>
          <a:bodyPr/>
          <a:lstStyle/>
          <a:p>
            <a:pPr>
              <a:defRPr/>
            </a:pPr>
            <a:fld id="{38510C18-DF8C-4E98-8489-EAE21B4D48DE}"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5722629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endParaRPr lang="en-US" altLang="zh-CN">
              <a:solidFill>
                <a:srgbClr val="000000"/>
              </a:solidFill>
            </a:endParaRPr>
          </a:p>
        </p:txBody>
      </p:sp>
      <p:sp>
        <p:nvSpPr>
          <p:cNvPr id="5" name="Footer Placeholder 4"/>
          <p:cNvSpPr>
            <a:spLocks noGrp="1"/>
          </p:cNvSpPr>
          <p:nvPr>
            <p:ph type="ftr" sz="quarter" idx="11"/>
          </p:nvPr>
        </p:nvSpPr>
        <p:spPr/>
        <p:txBody>
          <a:bodyPr/>
          <a:lstStyle/>
          <a:p>
            <a:pPr>
              <a:defRPr/>
            </a:pPr>
            <a:endParaRPr lang="en-US" altLang="zh-CN">
              <a:solidFill>
                <a:srgbClr val="000000"/>
              </a:solidFill>
            </a:endParaRPr>
          </a:p>
        </p:txBody>
      </p:sp>
      <p:sp>
        <p:nvSpPr>
          <p:cNvPr id="6" name="Slide Number Placeholder 5"/>
          <p:cNvSpPr>
            <a:spLocks noGrp="1"/>
          </p:cNvSpPr>
          <p:nvPr>
            <p:ph type="sldNum" sz="quarter" idx="12"/>
          </p:nvPr>
        </p:nvSpPr>
        <p:spPr/>
        <p:txBody>
          <a:bodyPr/>
          <a:lstStyle/>
          <a:p>
            <a:pPr>
              <a:defRPr/>
            </a:pPr>
            <a:fld id="{C7CEFD23-3F86-4604-B339-46FD8BE372A5}"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2189981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a:defRPr/>
            </a:pPr>
            <a:endParaRPr lang="en-US" altLang="zh-CN">
              <a:solidFill>
                <a:srgbClr val="000000"/>
              </a:solidFill>
            </a:endParaRPr>
          </a:p>
        </p:txBody>
      </p:sp>
      <p:sp>
        <p:nvSpPr>
          <p:cNvPr id="6" name="Footer Placeholder 5"/>
          <p:cNvSpPr>
            <a:spLocks noGrp="1"/>
          </p:cNvSpPr>
          <p:nvPr>
            <p:ph type="ftr" sz="quarter" idx="11"/>
          </p:nvPr>
        </p:nvSpPr>
        <p:spPr/>
        <p:txBody>
          <a:bodyPr/>
          <a:lstStyle/>
          <a:p>
            <a:pPr>
              <a:defRPr/>
            </a:pPr>
            <a:endParaRPr lang="en-US" altLang="zh-CN">
              <a:solidFill>
                <a:srgbClr val="000000"/>
              </a:solidFill>
            </a:endParaRPr>
          </a:p>
        </p:txBody>
      </p:sp>
      <p:sp>
        <p:nvSpPr>
          <p:cNvPr id="7" name="Slide Number Placeholder 6"/>
          <p:cNvSpPr>
            <a:spLocks noGrp="1"/>
          </p:cNvSpPr>
          <p:nvPr>
            <p:ph type="sldNum" sz="quarter" idx="12"/>
          </p:nvPr>
        </p:nvSpPr>
        <p:spPr/>
        <p:txBody>
          <a:bodyPr/>
          <a:lstStyle/>
          <a:p>
            <a:pPr>
              <a:defRPr/>
            </a:pPr>
            <a:fld id="{9B9B4AEC-D23A-4A65-A9A4-057C838E681B}"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508570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a:defRPr/>
            </a:pPr>
            <a:endParaRPr lang="en-US" altLang="zh-CN">
              <a:solidFill>
                <a:srgbClr val="000000"/>
              </a:solidFill>
            </a:endParaRPr>
          </a:p>
        </p:txBody>
      </p:sp>
      <p:sp>
        <p:nvSpPr>
          <p:cNvPr id="8" name="Footer Placeholder 7"/>
          <p:cNvSpPr>
            <a:spLocks noGrp="1"/>
          </p:cNvSpPr>
          <p:nvPr>
            <p:ph type="ftr" sz="quarter" idx="11"/>
          </p:nvPr>
        </p:nvSpPr>
        <p:spPr/>
        <p:txBody>
          <a:bodyPr/>
          <a:lstStyle/>
          <a:p>
            <a:pPr>
              <a:defRPr/>
            </a:pPr>
            <a:endParaRPr lang="en-US" altLang="zh-CN">
              <a:solidFill>
                <a:srgbClr val="000000"/>
              </a:solidFill>
            </a:endParaRPr>
          </a:p>
        </p:txBody>
      </p:sp>
      <p:sp>
        <p:nvSpPr>
          <p:cNvPr id="9" name="Slide Number Placeholder 8"/>
          <p:cNvSpPr>
            <a:spLocks noGrp="1"/>
          </p:cNvSpPr>
          <p:nvPr>
            <p:ph type="sldNum" sz="quarter" idx="12"/>
          </p:nvPr>
        </p:nvSpPr>
        <p:spPr/>
        <p:txBody>
          <a:bodyPr/>
          <a:lstStyle/>
          <a:p>
            <a:pPr>
              <a:defRPr/>
            </a:pPr>
            <a:fld id="{DF7A7988-35C2-47BE-979D-CFB64B971ECD}"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965714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solidFill>
                <a:srgbClr val="000000"/>
              </a:solidFill>
            </a:endParaRPr>
          </a:p>
        </p:txBody>
      </p:sp>
      <p:sp>
        <p:nvSpPr>
          <p:cNvPr id="4" name="Footer Placeholder 3"/>
          <p:cNvSpPr>
            <a:spLocks noGrp="1"/>
          </p:cNvSpPr>
          <p:nvPr>
            <p:ph type="ftr" sz="quarter" idx="11"/>
          </p:nvPr>
        </p:nvSpPr>
        <p:spPr/>
        <p:txBody>
          <a:bodyPr/>
          <a:lstStyle/>
          <a:p>
            <a:pPr>
              <a:defRPr/>
            </a:pPr>
            <a:endParaRPr lang="en-US" altLang="zh-CN">
              <a:solidFill>
                <a:srgbClr val="000000"/>
              </a:solidFill>
            </a:endParaRPr>
          </a:p>
        </p:txBody>
      </p:sp>
      <p:sp>
        <p:nvSpPr>
          <p:cNvPr id="5" name="Slide Number Placeholder 4"/>
          <p:cNvSpPr>
            <a:spLocks noGrp="1"/>
          </p:cNvSpPr>
          <p:nvPr>
            <p:ph type="sldNum" sz="quarter" idx="12"/>
          </p:nvPr>
        </p:nvSpPr>
        <p:spPr/>
        <p:txBody>
          <a:bodyPr/>
          <a:lstStyle/>
          <a:p>
            <a:pPr>
              <a:defRPr/>
            </a:pPr>
            <a:fld id="{7A70E2AC-F83D-47C0-AFDC-689A17E40218}"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5412127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solidFill>
                <a:srgbClr val="000000"/>
              </a:solidFill>
            </a:endParaRPr>
          </a:p>
        </p:txBody>
      </p:sp>
      <p:sp>
        <p:nvSpPr>
          <p:cNvPr id="3" name="Footer Placeholder 2"/>
          <p:cNvSpPr>
            <a:spLocks noGrp="1"/>
          </p:cNvSpPr>
          <p:nvPr>
            <p:ph type="ftr" sz="quarter" idx="11"/>
          </p:nvPr>
        </p:nvSpPr>
        <p:spPr/>
        <p:txBody>
          <a:bodyPr/>
          <a:lstStyle/>
          <a:p>
            <a:pPr>
              <a:defRPr/>
            </a:pPr>
            <a:endParaRPr lang="en-US" altLang="zh-CN">
              <a:solidFill>
                <a:srgbClr val="000000"/>
              </a:solidFill>
            </a:endParaRPr>
          </a:p>
        </p:txBody>
      </p:sp>
      <p:sp>
        <p:nvSpPr>
          <p:cNvPr id="4" name="Slide Number Placeholder 3"/>
          <p:cNvSpPr>
            <a:spLocks noGrp="1"/>
          </p:cNvSpPr>
          <p:nvPr>
            <p:ph type="sldNum" sz="quarter" idx="12"/>
          </p:nvPr>
        </p:nvSpPr>
        <p:spPr/>
        <p:txBody>
          <a:bodyPr/>
          <a:lstStyle/>
          <a:p>
            <a:pPr>
              <a:defRPr/>
            </a:pPr>
            <a:fld id="{7CC08A47-D01D-427A-AECF-E816C5887584}"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5800323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en-US" altLang="zh-CN">
              <a:solidFill>
                <a:srgbClr val="000000"/>
              </a:solidFill>
            </a:endParaRPr>
          </a:p>
        </p:txBody>
      </p:sp>
      <p:sp>
        <p:nvSpPr>
          <p:cNvPr id="6" name="Footer Placeholder 5"/>
          <p:cNvSpPr>
            <a:spLocks noGrp="1"/>
          </p:cNvSpPr>
          <p:nvPr>
            <p:ph type="ftr" sz="quarter" idx="11"/>
          </p:nvPr>
        </p:nvSpPr>
        <p:spPr/>
        <p:txBody>
          <a:bodyPr/>
          <a:lstStyle/>
          <a:p>
            <a:pPr>
              <a:defRPr/>
            </a:pPr>
            <a:endParaRPr lang="en-US" altLang="zh-CN">
              <a:solidFill>
                <a:srgbClr val="000000"/>
              </a:solidFill>
            </a:endParaRPr>
          </a:p>
        </p:txBody>
      </p:sp>
      <p:sp>
        <p:nvSpPr>
          <p:cNvPr id="7" name="Slide Number Placeholder 6"/>
          <p:cNvSpPr>
            <a:spLocks noGrp="1"/>
          </p:cNvSpPr>
          <p:nvPr>
            <p:ph type="sldNum" sz="quarter" idx="12"/>
          </p:nvPr>
        </p:nvSpPr>
        <p:spPr/>
        <p:txBody>
          <a:bodyPr/>
          <a:lstStyle/>
          <a:p>
            <a:pPr>
              <a:defRPr/>
            </a:pPr>
            <a:fld id="{7E55F8AC-C12C-48EE-822B-22D7C3EDF71C}"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345733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en-US" altLang="zh-CN">
              <a:solidFill>
                <a:srgbClr val="000000"/>
              </a:solidFill>
            </a:endParaRPr>
          </a:p>
        </p:txBody>
      </p:sp>
      <p:sp>
        <p:nvSpPr>
          <p:cNvPr id="6" name="Footer Placeholder 5"/>
          <p:cNvSpPr>
            <a:spLocks noGrp="1"/>
          </p:cNvSpPr>
          <p:nvPr>
            <p:ph type="ftr" sz="quarter" idx="11"/>
          </p:nvPr>
        </p:nvSpPr>
        <p:spPr/>
        <p:txBody>
          <a:bodyPr/>
          <a:lstStyle/>
          <a:p>
            <a:pPr>
              <a:defRPr/>
            </a:pPr>
            <a:endParaRPr lang="en-US" altLang="zh-CN">
              <a:solidFill>
                <a:srgbClr val="000000"/>
              </a:solidFill>
            </a:endParaRPr>
          </a:p>
        </p:txBody>
      </p:sp>
      <p:sp>
        <p:nvSpPr>
          <p:cNvPr id="7" name="Slide Number Placeholder 6"/>
          <p:cNvSpPr>
            <a:spLocks noGrp="1"/>
          </p:cNvSpPr>
          <p:nvPr>
            <p:ph type="sldNum" sz="quarter" idx="12"/>
          </p:nvPr>
        </p:nvSpPr>
        <p:spPr/>
        <p:txBody>
          <a:bodyPr/>
          <a:lstStyle/>
          <a:p>
            <a:pPr>
              <a:defRPr/>
            </a:pPr>
            <a:fld id="{DE168524-72A7-40BB-BD9F-6FE515ACE7E3}"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207772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endParaRPr lang="en-US" altLang="zh-CN">
              <a:solidFill>
                <a:srgbClr val="000000"/>
              </a:solidFill>
            </a:endParaRPr>
          </a:p>
        </p:txBody>
      </p:sp>
      <p:sp>
        <p:nvSpPr>
          <p:cNvPr id="5" name="Footer Placeholder 4"/>
          <p:cNvSpPr>
            <a:spLocks noGrp="1"/>
          </p:cNvSpPr>
          <p:nvPr>
            <p:ph type="ftr" sz="quarter" idx="11"/>
          </p:nvPr>
        </p:nvSpPr>
        <p:spPr/>
        <p:txBody>
          <a:bodyPr/>
          <a:lstStyle/>
          <a:p>
            <a:pPr>
              <a:defRPr/>
            </a:pPr>
            <a:endParaRPr lang="en-US" altLang="zh-CN">
              <a:solidFill>
                <a:srgbClr val="000000"/>
              </a:solidFill>
            </a:endParaRPr>
          </a:p>
        </p:txBody>
      </p:sp>
      <p:sp>
        <p:nvSpPr>
          <p:cNvPr id="6" name="Slide Number Placeholder 5"/>
          <p:cNvSpPr>
            <a:spLocks noGrp="1"/>
          </p:cNvSpPr>
          <p:nvPr>
            <p:ph type="sldNum" sz="quarter" idx="12"/>
          </p:nvPr>
        </p:nvSpPr>
        <p:spPr/>
        <p:txBody>
          <a:bodyPr/>
          <a:lstStyle/>
          <a:p>
            <a:pPr>
              <a:defRPr/>
            </a:pPr>
            <a:fld id="{180714D8-6934-4AA2-81B3-CBA80E120986}"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6317821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endParaRPr lang="en-US" altLang="zh-CN">
              <a:solidFill>
                <a:srgbClr val="000000"/>
              </a:solidFill>
            </a:endParaRPr>
          </a:p>
        </p:txBody>
      </p:sp>
      <p:sp>
        <p:nvSpPr>
          <p:cNvPr id="5" name="Footer Placeholder 4"/>
          <p:cNvSpPr>
            <a:spLocks noGrp="1"/>
          </p:cNvSpPr>
          <p:nvPr>
            <p:ph type="ftr" sz="quarter" idx="11"/>
          </p:nvPr>
        </p:nvSpPr>
        <p:spPr/>
        <p:txBody>
          <a:bodyPr/>
          <a:lstStyle/>
          <a:p>
            <a:pPr>
              <a:defRPr/>
            </a:pPr>
            <a:endParaRPr lang="en-US" altLang="zh-CN">
              <a:solidFill>
                <a:srgbClr val="000000"/>
              </a:solidFill>
            </a:endParaRPr>
          </a:p>
        </p:txBody>
      </p:sp>
      <p:sp>
        <p:nvSpPr>
          <p:cNvPr id="6" name="Slide Number Placeholder 5"/>
          <p:cNvSpPr>
            <a:spLocks noGrp="1"/>
          </p:cNvSpPr>
          <p:nvPr>
            <p:ph type="sldNum" sz="quarter" idx="12"/>
          </p:nvPr>
        </p:nvSpPr>
        <p:spPr/>
        <p:txBody>
          <a:bodyPr/>
          <a:lstStyle/>
          <a:p>
            <a:pPr>
              <a:defRPr/>
            </a:pPr>
            <a:fld id="{7783F6A5-B697-4278-B643-9344D1A89C05}"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041083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3/24/26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AE3E692-6A27-4D8E-84CA-BC9A5A5D7CF6}" type="slidenum">
              <a:rPr kumimoji="1" lang="zh-CN" altLang="en-US" smtClean="0"/>
              <a:pPr>
                <a:defRPr/>
              </a:pPr>
              <a:t>‹#›</a:t>
            </a:fld>
            <a:endParaRPr kumimoji="1" lang="en-US" altLang="zh-CN"/>
          </a:p>
        </p:txBody>
      </p:sp>
    </p:spTree>
    <p:extLst>
      <p:ext uri="{BB962C8B-B14F-4D97-AF65-F5344CB8AC3E}">
        <p14:creationId xmlns:p14="http://schemas.microsoft.com/office/powerpoint/2010/main" val="193720296"/>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solidFill>
                <a:srgbClr val="000000"/>
              </a:solidFill>
              <a:latin typeface="Arial" panose="020B0604020202020204" pitchFamily="34" charset="0"/>
              <a:ea typeface="宋体" panose="02010600030101010101" pitchFamily="2" charset="-122"/>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solidFill>
                <a:srgbClr val="000000"/>
              </a:solidFill>
              <a:latin typeface="Arial" panose="020B0604020202020204" pitchFamily="34" charset="0"/>
              <a:ea typeface="宋体" panose="02010600030101010101" pitchFamily="2" charset="-122"/>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592D91A-9F04-4480-8796-9F37ADED2D93}" type="slidenum">
              <a:rPr lang="en-US" altLang="zh-CN" smtClean="0">
                <a:solidFill>
                  <a:srgbClr val="000000"/>
                </a:solidFill>
                <a:latin typeface="Arial" panose="020B0604020202020204" pitchFamily="34" charset="0"/>
                <a:ea typeface="宋体" panose="02010600030101010101" pitchFamily="2" charset="-122"/>
              </a:rPr>
              <a:pPr>
                <a:defRPr/>
              </a:pPr>
              <a:t>‹#›</a:t>
            </a:fld>
            <a:endParaRPr lang="en-US" altLang="zh-CN">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8673246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0.png"/><Relationship Id="rId18" Type="http://schemas.openxmlformats.org/officeDocument/2006/relationships/image" Target="../media/image210.png"/><Relationship Id="rId3" Type="http://schemas.openxmlformats.org/officeDocument/2006/relationships/image" Target="../media/image5.png"/><Relationship Id="rId21" Type="http://schemas.openxmlformats.org/officeDocument/2006/relationships/image" Target="../media/image25.png"/><Relationship Id="rId7" Type="http://schemas.openxmlformats.org/officeDocument/2006/relationships/image" Target="../media/image9.png"/><Relationship Id="rId12" Type="http://schemas.openxmlformats.org/officeDocument/2006/relationships/image" Target="../media/image162.png"/><Relationship Id="rId2" Type="http://schemas.openxmlformats.org/officeDocument/2006/relationships/notesSlide" Target="../notesSlides/notesSlide3.xml"/><Relationship Id="rId20" Type="http://schemas.openxmlformats.org/officeDocument/2006/relationships/image" Target="../media/image15.jpeg"/><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24.png"/><Relationship Id="rId10" Type="http://schemas.openxmlformats.org/officeDocument/2006/relationships/image" Target="../media/image12.png"/><Relationship Id="rId19" Type="http://schemas.openxmlformats.org/officeDocument/2006/relationships/image" Target="../media/image14.jpe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8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5" Type="http://schemas.openxmlformats.org/officeDocument/2006/relationships/image" Target="../media/image27.jpe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5.tiff"/><Relationship Id="rId2" Type="http://schemas.openxmlformats.org/officeDocument/2006/relationships/image" Target="../media/image34.tiff"/><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2.xml"/><Relationship Id="rId5" Type="http://schemas.openxmlformats.org/officeDocument/2006/relationships/image" Target="../media/image67.png"/><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image" Target="../media/image78.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7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73.wmf"/><Relationship Id="rId11" Type="http://schemas.openxmlformats.org/officeDocument/2006/relationships/image" Target="../media/image76.jpeg"/><Relationship Id="rId5" Type="http://schemas.openxmlformats.org/officeDocument/2006/relationships/oleObject" Target="../embeddings/oleObject2.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4.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81.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83.wmf"/><Relationship Id="rId5" Type="http://schemas.openxmlformats.org/officeDocument/2006/relationships/oleObject" Target="../embeddings/oleObject7.bin"/><Relationship Id="rId4" Type="http://schemas.openxmlformats.org/officeDocument/2006/relationships/image" Target="../media/image82.wmf"/></Relationships>
</file>

<file path=ppt/slides/_rels/slide4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6.xml"/><Relationship Id="rId5" Type="http://schemas.openxmlformats.org/officeDocument/2006/relationships/image" Target="../media/image97.png"/><Relationship Id="rId4" Type="http://schemas.openxmlformats.org/officeDocument/2006/relationships/image" Target="../media/image96.png"/></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92.png"/><Relationship Id="rId4" Type="http://schemas.openxmlformats.org/officeDocument/2006/relationships/image" Target="../media/image98.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100.wmf"/><Relationship Id="rId5" Type="http://schemas.openxmlformats.org/officeDocument/2006/relationships/oleObject" Target="../embeddings/oleObject10.bin"/><Relationship Id="rId4" Type="http://schemas.openxmlformats.org/officeDocument/2006/relationships/image" Target="../media/image99.wmf"/></Relationships>
</file>

<file path=ppt/slides/_rels/slide5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92.png"/><Relationship Id="rId4" Type="http://schemas.openxmlformats.org/officeDocument/2006/relationships/image" Target="../media/image103.w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jpe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6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115.wmf"/><Relationship Id="rId7" Type="http://schemas.openxmlformats.org/officeDocument/2006/relationships/image" Target="../media/image117.wmf"/><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5" Type="http://schemas.openxmlformats.org/officeDocument/2006/relationships/image" Target="../media/image116.wmf"/><Relationship Id="rId4" Type="http://schemas.openxmlformats.org/officeDocument/2006/relationships/oleObject" Target="../embeddings/oleObject13.bin"/><Relationship Id="rId9" Type="http://schemas.openxmlformats.org/officeDocument/2006/relationships/image" Target="../media/image118.wmf"/></Relationships>
</file>

<file path=ppt/slides/_rels/slide72.x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 Id="rId9" Type="http://schemas.openxmlformats.org/officeDocument/2006/relationships/image" Target="../media/image135.png"/></Relationships>
</file>

<file path=ppt/slides/_rels/slide84.x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137.wmf"/><Relationship Id="rId4" Type="http://schemas.openxmlformats.org/officeDocument/2006/relationships/oleObject" Target="../embeddings/oleObject18.bin"/></Relationships>
</file>

<file path=ppt/slides/_rels/slide85.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jpeg"/><Relationship Id="rId1" Type="http://schemas.openxmlformats.org/officeDocument/2006/relationships/slideLayout" Target="../slideLayouts/slideLayout2.xml"/><Relationship Id="rId5" Type="http://schemas.openxmlformats.org/officeDocument/2006/relationships/image" Target="../media/image144.png"/><Relationship Id="rId4" Type="http://schemas.openxmlformats.org/officeDocument/2006/relationships/hyperlink" Target="http://www.blogjava.net/images/blogjava_net/zhenandaci/WindowsLiveWriter/SVM_10595/clip_image002%5b7%5d.gif"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1330.png"/><Relationship Id="rId7" Type="http://schemas.openxmlformats.org/officeDocument/2006/relationships/image" Target="../media/image147.wmf"/><Relationship Id="rId1" Type="http://schemas.openxmlformats.org/officeDocument/2006/relationships/slideLayout" Target="../slideLayouts/slideLayout14.xml"/><Relationship Id="rId6" Type="http://schemas.openxmlformats.org/officeDocument/2006/relationships/oleObject" Target="../embeddings/oleObject20.bin"/><Relationship Id="rId5" Type="http://schemas.openxmlformats.org/officeDocument/2006/relationships/image" Target="../media/image146.wmf"/><Relationship Id="rId4" Type="http://schemas.openxmlformats.org/officeDocument/2006/relationships/oleObject" Target="../embeddings/oleObject19.bin"/><Relationship Id="rId9" Type="http://schemas.openxmlformats.org/officeDocument/2006/relationships/image" Target="../media/image148.wmf"/></Relationships>
</file>

<file path=ppt/slides/_rels/slide92.xml.rels><?xml version="1.0" encoding="UTF-8" standalone="yes"?>
<Relationships xmlns="http://schemas.openxmlformats.org/package/2006/relationships"><Relationship Id="rId3" Type="http://schemas.openxmlformats.org/officeDocument/2006/relationships/hyperlink" Target="http://www.blogjava.net/images/blogjava_net/zhenandaci/WindowsLiveWriter/SVM_D32/clip_image002%5b5%5d.gif" TargetMode="External"/><Relationship Id="rId2" Type="http://schemas.openxmlformats.org/officeDocument/2006/relationships/image" Target="../media/image149.png"/><Relationship Id="rId1" Type="http://schemas.openxmlformats.org/officeDocument/2006/relationships/slideLayout" Target="../slideLayouts/slideLayout2.xml"/><Relationship Id="rId5" Type="http://schemas.openxmlformats.org/officeDocument/2006/relationships/image" Target="../media/image141.png"/><Relationship Id="rId4" Type="http://schemas.openxmlformats.org/officeDocument/2006/relationships/image" Target="../media/image150.png"/></Relationships>
</file>

<file path=ppt/slides/_rels/slide93.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12.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63.png"/></Relationships>
</file>

<file path=ppt/slides/_rels/slide105.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image" Target="../media/image167.png"/><Relationship Id="rId7" Type="http://schemas.openxmlformats.org/officeDocument/2006/relationships/image" Target="../media/image172.png"/><Relationship Id="rId2" Type="http://schemas.openxmlformats.org/officeDocument/2006/relationships/image" Target="../media/image166.png"/><Relationship Id="rId1" Type="http://schemas.openxmlformats.org/officeDocument/2006/relationships/slideLayout" Target="../slideLayouts/slideLayout12.xml"/><Relationship Id="rId6" Type="http://schemas.openxmlformats.org/officeDocument/2006/relationships/image" Target="../media/image171.png"/><Relationship Id="rId5" Type="http://schemas.openxmlformats.org/officeDocument/2006/relationships/image" Target="../media/image169.png"/><Relationship Id="rId10" Type="http://schemas.openxmlformats.org/officeDocument/2006/relationships/image" Target="../media/image175.png"/><Relationship Id="rId4" Type="http://schemas.openxmlformats.org/officeDocument/2006/relationships/image" Target="../media/image168.png"/><Relationship Id="rId9" Type="http://schemas.openxmlformats.org/officeDocument/2006/relationships/image" Target="../media/image174.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8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184.png"/><Relationship Id="rId4" Type="http://schemas.openxmlformats.org/officeDocument/2006/relationships/image" Target="../media/image183.png"/></Relationships>
</file>

<file path=ppt/slides/_rels/slide114.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1991545" y="764705"/>
            <a:ext cx="8139113" cy="3960813"/>
          </a:xfrm>
        </p:spPr>
        <p:txBody>
          <a:bodyPr vert="horz" wrap="square" lIns="91440" tIns="45720" rIns="91440" bIns="45720" numCol="1" anchor="ctr" anchorCtr="0" compatLnSpc="1"/>
          <a:lstStyle/>
          <a:p>
            <a:pPr eaLnBrk="1" hangingPunct="1">
              <a:defRPr/>
            </a:pPr>
            <a:r>
              <a:rPr lang="zh-CN" altLang="en-US" sz="40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人工智能导论</a:t>
            </a:r>
            <a:br>
              <a:rPr lang="zh-CN" altLang="en-US"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br>
            <a:br>
              <a:rPr lang="zh-CN" altLang="en-US"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br>
            <a:r>
              <a:rPr lang="zh-CN" altLang="en-US" sz="60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第</a:t>
            </a:r>
            <a:r>
              <a:rPr lang="en-US" altLang="zh-CN" sz="60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4</a:t>
            </a:r>
            <a:r>
              <a:rPr lang="zh-CN" altLang="en-US" sz="60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章 机器学习</a:t>
            </a:r>
            <a:endParaRPr lang="en-US" altLang="zh-CN" dirty="0">
              <a:latin typeface="微软雅黑" panose="020B0503020204020204" pitchFamily="34" charset="-122"/>
              <a:ea typeface="微软雅黑" panose="020B0503020204020204" pitchFamily="34" charset="-122"/>
            </a:endParaRPr>
          </a:p>
        </p:txBody>
      </p:sp>
      <p:pic>
        <p:nvPicPr>
          <p:cNvPr id="3" name="Picture 4" descr="index_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9835" y="198059"/>
            <a:ext cx="2238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2"/>
          <p:cNvSpPr>
            <a:spLocks noGrp="1" noChangeArrowheads="1"/>
          </p:cNvSpPr>
          <p:nvPr>
            <p:ph type="ctrTitle"/>
          </p:nvPr>
        </p:nvSpPr>
        <p:spPr>
          <a:xfrm>
            <a:off x="2135561" y="692697"/>
            <a:ext cx="8139113" cy="5903913"/>
          </a:xfrm>
        </p:spPr>
        <p:txBody>
          <a:bodyPr vert="horz" wrap="square" lIns="91440" tIns="45720" rIns="91440" bIns="45720" numCol="1" anchor="ctr" anchorCtr="0" compatLnSpc="1"/>
          <a:lstStyle/>
          <a:p>
            <a:pPr lvl="0" algn="l" eaLnBrk="1" hangingPunct="1">
              <a:defRPr/>
            </a:pPr>
            <a:r>
              <a:rPr lang="zh-CN" altLang="en-US" dirty="0">
                <a:solidFill>
                  <a:schemeClr val="tx1"/>
                </a:solidFill>
                <a:latin typeface="Times New Roman" panose="02020603050405020304" pitchFamily="18" charset="0"/>
              </a:rPr>
              <a:t>			</a:t>
            </a:r>
            <a:r>
              <a:rPr lang="zh-CN" altLang="en-US" b="1" dirty="0">
                <a:solidFill>
                  <a:schemeClr val="tx1"/>
                </a:solidFill>
                <a:effectLst>
                  <a:outerShdw blurRad="38100" dist="38100" dir="2700000" algn="tl">
                    <a:srgbClr val="C0C0C0"/>
                  </a:outerShdw>
                </a:effectLst>
                <a:latin typeface="Times New Roman" panose="02020603050405020304" pitchFamily="18" charset="0"/>
              </a:rPr>
              <a:t>本章内容</a:t>
            </a:r>
            <a:br>
              <a:rPr lang="zh-CN" altLang="en-US" sz="5400" b="1" dirty="0">
                <a:solidFill>
                  <a:schemeClr val="tx1"/>
                </a:solidFill>
                <a:effectLst>
                  <a:outerShdw blurRad="38100" dist="38100" dir="2700000" algn="tl">
                    <a:srgbClr val="C0C0C0"/>
                  </a:outerShdw>
                </a:effectLst>
                <a:latin typeface="Times New Roman" panose="02020603050405020304" pitchFamily="18" charset="0"/>
              </a:rPr>
            </a:b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4.1 </a:t>
            </a:r>
            <a:r>
              <a:rPr lang="zh-CN" altLang="en-US" sz="3200" dirty="0">
                <a:solidFill>
                  <a:schemeClr val="tx1"/>
                </a:solidFill>
                <a:latin typeface="Times New Roman" panose="02020603050405020304" pitchFamily="18" charset="0"/>
                <a:ea typeface="黑体" panose="02010609060101010101" pitchFamily="49" charset="-122"/>
              </a:rPr>
              <a:t>机器学习概论</a:t>
            </a: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4.2 </a:t>
            </a:r>
            <a:r>
              <a:rPr lang="zh-CN" altLang="en-US" sz="3200" dirty="0">
                <a:solidFill>
                  <a:schemeClr val="tx1"/>
                </a:solidFill>
                <a:latin typeface="Times New Roman" panose="02020603050405020304" pitchFamily="18" charset="0"/>
                <a:ea typeface="黑体" panose="02010609060101010101" pitchFamily="49" charset="-122"/>
              </a:rPr>
              <a:t>分类算法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4.2.1</a:t>
            </a:r>
            <a:r>
              <a:rPr lang="zh-CN" altLang="en-US" sz="3200" dirty="0">
                <a:solidFill>
                  <a:schemeClr val="tx1"/>
                </a:solidFill>
                <a:latin typeface="Times New Roman" panose="02020603050405020304" pitchFamily="18" charset="0"/>
                <a:ea typeface="黑体" panose="02010609060101010101" pitchFamily="49" charset="-122"/>
              </a:rPr>
              <a:t>：决策树</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4.2.2</a:t>
            </a:r>
            <a:r>
              <a:rPr lang="zh-CN" altLang="en-US" sz="3200" dirty="0">
                <a:solidFill>
                  <a:schemeClr val="tx1"/>
                </a:solidFill>
                <a:latin typeface="Times New Roman" panose="02020603050405020304" pitchFamily="18" charset="0"/>
                <a:ea typeface="黑体" panose="02010609060101010101" pitchFamily="49" charset="-122"/>
              </a:rPr>
              <a:t>：朴素贝叶斯分类器</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4.2.3</a:t>
            </a:r>
            <a:r>
              <a:rPr lang="zh-CN" altLang="en-US" sz="3200" dirty="0">
                <a:solidFill>
                  <a:schemeClr val="tx1"/>
                </a:solidFill>
                <a:latin typeface="Times New Roman" panose="02020603050405020304" pitchFamily="18" charset="0"/>
                <a:ea typeface="黑体" panose="02010609060101010101" pitchFamily="49" charset="-122"/>
              </a:rPr>
              <a:t>：集体学习</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4.2.4</a:t>
            </a:r>
            <a:r>
              <a:rPr lang="zh-CN" altLang="en-US" sz="3200" dirty="0">
                <a:solidFill>
                  <a:schemeClr val="tx1"/>
                </a:solidFill>
                <a:latin typeface="Times New Roman" panose="02020603050405020304" pitchFamily="18" charset="0"/>
                <a:ea typeface="黑体" panose="02010609060101010101" pitchFamily="49" charset="-122"/>
              </a:rPr>
              <a:t>：支持向量机（</a:t>
            </a:r>
            <a:r>
              <a:rPr lang="en-US" altLang="zh-CN" sz="3200" dirty="0" err="1">
                <a:solidFill>
                  <a:schemeClr val="tx1"/>
                </a:solidFill>
                <a:latin typeface="Times New Roman" panose="02020603050405020304" pitchFamily="18" charset="0"/>
                <a:ea typeface="黑体" panose="02010609060101010101" pitchFamily="49" charset="-122"/>
              </a:rPr>
              <a:t>SVM</a:t>
            </a:r>
            <a:r>
              <a:rPr lang="zh-CN" altLang="en-US" sz="3200" dirty="0">
                <a:solidFill>
                  <a:schemeClr val="tx1"/>
                </a:solidFill>
                <a:latin typeface="Times New Roman" panose="02020603050405020304" pitchFamily="18" charset="0"/>
                <a:ea typeface="黑体" panose="02010609060101010101" pitchFamily="49" charset="-122"/>
              </a:rPr>
              <a:t>）</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4.3 </a:t>
            </a:r>
            <a:r>
              <a:rPr lang="zh-CN" altLang="en-US" sz="3200" dirty="0">
                <a:solidFill>
                  <a:schemeClr val="tx1"/>
                </a:solidFill>
                <a:latin typeface="Times New Roman" panose="02020603050405020304" pitchFamily="18" charset="0"/>
                <a:ea typeface="黑体" panose="02010609060101010101" pitchFamily="49" charset="-122"/>
              </a:rPr>
              <a:t>回归算法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4.4 </a:t>
            </a:r>
            <a:r>
              <a:rPr lang="zh-CN" altLang="en-US" sz="3200" dirty="0">
                <a:solidFill>
                  <a:schemeClr val="tx1"/>
                </a:solidFill>
                <a:latin typeface="Times New Roman" panose="02020603050405020304" pitchFamily="18" charset="0"/>
                <a:ea typeface="黑体" panose="02010609060101010101" pitchFamily="49" charset="-122"/>
              </a:rPr>
              <a:t>聚类算法</a:t>
            </a:r>
            <a:br>
              <a:rPr lang="zh-CN" altLang="en-US" sz="3200" dirty="0">
                <a:solidFill>
                  <a:schemeClr val="tx1"/>
                </a:solidFill>
                <a:latin typeface="Times New Roman" panose="02020603050405020304" pitchFamily="18" charset="0"/>
                <a:ea typeface="黑体" panose="02010609060101010101" pitchFamily="49" charset="-122"/>
              </a:rPr>
            </a:br>
            <a:br>
              <a:rPr lang="zh-CN" altLang="en-US" sz="3200" dirty="0">
                <a:solidFill>
                  <a:schemeClr val="tx1"/>
                </a:solidFill>
                <a:latin typeface="Times New Roman" panose="02020603050405020304" pitchFamily="18" charset="0"/>
                <a:ea typeface="黑体" panose="02010609060101010101" pitchFamily="49" charset="-122"/>
              </a:rPr>
            </a:br>
            <a:endParaRPr lang="en-US" altLang="zh-CN" sz="3200" dirty="0">
              <a:solidFill>
                <a:schemeClr val="tx1"/>
              </a:solidFill>
              <a:latin typeface="Times New Roman" panose="02020603050405020304" pitchFamily="18" charset="0"/>
              <a:ea typeface="黑体" panose="02010609060101010101" pitchFamily="49" charset="-122"/>
            </a:endParaRPr>
          </a:p>
        </p:txBody>
      </p:sp>
      <p:sp>
        <p:nvSpPr>
          <p:cNvPr id="7171" name="Text Box 3"/>
          <p:cNvSpPr txBox="1"/>
          <p:nvPr/>
        </p:nvSpPr>
        <p:spPr>
          <a:xfrm>
            <a:off x="1524001" y="404813"/>
            <a:ext cx="29876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4</a:t>
            </a:r>
            <a:r>
              <a:rPr lang="zh-CN" altLang="en-US" sz="2400" dirty="0">
                <a:latin typeface="华文行楷" panose="02010800040101010101" pitchFamily="2" charset="-122"/>
                <a:ea typeface="华文行楷" panose="02010800040101010101" pitchFamily="2" charset="-122"/>
              </a:rPr>
              <a:t>章 机器学习</a:t>
            </a:r>
            <a:endParaRPr lang="en-US" altLang="zh-CN" sz="2400" dirty="0">
              <a:latin typeface="华文行楷" panose="02010800040101010101" pitchFamily="2" charset="-122"/>
              <a:ea typeface="华文行楷"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圆角矩形 1"/>
          <p:cNvSpPr/>
          <p:nvPr/>
        </p:nvSpPr>
        <p:spPr>
          <a:xfrm>
            <a:off x="4099979" y="2313499"/>
            <a:ext cx="3773225" cy="577283"/>
          </a:xfrm>
          <a:prstGeom prst="roundRect">
            <a:avLst/>
          </a:prstGeom>
          <a:solidFill>
            <a:schemeClr val="accent2">
              <a:lumMod val="60000"/>
              <a:lumOff val="4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学科定义</a:t>
            </a:r>
          </a:p>
        </p:txBody>
      </p:sp>
      <p:sp>
        <p:nvSpPr>
          <p:cNvPr id="11" name="矩形 10"/>
          <p:cNvSpPr/>
          <p:nvPr/>
        </p:nvSpPr>
        <p:spPr>
          <a:xfrm>
            <a:off x="4453532" y="548681"/>
            <a:ext cx="3419670" cy="584775"/>
          </a:xfrm>
          <a:prstGeom prst="rect">
            <a:avLst/>
          </a:prstGeom>
        </p:spPr>
        <p:txBody>
          <a:bodyPr wrap="square">
            <a:spAutoFit/>
          </a:bodyPr>
          <a:lstStyle/>
          <a:p>
            <a:r>
              <a:rPr kumimoji="1" lang="en-US" altLang="zh-CN" sz="3200" b="1" dirty="0">
                <a:latin typeface="微软雅黑" panose="020B0503020204020204" pitchFamily="34" charset="-122"/>
                <a:ea typeface="微软雅黑" panose="020B0503020204020204" pitchFamily="34" charset="-122"/>
              </a:rPr>
              <a:t>4.1 </a:t>
            </a:r>
            <a:r>
              <a:rPr kumimoji="1" lang="zh-CN" altLang="en-US" sz="3200" b="1" dirty="0">
                <a:latin typeface="微软雅黑" panose="020B0503020204020204" pitchFamily="34" charset="-122"/>
                <a:ea typeface="微软雅黑" panose="020B0503020204020204" pitchFamily="34" charset="-122"/>
              </a:rPr>
              <a:t>机器学习概论</a:t>
            </a:r>
            <a:endParaRPr lang="zh-CN" altLang="en-US" sz="3200" b="1" dirty="0">
              <a:latin typeface="微软雅黑" panose="020B0503020204020204" pitchFamily="34" charset="-122"/>
              <a:ea typeface="微软雅黑" panose="020B0503020204020204" pitchFamily="34" charset="-122"/>
            </a:endParaRPr>
          </a:p>
        </p:txBody>
      </p:sp>
      <p:sp>
        <p:nvSpPr>
          <p:cNvPr id="12" name="圆角矩形 11"/>
          <p:cNvSpPr/>
          <p:nvPr/>
        </p:nvSpPr>
        <p:spPr>
          <a:xfrm>
            <a:off x="4099979" y="3028390"/>
            <a:ext cx="3773225" cy="577283"/>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发展历程</a:t>
            </a:r>
          </a:p>
        </p:txBody>
      </p:sp>
      <p:sp>
        <p:nvSpPr>
          <p:cNvPr id="16" name="圆角矩形 15"/>
          <p:cNvSpPr/>
          <p:nvPr/>
        </p:nvSpPr>
        <p:spPr>
          <a:xfrm>
            <a:off x="4099979" y="3729738"/>
            <a:ext cx="3773225" cy="577283"/>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机器学习方法</a:t>
            </a:r>
          </a:p>
        </p:txBody>
      </p:sp>
      <p:sp>
        <p:nvSpPr>
          <p:cNvPr id="7" name="圆角矩形 6"/>
          <p:cNvSpPr/>
          <p:nvPr/>
        </p:nvSpPr>
        <p:spPr>
          <a:xfrm>
            <a:off x="4099978" y="4431086"/>
            <a:ext cx="3773225" cy="577283"/>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应用场景与挑战</a:t>
            </a:r>
          </a:p>
        </p:txBody>
      </p:sp>
    </p:spTree>
    <p:extLst>
      <p:ext uri="{BB962C8B-B14F-4D97-AF65-F5344CB8AC3E}">
        <p14:creationId xmlns:p14="http://schemas.microsoft.com/office/powerpoint/2010/main" val="257727382"/>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矩形 11"/>
          <p:cNvSpPr/>
          <p:nvPr/>
        </p:nvSpPr>
        <p:spPr>
          <a:xfrm>
            <a:off x="4439816" y="399915"/>
            <a:ext cx="3592318" cy="584775"/>
          </a:xfrm>
          <a:prstGeom prst="rect">
            <a:avLst/>
          </a:prstGeom>
        </p:spPr>
        <p:txBody>
          <a:bodyPr wrap="square">
            <a:spAutoFit/>
          </a:bodyPr>
          <a:lstStyle/>
          <a:p>
            <a:r>
              <a:rPr kumimoji="1" lang="zh-CN" altLang="en-US" sz="3200" b="1" dirty="0">
                <a:latin typeface="微软雅黑" panose="020B0503020204020204" pitchFamily="34" charset="-122"/>
                <a:ea typeface="微软雅黑" panose="020B0503020204020204" pitchFamily="34" charset="-122"/>
              </a:rPr>
              <a:t>什么是机器学习</a:t>
            </a:r>
            <a:endParaRPr lang="zh-CN" altLang="en-US" sz="3200" b="1" dirty="0">
              <a:latin typeface="微软雅黑" panose="020B0503020204020204" pitchFamily="34" charset="-122"/>
              <a:ea typeface="微软雅黑" panose="020B0503020204020204" pitchFamily="34" charset="-122"/>
            </a:endParaRPr>
          </a:p>
        </p:txBody>
      </p:sp>
      <p:grpSp>
        <p:nvGrpSpPr>
          <p:cNvPr id="29" name="组 28"/>
          <p:cNvGrpSpPr/>
          <p:nvPr/>
        </p:nvGrpSpPr>
        <p:grpSpPr>
          <a:xfrm>
            <a:off x="1919537" y="2263367"/>
            <a:ext cx="8187149" cy="3613906"/>
            <a:chOff x="1350847" y="2449951"/>
            <a:chExt cx="8698577" cy="4818542"/>
          </a:xfrm>
        </p:grpSpPr>
        <p:sp>
          <p:nvSpPr>
            <p:cNvPr id="14" name="矩形 13"/>
            <p:cNvSpPr/>
            <p:nvPr/>
          </p:nvSpPr>
          <p:spPr>
            <a:xfrm>
              <a:off x="1617227" y="2639403"/>
              <a:ext cx="8339098" cy="4431983"/>
            </a:xfrm>
            <a:prstGeom prst="rect">
              <a:avLst/>
            </a:prstGeom>
          </p:spPr>
          <p:txBody>
            <a:bodyPr wrap="square">
              <a:spAutoFit/>
            </a:bodyPr>
            <a:lstStyle/>
            <a:p>
              <a:pPr>
                <a:lnSpc>
                  <a:spcPct val="125000"/>
                </a:lnSpc>
              </a:pPr>
              <a:r>
                <a:rPr kumimoji="1" lang="zh-CN" altLang="en-US" dirty="0">
                  <a:latin typeface="微软雅黑" panose="020B0503020204020204" pitchFamily="34" charset="-122"/>
                  <a:ea typeface="微软雅黑" panose="020B0503020204020204" pitchFamily="34" charset="-122"/>
                </a:rPr>
                <a:t>机器学习（</a:t>
              </a:r>
              <a:r>
                <a:rPr kumimoji="1" lang="en-US" altLang="zh-CN" dirty="0">
                  <a:latin typeface="微软雅黑" panose="020B0503020204020204" pitchFamily="34" charset="-122"/>
                  <a:ea typeface="微软雅黑" panose="020B0503020204020204" pitchFamily="34" charset="-122"/>
                </a:rPr>
                <a:t>Machine Learning</a:t>
              </a:r>
              <a:r>
                <a:rPr kumimoji="1" lang="zh-CN" altLang="en-US" dirty="0">
                  <a:latin typeface="微软雅黑" panose="020B0503020204020204" pitchFamily="34" charset="-122"/>
                  <a:ea typeface="微软雅黑" panose="020B0503020204020204" pitchFamily="34" charset="-122"/>
                </a:rPr>
                <a:t>）是一门多领域</a:t>
              </a:r>
              <a:r>
                <a:rPr kumimoji="1" lang="zh-CN" altLang="en-US" b="1" dirty="0">
                  <a:latin typeface="微软雅黑" panose="020B0503020204020204" pitchFamily="34" charset="-122"/>
                  <a:ea typeface="微软雅黑" panose="020B0503020204020204" pitchFamily="34" charset="-122"/>
                </a:rPr>
                <a:t>交叉学科</a:t>
              </a:r>
              <a:r>
                <a:rPr kumimoji="1" lang="zh-CN" altLang="en-US" dirty="0">
                  <a:latin typeface="微软雅黑" panose="020B0503020204020204" pitchFamily="34" charset="-122"/>
                  <a:ea typeface="微软雅黑" panose="020B0503020204020204" pitchFamily="34" charset="-122"/>
                </a:rPr>
                <a:t>，涉及概率论、统计学、逼近论、凸分析、算法复杂度理论等多门学科 。专门研究计算机怎样</a:t>
              </a:r>
              <a:r>
                <a:rPr kumimoji="1" lang="zh-CN" altLang="en-US" dirty="0">
                  <a:solidFill>
                    <a:srgbClr val="FF0000"/>
                  </a:solidFill>
                  <a:latin typeface="微软雅黑" panose="020B0503020204020204" pitchFamily="34" charset="-122"/>
                  <a:ea typeface="微软雅黑" panose="020B0503020204020204" pitchFamily="34" charset="-122"/>
                </a:rPr>
                <a:t>模拟或实现人类的学习行为，以获取新知识或技能</a:t>
              </a:r>
              <a:r>
                <a:rPr kumimoji="1" lang="zh-CN" altLang="en-US" dirty="0">
                  <a:latin typeface="微软雅黑" panose="020B0503020204020204" pitchFamily="34" charset="-122"/>
                  <a:ea typeface="微软雅黑" panose="020B0503020204020204" pitchFamily="34" charset="-122"/>
                </a:rPr>
                <a:t>，重新组织已有的知识结构使之不断改善自身的性能。</a:t>
              </a:r>
            </a:p>
          </p:txBody>
        </p:sp>
        <p:sp>
          <p:nvSpPr>
            <p:cNvPr id="28" name="圆角矩形 27"/>
            <p:cNvSpPr/>
            <p:nvPr/>
          </p:nvSpPr>
          <p:spPr>
            <a:xfrm>
              <a:off x="1350847" y="2449951"/>
              <a:ext cx="8698577" cy="4818542"/>
            </a:xfrm>
            <a:prstGeom prst="roundRect">
              <a:avLst/>
            </a:prstGeom>
            <a:noFill/>
            <a:ln w="28575">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
        <p:nvSpPr>
          <p:cNvPr id="30" name="圆角矩形 29"/>
          <p:cNvSpPr/>
          <p:nvPr/>
        </p:nvSpPr>
        <p:spPr>
          <a:xfrm>
            <a:off x="7937800" y="5567257"/>
            <a:ext cx="2052027" cy="510191"/>
          </a:xfrm>
          <a:prstGeom prst="roundRect">
            <a:avLst/>
          </a:prstGeom>
          <a:solidFill>
            <a:srgbClr val="D26CAF"/>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a:p>
        </p:txBody>
      </p:sp>
      <p:sp>
        <p:nvSpPr>
          <p:cNvPr id="8" name="矩形 7"/>
          <p:cNvSpPr/>
          <p:nvPr/>
        </p:nvSpPr>
        <p:spPr>
          <a:xfrm>
            <a:off x="8118888" y="5567256"/>
            <a:ext cx="1847195" cy="523220"/>
          </a:xfrm>
          <a:prstGeom prst="rect">
            <a:avLst/>
          </a:prstGeom>
        </p:spPr>
        <p:txBody>
          <a:bodyPr wrap="square">
            <a:spAutoFit/>
          </a:bodyPr>
          <a:lstStyle/>
          <a:p>
            <a:r>
              <a:rPr kumimoji="1" lang="zh-CN" altLang="en-US" b="1" dirty="0">
                <a:latin typeface="微软雅黑" panose="020B0503020204020204" pitchFamily="34" charset="-122"/>
                <a:ea typeface="微软雅黑" panose="020B0503020204020204" pitchFamily="34" charset="-122"/>
              </a:rPr>
              <a:t>百度百科</a:t>
            </a:r>
            <a:endParaRPr kumimoji="1" lang="zh-CN" altLang="en-US" dirty="0">
              <a:latin typeface="微软雅黑" panose="020B0503020204020204" pitchFamily="34" charset="-122"/>
              <a:ea typeface="微软雅黑" panose="020B0503020204020204" pitchFamily="34" charset="-122"/>
            </a:endParaRPr>
          </a:p>
        </p:txBody>
      </p:sp>
      <p:sp>
        <p:nvSpPr>
          <p:cNvPr id="13" name="矩形 12"/>
          <p:cNvSpPr/>
          <p:nvPr/>
        </p:nvSpPr>
        <p:spPr>
          <a:xfrm>
            <a:off x="2038832" y="1238216"/>
            <a:ext cx="8111648" cy="954107"/>
          </a:xfrm>
          <a:prstGeom prst="rect">
            <a:avLst/>
          </a:prstGeom>
        </p:spPr>
        <p:txBody>
          <a:bodyPr wrap="square">
            <a:spAutoFit/>
          </a:bodyPr>
          <a:lstStyle/>
          <a:p>
            <a:r>
              <a:rPr kumimoji="1" lang="zh-CN" altLang="en-US" b="1" dirty="0">
                <a:solidFill>
                  <a:srgbClr val="0033CC"/>
                </a:solidFill>
                <a:latin typeface="微软雅黑" panose="020B0503020204020204" pitchFamily="34" charset="-122"/>
                <a:ea typeface="微软雅黑" panose="020B0503020204020204" pitchFamily="34" charset="-122"/>
              </a:rPr>
              <a:t>机器学习是人工智能的一个重要学科分支，是实现智能化的关键。</a:t>
            </a:r>
          </a:p>
        </p:txBody>
      </p:sp>
      <p:sp>
        <p:nvSpPr>
          <p:cNvPr id="2" name="矩形 1"/>
          <p:cNvSpPr/>
          <p:nvPr/>
        </p:nvSpPr>
        <p:spPr>
          <a:xfrm>
            <a:off x="9216888" y="5091320"/>
            <a:ext cx="544167" cy="260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Tree>
    <p:extLst>
      <p:ext uri="{BB962C8B-B14F-4D97-AF65-F5344CB8AC3E}">
        <p14:creationId xmlns:p14="http://schemas.microsoft.com/office/powerpoint/2010/main" val="428213700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par>
                                <p:cTn id="12" presetID="10" presetClass="entr" presetSubtype="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10"/>
                                        <p:tgtEl>
                                          <p:spTgt spid="30"/>
                                        </p:tgtEl>
                                      </p:cBhvr>
                                    </p:animEffect>
                                  </p:childTnLst>
                                </p:cTn>
                              </p:par>
                            </p:childTnLst>
                          </p:cTn>
                        </p:par>
                        <p:par>
                          <p:cTn id="15" fill="hold">
                            <p:stCondLst>
                              <p:cond delay="10"/>
                            </p:stCondLst>
                            <p:childTnLst>
                              <p:par>
                                <p:cTn id="16" presetID="1"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8"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0242" name="Rectangle 2"/>
          <p:cNvSpPr>
            <a:spLocks noGrp="1" noChangeArrowheads="1"/>
          </p:cNvSpPr>
          <p:nvPr>
            <p:ph type="title"/>
          </p:nvPr>
        </p:nvSpPr>
        <p:spPr>
          <a:xfrm>
            <a:off x="2240409" y="332656"/>
            <a:ext cx="7772400" cy="731838"/>
          </a:xfrm>
        </p:spPr>
        <p:txBody>
          <a:bodyPr vert="horz" wrap="square" lIns="91440" tIns="45720" rIns="91440" bIns="45720" numCol="1" anchor="ctr" anchorCtr="0" compatLnSpc="1"/>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机器学习的任务</a:t>
            </a:r>
            <a:endParaRPr lang="zh-CN" altLang="en-US"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650243" name="Rectangle 3"/>
          <p:cNvSpPr>
            <a:spLocks noGrp="1"/>
          </p:cNvSpPr>
          <p:nvPr>
            <p:ph idx="1"/>
          </p:nvPr>
        </p:nvSpPr>
        <p:spPr>
          <a:xfrm>
            <a:off x="2208213" y="1340768"/>
            <a:ext cx="7920235" cy="4824412"/>
          </a:xfrm>
          <a:ln/>
        </p:spPr>
        <p:txBody>
          <a:bodyPr vert="horz" wrap="square" lIns="91440" tIns="45720" rIns="91440" bIns="45720" anchor="t" anchorCtr="0">
            <a:normAutofit fontScale="92500" lnSpcReduction="10000"/>
          </a:bodyPr>
          <a:lstStyle/>
          <a:p>
            <a:pPr eaLnBrk="1" hangingPunct="1">
              <a:lnSpc>
                <a:spcPct val="12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王钰（中科院自动化所，</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2008</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eaLnBrk="1" hangingPunct="1">
              <a:lnSpc>
                <a:spcPct val="120000"/>
              </a:lnSpc>
            </a:pP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pP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pP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pP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pP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三个问题</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2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一致性假设：</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具有相同的分布。</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2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空间样本的划分：机器学习本身算法设计的要点。</a:t>
            </a:r>
          </a:p>
          <a:p>
            <a:pPr lvl="1" eaLnBrk="1" hangingPunct="1">
              <a:lnSpc>
                <a:spcPct val="12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模型的泛化能力：模型对世界为真的程度。</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圆角矩形 1"/>
          <p:cNvSpPr/>
          <p:nvPr/>
        </p:nvSpPr>
        <p:spPr bwMode="auto">
          <a:xfrm>
            <a:off x="2423593" y="1916832"/>
            <a:ext cx="7589217" cy="2448272"/>
          </a:xfrm>
          <a:prstGeom prst="roundRect">
            <a:avLst/>
          </a:prstGeom>
          <a:noFill/>
          <a:ln w="28575">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spcBef>
                <a:spcPts val="600"/>
              </a:spcBef>
              <a:spcAft>
                <a:spcPts val="600"/>
              </a:spcAft>
            </a:pPr>
            <a:r>
              <a:rPr kumimoji="1" lang="zh-CN" altLang="en-US" sz="2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假定</a:t>
            </a:r>
            <a:r>
              <a:rPr kumimoji="1" lang="en-US" altLang="zh-CN" sz="24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a:t>
            </a:r>
            <a:r>
              <a:rPr kumimoji="1" lang="zh-CN" altLang="en-US" sz="2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是问题世界的有限的或者无限的所有对象的集合，</a:t>
            </a:r>
            <a:r>
              <a:rPr kumimoji="1" lang="en-US" altLang="zh-CN" sz="24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kumimoji="1" lang="zh-CN" altLang="en-US" sz="2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是我们能够获得的有限数据</a:t>
            </a:r>
            <a:r>
              <a:rPr kumimoji="1" lang="en-US" altLang="zh-CN" sz="2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kumimoji="1" lang="zh-CN" altLang="en-US" sz="2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是</a:t>
            </a:r>
            <a:r>
              <a:rPr kumimoji="1" lang="en-US" altLang="zh-CN" sz="24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a:t>
            </a:r>
            <a:r>
              <a:rPr kumimoji="1" lang="zh-CN" altLang="en-US" sz="2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的一个很小的真子集（样本集）</a:t>
            </a:r>
            <a:endParaRPr kumimoji="1" lang="en-US" altLang="zh-CN" sz="2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spcBef>
                <a:spcPts val="600"/>
              </a:spcBef>
              <a:spcAft>
                <a:spcPts val="600"/>
              </a:spcAft>
            </a:pPr>
            <a:r>
              <a:rPr kumimoji="1" lang="zh-CN" altLang="en-US" sz="2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机器学习就是根据样本集</a:t>
            </a:r>
            <a:r>
              <a:rPr kumimoji="1" lang="en-US" altLang="zh-CN" sz="24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kumimoji="1" lang="zh-CN" altLang="en-US" sz="2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来推算世界的模型，使得模型对于</a:t>
            </a:r>
            <a:r>
              <a:rPr kumimoji="1" lang="en-US" altLang="zh-CN" sz="24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 </a:t>
            </a:r>
            <a:r>
              <a:rPr kumimoji="1" lang="zh-CN" altLang="en-US" sz="2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来说为真。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0243">
                                            <p:txEl>
                                              <p:pRg st="0" end="0"/>
                                            </p:txEl>
                                          </p:spTgt>
                                        </p:tgtEl>
                                        <p:attrNameLst>
                                          <p:attrName>style.visibility</p:attrName>
                                        </p:attrNameLst>
                                      </p:cBhvr>
                                      <p:to>
                                        <p:strVal val="visible"/>
                                      </p:to>
                                    </p:set>
                                    <p:animEffect transition="in" filter="blinds(horizontal)">
                                      <p:cBhvr>
                                        <p:cTn id="7" dur="500"/>
                                        <p:tgtEl>
                                          <p:spTgt spid="65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50243">
                                            <p:txEl>
                                              <p:pRg st="6" end="6"/>
                                            </p:txEl>
                                          </p:spTgt>
                                        </p:tgtEl>
                                        <p:attrNameLst>
                                          <p:attrName>style.visibility</p:attrName>
                                        </p:attrNameLst>
                                      </p:cBhvr>
                                      <p:to>
                                        <p:strVal val="visible"/>
                                      </p:to>
                                    </p:set>
                                    <p:animEffect transition="in" filter="blinds(horizontal)">
                                      <p:cBhvr>
                                        <p:cTn id="16" dur="500"/>
                                        <p:tgtEl>
                                          <p:spTgt spid="650243">
                                            <p:txEl>
                                              <p:pRg st="6" end="6"/>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50243">
                                            <p:txEl>
                                              <p:pRg st="7" end="7"/>
                                            </p:txEl>
                                          </p:spTgt>
                                        </p:tgtEl>
                                        <p:attrNameLst>
                                          <p:attrName>style.visibility</p:attrName>
                                        </p:attrNameLst>
                                      </p:cBhvr>
                                      <p:to>
                                        <p:strVal val="visible"/>
                                      </p:to>
                                    </p:set>
                                    <p:animEffect transition="in" filter="blinds(horizontal)">
                                      <p:cBhvr>
                                        <p:cTn id="19" dur="500"/>
                                        <p:tgtEl>
                                          <p:spTgt spid="650243">
                                            <p:txEl>
                                              <p:pRg st="7" end="7"/>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50243">
                                            <p:txEl>
                                              <p:pRg st="8" end="8"/>
                                            </p:txEl>
                                          </p:spTgt>
                                        </p:tgtEl>
                                        <p:attrNameLst>
                                          <p:attrName>style.visibility</p:attrName>
                                        </p:attrNameLst>
                                      </p:cBhvr>
                                      <p:to>
                                        <p:strVal val="visible"/>
                                      </p:to>
                                    </p:set>
                                    <p:animEffect transition="in" filter="blinds(horizontal)">
                                      <p:cBhvr>
                                        <p:cTn id="22" dur="500"/>
                                        <p:tgtEl>
                                          <p:spTgt spid="650243">
                                            <p:txEl>
                                              <p:pRg st="8" end="8"/>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50243">
                                            <p:txEl>
                                              <p:pRg st="9" end="9"/>
                                            </p:txEl>
                                          </p:spTgt>
                                        </p:tgtEl>
                                        <p:attrNameLst>
                                          <p:attrName>style.visibility</p:attrName>
                                        </p:attrNameLst>
                                      </p:cBhvr>
                                      <p:to>
                                        <p:strVal val="visible"/>
                                      </p:to>
                                    </p:set>
                                    <p:animEffect transition="in" filter="blinds(horizontal)">
                                      <p:cBhvr>
                                        <p:cTn id="25" dur="500"/>
                                        <p:tgtEl>
                                          <p:spTgt spid="6502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243" grpId="0" uiExpand="1" build="p"/>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3223693" y="625454"/>
            <a:ext cx="4727838" cy="584775"/>
          </a:xfrm>
          <a:prstGeom prst="rect">
            <a:avLst/>
          </a:prstGeom>
        </p:spPr>
        <p:txBody>
          <a:bodyPr wrap="square">
            <a:spAutoFit/>
          </a:bodyPr>
          <a:lstStyle/>
          <a:p>
            <a:r>
              <a:rPr kumimoji="1" lang="zh-CN" altLang="en-US" sz="3200" b="1" dirty="0">
                <a:latin typeface="微软雅黑" panose="020B0503020204020204" pitchFamily="34" charset="-122"/>
                <a:ea typeface="微软雅黑" panose="020B0503020204020204" pitchFamily="34" charset="-122"/>
              </a:rPr>
              <a:t>机器学习的一般过程</a:t>
            </a:r>
          </a:p>
        </p:txBody>
      </p:sp>
      <p:sp>
        <p:nvSpPr>
          <p:cNvPr id="3" name="流程图: 磁盘 2"/>
          <p:cNvSpPr/>
          <p:nvPr/>
        </p:nvSpPr>
        <p:spPr>
          <a:xfrm>
            <a:off x="1952730" y="1740672"/>
            <a:ext cx="1887814" cy="760343"/>
          </a:xfrm>
          <a:prstGeom prst="flowChartMagneticDisk">
            <a:avLst/>
          </a:prstGeom>
          <a:solidFill>
            <a:schemeClr val="accent2">
              <a:lumMod val="20000"/>
              <a:lumOff val="8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训练数据</a:t>
            </a:r>
            <a:r>
              <a:rPr kumimoji="1" lang="en-US" altLang="zh-CN"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endParaRPr kumimoji="1" lang="zh-CN" altLang="en-US"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流程图: 磁盘 4"/>
          <p:cNvSpPr/>
          <p:nvPr/>
        </p:nvSpPr>
        <p:spPr>
          <a:xfrm>
            <a:off x="7110748" y="1575927"/>
            <a:ext cx="2585652" cy="1021246"/>
          </a:xfrm>
          <a:prstGeom prst="flowChartMagneticDisk">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未知测试数据</a:t>
            </a:r>
            <a:r>
              <a:rPr kumimoji="1" lang="en-US" altLang="zh-CN"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a:t>
            </a:r>
            <a:endParaRPr kumimoji="1" lang="zh-CN" altLang="en-US"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rotWithShape="1">
          <a:blip r:embed="rId3"/>
          <a:srcRect l="74879" t="26087" r="1498" b="50290"/>
          <a:stretch/>
        </p:blipFill>
        <p:spPr>
          <a:xfrm>
            <a:off x="4987836" y="1602764"/>
            <a:ext cx="1036157" cy="1036157"/>
          </a:xfrm>
          <a:prstGeom prst="rect">
            <a:avLst/>
          </a:prstGeom>
        </p:spPr>
      </p:pic>
      <p:sp>
        <p:nvSpPr>
          <p:cNvPr id="7" name="右箭头 6"/>
          <p:cNvSpPr/>
          <p:nvPr/>
        </p:nvSpPr>
        <p:spPr>
          <a:xfrm>
            <a:off x="4045883" y="1953119"/>
            <a:ext cx="797615" cy="392747"/>
          </a:xfrm>
          <a:prstGeom prst="rightArrow">
            <a:avLst>
              <a:gd name="adj1" fmla="val 37674"/>
              <a:gd name="adj2"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4007769" y="1556793"/>
            <a:ext cx="800219" cy="461665"/>
          </a:xfrm>
          <a:prstGeom prst="rect">
            <a:avLst/>
          </a:prstGeom>
        </p:spPr>
        <p:txBody>
          <a:bodyPr wrap="none">
            <a:spAutoFit/>
          </a:bodyPr>
          <a:lstStyle/>
          <a:p>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训练</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右箭头 9"/>
          <p:cNvSpPr/>
          <p:nvPr/>
        </p:nvSpPr>
        <p:spPr>
          <a:xfrm>
            <a:off x="6112299" y="1956400"/>
            <a:ext cx="797615" cy="392747"/>
          </a:xfrm>
          <a:prstGeom prst="rightArrow">
            <a:avLst>
              <a:gd name="adj1" fmla="val 37674"/>
              <a:gd name="adj2"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6096001" y="1556793"/>
            <a:ext cx="800219" cy="461665"/>
          </a:xfrm>
          <a:prstGeom prst="rect">
            <a:avLst/>
          </a:prstGeom>
        </p:spPr>
        <p:txBody>
          <a:bodyPr wrap="none">
            <a:spAutoFit/>
          </a:bodyPr>
          <a:lstStyle/>
          <a:p>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应用</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1" name="图片 20"/>
          <p:cNvPicPr>
            <a:picLocks noChangeAspect="1"/>
          </p:cNvPicPr>
          <p:nvPr/>
        </p:nvPicPr>
        <p:blipFill>
          <a:blip r:embed="rId4"/>
          <a:stretch>
            <a:fillRect/>
          </a:stretch>
        </p:blipFill>
        <p:spPr>
          <a:xfrm>
            <a:off x="7729234" y="3725927"/>
            <a:ext cx="738220" cy="11839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图片 14"/>
          <p:cNvPicPr>
            <a:picLocks noChangeAspect="1"/>
          </p:cNvPicPr>
          <p:nvPr/>
        </p:nvPicPr>
        <p:blipFill>
          <a:blip r:embed="rId5"/>
          <a:stretch>
            <a:fillRect/>
          </a:stretch>
        </p:blipFill>
        <p:spPr>
          <a:xfrm>
            <a:off x="7743379" y="2837924"/>
            <a:ext cx="1105567" cy="79967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30" name="组合 29"/>
          <p:cNvGrpSpPr/>
          <p:nvPr/>
        </p:nvGrpSpPr>
        <p:grpSpPr>
          <a:xfrm>
            <a:off x="1631505" y="3140968"/>
            <a:ext cx="2348095" cy="1915624"/>
            <a:chOff x="795756" y="2889563"/>
            <a:chExt cx="2832313" cy="1935158"/>
          </a:xfrm>
        </p:grpSpPr>
        <p:pic>
          <p:nvPicPr>
            <p:cNvPr id="13" name="图片 12"/>
            <p:cNvPicPr>
              <a:picLocks noChangeAspect="1"/>
            </p:cNvPicPr>
            <p:nvPr/>
          </p:nvPicPr>
          <p:blipFill>
            <a:blip r:embed="rId6"/>
            <a:stretch>
              <a:fillRect/>
            </a:stretch>
          </p:blipFill>
          <p:spPr>
            <a:xfrm>
              <a:off x="800677" y="2889907"/>
              <a:ext cx="1059228" cy="7752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4" name="图片 13"/>
            <p:cNvPicPr>
              <a:picLocks noChangeAspect="1"/>
            </p:cNvPicPr>
            <p:nvPr/>
          </p:nvPicPr>
          <p:blipFill>
            <a:blip r:embed="rId7"/>
            <a:stretch>
              <a:fillRect/>
            </a:stretch>
          </p:blipFill>
          <p:spPr>
            <a:xfrm>
              <a:off x="1933391" y="2892044"/>
              <a:ext cx="801827" cy="8786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 name="图片 15"/>
            <p:cNvPicPr>
              <a:picLocks noChangeAspect="1"/>
            </p:cNvPicPr>
            <p:nvPr/>
          </p:nvPicPr>
          <p:blipFill>
            <a:blip r:embed="rId8"/>
            <a:stretch>
              <a:fillRect/>
            </a:stretch>
          </p:blipFill>
          <p:spPr>
            <a:xfrm>
              <a:off x="2735218" y="3874908"/>
              <a:ext cx="892851" cy="9494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图片 16"/>
            <p:cNvPicPr>
              <a:picLocks noChangeAspect="1"/>
            </p:cNvPicPr>
            <p:nvPr/>
          </p:nvPicPr>
          <p:blipFill>
            <a:blip r:embed="rId9"/>
            <a:stretch>
              <a:fillRect/>
            </a:stretch>
          </p:blipFill>
          <p:spPr>
            <a:xfrm>
              <a:off x="1753379" y="3911954"/>
              <a:ext cx="906558" cy="9127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8" name="图片 17"/>
            <p:cNvPicPr>
              <a:picLocks noChangeAspect="1"/>
            </p:cNvPicPr>
            <p:nvPr/>
          </p:nvPicPr>
          <p:blipFill>
            <a:blip r:embed="rId10"/>
            <a:stretch>
              <a:fillRect/>
            </a:stretch>
          </p:blipFill>
          <p:spPr>
            <a:xfrm>
              <a:off x="795756" y="3722657"/>
              <a:ext cx="906947" cy="11016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9" name="图片 18"/>
            <p:cNvPicPr>
              <a:picLocks noChangeAspect="1"/>
            </p:cNvPicPr>
            <p:nvPr/>
          </p:nvPicPr>
          <p:blipFill>
            <a:blip r:embed="rId11"/>
            <a:stretch>
              <a:fillRect/>
            </a:stretch>
          </p:blipFill>
          <p:spPr>
            <a:xfrm>
              <a:off x="2828024" y="2889563"/>
              <a:ext cx="800045" cy="8811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mc:AlternateContent xmlns:mc="http://schemas.openxmlformats.org/markup-compatibility/2006" xmlns:a14="http://schemas.microsoft.com/office/drawing/2010/main">
        <mc:Choice Requires="a14">
          <p:sp>
            <p:nvSpPr>
              <p:cNvPr id="32" name="矩形 31"/>
              <p:cNvSpPr/>
              <p:nvPr/>
            </p:nvSpPr>
            <p:spPr>
              <a:xfrm>
                <a:off x="7127760" y="2890900"/>
                <a:ext cx="2761911" cy="500137"/>
              </a:xfrm>
              <a:prstGeom prst="rect">
                <a:avLst/>
              </a:prstGeom>
              <a:noFill/>
            </p:spPr>
            <p:txBody>
              <a:bodyPr wrap="none" lIns="68580" tIns="34290" rIns="68580" bIns="34290">
                <a:spAutoFit/>
              </a:bodyPr>
              <a:lstStyle/>
              <a:p>
                <a:pPr algn="ctr"/>
                <a14:m>
                  <m:oMath xmlns:m="http://schemas.openxmlformats.org/officeDocument/2006/math">
                    <m:r>
                      <a:rPr lang="en-US" altLang="zh-CN" i="1">
                        <a:ln w="0"/>
                        <a:solidFill>
                          <a:srgbClr val="FF0000"/>
                        </a:solidFill>
                        <a:effectLst>
                          <a:outerShdw blurRad="38100" dist="19050" dir="2700000" algn="tl" rotWithShape="0">
                            <a:schemeClr val="dk1">
                              <a:alpha val="40000"/>
                            </a:schemeClr>
                          </a:outerShdw>
                        </a:effectLst>
                        <a:latin typeface="Cambria Math" panose="02040503050406030204" pitchFamily="18" charset="0"/>
                      </a:rPr>
                      <m:t>𝑓</m:t>
                    </m:r>
                    <m:r>
                      <a:rPr lang="en-US" altLang="zh-CN" i="1">
                        <a:ln w="0"/>
                        <a:solidFill>
                          <a:srgbClr val="FF0000"/>
                        </a:solidFill>
                        <a:effectLst>
                          <a:outerShdw blurRad="38100" dist="19050" dir="2700000" algn="tl" rotWithShape="0">
                            <a:schemeClr val="dk1">
                              <a:alpha val="40000"/>
                            </a:schemeClr>
                          </a:outerShdw>
                        </a:effectLst>
                        <a:latin typeface="Cambria Math" panose="02040503050406030204" pitchFamily="18" charset="0"/>
                      </a:rPr>
                      <m:t>(                   )</m:t>
                    </m:r>
                  </m:oMath>
                </a14:m>
                <a:r>
                  <a:rPr lang="en-US" altLang="zh-CN"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p>
            </p:txBody>
          </p:sp>
        </mc:Choice>
        <mc:Fallback xmlns="">
          <p:sp>
            <p:nvSpPr>
              <p:cNvPr id="32" name="矩形 31"/>
              <p:cNvSpPr>
                <a:spLocks noRot="1" noChangeAspect="1" noMove="1" noResize="1" noEditPoints="1" noAdjustHandles="1" noChangeArrowheads="1" noChangeShapeType="1" noTextEdit="1"/>
              </p:cNvSpPr>
              <p:nvPr/>
            </p:nvSpPr>
            <p:spPr>
              <a:xfrm>
                <a:off x="5603759" y="2890899"/>
                <a:ext cx="2761911" cy="500137"/>
              </a:xfrm>
              <a:prstGeom prst="rect">
                <a:avLst/>
              </a:prstGeom>
              <a:blipFill rotWithShape="0">
                <a:blip r:embed="rId12"/>
                <a:stretch>
                  <a:fillRect t="-17073" r="-5960" b="-414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7222388" y="4190335"/>
                <a:ext cx="2054986" cy="500137"/>
              </a:xfrm>
              <a:prstGeom prst="rect">
                <a:avLst/>
              </a:prstGeom>
              <a:noFill/>
            </p:spPr>
            <p:txBody>
              <a:bodyPr wrap="none" lIns="68580" tIns="34290" rIns="68580" bIns="34290">
                <a:spAutoFit/>
              </a:bodyPr>
              <a:lstStyle/>
              <a:p>
                <a:pPr algn="ctr"/>
                <a14:m>
                  <m:oMath xmlns:m="http://schemas.openxmlformats.org/officeDocument/2006/math">
                    <m:r>
                      <a:rPr lang="en-US" altLang="zh-CN" i="1">
                        <a:ln w="0"/>
                        <a:solidFill>
                          <a:srgbClr val="FF0000"/>
                        </a:solidFill>
                        <a:effectLst>
                          <a:outerShdw blurRad="38100" dist="19050" dir="2700000" algn="tl" rotWithShape="0">
                            <a:schemeClr val="dk1">
                              <a:alpha val="40000"/>
                            </a:schemeClr>
                          </a:outerShdw>
                        </a:effectLst>
                        <a:latin typeface="Cambria Math" panose="02040503050406030204" pitchFamily="18" charset="0"/>
                      </a:rPr>
                      <m:t>𝑓</m:t>
                    </m:r>
                    <m:r>
                      <a:rPr lang="en-US" altLang="zh-CN" i="1">
                        <a:ln w="0"/>
                        <a:solidFill>
                          <a:srgbClr val="FF0000"/>
                        </a:solidFill>
                        <a:effectLst>
                          <a:outerShdw blurRad="38100" dist="19050" dir="2700000" algn="tl" rotWithShape="0">
                            <a:schemeClr val="dk1">
                              <a:alpha val="40000"/>
                            </a:schemeClr>
                          </a:outerShdw>
                        </a:effectLst>
                        <a:latin typeface="Cambria Math" panose="02040503050406030204" pitchFamily="18" charset="0"/>
                      </a:rPr>
                      <m:t>(          )</m:t>
                    </m:r>
                  </m:oMath>
                </a14:m>
                <a:r>
                  <a:rPr lang="en-US" altLang="zh-CN"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p>
            </p:txBody>
          </p:sp>
        </mc:Choice>
        <mc:Fallback xmlns="">
          <p:sp>
            <p:nvSpPr>
              <p:cNvPr id="34" name="矩形 33"/>
              <p:cNvSpPr>
                <a:spLocks noRot="1" noChangeAspect="1" noMove="1" noResize="1" noEditPoints="1" noAdjustHandles="1" noChangeArrowheads="1" noChangeShapeType="1" noTextEdit="1"/>
              </p:cNvSpPr>
              <p:nvPr/>
            </p:nvSpPr>
            <p:spPr>
              <a:xfrm>
                <a:off x="5698388" y="4190334"/>
                <a:ext cx="2054986" cy="500137"/>
              </a:xfrm>
              <a:prstGeom prst="rect">
                <a:avLst/>
              </a:prstGeom>
              <a:blipFill rotWithShape="0">
                <a:blip r:embed="rId13"/>
                <a:stretch>
                  <a:fillRect t="-17073" r="-8012" b="-41463"/>
                </a:stretch>
              </a:blipFill>
            </p:spPr>
            <p:txBody>
              <a:bodyPr/>
              <a:lstStyle/>
              <a:p>
                <a:r>
                  <a:rPr lang="zh-CN" altLang="en-US">
                    <a:noFill/>
                  </a:rPr>
                  <a:t> </a:t>
                </a:r>
              </a:p>
            </p:txBody>
          </p:sp>
        </mc:Fallback>
      </mc:AlternateContent>
      <p:sp>
        <p:nvSpPr>
          <p:cNvPr id="46" name="圆角矩形 45"/>
          <p:cNvSpPr/>
          <p:nvPr/>
        </p:nvSpPr>
        <p:spPr>
          <a:xfrm>
            <a:off x="9319619" y="3725927"/>
            <a:ext cx="1088390" cy="110257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7030A0"/>
                </a:solidFill>
                <a:latin typeface="微软雅黑" panose="020B0503020204020204" pitchFamily="34" charset="-122"/>
                <a:ea typeface="微软雅黑" panose="020B0503020204020204" pitchFamily="34" charset="-122"/>
              </a:rPr>
              <a:t>泛化问题</a:t>
            </a:r>
          </a:p>
        </p:txBody>
      </p:sp>
      <mc:AlternateContent xmlns:mc="http://schemas.openxmlformats.org/markup-compatibility/2006" xmlns:a14="http://schemas.microsoft.com/office/drawing/2010/main">
        <mc:Choice Requires="a14">
          <p:sp>
            <p:nvSpPr>
              <p:cNvPr id="33" name="矩形 32"/>
              <p:cNvSpPr/>
              <p:nvPr/>
            </p:nvSpPr>
            <p:spPr>
              <a:xfrm>
                <a:off x="7165046" y="5243204"/>
                <a:ext cx="2604816" cy="500137"/>
              </a:xfrm>
              <a:prstGeom prst="rect">
                <a:avLst/>
              </a:prstGeom>
              <a:noFill/>
            </p:spPr>
            <p:txBody>
              <a:bodyPr wrap="none" lIns="68580" tIns="34290" rIns="68580" bIns="34290">
                <a:spAutoFit/>
              </a:bodyPr>
              <a:lstStyle/>
              <a:p>
                <a:pPr algn="ctr"/>
                <a14:m>
                  <m:oMath xmlns:m="http://schemas.openxmlformats.org/officeDocument/2006/math">
                    <m:r>
                      <a:rPr lang="en-US" altLang="zh-CN" i="1">
                        <a:ln w="0"/>
                        <a:solidFill>
                          <a:srgbClr val="FF0000"/>
                        </a:solidFill>
                        <a:effectLst>
                          <a:outerShdw blurRad="38100" dist="19050" dir="2700000" algn="tl" rotWithShape="0">
                            <a:schemeClr val="dk1">
                              <a:alpha val="40000"/>
                            </a:schemeClr>
                          </a:outerShdw>
                        </a:effectLst>
                        <a:latin typeface="Cambria Math" panose="02040503050406030204" pitchFamily="18" charset="0"/>
                      </a:rPr>
                      <m:t>𝑓</m:t>
                    </m:r>
                    <m:r>
                      <a:rPr lang="en-US" altLang="zh-CN" i="1">
                        <a:ln w="0"/>
                        <a:solidFill>
                          <a:srgbClr val="FF0000"/>
                        </a:solidFill>
                        <a:effectLst>
                          <a:outerShdw blurRad="38100" dist="19050" dir="2700000" algn="tl" rotWithShape="0">
                            <a:schemeClr val="dk1">
                              <a:alpha val="40000"/>
                            </a:schemeClr>
                          </a:outerShdw>
                        </a:effectLst>
                        <a:latin typeface="Cambria Math" panose="02040503050406030204" pitchFamily="18" charset="0"/>
                      </a:rPr>
                      <m:t>(                 )</m:t>
                    </m:r>
                  </m:oMath>
                </a14:m>
                <a:r>
                  <a:rPr lang="en-US" altLang="zh-CN"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p>
            </p:txBody>
          </p:sp>
        </mc:Choice>
        <mc:Fallback xmlns="">
          <p:sp>
            <p:nvSpPr>
              <p:cNvPr id="33" name="矩形 32"/>
              <p:cNvSpPr>
                <a:spLocks noRot="1" noChangeAspect="1" noMove="1" noResize="1" noEditPoints="1" noAdjustHandles="1" noChangeArrowheads="1" noChangeShapeType="1" noTextEdit="1"/>
              </p:cNvSpPr>
              <p:nvPr/>
            </p:nvSpPr>
            <p:spPr>
              <a:xfrm>
                <a:off x="5641046" y="5243203"/>
                <a:ext cx="2604816" cy="500137"/>
              </a:xfrm>
              <a:prstGeom prst="rect">
                <a:avLst/>
              </a:prstGeom>
              <a:blipFill rotWithShape="0">
                <a:blip r:embed="rId14"/>
                <a:stretch>
                  <a:fillRect t="-17073" r="-6075" b="-41463"/>
                </a:stretch>
              </a:blipFill>
            </p:spPr>
            <p:txBody>
              <a:bodyPr/>
              <a:lstStyle/>
              <a:p>
                <a:r>
                  <a:rPr lang="zh-CN" altLang="en-US">
                    <a:noFill/>
                  </a:rPr>
                  <a:t> </a:t>
                </a:r>
              </a:p>
            </p:txBody>
          </p:sp>
        </mc:Fallback>
      </mc:AlternateContent>
      <p:grpSp>
        <p:nvGrpSpPr>
          <p:cNvPr id="39" name="组合 38"/>
          <p:cNvGrpSpPr/>
          <p:nvPr/>
        </p:nvGrpSpPr>
        <p:grpSpPr>
          <a:xfrm>
            <a:off x="4141069" y="2938681"/>
            <a:ext cx="2604687" cy="1066254"/>
            <a:chOff x="3184490" y="2884048"/>
            <a:chExt cx="2604687" cy="1066254"/>
          </a:xfrm>
        </p:grpSpPr>
        <mc:AlternateContent xmlns:mc="http://schemas.openxmlformats.org/markup-compatibility/2006" xmlns:a14="http://schemas.microsoft.com/office/drawing/2010/main">
          <mc:Choice Requires="a14">
            <p:sp>
              <p:nvSpPr>
                <p:cNvPr id="43" name="矩形 42"/>
                <p:cNvSpPr/>
                <p:nvPr/>
              </p:nvSpPr>
              <p:spPr>
                <a:xfrm>
                  <a:off x="3184490" y="3225717"/>
                  <a:ext cx="2604687" cy="500137"/>
                </a:xfrm>
                <a:prstGeom prst="rect">
                  <a:avLst/>
                </a:prstGeom>
                <a:noFill/>
              </p:spPr>
              <p:txBody>
                <a:bodyPr wrap="none" lIns="68580" tIns="34290" rIns="68580" bIns="34290">
                  <a:spAutoFit/>
                </a:bodyPr>
                <a:lstStyle/>
                <a:p>
                  <a:pPr algn="ctr"/>
                  <a14:m>
                    <m:oMath xmlns:m="http://schemas.openxmlformats.org/officeDocument/2006/math">
                      <m:r>
                        <a:rPr lang="en-US" altLang="zh-CN" i="1">
                          <a:ln w="0"/>
                          <a:effectLst>
                            <a:outerShdw blurRad="38100" dist="19050" dir="2700000" algn="tl" rotWithShape="0">
                              <a:schemeClr val="dk1">
                                <a:alpha val="40000"/>
                              </a:schemeClr>
                            </a:outerShdw>
                          </a:effectLst>
                          <a:latin typeface="Cambria Math" panose="02040503050406030204" pitchFamily="18" charset="0"/>
                        </a:rPr>
                        <m:t>𝑓</m:t>
                      </m:r>
                      <m:d>
                        <m:dPr>
                          <m:ctrlPr>
                            <a:rPr lang="en-US" altLang="zh-CN" i="1">
                              <a:ln w="0"/>
                              <a:effectLst>
                                <a:outerShdw blurRad="38100" dist="19050" dir="2700000" algn="tl" rotWithShape="0">
                                  <a:schemeClr val="dk1">
                                    <a:alpha val="40000"/>
                                  </a:schemeClr>
                                </a:outerShdw>
                              </a:effectLst>
                              <a:latin typeface="Cambria Math" panose="02040503050406030204" pitchFamily="18" charset="0"/>
                            </a:rPr>
                          </m:ctrlPr>
                        </m:dPr>
                        <m:e>
                          <m:r>
                            <a:rPr lang="en-US" altLang="zh-CN" i="1">
                              <a:ln w="0"/>
                              <a:effectLst>
                                <a:outerShdw blurRad="38100" dist="19050" dir="2700000" algn="tl" rotWithShape="0">
                                  <a:schemeClr val="dk1">
                                    <a:alpha val="40000"/>
                                  </a:schemeClr>
                                </a:outerShdw>
                              </a:effectLst>
                              <a:latin typeface="Cambria Math" panose="02040503050406030204" pitchFamily="18" charset="0"/>
                            </a:rPr>
                            <m:t>                </m:t>
                          </m:r>
                        </m:e>
                      </m:d>
                    </m:oMath>
                  </a14:m>
                  <a:r>
                    <a:rPr lang="en-US" altLang="zh-CN"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狗</a:t>
                  </a:r>
                </a:p>
              </p:txBody>
            </p:sp>
          </mc:Choice>
          <mc:Fallback xmlns="">
            <p:sp>
              <p:nvSpPr>
                <p:cNvPr id="43" name="矩形 42"/>
                <p:cNvSpPr>
                  <a:spLocks noRot="1" noChangeAspect="1" noMove="1" noResize="1" noEditPoints="1" noAdjustHandles="1" noChangeArrowheads="1" noChangeShapeType="1" noTextEdit="1"/>
                </p:cNvSpPr>
                <p:nvPr/>
              </p:nvSpPr>
              <p:spPr>
                <a:xfrm>
                  <a:off x="3184490" y="3225717"/>
                  <a:ext cx="2604687" cy="500137"/>
                </a:xfrm>
                <a:prstGeom prst="rect">
                  <a:avLst/>
                </a:prstGeom>
                <a:blipFill rotWithShape="0">
                  <a:blip r:embed="rId15"/>
                  <a:stretch>
                    <a:fillRect t="-18293" r="-4684" b="-40244"/>
                  </a:stretch>
                </a:blipFill>
              </p:spPr>
              <p:txBody>
                <a:bodyPr/>
                <a:lstStyle/>
                <a:p>
                  <a:r>
                    <a:rPr lang="zh-CN" altLang="en-US">
                      <a:noFill/>
                    </a:rPr>
                    <a:t> </a:t>
                  </a:r>
                </a:p>
              </p:txBody>
            </p:sp>
          </mc:Fallback>
        </mc:AlternateContent>
        <p:pic>
          <p:nvPicPr>
            <p:cNvPr id="44" name="图片 43"/>
            <p:cNvPicPr>
              <a:picLocks noChangeAspect="1"/>
            </p:cNvPicPr>
            <p:nvPr/>
          </p:nvPicPr>
          <p:blipFill>
            <a:blip r:embed="rId7"/>
            <a:stretch>
              <a:fillRect/>
            </a:stretch>
          </p:blipFill>
          <p:spPr>
            <a:xfrm>
              <a:off x="3723740" y="2884048"/>
              <a:ext cx="973029" cy="10662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grpSp>
        <p:nvGrpSpPr>
          <p:cNvPr id="11" name="组合 10"/>
          <p:cNvGrpSpPr/>
          <p:nvPr/>
        </p:nvGrpSpPr>
        <p:grpSpPr>
          <a:xfrm>
            <a:off x="3979600" y="5065314"/>
            <a:ext cx="2950937" cy="1156168"/>
            <a:chOff x="128172" y="5150166"/>
            <a:chExt cx="2950937" cy="1156168"/>
          </a:xfrm>
        </p:grpSpPr>
        <mc:AlternateContent xmlns:mc="http://schemas.openxmlformats.org/markup-compatibility/2006" xmlns:a14="http://schemas.microsoft.com/office/drawing/2010/main">
          <mc:Choice Requires="a14">
            <p:sp>
              <p:nvSpPr>
                <p:cNvPr id="22" name="矩形 21"/>
                <p:cNvSpPr/>
                <p:nvPr/>
              </p:nvSpPr>
              <p:spPr>
                <a:xfrm>
                  <a:off x="128172" y="5417703"/>
                  <a:ext cx="2950937" cy="500137"/>
                </a:xfrm>
                <a:prstGeom prst="rect">
                  <a:avLst/>
                </a:prstGeom>
                <a:noFill/>
              </p:spPr>
              <p:txBody>
                <a:bodyPr wrap="none" lIns="68580" tIns="34290" rIns="68580" bIns="34290">
                  <a:spAutoFit/>
                </a:bodyPr>
                <a:lstStyle/>
                <a:p>
                  <a:pPr algn="ctr"/>
                  <a14:m>
                    <m:oMath xmlns:m="http://schemas.openxmlformats.org/officeDocument/2006/math">
                      <m:r>
                        <a:rPr lang="en-US" altLang="zh-CN" i="1">
                          <a:ln w="0"/>
                          <a:effectLst>
                            <a:outerShdw blurRad="38100" dist="19050" dir="2700000" algn="tl" rotWithShape="0">
                              <a:schemeClr val="dk1">
                                <a:alpha val="40000"/>
                              </a:schemeClr>
                            </a:outerShdw>
                          </a:effectLst>
                          <a:latin typeface="Cambria Math" panose="02040503050406030204" pitchFamily="18" charset="0"/>
                        </a:rPr>
                        <m:t>𝑓</m:t>
                      </m:r>
                      <m:d>
                        <m:dPr>
                          <m:ctrlPr>
                            <a:rPr lang="en-US" altLang="zh-CN" i="1">
                              <a:ln w="0"/>
                              <a:effectLst>
                                <a:outerShdw blurRad="38100" dist="19050" dir="2700000" algn="tl" rotWithShape="0">
                                  <a:schemeClr val="dk1">
                                    <a:alpha val="40000"/>
                                  </a:schemeClr>
                                </a:outerShdw>
                              </a:effectLst>
                              <a:latin typeface="Cambria Math" panose="02040503050406030204" pitchFamily="18" charset="0"/>
                            </a:rPr>
                          </m:ctrlPr>
                        </m:dPr>
                        <m:e>
                          <m:r>
                            <a:rPr lang="en-US" altLang="zh-CN" i="1">
                              <a:ln w="0"/>
                              <a:effectLst>
                                <a:outerShdw blurRad="38100" dist="19050" dir="2700000" algn="tl" rotWithShape="0">
                                  <a:schemeClr val="dk1">
                                    <a:alpha val="40000"/>
                                  </a:schemeClr>
                                </a:outerShdw>
                              </a:effectLst>
                              <a:latin typeface="Cambria Math" panose="02040503050406030204" pitchFamily="18" charset="0"/>
                            </a:rPr>
                            <m:t>                </m:t>
                          </m:r>
                        </m:e>
                      </m:d>
                    </m:oMath>
                  </a14:m>
                  <a:r>
                    <a:rPr lang="en-US" altLang="zh-CN"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非狗</a:t>
                  </a:r>
                </a:p>
              </p:txBody>
            </p:sp>
          </mc:Choice>
          <mc:Fallback xmlns="">
            <p:sp>
              <p:nvSpPr>
                <p:cNvPr id="22" name="矩形 21"/>
                <p:cNvSpPr>
                  <a:spLocks noRot="1" noChangeAspect="1" noMove="1" noResize="1" noEditPoints="1" noAdjustHandles="1" noChangeArrowheads="1" noChangeShapeType="1" noTextEdit="1"/>
                </p:cNvSpPr>
                <p:nvPr/>
              </p:nvSpPr>
              <p:spPr>
                <a:xfrm>
                  <a:off x="128172" y="5417703"/>
                  <a:ext cx="2950937" cy="500137"/>
                </a:xfrm>
                <a:prstGeom prst="rect">
                  <a:avLst/>
                </a:prstGeom>
                <a:blipFill rotWithShape="0">
                  <a:blip r:embed="rId18"/>
                  <a:stretch>
                    <a:fillRect t="-18293" r="-4132" b="-41463"/>
                  </a:stretch>
                </a:blipFill>
              </p:spPr>
              <p:txBody>
                <a:bodyPr/>
                <a:lstStyle/>
                <a:p>
                  <a:r>
                    <a:rPr lang="zh-CN" altLang="en-US">
                      <a:noFill/>
                    </a:rPr>
                    <a:t> </a:t>
                  </a:r>
                </a:p>
              </p:txBody>
            </p:sp>
          </mc:Fallback>
        </mc:AlternateContent>
        <p:pic>
          <p:nvPicPr>
            <p:cNvPr id="20482" name="Picture 2" descr="https://img2.baidu.com/it/u=1385887918,3157901318&amp;fm=26&amp;fmt=auto"/>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593262" y="5150166"/>
              <a:ext cx="1156168" cy="1156168"/>
            </a:xfrm>
            <a:prstGeom prst="rect">
              <a:avLst/>
            </a:prstGeom>
            <a:noFill/>
            <a:extLst>
              <a:ext uri="{909E8E84-426E-40DD-AFC4-6F175D3DCCD1}">
                <a14:hiddenFill xmlns:a14="http://schemas.microsoft.com/office/drawing/2010/main">
                  <a:solidFill>
                    <a:srgbClr val="FFFFFF"/>
                  </a:solidFill>
                </a14:hiddenFill>
              </a:ext>
            </a:extLst>
          </p:spPr>
        </p:pic>
      </p:grpSp>
      <p:pic>
        <p:nvPicPr>
          <p:cNvPr id="20484" name="Picture 4" descr="https://gimg2.baidu.com/image_search/src=http%3A%2F%2Fn.sinaimg.cn%2Fsinacn10100%2F105%2Fw1023h682%2F20190322%2F999f-huqrnan8219720.jpg&amp;refer=http%3A%2F%2Fn.sinaimg.cn&amp;app=2002&amp;size=f9999,10000&amp;q=a80&amp;n=0&amp;g=0n&amp;fmt=jpeg?sec=1640010085&amp;t=34090425d85f411839bd63a009365f53"/>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7568639" y="5010003"/>
            <a:ext cx="1357785" cy="905189"/>
          </a:xfrm>
          <a:prstGeom prst="rect">
            <a:avLst/>
          </a:prstGeom>
          <a:noFill/>
          <a:extLst>
            <a:ext uri="{909E8E84-426E-40DD-AFC4-6F175D3DCCD1}">
              <a14:hiddenFill xmlns:a14="http://schemas.microsoft.com/office/drawing/2010/main">
                <a:solidFill>
                  <a:srgbClr val="FFFFFF"/>
                </a:solidFill>
              </a14:hiddenFill>
            </a:ext>
          </a:extLst>
        </p:spPr>
      </p:pic>
      <p:grpSp>
        <p:nvGrpSpPr>
          <p:cNvPr id="4" name="组合 3"/>
          <p:cNvGrpSpPr/>
          <p:nvPr/>
        </p:nvGrpSpPr>
        <p:grpSpPr>
          <a:xfrm>
            <a:off x="4042011" y="4119710"/>
            <a:ext cx="2604687" cy="956157"/>
            <a:chOff x="2802325" y="3514421"/>
            <a:chExt cx="2604687" cy="956157"/>
          </a:xfrm>
        </p:grpSpPr>
        <mc:AlternateContent xmlns:mc="http://schemas.openxmlformats.org/markup-compatibility/2006" xmlns:a14="http://schemas.microsoft.com/office/drawing/2010/main">
          <mc:Choice Requires="a14">
            <p:sp>
              <p:nvSpPr>
                <p:cNvPr id="47" name="矩形 46"/>
                <p:cNvSpPr/>
                <p:nvPr/>
              </p:nvSpPr>
              <p:spPr>
                <a:xfrm>
                  <a:off x="2802325" y="3660128"/>
                  <a:ext cx="2604687" cy="500137"/>
                </a:xfrm>
                <a:prstGeom prst="rect">
                  <a:avLst/>
                </a:prstGeom>
                <a:noFill/>
              </p:spPr>
              <p:txBody>
                <a:bodyPr wrap="none" lIns="68580" tIns="34290" rIns="68580" bIns="34290">
                  <a:spAutoFit/>
                </a:bodyPr>
                <a:lstStyle/>
                <a:p>
                  <a:pPr algn="ctr"/>
                  <a14:m>
                    <m:oMath xmlns:m="http://schemas.openxmlformats.org/officeDocument/2006/math">
                      <m:r>
                        <a:rPr lang="en-US" altLang="zh-CN" i="1">
                          <a:ln w="0"/>
                          <a:effectLst>
                            <a:outerShdw blurRad="38100" dist="19050" dir="2700000" algn="tl" rotWithShape="0">
                              <a:schemeClr val="dk1">
                                <a:alpha val="40000"/>
                              </a:schemeClr>
                            </a:outerShdw>
                          </a:effectLst>
                          <a:latin typeface="Cambria Math" panose="02040503050406030204" pitchFamily="18" charset="0"/>
                        </a:rPr>
                        <m:t>𝑓</m:t>
                      </m:r>
                      <m:d>
                        <m:dPr>
                          <m:ctrlPr>
                            <a:rPr lang="en-US" altLang="zh-CN" i="1">
                              <a:ln w="0"/>
                              <a:effectLst>
                                <a:outerShdw blurRad="38100" dist="19050" dir="2700000" algn="tl" rotWithShape="0">
                                  <a:schemeClr val="dk1">
                                    <a:alpha val="40000"/>
                                  </a:schemeClr>
                                </a:outerShdw>
                              </a:effectLst>
                              <a:latin typeface="Cambria Math" panose="02040503050406030204" pitchFamily="18" charset="0"/>
                            </a:rPr>
                          </m:ctrlPr>
                        </m:dPr>
                        <m:e>
                          <m:r>
                            <a:rPr lang="en-US" altLang="zh-CN" i="1">
                              <a:ln w="0"/>
                              <a:effectLst>
                                <a:outerShdw blurRad="38100" dist="19050" dir="2700000" algn="tl" rotWithShape="0">
                                  <a:schemeClr val="dk1">
                                    <a:alpha val="40000"/>
                                  </a:schemeClr>
                                </a:outerShdw>
                              </a:effectLst>
                              <a:latin typeface="Cambria Math" panose="02040503050406030204" pitchFamily="18" charset="0"/>
                            </a:rPr>
                            <m:t>                </m:t>
                          </m:r>
                        </m:e>
                      </m:d>
                    </m:oMath>
                  </a14:m>
                  <a:r>
                    <a:rPr lang="en-US" altLang="zh-CN"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狗</a:t>
                  </a:r>
                </a:p>
              </p:txBody>
            </p:sp>
          </mc:Choice>
          <mc:Fallback xmlns="">
            <p:sp>
              <p:nvSpPr>
                <p:cNvPr id="47" name="矩形 46"/>
                <p:cNvSpPr>
                  <a:spLocks noRot="1" noChangeAspect="1" noMove="1" noResize="1" noEditPoints="1" noAdjustHandles="1" noChangeArrowheads="1" noChangeShapeType="1" noTextEdit="1"/>
                </p:cNvSpPr>
                <p:nvPr/>
              </p:nvSpPr>
              <p:spPr>
                <a:xfrm>
                  <a:off x="2802325" y="3660128"/>
                  <a:ext cx="2604687" cy="500137"/>
                </a:xfrm>
                <a:prstGeom prst="rect">
                  <a:avLst/>
                </a:prstGeom>
                <a:blipFill rotWithShape="0">
                  <a:blip r:embed="rId21"/>
                  <a:stretch>
                    <a:fillRect t="-18293" r="-4684" b="-40244"/>
                  </a:stretch>
                </a:blipFill>
              </p:spPr>
              <p:txBody>
                <a:bodyPr/>
                <a:lstStyle/>
                <a:p>
                  <a:r>
                    <a:rPr lang="zh-CN" altLang="en-US">
                      <a:noFill/>
                    </a:rPr>
                    <a:t> </a:t>
                  </a:r>
                </a:p>
              </p:txBody>
            </p:sp>
          </mc:Fallback>
        </mc:AlternateContent>
        <p:pic>
          <p:nvPicPr>
            <p:cNvPr id="35" name="图片 34"/>
            <p:cNvPicPr>
              <a:picLocks noChangeAspect="1"/>
            </p:cNvPicPr>
            <p:nvPr/>
          </p:nvPicPr>
          <p:blipFill>
            <a:blip r:embed="rId8"/>
            <a:stretch>
              <a:fillRect/>
            </a:stretch>
          </p:blipFill>
          <p:spPr>
            <a:xfrm>
              <a:off x="3374793" y="3514421"/>
              <a:ext cx="1023734" cy="95615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2274370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par>
                                <p:cTn id="47" presetID="10" presetClass="entr" presetSubtype="0"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500"/>
                                        <p:tgtEl>
                                          <p:spTgt spid="3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500"/>
                                        <p:tgtEl>
                                          <p:spTgt spid="4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00"/>
                                        <p:tgtEl>
                                          <p:spTgt spid="33"/>
                                        </p:tgtEl>
                                      </p:cBhvr>
                                    </p:animEffect>
                                  </p:childTnLst>
                                </p:cTn>
                              </p:par>
                              <p:par>
                                <p:cTn id="66" presetID="1" presetClass="entr" presetSubtype="0" fill="hold" nodeType="withEffect">
                                  <p:stCondLst>
                                    <p:cond delay="0"/>
                                  </p:stCondLst>
                                  <p:childTnLst>
                                    <p:set>
                                      <p:cBhvr>
                                        <p:cTn id="67" dur="1" fill="hold">
                                          <p:stCondLst>
                                            <p:cond delay="0"/>
                                          </p:stCondLst>
                                        </p:cTn>
                                        <p:tgtEl>
                                          <p:spTgt spid="20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p:bldP spid="10" grpId="0" animBg="1"/>
      <p:bldP spid="12" grpId="0"/>
      <p:bldP spid="32" grpId="0"/>
      <p:bldP spid="34" grpId="0"/>
      <p:bldP spid="46" grpId="0" animBg="1"/>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a:xfrm>
            <a:off x="2208213" y="549275"/>
            <a:ext cx="7772400" cy="731838"/>
          </a:xfrm>
        </p:spPr>
        <p:txBody>
          <a:bodyPr vert="horz" wrap="square" lIns="91440" tIns="45720" rIns="91440" bIns="45720" numCol="1" anchor="ctr" anchorCtr="0" compatLnSpc="1"/>
          <a:lstStyle/>
          <a:p>
            <a:pPr algn="ctr" eaLnBrk="1" hangingPunct="1">
              <a:defRPr/>
            </a:pPr>
            <a:r>
              <a:rPr lang="zh-CN" altLang="en-US" b="1" dirty="0">
                <a:solidFill>
                  <a:schemeClr val="tx1"/>
                </a:solidFill>
                <a:effectLst>
                  <a:outerShdw blurRad="38100" dist="38100" dir="2700000" algn="tl">
                    <a:srgbClr val="C0C0C0"/>
                  </a:outerShdw>
                </a:effectLst>
              </a:rPr>
              <a:t>学习的三种主要类型</a:t>
            </a:r>
            <a:endParaRPr lang="en-US" altLang="zh-CN" b="1" dirty="0">
              <a:solidFill>
                <a:schemeClr val="tx1"/>
              </a:solidFill>
              <a:effectLst>
                <a:outerShdw blurRad="38100" dist="38100" dir="2700000" algn="tl">
                  <a:srgbClr val="C0C0C0"/>
                </a:outerShdw>
              </a:effectLst>
            </a:endParaRPr>
          </a:p>
        </p:txBody>
      </p:sp>
      <p:sp>
        <p:nvSpPr>
          <p:cNvPr id="414723" name="Rectangle 3"/>
          <p:cNvSpPr>
            <a:spLocks noGrp="1" noChangeArrowheads="1"/>
          </p:cNvSpPr>
          <p:nvPr>
            <p:ph idx="1"/>
          </p:nvPr>
        </p:nvSpPr>
        <p:spPr>
          <a:xfrm>
            <a:off x="2235201" y="1482726"/>
            <a:ext cx="5400675" cy="936625"/>
          </a:xfrm>
          <a:solidFill>
            <a:schemeClr val="accent5">
              <a:lumMod val="40000"/>
              <a:lumOff val="60000"/>
            </a:schemeClr>
          </a:solidFill>
        </p:spPr>
        <p:txBody>
          <a:bodyPr vert="horz" wrap="square" lIns="91440" tIns="45720" rIns="91440" bIns="45720" numCol="1" anchor="t" anchorCtr="0" compatLnSpc="1">
            <a:normAutofit fontScale="92500"/>
          </a:bodyPr>
          <a:lstStyle/>
          <a:p>
            <a:pPr marL="0" indent="0" eaLnBrk="1" hangingPunct="1">
              <a:lnSpc>
                <a:spcPct val="120000"/>
              </a:lnSpc>
              <a:buNone/>
              <a:defRPr/>
            </a:pPr>
            <a:r>
              <a:rPr lang="zh-CN" altLang="en-US" sz="2000" dirty="0">
                <a:latin typeface="微软雅黑" panose="020B0503020204020204" pitchFamily="34" charset="-122"/>
                <a:ea typeface="微软雅黑" panose="020B0503020204020204" pitchFamily="34" charset="-122"/>
              </a:rPr>
              <a:t>监督学习（</a:t>
            </a:r>
            <a:r>
              <a:rPr lang="en-US" altLang="zh-CN" sz="2000" dirty="0">
                <a:latin typeface="微软雅黑" panose="020B0503020204020204" pitchFamily="34" charset="-122"/>
                <a:ea typeface="微软雅黑" panose="020B0503020204020204" pitchFamily="34" charset="-122"/>
              </a:rPr>
              <a:t>supervised learning</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457200" lvl="1" indent="0" eaLnBrk="1" hangingPunct="1">
              <a:lnSpc>
                <a:spcPct val="120000"/>
              </a:lnSpc>
              <a:buNone/>
              <a:defRPr/>
            </a:pPr>
            <a:r>
              <a:rPr lang="zh-CN" altLang="en-US" dirty="0">
                <a:latin typeface="微软雅黑" panose="020B0503020204020204" pitchFamily="34" charset="-122"/>
                <a:ea typeface="微软雅黑" panose="020B0503020204020204" pitchFamily="34" charset="-122"/>
              </a:rPr>
              <a:t>数据有标签，一般为回归或分类等任务</a:t>
            </a:r>
            <a:endParaRPr lang="en-US" altLang="zh-CN" dirty="0">
              <a:latin typeface="微软雅黑" panose="020B0503020204020204" pitchFamily="34" charset="-122"/>
              <a:ea typeface="微软雅黑" panose="020B0503020204020204" pitchFamily="34" charset="-122"/>
            </a:endParaRPr>
          </a:p>
        </p:txBody>
      </p:sp>
      <p:sp>
        <p:nvSpPr>
          <p:cNvPr id="2" name="矩形 1"/>
          <p:cNvSpPr/>
          <p:nvPr/>
        </p:nvSpPr>
        <p:spPr>
          <a:xfrm>
            <a:off x="2235201" y="2624139"/>
            <a:ext cx="5400675" cy="830263"/>
          </a:xfrm>
          <a:prstGeom prst="rect">
            <a:avLst/>
          </a:prstGeom>
          <a:solidFill>
            <a:schemeClr val="accent5">
              <a:lumMod val="40000"/>
              <a:lumOff val="60000"/>
            </a:schemeClr>
          </a:solidFill>
        </p:spPr>
        <p:txBody>
          <a:bodyPr>
            <a:spAutoFit/>
          </a:bodyPr>
          <a:lstStyle/>
          <a:p>
            <a:pPr eaLnBrk="1" hangingPunct="1">
              <a:lnSpc>
                <a:spcPct val="120000"/>
              </a:lnSpc>
              <a:defRPr/>
            </a:pPr>
            <a:r>
              <a:rPr kumimoji="1" lang="zh-CN" altLang="en-US" sz="2000" dirty="0">
                <a:latin typeface="微软雅黑" panose="020B0503020204020204" pitchFamily="34" charset="-122"/>
                <a:ea typeface="微软雅黑" panose="020B0503020204020204" pitchFamily="34" charset="-122"/>
              </a:rPr>
              <a:t>无监督学习（</a:t>
            </a:r>
            <a:r>
              <a:rPr kumimoji="1" lang="en-US" altLang="zh-CN" sz="2000" dirty="0">
                <a:latin typeface="微软雅黑" panose="020B0503020204020204" pitchFamily="34" charset="-122"/>
                <a:ea typeface="微软雅黑" panose="020B0503020204020204" pitchFamily="34" charset="-122"/>
              </a:rPr>
              <a:t>un-supervised learning</a:t>
            </a:r>
            <a:r>
              <a:rPr kumimoji="1" lang="zh-CN" altLang="en-US" sz="2000" dirty="0">
                <a:latin typeface="微软雅黑" panose="020B0503020204020204" pitchFamily="34" charset="-122"/>
                <a:ea typeface="微软雅黑" panose="020B0503020204020204" pitchFamily="34" charset="-122"/>
              </a:rPr>
              <a:t>）</a:t>
            </a:r>
            <a:endParaRPr kumimoji="1" lang="en-US" altLang="zh-CN" sz="2000" dirty="0">
              <a:latin typeface="微软雅黑" panose="020B0503020204020204" pitchFamily="34" charset="-122"/>
              <a:ea typeface="微软雅黑" panose="020B0503020204020204" pitchFamily="34" charset="-122"/>
            </a:endParaRPr>
          </a:p>
          <a:p>
            <a:pPr lvl="1" eaLnBrk="1" hangingPunct="1">
              <a:lnSpc>
                <a:spcPct val="120000"/>
              </a:lnSpc>
              <a:defRPr/>
            </a:pPr>
            <a:r>
              <a:rPr kumimoji="1" lang="zh-CN" altLang="en-US" sz="2000" dirty="0">
                <a:latin typeface="微软雅黑" panose="020B0503020204020204" pitchFamily="34" charset="-122"/>
                <a:ea typeface="微软雅黑" panose="020B0503020204020204" pitchFamily="34" charset="-122"/>
              </a:rPr>
              <a:t>数据无标签，一般为聚类或若干降维任务</a:t>
            </a:r>
            <a:endParaRPr kumimoji="1" lang="en-US" altLang="zh-CN" sz="2000" dirty="0">
              <a:latin typeface="微软雅黑" panose="020B0503020204020204" pitchFamily="34" charset="-122"/>
              <a:ea typeface="微软雅黑" panose="020B0503020204020204" pitchFamily="34" charset="-122"/>
            </a:endParaRPr>
          </a:p>
        </p:txBody>
      </p:sp>
      <p:sp>
        <p:nvSpPr>
          <p:cNvPr id="3" name="矩形 2"/>
          <p:cNvSpPr/>
          <p:nvPr/>
        </p:nvSpPr>
        <p:spPr>
          <a:xfrm>
            <a:off x="2235201" y="3657601"/>
            <a:ext cx="5400675" cy="1200329"/>
          </a:xfrm>
          <a:prstGeom prst="rect">
            <a:avLst/>
          </a:prstGeom>
          <a:solidFill>
            <a:schemeClr val="accent5">
              <a:lumMod val="40000"/>
              <a:lumOff val="60000"/>
            </a:schemeClr>
          </a:solidFill>
        </p:spPr>
        <p:txBody>
          <a:bodyPr wrap="square">
            <a:spAutoFit/>
          </a:bodyPr>
          <a:lstStyle/>
          <a:p>
            <a:pPr eaLnBrk="1" hangingPunct="1">
              <a:lnSpc>
                <a:spcPct val="120000"/>
              </a:lnSpc>
              <a:defRPr/>
            </a:pPr>
            <a:r>
              <a:rPr kumimoji="1" lang="zh-CN" altLang="en-US" sz="2000" dirty="0">
                <a:latin typeface="微软雅黑" panose="020B0503020204020204" pitchFamily="34" charset="-122"/>
                <a:ea typeface="微软雅黑" panose="020B0503020204020204" pitchFamily="34" charset="-122"/>
              </a:rPr>
              <a:t>强化学习（</a:t>
            </a:r>
            <a:r>
              <a:rPr kumimoji="1" lang="en-US" altLang="zh-CN" sz="2000" dirty="0">
                <a:latin typeface="微软雅黑" panose="020B0503020204020204" pitchFamily="34" charset="-122"/>
                <a:ea typeface="微软雅黑" panose="020B0503020204020204" pitchFamily="34" charset="-122"/>
              </a:rPr>
              <a:t>reinforcement learning</a:t>
            </a:r>
            <a:r>
              <a:rPr kumimoji="1" lang="zh-CN" altLang="en-US" sz="2000" dirty="0">
                <a:latin typeface="微软雅黑" panose="020B0503020204020204" pitchFamily="34" charset="-122"/>
                <a:ea typeface="微软雅黑" panose="020B0503020204020204" pitchFamily="34" charset="-122"/>
              </a:rPr>
              <a:t>）</a:t>
            </a:r>
            <a:endParaRPr kumimoji="1" lang="en-US" altLang="zh-CN" sz="2000" dirty="0">
              <a:latin typeface="微软雅黑" panose="020B0503020204020204" pitchFamily="34" charset="-122"/>
              <a:ea typeface="微软雅黑" panose="020B0503020204020204" pitchFamily="34" charset="-122"/>
            </a:endParaRPr>
          </a:p>
          <a:p>
            <a:pPr lvl="1" eaLnBrk="1" hangingPunct="1">
              <a:lnSpc>
                <a:spcPct val="120000"/>
              </a:lnSpc>
              <a:defRPr/>
            </a:pPr>
            <a:r>
              <a:rPr kumimoji="1" lang="zh-CN" altLang="en-US" sz="2000" dirty="0">
                <a:latin typeface="微软雅黑" panose="020B0503020204020204" pitchFamily="34" charset="-122"/>
                <a:ea typeface="微软雅黑" panose="020B0503020204020204" pitchFamily="34" charset="-122"/>
              </a:rPr>
              <a:t>序列数据决策学习，一般为从环境交互（强化物）中学习</a:t>
            </a:r>
            <a:endParaRPr kumimoji="1" lang="en-US" altLang="zh-CN" sz="2000" dirty="0">
              <a:latin typeface="微软雅黑" panose="020B0503020204020204" pitchFamily="34" charset="-122"/>
              <a:ea typeface="微软雅黑" panose="020B0503020204020204" pitchFamily="34" charset="-122"/>
            </a:endParaRPr>
          </a:p>
        </p:txBody>
      </p:sp>
      <p:sp>
        <p:nvSpPr>
          <p:cNvPr id="7" name="Rectangle 3"/>
          <p:cNvSpPr txBox="1">
            <a:spLocks noChangeArrowheads="1"/>
          </p:cNvSpPr>
          <p:nvPr/>
        </p:nvSpPr>
        <p:spPr bwMode="auto">
          <a:xfrm>
            <a:off x="7967663" y="1933576"/>
            <a:ext cx="2592388" cy="936625"/>
          </a:xfrm>
          <a:prstGeom prst="rect">
            <a:avLst/>
          </a:prstGeom>
          <a:solidFill>
            <a:schemeClr val="accent6">
              <a:lumMod val="20000"/>
              <a:lumOff val="80000"/>
            </a:schemeClr>
          </a:solidFill>
          <a:ln>
            <a:noFill/>
          </a:ln>
          <a:effectLst/>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120000"/>
              </a:lnSpc>
              <a:buNone/>
              <a:defRPr/>
            </a:pPr>
            <a:r>
              <a:rPr lang="zh-CN" altLang="en-US" sz="2000" dirty="0">
                <a:latin typeface="微软雅黑" panose="020B0503020204020204" pitchFamily="34" charset="-122"/>
                <a:ea typeface="微软雅黑" panose="020B0503020204020204" pitchFamily="34" charset="-122"/>
              </a:rPr>
              <a:t>半监督学习（</a:t>
            </a:r>
            <a:r>
              <a:rPr lang="en-US" altLang="zh-CN" sz="2000" dirty="0">
                <a:latin typeface="微软雅黑" panose="020B0503020204020204" pitchFamily="34" charset="-122"/>
                <a:ea typeface="微软雅黑" panose="020B0503020204020204" pitchFamily="34" charset="-122"/>
              </a:rPr>
              <a:t>semi-supervised learning</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cxnSp>
        <p:nvCxnSpPr>
          <p:cNvPr id="15368" name="直接箭头连接符 4"/>
          <p:cNvCxnSpPr>
            <a:stCxn id="414723" idx="3"/>
            <a:endCxn id="7" idx="1"/>
          </p:cNvCxnSpPr>
          <p:nvPr/>
        </p:nvCxnSpPr>
        <p:spPr>
          <a:xfrm>
            <a:off x="7635875" y="1951038"/>
            <a:ext cx="331788" cy="450850"/>
          </a:xfrm>
          <a:prstGeom prst="straightConnector1">
            <a:avLst/>
          </a:prstGeom>
          <a:ln w="9525" cap="flat" cmpd="sng">
            <a:solidFill>
              <a:schemeClr val="tx1"/>
            </a:solidFill>
            <a:prstDash val="solid"/>
            <a:headEnd type="none" w="med" len="med"/>
            <a:tailEnd type="triangle" w="med" len="med"/>
          </a:ln>
        </p:spPr>
      </p:cxnSp>
      <p:cxnSp>
        <p:nvCxnSpPr>
          <p:cNvPr id="15369" name="直接箭头连接符 7"/>
          <p:cNvCxnSpPr>
            <a:stCxn id="2" idx="3"/>
            <a:endCxn id="7" idx="1"/>
          </p:cNvCxnSpPr>
          <p:nvPr/>
        </p:nvCxnSpPr>
        <p:spPr>
          <a:xfrm flipV="1">
            <a:off x="7635875" y="2401889"/>
            <a:ext cx="331788" cy="638175"/>
          </a:xfrm>
          <a:prstGeom prst="straightConnector1">
            <a:avLst/>
          </a:prstGeom>
          <a:ln w="9525" cap="flat" cmpd="sng">
            <a:solidFill>
              <a:schemeClr val="tx1"/>
            </a:solidFill>
            <a:prstDash val="soli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矩形 14"/>
          <p:cNvSpPr/>
          <p:nvPr/>
        </p:nvSpPr>
        <p:spPr>
          <a:xfrm>
            <a:off x="1847529" y="1206219"/>
            <a:ext cx="8493841" cy="1421928"/>
          </a:xfrm>
          <a:prstGeom prst="rect">
            <a:avLst/>
          </a:prstGeom>
        </p:spPr>
        <p:txBody>
          <a:bodyPr wrap="square">
            <a:spAutoFit/>
          </a:bodyPr>
          <a:lstStyle/>
          <a:p>
            <a:pPr fontAlgn="auto">
              <a:lnSpc>
                <a:spcPct val="120000"/>
              </a:lnSpc>
            </a:pPr>
            <a:r>
              <a:rPr kumimoji="1" lang="zh-CN" altLang="en-US" sz="2400" b="1" dirty="0">
                <a:solidFill>
                  <a:srgbClr val="0033CC"/>
                </a:solidFill>
                <a:latin typeface="微软雅黑" panose="020B0503020204020204" charset="-122"/>
                <a:ea typeface="微软雅黑" panose="020B0503020204020204" charset="-122"/>
              </a:rPr>
              <a:t>有监督学习（</a:t>
            </a:r>
            <a:r>
              <a:rPr kumimoji="1" lang="en-US" altLang="zh-CN" sz="2400" b="1" dirty="0">
                <a:solidFill>
                  <a:srgbClr val="0033CC"/>
                </a:solidFill>
                <a:latin typeface="微软雅黑" panose="020B0503020204020204" charset="-122"/>
                <a:ea typeface="微软雅黑" panose="020B0503020204020204" charset="-122"/>
              </a:rPr>
              <a:t>supervised learning</a:t>
            </a:r>
            <a:r>
              <a:rPr kumimoji="1" lang="zh-CN" altLang="en-US" sz="2400" b="1" dirty="0">
                <a:solidFill>
                  <a:srgbClr val="0033CC"/>
                </a:solidFill>
                <a:latin typeface="微软雅黑" panose="020B0503020204020204" charset="-122"/>
                <a:ea typeface="微软雅黑" panose="020B0503020204020204" charset="-122"/>
              </a:rPr>
              <a:t>）</a:t>
            </a:r>
            <a:r>
              <a:rPr kumimoji="1" lang="zh-CN" altLang="en-US"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从给定的</a:t>
            </a:r>
            <a:r>
              <a:rPr lang="zh-CN" altLang="en-US" sz="2400" b="1" dirty="0">
                <a:solidFill>
                  <a:srgbClr val="CC0099"/>
                </a:solidFill>
                <a:latin typeface="微软雅黑" panose="020B0503020204020204" charset="-122"/>
                <a:ea typeface="微软雅黑" panose="020B0503020204020204" charset="-122"/>
              </a:rPr>
              <a:t>有标注的训练数据集</a:t>
            </a:r>
            <a:r>
              <a:rPr lang="zh-CN" altLang="en-US" sz="2400" dirty="0">
                <a:latin typeface="微软雅黑" panose="020B0503020204020204" charset="-122"/>
                <a:ea typeface="微软雅黑" panose="020B0503020204020204" charset="-122"/>
              </a:rPr>
              <a:t>中学习出一个函数（模型参数），当新的数据到来时可以根据这个函数预测结果。 常见任务包括</a:t>
            </a:r>
            <a:r>
              <a:rPr lang="zh-CN" altLang="en-US" sz="2400" b="1" dirty="0">
                <a:solidFill>
                  <a:srgbClr val="FF0000"/>
                </a:solidFill>
                <a:latin typeface="微软雅黑" panose="020B0503020204020204" charset="-122"/>
                <a:ea typeface="微软雅黑" panose="020B0503020204020204" charset="-122"/>
              </a:rPr>
              <a:t>分类</a:t>
            </a:r>
            <a:r>
              <a:rPr lang="zh-CN" altLang="en-US" sz="2400" dirty="0">
                <a:latin typeface="微软雅黑" panose="020B0503020204020204" charset="-122"/>
                <a:ea typeface="微软雅黑" panose="020B0503020204020204" charset="-122"/>
              </a:rPr>
              <a:t>与</a:t>
            </a:r>
            <a:r>
              <a:rPr lang="zh-CN" altLang="en-US" sz="2400" b="1" dirty="0">
                <a:solidFill>
                  <a:srgbClr val="FF0000"/>
                </a:solidFill>
                <a:latin typeface="微软雅黑" panose="020B0503020204020204" charset="-122"/>
                <a:ea typeface="微软雅黑" panose="020B0503020204020204" charset="-122"/>
              </a:rPr>
              <a:t>回归</a:t>
            </a:r>
            <a:r>
              <a:rPr lang="zh-CN" altLang="en-US" sz="2400" dirty="0">
                <a:latin typeface="微软雅黑" panose="020B0503020204020204" charset="-122"/>
                <a:ea typeface="微软雅黑" panose="020B0503020204020204" charset="-122"/>
              </a:rPr>
              <a:t>。</a:t>
            </a:r>
          </a:p>
        </p:txBody>
      </p:sp>
      <p:grpSp>
        <p:nvGrpSpPr>
          <p:cNvPr id="16" name="组合 15"/>
          <p:cNvGrpSpPr/>
          <p:nvPr/>
        </p:nvGrpSpPr>
        <p:grpSpPr>
          <a:xfrm>
            <a:off x="6142481" y="3135447"/>
            <a:ext cx="4388922" cy="3021192"/>
            <a:chOff x="1253" y="4025"/>
            <a:chExt cx="8097" cy="5840"/>
          </a:xfrm>
        </p:grpSpPr>
        <p:pic>
          <p:nvPicPr>
            <p:cNvPr id="17" name="图片 16"/>
            <p:cNvPicPr>
              <a:picLocks noChangeAspect="1"/>
            </p:cNvPicPr>
            <p:nvPr/>
          </p:nvPicPr>
          <p:blipFill>
            <a:blip r:embed="rId2"/>
            <a:stretch>
              <a:fillRect/>
            </a:stretch>
          </p:blipFill>
          <p:spPr>
            <a:xfrm>
              <a:off x="1253" y="4283"/>
              <a:ext cx="5543" cy="5583"/>
            </a:xfrm>
            <a:prstGeom prst="rect">
              <a:avLst/>
            </a:prstGeom>
          </p:spPr>
        </p:pic>
        <p:pic>
          <p:nvPicPr>
            <p:cNvPr id="18" name="图片 17"/>
            <p:cNvPicPr>
              <a:picLocks noChangeAspect="1"/>
            </p:cNvPicPr>
            <p:nvPr/>
          </p:nvPicPr>
          <p:blipFill>
            <a:blip r:embed="rId3"/>
            <a:srcRect r="25068"/>
            <a:stretch>
              <a:fillRect/>
            </a:stretch>
          </p:blipFill>
          <p:spPr>
            <a:xfrm>
              <a:off x="5488" y="4025"/>
              <a:ext cx="3862" cy="5222"/>
            </a:xfrm>
            <a:prstGeom prst="rect">
              <a:avLst/>
            </a:prstGeom>
          </p:spPr>
        </p:pic>
        <p:pic>
          <p:nvPicPr>
            <p:cNvPr id="19" name="图片 18"/>
            <p:cNvPicPr>
              <a:picLocks noChangeAspect="1"/>
            </p:cNvPicPr>
            <p:nvPr/>
          </p:nvPicPr>
          <p:blipFill>
            <a:blip r:embed="rId4"/>
            <a:stretch>
              <a:fillRect/>
            </a:stretch>
          </p:blipFill>
          <p:spPr>
            <a:xfrm>
              <a:off x="6887" y="9062"/>
              <a:ext cx="1281" cy="427"/>
            </a:xfrm>
            <a:prstGeom prst="rect">
              <a:avLst/>
            </a:prstGeom>
          </p:spPr>
        </p:pic>
      </p:grpSp>
      <p:grpSp>
        <p:nvGrpSpPr>
          <p:cNvPr id="20" name="组合 19"/>
          <p:cNvGrpSpPr/>
          <p:nvPr/>
        </p:nvGrpSpPr>
        <p:grpSpPr>
          <a:xfrm>
            <a:off x="1524000" y="2975728"/>
            <a:ext cx="4428536" cy="3354765"/>
            <a:chOff x="10087" y="4088"/>
            <a:chExt cx="8027" cy="6338"/>
          </a:xfrm>
        </p:grpSpPr>
        <p:pic>
          <p:nvPicPr>
            <p:cNvPr id="21" name="图片 20"/>
            <p:cNvPicPr>
              <a:picLocks noChangeAspect="1"/>
            </p:cNvPicPr>
            <p:nvPr/>
          </p:nvPicPr>
          <p:blipFill>
            <a:blip r:embed="rId5"/>
            <a:stretch>
              <a:fillRect/>
            </a:stretch>
          </p:blipFill>
          <p:spPr>
            <a:xfrm>
              <a:off x="10087" y="4088"/>
              <a:ext cx="6369" cy="3568"/>
            </a:xfrm>
            <a:prstGeom prst="rect">
              <a:avLst/>
            </a:prstGeom>
          </p:spPr>
        </p:pic>
        <p:pic>
          <p:nvPicPr>
            <p:cNvPr id="22" name="图片 21"/>
            <p:cNvPicPr>
              <a:picLocks noChangeAspect="1"/>
            </p:cNvPicPr>
            <p:nvPr/>
          </p:nvPicPr>
          <p:blipFill>
            <a:blip r:embed="rId6"/>
            <a:stretch>
              <a:fillRect/>
            </a:stretch>
          </p:blipFill>
          <p:spPr>
            <a:xfrm>
              <a:off x="10279" y="7901"/>
              <a:ext cx="4683" cy="1005"/>
            </a:xfrm>
            <a:prstGeom prst="rect">
              <a:avLst/>
            </a:prstGeom>
          </p:spPr>
        </p:pic>
        <p:pic>
          <p:nvPicPr>
            <p:cNvPr id="23" name="图片 22"/>
            <p:cNvPicPr>
              <a:picLocks noChangeAspect="1"/>
            </p:cNvPicPr>
            <p:nvPr/>
          </p:nvPicPr>
          <p:blipFill>
            <a:blip r:embed="rId7" cstate="print"/>
            <a:stretch>
              <a:fillRect/>
            </a:stretch>
          </p:blipFill>
          <p:spPr>
            <a:xfrm>
              <a:off x="13977" y="7656"/>
              <a:ext cx="4137" cy="2731"/>
            </a:xfrm>
            <a:prstGeom prst="rect">
              <a:avLst/>
            </a:prstGeom>
          </p:spPr>
        </p:pic>
        <p:sp>
          <p:nvSpPr>
            <p:cNvPr id="24" name="文本框 23"/>
            <p:cNvSpPr txBox="1"/>
            <p:nvPr/>
          </p:nvSpPr>
          <p:spPr>
            <a:xfrm>
              <a:off x="13139" y="9438"/>
              <a:ext cx="1073" cy="988"/>
            </a:xfrm>
            <a:prstGeom prst="rect">
              <a:avLst/>
            </a:prstGeom>
            <a:solidFill>
              <a:schemeClr val="bg1"/>
            </a:solidFill>
          </p:spPr>
          <p:txBody>
            <a:bodyPr wrap="square" rtlCol="0">
              <a:spAutoFit/>
            </a:bodyPr>
            <a:lstStyle/>
            <a:p>
              <a:endParaRPr lang="zh-CN" altLang="en-US">
                <a:solidFill>
                  <a:schemeClr val="bg1"/>
                </a:solidFill>
              </a:endParaRPr>
            </a:p>
          </p:txBody>
        </p:sp>
      </p:grpSp>
      <p:sp>
        <p:nvSpPr>
          <p:cNvPr id="26" name="标题 1"/>
          <p:cNvSpPr>
            <a:spLocks noGrp="1"/>
          </p:cNvSpPr>
          <p:nvPr>
            <p:ph type="title"/>
          </p:nvPr>
        </p:nvSpPr>
        <p:spPr>
          <a:xfrm>
            <a:off x="1524000" y="304800"/>
            <a:ext cx="8532440" cy="675984"/>
          </a:xfrm>
        </p:spPr>
        <p:txBody>
          <a:bodyPr>
            <a:normAutofit/>
          </a:bodyPr>
          <a:lstStyle/>
          <a:p>
            <a:pPr algn="ctr"/>
            <a:r>
              <a:rPr lang="zh-CN" altLang="en-US" sz="3600" b="1" dirty="0">
                <a:latin typeface="微软雅黑" panose="020B0503020204020204" pitchFamily="34" charset="-122"/>
                <a:ea typeface="微软雅黑" panose="020B0503020204020204" pitchFamily="34" charset="-122"/>
              </a:rPr>
              <a:t>机器学习方法（</a:t>
            </a:r>
            <a:r>
              <a:rPr lang="en-US" altLang="zh-CN" sz="3600" b="1" dirty="0">
                <a:latin typeface="微软雅黑" panose="020B0503020204020204" pitchFamily="34" charset="-122"/>
                <a:ea typeface="微软雅黑" panose="020B0503020204020204" pitchFamily="34" charset="-122"/>
              </a:rPr>
              <a:t>1</a:t>
            </a:r>
            <a:r>
              <a:rPr lang="zh-CN" altLang="en-US" sz="3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000647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a:xfrm>
            <a:off x="2208213" y="549275"/>
            <a:ext cx="7772400" cy="731838"/>
          </a:xfrm>
        </p:spPr>
        <p:txBody>
          <a:bodyPr vert="horz" wrap="square" lIns="91440" tIns="45720" rIns="91440" bIns="45720" numCol="1" anchor="ctr" anchorCtr="0" compatLnSpc="1"/>
          <a:lstStyle/>
          <a:p>
            <a:pPr algn="ctr" eaLnBrk="1" hangingPunct="1">
              <a:defRPr/>
            </a:pPr>
            <a:r>
              <a:rPr lang="zh-CN" altLang="en-US" b="1" dirty="0">
                <a:solidFill>
                  <a:schemeClr val="tx1"/>
                </a:solidFill>
                <a:effectLst>
                  <a:outerShdw blurRad="38100" dist="38100" dir="2700000" algn="tl">
                    <a:srgbClr val="C0C0C0"/>
                  </a:outerShdw>
                </a:effectLst>
              </a:rPr>
              <a:t>监督学习：分类问题</a:t>
            </a:r>
            <a:endParaRPr lang="en-US" altLang="zh-CN" b="1" dirty="0">
              <a:solidFill>
                <a:schemeClr val="tx1"/>
              </a:solidFill>
              <a:effectLst>
                <a:outerShdw blurRad="38100" dist="38100" dir="2700000" algn="tl">
                  <a:srgbClr val="C0C0C0"/>
                </a:outerShdw>
              </a:effectLst>
            </a:endParaRPr>
          </a:p>
        </p:txBody>
      </p:sp>
      <p:graphicFrame>
        <p:nvGraphicFramePr>
          <p:cNvPr id="6" name="表格 5"/>
          <p:cNvGraphicFramePr>
            <a:graphicFrameLocks noGrp="1"/>
          </p:cNvGraphicFramePr>
          <p:nvPr/>
        </p:nvGraphicFramePr>
        <p:xfrm>
          <a:off x="1658939" y="1641475"/>
          <a:ext cx="4440237" cy="4581590"/>
        </p:xfrm>
        <a:graphic>
          <a:graphicData uri="http://schemas.openxmlformats.org/drawingml/2006/table">
            <a:tbl>
              <a:tblPr firstRow="1" bandRow="1">
                <a:tableStyleId>{5C22544A-7EE6-4342-B048-85BDC9FD1C3A}</a:tableStyleId>
              </a:tblPr>
              <a:tblGrid>
                <a:gridCol w="707242">
                  <a:extLst>
                    <a:ext uri="{9D8B030D-6E8A-4147-A177-3AD203B41FA5}">
                      <a16:colId xmlns:a16="http://schemas.microsoft.com/office/drawing/2014/main" val="20000"/>
                    </a:ext>
                  </a:extLst>
                </a:gridCol>
                <a:gridCol w="924417">
                  <a:extLst>
                    <a:ext uri="{9D8B030D-6E8A-4147-A177-3AD203B41FA5}">
                      <a16:colId xmlns:a16="http://schemas.microsoft.com/office/drawing/2014/main" val="20001"/>
                    </a:ext>
                  </a:extLst>
                </a:gridCol>
                <a:gridCol w="936193">
                  <a:extLst>
                    <a:ext uri="{9D8B030D-6E8A-4147-A177-3AD203B41FA5}">
                      <a16:colId xmlns:a16="http://schemas.microsoft.com/office/drawing/2014/main" val="20002"/>
                    </a:ext>
                  </a:extLst>
                </a:gridCol>
                <a:gridCol w="936193">
                  <a:extLst>
                    <a:ext uri="{9D8B030D-6E8A-4147-A177-3AD203B41FA5}">
                      <a16:colId xmlns:a16="http://schemas.microsoft.com/office/drawing/2014/main" val="20003"/>
                    </a:ext>
                  </a:extLst>
                </a:gridCol>
                <a:gridCol w="936192">
                  <a:extLst>
                    <a:ext uri="{9D8B030D-6E8A-4147-A177-3AD203B41FA5}">
                      <a16:colId xmlns:a16="http://schemas.microsoft.com/office/drawing/2014/main" val="20004"/>
                    </a:ext>
                  </a:extLst>
                </a:gridCol>
              </a:tblGrid>
              <a:tr h="370675">
                <a:tc>
                  <a:txBody>
                    <a:bodyPr/>
                    <a:lstStyle/>
                    <a:p>
                      <a:r>
                        <a:rPr lang="zh-CN" altLang="en-US" sz="1800" b="1" dirty="0"/>
                        <a:t>人员</a:t>
                      </a:r>
                    </a:p>
                  </a:txBody>
                  <a:tcPr marL="91449" marR="91449" marT="45700" marB="45700"/>
                </a:tc>
                <a:tc>
                  <a:txBody>
                    <a:bodyPr/>
                    <a:lstStyle/>
                    <a:p>
                      <a:r>
                        <a:rPr lang="zh-CN" altLang="en-US" sz="1800" b="1" dirty="0"/>
                        <a:t>数学好</a:t>
                      </a:r>
                    </a:p>
                  </a:txBody>
                  <a:tcPr marL="91449" marR="91449" marT="45700" marB="45700"/>
                </a:tc>
                <a:tc>
                  <a:txBody>
                    <a:bodyPr/>
                    <a:lstStyle/>
                    <a:p>
                      <a:r>
                        <a:rPr lang="zh-CN" altLang="en-US" sz="1800" b="1" dirty="0"/>
                        <a:t>身体好</a:t>
                      </a:r>
                    </a:p>
                  </a:txBody>
                  <a:tcPr marL="91449" marR="91449" marT="45700" marB="45700"/>
                </a:tc>
                <a:tc>
                  <a:txBody>
                    <a:bodyPr/>
                    <a:lstStyle/>
                    <a:p>
                      <a:r>
                        <a:rPr lang="zh-CN" altLang="en-US" sz="1800" b="1" dirty="0"/>
                        <a:t>会编程</a:t>
                      </a:r>
                    </a:p>
                  </a:txBody>
                  <a:tcPr marL="91449" marR="91449" marT="45700" marB="45700"/>
                </a:tc>
                <a:tc>
                  <a:txBody>
                    <a:bodyPr/>
                    <a:lstStyle/>
                    <a:p>
                      <a:r>
                        <a:rPr lang="zh-CN" altLang="en-US" sz="1800" b="1" dirty="0"/>
                        <a:t>嗓门大</a:t>
                      </a:r>
                    </a:p>
                  </a:txBody>
                  <a:tcPr marL="91449" marR="91449" marT="45700" marB="45700"/>
                </a:tc>
                <a:extLst>
                  <a:ext uri="{0D108BD9-81ED-4DB2-BD59-A6C34878D82A}">
                    <a16:rowId xmlns:a16="http://schemas.microsoft.com/office/drawing/2014/main" val="10000"/>
                  </a:ext>
                </a:extLst>
              </a:tr>
              <a:tr h="640029">
                <a:tc>
                  <a:txBody>
                    <a:bodyPr/>
                    <a:lstStyle/>
                    <a:p>
                      <a:r>
                        <a:rPr lang="zh-CN" altLang="en-US" sz="1800" b="1" dirty="0">
                          <a:solidFill>
                            <a:srgbClr val="FF0000"/>
                          </a:solidFill>
                        </a:rPr>
                        <a:t>程序员</a:t>
                      </a:r>
                      <a:r>
                        <a:rPr lang="en-US" altLang="zh-CN" sz="1800" b="1" dirty="0">
                          <a:solidFill>
                            <a:srgbClr val="FF0000"/>
                          </a:solidFill>
                        </a:rPr>
                        <a:t>A</a:t>
                      </a:r>
                      <a:endParaRPr lang="zh-CN" altLang="en-US" sz="1800" b="1" dirty="0">
                        <a:solidFill>
                          <a:srgbClr val="FF0000"/>
                        </a:solidFill>
                      </a:endParaRPr>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No</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extLst>
                  <a:ext uri="{0D108BD9-81ED-4DB2-BD59-A6C34878D82A}">
                    <a16:rowId xmlns:a16="http://schemas.microsoft.com/office/drawing/2014/main" val="10001"/>
                  </a:ext>
                </a:extLst>
              </a:tr>
              <a:tr h="640029">
                <a:tc>
                  <a:txBody>
                    <a:bodyPr/>
                    <a:lstStyle/>
                    <a:p>
                      <a:r>
                        <a:rPr lang="zh-CN" altLang="en-US" sz="1800" b="1" dirty="0">
                          <a:solidFill>
                            <a:srgbClr val="FF0000"/>
                          </a:solidFill>
                        </a:rPr>
                        <a:t>作家</a:t>
                      </a:r>
                      <a:r>
                        <a:rPr lang="en-US" altLang="zh-CN" sz="1800" b="1" dirty="0">
                          <a:solidFill>
                            <a:srgbClr val="FF0000"/>
                          </a:solidFill>
                        </a:rPr>
                        <a:t>A</a:t>
                      </a:r>
                      <a:endParaRPr lang="zh-CN" altLang="en-US" sz="1800" b="1" dirty="0">
                        <a:solidFill>
                          <a:srgbClr val="FF0000"/>
                        </a:solidFill>
                      </a:endParaRPr>
                    </a:p>
                  </a:txBody>
                  <a:tcPr marL="91449" marR="91449" marT="45700" marB="45700"/>
                </a:tc>
                <a:tc>
                  <a:txBody>
                    <a:bodyPr/>
                    <a:lstStyle/>
                    <a:p>
                      <a:r>
                        <a:rPr lang="en-US" altLang="zh-CN" sz="1800" b="1" dirty="0"/>
                        <a:t>No</a:t>
                      </a:r>
                      <a:endParaRPr lang="zh-CN" altLang="en-US" sz="1800" b="1" dirty="0"/>
                    </a:p>
                  </a:txBody>
                  <a:tcPr marL="91449" marR="91449" marT="45700" marB="45700"/>
                </a:tc>
                <a:tc>
                  <a:txBody>
                    <a:bodyPr/>
                    <a:lstStyle/>
                    <a:p>
                      <a:r>
                        <a:rPr lang="en-US" altLang="zh-CN" sz="1800" b="1" dirty="0"/>
                        <a:t>No</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No</a:t>
                      </a:r>
                      <a:endParaRPr lang="zh-CN" altLang="en-US" sz="1800" b="1" dirty="0"/>
                    </a:p>
                  </a:txBody>
                  <a:tcPr marL="91449" marR="91449" marT="45700" marB="45700"/>
                </a:tc>
                <a:extLst>
                  <a:ext uri="{0D108BD9-81ED-4DB2-BD59-A6C34878D82A}">
                    <a16:rowId xmlns:a16="http://schemas.microsoft.com/office/drawing/2014/main" val="10002"/>
                  </a:ext>
                </a:extLst>
              </a:tr>
              <a:tr h="640029">
                <a:tc>
                  <a:txBody>
                    <a:bodyPr/>
                    <a:lstStyle/>
                    <a:p>
                      <a:r>
                        <a:rPr lang="zh-CN" altLang="en-US" sz="1800" b="1" dirty="0">
                          <a:solidFill>
                            <a:srgbClr val="FF0000"/>
                          </a:solidFill>
                        </a:rPr>
                        <a:t>程序员</a:t>
                      </a:r>
                      <a:r>
                        <a:rPr lang="en-US" altLang="zh-CN" sz="1800" b="1" dirty="0">
                          <a:solidFill>
                            <a:srgbClr val="FF0000"/>
                          </a:solidFill>
                        </a:rPr>
                        <a:t>B</a:t>
                      </a:r>
                      <a:endParaRPr lang="zh-CN" altLang="en-US" sz="1800" b="1" dirty="0">
                        <a:solidFill>
                          <a:srgbClr val="FF0000"/>
                        </a:solidFill>
                      </a:endParaRPr>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No</a:t>
                      </a:r>
                      <a:endParaRPr lang="zh-CN" altLang="en-US" sz="1800" b="1" dirty="0"/>
                    </a:p>
                  </a:txBody>
                  <a:tcPr marL="91449" marR="91449" marT="45700" marB="45700"/>
                </a:tc>
                <a:tc>
                  <a:txBody>
                    <a:bodyPr/>
                    <a:lstStyle/>
                    <a:p>
                      <a:r>
                        <a:rPr lang="en-US" altLang="zh-CN" sz="1800" b="1" dirty="0"/>
                        <a:t>No</a:t>
                      </a:r>
                      <a:endParaRPr lang="zh-CN" altLang="en-US" sz="1800" b="1" dirty="0"/>
                    </a:p>
                  </a:txBody>
                  <a:tcPr marL="91449" marR="91449" marT="45700" marB="45700"/>
                </a:tc>
                <a:extLst>
                  <a:ext uri="{0D108BD9-81ED-4DB2-BD59-A6C34878D82A}">
                    <a16:rowId xmlns:a16="http://schemas.microsoft.com/office/drawing/2014/main" val="10003"/>
                  </a:ext>
                </a:extLst>
              </a:tr>
              <a:tr h="370675">
                <a:tc>
                  <a:txBody>
                    <a:bodyPr/>
                    <a:lstStyle/>
                    <a:p>
                      <a:r>
                        <a:rPr lang="en-US" altLang="zh-CN" sz="1800" b="1" dirty="0">
                          <a:solidFill>
                            <a:srgbClr val="FF0000"/>
                          </a:solidFill>
                        </a:rPr>
                        <a:t>…</a:t>
                      </a:r>
                      <a:endParaRPr lang="zh-CN" altLang="en-US" sz="1800" b="1" dirty="0">
                        <a:solidFill>
                          <a:srgbClr val="FF0000"/>
                        </a:solidFill>
                      </a:endParaRPr>
                    </a:p>
                  </a:txBody>
                  <a:tcPr marL="91449" marR="91449" marT="45700" marB="45700"/>
                </a:tc>
                <a:tc>
                  <a:txBody>
                    <a:bodyPr/>
                    <a:lstStyle/>
                    <a:p>
                      <a:r>
                        <a:rPr lang="en-US" altLang="zh-CN" sz="1800" b="1" dirty="0"/>
                        <a:t>…</a:t>
                      </a:r>
                      <a:endParaRPr lang="zh-CN" altLang="en-US" sz="1800" b="1" dirty="0"/>
                    </a:p>
                  </a:txBody>
                  <a:tcPr marL="91449" marR="91449" marT="45700" marB="45700"/>
                </a:tc>
                <a:tc>
                  <a:txBody>
                    <a:bodyPr/>
                    <a:lstStyle/>
                    <a:p>
                      <a:r>
                        <a:rPr lang="en-US" altLang="zh-CN" sz="1800" b="1" dirty="0"/>
                        <a:t>…</a:t>
                      </a:r>
                      <a:endParaRPr lang="zh-CN" altLang="en-US" sz="1800" b="1" dirty="0"/>
                    </a:p>
                  </a:txBody>
                  <a:tcPr marL="91449" marR="91449" marT="45700" marB="45700"/>
                </a:tc>
                <a:tc>
                  <a:txBody>
                    <a:bodyPr/>
                    <a:lstStyle/>
                    <a:p>
                      <a:r>
                        <a:rPr lang="en-US" altLang="zh-CN" sz="1800" b="1" dirty="0"/>
                        <a:t>…</a:t>
                      </a:r>
                      <a:endParaRPr lang="zh-CN" altLang="en-US" sz="1800" b="1" dirty="0"/>
                    </a:p>
                  </a:txBody>
                  <a:tcPr marL="91449" marR="91449" marT="45700" marB="45700"/>
                </a:tc>
                <a:tc>
                  <a:txBody>
                    <a:bodyPr/>
                    <a:lstStyle/>
                    <a:p>
                      <a:r>
                        <a:rPr lang="en-US" altLang="zh-CN" sz="1800" b="1" dirty="0"/>
                        <a:t>…</a:t>
                      </a:r>
                      <a:endParaRPr lang="zh-CN" altLang="en-US" sz="1800" b="1" dirty="0"/>
                    </a:p>
                  </a:txBody>
                  <a:tcPr marL="91449" marR="91449" marT="45700" marB="45700"/>
                </a:tc>
                <a:extLst>
                  <a:ext uri="{0D108BD9-81ED-4DB2-BD59-A6C34878D82A}">
                    <a16:rowId xmlns:a16="http://schemas.microsoft.com/office/drawing/2014/main" val="10004"/>
                  </a:ext>
                </a:extLst>
              </a:tr>
              <a:tr h="640029">
                <a:tc>
                  <a:txBody>
                    <a:bodyPr/>
                    <a:lstStyle/>
                    <a:p>
                      <a:r>
                        <a:rPr lang="zh-CN" altLang="en-US" sz="1800" b="1" dirty="0">
                          <a:solidFill>
                            <a:srgbClr val="FF0000"/>
                          </a:solidFill>
                        </a:rPr>
                        <a:t>医生</a:t>
                      </a:r>
                      <a:r>
                        <a:rPr lang="en-US" altLang="zh-CN" sz="1800" b="1" dirty="0">
                          <a:solidFill>
                            <a:srgbClr val="FF0000"/>
                          </a:solidFill>
                        </a:rPr>
                        <a:t>A</a:t>
                      </a:r>
                      <a:endParaRPr lang="zh-CN" altLang="en-US" sz="1800" b="1" dirty="0">
                        <a:solidFill>
                          <a:srgbClr val="FF0000"/>
                        </a:solidFill>
                      </a:endParaRPr>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extLst>
                  <a:ext uri="{0D108BD9-81ED-4DB2-BD59-A6C34878D82A}">
                    <a16:rowId xmlns:a16="http://schemas.microsoft.com/office/drawing/2014/main" val="10005"/>
                  </a:ext>
                </a:extLst>
              </a:tr>
              <a:tr h="640029">
                <a:tc>
                  <a:txBody>
                    <a:bodyPr/>
                    <a:lstStyle/>
                    <a:p>
                      <a:r>
                        <a:rPr lang="zh-CN" altLang="en-US" sz="1800" b="1" dirty="0">
                          <a:solidFill>
                            <a:srgbClr val="FF0000"/>
                          </a:solidFill>
                        </a:rPr>
                        <a:t>程序员</a:t>
                      </a:r>
                      <a:r>
                        <a:rPr lang="en-US" altLang="zh-CN" sz="1800" b="1" dirty="0">
                          <a:solidFill>
                            <a:srgbClr val="FF0000"/>
                          </a:solidFill>
                        </a:rPr>
                        <a:t>C</a:t>
                      </a:r>
                      <a:endParaRPr lang="zh-CN" altLang="en-US" sz="1800" b="1" dirty="0">
                        <a:solidFill>
                          <a:srgbClr val="FF0000"/>
                        </a:solidFill>
                      </a:endParaRPr>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extLst>
                  <a:ext uri="{0D108BD9-81ED-4DB2-BD59-A6C34878D82A}">
                    <a16:rowId xmlns:a16="http://schemas.microsoft.com/office/drawing/2014/main" val="10006"/>
                  </a:ext>
                </a:extLst>
              </a:tr>
              <a:tr h="640029">
                <a:tc>
                  <a:txBody>
                    <a:bodyPr/>
                    <a:lstStyle/>
                    <a:p>
                      <a:r>
                        <a:rPr lang="zh-CN" altLang="en-US" sz="1800" b="1" dirty="0">
                          <a:solidFill>
                            <a:srgbClr val="FF0000"/>
                          </a:solidFill>
                        </a:rPr>
                        <a:t>程序员</a:t>
                      </a:r>
                      <a:r>
                        <a:rPr lang="en-US" altLang="zh-CN" sz="1800" b="1" dirty="0">
                          <a:solidFill>
                            <a:srgbClr val="FF0000"/>
                          </a:solidFill>
                        </a:rPr>
                        <a:t>D</a:t>
                      </a:r>
                      <a:endParaRPr lang="zh-CN" altLang="en-US" sz="1800" b="1" dirty="0">
                        <a:solidFill>
                          <a:srgbClr val="FF0000"/>
                        </a:solidFill>
                      </a:endParaRPr>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Yes</a:t>
                      </a:r>
                      <a:endParaRPr lang="zh-CN" altLang="en-US" sz="1800" b="1" dirty="0"/>
                    </a:p>
                  </a:txBody>
                  <a:tcPr marL="91449" marR="91449" marT="45700" marB="45700"/>
                </a:tc>
                <a:tc>
                  <a:txBody>
                    <a:bodyPr/>
                    <a:lstStyle/>
                    <a:p>
                      <a:r>
                        <a:rPr lang="en-US" altLang="zh-CN" sz="1800" b="1" dirty="0"/>
                        <a:t>No</a:t>
                      </a:r>
                      <a:endParaRPr lang="zh-CN" altLang="en-US" sz="1800" b="1" dirty="0"/>
                    </a:p>
                  </a:txBody>
                  <a:tcPr marL="91449" marR="91449" marT="45700" marB="45700"/>
                </a:tc>
                <a:extLst>
                  <a:ext uri="{0D108BD9-81ED-4DB2-BD59-A6C34878D82A}">
                    <a16:rowId xmlns:a16="http://schemas.microsoft.com/office/drawing/2014/main" val="10007"/>
                  </a:ext>
                </a:extLst>
              </a:tr>
            </a:tbl>
          </a:graphicData>
        </a:graphic>
      </p:graphicFrame>
      <p:sp>
        <p:nvSpPr>
          <p:cNvPr id="16444" name="文本框 9"/>
          <p:cNvSpPr txBox="1"/>
          <p:nvPr/>
        </p:nvSpPr>
        <p:spPr>
          <a:xfrm>
            <a:off x="2640014" y="6302375"/>
            <a:ext cx="3240087" cy="522288"/>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800" b="1" dirty="0">
                <a:latin typeface="微软雅黑" panose="020B0503020204020204" pitchFamily="34" charset="-122"/>
                <a:ea typeface="微软雅黑" panose="020B0503020204020204" pitchFamily="34" charset="-122"/>
              </a:rPr>
              <a:t>标签数据</a:t>
            </a:r>
          </a:p>
        </p:txBody>
      </p:sp>
      <p:sp>
        <p:nvSpPr>
          <p:cNvPr id="16445" name="矩形 10"/>
          <p:cNvSpPr/>
          <p:nvPr/>
        </p:nvSpPr>
        <p:spPr>
          <a:xfrm>
            <a:off x="6956426" y="3068638"/>
            <a:ext cx="3730625" cy="10160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endParaRPr lang="zh-CN" altLang="en-US" sz="2000" dirty="0">
              <a:solidFill>
                <a:srgbClr val="000000"/>
              </a:solidFill>
              <a:latin typeface="Times New Roman" panose="02020603050405020304" pitchFamily="18" charset="0"/>
              <a:ea typeface="微软雅黑" panose="020B0503020204020204" pitchFamily="34" charset="-122"/>
            </a:endParaRPr>
          </a:p>
          <a:p>
            <a:pPr marL="0" indent="0" latinLnBrk="0">
              <a:spcBef>
                <a:spcPct val="0"/>
              </a:spcBef>
              <a:buNone/>
            </a:pPr>
            <a:r>
              <a:rPr lang="zh-CN" altLang="en-US" sz="2000" dirty="0">
                <a:latin typeface="Times New Roman" panose="02020603050405020304" pitchFamily="18" charset="0"/>
                <a:ea typeface="微软雅黑" panose="020B0503020204020204" pitchFamily="34" charset="-122"/>
              </a:rPr>
              <a:t>𝑓（</a:t>
            </a:r>
            <a:r>
              <a:rPr lang="zh-CN" altLang="en-US" sz="2000" dirty="0">
                <a:solidFill>
                  <a:srgbClr val="7030A0"/>
                </a:solidFill>
                <a:latin typeface="Times New Roman" panose="02020603050405020304" pitchFamily="18" charset="0"/>
                <a:ea typeface="微软雅黑" panose="020B0503020204020204" pitchFamily="34" charset="-122"/>
              </a:rPr>
              <a:t>数学好</a:t>
            </a:r>
            <a:r>
              <a:rPr lang="en-US" altLang="zh-CN" sz="2000" dirty="0">
                <a:latin typeface="Times New Roman" panose="02020603050405020304" pitchFamily="18" charset="0"/>
                <a:ea typeface="微软雅黑" panose="020B0503020204020204" pitchFamily="34" charset="-122"/>
              </a:rPr>
              <a:t>=Yes, </a:t>
            </a:r>
            <a:r>
              <a:rPr lang="zh-CN" altLang="en-US" sz="2000" dirty="0">
                <a:solidFill>
                  <a:srgbClr val="7030A0"/>
                </a:solidFill>
                <a:latin typeface="Times New Roman" panose="02020603050405020304" pitchFamily="18" charset="0"/>
                <a:ea typeface="微软雅黑" panose="020B0503020204020204" pitchFamily="34" charset="-122"/>
              </a:rPr>
              <a:t>会编程</a:t>
            </a:r>
            <a:r>
              <a:rPr lang="en-US" altLang="zh-CN" sz="2000" dirty="0">
                <a:latin typeface="Times New Roman" panose="02020603050405020304" pitchFamily="18" charset="0"/>
                <a:ea typeface="微软雅黑" panose="020B0503020204020204" pitchFamily="34" charset="-122"/>
              </a:rPr>
              <a:t>=Yes,        </a:t>
            </a:r>
            <a:r>
              <a:rPr lang="zh-CN" altLang="en-US" sz="2000" dirty="0">
                <a:solidFill>
                  <a:srgbClr val="7030A0"/>
                </a:solidFill>
                <a:latin typeface="Times New Roman" panose="02020603050405020304" pitchFamily="18" charset="0"/>
                <a:ea typeface="微软雅黑" panose="020B0503020204020204" pitchFamily="34" charset="-122"/>
              </a:rPr>
              <a:t>身体好</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a:t>
            </a:r>
            <a:r>
              <a:rPr lang="zh-CN" altLang="en-US" sz="2000" dirty="0">
                <a:solidFill>
                  <a:srgbClr val="7030A0"/>
                </a:solidFill>
                <a:latin typeface="Times New Roman" panose="02020603050405020304" pitchFamily="18" charset="0"/>
                <a:ea typeface="微软雅黑" panose="020B0503020204020204" pitchFamily="34" charset="-122"/>
              </a:rPr>
              <a:t>嗓门大</a:t>
            </a:r>
            <a:r>
              <a:rPr lang="en-US" altLang="zh-CN" sz="2000" dirty="0">
                <a:latin typeface="Times New Roman" panose="02020603050405020304" pitchFamily="18" charset="0"/>
                <a:ea typeface="微软雅黑" panose="020B0503020204020204" pitchFamily="34" charset="-122"/>
              </a:rPr>
              <a:t>=? ) = </a:t>
            </a:r>
            <a:r>
              <a:rPr lang="zh-CN" altLang="en-US" sz="2000" dirty="0">
                <a:solidFill>
                  <a:srgbClr val="FF0000"/>
                </a:solidFill>
                <a:latin typeface="Times New Roman" panose="02020603050405020304" pitchFamily="18" charset="0"/>
                <a:ea typeface="微软雅黑" panose="020B0503020204020204" pitchFamily="34" charset="-122"/>
              </a:rPr>
              <a:t>程序员</a:t>
            </a:r>
            <a:r>
              <a:rPr lang="en-US" altLang="zh-CN" sz="2000" dirty="0">
                <a:latin typeface="Times New Roman" panose="02020603050405020304" pitchFamily="18" charset="0"/>
                <a:ea typeface="微软雅黑" panose="020B0503020204020204" pitchFamily="34" charset="-122"/>
              </a:rPr>
              <a:t> </a:t>
            </a:r>
            <a:endParaRPr lang="zh-CN" altLang="en-US" sz="2000" dirty="0">
              <a:latin typeface="Times New Roman" panose="02020603050405020304" pitchFamily="18" charset="0"/>
              <a:ea typeface="微软雅黑" panose="020B0503020204020204" pitchFamily="34" charset="-122"/>
            </a:endParaRPr>
          </a:p>
        </p:txBody>
      </p:sp>
      <p:sp>
        <p:nvSpPr>
          <p:cNvPr id="12" name="右箭头 11"/>
          <p:cNvSpPr/>
          <p:nvPr/>
        </p:nvSpPr>
        <p:spPr bwMode="auto">
          <a:xfrm>
            <a:off x="6167439" y="3500439"/>
            <a:ext cx="720725" cy="288925"/>
          </a:xfrm>
          <a:prstGeom prst="rightArrow">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a:lstStyle/>
          <a:p>
            <a:pPr eaLnBrk="1" latinLnBrk="1" hangingPunct="1">
              <a:defRPr/>
            </a:pPr>
            <a:endParaRPr kumimoji="1" lang="zh-CN" altLang="en-US"/>
          </a:p>
        </p:txBody>
      </p:sp>
      <p:sp>
        <p:nvSpPr>
          <p:cNvPr id="16447" name="文本框 12"/>
          <p:cNvSpPr txBox="1"/>
          <p:nvPr/>
        </p:nvSpPr>
        <p:spPr>
          <a:xfrm>
            <a:off x="6167439" y="2997200"/>
            <a:ext cx="788987" cy="4000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000" b="1" dirty="0">
                <a:latin typeface="微软雅黑" panose="020B0503020204020204" pitchFamily="34" charset="-122"/>
                <a:ea typeface="微软雅黑" panose="020B0503020204020204" pitchFamily="34" charset="-122"/>
              </a:rPr>
              <a:t>训练</a:t>
            </a:r>
          </a:p>
        </p:txBody>
      </p:sp>
      <p:sp>
        <p:nvSpPr>
          <p:cNvPr id="16448" name="文本框 16"/>
          <p:cNvSpPr txBox="1"/>
          <p:nvPr/>
        </p:nvSpPr>
        <p:spPr>
          <a:xfrm>
            <a:off x="7032625" y="2430463"/>
            <a:ext cx="1079500" cy="4000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000" b="1" dirty="0">
                <a:latin typeface="微软雅黑" panose="020B0503020204020204" pitchFamily="34" charset="-122"/>
                <a:ea typeface="微软雅黑" panose="020B0503020204020204" pitchFamily="34" charset="-122"/>
              </a:rPr>
              <a:t>分类器</a:t>
            </a:r>
          </a:p>
        </p:txBody>
      </p:sp>
      <p:cxnSp>
        <p:nvCxnSpPr>
          <p:cNvPr id="16449" name="直接箭头连接符 14"/>
          <p:cNvCxnSpPr/>
          <p:nvPr/>
        </p:nvCxnSpPr>
        <p:spPr>
          <a:xfrm flipH="1">
            <a:off x="7248525" y="2878138"/>
            <a:ext cx="215900" cy="463550"/>
          </a:xfrm>
          <a:prstGeom prst="straightConnector1">
            <a:avLst/>
          </a:prstGeom>
          <a:ln w="38100" cap="flat" cmpd="sng">
            <a:solidFill>
              <a:schemeClr val="tx1"/>
            </a:solidFill>
            <a:prstDash val="solid"/>
            <a:headEnd type="none" w="med" len="med"/>
            <a:tailEnd type="triangle" w="med" len="med"/>
          </a:ln>
        </p:spPr>
      </p:cxnSp>
      <p:sp>
        <p:nvSpPr>
          <p:cNvPr id="16450" name="文本框 20"/>
          <p:cNvSpPr txBox="1"/>
          <p:nvPr/>
        </p:nvSpPr>
        <p:spPr>
          <a:xfrm>
            <a:off x="8975725" y="2495550"/>
            <a:ext cx="1081088" cy="4000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000" b="1" dirty="0">
                <a:latin typeface="微软雅黑" panose="020B0503020204020204" pitchFamily="34" charset="-122"/>
                <a:ea typeface="微软雅黑" panose="020B0503020204020204" pitchFamily="34" charset="-122"/>
              </a:rPr>
              <a:t>特征</a:t>
            </a:r>
          </a:p>
        </p:txBody>
      </p:sp>
      <p:cxnSp>
        <p:nvCxnSpPr>
          <p:cNvPr id="16451" name="直接箭头连接符 21"/>
          <p:cNvCxnSpPr/>
          <p:nvPr/>
        </p:nvCxnSpPr>
        <p:spPr>
          <a:xfrm flipH="1">
            <a:off x="9193213" y="2941638"/>
            <a:ext cx="215900" cy="463550"/>
          </a:xfrm>
          <a:prstGeom prst="straightConnector1">
            <a:avLst/>
          </a:prstGeom>
          <a:ln w="38100" cap="flat" cmpd="sng">
            <a:solidFill>
              <a:schemeClr val="tx1"/>
            </a:solidFill>
            <a:prstDash val="solid"/>
            <a:headEnd type="none" w="med" len="med"/>
            <a:tailEnd type="triangle" w="med" len="med"/>
          </a:ln>
        </p:spPr>
      </p:cxnSp>
      <p:sp>
        <p:nvSpPr>
          <p:cNvPr id="16452" name="文本框 22"/>
          <p:cNvSpPr txBox="1"/>
          <p:nvPr/>
        </p:nvSpPr>
        <p:spPr>
          <a:xfrm>
            <a:off x="9423400" y="4651375"/>
            <a:ext cx="1079500" cy="4000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000" b="1" dirty="0">
                <a:latin typeface="微软雅黑" panose="020B0503020204020204" pitchFamily="34" charset="-122"/>
                <a:ea typeface="微软雅黑" panose="020B0503020204020204" pitchFamily="34" charset="-122"/>
              </a:rPr>
              <a:t>类别</a:t>
            </a:r>
          </a:p>
        </p:txBody>
      </p:sp>
      <p:cxnSp>
        <p:nvCxnSpPr>
          <p:cNvPr id="16453" name="直接箭头连接符 23"/>
          <p:cNvCxnSpPr>
            <a:stCxn id="16452" idx="0"/>
          </p:cNvCxnSpPr>
          <p:nvPr/>
        </p:nvCxnSpPr>
        <p:spPr>
          <a:xfrm flipV="1">
            <a:off x="9963150" y="4084639"/>
            <a:ext cx="165100" cy="566737"/>
          </a:xfrm>
          <a:prstGeom prst="straightConnector1">
            <a:avLst/>
          </a:prstGeom>
          <a:ln w="38100" cap="flat" cmpd="sng">
            <a:solidFill>
              <a:schemeClr val="tx1"/>
            </a:solidFill>
            <a:prstDash val="solid"/>
            <a:headEnd type="non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矩形 3"/>
          <p:cNvSpPr/>
          <p:nvPr/>
        </p:nvSpPr>
        <p:spPr>
          <a:xfrm>
            <a:off x="2140752" y="1095807"/>
            <a:ext cx="7822791" cy="1200329"/>
          </a:xfrm>
          <a:prstGeom prst="rect">
            <a:avLst/>
          </a:prstGeom>
        </p:spPr>
        <p:txBody>
          <a:bodyPr wrap="square">
            <a:spAutoFit/>
          </a:bodyPr>
          <a:lstStyle/>
          <a:p>
            <a:pPr fontAlgn="auto">
              <a:lnSpc>
                <a:spcPct val="100000"/>
              </a:lnSpc>
            </a:pPr>
            <a:r>
              <a:rPr kumimoji="1" lang="zh-CN" altLang="en-US" sz="2400" b="1" dirty="0">
                <a:solidFill>
                  <a:srgbClr val="0033CC"/>
                </a:solidFill>
                <a:latin typeface="微软雅黑" panose="020B0503020204020204" charset="-122"/>
                <a:ea typeface="微软雅黑" panose="020B0503020204020204" charset="-122"/>
              </a:rPr>
              <a:t>无监督学习（</a:t>
            </a:r>
            <a:r>
              <a:rPr kumimoji="1" lang="en-US" altLang="zh-CN" sz="2400" b="1" dirty="0">
                <a:solidFill>
                  <a:srgbClr val="0033CC"/>
                </a:solidFill>
                <a:latin typeface="微软雅黑" panose="020B0503020204020204" charset="-122"/>
                <a:ea typeface="微软雅黑" panose="020B0503020204020204" charset="-122"/>
              </a:rPr>
              <a:t>unsupervised learning</a:t>
            </a:r>
            <a:r>
              <a:rPr kumimoji="1" lang="zh-CN" altLang="en-US" sz="2400" b="1" dirty="0">
                <a:solidFill>
                  <a:srgbClr val="0033CC"/>
                </a:solidFill>
                <a:latin typeface="微软雅黑" panose="020B0503020204020204" charset="-122"/>
                <a:ea typeface="微软雅黑" panose="020B0503020204020204" charset="-122"/>
              </a:rPr>
              <a:t>）</a:t>
            </a:r>
            <a:r>
              <a:rPr kumimoji="1" lang="zh-CN" altLang="en-US" sz="2400" dirty="0">
                <a:latin typeface="微软雅黑" panose="020B0503020204020204" charset="-122"/>
                <a:ea typeface="微软雅黑" panose="020B0503020204020204" charset="-122"/>
              </a:rPr>
              <a:t>：</a:t>
            </a:r>
            <a:r>
              <a:rPr lang="zh-CN" altLang="en-US" sz="2400" b="1" dirty="0">
                <a:solidFill>
                  <a:srgbClr val="CC0099"/>
                </a:solidFill>
                <a:latin typeface="微软雅黑" panose="020B0503020204020204" charset="-122"/>
                <a:ea typeface="微软雅黑" panose="020B0503020204020204" charset="-122"/>
              </a:rPr>
              <a:t>没有标注的训练数据集</a:t>
            </a:r>
            <a:r>
              <a:rPr lang="zh-CN" altLang="en-US" sz="2400" dirty="0">
                <a:latin typeface="微软雅黑" panose="020B0503020204020204" charset="-122"/>
                <a:ea typeface="微软雅黑" panose="020B0503020204020204" charset="-122"/>
              </a:rPr>
              <a:t>，需要根据样本间的统计规律对样本集进行分析，常见任务如</a:t>
            </a:r>
            <a:r>
              <a:rPr lang="zh-CN" altLang="en-US" sz="2400" b="1" dirty="0">
                <a:solidFill>
                  <a:srgbClr val="FF0000"/>
                </a:solidFill>
                <a:latin typeface="微软雅黑" panose="020B0503020204020204" charset="-122"/>
                <a:ea typeface="微软雅黑" panose="020B0503020204020204" charset="-122"/>
              </a:rPr>
              <a:t>聚类</a:t>
            </a:r>
            <a:r>
              <a:rPr lang="zh-CN" altLang="en-US" sz="2400" dirty="0">
                <a:latin typeface="微软雅黑" panose="020B0503020204020204" charset="-122"/>
                <a:ea typeface="微软雅黑" panose="020B0503020204020204" charset="-122"/>
              </a:rPr>
              <a:t>等。</a:t>
            </a:r>
          </a:p>
        </p:txBody>
      </p:sp>
      <p:pic>
        <p:nvPicPr>
          <p:cNvPr id="5" name="图片 4"/>
          <p:cNvPicPr>
            <a:picLocks noChangeAspect="1"/>
          </p:cNvPicPr>
          <p:nvPr/>
        </p:nvPicPr>
        <p:blipFill>
          <a:blip r:embed="rId2"/>
          <a:stretch>
            <a:fillRect/>
          </a:stretch>
        </p:blipFill>
        <p:spPr>
          <a:xfrm>
            <a:off x="5375920" y="2725579"/>
            <a:ext cx="2353618" cy="2655987"/>
          </a:xfrm>
          <a:prstGeom prst="rect">
            <a:avLst/>
          </a:prstGeom>
        </p:spPr>
      </p:pic>
      <p:pic>
        <p:nvPicPr>
          <p:cNvPr id="6" name="图片 5"/>
          <p:cNvPicPr>
            <a:picLocks noChangeAspect="1"/>
          </p:cNvPicPr>
          <p:nvPr/>
        </p:nvPicPr>
        <p:blipFill>
          <a:blip r:embed="rId3"/>
          <a:stretch>
            <a:fillRect/>
          </a:stretch>
        </p:blipFill>
        <p:spPr>
          <a:xfrm>
            <a:off x="7888499" y="2580560"/>
            <a:ext cx="1874996" cy="290036"/>
          </a:xfrm>
          <a:prstGeom prst="rect">
            <a:avLst/>
          </a:prstGeom>
        </p:spPr>
      </p:pic>
      <p:pic>
        <p:nvPicPr>
          <p:cNvPr id="7" name="图片 6"/>
          <p:cNvPicPr>
            <a:picLocks noChangeAspect="1"/>
          </p:cNvPicPr>
          <p:nvPr/>
        </p:nvPicPr>
        <p:blipFill>
          <a:blip r:embed="rId4"/>
          <a:stretch>
            <a:fillRect/>
          </a:stretch>
        </p:blipFill>
        <p:spPr>
          <a:xfrm>
            <a:off x="7791451" y="3141822"/>
            <a:ext cx="2233613" cy="2066925"/>
          </a:xfrm>
          <a:prstGeom prst="rect">
            <a:avLst/>
          </a:prstGeom>
        </p:spPr>
      </p:pic>
      <p:pic>
        <p:nvPicPr>
          <p:cNvPr id="41989" name="Picture 19" descr="image011"/>
          <p:cNvPicPr>
            <a:picLocks noChangeAspect="1"/>
          </p:cNvPicPr>
          <p:nvPr/>
        </p:nvPicPr>
        <p:blipFill>
          <a:blip r:embed="rId5"/>
          <a:srcRect l="15080" r="15031" b="10519"/>
          <a:stretch>
            <a:fillRect/>
          </a:stretch>
        </p:blipFill>
        <p:spPr>
          <a:xfrm>
            <a:off x="2140751" y="2809400"/>
            <a:ext cx="3086932" cy="2478085"/>
          </a:xfrm>
          <a:prstGeom prst="rect">
            <a:avLst/>
          </a:prstGeom>
          <a:noFill/>
          <a:ln w="9525">
            <a:noFill/>
          </a:ln>
        </p:spPr>
      </p:pic>
      <p:sp>
        <p:nvSpPr>
          <p:cNvPr id="10" name="矩形 9"/>
          <p:cNvSpPr/>
          <p:nvPr/>
        </p:nvSpPr>
        <p:spPr>
          <a:xfrm>
            <a:off x="9208958" y="5171600"/>
            <a:ext cx="544167" cy="260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9" name="标题 1"/>
          <p:cNvSpPr txBox="1">
            <a:spLocks/>
          </p:cNvSpPr>
          <p:nvPr/>
        </p:nvSpPr>
        <p:spPr>
          <a:xfrm>
            <a:off x="1631504" y="404665"/>
            <a:ext cx="9144000" cy="51487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latin typeface="微软雅黑" panose="020B0503020204020204" pitchFamily="34" charset="-122"/>
                <a:ea typeface="微软雅黑" panose="020B0503020204020204" pitchFamily="34" charset="-122"/>
              </a:rPr>
              <a:t>机器学习方法（</a:t>
            </a:r>
            <a:r>
              <a:rPr lang="en-US" altLang="zh-CN" sz="3600" b="1" dirty="0">
                <a:latin typeface="微软雅黑" panose="020B0503020204020204" pitchFamily="34" charset="-122"/>
                <a:ea typeface="微软雅黑" panose="020B0503020204020204" pitchFamily="34" charset="-122"/>
              </a:rPr>
              <a:t>2</a:t>
            </a:r>
            <a:r>
              <a:rPr lang="zh-CN" altLang="en-US" sz="3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713242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矩形 3"/>
          <p:cNvSpPr/>
          <p:nvPr/>
        </p:nvSpPr>
        <p:spPr>
          <a:xfrm>
            <a:off x="2135561" y="1165972"/>
            <a:ext cx="7822791" cy="1200329"/>
          </a:xfrm>
          <a:prstGeom prst="rect">
            <a:avLst/>
          </a:prstGeom>
        </p:spPr>
        <p:txBody>
          <a:bodyPr wrap="square">
            <a:spAutoFit/>
          </a:bodyPr>
          <a:lstStyle/>
          <a:p>
            <a:pPr fontAlgn="auto">
              <a:lnSpc>
                <a:spcPct val="100000"/>
              </a:lnSpc>
            </a:pPr>
            <a:r>
              <a:rPr kumimoji="1" lang="zh-CN" altLang="en-US" sz="2400" b="1" dirty="0">
                <a:solidFill>
                  <a:srgbClr val="0033CC"/>
                </a:solidFill>
                <a:latin typeface="微软雅黑" panose="020B0503020204020204" charset="-122"/>
                <a:ea typeface="微软雅黑" panose="020B0503020204020204" charset="-122"/>
              </a:rPr>
              <a:t>半监督学习（</a:t>
            </a:r>
            <a:r>
              <a:rPr kumimoji="1" lang="en-US" altLang="zh-CN" sz="2400" b="1" dirty="0">
                <a:solidFill>
                  <a:srgbClr val="0033CC"/>
                </a:solidFill>
                <a:latin typeface="微软雅黑" panose="020B0503020204020204" charset="-122"/>
                <a:ea typeface="微软雅黑" panose="020B0503020204020204" charset="-122"/>
              </a:rPr>
              <a:t>Semi-supervised learning</a:t>
            </a:r>
            <a:r>
              <a:rPr kumimoji="1" lang="zh-CN" altLang="en-US" sz="2400" b="1" dirty="0">
                <a:solidFill>
                  <a:srgbClr val="0033CC"/>
                </a:solidFill>
                <a:latin typeface="微软雅黑" panose="020B0503020204020204" charset="-122"/>
                <a:ea typeface="微软雅黑" panose="020B0503020204020204" charset="-122"/>
              </a:rPr>
              <a:t>）</a:t>
            </a:r>
            <a:r>
              <a:rPr kumimoji="1" lang="zh-CN" altLang="en-US"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结合</a:t>
            </a:r>
            <a:r>
              <a:rPr lang="zh-CN" altLang="en-US" sz="2400" b="1" dirty="0">
                <a:solidFill>
                  <a:srgbClr val="CC0099"/>
                </a:solidFill>
                <a:latin typeface="微软雅黑" panose="020B0503020204020204" charset="-122"/>
                <a:ea typeface="微软雅黑" panose="020B0503020204020204" charset="-122"/>
              </a:rPr>
              <a:t>（少量的）标注训练数据</a:t>
            </a:r>
            <a:r>
              <a:rPr lang="zh-CN" altLang="en-US" sz="2400" dirty="0">
                <a:latin typeface="微软雅黑" panose="020B0503020204020204" charset="-122"/>
                <a:ea typeface="微软雅黑" panose="020B0503020204020204" charset="-122"/>
              </a:rPr>
              <a:t>和</a:t>
            </a:r>
            <a:r>
              <a:rPr lang="zh-CN" altLang="en-US" sz="2400" b="1" dirty="0">
                <a:solidFill>
                  <a:srgbClr val="CC0099"/>
                </a:solidFill>
                <a:latin typeface="微软雅黑" panose="020B0503020204020204" charset="-122"/>
                <a:ea typeface="微软雅黑" panose="020B0503020204020204" charset="-122"/>
              </a:rPr>
              <a:t>（大量的）未标注数据</a:t>
            </a:r>
            <a:r>
              <a:rPr lang="zh-CN" altLang="en-US" sz="2400" dirty="0">
                <a:latin typeface="微软雅黑" panose="020B0503020204020204" charset="-122"/>
                <a:ea typeface="微软雅黑" panose="020B0503020204020204" charset="-122"/>
              </a:rPr>
              <a:t>来进行数据的分类学习。</a:t>
            </a:r>
          </a:p>
        </p:txBody>
      </p:sp>
      <p:pic>
        <p:nvPicPr>
          <p:cNvPr id="9" name="图片 8"/>
          <p:cNvPicPr>
            <a:picLocks noChangeAspect="1"/>
          </p:cNvPicPr>
          <p:nvPr/>
        </p:nvPicPr>
        <p:blipFill>
          <a:blip r:embed="rId3"/>
          <a:stretch>
            <a:fillRect/>
          </a:stretch>
        </p:blipFill>
        <p:spPr>
          <a:xfrm>
            <a:off x="6593880" y="2268161"/>
            <a:ext cx="3227403" cy="1345679"/>
          </a:xfrm>
          <a:prstGeom prst="rect">
            <a:avLst/>
          </a:prstGeom>
        </p:spPr>
      </p:pic>
      <p:pic>
        <p:nvPicPr>
          <p:cNvPr id="5" name="图片 4"/>
          <p:cNvPicPr>
            <a:picLocks noChangeAspect="1"/>
          </p:cNvPicPr>
          <p:nvPr/>
        </p:nvPicPr>
        <p:blipFill rotWithShape="1">
          <a:blip r:embed="rId4"/>
          <a:srcRect l="3237" t="27850" r="2725" b="7239"/>
          <a:stretch>
            <a:fillRect/>
          </a:stretch>
        </p:blipFill>
        <p:spPr>
          <a:xfrm>
            <a:off x="6040256" y="3624646"/>
            <a:ext cx="4547866" cy="2236830"/>
          </a:xfrm>
          <a:prstGeom prst="rect">
            <a:avLst/>
          </a:prstGeom>
        </p:spPr>
      </p:pic>
      <p:sp>
        <p:nvSpPr>
          <p:cNvPr id="13" name="矩形 12"/>
          <p:cNvSpPr/>
          <p:nvPr/>
        </p:nvSpPr>
        <p:spPr>
          <a:xfrm>
            <a:off x="1761568" y="2583667"/>
            <a:ext cx="4141620" cy="3637919"/>
          </a:xfrm>
          <a:prstGeom prst="rect">
            <a:avLst/>
          </a:prstGeom>
        </p:spPr>
        <p:txBody>
          <a:bodyPr wrap="square">
            <a:spAutoFit/>
          </a:bodyPr>
          <a:lstStyle/>
          <a:p>
            <a:pPr>
              <a:lnSpc>
                <a:spcPct val="120000"/>
              </a:lnSpc>
            </a:pPr>
            <a:r>
              <a:rPr lang="zh-CN" altLang="en-US" sz="2400" b="1" dirty="0">
                <a:solidFill>
                  <a:srgbClr val="CC0099"/>
                </a:solidFill>
                <a:latin typeface="微软雅黑" panose="020B0503020204020204" charset="-122"/>
                <a:ea typeface="微软雅黑" panose="020B0503020204020204" charset="-122"/>
                <a:sym typeface="+mn-ea"/>
              </a:rPr>
              <a:t>两个基本假设：</a:t>
            </a:r>
            <a:endParaRPr lang="en-US" altLang="zh-CN" sz="2400" b="1" dirty="0">
              <a:solidFill>
                <a:srgbClr val="CC0099"/>
              </a:solidFill>
              <a:latin typeface="微软雅黑" panose="020B0503020204020204" charset="-122"/>
              <a:ea typeface="微软雅黑" panose="020B0503020204020204" charset="-122"/>
              <a:sym typeface="+mn-ea"/>
            </a:endParaRPr>
          </a:p>
          <a:p>
            <a:pPr marL="257175" indent="-257175">
              <a:lnSpc>
                <a:spcPct val="120000"/>
              </a:lnSpc>
              <a:buFont typeface="Arial" panose="020B0604020202020204" pitchFamily="34" charset="0"/>
              <a:buChar char="•"/>
            </a:pPr>
            <a:r>
              <a:rPr lang="zh-CN" altLang="en-US" sz="2400" b="1" dirty="0">
                <a:latin typeface="微软雅黑" panose="020B0503020204020204" charset="-122"/>
                <a:ea typeface="微软雅黑" panose="020B0503020204020204" charset="-122"/>
                <a:sym typeface="+mn-ea"/>
              </a:rPr>
              <a:t>聚类假设：</a:t>
            </a:r>
            <a:r>
              <a:rPr lang="zh-CN" altLang="en-US" sz="2400" dirty="0">
                <a:latin typeface="微软雅黑" panose="020B0503020204020204" charset="-122"/>
                <a:ea typeface="微软雅黑" panose="020B0503020204020204" charset="-122"/>
                <a:sym typeface="+mn-ea"/>
              </a:rPr>
              <a:t>处在相同聚类中的样本示例有较大的可能拥有相同的标记</a:t>
            </a:r>
            <a:endParaRPr lang="en-US" altLang="zh-CN" sz="2400" dirty="0">
              <a:latin typeface="微软雅黑" panose="020B0503020204020204" charset="-122"/>
              <a:ea typeface="微软雅黑" panose="020B0503020204020204" charset="-122"/>
              <a:sym typeface="+mn-ea"/>
            </a:endParaRPr>
          </a:p>
          <a:p>
            <a:pPr marL="257175" indent="-257175">
              <a:lnSpc>
                <a:spcPct val="120000"/>
              </a:lnSpc>
              <a:buFont typeface="Arial" panose="020B0604020202020204" pitchFamily="34" charset="0"/>
              <a:buChar char="•"/>
            </a:pPr>
            <a:r>
              <a:rPr lang="zh-CN" altLang="en-US" sz="2400" b="1" dirty="0">
                <a:latin typeface="微软雅黑" panose="020B0503020204020204" charset="-122"/>
                <a:ea typeface="微软雅黑" panose="020B0503020204020204" charset="-122"/>
                <a:sym typeface="+mn-ea"/>
              </a:rPr>
              <a:t>流形假设：</a:t>
            </a:r>
            <a:r>
              <a:rPr lang="zh-CN" altLang="en-US" sz="2400" dirty="0">
                <a:latin typeface="微软雅黑" panose="020B0503020204020204" charset="-122"/>
                <a:ea typeface="微软雅黑" panose="020B0503020204020204" charset="-122"/>
                <a:sym typeface="+mn-ea"/>
              </a:rPr>
              <a:t>处于一个很小的局部区域内的样本示例具有相似的性质，因此，其标记也应该相似。。</a:t>
            </a:r>
            <a:endParaRPr lang="en-US" altLang="zh-CN" sz="2400" dirty="0">
              <a:latin typeface="微软雅黑" panose="020B0503020204020204" charset="-122"/>
              <a:ea typeface="微软雅黑" panose="020B0503020204020204" charset="-122"/>
              <a:sym typeface="+mn-ea"/>
            </a:endParaRPr>
          </a:p>
        </p:txBody>
      </p:sp>
      <p:sp>
        <p:nvSpPr>
          <p:cNvPr id="7" name="标题 1"/>
          <p:cNvSpPr txBox="1">
            <a:spLocks/>
          </p:cNvSpPr>
          <p:nvPr/>
        </p:nvSpPr>
        <p:spPr>
          <a:xfrm>
            <a:off x="1631504" y="423817"/>
            <a:ext cx="9144000" cy="49122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latin typeface="微软雅黑" panose="020B0503020204020204" pitchFamily="34" charset="-122"/>
                <a:ea typeface="微软雅黑" panose="020B0503020204020204" pitchFamily="34" charset="-122"/>
              </a:rPr>
              <a:t>机器学习方法（</a:t>
            </a:r>
            <a:r>
              <a:rPr lang="en-US" altLang="zh-CN" sz="3600" b="1" dirty="0">
                <a:latin typeface="微软雅黑" panose="020B0503020204020204" pitchFamily="34" charset="-122"/>
                <a:ea typeface="微软雅黑" panose="020B0503020204020204" pitchFamily="34" charset="-122"/>
              </a:rPr>
              <a:t>3</a:t>
            </a:r>
            <a:r>
              <a:rPr lang="zh-CN" altLang="en-US" sz="3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330307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矩形 3"/>
          <p:cNvSpPr/>
          <p:nvPr/>
        </p:nvSpPr>
        <p:spPr>
          <a:xfrm>
            <a:off x="1953593" y="1024198"/>
            <a:ext cx="7822791" cy="1200329"/>
          </a:xfrm>
          <a:prstGeom prst="rect">
            <a:avLst/>
          </a:prstGeom>
        </p:spPr>
        <p:txBody>
          <a:bodyPr wrap="square">
            <a:spAutoFit/>
          </a:bodyPr>
          <a:lstStyle/>
          <a:p>
            <a:pPr fontAlgn="auto">
              <a:lnSpc>
                <a:spcPct val="100000"/>
              </a:lnSpc>
            </a:pPr>
            <a:r>
              <a:rPr kumimoji="1" lang="zh-CN" altLang="en-US" sz="2400" b="1" dirty="0">
                <a:solidFill>
                  <a:srgbClr val="0033CC"/>
                </a:solidFill>
                <a:latin typeface="微软雅黑" panose="020B0503020204020204" charset="-122"/>
                <a:ea typeface="微软雅黑" panose="020B0503020204020204" charset="-122"/>
              </a:rPr>
              <a:t>强化学习（</a:t>
            </a:r>
            <a:r>
              <a:rPr kumimoji="1" lang="en-US" altLang="zh-CN" sz="2400" b="1" dirty="0">
                <a:solidFill>
                  <a:srgbClr val="0033CC"/>
                </a:solidFill>
                <a:latin typeface="微软雅黑" panose="020B0503020204020204" charset="-122"/>
                <a:ea typeface="微软雅黑" panose="020B0503020204020204" charset="-122"/>
              </a:rPr>
              <a:t>Reinforcement Learning</a:t>
            </a:r>
            <a:r>
              <a:rPr kumimoji="1" lang="zh-CN" altLang="en-US" sz="2400" b="1" dirty="0">
                <a:solidFill>
                  <a:srgbClr val="0033CC"/>
                </a:solidFill>
                <a:latin typeface="微软雅黑" panose="020B0503020204020204" charset="-122"/>
                <a:ea typeface="微软雅黑" panose="020B0503020204020204" charset="-122"/>
              </a:rPr>
              <a:t>）</a:t>
            </a:r>
            <a:r>
              <a:rPr kumimoji="1" lang="zh-CN" altLang="en-US" sz="2400" dirty="0">
                <a:latin typeface="微软雅黑" panose="020B0503020204020204" charset="-122"/>
                <a:ea typeface="微软雅黑" panose="020B0503020204020204" charset="-122"/>
              </a:rPr>
              <a:t>：</a:t>
            </a:r>
            <a:r>
              <a:rPr lang="zh-CN" altLang="en-US" sz="2400" b="1" dirty="0">
                <a:solidFill>
                  <a:srgbClr val="CC0099"/>
                </a:solidFill>
                <a:latin typeface="微软雅黑" panose="020B0503020204020204" charset="-122"/>
                <a:ea typeface="微软雅黑" panose="020B0503020204020204" charset="-122"/>
              </a:rPr>
              <a:t>外部环境对输出只给出评价信息而非正确答案</a:t>
            </a:r>
            <a:r>
              <a:rPr kumimoji="1" lang="zh-CN" altLang="en-US" sz="2400" dirty="0">
                <a:latin typeface="微软雅黑" panose="020B0503020204020204" charset="-122"/>
                <a:ea typeface="微软雅黑" panose="020B0503020204020204" charset="-122"/>
              </a:rPr>
              <a:t>，学习机通过强化受奖励的动作来改善自身的性能。</a:t>
            </a:r>
            <a:endParaRPr lang="zh-CN" altLang="en-US" sz="2400"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2" cstate="print"/>
          <a:stretch>
            <a:fillRect/>
          </a:stretch>
        </p:blipFill>
        <p:spPr>
          <a:xfrm>
            <a:off x="7654401" y="3717032"/>
            <a:ext cx="2419830" cy="2404140"/>
          </a:xfrm>
          <a:prstGeom prst="rect">
            <a:avLst/>
          </a:prstGeom>
        </p:spPr>
      </p:pic>
      <p:pic>
        <p:nvPicPr>
          <p:cNvPr id="6" name="图片 5"/>
          <p:cNvPicPr>
            <a:picLocks noChangeAspect="1"/>
          </p:cNvPicPr>
          <p:nvPr/>
        </p:nvPicPr>
        <p:blipFill>
          <a:blip r:embed="rId3"/>
          <a:stretch>
            <a:fillRect/>
          </a:stretch>
        </p:blipFill>
        <p:spPr>
          <a:xfrm>
            <a:off x="7522369" y="2060849"/>
            <a:ext cx="2683894" cy="1352504"/>
          </a:xfrm>
          <a:prstGeom prst="rect">
            <a:avLst/>
          </a:prstGeom>
        </p:spPr>
      </p:pic>
      <p:sp>
        <p:nvSpPr>
          <p:cNvPr id="7" name="矩形 6"/>
          <p:cNvSpPr/>
          <p:nvPr/>
        </p:nvSpPr>
        <p:spPr>
          <a:xfrm>
            <a:off x="1953592" y="2356954"/>
            <a:ext cx="5436394" cy="1200329"/>
          </a:xfrm>
          <a:prstGeom prst="rect">
            <a:avLst/>
          </a:prstGeom>
        </p:spPr>
        <p:txBody>
          <a:bodyPr wrap="square">
            <a:spAutoFit/>
          </a:bodyPr>
          <a:lstStyle/>
          <a:p>
            <a:pPr fontAlgn="auto">
              <a:lnSpc>
                <a:spcPct val="100000"/>
              </a:lnSpc>
            </a:pPr>
            <a:r>
              <a:rPr kumimoji="1" lang="zh-CN" altLang="en-US" sz="2400" b="1" dirty="0">
                <a:solidFill>
                  <a:srgbClr val="0033CC"/>
                </a:solidFill>
                <a:latin typeface="微软雅黑" panose="020B0503020204020204" charset="-122"/>
                <a:ea typeface="微软雅黑" panose="020B0503020204020204" charset="-122"/>
              </a:rPr>
              <a:t>多任务学习（</a:t>
            </a:r>
            <a:r>
              <a:rPr kumimoji="1" lang="en-US" altLang="zh-CN" sz="2400" b="1" dirty="0">
                <a:solidFill>
                  <a:srgbClr val="0033CC"/>
                </a:solidFill>
                <a:latin typeface="微软雅黑" panose="020B0503020204020204" charset="-122"/>
                <a:ea typeface="微软雅黑" panose="020B0503020204020204" charset="-122"/>
              </a:rPr>
              <a:t>Multi-task Learning</a:t>
            </a:r>
            <a:r>
              <a:rPr kumimoji="1" lang="zh-CN" altLang="en-US" sz="2400" b="1" dirty="0">
                <a:solidFill>
                  <a:srgbClr val="0033CC"/>
                </a:solidFill>
                <a:latin typeface="微软雅黑" panose="020B0503020204020204" charset="-122"/>
                <a:ea typeface="微软雅黑" panose="020B0503020204020204" charset="-122"/>
              </a:rPr>
              <a:t>）</a:t>
            </a:r>
            <a:r>
              <a:rPr kumimoji="1" lang="zh-CN" altLang="en-US" sz="2400" dirty="0">
                <a:latin typeface="微软雅黑" panose="020B0503020204020204" charset="-122"/>
                <a:ea typeface="微软雅黑" panose="020B0503020204020204" charset="-122"/>
              </a:rPr>
              <a:t>：</a:t>
            </a:r>
            <a:r>
              <a:rPr lang="zh-CN" altLang="en-US" sz="2400" b="1" dirty="0">
                <a:solidFill>
                  <a:srgbClr val="CC0099"/>
                </a:solidFill>
                <a:latin typeface="微软雅黑" panose="020B0503020204020204" charset="-122"/>
                <a:ea typeface="微软雅黑" panose="020B0503020204020204" charset="-122"/>
              </a:rPr>
              <a:t>把多个相关（related）的任务放在一起同时学习。</a:t>
            </a:r>
            <a:endParaRPr kumimoji="1" lang="zh-CN" altLang="en-US" sz="2400" dirty="0">
              <a:latin typeface="微软雅黑" panose="020B0503020204020204" charset="-122"/>
              <a:ea typeface="微软雅黑" panose="020B0503020204020204" charset="-122"/>
            </a:endParaRPr>
          </a:p>
        </p:txBody>
      </p:sp>
      <p:sp>
        <p:nvSpPr>
          <p:cNvPr id="8" name="文本框 7"/>
          <p:cNvSpPr txBox="1"/>
          <p:nvPr/>
        </p:nvSpPr>
        <p:spPr>
          <a:xfrm>
            <a:off x="1953592" y="3595284"/>
            <a:ext cx="5436394" cy="3046988"/>
          </a:xfrm>
          <a:prstGeom prst="rect">
            <a:avLst/>
          </a:prstGeom>
          <a:noFill/>
        </p:spPr>
        <p:txBody>
          <a:bodyPr wrap="square" rtlCol="0" anchor="t">
            <a:spAutoFit/>
          </a:bodyPr>
          <a:lstStyle/>
          <a:p>
            <a:pPr fontAlgn="auto">
              <a:lnSpc>
                <a:spcPct val="120000"/>
              </a:lnSpc>
            </a:pPr>
            <a:r>
              <a:rPr kumimoji="1" lang="zh-CN" altLang="en-US" sz="2000" dirty="0">
                <a:latin typeface="微软雅黑" panose="020B0503020204020204" charset="-122"/>
                <a:ea typeface="微软雅黑" panose="020B0503020204020204" charset="-122"/>
                <a:sym typeface="+mn-ea"/>
              </a:rPr>
              <a:t>单任务学习时，各个任务之间的模型空间是相互独立的，但现实世界中很多问题不能分解为一个一个独立的子问题，且这样忽略了问题之间所包含的丰富的关联信息。多任务学习就是为了解决这个问题而诞生的。多个任务之间共享一些因素，它们可以在学习过程中，共享它们所学到的信息，相关联的</a:t>
            </a:r>
            <a:r>
              <a:rPr kumimoji="1" lang="zh-CN" altLang="en-US" sz="2000" b="1" dirty="0">
                <a:latin typeface="微软雅黑" panose="020B0503020204020204" charset="-122"/>
                <a:ea typeface="微软雅黑" panose="020B0503020204020204" charset="-122"/>
                <a:sym typeface="+mn-ea"/>
              </a:rPr>
              <a:t>多任务学习比单任务学习具备更好的泛化效果</a:t>
            </a:r>
            <a:r>
              <a:rPr kumimoji="1" lang="zh-CN" altLang="en-US" sz="2000" dirty="0">
                <a:latin typeface="微软雅黑" panose="020B0503020204020204" charset="-122"/>
                <a:ea typeface="微软雅黑" panose="020B0503020204020204" charset="-122"/>
                <a:sym typeface="+mn-ea"/>
              </a:rPr>
              <a:t>。</a:t>
            </a:r>
          </a:p>
        </p:txBody>
      </p:sp>
      <p:sp>
        <p:nvSpPr>
          <p:cNvPr id="9" name="标题 1"/>
          <p:cNvSpPr txBox="1">
            <a:spLocks/>
          </p:cNvSpPr>
          <p:nvPr/>
        </p:nvSpPr>
        <p:spPr>
          <a:xfrm>
            <a:off x="1524000" y="348826"/>
            <a:ext cx="9144000" cy="50174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latin typeface="微软雅黑" panose="020B0503020204020204" pitchFamily="34" charset="-122"/>
                <a:ea typeface="微软雅黑" panose="020B0503020204020204" pitchFamily="34" charset="-122"/>
              </a:rPr>
              <a:t>机器学习方法（</a:t>
            </a:r>
            <a:r>
              <a:rPr lang="en-US" altLang="zh-CN" sz="3600" b="1" dirty="0">
                <a:latin typeface="微软雅黑" panose="020B0503020204020204" pitchFamily="34" charset="-122"/>
                <a:ea typeface="微软雅黑" panose="020B0503020204020204" pitchFamily="34" charset="-122"/>
              </a:rPr>
              <a:t>4</a:t>
            </a:r>
            <a:r>
              <a:rPr lang="zh-CN" altLang="en-US" sz="3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83370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089400" y="1817688"/>
            <a:ext cx="8102600" cy="3879850"/>
          </a:xfrm>
        </p:spPr>
        <p:txBody>
          <a:bodyPr>
            <a:noAutofit/>
          </a:bodyPr>
          <a:lstStyle/>
          <a:p>
            <a:pPr>
              <a:lnSpc>
                <a:spcPct val="100000"/>
              </a:lnSpc>
            </a:pPr>
            <a:r>
              <a:rPr lang="zh-CN" altLang="en-US" sz="2400" dirty="0">
                <a:latin typeface="微软雅黑" panose="020B0503020204020204" pitchFamily="34" charset="-122"/>
                <a:ea typeface="微软雅黑" panose="020B0503020204020204" pitchFamily="34" charset="-122"/>
              </a:rPr>
              <a:t>主动学习（</a:t>
            </a:r>
            <a:r>
              <a:rPr lang="en-US" altLang="zh-CN" sz="2400" dirty="0">
                <a:latin typeface="微软雅黑" panose="020B0503020204020204" pitchFamily="34" charset="-122"/>
                <a:ea typeface="微软雅黑" panose="020B0503020204020204" pitchFamily="34" charset="-122"/>
              </a:rPr>
              <a:t>Active</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Learning</a:t>
            </a:r>
            <a:r>
              <a:rPr lang="zh-CN" altLang="en-US" sz="2400" dirty="0">
                <a:latin typeface="微软雅黑" panose="020B0503020204020204" pitchFamily="34" charset="-122"/>
                <a:ea typeface="微软雅黑" panose="020B0503020204020204" pitchFamily="34" charset="-122"/>
              </a:rPr>
              <a:t>）</a:t>
            </a:r>
          </a:p>
          <a:p>
            <a:pPr>
              <a:lnSpc>
                <a:spcPct val="100000"/>
              </a:lnSpc>
            </a:pPr>
            <a:r>
              <a:rPr lang="zh-CN" altLang="en-US" sz="2400" dirty="0">
                <a:latin typeface="微软雅黑" panose="020B0503020204020204" pitchFamily="34" charset="-122"/>
                <a:ea typeface="微软雅黑" panose="020B0503020204020204" pitchFamily="34" charset="-122"/>
              </a:rPr>
              <a:t>集成学习（</a:t>
            </a:r>
            <a:r>
              <a:rPr lang="en-US" altLang="zh-CN" sz="2400" dirty="0">
                <a:latin typeface="微软雅黑" panose="020B0503020204020204" pitchFamily="34" charset="-122"/>
                <a:ea typeface="微软雅黑" panose="020B0503020204020204" pitchFamily="34" charset="-122"/>
              </a:rPr>
              <a:t>Ensemble</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Learning</a:t>
            </a:r>
            <a:r>
              <a:rPr lang="zh-CN" altLang="en-US" sz="2400" dirty="0">
                <a:latin typeface="微软雅黑" panose="020B0503020204020204" pitchFamily="34" charset="-122"/>
                <a:ea typeface="微软雅黑" panose="020B0503020204020204" pitchFamily="34" charset="-122"/>
              </a:rPr>
              <a:t>）</a:t>
            </a:r>
          </a:p>
          <a:p>
            <a:pPr>
              <a:lnSpc>
                <a:spcPct val="100000"/>
              </a:lnSpc>
            </a:pPr>
            <a:r>
              <a:rPr lang="zh-CN" altLang="en-US" sz="2400" dirty="0">
                <a:latin typeface="微软雅黑" panose="020B0503020204020204" pitchFamily="34" charset="-122"/>
                <a:ea typeface="微软雅黑" panose="020B0503020204020204" pitchFamily="34" charset="-122"/>
              </a:rPr>
              <a:t>迁移学习（</a:t>
            </a:r>
            <a:r>
              <a:rPr lang="en-US" altLang="zh-CN" sz="2400" dirty="0">
                <a:latin typeface="微软雅黑" panose="020B0503020204020204" pitchFamily="34" charset="-122"/>
                <a:ea typeface="微软雅黑" panose="020B0503020204020204" pitchFamily="34" charset="-122"/>
              </a:rPr>
              <a:t>Transfer</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Learning</a:t>
            </a:r>
            <a:r>
              <a:rPr lang="zh-CN" altLang="en-US" sz="2400" dirty="0">
                <a:latin typeface="微软雅黑" panose="020B0503020204020204" pitchFamily="34" charset="-122"/>
                <a:ea typeface="微软雅黑" panose="020B0503020204020204" pitchFamily="34" charset="-122"/>
              </a:rPr>
              <a:t>）</a:t>
            </a:r>
          </a:p>
          <a:p>
            <a:pPr>
              <a:lnSpc>
                <a:spcPct val="100000"/>
              </a:lnSpc>
            </a:pPr>
            <a:r>
              <a:rPr lang="zh-CN" altLang="en-US" sz="2400" dirty="0">
                <a:latin typeface="微软雅黑" panose="020B0503020204020204" pitchFamily="34" charset="-122"/>
                <a:ea typeface="微软雅黑" panose="020B0503020204020204" pitchFamily="34" charset="-122"/>
              </a:rPr>
              <a:t>多任务学习（</a:t>
            </a:r>
            <a:r>
              <a:rPr lang="en-US" altLang="zh-CN" sz="2400" dirty="0">
                <a:latin typeface="微软雅黑" panose="020B0503020204020204" pitchFamily="34" charset="-122"/>
                <a:ea typeface="微软雅黑" panose="020B0503020204020204" pitchFamily="34" charset="-122"/>
              </a:rPr>
              <a:t>Multi-task</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Learning</a:t>
            </a:r>
            <a:r>
              <a:rPr lang="zh-CN" altLang="en-US" sz="2400" dirty="0">
                <a:latin typeface="微软雅黑" panose="020B0503020204020204" pitchFamily="34" charset="-122"/>
                <a:ea typeface="微软雅黑" panose="020B0503020204020204" pitchFamily="34" charset="-122"/>
              </a:rPr>
              <a:t>）</a:t>
            </a:r>
          </a:p>
          <a:p>
            <a:pPr>
              <a:lnSpc>
                <a:spcPct val="100000"/>
              </a:lnSpc>
            </a:pPr>
            <a:r>
              <a:rPr lang="zh-CN" altLang="en-US" sz="2400" dirty="0">
                <a:latin typeface="微软雅黑" panose="020B0503020204020204" pitchFamily="34" charset="-122"/>
                <a:ea typeface="微软雅黑" panose="020B0503020204020204" pitchFamily="34" charset="-122"/>
              </a:rPr>
              <a:t>强化学习（</a:t>
            </a:r>
            <a:r>
              <a:rPr lang="en-US" altLang="zh-CN" sz="2400" dirty="0">
                <a:latin typeface="微软雅黑" panose="020B0503020204020204" pitchFamily="34" charset="-122"/>
                <a:ea typeface="微软雅黑" panose="020B0503020204020204" pitchFamily="34" charset="-122"/>
              </a:rPr>
              <a:t>Reinforcement</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Learning</a:t>
            </a:r>
            <a:r>
              <a:rPr lang="zh-CN" altLang="en-US" sz="2400" dirty="0">
                <a:latin typeface="微软雅黑" panose="020B0503020204020204" pitchFamily="34" charset="-122"/>
                <a:ea typeface="微软雅黑" panose="020B0503020204020204" pitchFamily="34" charset="-122"/>
              </a:rPr>
              <a:t>）</a:t>
            </a:r>
          </a:p>
          <a:p>
            <a:pPr>
              <a:lnSpc>
                <a:spcPct val="100000"/>
              </a:lnSpc>
            </a:pPr>
            <a:r>
              <a:rPr lang="zh-CN" altLang="en-US" sz="2400" dirty="0">
                <a:latin typeface="微软雅黑" panose="020B0503020204020204" pitchFamily="34" charset="-122"/>
                <a:ea typeface="微软雅黑" panose="020B0503020204020204" pitchFamily="34" charset="-122"/>
              </a:rPr>
              <a:t>终生学习（</a:t>
            </a:r>
            <a:r>
              <a:rPr lang="en-US" altLang="zh-CN" sz="2400" dirty="0">
                <a:latin typeface="微软雅黑" panose="020B0503020204020204" pitchFamily="34" charset="-122"/>
                <a:ea typeface="微软雅黑" panose="020B0503020204020204" pitchFamily="34" charset="-122"/>
              </a:rPr>
              <a:t>Life-long</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Learning</a:t>
            </a:r>
            <a:r>
              <a:rPr lang="zh-CN" altLang="en-US" sz="2400" dirty="0">
                <a:latin typeface="微软雅黑" panose="020B0503020204020204" pitchFamily="34" charset="-122"/>
                <a:ea typeface="微软雅黑" panose="020B0503020204020204" pitchFamily="34" charset="-122"/>
              </a:rPr>
              <a:t>）</a:t>
            </a:r>
          </a:p>
          <a:p>
            <a:pPr>
              <a:lnSpc>
                <a:spcPct val="100000"/>
              </a:lnSpc>
            </a:pPr>
            <a:r>
              <a:rPr lang="zh-CN" altLang="en-US" sz="2400" dirty="0">
                <a:latin typeface="微软雅黑" panose="020B0503020204020204" pitchFamily="34" charset="-122"/>
                <a:ea typeface="微软雅黑" panose="020B0503020204020204" pitchFamily="34" charset="-122"/>
              </a:rPr>
              <a:t>课程学习（</a:t>
            </a:r>
            <a:r>
              <a:rPr lang="en-US" altLang="zh-CN" sz="2400" dirty="0">
                <a:latin typeface="微软雅黑" panose="020B0503020204020204" pitchFamily="34" charset="-122"/>
                <a:ea typeface="微软雅黑" panose="020B0503020204020204" pitchFamily="34" charset="-122"/>
              </a:rPr>
              <a:t>Curriculum</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Learning</a:t>
            </a:r>
            <a:r>
              <a:rPr lang="zh-CN" altLang="en-US" sz="2400" dirty="0">
                <a:latin typeface="微软雅黑" panose="020B0503020204020204" pitchFamily="34" charset="-122"/>
                <a:ea typeface="微软雅黑" panose="020B0503020204020204" pitchFamily="34" charset="-122"/>
              </a:rPr>
              <a:t>）</a:t>
            </a:r>
          </a:p>
          <a:p>
            <a:pPr>
              <a:lnSpc>
                <a:spcPct val="100000"/>
              </a:lnSpc>
            </a:pPr>
            <a:r>
              <a:rPr lang="zh-CN" altLang="en-US" sz="2400" dirty="0">
                <a:latin typeface="微软雅黑" panose="020B0503020204020204" pitchFamily="34" charset="-122"/>
                <a:ea typeface="微软雅黑" panose="020B0503020204020204" pitchFamily="34" charset="-122"/>
              </a:rPr>
              <a:t>零样本学习 </a:t>
            </a:r>
            <a:r>
              <a:rPr lang="en-US" altLang="zh-CN" sz="2400" dirty="0">
                <a:latin typeface="微软雅黑" panose="020B0503020204020204" pitchFamily="34" charset="-122"/>
                <a:ea typeface="微软雅黑" panose="020B0503020204020204" pitchFamily="34" charset="-122"/>
              </a:rPr>
              <a:t>(One/zero</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shot</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Learning)</a:t>
            </a:r>
            <a:endParaRPr lang="zh-CN" altLang="en-US" sz="2400" dirty="0">
              <a:latin typeface="微软雅黑" panose="020B0503020204020204" pitchFamily="34" charset="-122"/>
              <a:ea typeface="微软雅黑" panose="020B0503020204020204" pitchFamily="34" charset="-122"/>
            </a:endParaRPr>
          </a:p>
          <a:p>
            <a:pPr>
              <a:lnSpc>
                <a:spcPct val="100000"/>
              </a:lnSpc>
            </a:pP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4" name="标题 1"/>
          <p:cNvSpPr txBox="1">
            <a:spLocks/>
          </p:cNvSpPr>
          <p:nvPr/>
        </p:nvSpPr>
        <p:spPr>
          <a:xfrm>
            <a:off x="1524001" y="476672"/>
            <a:ext cx="9081655" cy="4596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机器学习方法（</a:t>
            </a:r>
            <a:r>
              <a:rPr lang="en-US" altLang="zh-CN" sz="3200" b="1" dirty="0">
                <a:latin typeface="微软雅黑" panose="020B0503020204020204" pitchFamily="34" charset="-122"/>
                <a:ea typeface="微软雅黑" panose="020B0503020204020204" pitchFamily="34" charset="-122"/>
              </a:rPr>
              <a:t>5</a:t>
            </a:r>
            <a:r>
              <a:rPr lang="zh-CN" altLang="en-US" sz="32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82275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304800"/>
            <a:ext cx="9144000" cy="525463"/>
          </a:xfrm>
        </p:spPr>
        <p:txBody>
          <a:bodyPr>
            <a:noAutofit/>
          </a:bodyPr>
          <a:lstStyle/>
          <a:p>
            <a:pPr algn="ctr"/>
            <a:r>
              <a:rPr lang="zh-CN" altLang="en-US" sz="3200" b="1" dirty="0">
                <a:latin typeface="微软雅黑" panose="020B0503020204020204" pitchFamily="34" charset="-122"/>
                <a:ea typeface="微软雅黑" panose="020B0503020204020204" pitchFamily="34" charset="-122"/>
              </a:rPr>
              <a:t>机器如何学习</a:t>
            </a:r>
          </a:p>
        </p:txBody>
      </p:sp>
      <p:sp>
        <p:nvSpPr>
          <p:cNvPr id="13" name="圆角矩形 12"/>
          <p:cNvSpPr/>
          <p:nvPr/>
        </p:nvSpPr>
        <p:spPr>
          <a:xfrm>
            <a:off x="2639616" y="2017872"/>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400" dirty="0">
                <a:solidFill>
                  <a:schemeClr val="tx1"/>
                </a:solidFill>
                <a:latin typeface="微软雅黑" panose="020B0503020204020204" charset="-122"/>
                <a:ea typeface="微软雅黑" panose="020B0503020204020204" charset="-122"/>
                <a:sym typeface="+mn-ea"/>
              </a:rPr>
              <a:t>数据预处理</a:t>
            </a:r>
          </a:p>
        </p:txBody>
      </p:sp>
      <p:sp>
        <p:nvSpPr>
          <p:cNvPr id="14" name="圆角矩形 13"/>
          <p:cNvSpPr/>
          <p:nvPr/>
        </p:nvSpPr>
        <p:spPr>
          <a:xfrm>
            <a:off x="2639616" y="2952751"/>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特征工程</a:t>
            </a:r>
          </a:p>
        </p:txBody>
      </p:sp>
      <p:sp>
        <p:nvSpPr>
          <p:cNvPr id="15" name="圆角矩形 14"/>
          <p:cNvSpPr/>
          <p:nvPr/>
        </p:nvSpPr>
        <p:spPr>
          <a:xfrm>
            <a:off x="2639616" y="4797267"/>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结果评估</a:t>
            </a:r>
          </a:p>
        </p:txBody>
      </p:sp>
      <p:sp>
        <p:nvSpPr>
          <p:cNvPr id="18" name="圆角矩形 17"/>
          <p:cNvSpPr/>
          <p:nvPr/>
        </p:nvSpPr>
        <p:spPr>
          <a:xfrm>
            <a:off x="2639616" y="3884296"/>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数据建模</a:t>
            </a:r>
          </a:p>
        </p:txBody>
      </p:sp>
      <p:sp>
        <p:nvSpPr>
          <p:cNvPr id="19" name="下箭头 18"/>
          <p:cNvSpPr/>
          <p:nvPr/>
        </p:nvSpPr>
        <p:spPr>
          <a:xfrm>
            <a:off x="3875009" y="2646999"/>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0" name="下箭头 19"/>
          <p:cNvSpPr/>
          <p:nvPr/>
        </p:nvSpPr>
        <p:spPr>
          <a:xfrm>
            <a:off x="3876914" y="3561399"/>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1" name="下箭头 20"/>
          <p:cNvSpPr/>
          <p:nvPr/>
        </p:nvSpPr>
        <p:spPr>
          <a:xfrm>
            <a:off x="3876914" y="4481514"/>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2" name="文本框 21"/>
          <p:cNvSpPr txBox="1"/>
          <p:nvPr/>
        </p:nvSpPr>
        <p:spPr>
          <a:xfrm>
            <a:off x="5662375" y="2168367"/>
            <a:ext cx="4493538" cy="461665"/>
          </a:xfrm>
          <a:prstGeom prst="rect">
            <a:avLst/>
          </a:prstGeom>
          <a:noFill/>
        </p:spPr>
        <p:txBody>
          <a:bodyPr wrap="none" rtlCol="0" anchor="t">
            <a:spAutoFit/>
          </a:bodyPr>
          <a:lstStyle/>
          <a:p>
            <a:r>
              <a:rPr lang="zh-CN" altLang="en-US" sz="2400" dirty="0">
                <a:latin typeface="微软雅黑" panose="020B0503020204020204" charset="-122"/>
                <a:ea typeface="微软雅黑" panose="020B0503020204020204" charset="-122"/>
                <a:sym typeface="+mn-ea"/>
              </a:rPr>
              <a:t>数据清洗、数据采样、数据拆分</a:t>
            </a:r>
          </a:p>
        </p:txBody>
      </p:sp>
      <p:sp>
        <p:nvSpPr>
          <p:cNvPr id="23" name="文本框 22"/>
          <p:cNvSpPr txBox="1"/>
          <p:nvPr/>
        </p:nvSpPr>
        <p:spPr>
          <a:xfrm>
            <a:off x="5663803" y="3103246"/>
            <a:ext cx="449353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特征编码、特征选择、特征降维</a:t>
            </a:r>
          </a:p>
        </p:txBody>
      </p:sp>
      <p:sp>
        <p:nvSpPr>
          <p:cNvPr id="24" name="文本框 23"/>
          <p:cNvSpPr txBox="1"/>
          <p:nvPr/>
        </p:nvSpPr>
        <p:spPr>
          <a:xfrm>
            <a:off x="5663803" y="4034315"/>
            <a:ext cx="449353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回归问题、分类问题、聚类问题</a:t>
            </a:r>
          </a:p>
        </p:txBody>
      </p:sp>
      <p:sp>
        <p:nvSpPr>
          <p:cNvPr id="25" name="文本框 24"/>
          <p:cNvSpPr txBox="1"/>
          <p:nvPr/>
        </p:nvSpPr>
        <p:spPr>
          <a:xfrm>
            <a:off x="5663803" y="4947762"/>
            <a:ext cx="461055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查准率、查全率、</a:t>
            </a:r>
            <a:r>
              <a:rPr lang="en-US" altLang="zh-CN" sz="2400" dirty="0">
                <a:latin typeface="微软雅黑" panose="020B0503020204020204" charset="-122"/>
                <a:ea typeface="微软雅黑" panose="020B0503020204020204" charset="-122"/>
                <a:sym typeface="+mn-ea"/>
              </a:rPr>
              <a:t>F1</a:t>
            </a:r>
            <a:r>
              <a:rPr lang="zh-CN" altLang="en-US" sz="2400" dirty="0">
                <a:latin typeface="微软雅黑" panose="020B0503020204020204" charset="-122"/>
                <a:ea typeface="微软雅黑" panose="020B0503020204020204" charset="-122"/>
                <a:sym typeface="+mn-ea"/>
              </a:rPr>
              <a:t>值、</a:t>
            </a:r>
            <a:r>
              <a:rPr lang="en-US" altLang="zh-CN" sz="2400" dirty="0">
                <a:latin typeface="微软雅黑" panose="020B0503020204020204" charset="-122"/>
                <a:ea typeface="微软雅黑" panose="020B0503020204020204" charset="-122"/>
                <a:sym typeface="+mn-ea"/>
              </a:rPr>
              <a:t>PR</a:t>
            </a:r>
            <a:r>
              <a:rPr lang="zh-CN" altLang="en-US" sz="2400" dirty="0">
                <a:latin typeface="微软雅黑" panose="020B0503020204020204" charset="-122"/>
                <a:ea typeface="微软雅黑" panose="020B0503020204020204" charset="-122"/>
                <a:sym typeface="+mn-ea"/>
              </a:rPr>
              <a:t>曲线</a:t>
            </a:r>
          </a:p>
        </p:txBody>
      </p:sp>
    </p:spTree>
    <p:extLst>
      <p:ext uri="{BB962C8B-B14F-4D97-AF65-F5344CB8AC3E}">
        <p14:creationId xmlns:p14="http://schemas.microsoft.com/office/powerpoint/2010/main" val="398450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P spid="15" grpId="0" bldLvl="0" animBg="1"/>
      <p:bldP spid="18" grpId="0" bldLvl="0" animBg="1"/>
      <p:bldP spid="19" grpId="0" bldLvl="0" animBg="1"/>
      <p:bldP spid="20" grpId="0" bldLvl="0" animBg="1"/>
      <p:bldP spid="21" grpId="0" bldLvl="0" animBg="1"/>
      <p:bldP spid="22" grpId="0"/>
      <p:bldP spid="23" grpId="0"/>
      <p:bldP spid="24"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圆角矩形 12"/>
          <p:cNvSpPr/>
          <p:nvPr/>
        </p:nvSpPr>
        <p:spPr>
          <a:xfrm>
            <a:off x="2946083" y="2017872"/>
            <a:ext cx="2769870" cy="577215"/>
          </a:xfrm>
          <a:prstGeom prst="roundRect">
            <a:avLst/>
          </a:prstGeom>
          <a:solidFill>
            <a:schemeClr val="accent2">
              <a:lumMod val="40000"/>
              <a:lumOff val="6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400" dirty="0">
                <a:solidFill>
                  <a:schemeClr val="tx1"/>
                </a:solidFill>
                <a:latin typeface="微软雅黑" panose="020B0503020204020204" charset="-122"/>
                <a:ea typeface="微软雅黑" panose="020B0503020204020204" charset="-122"/>
                <a:sym typeface="+mn-ea"/>
              </a:rPr>
              <a:t>数据预处理</a:t>
            </a:r>
          </a:p>
        </p:txBody>
      </p:sp>
      <p:sp>
        <p:nvSpPr>
          <p:cNvPr id="14" name="圆角矩形 13"/>
          <p:cNvSpPr/>
          <p:nvPr/>
        </p:nvSpPr>
        <p:spPr>
          <a:xfrm>
            <a:off x="2946083" y="2952751"/>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特征工程</a:t>
            </a:r>
          </a:p>
        </p:txBody>
      </p:sp>
      <p:sp>
        <p:nvSpPr>
          <p:cNvPr id="15" name="圆角矩形 14"/>
          <p:cNvSpPr/>
          <p:nvPr/>
        </p:nvSpPr>
        <p:spPr>
          <a:xfrm>
            <a:off x="2946083" y="4797267"/>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结果评估</a:t>
            </a:r>
          </a:p>
        </p:txBody>
      </p:sp>
      <p:sp>
        <p:nvSpPr>
          <p:cNvPr id="18" name="圆角矩形 17"/>
          <p:cNvSpPr/>
          <p:nvPr/>
        </p:nvSpPr>
        <p:spPr>
          <a:xfrm>
            <a:off x="2946083" y="3884296"/>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数据建模</a:t>
            </a:r>
          </a:p>
        </p:txBody>
      </p:sp>
      <p:sp>
        <p:nvSpPr>
          <p:cNvPr id="19" name="下箭头 18"/>
          <p:cNvSpPr/>
          <p:nvPr/>
        </p:nvSpPr>
        <p:spPr>
          <a:xfrm>
            <a:off x="4181476" y="2646999"/>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0" name="下箭头 19"/>
          <p:cNvSpPr/>
          <p:nvPr/>
        </p:nvSpPr>
        <p:spPr>
          <a:xfrm>
            <a:off x="4183381" y="3561399"/>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1" name="下箭头 20"/>
          <p:cNvSpPr/>
          <p:nvPr/>
        </p:nvSpPr>
        <p:spPr>
          <a:xfrm>
            <a:off x="4183381" y="4481514"/>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2" name="文本框 21"/>
          <p:cNvSpPr txBox="1"/>
          <p:nvPr/>
        </p:nvSpPr>
        <p:spPr>
          <a:xfrm>
            <a:off x="5968842" y="2168367"/>
            <a:ext cx="4493538" cy="461665"/>
          </a:xfrm>
          <a:prstGeom prst="rect">
            <a:avLst/>
          </a:prstGeom>
          <a:noFill/>
        </p:spPr>
        <p:txBody>
          <a:bodyPr wrap="none" rtlCol="0" anchor="t">
            <a:spAutoFit/>
          </a:bodyPr>
          <a:lstStyle/>
          <a:p>
            <a:r>
              <a:rPr lang="zh-CN" altLang="en-US" sz="2400" dirty="0">
                <a:latin typeface="微软雅黑" panose="020B0503020204020204" charset="-122"/>
                <a:ea typeface="微软雅黑" panose="020B0503020204020204" charset="-122"/>
                <a:sym typeface="+mn-ea"/>
              </a:rPr>
              <a:t>数据清洗、数据采样、数据拆分</a:t>
            </a:r>
          </a:p>
        </p:txBody>
      </p:sp>
      <p:sp>
        <p:nvSpPr>
          <p:cNvPr id="23" name="文本框 22"/>
          <p:cNvSpPr txBox="1"/>
          <p:nvPr/>
        </p:nvSpPr>
        <p:spPr>
          <a:xfrm>
            <a:off x="5970270" y="3103246"/>
            <a:ext cx="449353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特征编码、特征选择、特征降维</a:t>
            </a:r>
          </a:p>
        </p:txBody>
      </p:sp>
      <p:sp>
        <p:nvSpPr>
          <p:cNvPr id="24" name="文本框 23"/>
          <p:cNvSpPr txBox="1"/>
          <p:nvPr/>
        </p:nvSpPr>
        <p:spPr>
          <a:xfrm>
            <a:off x="5970270" y="4034315"/>
            <a:ext cx="449353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回归问题、分类问题、聚类问题</a:t>
            </a:r>
          </a:p>
        </p:txBody>
      </p:sp>
      <p:sp>
        <p:nvSpPr>
          <p:cNvPr id="25" name="文本框 24"/>
          <p:cNvSpPr txBox="1"/>
          <p:nvPr/>
        </p:nvSpPr>
        <p:spPr>
          <a:xfrm>
            <a:off x="5970270" y="4947762"/>
            <a:ext cx="461055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查准率、查全率、</a:t>
            </a:r>
            <a:r>
              <a:rPr lang="en-US" altLang="zh-CN" sz="2400" dirty="0">
                <a:latin typeface="微软雅黑" panose="020B0503020204020204" charset="-122"/>
                <a:ea typeface="微软雅黑" panose="020B0503020204020204" charset="-122"/>
                <a:sym typeface="+mn-ea"/>
              </a:rPr>
              <a:t>F1</a:t>
            </a:r>
            <a:r>
              <a:rPr lang="zh-CN" altLang="en-US" sz="2400" dirty="0">
                <a:latin typeface="微软雅黑" panose="020B0503020204020204" charset="-122"/>
                <a:ea typeface="微软雅黑" panose="020B0503020204020204" charset="-122"/>
                <a:sym typeface="+mn-ea"/>
              </a:rPr>
              <a:t>值、</a:t>
            </a:r>
            <a:r>
              <a:rPr lang="en-US" altLang="zh-CN" sz="2400" dirty="0">
                <a:latin typeface="微软雅黑" panose="020B0503020204020204" charset="-122"/>
                <a:ea typeface="微软雅黑" panose="020B0503020204020204" charset="-122"/>
                <a:sym typeface="+mn-ea"/>
              </a:rPr>
              <a:t>PR</a:t>
            </a:r>
            <a:r>
              <a:rPr lang="zh-CN" altLang="en-US" sz="2400" dirty="0">
                <a:latin typeface="微软雅黑" panose="020B0503020204020204" charset="-122"/>
                <a:ea typeface="微软雅黑" panose="020B0503020204020204" charset="-122"/>
                <a:sym typeface="+mn-ea"/>
              </a:rPr>
              <a:t>曲线</a:t>
            </a:r>
          </a:p>
        </p:txBody>
      </p:sp>
      <p:sp>
        <p:nvSpPr>
          <p:cNvPr id="16"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a:t>
            </a:r>
          </a:p>
        </p:txBody>
      </p:sp>
    </p:spTree>
    <p:extLst>
      <p:ext uri="{BB962C8B-B14F-4D97-AF65-F5344CB8AC3E}">
        <p14:creationId xmlns:p14="http://schemas.microsoft.com/office/powerpoint/2010/main" val="3307979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1052513"/>
            <a:ext cx="5089525" cy="538162"/>
          </a:xfrm>
        </p:spPr>
        <p:txBody>
          <a:bodyPr>
            <a:normAutofit/>
          </a:bodyPr>
          <a:lstStyle/>
          <a:p>
            <a:r>
              <a:rPr lang="en-US" altLang="zh-CN" sz="2700" b="1" dirty="0">
                <a:latin typeface="微软雅黑" panose="020B0503020204020204" pitchFamily="34" charset="-122"/>
                <a:ea typeface="微软雅黑" panose="020B0503020204020204" pitchFamily="34" charset="-122"/>
              </a:rPr>
              <a:t>1. </a:t>
            </a:r>
            <a:r>
              <a:rPr lang="zh-CN" altLang="en-US" sz="2700" b="1" dirty="0">
                <a:latin typeface="微软雅黑" panose="020B0503020204020204" pitchFamily="34" charset="-122"/>
                <a:ea typeface="微软雅黑" panose="020B0503020204020204" pitchFamily="34" charset="-122"/>
              </a:rPr>
              <a:t>数据清洗</a:t>
            </a:r>
          </a:p>
        </p:txBody>
      </p:sp>
      <p:pic>
        <p:nvPicPr>
          <p:cNvPr id="4" name="图片 3" descr="webwxgetmsgimg[5]"/>
          <p:cNvPicPr>
            <a:picLocks noChangeAspect="1"/>
          </p:cNvPicPr>
          <p:nvPr/>
        </p:nvPicPr>
        <p:blipFill rotWithShape="1">
          <a:blip r:embed="rId2"/>
          <a:srcRect b="6530"/>
          <a:stretch/>
        </p:blipFill>
        <p:spPr>
          <a:xfrm>
            <a:off x="1770419" y="1680425"/>
            <a:ext cx="5326380" cy="3843419"/>
          </a:xfrm>
          <a:prstGeom prst="rect">
            <a:avLst/>
          </a:prstGeom>
        </p:spPr>
      </p:pic>
      <p:sp>
        <p:nvSpPr>
          <p:cNvPr id="5" name="文本框 4"/>
          <p:cNvSpPr txBox="1"/>
          <p:nvPr/>
        </p:nvSpPr>
        <p:spPr>
          <a:xfrm>
            <a:off x="7453789" y="2104073"/>
            <a:ext cx="2772728" cy="2862322"/>
          </a:xfrm>
          <a:prstGeom prst="rect">
            <a:avLst/>
          </a:prstGeom>
          <a:noFill/>
        </p:spPr>
        <p:txBody>
          <a:bodyPr wrap="square" rtlCol="0">
            <a:spAutoFit/>
          </a:bodyPr>
          <a:lstStyle/>
          <a:p>
            <a:pPr marL="214313" indent="-214313">
              <a:lnSpc>
                <a:spcPct val="150000"/>
              </a:lnSpc>
              <a:buFont typeface="Arial" panose="020B0604020202020204" pitchFamily="34" charset="0"/>
              <a:buChar char="•"/>
            </a:pPr>
            <a:r>
              <a:rPr lang="zh-CN" altLang="en-US" sz="2400" b="1" dirty="0">
                <a:latin typeface="Microsoft YaHei" charset="-122"/>
                <a:ea typeface="Microsoft YaHei" charset="-122"/>
                <a:cs typeface="Microsoft YaHei" charset="-122"/>
              </a:rPr>
              <a:t>数据去重</a:t>
            </a:r>
          </a:p>
          <a:p>
            <a:pPr marL="214313" indent="-214313">
              <a:lnSpc>
                <a:spcPct val="150000"/>
              </a:lnSpc>
              <a:buFont typeface="Arial" panose="020B0604020202020204" pitchFamily="34" charset="0"/>
              <a:buChar char="•"/>
            </a:pPr>
            <a:r>
              <a:rPr lang="zh-CN" altLang="en-US" sz="2400" b="1" dirty="0">
                <a:latin typeface="Microsoft YaHei" charset="-122"/>
                <a:ea typeface="Microsoft YaHei" charset="-122"/>
                <a:cs typeface="Microsoft YaHei" charset="-122"/>
              </a:rPr>
              <a:t>数据去广告</a:t>
            </a:r>
          </a:p>
          <a:p>
            <a:pPr marL="214313" indent="-214313">
              <a:lnSpc>
                <a:spcPct val="150000"/>
              </a:lnSpc>
              <a:buFont typeface="Arial" panose="020B0604020202020204" pitchFamily="34" charset="0"/>
              <a:buChar char="•"/>
            </a:pPr>
            <a:r>
              <a:rPr lang="zh-CN" altLang="en-US" sz="2400" b="1" dirty="0">
                <a:latin typeface="Microsoft YaHei" charset="-122"/>
                <a:ea typeface="Microsoft YaHei" charset="-122"/>
                <a:cs typeface="Microsoft YaHei" charset="-122"/>
              </a:rPr>
              <a:t>数据统一编码</a:t>
            </a:r>
          </a:p>
          <a:p>
            <a:pPr marL="214313" indent="-214313">
              <a:lnSpc>
                <a:spcPct val="150000"/>
              </a:lnSpc>
              <a:buFont typeface="Arial" panose="020B0604020202020204" pitchFamily="34" charset="0"/>
              <a:buChar char="•"/>
            </a:pPr>
            <a:r>
              <a:rPr lang="zh-CN" altLang="en-US" sz="2400" b="1" dirty="0">
                <a:latin typeface="Microsoft YaHei" charset="-122"/>
                <a:ea typeface="Microsoft YaHei" charset="-122"/>
                <a:cs typeface="Microsoft YaHei" charset="-122"/>
              </a:rPr>
              <a:t>数据统一格式</a:t>
            </a:r>
          </a:p>
          <a:p>
            <a:pPr marL="214313" indent="-214313">
              <a:lnSpc>
                <a:spcPct val="150000"/>
              </a:lnSpc>
              <a:buFont typeface="Arial" panose="020B0604020202020204" pitchFamily="34" charset="0"/>
              <a:buChar char="•"/>
            </a:pPr>
            <a:r>
              <a:rPr lang="en-US" altLang="zh-CN" sz="2400" b="1" dirty="0">
                <a:latin typeface="Microsoft YaHei" charset="-122"/>
                <a:ea typeface="Microsoft YaHei" charset="-122"/>
                <a:cs typeface="Microsoft YaHei" charset="-122"/>
              </a:rPr>
              <a:t>……</a:t>
            </a:r>
          </a:p>
        </p:txBody>
      </p:sp>
      <p:sp>
        <p:nvSpPr>
          <p:cNvPr id="7"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数据预处理</a:t>
            </a:r>
          </a:p>
        </p:txBody>
      </p:sp>
    </p:spTree>
    <p:extLst>
      <p:ext uri="{BB962C8B-B14F-4D97-AF65-F5344CB8AC3E}">
        <p14:creationId xmlns:p14="http://schemas.microsoft.com/office/powerpoint/2010/main" val="2110829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文本框 4"/>
          <p:cNvSpPr txBox="1"/>
          <p:nvPr/>
        </p:nvSpPr>
        <p:spPr>
          <a:xfrm>
            <a:off x="1847528" y="1968806"/>
            <a:ext cx="4204338" cy="3416320"/>
          </a:xfrm>
          <a:prstGeom prst="rect">
            <a:avLst/>
          </a:prstGeom>
          <a:noFill/>
        </p:spPr>
        <p:txBody>
          <a:bodyPr wrap="square" rtlCol="0" anchor="t">
            <a:spAutoFit/>
          </a:bodyPr>
          <a:lstStyle/>
          <a:p>
            <a:pPr marL="257175" indent="-257175">
              <a:buFont typeface="Wingdings" panose="05000000000000000000" charset="0"/>
              <a:buChar char=""/>
            </a:pPr>
            <a:r>
              <a:rPr lang="zh-CN" altLang="en-US" sz="2400" b="1" dirty="0">
                <a:solidFill>
                  <a:srgbClr val="00B0F0"/>
                </a:solidFill>
                <a:latin typeface="微软雅黑" panose="020B0503020204020204" charset="-122"/>
                <a:ea typeface="微软雅黑" panose="020B0503020204020204" charset="-122"/>
                <a:sym typeface="+mn-ea"/>
              </a:rPr>
              <a:t>指数据集的类别分布不均。</a:t>
            </a:r>
            <a:r>
              <a:rPr lang="zh-CN" altLang="en-US" sz="2400" dirty="0">
                <a:latin typeface="微软雅黑" panose="020B0503020204020204" charset="-122"/>
                <a:ea typeface="微软雅黑" panose="020B0503020204020204" charset="-122"/>
                <a:sym typeface="+mn-ea"/>
              </a:rPr>
              <a:t>比如说一个二分类问题，100个训练样本，如果正反例不是</a:t>
            </a:r>
            <a:r>
              <a:rPr lang="en-US" altLang="zh-CN" sz="2400" dirty="0">
                <a:latin typeface="微软雅黑" panose="020B0503020204020204" charset="-122"/>
                <a:ea typeface="微软雅黑" panose="020B0503020204020204" charset="-122"/>
                <a:sym typeface="+mn-ea"/>
              </a:rPr>
              <a:t>50</a:t>
            </a:r>
            <a:r>
              <a:rPr lang="zh-CN" altLang="en-US" sz="2400" dirty="0">
                <a:latin typeface="微软雅黑" panose="020B0503020204020204" charset="-122"/>
                <a:ea typeface="微软雅黑" panose="020B0503020204020204" charset="-122"/>
                <a:sym typeface="+mn-ea"/>
              </a:rPr>
              <a:t>：</a:t>
            </a:r>
            <a:r>
              <a:rPr lang="en-US" altLang="zh-CN" sz="2400" dirty="0">
                <a:latin typeface="微软雅黑" panose="020B0503020204020204" charset="-122"/>
                <a:ea typeface="微软雅黑" panose="020B0503020204020204" charset="-122"/>
                <a:sym typeface="+mn-ea"/>
              </a:rPr>
              <a:t>50</a:t>
            </a:r>
            <a:r>
              <a:rPr lang="zh-CN" altLang="en-US" sz="2400" dirty="0">
                <a:latin typeface="微软雅黑" panose="020B0503020204020204" charset="-122"/>
                <a:ea typeface="微软雅黑" panose="020B0503020204020204" charset="-122"/>
                <a:sym typeface="+mn-ea"/>
              </a:rPr>
              <a:t>，而是</a:t>
            </a:r>
            <a:r>
              <a:rPr lang="en-US" altLang="zh-CN" sz="2400" dirty="0">
                <a:latin typeface="微软雅黑" panose="020B0503020204020204" charset="-122"/>
                <a:ea typeface="微软雅黑" panose="020B0503020204020204" charset="-122"/>
                <a:sym typeface="+mn-ea"/>
              </a:rPr>
              <a:t>99</a:t>
            </a:r>
            <a:r>
              <a:rPr lang="zh-CN" altLang="en-US" sz="2400" dirty="0">
                <a:latin typeface="微软雅黑" panose="020B0503020204020204" charset="-122"/>
                <a:ea typeface="微软雅黑" panose="020B0503020204020204" charset="-122"/>
                <a:sym typeface="+mn-ea"/>
              </a:rPr>
              <a:t>：</a:t>
            </a:r>
            <a:r>
              <a:rPr lang="en-US" altLang="zh-CN" sz="2400" dirty="0">
                <a:latin typeface="微软雅黑" panose="020B0503020204020204" charset="-122"/>
                <a:ea typeface="微软雅黑" panose="020B0503020204020204" charset="-122"/>
                <a:sym typeface="+mn-ea"/>
              </a:rPr>
              <a:t>1</a:t>
            </a:r>
            <a:r>
              <a:rPr lang="zh-CN" altLang="en-US" sz="2400" dirty="0">
                <a:latin typeface="微软雅黑" panose="020B0503020204020204" charset="-122"/>
                <a:ea typeface="微软雅黑" panose="020B0503020204020204" charset="-122"/>
                <a:sym typeface="+mn-ea"/>
              </a:rPr>
              <a:t>，就意味着存在类别不平衡。</a:t>
            </a:r>
          </a:p>
          <a:p>
            <a:pPr marL="257175" indent="-257175">
              <a:buFont typeface="Wingdings" panose="05000000000000000000" charset="0"/>
              <a:buChar char=""/>
            </a:pPr>
            <a:r>
              <a:rPr lang="zh-CN" altLang="en-US" sz="2400" dirty="0">
                <a:latin typeface="微软雅黑" panose="020B0503020204020204" charset="-122"/>
                <a:ea typeface="微软雅黑" panose="020B0503020204020204" charset="-122"/>
                <a:sym typeface="+mn-ea"/>
              </a:rPr>
              <a:t>此时预测时就算全部为正，准确率也可以达到99%，这并</a:t>
            </a:r>
            <a:r>
              <a:rPr lang="zh-CN" altLang="en-US" sz="2400" b="1" dirty="0">
                <a:solidFill>
                  <a:srgbClr val="00B0F0"/>
                </a:solidFill>
                <a:latin typeface="微软雅黑" panose="020B0503020204020204" charset="-122"/>
                <a:ea typeface="微软雅黑" panose="020B0503020204020204" charset="-122"/>
                <a:sym typeface="+mn-ea"/>
              </a:rPr>
              <a:t>不能反映模型的好坏。</a:t>
            </a:r>
          </a:p>
        </p:txBody>
      </p:sp>
      <p:sp>
        <p:nvSpPr>
          <p:cNvPr id="2" name="标题 1"/>
          <p:cNvSpPr>
            <a:spLocks noGrp="1"/>
          </p:cNvSpPr>
          <p:nvPr>
            <p:ph type="title" idx="4294967295"/>
          </p:nvPr>
        </p:nvSpPr>
        <p:spPr>
          <a:xfrm>
            <a:off x="3048000" y="915988"/>
            <a:ext cx="9144000" cy="492125"/>
          </a:xfrm>
        </p:spPr>
        <p:txBody>
          <a:bodyPr>
            <a:normAutofit/>
          </a:bodyPr>
          <a:lstStyle/>
          <a:p>
            <a:r>
              <a:rPr lang="en-US" altLang="zh-CN" sz="2700" b="1" dirty="0">
                <a:latin typeface="微软雅黑" panose="020B0503020204020204" pitchFamily="34" charset="-122"/>
                <a:ea typeface="微软雅黑" panose="020B0503020204020204" pitchFamily="34" charset="-122"/>
              </a:rPr>
              <a:t>2. </a:t>
            </a:r>
            <a:r>
              <a:rPr lang="zh-CN" altLang="en-US" sz="2700" b="1" dirty="0">
                <a:latin typeface="微软雅黑" panose="020B0503020204020204" pitchFamily="34" charset="-122"/>
                <a:ea typeface="微软雅黑" panose="020B0503020204020204" pitchFamily="34" charset="-122"/>
              </a:rPr>
              <a:t>数据采样</a:t>
            </a:r>
          </a:p>
        </p:txBody>
      </p:sp>
      <p:sp>
        <p:nvSpPr>
          <p:cNvPr id="29" name="矩形 28"/>
          <p:cNvSpPr/>
          <p:nvPr/>
        </p:nvSpPr>
        <p:spPr>
          <a:xfrm>
            <a:off x="1847528" y="1484785"/>
            <a:ext cx="4276346" cy="461665"/>
          </a:xfrm>
          <a:prstGeom prst="rect">
            <a:avLst/>
          </a:prstGeom>
        </p:spPr>
        <p:txBody>
          <a:bodyPr wrap="square">
            <a:spAutoFit/>
          </a:bodyPr>
          <a:lstStyle/>
          <a:p>
            <a:pPr marL="257175" indent="-257175" fontAlgn="auto">
              <a:spcAft>
                <a:spcPts val="750"/>
              </a:spcAft>
              <a:buFont typeface="Wingdings" panose="05000000000000000000" charset="0"/>
              <a:buChar char=""/>
            </a:pPr>
            <a:r>
              <a:rPr lang="zh-CN" altLang="en-US" sz="2400" b="1" dirty="0">
                <a:solidFill>
                  <a:srgbClr val="CC0099"/>
                </a:solidFill>
                <a:latin typeface="微软雅黑" panose="020B0503020204020204" charset="-122"/>
                <a:ea typeface="微软雅黑" panose="020B0503020204020204" charset="-122"/>
              </a:rPr>
              <a:t>数据不平衡（imbalance）</a:t>
            </a:r>
          </a:p>
        </p:txBody>
      </p:sp>
      <p:sp>
        <p:nvSpPr>
          <p:cNvPr id="4" name="文本框 3"/>
          <p:cNvSpPr txBox="1"/>
          <p:nvPr/>
        </p:nvSpPr>
        <p:spPr>
          <a:xfrm>
            <a:off x="3287688" y="5537574"/>
            <a:ext cx="6141858" cy="830997"/>
          </a:xfrm>
          <a:prstGeom prst="rect">
            <a:avLst/>
          </a:prstGeom>
          <a:noFill/>
        </p:spPr>
        <p:txBody>
          <a:bodyPr wrap="square" rtlCol="0" anchor="t">
            <a:spAutoFit/>
          </a:bodyPr>
          <a:lstStyle/>
          <a:p>
            <a:pPr algn="ctr"/>
            <a:r>
              <a:rPr kumimoji="1" lang="zh-CN" altLang="en-US" sz="2400" dirty="0">
                <a:solidFill>
                  <a:srgbClr val="FF0000"/>
                </a:solidFill>
                <a:latin typeface="微软雅黑" panose="020B0503020204020204" pitchFamily="34" charset="-122"/>
                <a:ea typeface="微软雅黑" panose="020B0503020204020204" pitchFamily="34" charset="-122"/>
                <a:sym typeface="+mn-ea"/>
              </a:rPr>
              <a:t>面临</a:t>
            </a:r>
            <a:r>
              <a:rPr kumimoji="1" lang="zh-CN" altLang="en-US" sz="2400" b="1" dirty="0">
                <a:solidFill>
                  <a:srgbClr val="FF0000"/>
                </a:solidFill>
                <a:latin typeface="微软雅黑" panose="020B0503020204020204" pitchFamily="34" charset="-122"/>
                <a:ea typeface="微软雅黑" panose="020B0503020204020204" pitchFamily="34" charset="-122"/>
                <a:sym typeface="+mn-ea"/>
              </a:rPr>
              <a:t>不平衡数据集</a:t>
            </a:r>
            <a:r>
              <a:rPr kumimoji="1" lang="zh-CN" altLang="en-US" sz="2400" dirty="0">
                <a:solidFill>
                  <a:srgbClr val="FF0000"/>
                </a:solidFill>
                <a:latin typeface="微软雅黑" panose="020B0503020204020204" pitchFamily="34" charset="-122"/>
                <a:ea typeface="微软雅黑" panose="020B0503020204020204" pitchFamily="34" charset="-122"/>
                <a:sym typeface="+mn-ea"/>
              </a:rPr>
              <a:t>的时候，传统的机器学习模型的评价方法不能精确地衡量模型的性能</a:t>
            </a:r>
          </a:p>
        </p:txBody>
      </p:sp>
      <p:sp>
        <p:nvSpPr>
          <p:cNvPr id="21" name="文本框 20"/>
          <p:cNvSpPr txBox="1"/>
          <p:nvPr/>
        </p:nvSpPr>
        <p:spPr>
          <a:xfrm>
            <a:off x="6108388" y="1484784"/>
            <a:ext cx="4380100" cy="3672800"/>
          </a:xfrm>
          <a:prstGeom prst="rect">
            <a:avLst/>
          </a:prstGeom>
          <a:noFill/>
        </p:spPr>
        <p:txBody>
          <a:bodyPr wrap="square" rtlCol="0" anchor="t">
            <a:spAutoFit/>
          </a:bodyPr>
          <a:lstStyle/>
          <a:p>
            <a:pPr marL="257175" indent="-257175" fontAlgn="auto">
              <a:spcAft>
                <a:spcPts val="750"/>
              </a:spcAft>
              <a:buFont typeface="Wingdings" panose="05000000000000000000" charset="0"/>
              <a:buChar char=""/>
            </a:pPr>
            <a:r>
              <a:rPr lang="zh-CN" altLang="en-US" sz="2400" b="1" dirty="0">
                <a:solidFill>
                  <a:srgbClr val="CC0099"/>
                </a:solidFill>
                <a:latin typeface="微软雅黑" panose="020B0503020204020204" charset="-122"/>
                <a:ea typeface="微软雅黑" panose="020B0503020204020204" charset="-122"/>
                <a:sym typeface="+mn-ea"/>
              </a:rPr>
              <a:t>解决方法</a:t>
            </a:r>
            <a:endParaRPr lang="zh-CN" altLang="en-US" sz="2400" dirty="0">
              <a:latin typeface="微软雅黑" panose="020B0503020204020204" charset="-122"/>
              <a:ea typeface="微软雅黑" panose="020B0503020204020204" charset="-122"/>
              <a:sym typeface="+mn-ea"/>
            </a:endParaRPr>
          </a:p>
          <a:p>
            <a:pPr marL="257175" indent="-257175" fontAlgn="auto">
              <a:buFont typeface="Wingdings" panose="05000000000000000000" charset="0"/>
              <a:buChar char=""/>
            </a:pPr>
            <a:r>
              <a:rPr lang="zh-CN" altLang="en-US" sz="2400" b="1" dirty="0">
                <a:solidFill>
                  <a:srgbClr val="00B0F0"/>
                </a:solidFill>
                <a:latin typeface="微软雅黑" panose="020B0503020204020204" charset="-122"/>
                <a:ea typeface="微软雅黑" panose="020B0503020204020204" charset="-122"/>
                <a:sym typeface="+mn-ea"/>
              </a:rPr>
              <a:t>过采样</a:t>
            </a:r>
            <a:r>
              <a:rPr lang="zh-CN" altLang="en-US" sz="2400" dirty="0">
                <a:latin typeface="微软雅黑" panose="020B0503020204020204" charset="-122"/>
                <a:ea typeface="微软雅黑" panose="020B0503020204020204" charset="-122"/>
                <a:sym typeface="+mn-ea"/>
              </a:rPr>
              <a:t>（Over-Sampling）</a:t>
            </a:r>
          </a:p>
          <a:p>
            <a:pPr fontAlgn="auto"/>
            <a:r>
              <a:rPr lang="zh-CN" altLang="en-US" sz="2400" dirty="0">
                <a:latin typeface="微软雅黑" panose="020B0503020204020204" charset="-122"/>
                <a:ea typeface="微软雅黑" panose="020B0503020204020204" charset="-122"/>
                <a:sym typeface="+mn-ea"/>
              </a:rPr>
              <a:t>     通过随机复制少数类来增加其中的实例数量，从而可增加样本中少数类的代表性。</a:t>
            </a:r>
          </a:p>
          <a:p>
            <a:pPr marL="257175" indent="-257175" fontAlgn="auto">
              <a:spcBef>
                <a:spcPts val="750"/>
              </a:spcBef>
              <a:buFont typeface="Wingdings" panose="05000000000000000000" charset="0"/>
              <a:buChar char=""/>
            </a:pPr>
            <a:r>
              <a:rPr lang="zh-CN" altLang="en-US" sz="2400" b="1" dirty="0">
                <a:solidFill>
                  <a:srgbClr val="00B0F0"/>
                </a:solidFill>
                <a:latin typeface="微软雅黑" panose="020B0503020204020204" charset="-122"/>
                <a:ea typeface="微软雅黑" panose="020B0503020204020204" charset="-122"/>
                <a:sym typeface="+mn-ea"/>
              </a:rPr>
              <a:t>欠采样</a:t>
            </a:r>
            <a:r>
              <a:rPr lang="zh-CN" altLang="en-US" sz="2400" dirty="0">
                <a:latin typeface="微软雅黑" panose="020B0503020204020204" charset="-122"/>
                <a:ea typeface="微软雅黑" panose="020B0503020204020204" charset="-122"/>
                <a:sym typeface="+mn-ea"/>
              </a:rPr>
              <a:t>（</a:t>
            </a:r>
            <a:r>
              <a:rPr lang="en-US" altLang="zh-CN" sz="2400" dirty="0">
                <a:latin typeface="微软雅黑" panose="020B0503020204020204" charset="-122"/>
                <a:ea typeface="微软雅黑" panose="020B0503020204020204" charset="-122"/>
                <a:sym typeface="+mn-ea"/>
              </a:rPr>
              <a:t>Under</a:t>
            </a:r>
            <a:r>
              <a:rPr lang="zh-CN" altLang="en-US" sz="2400" dirty="0">
                <a:latin typeface="微软雅黑" panose="020B0503020204020204" charset="-122"/>
                <a:ea typeface="微软雅黑" panose="020B0503020204020204" charset="-122"/>
                <a:sym typeface="+mn-ea"/>
              </a:rPr>
              <a:t>-Sampling）</a:t>
            </a:r>
          </a:p>
          <a:p>
            <a:pPr fontAlgn="auto">
              <a:spcBef>
                <a:spcPts val="375"/>
              </a:spcBef>
            </a:pPr>
            <a:r>
              <a:rPr lang="zh-CN" altLang="en-US" sz="2400" dirty="0">
                <a:latin typeface="微软雅黑" panose="020B0503020204020204" charset="-122"/>
                <a:ea typeface="微软雅黑" panose="020B0503020204020204" charset="-122"/>
                <a:sym typeface="+mn-ea"/>
              </a:rPr>
              <a:t>    通过随机地消除占多数的类的样本来平衡类分布；直到多数类和少数类的实例实现平衡</a:t>
            </a:r>
          </a:p>
        </p:txBody>
      </p:sp>
      <p:sp>
        <p:nvSpPr>
          <p:cNvPr id="10"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数据预处理</a:t>
            </a:r>
          </a:p>
        </p:txBody>
      </p:sp>
    </p:spTree>
    <p:extLst>
      <p:ext uri="{BB962C8B-B14F-4D97-AF65-F5344CB8AC3E}">
        <p14:creationId xmlns:p14="http://schemas.microsoft.com/office/powerpoint/2010/main" val="425464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9" grpId="0"/>
      <p:bldP spid="4"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639763"/>
            <a:ext cx="2665413" cy="568325"/>
          </a:xfrm>
        </p:spPr>
        <p:txBody>
          <a:bodyPr>
            <a:normAutofit/>
          </a:bodyPr>
          <a:lstStyle/>
          <a:p>
            <a:r>
              <a:rPr lang="zh-CN" altLang="en-US" sz="2700" b="1" dirty="0">
                <a:latin typeface="微软雅黑" panose="020B0503020204020204" pitchFamily="34" charset="-122"/>
                <a:ea typeface="微软雅黑" panose="020B0503020204020204" pitchFamily="34" charset="-122"/>
              </a:rPr>
              <a:t>数据拆分</a:t>
            </a:r>
          </a:p>
        </p:txBody>
      </p:sp>
      <p:sp>
        <p:nvSpPr>
          <p:cNvPr id="8" name="矩形 7"/>
          <p:cNvSpPr/>
          <p:nvPr/>
        </p:nvSpPr>
        <p:spPr>
          <a:xfrm>
            <a:off x="9179617" y="5116830"/>
            <a:ext cx="670187" cy="242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9" name="矩形 28"/>
          <p:cNvSpPr/>
          <p:nvPr/>
        </p:nvSpPr>
        <p:spPr>
          <a:xfrm>
            <a:off x="1877566" y="1173845"/>
            <a:ext cx="4532571" cy="553998"/>
          </a:xfrm>
          <a:prstGeom prst="rect">
            <a:avLst/>
          </a:prstGeom>
        </p:spPr>
        <p:txBody>
          <a:bodyPr wrap="square">
            <a:spAutoFit/>
          </a:bodyPr>
          <a:lstStyle/>
          <a:p>
            <a:pPr marL="257175" indent="-257175" fontAlgn="auto">
              <a:lnSpc>
                <a:spcPct val="125000"/>
              </a:lnSpc>
              <a:buFont typeface="Wingdings" panose="05000000000000000000" charset="0"/>
              <a:buChar char=""/>
            </a:pPr>
            <a:r>
              <a:rPr lang="zh-CN" altLang="en-US" sz="2400" b="1" dirty="0">
                <a:solidFill>
                  <a:srgbClr val="CC0099"/>
                </a:solidFill>
                <a:latin typeface="微软雅黑" panose="020B0503020204020204" charset="-122"/>
                <a:ea typeface="微软雅黑" panose="020B0503020204020204" charset="-122"/>
              </a:rPr>
              <a:t> 机器学习中将数据划分为</a:t>
            </a:r>
            <a:r>
              <a:rPr lang="en-US" altLang="zh-CN" sz="2400" b="1" dirty="0">
                <a:solidFill>
                  <a:srgbClr val="CC0099"/>
                </a:solidFill>
                <a:latin typeface="微软雅黑" panose="020B0503020204020204" charset="-122"/>
                <a:ea typeface="微软雅黑" panose="020B0503020204020204" charset="-122"/>
              </a:rPr>
              <a:t>3</a:t>
            </a:r>
            <a:r>
              <a:rPr lang="zh-CN" altLang="en-US" sz="2400" b="1" dirty="0">
                <a:solidFill>
                  <a:srgbClr val="CC0099"/>
                </a:solidFill>
                <a:latin typeface="微软雅黑" panose="020B0503020204020204" charset="-122"/>
                <a:ea typeface="微软雅黑" panose="020B0503020204020204" charset="-122"/>
              </a:rPr>
              <a:t>份</a:t>
            </a:r>
          </a:p>
        </p:txBody>
      </p:sp>
      <p:sp>
        <p:nvSpPr>
          <p:cNvPr id="21" name="文本框 20"/>
          <p:cNvSpPr txBox="1"/>
          <p:nvPr/>
        </p:nvSpPr>
        <p:spPr>
          <a:xfrm>
            <a:off x="6251059" y="1208408"/>
            <a:ext cx="4321149" cy="5596404"/>
          </a:xfrm>
          <a:prstGeom prst="rect">
            <a:avLst/>
          </a:prstGeom>
          <a:noFill/>
        </p:spPr>
        <p:txBody>
          <a:bodyPr wrap="square" rtlCol="0" anchor="t">
            <a:spAutoFit/>
          </a:bodyPr>
          <a:lstStyle/>
          <a:p>
            <a:pPr marL="257175" indent="-257175" fontAlgn="auto">
              <a:spcAft>
                <a:spcPts val="750"/>
              </a:spcAft>
              <a:buFont typeface="Wingdings" panose="05000000000000000000" charset="0"/>
              <a:buChar char=""/>
            </a:pPr>
            <a:r>
              <a:rPr lang="zh-CN" altLang="en-US" sz="2400" b="1" dirty="0">
                <a:solidFill>
                  <a:srgbClr val="CC0099"/>
                </a:solidFill>
                <a:latin typeface="微软雅黑" panose="020B0503020204020204" charset="-122"/>
                <a:ea typeface="微软雅黑" panose="020B0503020204020204" charset="-122"/>
                <a:sym typeface="+mn-ea"/>
              </a:rPr>
              <a:t>常用拆分方法</a:t>
            </a:r>
            <a:endParaRPr lang="zh-CN" altLang="en-US" sz="2400" dirty="0">
              <a:latin typeface="微软雅黑" panose="020B0503020204020204" charset="-122"/>
              <a:ea typeface="微软雅黑" panose="020B0503020204020204" charset="-122"/>
              <a:sym typeface="+mn-ea"/>
            </a:endParaRPr>
          </a:p>
          <a:p>
            <a:pPr marL="257175" indent="-257175" fontAlgn="auto">
              <a:spcAft>
                <a:spcPts val="1350"/>
              </a:spcAft>
              <a:buFont typeface="Wingdings" panose="05000000000000000000" charset="0"/>
              <a:buChar char=""/>
            </a:pPr>
            <a:r>
              <a:rPr lang="zh-CN" altLang="en-US" sz="2400" b="1" dirty="0">
                <a:solidFill>
                  <a:srgbClr val="00B0F0"/>
                </a:solidFill>
                <a:latin typeface="微软雅黑" panose="020B0503020204020204" charset="-122"/>
                <a:ea typeface="微软雅黑" panose="020B0503020204020204" charset="-122"/>
                <a:sym typeface="+mn-ea"/>
              </a:rPr>
              <a:t>留出法</a:t>
            </a:r>
            <a:r>
              <a:rPr lang="zh-CN" altLang="en-US" sz="2400" dirty="0">
                <a:latin typeface="微软雅黑" panose="020B0503020204020204" charset="-122"/>
                <a:ea typeface="微软雅黑" panose="020B0503020204020204" charset="-122"/>
                <a:sym typeface="+mn-ea"/>
              </a:rPr>
              <a:t>（</a:t>
            </a:r>
            <a:r>
              <a:rPr lang="en-US" altLang="zh-CN" sz="2400" dirty="0">
                <a:latin typeface="微软雅黑" panose="020B0503020204020204" charset="-122"/>
                <a:ea typeface="微软雅黑" panose="020B0503020204020204" charset="-122"/>
                <a:sym typeface="+mn-ea"/>
              </a:rPr>
              <a:t>Hold-Out</a:t>
            </a:r>
            <a:r>
              <a:rPr lang="zh-CN" altLang="en-US" sz="2400" dirty="0">
                <a:latin typeface="微软雅黑" panose="020B0503020204020204" charset="-122"/>
                <a:ea typeface="微软雅黑" panose="020B0503020204020204" charset="-122"/>
                <a:sym typeface="+mn-ea"/>
              </a:rPr>
              <a:t>）：直接将数据集划分为互斥的集合，如通常选择 70% 数据作为训练集，30% 作为测试集。需要注意的是保持划分后集合数据分布的一致性。</a:t>
            </a:r>
          </a:p>
          <a:p>
            <a:pPr marL="257175" indent="-257175" fontAlgn="auto">
              <a:spcBef>
                <a:spcPts val="375"/>
              </a:spcBef>
              <a:buFont typeface="Wingdings" panose="05000000000000000000" charset="0"/>
              <a:buChar char=""/>
            </a:pPr>
            <a:r>
              <a:rPr lang="en-US" sz="2400" b="1" dirty="0">
                <a:solidFill>
                  <a:srgbClr val="00B0F0"/>
                </a:solidFill>
                <a:latin typeface="微软雅黑" panose="020B0503020204020204" charset="-122"/>
                <a:ea typeface="微软雅黑" panose="020B0503020204020204" charset="-122"/>
                <a:sym typeface="+mn-ea"/>
              </a:rPr>
              <a:t>K-</a:t>
            </a:r>
            <a:r>
              <a:rPr lang="zh-CN" altLang="en-US" sz="2400" b="1" dirty="0">
                <a:solidFill>
                  <a:srgbClr val="00B0F0"/>
                </a:solidFill>
                <a:latin typeface="微软雅黑" panose="020B0503020204020204" charset="-122"/>
                <a:ea typeface="微软雅黑" panose="020B0503020204020204" charset="-122"/>
                <a:sym typeface="+mn-ea"/>
              </a:rPr>
              <a:t>折交叉验证法</a:t>
            </a:r>
            <a:r>
              <a:rPr lang="zh-CN" altLang="en-US" sz="2400" dirty="0">
                <a:latin typeface="微软雅黑" panose="020B0503020204020204" charset="-122"/>
                <a:ea typeface="微软雅黑" panose="020B0503020204020204" charset="-122"/>
                <a:sym typeface="+mn-ea"/>
              </a:rPr>
              <a:t>：将数据集划分为 k 个大小相似的互斥子集，并且尽量保证每个子集数据分布的一致性。这样，就可以获取 k 组训练 - 测试集，从而进行 k 次训练和测试，</a:t>
            </a:r>
            <a:r>
              <a:rPr lang="en-US" altLang="zh-CN" sz="2400" dirty="0">
                <a:latin typeface="微软雅黑" panose="020B0503020204020204" charset="-122"/>
                <a:ea typeface="微软雅黑" panose="020B0503020204020204" charset="-122"/>
                <a:sym typeface="+mn-ea"/>
              </a:rPr>
              <a:t>k</a:t>
            </a:r>
            <a:r>
              <a:rPr lang="zh-CN" altLang="en-US" sz="2400" dirty="0">
                <a:latin typeface="微软雅黑" panose="020B0503020204020204" charset="-122"/>
                <a:ea typeface="微软雅黑" panose="020B0503020204020204" charset="-122"/>
                <a:sym typeface="+mn-ea"/>
              </a:rPr>
              <a:t>通常取值为</a:t>
            </a:r>
            <a:r>
              <a:rPr lang="en-US" altLang="zh-CN" sz="2400" dirty="0">
                <a:latin typeface="微软雅黑" panose="020B0503020204020204" charset="-122"/>
                <a:ea typeface="微软雅黑" panose="020B0503020204020204" charset="-122"/>
                <a:sym typeface="+mn-ea"/>
              </a:rPr>
              <a:t>10</a:t>
            </a:r>
            <a:r>
              <a:rPr lang="zh-CN" altLang="en-US" sz="2400" dirty="0">
                <a:latin typeface="微软雅黑" panose="020B0503020204020204" charset="-122"/>
                <a:ea typeface="微软雅黑" panose="020B0503020204020204" charset="-122"/>
                <a:sym typeface="+mn-ea"/>
              </a:rPr>
              <a:t>。</a:t>
            </a:r>
          </a:p>
        </p:txBody>
      </p:sp>
      <p:sp>
        <p:nvSpPr>
          <p:cNvPr id="4" name="文本框 3"/>
          <p:cNvSpPr txBox="1"/>
          <p:nvPr/>
        </p:nvSpPr>
        <p:spPr>
          <a:xfrm>
            <a:off x="1935905" y="1759456"/>
            <a:ext cx="4314914" cy="2677656"/>
          </a:xfrm>
          <a:prstGeom prst="rect">
            <a:avLst/>
          </a:prstGeom>
          <a:noFill/>
        </p:spPr>
        <p:txBody>
          <a:bodyPr wrap="square" rtlCol="0" anchor="t">
            <a:spAutoFit/>
          </a:bodyPr>
          <a:lstStyle/>
          <a:p>
            <a:pPr marL="257175" indent="-257175" fontAlgn="auto">
              <a:buFont typeface="+mj-ea"/>
              <a:buAutoNum type="circleNumDbPlain"/>
            </a:pPr>
            <a:r>
              <a:rPr lang="zh-CN" altLang="en-US" sz="2400" b="1" dirty="0">
                <a:solidFill>
                  <a:srgbClr val="00B0F0"/>
                </a:solidFill>
                <a:latin typeface="微软雅黑" panose="020B0503020204020204" charset="-122"/>
                <a:ea typeface="微软雅黑" panose="020B0503020204020204" charset="-122"/>
                <a:sym typeface="+mn-ea"/>
              </a:rPr>
              <a:t>训练数据集：</a:t>
            </a:r>
            <a:r>
              <a:rPr lang="zh-CN" altLang="en-US" sz="2400" dirty="0">
                <a:latin typeface="微软雅黑" panose="020B0503020204020204" charset="-122"/>
                <a:ea typeface="微软雅黑" panose="020B0503020204020204" charset="-122"/>
                <a:sym typeface="+mn-ea"/>
              </a:rPr>
              <a:t>用来训练机器学习模型</a:t>
            </a:r>
            <a:endParaRPr lang="zh-CN" altLang="en-US" sz="2400" dirty="0">
              <a:latin typeface="微软雅黑" panose="020B0503020204020204" charset="-122"/>
              <a:ea typeface="微软雅黑" panose="020B0503020204020204" charset="-122"/>
            </a:endParaRPr>
          </a:p>
          <a:p>
            <a:pPr marL="257175" indent="-257175" fontAlgn="auto">
              <a:buFont typeface="+mj-ea"/>
              <a:buAutoNum type="circleNumDbPlain"/>
            </a:pPr>
            <a:r>
              <a:rPr lang="zh-CN" altLang="en-US" sz="2400" b="1" dirty="0">
                <a:solidFill>
                  <a:srgbClr val="00B0F0"/>
                </a:solidFill>
                <a:latin typeface="微软雅黑" panose="020B0503020204020204" charset="-122"/>
                <a:ea typeface="微软雅黑" panose="020B0503020204020204" charset="-122"/>
                <a:sym typeface="+mn-ea"/>
              </a:rPr>
              <a:t>验证数据集：</a:t>
            </a:r>
            <a:r>
              <a:rPr lang="zh-CN" altLang="en-US" sz="2400" dirty="0">
                <a:latin typeface="微软雅黑" panose="020B0503020204020204" charset="-122"/>
                <a:ea typeface="微软雅黑" panose="020B0503020204020204" charset="-122"/>
                <a:sym typeface="+mn-ea"/>
              </a:rPr>
              <a:t>用于建模过程中评估模型，提供无偏估计，进而调整模型参数</a:t>
            </a:r>
            <a:endParaRPr lang="zh-CN" altLang="en-US" sz="2400" dirty="0">
              <a:latin typeface="微软雅黑" panose="020B0503020204020204" charset="-122"/>
              <a:ea typeface="微软雅黑" panose="020B0503020204020204" charset="-122"/>
            </a:endParaRPr>
          </a:p>
          <a:p>
            <a:pPr marL="257175" indent="-257175" fontAlgn="auto">
              <a:buFont typeface="+mj-ea"/>
              <a:buAutoNum type="circleNumDbPlain"/>
            </a:pPr>
            <a:r>
              <a:rPr lang="zh-CN" altLang="en-US" sz="2400" b="1" dirty="0">
                <a:solidFill>
                  <a:srgbClr val="00B0F0"/>
                </a:solidFill>
                <a:latin typeface="微软雅黑" panose="020B0503020204020204" charset="-122"/>
                <a:ea typeface="微软雅黑" panose="020B0503020204020204" charset="-122"/>
                <a:sym typeface="+mn-ea"/>
              </a:rPr>
              <a:t>测试数据集：</a:t>
            </a:r>
            <a:r>
              <a:rPr lang="zh-CN" altLang="en-US" sz="2400" dirty="0">
                <a:latin typeface="微软雅黑" panose="020B0503020204020204" charset="-122"/>
                <a:ea typeface="微软雅黑" panose="020B0503020204020204" charset="-122"/>
                <a:sym typeface="+mn-ea"/>
              </a:rPr>
              <a:t>用来评估训练好的最终模型的性能</a:t>
            </a:r>
          </a:p>
        </p:txBody>
      </p:sp>
      <p:pic>
        <p:nvPicPr>
          <p:cNvPr id="5" name="图片 4"/>
          <p:cNvPicPr>
            <a:picLocks noChangeAspect="1"/>
          </p:cNvPicPr>
          <p:nvPr/>
        </p:nvPicPr>
        <p:blipFill>
          <a:blip r:embed="rId2"/>
          <a:stretch>
            <a:fillRect/>
          </a:stretch>
        </p:blipFill>
        <p:spPr>
          <a:xfrm>
            <a:off x="1535992" y="4365104"/>
            <a:ext cx="4992056" cy="2404932"/>
          </a:xfrm>
          <a:prstGeom prst="rect">
            <a:avLst/>
          </a:prstGeom>
        </p:spPr>
      </p:pic>
      <p:sp>
        <p:nvSpPr>
          <p:cNvPr id="10" name="标题 1"/>
          <p:cNvSpPr txBox="1">
            <a:spLocks/>
          </p:cNvSpPr>
          <p:nvPr/>
        </p:nvSpPr>
        <p:spPr>
          <a:xfrm>
            <a:off x="1524000" y="98036"/>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数据预处理</a:t>
            </a:r>
          </a:p>
        </p:txBody>
      </p:sp>
    </p:spTree>
    <p:extLst>
      <p:ext uri="{BB962C8B-B14F-4D97-AF65-F5344CB8AC3E}">
        <p14:creationId xmlns:p14="http://schemas.microsoft.com/office/powerpoint/2010/main" val="973865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圆角矩形 12"/>
          <p:cNvSpPr/>
          <p:nvPr/>
        </p:nvSpPr>
        <p:spPr>
          <a:xfrm>
            <a:off x="2946083" y="2017872"/>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400" dirty="0">
                <a:solidFill>
                  <a:schemeClr val="tx1"/>
                </a:solidFill>
                <a:latin typeface="微软雅黑" panose="020B0503020204020204" charset="-122"/>
                <a:ea typeface="微软雅黑" panose="020B0503020204020204" charset="-122"/>
                <a:sym typeface="+mn-ea"/>
              </a:rPr>
              <a:t>数据预处理</a:t>
            </a:r>
          </a:p>
        </p:txBody>
      </p:sp>
      <p:sp>
        <p:nvSpPr>
          <p:cNvPr id="14" name="圆角矩形 13"/>
          <p:cNvSpPr/>
          <p:nvPr/>
        </p:nvSpPr>
        <p:spPr>
          <a:xfrm>
            <a:off x="2946083" y="2952751"/>
            <a:ext cx="2769870" cy="577215"/>
          </a:xfrm>
          <a:prstGeom prst="roundRect">
            <a:avLst/>
          </a:prstGeom>
          <a:solidFill>
            <a:schemeClr val="accent2">
              <a:lumMod val="40000"/>
              <a:lumOff val="6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特征工程</a:t>
            </a:r>
          </a:p>
        </p:txBody>
      </p:sp>
      <p:sp>
        <p:nvSpPr>
          <p:cNvPr id="15" name="圆角矩形 14"/>
          <p:cNvSpPr/>
          <p:nvPr/>
        </p:nvSpPr>
        <p:spPr>
          <a:xfrm>
            <a:off x="2946083" y="4797267"/>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结果评估</a:t>
            </a:r>
          </a:p>
        </p:txBody>
      </p:sp>
      <p:sp>
        <p:nvSpPr>
          <p:cNvPr id="18" name="圆角矩形 17"/>
          <p:cNvSpPr/>
          <p:nvPr/>
        </p:nvSpPr>
        <p:spPr>
          <a:xfrm>
            <a:off x="2946083" y="3884296"/>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数据建模</a:t>
            </a:r>
          </a:p>
        </p:txBody>
      </p:sp>
      <p:sp>
        <p:nvSpPr>
          <p:cNvPr id="19" name="下箭头 18"/>
          <p:cNvSpPr/>
          <p:nvPr/>
        </p:nvSpPr>
        <p:spPr>
          <a:xfrm>
            <a:off x="4181476" y="2646999"/>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0" name="下箭头 19"/>
          <p:cNvSpPr/>
          <p:nvPr/>
        </p:nvSpPr>
        <p:spPr>
          <a:xfrm>
            <a:off x="4183381" y="3561399"/>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1" name="下箭头 20"/>
          <p:cNvSpPr/>
          <p:nvPr/>
        </p:nvSpPr>
        <p:spPr>
          <a:xfrm>
            <a:off x="4183381" y="4481514"/>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2" name="文本框 21"/>
          <p:cNvSpPr txBox="1"/>
          <p:nvPr/>
        </p:nvSpPr>
        <p:spPr>
          <a:xfrm>
            <a:off x="5968842" y="2168367"/>
            <a:ext cx="4493538" cy="461665"/>
          </a:xfrm>
          <a:prstGeom prst="rect">
            <a:avLst/>
          </a:prstGeom>
          <a:noFill/>
        </p:spPr>
        <p:txBody>
          <a:bodyPr wrap="none" rtlCol="0" anchor="t">
            <a:spAutoFit/>
          </a:bodyPr>
          <a:lstStyle/>
          <a:p>
            <a:r>
              <a:rPr lang="zh-CN" altLang="en-US" sz="2400" dirty="0">
                <a:latin typeface="微软雅黑" panose="020B0503020204020204" charset="-122"/>
                <a:ea typeface="微软雅黑" panose="020B0503020204020204" charset="-122"/>
                <a:sym typeface="+mn-ea"/>
              </a:rPr>
              <a:t>数据清洗、数据采样、数据拆分</a:t>
            </a:r>
          </a:p>
        </p:txBody>
      </p:sp>
      <p:sp>
        <p:nvSpPr>
          <p:cNvPr id="23" name="文本框 22"/>
          <p:cNvSpPr txBox="1"/>
          <p:nvPr/>
        </p:nvSpPr>
        <p:spPr>
          <a:xfrm>
            <a:off x="5970270" y="3103246"/>
            <a:ext cx="449353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特征编码、特征选择、特征降维</a:t>
            </a:r>
          </a:p>
        </p:txBody>
      </p:sp>
      <p:sp>
        <p:nvSpPr>
          <p:cNvPr id="24" name="文本框 23"/>
          <p:cNvSpPr txBox="1"/>
          <p:nvPr/>
        </p:nvSpPr>
        <p:spPr>
          <a:xfrm>
            <a:off x="5970270" y="4034315"/>
            <a:ext cx="449353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回归问题、分类问题、聚类问题</a:t>
            </a:r>
          </a:p>
        </p:txBody>
      </p:sp>
      <p:sp>
        <p:nvSpPr>
          <p:cNvPr id="25" name="文本框 24"/>
          <p:cNvSpPr txBox="1"/>
          <p:nvPr/>
        </p:nvSpPr>
        <p:spPr>
          <a:xfrm>
            <a:off x="5970270" y="4947762"/>
            <a:ext cx="461055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查准率、查全率、</a:t>
            </a:r>
            <a:r>
              <a:rPr lang="en-US" altLang="zh-CN" sz="2400" dirty="0">
                <a:latin typeface="微软雅黑" panose="020B0503020204020204" charset="-122"/>
                <a:ea typeface="微软雅黑" panose="020B0503020204020204" charset="-122"/>
                <a:sym typeface="+mn-ea"/>
              </a:rPr>
              <a:t>F1</a:t>
            </a:r>
            <a:r>
              <a:rPr lang="zh-CN" altLang="en-US" sz="2400" dirty="0">
                <a:latin typeface="微软雅黑" panose="020B0503020204020204" charset="-122"/>
                <a:ea typeface="微软雅黑" panose="020B0503020204020204" charset="-122"/>
                <a:sym typeface="+mn-ea"/>
              </a:rPr>
              <a:t>值、</a:t>
            </a:r>
            <a:r>
              <a:rPr lang="en-US" altLang="zh-CN" sz="2400" dirty="0">
                <a:latin typeface="微软雅黑" panose="020B0503020204020204" charset="-122"/>
                <a:ea typeface="微软雅黑" panose="020B0503020204020204" charset="-122"/>
                <a:sym typeface="+mn-ea"/>
              </a:rPr>
              <a:t>PR</a:t>
            </a:r>
            <a:r>
              <a:rPr lang="zh-CN" altLang="en-US" sz="2400" dirty="0">
                <a:latin typeface="微软雅黑" panose="020B0503020204020204" charset="-122"/>
                <a:ea typeface="微软雅黑" panose="020B0503020204020204" charset="-122"/>
                <a:sym typeface="+mn-ea"/>
              </a:rPr>
              <a:t>曲线</a:t>
            </a:r>
          </a:p>
        </p:txBody>
      </p:sp>
      <p:sp>
        <p:nvSpPr>
          <p:cNvPr id="16"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数据预处理</a:t>
            </a:r>
          </a:p>
        </p:txBody>
      </p:sp>
    </p:spTree>
    <p:extLst>
      <p:ext uri="{BB962C8B-B14F-4D97-AF65-F5344CB8AC3E}">
        <p14:creationId xmlns:p14="http://schemas.microsoft.com/office/powerpoint/2010/main" val="2499786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757238"/>
            <a:ext cx="3455988" cy="742950"/>
          </a:xfrm>
        </p:spPr>
        <p:txBody>
          <a:bodyPr>
            <a:normAutofit/>
          </a:bodyPr>
          <a:lstStyle/>
          <a:p>
            <a:r>
              <a:rPr lang="zh-CN" altLang="en-US" sz="2700" b="1" dirty="0">
                <a:latin typeface="微软雅黑" panose="020B0503020204020204" pitchFamily="34" charset="-122"/>
                <a:ea typeface="微软雅黑" panose="020B0503020204020204" pitchFamily="34" charset="-122"/>
              </a:rPr>
              <a:t>特征编码</a:t>
            </a:r>
          </a:p>
        </p:txBody>
      </p:sp>
      <p:pic>
        <p:nvPicPr>
          <p:cNvPr id="4" name="Picture 3"/>
          <p:cNvPicPr>
            <a:picLocks noChangeAspect="1"/>
          </p:cNvPicPr>
          <p:nvPr/>
        </p:nvPicPr>
        <p:blipFill>
          <a:blip r:embed="rId2"/>
          <a:stretch>
            <a:fillRect/>
          </a:stretch>
        </p:blipFill>
        <p:spPr>
          <a:xfrm>
            <a:off x="2972754" y="1483782"/>
            <a:ext cx="4001929" cy="2499836"/>
          </a:xfrm>
          <a:prstGeom prst="rect">
            <a:avLst/>
          </a:prstGeom>
        </p:spPr>
      </p:pic>
      <p:pic>
        <p:nvPicPr>
          <p:cNvPr id="5" name="Picture 3"/>
          <p:cNvPicPr>
            <a:picLocks noChangeAspect="1"/>
          </p:cNvPicPr>
          <p:nvPr/>
        </p:nvPicPr>
        <p:blipFill>
          <a:blip r:embed="rId3"/>
          <a:stretch>
            <a:fillRect/>
          </a:stretch>
        </p:blipFill>
        <p:spPr>
          <a:xfrm>
            <a:off x="2279577" y="4293096"/>
            <a:ext cx="5484019" cy="1684020"/>
          </a:xfrm>
          <a:prstGeom prst="rect">
            <a:avLst/>
          </a:prstGeom>
        </p:spPr>
      </p:pic>
      <p:sp>
        <p:nvSpPr>
          <p:cNvPr id="7" name="文本框 6"/>
          <p:cNvSpPr txBox="1"/>
          <p:nvPr/>
        </p:nvSpPr>
        <p:spPr>
          <a:xfrm>
            <a:off x="7969568" y="2133016"/>
            <a:ext cx="2305526"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人看到的图像</a:t>
            </a:r>
          </a:p>
        </p:txBody>
      </p:sp>
      <p:sp>
        <p:nvSpPr>
          <p:cNvPr id="8" name="文本框 7"/>
          <p:cNvSpPr txBox="1"/>
          <p:nvPr/>
        </p:nvSpPr>
        <p:spPr>
          <a:xfrm>
            <a:off x="7969568" y="4514161"/>
            <a:ext cx="2305526" cy="830997"/>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计算机看到的图像</a:t>
            </a:r>
          </a:p>
        </p:txBody>
      </p:sp>
      <p:sp>
        <p:nvSpPr>
          <p:cNvPr id="9"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特征工程</a:t>
            </a:r>
          </a:p>
        </p:txBody>
      </p:sp>
    </p:spTree>
    <p:extLst>
      <p:ext uri="{BB962C8B-B14F-4D97-AF65-F5344CB8AC3E}">
        <p14:creationId xmlns:p14="http://schemas.microsoft.com/office/powerpoint/2010/main" val="2464261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48000" y="1001713"/>
            <a:ext cx="9144000" cy="552450"/>
          </a:xfrm>
        </p:spPr>
        <p:txBody>
          <a:bodyPr>
            <a:normAutofit/>
          </a:bodyPr>
          <a:lstStyle/>
          <a:p>
            <a:r>
              <a:rPr lang="zh-CN" altLang="en-US" sz="2800" b="1" dirty="0">
                <a:latin typeface="微软雅黑" panose="020B0503020204020204" pitchFamily="34" charset="-122"/>
                <a:ea typeface="微软雅黑" panose="020B0503020204020204" pitchFamily="34" charset="-122"/>
              </a:rPr>
              <a:t>特征选择</a:t>
            </a:r>
          </a:p>
        </p:txBody>
      </p:sp>
      <p:grpSp>
        <p:nvGrpSpPr>
          <p:cNvPr id="14" name="组合 13"/>
          <p:cNvGrpSpPr/>
          <p:nvPr/>
        </p:nvGrpSpPr>
        <p:grpSpPr>
          <a:xfrm>
            <a:off x="3819049" y="1544464"/>
            <a:ext cx="5373295" cy="1236464"/>
            <a:chOff x="440" y="2920"/>
            <a:chExt cx="7026" cy="1558"/>
          </a:xfrm>
        </p:grpSpPr>
        <p:grpSp>
          <p:nvGrpSpPr>
            <p:cNvPr id="10" name="组合 9"/>
            <p:cNvGrpSpPr/>
            <p:nvPr/>
          </p:nvGrpSpPr>
          <p:grpSpPr>
            <a:xfrm>
              <a:off x="816" y="3487"/>
              <a:ext cx="6650" cy="991"/>
              <a:chOff x="816" y="3487"/>
              <a:chExt cx="6650" cy="991"/>
            </a:xfrm>
          </p:grpSpPr>
          <p:pic>
            <p:nvPicPr>
              <p:cNvPr id="8" name="图片 7"/>
              <p:cNvPicPr>
                <a:picLocks noChangeAspect="1"/>
              </p:cNvPicPr>
              <p:nvPr/>
            </p:nvPicPr>
            <p:blipFill>
              <a:blip r:embed="rId2"/>
              <a:stretch>
                <a:fillRect/>
              </a:stretch>
            </p:blipFill>
            <p:spPr>
              <a:xfrm>
                <a:off x="816" y="3487"/>
                <a:ext cx="6449" cy="517"/>
              </a:xfrm>
              <a:prstGeom prst="rect">
                <a:avLst/>
              </a:prstGeom>
            </p:spPr>
          </p:pic>
          <p:pic>
            <p:nvPicPr>
              <p:cNvPr id="9" name="图片 8"/>
              <p:cNvPicPr>
                <a:picLocks noChangeAspect="1"/>
              </p:cNvPicPr>
              <p:nvPr/>
            </p:nvPicPr>
            <p:blipFill>
              <a:blip r:embed="rId3" cstate="print"/>
              <a:stretch>
                <a:fillRect/>
              </a:stretch>
            </p:blipFill>
            <p:spPr>
              <a:xfrm>
                <a:off x="2505" y="4037"/>
                <a:ext cx="4961" cy="441"/>
              </a:xfrm>
              <a:prstGeom prst="rect">
                <a:avLst/>
              </a:prstGeom>
            </p:spPr>
          </p:pic>
        </p:grpSp>
        <p:pic>
          <p:nvPicPr>
            <p:cNvPr id="12" name="图片 11"/>
            <p:cNvPicPr>
              <a:picLocks noChangeAspect="1"/>
            </p:cNvPicPr>
            <p:nvPr/>
          </p:nvPicPr>
          <p:blipFill>
            <a:blip r:embed="rId4"/>
            <a:stretch>
              <a:fillRect/>
            </a:stretch>
          </p:blipFill>
          <p:spPr>
            <a:xfrm>
              <a:off x="440" y="2920"/>
              <a:ext cx="5501" cy="492"/>
            </a:xfrm>
            <a:prstGeom prst="rect">
              <a:avLst/>
            </a:prstGeom>
          </p:spPr>
        </p:pic>
      </p:grpSp>
      <p:sp>
        <p:nvSpPr>
          <p:cNvPr id="6" name="文本框 5"/>
          <p:cNvSpPr txBox="1"/>
          <p:nvPr/>
        </p:nvSpPr>
        <p:spPr>
          <a:xfrm>
            <a:off x="1972629" y="1963104"/>
            <a:ext cx="1594961" cy="1200329"/>
          </a:xfrm>
          <a:prstGeom prst="rect">
            <a:avLst/>
          </a:prstGeom>
          <a:ln w="38100">
            <a:solidFill>
              <a:srgbClr val="FF0000"/>
            </a:solidFill>
          </a:ln>
        </p:spPr>
        <p:style>
          <a:lnRef idx="2">
            <a:schemeClr val="accent2"/>
          </a:lnRef>
          <a:fillRef idx="1">
            <a:schemeClr val="lt1"/>
          </a:fillRef>
          <a:effectRef idx="0">
            <a:schemeClr val="accent2"/>
          </a:effectRef>
          <a:fontRef idx="minor">
            <a:schemeClr val="dk1"/>
          </a:fontRef>
        </p:style>
        <p:txBody>
          <a:bodyPr wrap="square" rtlCol="0" anchor="t">
            <a:spAutoFit/>
          </a:bodyPr>
          <a:lstStyle/>
          <a:p>
            <a:r>
              <a:rPr lang="en-US" altLang="zh-CN" sz="2400" b="1" dirty="0">
                <a:solidFill>
                  <a:srgbClr val="CC0099"/>
                </a:solidFill>
                <a:latin typeface="微软雅黑" panose="020B0503020204020204" charset="-122"/>
                <a:ea typeface="微软雅黑" panose="020B0503020204020204" charset="-122"/>
              </a:rPr>
              <a:t>    </a:t>
            </a:r>
            <a:r>
              <a:rPr lang="zh-CN" altLang="en-US" sz="2400" b="1" dirty="0">
                <a:solidFill>
                  <a:srgbClr val="CC0099"/>
                </a:solidFill>
                <a:latin typeface="微软雅黑" panose="020B0503020204020204" charset="-122"/>
                <a:ea typeface="微软雅黑" panose="020B0503020204020204" charset="-122"/>
              </a:rPr>
              <a:t>这些属性特征都有用吗？</a:t>
            </a:r>
          </a:p>
        </p:txBody>
      </p:sp>
      <p:sp>
        <p:nvSpPr>
          <p:cNvPr id="5" name="五角星 4"/>
          <p:cNvSpPr/>
          <p:nvPr/>
        </p:nvSpPr>
        <p:spPr>
          <a:xfrm>
            <a:off x="2039303" y="2015967"/>
            <a:ext cx="263366" cy="222885"/>
          </a:xfrm>
          <a:prstGeom prst="star5">
            <a:avLst/>
          </a:prstGeom>
          <a:solidFill>
            <a:srgbClr val="FF33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20" name="图片 19"/>
          <p:cNvPicPr>
            <a:picLocks noChangeAspect="1"/>
          </p:cNvPicPr>
          <p:nvPr/>
        </p:nvPicPr>
        <p:blipFill>
          <a:blip r:embed="rId5" cstate="print"/>
          <a:stretch>
            <a:fillRect/>
          </a:stretch>
        </p:blipFill>
        <p:spPr>
          <a:xfrm>
            <a:off x="3198068" y="4784860"/>
            <a:ext cx="6210300" cy="444341"/>
          </a:xfrm>
          <a:prstGeom prst="rect">
            <a:avLst/>
          </a:prstGeom>
        </p:spPr>
      </p:pic>
      <p:sp>
        <p:nvSpPr>
          <p:cNvPr id="11" name="文本框 10"/>
          <p:cNvSpPr txBox="1"/>
          <p:nvPr/>
        </p:nvSpPr>
        <p:spPr>
          <a:xfrm>
            <a:off x="1976914" y="4535330"/>
            <a:ext cx="1070134" cy="830997"/>
          </a:xfrm>
          <a:prstGeom prst="rect">
            <a:avLst/>
          </a:prstGeom>
          <a:noFill/>
        </p:spPr>
        <p:txBody>
          <a:bodyPr wrap="square" rtlCol="0" anchor="t">
            <a:spAutoFit/>
          </a:bodyPr>
          <a:lstStyle/>
          <a:p>
            <a:r>
              <a:rPr lang="zh-CN" altLang="en-US" sz="2400" b="1" dirty="0">
                <a:solidFill>
                  <a:srgbClr val="0432FF"/>
                </a:solidFill>
                <a:latin typeface="微软雅黑" panose="020B0503020204020204" charset="-122"/>
                <a:ea typeface="微软雅黑" panose="020B0503020204020204" charset="-122"/>
                <a:sym typeface="+mn-ea"/>
              </a:rPr>
              <a:t>特征选择</a:t>
            </a:r>
          </a:p>
        </p:txBody>
      </p:sp>
      <p:grpSp>
        <p:nvGrpSpPr>
          <p:cNvPr id="16" name="组合 15"/>
          <p:cNvGrpSpPr/>
          <p:nvPr/>
        </p:nvGrpSpPr>
        <p:grpSpPr>
          <a:xfrm>
            <a:off x="3819049" y="2850458"/>
            <a:ext cx="5256440" cy="1369119"/>
            <a:chOff x="9781" y="2614"/>
            <a:chExt cx="6756" cy="1829"/>
          </a:xfrm>
        </p:grpSpPr>
        <p:pic>
          <p:nvPicPr>
            <p:cNvPr id="19" name="图片 18"/>
            <p:cNvPicPr>
              <a:picLocks noChangeAspect="1"/>
            </p:cNvPicPr>
            <p:nvPr/>
          </p:nvPicPr>
          <p:blipFill>
            <a:blip r:embed="rId6" cstate="print"/>
            <a:stretch>
              <a:fillRect/>
            </a:stretch>
          </p:blipFill>
          <p:spPr>
            <a:xfrm>
              <a:off x="10186" y="3081"/>
              <a:ext cx="6351" cy="1362"/>
            </a:xfrm>
            <a:prstGeom prst="rect">
              <a:avLst/>
            </a:prstGeom>
          </p:spPr>
        </p:pic>
        <p:pic>
          <p:nvPicPr>
            <p:cNvPr id="21" name="图片 20"/>
            <p:cNvPicPr>
              <a:picLocks noChangeAspect="1"/>
            </p:cNvPicPr>
            <p:nvPr/>
          </p:nvPicPr>
          <p:blipFill>
            <a:blip r:embed="rId7"/>
            <a:stretch>
              <a:fillRect/>
            </a:stretch>
          </p:blipFill>
          <p:spPr>
            <a:xfrm>
              <a:off x="9781" y="2614"/>
              <a:ext cx="5045" cy="494"/>
            </a:xfrm>
            <a:prstGeom prst="rect">
              <a:avLst/>
            </a:prstGeom>
          </p:spPr>
        </p:pic>
      </p:grpSp>
      <p:sp>
        <p:nvSpPr>
          <p:cNvPr id="15"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数据预处理</a:t>
            </a:r>
          </a:p>
        </p:txBody>
      </p:sp>
    </p:spTree>
    <p:extLst>
      <p:ext uri="{BB962C8B-B14F-4D97-AF65-F5344CB8AC3E}">
        <p14:creationId xmlns:p14="http://schemas.microsoft.com/office/powerpoint/2010/main" val="77378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48000" y="1104900"/>
            <a:ext cx="9144000" cy="471488"/>
          </a:xfrm>
        </p:spPr>
        <p:txBody>
          <a:bodyPr>
            <a:noAutofit/>
          </a:bodyPr>
          <a:lstStyle/>
          <a:p>
            <a:r>
              <a:rPr lang="zh-CN" altLang="en-US" sz="2800" b="1" dirty="0">
                <a:latin typeface="微软雅黑" panose="020B0503020204020204" pitchFamily="34" charset="-122"/>
                <a:ea typeface="微软雅黑" panose="020B0503020204020204" pitchFamily="34" charset="-122"/>
              </a:rPr>
              <a:t>特征降维</a:t>
            </a:r>
          </a:p>
        </p:txBody>
      </p:sp>
      <p:sp>
        <p:nvSpPr>
          <p:cNvPr id="5" name="矩形 4"/>
          <p:cNvSpPr/>
          <p:nvPr/>
        </p:nvSpPr>
        <p:spPr>
          <a:xfrm>
            <a:off x="1919536" y="1620275"/>
            <a:ext cx="8496944" cy="830997"/>
          </a:xfrm>
          <a:prstGeom prst="rect">
            <a:avLst/>
          </a:prstGeom>
        </p:spPr>
        <p:txBody>
          <a:bodyPr wrap="square">
            <a:spAutoFit/>
          </a:bodyPr>
          <a:lstStyle/>
          <a:p>
            <a:pPr indent="342900" fontAlgn="auto"/>
            <a:r>
              <a:rPr sz="2400" dirty="0">
                <a:latin typeface="微软雅黑" panose="020B0503020204020204" charset="-122"/>
                <a:ea typeface="微软雅黑" panose="020B0503020204020204" charset="-122"/>
              </a:rPr>
              <a:t>特征选择完成后</a:t>
            </a:r>
            <a:r>
              <a:rPr lang="zh-CN" altLang="en-US" sz="2400" dirty="0">
                <a:latin typeface="微软雅黑" panose="020B0503020204020204" charset="-122"/>
                <a:ea typeface="微软雅黑" panose="020B0503020204020204" charset="-122"/>
              </a:rPr>
              <a:t>，</a:t>
            </a:r>
            <a:r>
              <a:rPr sz="2400" dirty="0">
                <a:latin typeface="微软雅黑" panose="020B0503020204020204" charset="-122"/>
                <a:ea typeface="微软雅黑" panose="020B0503020204020204" charset="-122"/>
              </a:rPr>
              <a:t>可能由于特征矩阵过大，导致计算量大</a:t>
            </a:r>
            <a:r>
              <a:rPr lang="zh-CN" altLang="en-US" sz="2400" dirty="0">
                <a:latin typeface="微软雅黑" panose="020B0503020204020204" charset="-122"/>
                <a:ea typeface="微软雅黑" panose="020B0503020204020204" charset="-122"/>
              </a:rPr>
              <a:t>、</a:t>
            </a:r>
            <a:r>
              <a:rPr sz="2400" dirty="0">
                <a:latin typeface="微软雅黑" panose="020B0503020204020204" charset="-122"/>
                <a:ea typeface="微软雅黑" panose="020B0503020204020204" charset="-122"/>
              </a:rPr>
              <a:t>训练时间长</a:t>
            </a:r>
            <a:r>
              <a:rPr lang="zh-CN" altLang="en-US" sz="2400" dirty="0">
                <a:latin typeface="微软雅黑" panose="020B0503020204020204" charset="-122"/>
                <a:ea typeface="微软雅黑" panose="020B0503020204020204" charset="-122"/>
              </a:rPr>
              <a:t>，</a:t>
            </a:r>
            <a:r>
              <a:rPr sz="2400" dirty="0">
                <a:latin typeface="微软雅黑" panose="020B0503020204020204" charset="-122"/>
                <a:ea typeface="微软雅黑" panose="020B0503020204020204" charset="-122"/>
              </a:rPr>
              <a:t>因此</a:t>
            </a:r>
            <a:r>
              <a:rPr sz="2400" b="1" dirty="0">
                <a:solidFill>
                  <a:srgbClr val="FF0000"/>
                </a:solidFill>
                <a:latin typeface="微软雅黑" panose="020B0503020204020204" charset="-122"/>
                <a:ea typeface="微软雅黑" panose="020B0503020204020204" charset="-122"/>
              </a:rPr>
              <a:t>降低特征矩阵维度</a:t>
            </a:r>
            <a:r>
              <a:rPr sz="2400" dirty="0">
                <a:latin typeface="微软雅黑" panose="020B0503020204020204" charset="-122"/>
                <a:ea typeface="微软雅黑" panose="020B0503020204020204" charset="-122"/>
              </a:rPr>
              <a:t>也是必不可少的。</a:t>
            </a:r>
          </a:p>
        </p:txBody>
      </p:sp>
      <p:sp>
        <p:nvSpPr>
          <p:cNvPr id="17" name="文本框 16"/>
          <p:cNvSpPr txBox="1"/>
          <p:nvPr/>
        </p:nvSpPr>
        <p:spPr>
          <a:xfrm>
            <a:off x="1919537" y="2526983"/>
            <a:ext cx="3879284" cy="1938992"/>
          </a:xfrm>
          <a:prstGeom prst="rect">
            <a:avLst/>
          </a:prstGeom>
          <a:noFill/>
        </p:spPr>
        <p:txBody>
          <a:bodyPr wrap="square" rtlCol="0" anchor="t">
            <a:spAutoFit/>
          </a:bodyPr>
          <a:lstStyle/>
          <a:p>
            <a:pPr marL="257175" indent="-257175">
              <a:buFont typeface="Wingdings" panose="05000000000000000000" charset="0"/>
              <a:buChar char=""/>
            </a:pPr>
            <a:r>
              <a:rPr lang="zh-CN" altLang="en-US" sz="2400" b="1" dirty="0">
                <a:solidFill>
                  <a:srgbClr val="0070C0"/>
                </a:solidFill>
                <a:latin typeface="微软雅黑" panose="020B0503020204020204" charset="-122"/>
                <a:ea typeface="微软雅黑" panose="020B0503020204020204" charset="-122"/>
              </a:rPr>
              <a:t>主成分分析</a:t>
            </a:r>
            <a:r>
              <a:rPr lang="en-US" altLang="zh-CN" sz="2400" b="1" dirty="0">
                <a:solidFill>
                  <a:srgbClr val="0070C0"/>
                </a:solidFill>
                <a:latin typeface="微软雅黑" panose="020B0503020204020204" charset="-122"/>
                <a:ea typeface="微软雅黑" panose="020B0503020204020204" charset="-122"/>
              </a:rPr>
              <a:t>(PCA)</a:t>
            </a:r>
            <a:endParaRPr lang="en-US" altLang="zh-CN" sz="2400" b="1" dirty="0">
              <a:latin typeface="微软雅黑" panose="020B0503020204020204" charset="-122"/>
              <a:ea typeface="微软雅黑" panose="020B0503020204020204" charset="-122"/>
            </a:endParaRPr>
          </a:p>
          <a:p>
            <a:r>
              <a:rPr lang="zh-CN" altLang="en-US" sz="2400" dirty="0">
                <a:latin typeface="微软雅黑" panose="020B0503020204020204" charset="-122"/>
                <a:ea typeface="微软雅黑" panose="020B0503020204020204" charset="-122"/>
              </a:rPr>
              <a:t>    </a:t>
            </a:r>
            <a:r>
              <a:rPr sz="2400" dirty="0" err="1">
                <a:latin typeface="微软雅黑" panose="020B0503020204020204" charset="-122"/>
                <a:ea typeface="微软雅黑" panose="020B0503020204020204" charset="-122"/>
                <a:sym typeface="+mn-ea"/>
              </a:rPr>
              <a:t>将原始特征空间映射到彼此正交的特征向量空间，在非满秩的情况</a:t>
            </a:r>
            <a:r>
              <a:rPr lang="zh-CN" altLang="en-US" sz="2400" dirty="0">
                <a:latin typeface="微软雅黑" panose="020B0503020204020204" charset="-122"/>
                <a:ea typeface="微软雅黑" panose="020B0503020204020204" charset="-122"/>
                <a:sym typeface="+mn-ea"/>
              </a:rPr>
              <a:t>下使</a:t>
            </a:r>
            <a:r>
              <a:rPr sz="2400" dirty="0" err="1">
                <a:latin typeface="微软雅黑" panose="020B0503020204020204" charset="-122"/>
                <a:ea typeface="微软雅黑" panose="020B0503020204020204" charset="-122"/>
                <a:sym typeface="+mn-ea"/>
              </a:rPr>
              <a:t>用SVD分解来构建特征向量</a:t>
            </a:r>
            <a:r>
              <a:rPr lang="zh-CN" altLang="en-US" sz="2400" dirty="0">
                <a:latin typeface="微软雅黑" panose="020B0503020204020204" charset="-122"/>
                <a:ea typeface="微软雅黑" panose="020B0503020204020204" charset="-122"/>
                <a:sym typeface="+mn-ea"/>
              </a:rPr>
              <a:t>。</a:t>
            </a:r>
          </a:p>
        </p:txBody>
      </p:sp>
      <p:pic>
        <p:nvPicPr>
          <p:cNvPr id="8" name="图片 7"/>
          <p:cNvPicPr>
            <a:picLocks noChangeAspect="1"/>
          </p:cNvPicPr>
          <p:nvPr/>
        </p:nvPicPr>
        <p:blipFill>
          <a:blip r:embed="rId2"/>
          <a:stretch>
            <a:fillRect/>
          </a:stretch>
        </p:blipFill>
        <p:spPr>
          <a:xfrm>
            <a:off x="3143673" y="4491693"/>
            <a:ext cx="1890713" cy="1716405"/>
          </a:xfrm>
          <a:prstGeom prst="rect">
            <a:avLst/>
          </a:prstGeom>
        </p:spPr>
      </p:pic>
      <p:sp>
        <p:nvSpPr>
          <p:cNvPr id="9" name="文本框 8"/>
          <p:cNvSpPr txBox="1"/>
          <p:nvPr/>
        </p:nvSpPr>
        <p:spPr>
          <a:xfrm>
            <a:off x="6037897" y="2552700"/>
            <a:ext cx="4090551" cy="1938992"/>
          </a:xfrm>
          <a:prstGeom prst="rect">
            <a:avLst/>
          </a:prstGeom>
          <a:noFill/>
        </p:spPr>
        <p:txBody>
          <a:bodyPr wrap="square" rtlCol="0" anchor="t">
            <a:spAutoFit/>
          </a:bodyPr>
          <a:lstStyle/>
          <a:p>
            <a:pPr marL="257175" indent="-257175">
              <a:buFont typeface="Wingdings" panose="05000000000000000000" charset="0"/>
              <a:buChar char=""/>
            </a:pPr>
            <a:r>
              <a:rPr lang="zh-CN" altLang="en-US" sz="2400" b="1" dirty="0">
                <a:solidFill>
                  <a:srgbClr val="0070C0"/>
                </a:solidFill>
                <a:latin typeface="微软雅黑" panose="020B0503020204020204" charset="-122"/>
                <a:ea typeface="微软雅黑" panose="020B0503020204020204" charset="-122"/>
              </a:rPr>
              <a:t>线性判别分析</a:t>
            </a:r>
            <a:r>
              <a:rPr lang="en-US" altLang="zh-CN" sz="2400" b="1" dirty="0">
                <a:solidFill>
                  <a:srgbClr val="0070C0"/>
                </a:solidFill>
                <a:latin typeface="微软雅黑" panose="020B0503020204020204" charset="-122"/>
                <a:ea typeface="微软雅黑" panose="020B0503020204020204" charset="-122"/>
              </a:rPr>
              <a:t>(LDA)</a:t>
            </a:r>
            <a:endParaRPr lang="en-US" altLang="zh-CN" sz="2400" b="1" dirty="0">
              <a:latin typeface="微软雅黑" panose="020B0503020204020204" charset="-122"/>
              <a:ea typeface="微软雅黑" panose="020B0503020204020204" charset="-122"/>
            </a:endParaRPr>
          </a:p>
          <a:p>
            <a:r>
              <a:rPr lang="zh-CN" altLang="en-US" sz="2400" dirty="0">
                <a:latin typeface="微软雅黑" panose="020B0503020204020204" charset="-122"/>
                <a:ea typeface="微软雅黑" panose="020B0503020204020204" charset="-122"/>
              </a:rPr>
              <a:t>     </a:t>
            </a:r>
            <a:r>
              <a:rPr sz="2400" dirty="0" err="1">
                <a:latin typeface="微软雅黑" panose="020B0503020204020204" charset="-122"/>
                <a:ea typeface="微软雅黑" panose="020B0503020204020204" charset="-122"/>
                <a:sym typeface="+mn-ea"/>
              </a:rPr>
              <a:t>给出一个标注了类别的数据集，投影到了一条直线之后，能够使得点尽量的按类别区分开</a:t>
            </a:r>
            <a:r>
              <a:rPr lang="zh-CN" altLang="en-US" sz="2400" dirty="0">
                <a:latin typeface="微软雅黑" panose="020B0503020204020204" charset="-122"/>
                <a:ea typeface="微软雅黑" panose="020B0503020204020204" charset="-122"/>
                <a:sym typeface="+mn-ea"/>
              </a:rPr>
              <a:t>。</a:t>
            </a:r>
          </a:p>
        </p:txBody>
      </p:sp>
      <p:pic>
        <p:nvPicPr>
          <p:cNvPr id="10" name="图片 9"/>
          <p:cNvPicPr>
            <a:picLocks noChangeAspect="1"/>
          </p:cNvPicPr>
          <p:nvPr/>
        </p:nvPicPr>
        <p:blipFill>
          <a:blip r:embed="rId3"/>
          <a:stretch>
            <a:fillRect/>
          </a:stretch>
        </p:blipFill>
        <p:spPr>
          <a:xfrm>
            <a:off x="7032105" y="4593122"/>
            <a:ext cx="1951673" cy="1890713"/>
          </a:xfrm>
          <a:prstGeom prst="rect">
            <a:avLst/>
          </a:prstGeom>
        </p:spPr>
      </p:pic>
      <p:sp>
        <p:nvSpPr>
          <p:cNvPr id="11"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数据预处理</a:t>
            </a:r>
          </a:p>
        </p:txBody>
      </p:sp>
    </p:spTree>
    <p:extLst>
      <p:ext uri="{BB962C8B-B14F-4D97-AF65-F5344CB8AC3E}">
        <p14:creationId xmlns:p14="http://schemas.microsoft.com/office/powerpoint/2010/main" val="256223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圆角矩形 12"/>
          <p:cNvSpPr/>
          <p:nvPr/>
        </p:nvSpPr>
        <p:spPr>
          <a:xfrm>
            <a:off x="2946083" y="2017872"/>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400" dirty="0">
                <a:solidFill>
                  <a:schemeClr val="tx1"/>
                </a:solidFill>
                <a:latin typeface="微软雅黑" panose="020B0503020204020204" charset="-122"/>
                <a:ea typeface="微软雅黑" panose="020B0503020204020204" charset="-122"/>
                <a:sym typeface="+mn-ea"/>
              </a:rPr>
              <a:t>数据预处理</a:t>
            </a:r>
          </a:p>
        </p:txBody>
      </p:sp>
      <p:sp>
        <p:nvSpPr>
          <p:cNvPr id="14" name="圆角矩形 13"/>
          <p:cNvSpPr/>
          <p:nvPr/>
        </p:nvSpPr>
        <p:spPr>
          <a:xfrm>
            <a:off x="2946083" y="2952751"/>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特征工程</a:t>
            </a:r>
          </a:p>
        </p:txBody>
      </p:sp>
      <p:sp>
        <p:nvSpPr>
          <p:cNvPr id="15" name="圆角矩形 14"/>
          <p:cNvSpPr/>
          <p:nvPr/>
        </p:nvSpPr>
        <p:spPr>
          <a:xfrm>
            <a:off x="2946083" y="4797267"/>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结果评估</a:t>
            </a:r>
          </a:p>
        </p:txBody>
      </p:sp>
      <p:sp>
        <p:nvSpPr>
          <p:cNvPr id="18" name="圆角矩形 17"/>
          <p:cNvSpPr/>
          <p:nvPr/>
        </p:nvSpPr>
        <p:spPr>
          <a:xfrm>
            <a:off x="2946083" y="3884296"/>
            <a:ext cx="2769870" cy="577215"/>
          </a:xfrm>
          <a:prstGeom prst="roundRect">
            <a:avLst/>
          </a:prstGeom>
          <a:solidFill>
            <a:schemeClr val="accent2">
              <a:lumMod val="40000"/>
              <a:lumOff val="6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数据建模</a:t>
            </a:r>
          </a:p>
        </p:txBody>
      </p:sp>
      <p:sp>
        <p:nvSpPr>
          <p:cNvPr id="19" name="下箭头 18"/>
          <p:cNvSpPr/>
          <p:nvPr/>
        </p:nvSpPr>
        <p:spPr>
          <a:xfrm>
            <a:off x="4181476" y="2646999"/>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0" name="下箭头 19"/>
          <p:cNvSpPr/>
          <p:nvPr/>
        </p:nvSpPr>
        <p:spPr>
          <a:xfrm>
            <a:off x="4183381" y="3561399"/>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1" name="下箭头 20"/>
          <p:cNvSpPr/>
          <p:nvPr/>
        </p:nvSpPr>
        <p:spPr>
          <a:xfrm>
            <a:off x="4183381" y="4481514"/>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2" name="文本框 21"/>
          <p:cNvSpPr txBox="1"/>
          <p:nvPr/>
        </p:nvSpPr>
        <p:spPr>
          <a:xfrm>
            <a:off x="5968842" y="2168367"/>
            <a:ext cx="4493538" cy="461665"/>
          </a:xfrm>
          <a:prstGeom prst="rect">
            <a:avLst/>
          </a:prstGeom>
          <a:noFill/>
        </p:spPr>
        <p:txBody>
          <a:bodyPr wrap="none" rtlCol="0" anchor="t">
            <a:spAutoFit/>
          </a:bodyPr>
          <a:lstStyle/>
          <a:p>
            <a:r>
              <a:rPr lang="zh-CN" altLang="en-US" sz="2400" dirty="0">
                <a:latin typeface="微软雅黑" panose="020B0503020204020204" charset="-122"/>
                <a:ea typeface="微软雅黑" panose="020B0503020204020204" charset="-122"/>
                <a:sym typeface="+mn-ea"/>
              </a:rPr>
              <a:t>数据清洗、数据采样、数据拆分</a:t>
            </a:r>
          </a:p>
        </p:txBody>
      </p:sp>
      <p:sp>
        <p:nvSpPr>
          <p:cNvPr id="23" name="文本框 22"/>
          <p:cNvSpPr txBox="1"/>
          <p:nvPr/>
        </p:nvSpPr>
        <p:spPr>
          <a:xfrm>
            <a:off x="5970270" y="3103246"/>
            <a:ext cx="449353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特征编码、特征选择、特征降维</a:t>
            </a:r>
          </a:p>
        </p:txBody>
      </p:sp>
      <p:sp>
        <p:nvSpPr>
          <p:cNvPr id="24" name="文本框 23"/>
          <p:cNvSpPr txBox="1"/>
          <p:nvPr/>
        </p:nvSpPr>
        <p:spPr>
          <a:xfrm>
            <a:off x="5970270" y="4034315"/>
            <a:ext cx="449353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回归问题、分类问题、聚类问题</a:t>
            </a:r>
          </a:p>
        </p:txBody>
      </p:sp>
      <p:sp>
        <p:nvSpPr>
          <p:cNvPr id="25" name="文本框 24"/>
          <p:cNvSpPr txBox="1"/>
          <p:nvPr/>
        </p:nvSpPr>
        <p:spPr>
          <a:xfrm>
            <a:off x="5970270" y="4947762"/>
            <a:ext cx="461055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查准率、查全率、</a:t>
            </a:r>
            <a:r>
              <a:rPr lang="en-US" altLang="zh-CN" sz="2400" dirty="0">
                <a:latin typeface="微软雅黑" panose="020B0503020204020204" charset="-122"/>
                <a:ea typeface="微软雅黑" panose="020B0503020204020204" charset="-122"/>
                <a:sym typeface="+mn-ea"/>
              </a:rPr>
              <a:t>F1</a:t>
            </a:r>
            <a:r>
              <a:rPr lang="zh-CN" altLang="en-US" sz="2400" dirty="0">
                <a:latin typeface="微软雅黑" panose="020B0503020204020204" charset="-122"/>
                <a:ea typeface="微软雅黑" panose="020B0503020204020204" charset="-122"/>
                <a:sym typeface="+mn-ea"/>
              </a:rPr>
              <a:t>值、</a:t>
            </a:r>
            <a:r>
              <a:rPr lang="en-US" altLang="zh-CN" sz="2400" dirty="0">
                <a:latin typeface="微软雅黑" panose="020B0503020204020204" charset="-122"/>
                <a:ea typeface="微软雅黑" panose="020B0503020204020204" charset="-122"/>
                <a:sym typeface="+mn-ea"/>
              </a:rPr>
              <a:t>PR</a:t>
            </a:r>
            <a:r>
              <a:rPr lang="zh-CN" altLang="en-US" sz="2400" dirty="0">
                <a:latin typeface="微软雅黑" panose="020B0503020204020204" charset="-122"/>
                <a:ea typeface="微软雅黑" panose="020B0503020204020204" charset="-122"/>
                <a:sym typeface="+mn-ea"/>
              </a:rPr>
              <a:t>曲线</a:t>
            </a:r>
          </a:p>
        </p:txBody>
      </p:sp>
      <p:sp>
        <p:nvSpPr>
          <p:cNvPr id="16"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a:t>
            </a:r>
          </a:p>
        </p:txBody>
      </p:sp>
    </p:spTree>
    <p:extLst>
      <p:ext uri="{BB962C8B-B14F-4D97-AF65-F5344CB8AC3E}">
        <p14:creationId xmlns:p14="http://schemas.microsoft.com/office/powerpoint/2010/main" val="1520687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矩形 1"/>
          <p:cNvSpPr/>
          <p:nvPr/>
        </p:nvSpPr>
        <p:spPr>
          <a:xfrm>
            <a:off x="2135189" y="677863"/>
            <a:ext cx="3768725" cy="5080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700" b="1" dirty="0">
                <a:latin typeface="微软雅黑" panose="020B0503020204020204" pitchFamily="34" charset="-122"/>
                <a:ea typeface="微软雅黑" panose="020B0503020204020204" pitchFamily="34" charset="-122"/>
              </a:rPr>
              <a:t>机器学习方法分类</a:t>
            </a:r>
          </a:p>
        </p:txBody>
      </p:sp>
      <p:sp>
        <p:nvSpPr>
          <p:cNvPr id="14" name="圆角矩形 13"/>
          <p:cNvSpPr/>
          <p:nvPr/>
        </p:nvSpPr>
        <p:spPr>
          <a:xfrm>
            <a:off x="4835525" y="2281239"/>
            <a:ext cx="2141538"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线性回归</a:t>
            </a:r>
          </a:p>
        </p:txBody>
      </p:sp>
      <p:sp>
        <p:nvSpPr>
          <p:cNvPr id="15" name="圆角矩形 14"/>
          <p:cNvSpPr/>
          <p:nvPr/>
        </p:nvSpPr>
        <p:spPr>
          <a:xfrm>
            <a:off x="1984375" y="2857501"/>
            <a:ext cx="2406650"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支持向量机</a:t>
            </a:r>
          </a:p>
        </p:txBody>
      </p:sp>
      <p:sp>
        <p:nvSpPr>
          <p:cNvPr id="16" name="圆角矩形 15"/>
          <p:cNvSpPr/>
          <p:nvPr/>
        </p:nvSpPr>
        <p:spPr>
          <a:xfrm>
            <a:off x="7526338" y="2241551"/>
            <a:ext cx="2432050"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K-means</a:t>
            </a:r>
          </a:p>
        </p:txBody>
      </p:sp>
      <p:sp>
        <p:nvSpPr>
          <p:cNvPr id="17" name="圆角矩形 16"/>
          <p:cNvSpPr/>
          <p:nvPr/>
        </p:nvSpPr>
        <p:spPr>
          <a:xfrm>
            <a:off x="7526338" y="2628901"/>
            <a:ext cx="2432050"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高斯混合聚类</a:t>
            </a:r>
          </a:p>
        </p:txBody>
      </p:sp>
      <p:sp>
        <p:nvSpPr>
          <p:cNvPr id="18" name="圆角矩形 17"/>
          <p:cNvSpPr/>
          <p:nvPr/>
        </p:nvSpPr>
        <p:spPr>
          <a:xfrm>
            <a:off x="7545388" y="3017839"/>
            <a:ext cx="2432050"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密度聚类</a:t>
            </a:r>
          </a:p>
        </p:txBody>
      </p:sp>
      <p:sp>
        <p:nvSpPr>
          <p:cNvPr id="19" name="圆角矩形 18"/>
          <p:cNvSpPr/>
          <p:nvPr/>
        </p:nvSpPr>
        <p:spPr>
          <a:xfrm>
            <a:off x="1981201" y="3182939"/>
            <a:ext cx="2411413"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逻辑回归</a:t>
            </a:r>
          </a:p>
        </p:txBody>
      </p:sp>
      <p:sp>
        <p:nvSpPr>
          <p:cNvPr id="3" name="圆角矩形 2"/>
          <p:cNvSpPr/>
          <p:nvPr/>
        </p:nvSpPr>
        <p:spPr>
          <a:xfrm>
            <a:off x="1984375" y="2187576"/>
            <a:ext cx="2395538"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决策树</a:t>
            </a:r>
          </a:p>
        </p:txBody>
      </p:sp>
      <p:sp>
        <p:nvSpPr>
          <p:cNvPr id="8" name="圆角矩形 7"/>
          <p:cNvSpPr/>
          <p:nvPr/>
        </p:nvSpPr>
        <p:spPr>
          <a:xfrm>
            <a:off x="1981200" y="2533651"/>
            <a:ext cx="2400300"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贝叶斯</a:t>
            </a:r>
          </a:p>
        </p:txBody>
      </p:sp>
      <p:sp>
        <p:nvSpPr>
          <p:cNvPr id="9" name="圆角矩形 8"/>
          <p:cNvSpPr/>
          <p:nvPr/>
        </p:nvSpPr>
        <p:spPr>
          <a:xfrm>
            <a:off x="1979614" y="3513139"/>
            <a:ext cx="2398713"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集成学习</a:t>
            </a:r>
          </a:p>
        </p:txBody>
      </p:sp>
      <p:sp>
        <p:nvSpPr>
          <p:cNvPr id="21" name="圆角矩形 20"/>
          <p:cNvSpPr/>
          <p:nvPr/>
        </p:nvSpPr>
        <p:spPr>
          <a:xfrm>
            <a:off x="3228975" y="4416426"/>
            <a:ext cx="2432050" cy="377825"/>
          </a:xfrm>
          <a:prstGeom prst="roundRect">
            <a:avLst/>
          </a:prstGeom>
          <a:solidFill>
            <a:schemeClr val="bg1">
              <a:lumMod val="95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隐马尔可夫模型</a:t>
            </a:r>
          </a:p>
        </p:txBody>
      </p:sp>
      <p:sp>
        <p:nvSpPr>
          <p:cNvPr id="25" name="圆角矩形 24"/>
          <p:cNvSpPr/>
          <p:nvPr/>
        </p:nvSpPr>
        <p:spPr>
          <a:xfrm>
            <a:off x="6332538" y="4391026"/>
            <a:ext cx="2432050" cy="377825"/>
          </a:xfrm>
          <a:prstGeom prst="roundRect">
            <a:avLst/>
          </a:prstGeom>
          <a:solidFill>
            <a:schemeClr val="bg1">
              <a:lumMod val="95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en-US" altLang="zh-CN" sz="2200" dirty="0">
                <a:solidFill>
                  <a:schemeClr val="tx1"/>
                </a:solidFill>
                <a:latin typeface="微软雅黑" panose="020B0503020204020204" pitchFamily="34" charset="-122"/>
                <a:ea typeface="微软雅黑" panose="020B0503020204020204" pitchFamily="34" charset="-122"/>
              </a:rPr>
              <a:t>LDA</a:t>
            </a:r>
            <a:r>
              <a:rPr kumimoji="1" lang="zh-CN" altLang="en-US" sz="2200" dirty="0">
                <a:solidFill>
                  <a:schemeClr val="tx1"/>
                </a:solidFill>
                <a:latin typeface="微软雅黑" panose="020B0503020204020204" pitchFamily="34" charset="-122"/>
                <a:ea typeface="微软雅黑" panose="020B0503020204020204" pitchFamily="34" charset="-122"/>
              </a:rPr>
              <a:t>主题模型</a:t>
            </a:r>
          </a:p>
        </p:txBody>
      </p:sp>
      <p:sp>
        <p:nvSpPr>
          <p:cNvPr id="10" name="圆角矩形 9"/>
          <p:cNvSpPr/>
          <p:nvPr/>
        </p:nvSpPr>
        <p:spPr>
          <a:xfrm>
            <a:off x="4652964" y="1341438"/>
            <a:ext cx="2614613" cy="2628900"/>
          </a:xfrm>
          <a:prstGeom prst="roundRect">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2100"/>
          </a:p>
        </p:txBody>
      </p:sp>
      <p:sp>
        <p:nvSpPr>
          <p:cNvPr id="12" name="矩形 11"/>
          <p:cNvSpPr/>
          <p:nvPr/>
        </p:nvSpPr>
        <p:spPr>
          <a:xfrm>
            <a:off x="5021263" y="1557339"/>
            <a:ext cx="1620838" cy="360363"/>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回归问题</a:t>
            </a:r>
          </a:p>
        </p:txBody>
      </p:sp>
      <p:sp>
        <p:nvSpPr>
          <p:cNvPr id="13" name="圆角矩形 12"/>
          <p:cNvSpPr/>
          <p:nvPr/>
        </p:nvSpPr>
        <p:spPr>
          <a:xfrm>
            <a:off x="7346951" y="1368425"/>
            <a:ext cx="2873375" cy="2605088"/>
          </a:xfrm>
          <a:prstGeom prst="roundRect">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2100"/>
          </a:p>
        </p:txBody>
      </p:sp>
      <p:sp>
        <p:nvSpPr>
          <p:cNvPr id="30" name="圆角矩形 29"/>
          <p:cNvSpPr/>
          <p:nvPr/>
        </p:nvSpPr>
        <p:spPr>
          <a:xfrm>
            <a:off x="1774826" y="1397001"/>
            <a:ext cx="2874963" cy="2576513"/>
          </a:xfrm>
          <a:prstGeom prst="roundRect">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2100"/>
          </a:p>
        </p:txBody>
      </p:sp>
      <p:sp>
        <p:nvSpPr>
          <p:cNvPr id="32" name="矩形 31"/>
          <p:cNvSpPr/>
          <p:nvPr/>
        </p:nvSpPr>
        <p:spPr>
          <a:xfrm>
            <a:off x="7794625" y="1557339"/>
            <a:ext cx="1620838" cy="360363"/>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聚类问题</a:t>
            </a:r>
          </a:p>
        </p:txBody>
      </p:sp>
      <p:sp>
        <p:nvSpPr>
          <p:cNvPr id="33" name="矩形 32"/>
          <p:cNvSpPr/>
          <p:nvPr/>
        </p:nvSpPr>
        <p:spPr>
          <a:xfrm>
            <a:off x="2224088" y="1557339"/>
            <a:ext cx="1620838" cy="360363"/>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分类问题</a:t>
            </a:r>
          </a:p>
        </p:txBody>
      </p:sp>
      <p:sp>
        <p:nvSpPr>
          <p:cNvPr id="36" name="圆角矩形 35"/>
          <p:cNvSpPr/>
          <p:nvPr/>
        </p:nvSpPr>
        <p:spPr>
          <a:xfrm>
            <a:off x="2668588" y="4124325"/>
            <a:ext cx="7011988" cy="825500"/>
          </a:xfrm>
          <a:prstGeom prst="roundRect">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2100"/>
          </a:p>
        </p:txBody>
      </p:sp>
      <p:sp>
        <p:nvSpPr>
          <p:cNvPr id="37" name="矩形 36"/>
          <p:cNvSpPr/>
          <p:nvPr/>
        </p:nvSpPr>
        <p:spPr>
          <a:xfrm>
            <a:off x="5081588" y="4092575"/>
            <a:ext cx="1620838" cy="3619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其他问题</a:t>
            </a:r>
          </a:p>
        </p:txBody>
      </p:sp>
      <p:sp>
        <p:nvSpPr>
          <p:cNvPr id="28" name="圆角矩形 27"/>
          <p:cNvSpPr/>
          <p:nvPr/>
        </p:nvSpPr>
        <p:spPr>
          <a:xfrm>
            <a:off x="4835525" y="3041651"/>
            <a:ext cx="2141538"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岭回归</a:t>
            </a:r>
          </a:p>
        </p:txBody>
      </p:sp>
      <p:sp>
        <p:nvSpPr>
          <p:cNvPr id="29" name="圆角矩形 28"/>
          <p:cNvSpPr/>
          <p:nvPr/>
        </p:nvSpPr>
        <p:spPr>
          <a:xfrm>
            <a:off x="4835525" y="3408364"/>
            <a:ext cx="2141538"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en-US" altLang="zh-CN" sz="2200" dirty="0">
                <a:solidFill>
                  <a:schemeClr val="tx1"/>
                </a:solidFill>
                <a:latin typeface="微软雅黑" panose="020B0503020204020204" pitchFamily="34" charset="-122"/>
                <a:ea typeface="微软雅黑" panose="020B0503020204020204" pitchFamily="34" charset="-122"/>
              </a:rPr>
              <a:t>Lasso</a:t>
            </a:r>
            <a:r>
              <a:rPr kumimoji="1" lang="zh-CN" altLang="en-US" sz="2200" dirty="0">
                <a:solidFill>
                  <a:schemeClr val="tx1"/>
                </a:solidFill>
                <a:latin typeface="微软雅黑" panose="020B0503020204020204" pitchFamily="34" charset="-122"/>
                <a:ea typeface="微软雅黑" panose="020B0503020204020204" pitchFamily="34" charset="-122"/>
              </a:rPr>
              <a:t>回归</a:t>
            </a:r>
          </a:p>
        </p:txBody>
      </p:sp>
      <p:sp>
        <p:nvSpPr>
          <p:cNvPr id="34" name="圆角矩形 33"/>
          <p:cNvSpPr/>
          <p:nvPr/>
        </p:nvSpPr>
        <p:spPr>
          <a:xfrm>
            <a:off x="7545388" y="3402014"/>
            <a:ext cx="2432050"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层次聚类</a:t>
            </a:r>
          </a:p>
        </p:txBody>
      </p:sp>
      <p:sp>
        <p:nvSpPr>
          <p:cNvPr id="31" name="圆角矩形 30"/>
          <p:cNvSpPr/>
          <p:nvPr/>
        </p:nvSpPr>
        <p:spPr>
          <a:xfrm>
            <a:off x="4835525" y="2665414"/>
            <a:ext cx="2141538" cy="377825"/>
          </a:xfrm>
          <a:prstGeom prst="roundRect">
            <a:avLst/>
          </a:prstGeom>
          <a:solidFill>
            <a:schemeClr val="accent1">
              <a:lumMod val="20000"/>
              <a:lumOff val="80000"/>
            </a:schemeClr>
          </a:solidFill>
          <a:ln>
            <a:solidFill>
              <a:srgbClr val="92D050"/>
            </a:solidFill>
          </a:ln>
        </p:spPr>
        <p:style>
          <a:lnRef idx="1">
            <a:schemeClr val="accent6"/>
          </a:lnRef>
          <a:fillRef idx="2">
            <a:schemeClr val="accent6"/>
          </a:fillRef>
          <a:effectRef idx="1">
            <a:schemeClr val="accent6"/>
          </a:effectRef>
          <a:fontRef idx="minor">
            <a:schemeClr val="dk1"/>
          </a:fontRef>
        </p:style>
        <p:txBody>
          <a:bodyPr anchor="ctr"/>
          <a:lstStyle/>
          <a:p>
            <a:pPr algn="ctr">
              <a:defRPr/>
            </a:pPr>
            <a:r>
              <a:rPr kumimoji="1" lang="zh-CN" altLang="en-US" sz="2200" dirty="0">
                <a:solidFill>
                  <a:schemeClr val="tx1"/>
                </a:solidFill>
                <a:latin typeface="微软雅黑" panose="020B0503020204020204" pitchFamily="34" charset="-122"/>
                <a:ea typeface="微软雅黑" panose="020B0503020204020204" pitchFamily="34" charset="-122"/>
              </a:rPr>
              <a:t>广义线性回归</a:t>
            </a:r>
          </a:p>
        </p:txBody>
      </p:sp>
    </p:spTree>
    <p:extLst>
      <p:ext uri="{BB962C8B-B14F-4D97-AF65-F5344CB8AC3E}">
        <p14:creationId xmlns:p14="http://schemas.microsoft.com/office/powerpoint/2010/main" val="541366948"/>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48000" y="1027113"/>
            <a:ext cx="9144000" cy="525462"/>
          </a:xfrm>
        </p:spPr>
        <p:txBody>
          <a:bodyPr>
            <a:normAutofit/>
          </a:bodyPr>
          <a:lstStyle/>
          <a:p>
            <a:r>
              <a:rPr lang="zh-CN" altLang="en-US" sz="2700" b="1" dirty="0">
                <a:latin typeface="微软雅黑" panose="020B0503020204020204" pitchFamily="34" charset="-122"/>
                <a:ea typeface="微软雅黑" panose="020B0503020204020204" pitchFamily="34" charset="-122"/>
              </a:rPr>
              <a:t>回归问题</a:t>
            </a:r>
          </a:p>
        </p:txBody>
      </p:sp>
      <p:sp>
        <p:nvSpPr>
          <p:cNvPr id="4" name="矩形 3"/>
          <p:cNvSpPr/>
          <p:nvPr/>
        </p:nvSpPr>
        <p:spPr>
          <a:xfrm>
            <a:off x="1835718" y="1624199"/>
            <a:ext cx="8482621" cy="1938992"/>
          </a:xfrm>
          <a:prstGeom prst="rect">
            <a:avLst/>
          </a:prstGeom>
        </p:spPr>
        <p:txBody>
          <a:bodyPr wrap="square">
            <a:spAutoFit/>
          </a:bodyPr>
          <a:lstStyle/>
          <a:p>
            <a:pPr indent="342900">
              <a:lnSpc>
                <a:spcPct val="125000"/>
              </a:lnSpc>
            </a:pPr>
            <a:r>
              <a:rPr lang="zh-CN" altLang="en-US" sz="2400" b="1" dirty="0">
                <a:latin typeface="微软雅黑" panose="020B0503020204020204" charset="-122"/>
                <a:ea typeface="微软雅黑" panose="020B0503020204020204" charset="-122"/>
              </a:rPr>
              <a:t>回归分析</a:t>
            </a:r>
            <a:r>
              <a:rPr lang="zh-CN" altLang="en-US" sz="2400" dirty="0">
                <a:latin typeface="微软雅黑" panose="020B0503020204020204" charset="-122"/>
                <a:ea typeface="微软雅黑" panose="020B0503020204020204" charset="-122"/>
              </a:rPr>
              <a:t>用于预测输入变量（自变量）和输出变量（因变量）之间的关系，特别是当输入变量的值发生变化时，输出变量值随之发生变化。直观来说回归问题等价于</a:t>
            </a:r>
            <a:r>
              <a:rPr lang="zh-CN" altLang="en-US" sz="2400" dirty="0">
                <a:solidFill>
                  <a:srgbClr val="FF0000"/>
                </a:solidFill>
                <a:latin typeface="微软雅黑" panose="020B0503020204020204" charset="-122"/>
                <a:ea typeface="微软雅黑" panose="020B0503020204020204" charset="-122"/>
              </a:rPr>
              <a:t>函数拟合</a:t>
            </a:r>
            <a:r>
              <a:rPr lang="zh-CN" altLang="en-US" sz="2400" dirty="0">
                <a:latin typeface="微软雅黑" panose="020B0503020204020204" charset="-122"/>
                <a:ea typeface="微软雅黑" panose="020B0503020204020204" charset="-122"/>
              </a:rPr>
              <a:t>，选择一条函数曲线使其很好地拟合已知数据且很好地预测未知数据。</a:t>
            </a:r>
          </a:p>
        </p:txBody>
      </p:sp>
      <p:pic>
        <p:nvPicPr>
          <p:cNvPr id="5" name="图片 4"/>
          <p:cNvPicPr>
            <a:picLocks noChangeAspect="1"/>
          </p:cNvPicPr>
          <p:nvPr/>
        </p:nvPicPr>
        <p:blipFill rotWithShape="1">
          <a:blip r:embed="rId2"/>
          <a:srcRect l="4138" t="4831" r="5534"/>
          <a:stretch>
            <a:fillRect/>
          </a:stretch>
        </p:blipFill>
        <p:spPr>
          <a:xfrm>
            <a:off x="7657904" y="5075258"/>
            <a:ext cx="2614561" cy="1442871"/>
          </a:xfrm>
          <a:prstGeom prst="rect">
            <a:avLst/>
          </a:prstGeom>
        </p:spPr>
      </p:pic>
      <p:pic>
        <p:nvPicPr>
          <p:cNvPr id="6" name="图片 5"/>
          <p:cNvPicPr>
            <a:picLocks noChangeAspect="1"/>
          </p:cNvPicPr>
          <p:nvPr/>
        </p:nvPicPr>
        <p:blipFill rotWithShape="1">
          <a:blip r:embed="rId3"/>
          <a:srcRect l="1888"/>
          <a:stretch>
            <a:fillRect/>
          </a:stretch>
        </p:blipFill>
        <p:spPr>
          <a:xfrm>
            <a:off x="7733777" y="3573016"/>
            <a:ext cx="2455561" cy="1467606"/>
          </a:xfrm>
          <a:prstGeom prst="rect">
            <a:avLst/>
          </a:prstGeom>
        </p:spPr>
      </p:pic>
      <p:sp>
        <p:nvSpPr>
          <p:cNvPr id="8" name="矩形 7"/>
          <p:cNvSpPr/>
          <p:nvPr/>
        </p:nvSpPr>
        <p:spPr>
          <a:xfrm>
            <a:off x="1919536" y="3635610"/>
            <a:ext cx="578632" cy="267371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回归分析</a:t>
            </a:r>
          </a:p>
        </p:txBody>
      </p:sp>
      <p:sp>
        <p:nvSpPr>
          <p:cNvPr id="11" name="矩形 10"/>
          <p:cNvSpPr/>
          <p:nvPr/>
        </p:nvSpPr>
        <p:spPr>
          <a:xfrm>
            <a:off x="3144547" y="3667393"/>
            <a:ext cx="1783101" cy="49113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自变量个数</a:t>
            </a:r>
          </a:p>
        </p:txBody>
      </p:sp>
      <p:sp>
        <p:nvSpPr>
          <p:cNvPr id="12" name="矩形 11"/>
          <p:cNvSpPr/>
          <p:nvPr/>
        </p:nvSpPr>
        <p:spPr>
          <a:xfrm>
            <a:off x="3143129" y="4581128"/>
            <a:ext cx="1784518" cy="75311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自变量与因变量关系</a:t>
            </a:r>
          </a:p>
        </p:txBody>
      </p:sp>
      <p:sp>
        <p:nvSpPr>
          <p:cNvPr id="13" name="矩形 12"/>
          <p:cNvSpPr/>
          <p:nvPr/>
        </p:nvSpPr>
        <p:spPr>
          <a:xfrm>
            <a:off x="3050381" y="5786438"/>
            <a:ext cx="1711576" cy="49113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因变量个数</a:t>
            </a:r>
          </a:p>
        </p:txBody>
      </p:sp>
      <p:sp>
        <p:nvSpPr>
          <p:cNvPr id="9" name="矩形 8"/>
          <p:cNvSpPr/>
          <p:nvPr/>
        </p:nvSpPr>
        <p:spPr>
          <a:xfrm>
            <a:off x="5205629" y="3561768"/>
            <a:ext cx="2094763" cy="461665"/>
          </a:xfrm>
          <a:prstGeom prst="rect">
            <a:avLst/>
          </a:prstGeom>
        </p:spPr>
        <p:txBody>
          <a:bodyPr wrap="square">
            <a:spAutoFit/>
          </a:bodyPr>
          <a:lstStyle/>
          <a:p>
            <a:r>
              <a:rPr lang="zh-CN" altLang="en-US" sz="2400" dirty="0">
                <a:latin typeface="微软雅黑" panose="020B0503020204020204" charset="-122"/>
                <a:ea typeface="微软雅黑" panose="020B0503020204020204" charset="-122"/>
              </a:rPr>
              <a:t>一元回归分析</a:t>
            </a:r>
            <a:endParaRPr lang="zh-CN" altLang="en-US" sz="2400" dirty="0"/>
          </a:p>
        </p:txBody>
      </p:sp>
      <p:sp>
        <p:nvSpPr>
          <p:cNvPr id="14" name="矩形 13"/>
          <p:cNvSpPr/>
          <p:nvPr/>
        </p:nvSpPr>
        <p:spPr>
          <a:xfrm>
            <a:off x="5171933" y="3960937"/>
            <a:ext cx="2094763" cy="461665"/>
          </a:xfrm>
          <a:prstGeom prst="rect">
            <a:avLst/>
          </a:prstGeom>
        </p:spPr>
        <p:txBody>
          <a:bodyPr wrap="square">
            <a:spAutoFit/>
          </a:bodyPr>
          <a:lstStyle/>
          <a:p>
            <a:r>
              <a:rPr lang="zh-CN" altLang="en-US" sz="2400" dirty="0">
                <a:latin typeface="微软雅黑" panose="020B0503020204020204" charset="-122"/>
                <a:ea typeface="微软雅黑" panose="020B0503020204020204" charset="-122"/>
              </a:rPr>
              <a:t>多元回归分析</a:t>
            </a:r>
            <a:endParaRPr lang="zh-CN" altLang="en-US" sz="2400" dirty="0"/>
          </a:p>
        </p:txBody>
      </p:sp>
      <p:sp>
        <p:nvSpPr>
          <p:cNvPr id="15" name="矩形 14"/>
          <p:cNvSpPr/>
          <p:nvPr/>
        </p:nvSpPr>
        <p:spPr>
          <a:xfrm>
            <a:off x="5087889" y="4496022"/>
            <a:ext cx="2094763" cy="461665"/>
          </a:xfrm>
          <a:prstGeom prst="rect">
            <a:avLst/>
          </a:prstGeom>
        </p:spPr>
        <p:txBody>
          <a:bodyPr wrap="square">
            <a:spAutoFit/>
          </a:bodyPr>
          <a:lstStyle/>
          <a:p>
            <a:r>
              <a:rPr lang="zh-CN" altLang="en-US" sz="2400" dirty="0">
                <a:latin typeface="微软雅黑" panose="020B0503020204020204" charset="-122"/>
                <a:ea typeface="微软雅黑" panose="020B0503020204020204" charset="-122"/>
              </a:rPr>
              <a:t>线性回归分析</a:t>
            </a:r>
            <a:endParaRPr lang="zh-CN" altLang="en-US" sz="2400" dirty="0"/>
          </a:p>
        </p:txBody>
      </p:sp>
      <p:sp>
        <p:nvSpPr>
          <p:cNvPr id="16" name="矩形 15"/>
          <p:cNvSpPr/>
          <p:nvPr/>
        </p:nvSpPr>
        <p:spPr>
          <a:xfrm>
            <a:off x="5086699" y="4926556"/>
            <a:ext cx="2412152" cy="461665"/>
          </a:xfrm>
          <a:prstGeom prst="rect">
            <a:avLst/>
          </a:prstGeom>
        </p:spPr>
        <p:txBody>
          <a:bodyPr wrap="square">
            <a:spAutoFit/>
          </a:bodyPr>
          <a:lstStyle/>
          <a:p>
            <a:r>
              <a:rPr lang="zh-CN" altLang="en-US" sz="2400" dirty="0">
                <a:latin typeface="微软雅黑" panose="020B0503020204020204" charset="-122"/>
                <a:ea typeface="微软雅黑" panose="020B0503020204020204" charset="-122"/>
              </a:rPr>
              <a:t>非线性回归分析</a:t>
            </a:r>
            <a:endParaRPr lang="zh-CN" altLang="en-US" sz="2400" dirty="0"/>
          </a:p>
        </p:txBody>
      </p:sp>
      <p:sp>
        <p:nvSpPr>
          <p:cNvPr id="17" name="矩形 16"/>
          <p:cNvSpPr/>
          <p:nvPr/>
        </p:nvSpPr>
        <p:spPr>
          <a:xfrm>
            <a:off x="5087889" y="5661249"/>
            <a:ext cx="2094763" cy="461665"/>
          </a:xfrm>
          <a:prstGeom prst="rect">
            <a:avLst/>
          </a:prstGeom>
        </p:spPr>
        <p:txBody>
          <a:bodyPr wrap="square">
            <a:spAutoFit/>
          </a:bodyPr>
          <a:lstStyle/>
          <a:p>
            <a:r>
              <a:rPr lang="zh-CN" altLang="en-US" sz="2400" dirty="0">
                <a:latin typeface="微软雅黑" panose="020B0503020204020204" charset="-122"/>
                <a:ea typeface="微软雅黑" panose="020B0503020204020204" charset="-122"/>
              </a:rPr>
              <a:t>简单回归分析</a:t>
            </a:r>
            <a:endParaRPr lang="zh-CN" altLang="en-US" sz="2400" dirty="0"/>
          </a:p>
        </p:txBody>
      </p:sp>
      <p:sp>
        <p:nvSpPr>
          <p:cNvPr id="18" name="矩形 17"/>
          <p:cNvSpPr/>
          <p:nvPr/>
        </p:nvSpPr>
        <p:spPr>
          <a:xfrm>
            <a:off x="5087889" y="6021289"/>
            <a:ext cx="2094763" cy="461665"/>
          </a:xfrm>
          <a:prstGeom prst="rect">
            <a:avLst/>
          </a:prstGeom>
        </p:spPr>
        <p:txBody>
          <a:bodyPr wrap="square">
            <a:spAutoFit/>
          </a:bodyPr>
          <a:lstStyle/>
          <a:p>
            <a:r>
              <a:rPr lang="zh-CN" altLang="en-US" sz="2400" dirty="0">
                <a:latin typeface="微软雅黑" panose="020B0503020204020204" charset="-122"/>
                <a:ea typeface="微软雅黑" panose="020B0503020204020204" charset="-122"/>
              </a:rPr>
              <a:t>多重回归分析</a:t>
            </a:r>
            <a:endParaRPr lang="zh-CN" altLang="en-US" sz="2400" dirty="0"/>
          </a:p>
        </p:txBody>
      </p:sp>
      <p:cxnSp>
        <p:nvCxnSpPr>
          <p:cNvPr id="20" name="直接箭头连接符 19"/>
          <p:cNvCxnSpPr>
            <a:stCxn id="8" idx="3"/>
            <a:endCxn id="11" idx="1"/>
          </p:cNvCxnSpPr>
          <p:nvPr/>
        </p:nvCxnSpPr>
        <p:spPr>
          <a:xfrm flipV="1">
            <a:off x="2498168" y="3912963"/>
            <a:ext cx="646378" cy="105950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直接箭头连接符 20"/>
          <p:cNvCxnSpPr>
            <a:stCxn id="8" idx="3"/>
            <a:endCxn id="12" idx="1"/>
          </p:cNvCxnSpPr>
          <p:nvPr/>
        </p:nvCxnSpPr>
        <p:spPr>
          <a:xfrm flipV="1">
            <a:off x="2498169" y="4957687"/>
            <a:ext cx="644961" cy="1477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直接箭头连接符 23"/>
          <p:cNvCxnSpPr>
            <a:stCxn id="8" idx="3"/>
            <a:endCxn id="13" idx="1"/>
          </p:cNvCxnSpPr>
          <p:nvPr/>
        </p:nvCxnSpPr>
        <p:spPr>
          <a:xfrm>
            <a:off x="2498169" y="4972465"/>
            <a:ext cx="552213" cy="105954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9"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数据建模</a:t>
            </a:r>
          </a:p>
        </p:txBody>
      </p:sp>
    </p:spTree>
    <p:extLst>
      <p:ext uri="{BB962C8B-B14F-4D97-AF65-F5344CB8AC3E}">
        <p14:creationId xmlns:p14="http://schemas.microsoft.com/office/powerpoint/2010/main" val="1478893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9" grpId="0"/>
      <p:bldP spid="14" grpId="0"/>
      <p:bldP spid="15" grpId="0"/>
      <p:bldP spid="16" grpId="0"/>
      <p:bldP spid="17"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62288" y="981075"/>
            <a:ext cx="9129712" cy="498475"/>
          </a:xfrm>
        </p:spPr>
        <p:txBody>
          <a:bodyPr>
            <a:noAutofit/>
          </a:bodyPr>
          <a:lstStyle/>
          <a:p>
            <a:r>
              <a:rPr lang="zh-CN" altLang="en-US" sz="2800" b="1" dirty="0">
                <a:latin typeface="微软雅黑" panose="020B0503020204020204" pitchFamily="34" charset="-122"/>
                <a:ea typeface="微软雅黑" panose="020B0503020204020204" pitchFamily="34" charset="-122"/>
              </a:rPr>
              <a:t>分类问题</a:t>
            </a:r>
          </a:p>
        </p:txBody>
      </p:sp>
      <p:sp>
        <p:nvSpPr>
          <p:cNvPr id="4" name="矩形 3"/>
          <p:cNvSpPr/>
          <p:nvPr/>
        </p:nvSpPr>
        <p:spPr>
          <a:xfrm>
            <a:off x="1909712" y="1544575"/>
            <a:ext cx="8506768" cy="1477328"/>
          </a:xfrm>
          <a:prstGeom prst="rect">
            <a:avLst/>
          </a:prstGeom>
        </p:spPr>
        <p:txBody>
          <a:bodyPr wrap="square">
            <a:spAutoFit/>
          </a:bodyPr>
          <a:lstStyle/>
          <a:p>
            <a:pPr indent="342900">
              <a:lnSpc>
                <a:spcPct val="125000"/>
              </a:lnSpc>
            </a:pPr>
            <a:r>
              <a:rPr lang="zh-CN" altLang="en-US" sz="2400" b="1" dirty="0">
                <a:solidFill>
                  <a:srgbClr val="0070C0"/>
                </a:solidFill>
                <a:latin typeface="微软雅黑" panose="020B0503020204020204" charset="-122"/>
                <a:ea typeface="微软雅黑" panose="020B0503020204020204" charset="-122"/>
              </a:rPr>
              <a:t>分类问题</a:t>
            </a:r>
            <a:r>
              <a:rPr lang="zh-CN" altLang="en-US" sz="2400" dirty="0">
                <a:latin typeface="微软雅黑" panose="020B0503020204020204" charset="-122"/>
                <a:ea typeface="微软雅黑" panose="020B0503020204020204" charset="-122"/>
              </a:rPr>
              <a:t>是</a:t>
            </a:r>
            <a:r>
              <a:rPr lang="zh-CN" altLang="en-US" sz="2400" dirty="0">
                <a:solidFill>
                  <a:srgbClr val="FF0000"/>
                </a:solidFill>
                <a:latin typeface="微软雅黑" panose="020B0503020204020204" charset="-122"/>
                <a:ea typeface="微软雅黑" panose="020B0503020204020204" charset="-122"/>
              </a:rPr>
              <a:t>监督学习</a:t>
            </a:r>
            <a:r>
              <a:rPr lang="zh-CN" altLang="en-US" sz="2400" dirty="0">
                <a:latin typeface="微软雅黑" panose="020B0503020204020204" charset="-122"/>
                <a:ea typeface="微软雅黑" panose="020B0503020204020204" charset="-122"/>
              </a:rPr>
              <a:t>的一个核心问题，它从数据中学习一个分类决策函数或分类模型</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分类器（classifier）</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，对新的输入进行输出预测，输出变量取有限个离散值。</a:t>
            </a:r>
          </a:p>
        </p:txBody>
      </p:sp>
      <p:sp>
        <p:nvSpPr>
          <p:cNvPr id="5" name="文本框 4"/>
          <p:cNvSpPr txBox="1"/>
          <p:nvPr/>
        </p:nvSpPr>
        <p:spPr>
          <a:xfrm>
            <a:off x="1916907" y="3388165"/>
            <a:ext cx="3564255" cy="498598"/>
          </a:xfrm>
          <a:prstGeom prst="rect">
            <a:avLst/>
          </a:prstGeom>
          <a:noFill/>
        </p:spPr>
        <p:txBody>
          <a:bodyPr wrap="square" rtlCol="0" anchor="t">
            <a:spAutoFit/>
          </a:bodyPr>
          <a:lstStyle/>
          <a:p>
            <a:pPr marL="600075" lvl="3" indent="-257175">
              <a:lnSpc>
                <a:spcPct val="110000"/>
              </a:lnSpc>
              <a:spcBef>
                <a:spcPts val="375"/>
              </a:spcBef>
              <a:buClr>
                <a:srgbClr val="C00000"/>
              </a:buClr>
              <a:buFont typeface="Wingdings" panose="05000000000000000000" charset="0"/>
              <a:buChar char=""/>
              <a:defRPr/>
            </a:pPr>
            <a:r>
              <a:rPr lang="zh-CN" altLang="en-US" sz="2400" dirty="0">
                <a:latin typeface="微软雅黑" panose="020B0503020204020204" charset="-122"/>
                <a:ea typeface="微软雅黑" panose="020B0503020204020204" charset="-122"/>
                <a:sym typeface="+mn-ea"/>
              </a:rPr>
              <a:t>二分类问题</a:t>
            </a:r>
            <a:endParaRPr lang="en-US" altLang="zh-CN" sz="2400" dirty="0">
              <a:latin typeface="微软雅黑" panose="020B0503020204020204" charset="-122"/>
              <a:ea typeface="微软雅黑" panose="020B0503020204020204" charset="-122"/>
              <a:sym typeface="+mn-ea"/>
            </a:endParaRPr>
          </a:p>
        </p:txBody>
      </p:sp>
      <p:sp>
        <p:nvSpPr>
          <p:cNvPr id="7" name="矩形 6"/>
          <p:cNvSpPr/>
          <p:nvPr/>
        </p:nvSpPr>
        <p:spPr>
          <a:xfrm>
            <a:off x="2106930" y="5649461"/>
            <a:ext cx="7680484" cy="498598"/>
          </a:xfrm>
          <a:prstGeom prst="rect">
            <a:avLst/>
          </a:prstGeom>
        </p:spPr>
        <p:txBody>
          <a:bodyPr wrap="square">
            <a:spAutoFit/>
          </a:bodyPr>
          <a:lstStyle/>
          <a:p>
            <a:pPr marL="257175" lvl="2" indent="-257175">
              <a:lnSpc>
                <a:spcPct val="110000"/>
              </a:lnSpc>
              <a:spcBef>
                <a:spcPts val="375"/>
              </a:spcBef>
              <a:buClr>
                <a:srgbClr val="C00000"/>
              </a:buClr>
              <a:buFont typeface="Wingdings" panose="05000000000000000000" pitchFamily="2" charset="2"/>
              <a:buChar char="p"/>
              <a:defRPr/>
            </a:pPr>
            <a:r>
              <a:rPr lang="zh-CN" altLang="en-US" sz="2400" b="1" dirty="0">
                <a:solidFill>
                  <a:srgbClr val="0070C0"/>
                </a:solidFill>
                <a:latin typeface="微软雅黑" panose="020B0503020204020204" charset="-122"/>
                <a:ea typeface="微软雅黑" panose="020B0503020204020204" charset="-122"/>
              </a:rPr>
              <a:t>核心算法</a:t>
            </a:r>
            <a:endParaRPr lang="en-US" altLang="zh-CN" sz="2400" b="1" dirty="0">
              <a:solidFill>
                <a:srgbClr val="0070C0"/>
              </a:solidFill>
              <a:latin typeface="微软雅黑" panose="020B0503020204020204" charset="-122"/>
              <a:ea typeface="微软雅黑" panose="020B0503020204020204" charset="-122"/>
            </a:endParaRPr>
          </a:p>
        </p:txBody>
      </p:sp>
      <p:sp>
        <p:nvSpPr>
          <p:cNvPr id="8" name="文本框 7"/>
          <p:cNvSpPr txBox="1"/>
          <p:nvPr/>
        </p:nvSpPr>
        <p:spPr>
          <a:xfrm>
            <a:off x="1916907" y="6015723"/>
            <a:ext cx="4067175" cy="498598"/>
          </a:xfrm>
          <a:prstGeom prst="rect">
            <a:avLst/>
          </a:prstGeom>
          <a:noFill/>
        </p:spPr>
        <p:txBody>
          <a:bodyPr wrap="square" rtlCol="0" anchor="t">
            <a:spAutoFit/>
          </a:bodyPr>
          <a:lstStyle/>
          <a:p>
            <a:pPr marL="600075" lvl="3" indent="-257175">
              <a:lnSpc>
                <a:spcPct val="110000"/>
              </a:lnSpc>
              <a:spcBef>
                <a:spcPts val="375"/>
              </a:spcBef>
              <a:buClr>
                <a:srgbClr val="C00000"/>
              </a:buClr>
              <a:buFont typeface="Wingdings" panose="05000000000000000000" charset="0"/>
              <a:buChar char=""/>
              <a:defRPr/>
            </a:pPr>
            <a:r>
              <a:rPr lang="zh-CN" altLang="en-US" sz="2400" dirty="0">
                <a:latin typeface="微软雅黑" panose="020B0503020204020204" charset="-122"/>
                <a:ea typeface="微软雅黑" panose="020B0503020204020204" charset="-122"/>
                <a:sym typeface="+mn-ea"/>
              </a:rPr>
              <a:t>决策树、贝叶斯、</a:t>
            </a:r>
            <a:r>
              <a:rPr lang="en-US" altLang="zh-CN" sz="2400" dirty="0">
                <a:latin typeface="微软雅黑" panose="020B0503020204020204" charset="-122"/>
                <a:ea typeface="微软雅黑" panose="020B0503020204020204" charset="-122"/>
                <a:sym typeface="+mn-ea"/>
              </a:rPr>
              <a:t>SVM</a:t>
            </a:r>
            <a:endParaRPr lang="zh-CN" altLang="en-US" sz="2400" dirty="0">
              <a:latin typeface="微软雅黑" panose="020B0503020204020204" charset="-122"/>
              <a:ea typeface="微软雅黑" panose="020B0503020204020204" charset="-122"/>
              <a:sym typeface="+mn-ea"/>
            </a:endParaRPr>
          </a:p>
        </p:txBody>
      </p:sp>
      <p:sp>
        <p:nvSpPr>
          <p:cNvPr id="9" name="文本框 8"/>
          <p:cNvSpPr txBox="1"/>
          <p:nvPr/>
        </p:nvSpPr>
        <p:spPr>
          <a:xfrm>
            <a:off x="5723617" y="3367502"/>
            <a:ext cx="3564255" cy="498598"/>
          </a:xfrm>
          <a:prstGeom prst="rect">
            <a:avLst/>
          </a:prstGeom>
          <a:noFill/>
        </p:spPr>
        <p:txBody>
          <a:bodyPr wrap="square" rtlCol="0" anchor="t">
            <a:spAutoFit/>
          </a:bodyPr>
          <a:lstStyle/>
          <a:p>
            <a:pPr marL="600075" lvl="3" indent="-257175">
              <a:lnSpc>
                <a:spcPct val="110000"/>
              </a:lnSpc>
              <a:spcBef>
                <a:spcPts val="375"/>
              </a:spcBef>
              <a:buClr>
                <a:srgbClr val="C00000"/>
              </a:buClr>
              <a:buFont typeface="Wingdings" panose="05000000000000000000" charset="0"/>
              <a:buChar char=""/>
              <a:defRPr/>
            </a:pPr>
            <a:r>
              <a:rPr lang="zh-CN" altLang="en-US" sz="2400" dirty="0">
                <a:latin typeface="微软雅黑" panose="020B0503020204020204" charset="-122"/>
                <a:ea typeface="微软雅黑" panose="020B0503020204020204" charset="-122"/>
                <a:sym typeface="+mn-ea"/>
              </a:rPr>
              <a:t>多分类问题</a:t>
            </a:r>
            <a:endParaRPr lang="en-US" altLang="zh-CN" sz="2400" dirty="0">
              <a:latin typeface="微软雅黑" panose="020B0503020204020204" charset="-122"/>
              <a:ea typeface="微软雅黑" panose="020B0503020204020204" charset="-122"/>
              <a:sym typeface="+mn-ea"/>
            </a:endParaRP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19074" t="15184" r="16667" b="19630"/>
          <a:stretch>
            <a:fillRect/>
          </a:stretch>
        </p:blipFill>
        <p:spPr>
          <a:xfrm>
            <a:off x="2484078" y="3894892"/>
            <a:ext cx="1554522" cy="1576922"/>
          </a:xfrm>
          <a:prstGeom prst="rect">
            <a:avLst/>
          </a:prstGeom>
        </p:spPr>
      </p:pic>
      <p:sp>
        <p:nvSpPr>
          <p:cNvPr id="11" name="圆角矩形 10"/>
          <p:cNvSpPr/>
          <p:nvPr/>
        </p:nvSpPr>
        <p:spPr>
          <a:xfrm>
            <a:off x="4599710" y="3846001"/>
            <a:ext cx="881451" cy="793133"/>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垃圾邮件</a:t>
            </a:r>
          </a:p>
        </p:txBody>
      </p:sp>
      <p:sp>
        <p:nvSpPr>
          <p:cNvPr id="12" name="圆角矩形 11"/>
          <p:cNvSpPr/>
          <p:nvPr/>
        </p:nvSpPr>
        <p:spPr>
          <a:xfrm>
            <a:off x="4599709" y="4678682"/>
            <a:ext cx="881452" cy="793133"/>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正常邮件</a:t>
            </a:r>
          </a:p>
        </p:txBody>
      </p:sp>
      <p:cxnSp>
        <p:nvCxnSpPr>
          <p:cNvPr id="14" name="直接箭头连接符 13"/>
          <p:cNvCxnSpPr>
            <a:stCxn id="6" idx="3"/>
            <a:endCxn id="11" idx="1"/>
          </p:cNvCxnSpPr>
          <p:nvPr/>
        </p:nvCxnSpPr>
        <p:spPr>
          <a:xfrm flipV="1">
            <a:off x="4038601" y="4242567"/>
            <a:ext cx="561109" cy="44078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直接箭头连接符 15"/>
          <p:cNvCxnSpPr>
            <a:stCxn id="6" idx="3"/>
            <a:endCxn id="12" idx="1"/>
          </p:cNvCxnSpPr>
          <p:nvPr/>
        </p:nvCxnSpPr>
        <p:spPr>
          <a:xfrm>
            <a:off x="4038601" y="4683354"/>
            <a:ext cx="561109" cy="3918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7" name="图片 16"/>
          <p:cNvPicPr>
            <a:picLocks noChangeAspect="1"/>
          </p:cNvPicPr>
          <p:nvPr/>
        </p:nvPicPr>
        <p:blipFill rotWithShape="1">
          <a:blip r:embed="rId3" cstate="print"/>
          <a:srcRect l="22660" t="16161" r="22795" b="15825"/>
          <a:stretch>
            <a:fillRect/>
          </a:stretch>
        </p:blipFill>
        <p:spPr>
          <a:xfrm>
            <a:off x="6154231" y="3894894"/>
            <a:ext cx="1195606" cy="1490817"/>
          </a:xfrm>
          <a:prstGeom prst="rect">
            <a:avLst/>
          </a:prstGeom>
        </p:spPr>
      </p:pic>
      <p:sp>
        <p:nvSpPr>
          <p:cNvPr id="18" name="圆角矩形 17"/>
          <p:cNvSpPr/>
          <p:nvPr/>
        </p:nvSpPr>
        <p:spPr>
          <a:xfrm>
            <a:off x="8115477" y="3944533"/>
            <a:ext cx="881451" cy="367145"/>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科技</a:t>
            </a:r>
          </a:p>
        </p:txBody>
      </p:sp>
      <p:sp>
        <p:nvSpPr>
          <p:cNvPr id="19" name="圆角矩形 18"/>
          <p:cNvSpPr/>
          <p:nvPr/>
        </p:nvSpPr>
        <p:spPr>
          <a:xfrm>
            <a:off x="8115477" y="4458220"/>
            <a:ext cx="881451" cy="367145"/>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军事</a:t>
            </a:r>
          </a:p>
        </p:txBody>
      </p:sp>
      <p:sp>
        <p:nvSpPr>
          <p:cNvPr id="20" name="圆角矩形 19"/>
          <p:cNvSpPr/>
          <p:nvPr/>
        </p:nvSpPr>
        <p:spPr>
          <a:xfrm>
            <a:off x="8115477" y="4948439"/>
            <a:ext cx="881452" cy="367145"/>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娱乐</a:t>
            </a:r>
          </a:p>
        </p:txBody>
      </p:sp>
      <p:cxnSp>
        <p:nvCxnSpPr>
          <p:cNvPr id="21" name="直接箭头连接符 20"/>
          <p:cNvCxnSpPr>
            <a:stCxn id="17" idx="3"/>
            <a:endCxn id="20" idx="1"/>
          </p:cNvCxnSpPr>
          <p:nvPr/>
        </p:nvCxnSpPr>
        <p:spPr>
          <a:xfrm>
            <a:off x="7349837" y="4640301"/>
            <a:ext cx="765640" cy="4917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直接箭头连接符 23"/>
          <p:cNvCxnSpPr>
            <a:stCxn id="17" idx="3"/>
            <a:endCxn id="18" idx="1"/>
          </p:cNvCxnSpPr>
          <p:nvPr/>
        </p:nvCxnSpPr>
        <p:spPr>
          <a:xfrm flipV="1">
            <a:off x="7349837" y="4128106"/>
            <a:ext cx="765640" cy="51219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直接箭头连接符 26"/>
          <p:cNvCxnSpPr>
            <a:stCxn id="17" idx="3"/>
            <a:endCxn id="19" idx="1"/>
          </p:cNvCxnSpPr>
          <p:nvPr/>
        </p:nvCxnSpPr>
        <p:spPr>
          <a:xfrm>
            <a:off x="7349837" y="4640302"/>
            <a:ext cx="765640" cy="149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数据建模</a:t>
            </a:r>
          </a:p>
        </p:txBody>
      </p:sp>
    </p:spTree>
    <p:extLst>
      <p:ext uri="{BB962C8B-B14F-4D97-AF65-F5344CB8AC3E}">
        <p14:creationId xmlns:p14="http://schemas.microsoft.com/office/powerpoint/2010/main" val="1579515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48000" y="981075"/>
            <a:ext cx="9144000" cy="481013"/>
          </a:xfrm>
        </p:spPr>
        <p:txBody>
          <a:bodyPr>
            <a:noAutofit/>
          </a:bodyPr>
          <a:lstStyle/>
          <a:p>
            <a:r>
              <a:rPr lang="zh-CN" altLang="en-US" sz="2800" b="1" dirty="0">
                <a:latin typeface="微软雅黑" panose="020B0503020204020204" pitchFamily="34" charset="-122"/>
                <a:ea typeface="微软雅黑" panose="020B0503020204020204" pitchFamily="34" charset="-122"/>
              </a:rPr>
              <a:t>聚类问题</a:t>
            </a:r>
          </a:p>
        </p:txBody>
      </p:sp>
      <p:sp>
        <p:nvSpPr>
          <p:cNvPr id="6" name="矩形 5"/>
          <p:cNvSpPr/>
          <p:nvPr/>
        </p:nvSpPr>
        <p:spPr>
          <a:xfrm>
            <a:off x="1910764" y="1646691"/>
            <a:ext cx="8433708" cy="1477328"/>
          </a:xfrm>
          <a:prstGeom prst="rect">
            <a:avLst/>
          </a:prstGeom>
        </p:spPr>
        <p:txBody>
          <a:bodyPr wrap="square">
            <a:spAutoFit/>
          </a:bodyPr>
          <a:lstStyle/>
          <a:p>
            <a:pPr indent="342900">
              <a:lnSpc>
                <a:spcPct val="125000"/>
              </a:lnSpc>
            </a:pPr>
            <a:r>
              <a:rPr lang="zh-CN" altLang="en-US" sz="2400" b="1" dirty="0">
                <a:solidFill>
                  <a:srgbClr val="0070C0"/>
                </a:solidFill>
                <a:latin typeface="微软雅黑" panose="020B0503020204020204" charset="-122"/>
                <a:ea typeface="微软雅黑" panose="020B0503020204020204" charset="-122"/>
              </a:rPr>
              <a:t>聚类问题</a:t>
            </a:r>
            <a:r>
              <a:rPr lang="zh-CN" altLang="en-US" sz="2400" dirty="0">
                <a:latin typeface="微软雅黑" panose="020B0503020204020204" charset="-122"/>
                <a:ea typeface="微软雅黑" panose="020B0503020204020204" charset="-122"/>
              </a:rPr>
              <a:t>是无监督学习的问题，算法的思想就是“物以类聚，人以群分”。聚类算法感知样本间的相似度，进行类别归纳，对新的输入进行输出预测，输出变量取有限个离散值。</a:t>
            </a:r>
          </a:p>
        </p:txBody>
      </p:sp>
      <p:sp>
        <p:nvSpPr>
          <p:cNvPr id="7" name="矩形 6"/>
          <p:cNvSpPr/>
          <p:nvPr/>
        </p:nvSpPr>
        <p:spPr>
          <a:xfrm>
            <a:off x="2397183" y="5149642"/>
            <a:ext cx="7789069" cy="1015663"/>
          </a:xfrm>
          <a:prstGeom prst="rect">
            <a:avLst/>
          </a:prstGeom>
        </p:spPr>
        <p:txBody>
          <a:bodyPr wrap="square">
            <a:spAutoFit/>
          </a:bodyPr>
          <a:lstStyle/>
          <a:p>
            <a:pPr marL="257175" indent="-257175">
              <a:lnSpc>
                <a:spcPct val="125000"/>
              </a:lnSpc>
              <a:buFont typeface="Wingdings" panose="05000000000000000000" charset="0"/>
              <a:buChar char=""/>
            </a:pPr>
            <a:r>
              <a:rPr lang="zh-CN" altLang="en-US" sz="2400" dirty="0">
                <a:latin typeface="微软雅黑" panose="020B0503020204020204" charset="-122"/>
                <a:ea typeface="微软雅黑" panose="020B0503020204020204" charset="-122"/>
              </a:rPr>
              <a:t>可以</a:t>
            </a:r>
            <a:r>
              <a:rPr sz="2400" dirty="0" err="1">
                <a:latin typeface="微软雅黑" panose="020B0503020204020204" charset="-122"/>
                <a:ea typeface="微软雅黑" panose="020B0503020204020204" charset="-122"/>
              </a:rPr>
              <a:t>作为一个单独过程，用于寻找数据内在的分布结构</a:t>
            </a:r>
            <a:endParaRPr sz="2400" dirty="0">
              <a:latin typeface="微软雅黑" panose="020B0503020204020204" charset="-122"/>
              <a:ea typeface="微软雅黑" panose="020B0503020204020204" charset="-122"/>
            </a:endParaRPr>
          </a:p>
          <a:p>
            <a:pPr marL="257175" indent="-257175">
              <a:lnSpc>
                <a:spcPct val="125000"/>
              </a:lnSpc>
              <a:buFont typeface="Wingdings" panose="05000000000000000000" charset="0"/>
              <a:buChar char=""/>
            </a:pPr>
            <a:r>
              <a:rPr sz="2400" dirty="0">
                <a:latin typeface="微软雅黑" panose="020B0503020204020204" charset="-122"/>
                <a:ea typeface="微软雅黑" panose="020B0503020204020204" charset="-122"/>
              </a:rPr>
              <a:t>可以作为分类、稀疏表示等其他学习任务的前驱过程</a:t>
            </a:r>
            <a:endParaRPr lang="en-US" sz="2400" dirty="0">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2"/>
          <a:stretch>
            <a:fillRect/>
          </a:stretch>
        </p:blipFill>
        <p:spPr>
          <a:xfrm>
            <a:off x="2753346" y="3249522"/>
            <a:ext cx="6540571" cy="1900121"/>
          </a:xfrm>
          <a:prstGeom prst="rect">
            <a:avLst/>
          </a:prstGeom>
        </p:spPr>
      </p:pic>
      <p:sp>
        <p:nvSpPr>
          <p:cNvPr id="9"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数据建模</a:t>
            </a:r>
          </a:p>
        </p:txBody>
      </p:sp>
    </p:spTree>
    <p:extLst>
      <p:ext uri="{BB962C8B-B14F-4D97-AF65-F5344CB8AC3E}">
        <p14:creationId xmlns:p14="http://schemas.microsoft.com/office/powerpoint/2010/main" val="1185029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圆角矩形 12"/>
          <p:cNvSpPr/>
          <p:nvPr/>
        </p:nvSpPr>
        <p:spPr>
          <a:xfrm>
            <a:off x="2946083" y="2017872"/>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400" dirty="0">
                <a:solidFill>
                  <a:schemeClr val="tx1"/>
                </a:solidFill>
                <a:latin typeface="微软雅黑" panose="020B0503020204020204" charset="-122"/>
                <a:ea typeface="微软雅黑" panose="020B0503020204020204" charset="-122"/>
                <a:sym typeface="+mn-ea"/>
              </a:rPr>
              <a:t>数据预处理</a:t>
            </a:r>
          </a:p>
        </p:txBody>
      </p:sp>
      <p:sp>
        <p:nvSpPr>
          <p:cNvPr id="14" name="圆角矩形 13"/>
          <p:cNvSpPr/>
          <p:nvPr/>
        </p:nvSpPr>
        <p:spPr>
          <a:xfrm>
            <a:off x="2946083" y="2952751"/>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特征工程</a:t>
            </a:r>
          </a:p>
        </p:txBody>
      </p:sp>
      <p:sp>
        <p:nvSpPr>
          <p:cNvPr id="15" name="圆角矩形 14"/>
          <p:cNvSpPr/>
          <p:nvPr/>
        </p:nvSpPr>
        <p:spPr>
          <a:xfrm>
            <a:off x="2946083" y="4797267"/>
            <a:ext cx="2769870" cy="577215"/>
          </a:xfrm>
          <a:prstGeom prst="roundRect">
            <a:avLst/>
          </a:prstGeom>
          <a:solidFill>
            <a:schemeClr val="accent2">
              <a:lumMod val="40000"/>
              <a:lumOff val="6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结果评估</a:t>
            </a:r>
          </a:p>
        </p:txBody>
      </p:sp>
      <p:sp>
        <p:nvSpPr>
          <p:cNvPr id="18" name="圆角矩形 17"/>
          <p:cNvSpPr/>
          <p:nvPr/>
        </p:nvSpPr>
        <p:spPr>
          <a:xfrm>
            <a:off x="2946083" y="3884296"/>
            <a:ext cx="2769870" cy="577215"/>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400" dirty="0">
                <a:solidFill>
                  <a:schemeClr val="tx1"/>
                </a:solidFill>
                <a:latin typeface="微软雅黑" panose="020B0503020204020204" charset="-122"/>
                <a:ea typeface="微软雅黑" panose="020B0503020204020204" charset="-122"/>
                <a:sym typeface="+mn-ea"/>
              </a:rPr>
              <a:t>数据建模</a:t>
            </a:r>
          </a:p>
        </p:txBody>
      </p:sp>
      <p:sp>
        <p:nvSpPr>
          <p:cNvPr id="19" name="下箭头 18"/>
          <p:cNvSpPr/>
          <p:nvPr/>
        </p:nvSpPr>
        <p:spPr>
          <a:xfrm>
            <a:off x="4181476" y="2646999"/>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0" name="下箭头 19"/>
          <p:cNvSpPr/>
          <p:nvPr/>
        </p:nvSpPr>
        <p:spPr>
          <a:xfrm>
            <a:off x="4183381" y="3561399"/>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1" name="下箭头 20"/>
          <p:cNvSpPr/>
          <p:nvPr/>
        </p:nvSpPr>
        <p:spPr>
          <a:xfrm>
            <a:off x="4183381" y="4481514"/>
            <a:ext cx="295275" cy="284321"/>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400"/>
          </a:p>
        </p:txBody>
      </p:sp>
      <p:sp>
        <p:nvSpPr>
          <p:cNvPr id="22" name="文本框 21"/>
          <p:cNvSpPr txBox="1"/>
          <p:nvPr/>
        </p:nvSpPr>
        <p:spPr>
          <a:xfrm>
            <a:off x="5968842" y="2168367"/>
            <a:ext cx="4493538" cy="461665"/>
          </a:xfrm>
          <a:prstGeom prst="rect">
            <a:avLst/>
          </a:prstGeom>
          <a:noFill/>
        </p:spPr>
        <p:txBody>
          <a:bodyPr wrap="none" rtlCol="0" anchor="t">
            <a:spAutoFit/>
          </a:bodyPr>
          <a:lstStyle/>
          <a:p>
            <a:r>
              <a:rPr lang="zh-CN" altLang="en-US" sz="2400" dirty="0">
                <a:latin typeface="微软雅黑" panose="020B0503020204020204" charset="-122"/>
                <a:ea typeface="微软雅黑" panose="020B0503020204020204" charset="-122"/>
                <a:sym typeface="+mn-ea"/>
              </a:rPr>
              <a:t>数据清洗、数据采样、数据拆分</a:t>
            </a:r>
          </a:p>
        </p:txBody>
      </p:sp>
      <p:sp>
        <p:nvSpPr>
          <p:cNvPr id="23" name="文本框 22"/>
          <p:cNvSpPr txBox="1"/>
          <p:nvPr/>
        </p:nvSpPr>
        <p:spPr>
          <a:xfrm>
            <a:off x="5970270" y="3103246"/>
            <a:ext cx="449353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特征编码、特征选择、特征降维</a:t>
            </a:r>
          </a:p>
        </p:txBody>
      </p:sp>
      <p:sp>
        <p:nvSpPr>
          <p:cNvPr id="24" name="文本框 23"/>
          <p:cNvSpPr txBox="1"/>
          <p:nvPr/>
        </p:nvSpPr>
        <p:spPr>
          <a:xfrm>
            <a:off x="5970270" y="4034315"/>
            <a:ext cx="449353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回归问题、分类问题、聚类问题</a:t>
            </a:r>
          </a:p>
        </p:txBody>
      </p:sp>
      <p:sp>
        <p:nvSpPr>
          <p:cNvPr id="25" name="文本框 24"/>
          <p:cNvSpPr txBox="1"/>
          <p:nvPr/>
        </p:nvSpPr>
        <p:spPr>
          <a:xfrm>
            <a:off x="5970270" y="4947762"/>
            <a:ext cx="4610558" cy="461665"/>
          </a:xfrm>
          <a:prstGeom prst="rect">
            <a:avLst/>
          </a:prstGeom>
          <a:noFill/>
        </p:spPr>
        <p:txBody>
          <a:bodyPr wrap="none" rtlCol="0" anchor="t">
            <a:spAutoFit/>
          </a:bodyPr>
          <a:lstStyle/>
          <a:p>
            <a:pPr algn="l"/>
            <a:r>
              <a:rPr lang="zh-CN" altLang="en-US" sz="2400" dirty="0">
                <a:latin typeface="微软雅黑" panose="020B0503020204020204" charset="-122"/>
                <a:ea typeface="微软雅黑" panose="020B0503020204020204" charset="-122"/>
                <a:sym typeface="+mn-ea"/>
              </a:rPr>
              <a:t>查准率、查全率、</a:t>
            </a:r>
            <a:r>
              <a:rPr lang="en-US" altLang="zh-CN" sz="2400" dirty="0">
                <a:latin typeface="微软雅黑" panose="020B0503020204020204" charset="-122"/>
                <a:ea typeface="微软雅黑" panose="020B0503020204020204" charset="-122"/>
                <a:sym typeface="+mn-ea"/>
              </a:rPr>
              <a:t>F1</a:t>
            </a:r>
            <a:r>
              <a:rPr lang="zh-CN" altLang="en-US" sz="2400" dirty="0">
                <a:latin typeface="微软雅黑" panose="020B0503020204020204" charset="-122"/>
                <a:ea typeface="微软雅黑" panose="020B0503020204020204" charset="-122"/>
                <a:sym typeface="+mn-ea"/>
              </a:rPr>
              <a:t>值、</a:t>
            </a:r>
            <a:r>
              <a:rPr lang="en-US" altLang="zh-CN" sz="2400" dirty="0">
                <a:latin typeface="微软雅黑" panose="020B0503020204020204" charset="-122"/>
                <a:ea typeface="微软雅黑" panose="020B0503020204020204" charset="-122"/>
                <a:sym typeface="+mn-ea"/>
              </a:rPr>
              <a:t>PR</a:t>
            </a:r>
            <a:r>
              <a:rPr lang="zh-CN" altLang="en-US" sz="2400" dirty="0">
                <a:latin typeface="微软雅黑" panose="020B0503020204020204" charset="-122"/>
                <a:ea typeface="微软雅黑" panose="020B0503020204020204" charset="-122"/>
                <a:sym typeface="+mn-ea"/>
              </a:rPr>
              <a:t>曲线</a:t>
            </a:r>
          </a:p>
        </p:txBody>
      </p:sp>
      <p:sp>
        <p:nvSpPr>
          <p:cNvPr id="16"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a:t>
            </a:r>
          </a:p>
        </p:txBody>
      </p:sp>
    </p:spTree>
    <p:extLst>
      <p:ext uri="{BB962C8B-B14F-4D97-AF65-F5344CB8AC3E}">
        <p14:creationId xmlns:p14="http://schemas.microsoft.com/office/powerpoint/2010/main" val="4122803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流程图: 磁盘 3"/>
          <p:cNvSpPr/>
          <p:nvPr/>
        </p:nvSpPr>
        <p:spPr>
          <a:xfrm>
            <a:off x="2779561" y="1819205"/>
            <a:ext cx="1843622" cy="652440"/>
          </a:xfrm>
          <a:prstGeom prst="flowChartMagneticDisk">
            <a:avLst/>
          </a:prstGeom>
          <a:solidFill>
            <a:schemeClr val="accent2">
              <a:lumMod val="60000"/>
              <a:lumOff val="4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latin typeface="微软雅黑" panose="020B0503020204020204" charset="-122"/>
                <a:ea typeface="微软雅黑" panose="020B0503020204020204" charset="-122"/>
              </a:rPr>
              <a:t>训练数据</a:t>
            </a:r>
          </a:p>
        </p:txBody>
      </p:sp>
      <p:sp>
        <p:nvSpPr>
          <p:cNvPr id="5" name="流程图: 磁盘 4"/>
          <p:cNvSpPr/>
          <p:nvPr/>
        </p:nvSpPr>
        <p:spPr>
          <a:xfrm>
            <a:off x="7178926" y="1814950"/>
            <a:ext cx="2373458" cy="717043"/>
          </a:xfrm>
          <a:prstGeom prst="flowChartMagneticDisk">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latin typeface="微软雅黑" panose="020B0503020204020204" charset="-122"/>
                <a:ea typeface="微软雅黑" panose="020B0503020204020204" charset="-122"/>
              </a:rPr>
              <a:t>未知测试数据</a:t>
            </a:r>
          </a:p>
        </p:txBody>
      </p:sp>
      <p:pic>
        <p:nvPicPr>
          <p:cNvPr id="6" name="图片 5"/>
          <p:cNvPicPr>
            <a:picLocks noChangeAspect="1"/>
          </p:cNvPicPr>
          <p:nvPr/>
        </p:nvPicPr>
        <p:blipFill rotWithShape="1">
          <a:blip r:embed="rId2" cstate="print"/>
          <a:srcRect l="74879" t="26087" r="1498" b="50290"/>
          <a:stretch>
            <a:fillRect/>
          </a:stretch>
        </p:blipFill>
        <p:spPr>
          <a:xfrm>
            <a:off x="5473334" y="1877946"/>
            <a:ext cx="664721" cy="664721"/>
          </a:xfrm>
          <a:prstGeom prst="rect">
            <a:avLst/>
          </a:prstGeom>
        </p:spPr>
      </p:pic>
      <p:sp>
        <p:nvSpPr>
          <p:cNvPr id="7" name="右箭头 6"/>
          <p:cNvSpPr/>
          <p:nvPr/>
        </p:nvSpPr>
        <p:spPr>
          <a:xfrm>
            <a:off x="4697999" y="2041217"/>
            <a:ext cx="781983" cy="392747"/>
          </a:xfrm>
          <a:prstGeom prst="rightArrow">
            <a:avLst>
              <a:gd name="adj1" fmla="val 37674"/>
              <a:gd name="adj2"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矩形 7"/>
          <p:cNvSpPr/>
          <p:nvPr/>
        </p:nvSpPr>
        <p:spPr>
          <a:xfrm>
            <a:off x="4648149" y="1658582"/>
            <a:ext cx="800219" cy="461665"/>
          </a:xfrm>
          <a:prstGeom prst="rect">
            <a:avLst/>
          </a:prstGeom>
        </p:spPr>
        <p:txBody>
          <a:bodyPr wrap="none">
            <a:spAutoFit/>
          </a:bodyPr>
          <a:lstStyle/>
          <a:p>
            <a:r>
              <a:rPr kumimoji="1" lang="zh-CN" altLang="en-US" sz="2400" b="1" dirty="0">
                <a:latin typeface="微软雅黑" panose="020B0503020204020204" charset="-122"/>
                <a:ea typeface="微软雅黑" panose="020B0503020204020204" charset="-122"/>
              </a:rPr>
              <a:t>训练</a:t>
            </a:r>
            <a:endParaRPr lang="zh-CN" altLang="en-US" sz="2400" dirty="0"/>
          </a:p>
        </p:txBody>
      </p:sp>
      <p:sp>
        <p:nvSpPr>
          <p:cNvPr id="9" name="右箭头 8"/>
          <p:cNvSpPr/>
          <p:nvPr/>
        </p:nvSpPr>
        <p:spPr>
          <a:xfrm>
            <a:off x="6152965" y="2018855"/>
            <a:ext cx="951147" cy="392747"/>
          </a:xfrm>
          <a:prstGeom prst="rightArrow">
            <a:avLst>
              <a:gd name="adj1" fmla="val 37674"/>
              <a:gd name="adj2"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 name="矩形 9"/>
          <p:cNvSpPr/>
          <p:nvPr/>
        </p:nvSpPr>
        <p:spPr>
          <a:xfrm>
            <a:off x="6152965" y="1658581"/>
            <a:ext cx="800219" cy="461665"/>
          </a:xfrm>
          <a:prstGeom prst="rect">
            <a:avLst/>
          </a:prstGeom>
        </p:spPr>
        <p:txBody>
          <a:bodyPr wrap="none">
            <a:spAutoFit/>
          </a:bodyPr>
          <a:lstStyle/>
          <a:p>
            <a:r>
              <a:rPr kumimoji="1" lang="zh-CN" altLang="en-US" sz="2400" b="1" dirty="0">
                <a:latin typeface="微软雅黑" panose="020B0503020204020204" charset="-122"/>
                <a:ea typeface="微软雅黑" panose="020B0503020204020204" charset="-122"/>
              </a:rPr>
              <a:t>应用</a:t>
            </a:r>
            <a:endParaRPr lang="zh-CN" altLang="en-US" sz="2400" dirty="0"/>
          </a:p>
        </p:txBody>
      </p:sp>
      <p:pic>
        <p:nvPicPr>
          <p:cNvPr id="11" name="图片 10"/>
          <p:cNvPicPr>
            <a:picLocks noChangeAspect="1"/>
          </p:cNvPicPr>
          <p:nvPr/>
        </p:nvPicPr>
        <p:blipFill>
          <a:blip r:embed="rId3"/>
          <a:stretch>
            <a:fillRect/>
          </a:stretch>
        </p:blipFill>
        <p:spPr>
          <a:xfrm>
            <a:off x="6295447" y="3717033"/>
            <a:ext cx="4216661" cy="2290227"/>
          </a:xfrm>
          <a:prstGeom prst="rect">
            <a:avLst/>
          </a:prstGeom>
        </p:spPr>
      </p:pic>
      <p:pic>
        <p:nvPicPr>
          <p:cNvPr id="27" name="图片 26"/>
          <p:cNvPicPr>
            <a:picLocks noChangeAspect="1"/>
          </p:cNvPicPr>
          <p:nvPr/>
        </p:nvPicPr>
        <p:blipFill>
          <a:blip r:embed="rId4"/>
          <a:stretch>
            <a:fillRect/>
          </a:stretch>
        </p:blipFill>
        <p:spPr>
          <a:xfrm>
            <a:off x="1705265" y="4591324"/>
            <a:ext cx="1367314" cy="1264920"/>
          </a:xfrm>
          <a:prstGeom prst="rect">
            <a:avLst/>
          </a:prstGeom>
        </p:spPr>
      </p:pic>
      <p:pic>
        <p:nvPicPr>
          <p:cNvPr id="28" name="图片 27"/>
          <p:cNvPicPr>
            <a:picLocks noChangeAspect="1"/>
          </p:cNvPicPr>
          <p:nvPr/>
        </p:nvPicPr>
        <p:blipFill>
          <a:blip r:embed="rId5"/>
          <a:stretch>
            <a:fillRect/>
          </a:stretch>
        </p:blipFill>
        <p:spPr>
          <a:xfrm>
            <a:off x="3097345" y="4591326"/>
            <a:ext cx="1460659" cy="1267301"/>
          </a:xfrm>
          <a:prstGeom prst="rect">
            <a:avLst/>
          </a:prstGeom>
        </p:spPr>
      </p:pic>
      <p:pic>
        <p:nvPicPr>
          <p:cNvPr id="29" name="图片 28"/>
          <p:cNvPicPr>
            <a:picLocks noChangeAspect="1"/>
          </p:cNvPicPr>
          <p:nvPr/>
        </p:nvPicPr>
        <p:blipFill>
          <a:blip r:embed="rId6"/>
          <a:stretch>
            <a:fillRect/>
          </a:stretch>
        </p:blipFill>
        <p:spPr>
          <a:xfrm>
            <a:off x="4558003" y="4525126"/>
            <a:ext cx="1513523" cy="1334453"/>
          </a:xfrm>
          <a:prstGeom prst="rect">
            <a:avLst/>
          </a:prstGeom>
        </p:spPr>
      </p:pic>
      <p:sp>
        <p:nvSpPr>
          <p:cNvPr id="30" name="矩形 29"/>
          <p:cNvSpPr/>
          <p:nvPr/>
        </p:nvSpPr>
        <p:spPr>
          <a:xfrm>
            <a:off x="1950243" y="4014785"/>
            <a:ext cx="1241550" cy="461665"/>
          </a:xfrm>
          <a:prstGeom prst="rect">
            <a:avLst/>
          </a:prstGeom>
        </p:spPr>
        <p:txBody>
          <a:bodyPr wrap="square">
            <a:spAutoFit/>
          </a:bodyPr>
          <a:lstStyle/>
          <a:p>
            <a:r>
              <a:rPr lang="zh-CN" altLang="en-US" sz="2400" b="1" dirty="0">
                <a:latin typeface="微软雅黑" panose="020B0503020204020204" charset="-122"/>
                <a:ea typeface="微软雅黑" panose="020B0503020204020204" charset="-122"/>
              </a:rPr>
              <a:t>欠拟合</a:t>
            </a:r>
          </a:p>
        </p:txBody>
      </p:sp>
      <p:sp>
        <p:nvSpPr>
          <p:cNvPr id="31" name="矩形 30"/>
          <p:cNvSpPr/>
          <p:nvPr/>
        </p:nvSpPr>
        <p:spPr>
          <a:xfrm>
            <a:off x="3261444" y="4030361"/>
            <a:ext cx="1415772" cy="461665"/>
          </a:xfrm>
          <a:prstGeom prst="rect">
            <a:avLst/>
          </a:prstGeom>
        </p:spPr>
        <p:txBody>
          <a:bodyPr wrap="none">
            <a:spAutoFit/>
          </a:bodyPr>
          <a:lstStyle/>
          <a:p>
            <a:r>
              <a:rPr lang="zh-CN" altLang="en-US" sz="2400" b="1" dirty="0">
                <a:latin typeface="微软雅黑" panose="020B0503020204020204" charset="-122"/>
                <a:ea typeface="微软雅黑" panose="020B0503020204020204" charset="-122"/>
              </a:rPr>
              <a:t>合适拟合</a:t>
            </a:r>
          </a:p>
        </p:txBody>
      </p:sp>
      <p:sp>
        <p:nvSpPr>
          <p:cNvPr id="32" name="矩形 31"/>
          <p:cNvSpPr/>
          <p:nvPr/>
        </p:nvSpPr>
        <p:spPr>
          <a:xfrm>
            <a:off x="4872727" y="4028815"/>
            <a:ext cx="1107996" cy="461665"/>
          </a:xfrm>
          <a:prstGeom prst="rect">
            <a:avLst/>
          </a:prstGeom>
        </p:spPr>
        <p:txBody>
          <a:bodyPr wrap="none">
            <a:spAutoFit/>
          </a:bodyPr>
          <a:lstStyle/>
          <a:p>
            <a:r>
              <a:rPr lang="zh-CN" altLang="en-US" sz="2400" b="1" dirty="0">
                <a:latin typeface="微软雅黑" panose="020B0503020204020204" charset="-122"/>
                <a:ea typeface="微软雅黑" panose="020B0503020204020204" charset="-122"/>
              </a:rPr>
              <a:t>过拟合</a:t>
            </a:r>
          </a:p>
        </p:txBody>
      </p:sp>
      <p:sp>
        <p:nvSpPr>
          <p:cNvPr id="25" name="矩形 24"/>
          <p:cNvSpPr/>
          <p:nvPr/>
        </p:nvSpPr>
        <p:spPr>
          <a:xfrm>
            <a:off x="1631504" y="2797695"/>
            <a:ext cx="6192688" cy="830997"/>
          </a:xfrm>
          <a:prstGeom prst="rect">
            <a:avLst/>
          </a:prstGeom>
        </p:spPr>
        <p:txBody>
          <a:bodyPr wrap="square">
            <a:spAutoFit/>
          </a:bodyPr>
          <a:lstStyle/>
          <a:p>
            <a:pPr indent="342900" fontAlgn="auto"/>
            <a:r>
              <a:rPr lang="zh-CN" altLang="en-US" sz="2400" b="1" dirty="0">
                <a:solidFill>
                  <a:srgbClr val="CC6600"/>
                </a:solidFill>
                <a:latin typeface="微软雅黑" panose="020B0503020204020204" charset="-122"/>
                <a:ea typeface="微软雅黑" panose="020B0503020204020204" charset="-122"/>
              </a:rPr>
              <a:t>泛化误差</a:t>
            </a:r>
            <a:r>
              <a:rPr lang="zh-CN" altLang="en-US" sz="2400" dirty="0">
                <a:latin typeface="微软雅黑" panose="020B0503020204020204" charset="-122"/>
                <a:ea typeface="微软雅黑" panose="020B0503020204020204" charset="-122"/>
              </a:rPr>
              <a:t>：在“未来”样本上的误差</a:t>
            </a:r>
          </a:p>
          <a:p>
            <a:pPr indent="342900" fontAlgn="auto"/>
            <a:r>
              <a:rPr lang="zh-CN" altLang="en-US" sz="2400" b="1" dirty="0">
                <a:solidFill>
                  <a:srgbClr val="CC6600"/>
                </a:solidFill>
                <a:latin typeface="微软雅黑" panose="020B0503020204020204" charset="-122"/>
                <a:ea typeface="微软雅黑" panose="020B0503020204020204" charset="-122"/>
              </a:rPr>
              <a:t>经验误差</a:t>
            </a:r>
            <a:r>
              <a:rPr lang="zh-CN" altLang="en-US" sz="2400" dirty="0">
                <a:latin typeface="微软雅黑" panose="020B0503020204020204" charset="-122"/>
                <a:ea typeface="微软雅黑" panose="020B0503020204020204" charset="-122"/>
              </a:rPr>
              <a:t>：在训练集上的误差</a:t>
            </a:r>
          </a:p>
        </p:txBody>
      </p:sp>
      <p:sp>
        <p:nvSpPr>
          <p:cNvPr id="18"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结果评估</a:t>
            </a:r>
          </a:p>
        </p:txBody>
      </p:sp>
    </p:spTree>
    <p:extLst>
      <p:ext uri="{BB962C8B-B14F-4D97-AF65-F5344CB8AC3E}">
        <p14:creationId xmlns:p14="http://schemas.microsoft.com/office/powerpoint/2010/main" val="202316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25"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48000" y="1017588"/>
            <a:ext cx="9144000" cy="487362"/>
          </a:xfrm>
        </p:spPr>
        <p:txBody>
          <a:bodyPr>
            <a:noAutofit/>
          </a:bodyPr>
          <a:lstStyle/>
          <a:p>
            <a:r>
              <a:rPr lang="zh-CN" altLang="en-US" sz="2800" b="1" dirty="0">
                <a:latin typeface="微软雅黑" panose="020B0503020204020204" pitchFamily="34" charset="-122"/>
                <a:ea typeface="微软雅黑" panose="020B0503020204020204" pitchFamily="34" charset="-122"/>
              </a:rPr>
              <a:t>性能评价指标（以分类为例）</a:t>
            </a:r>
          </a:p>
        </p:txBody>
      </p:sp>
      <p:sp>
        <p:nvSpPr>
          <p:cNvPr id="4" name="矩形 3"/>
          <p:cNvSpPr/>
          <p:nvPr/>
        </p:nvSpPr>
        <p:spPr>
          <a:xfrm>
            <a:off x="9231796" y="5175803"/>
            <a:ext cx="576470" cy="2186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5" name="组合 4"/>
          <p:cNvGrpSpPr/>
          <p:nvPr/>
        </p:nvGrpSpPr>
        <p:grpSpPr>
          <a:xfrm>
            <a:off x="6039857" y="1408434"/>
            <a:ext cx="4564967" cy="2393228"/>
            <a:chOff x="5554" y="2470"/>
            <a:chExt cx="8000" cy="4130"/>
          </a:xfrm>
        </p:grpSpPr>
        <p:pic>
          <p:nvPicPr>
            <p:cNvPr id="6" name="图片 5"/>
            <p:cNvPicPr>
              <a:picLocks noChangeAspect="1"/>
            </p:cNvPicPr>
            <p:nvPr/>
          </p:nvPicPr>
          <p:blipFill>
            <a:blip r:embed="rId2"/>
            <a:stretch>
              <a:fillRect/>
            </a:stretch>
          </p:blipFill>
          <p:spPr>
            <a:xfrm>
              <a:off x="5554" y="3340"/>
              <a:ext cx="8000" cy="3260"/>
            </a:xfrm>
            <a:prstGeom prst="rect">
              <a:avLst/>
            </a:prstGeom>
          </p:spPr>
        </p:pic>
        <p:sp>
          <p:nvSpPr>
            <p:cNvPr id="7" name="矩形 6"/>
            <p:cNvSpPr/>
            <p:nvPr/>
          </p:nvSpPr>
          <p:spPr>
            <a:xfrm>
              <a:off x="7317" y="2470"/>
              <a:ext cx="5888" cy="797"/>
            </a:xfrm>
            <a:prstGeom prst="rect">
              <a:avLst/>
            </a:prstGeom>
          </p:spPr>
          <p:txBody>
            <a:bodyPr wrap="square" rtlCol="0" anchor="t">
              <a:spAutoFit/>
            </a:bodyPr>
            <a:lstStyle/>
            <a:p>
              <a:r>
                <a:rPr lang="zh-CN" altLang="en-US" sz="2400" b="1" dirty="0">
                  <a:latin typeface="微软雅黑" panose="020B0503020204020204" charset="-122"/>
                  <a:ea typeface="微软雅黑" panose="020B0503020204020204" charset="-122"/>
                  <a:sym typeface="+mn-ea"/>
                </a:rPr>
                <a:t>分类结果混淆矩阵</a:t>
              </a:r>
            </a:p>
          </p:txBody>
        </p:sp>
      </p:grpSp>
      <p:sp>
        <p:nvSpPr>
          <p:cNvPr id="8" name="矩形 7"/>
          <p:cNvSpPr/>
          <p:nvPr/>
        </p:nvSpPr>
        <p:spPr>
          <a:xfrm>
            <a:off x="1884487" y="1830849"/>
            <a:ext cx="4160520" cy="830997"/>
          </a:xfrm>
          <a:prstGeom prst="rect">
            <a:avLst/>
          </a:prstGeom>
        </p:spPr>
        <p:txBody>
          <a:bodyPr wrap="square">
            <a:spAutoFit/>
          </a:bodyPr>
          <a:lstStyle/>
          <a:p>
            <a:r>
              <a:rPr lang="zh-CN" altLang="en-US" sz="2400" b="1" dirty="0">
                <a:solidFill>
                  <a:srgbClr val="0070C0"/>
                </a:solidFill>
                <a:latin typeface="微软雅黑" panose="020B0503020204020204" charset="-122"/>
                <a:ea typeface="微软雅黑" panose="020B0503020204020204" charset="-122"/>
                <a:sym typeface="+mn-ea"/>
              </a:rPr>
              <a:t>准确率</a:t>
            </a:r>
            <a:r>
              <a:rPr lang="en-US" altLang="zh-CN" sz="2400" b="1" dirty="0">
                <a:solidFill>
                  <a:srgbClr val="0070C0"/>
                </a:solidFill>
                <a:latin typeface="微软雅黑" panose="020B0503020204020204" charset="-122"/>
                <a:ea typeface="微软雅黑" panose="020B0503020204020204" charset="-122"/>
                <a:sym typeface="+mn-ea"/>
              </a:rPr>
              <a:t>(Accuracy)</a:t>
            </a:r>
            <a:r>
              <a:rPr lang="zh-CN" altLang="en-US" sz="2400" b="1" dirty="0">
                <a:solidFill>
                  <a:srgbClr val="0070C0"/>
                </a:solidFill>
                <a:latin typeface="微软雅黑" panose="020B0503020204020204" charset="-122"/>
                <a:ea typeface="微软雅黑" panose="020B0503020204020204" charset="-122"/>
                <a:sym typeface="+mn-ea"/>
              </a:rPr>
              <a:t>：</a:t>
            </a:r>
            <a:r>
              <a:rPr lang="zh-CN" altLang="en-US" sz="2400" dirty="0">
                <a:latin typeface="微软雅黑" panose="020B0503020204020204" charset="-122"/>
                <a:ea typeface="微软雅黑" panose="020B0503020204020204" charset="-122"/>
                <a:sym typeface="+mn-ea"/>
              </a:rPr>
              <a:t>正确样本个数占所有样本个数的比例</a:t>
            </a:r>
          </a:p>
        </p:txBody>
      </p:sp>
      <p:sp>
        <p:nvSpPr>
          <p:cNvPr id="10" name="矩形 9"/>
          <p:cNvSpPr/>
          <p:nvPr/>
        </p:nvSpPr>
        <p:spPr>
          <a:xfrm>
            <a:off x="1813270" y="3482198"/>
            <a:ext cx="4302955" cy="830997"/>
          </a:xfrm>
          <a:prstGeom prst="rect">
            <a:avLst/>
          </a:prstGeom>
        </p:spPr>
        <p:txBody>
          <a:bodyPr wrap="square">
            <a:spAutoFit/>
          </a:bodyPr>
          <a:lstStyle/>
          <a:p>
            <a:r>
              <a:rPr lang="zh-CN" altLang="en-US" sz="2400" b="1" dirty="0">
                <a:solidFill>
                  <a:srgbClr val="0070C0"/>
                </a:solidFill>
                <a:latin typeface="微软雅黑" panose="020B0503020204020204" charset="-122"/>
                <a:ea typeface="微软雅黑" panose="020B0503020204020204" charset="-122"/>
                <a:sym typeface="+mn-ea"/>
              </a:rPr>
              <a:t>精确率</a:t>
            </a:r>
            <a:r>
              <a:rPr lang="en-US" altLang="zh-CN" sz="2400" b="1" dirty="0">
                <a:solidFill>
                  <a:srgbClr val="0070C0"/>
                </a:solidFill>
                <a:latin typeface="微软雅黑" panose="020B0503020204020204" charset="-122"/>
                <a:ea typeface="微软雅黑" panose="020B0503020204020204" charset="-122"/>
                <a:sym typeface="+mn-ea"/>
              </a:rPr>
              <a:t>(Precision)</a:t>
            </a:r>
            <a:r>
              <a:rPr lang="zh-CN" altLang="en-US" sz="2400" b="1" dirty="0">
                <a:solidFill>
                  <a:srgbClr val="0070C0"/>
                </a:solidFill>
                <a:latin typeface="微软雅黑" panose="020B0503020204020204" charset="-122"/>
                <a:ea typeface="微软雅黑" panose="020B0503020204020204" charset="-122"/>
                <a:sym typeface="+mn-ea"/>
              </a:rPr>
              <a:t>：</a:t>
            </a:r>
            <a:r>
              <a:rPr lang="zh-CN" altLang="en-US" sz="2400" dirty="0">
                <a:latin typeface="微软雅黑" panose="020B0503020204020204" charset="-122"/>
                <a:ea typeface="微软雅黑" panose="020B0503020204020204" charset="-122"/>
                <a:sym typeface="+mn-ea"/>
              </a:rPr>
              <a:t>正确的正样本占标准正样本个数的比例</a:t>
            </a:r>
          </a:p>
        </p:txBody>
      </p:sp>
      <p:sp>
        <p:nvSpPr>
          <p:cNvPr id="11" name="矩形 10"/>
          <p:cNvSpPr/>
          <p:nvPr/>
        </p:nvSpPr>
        <p:spPr>
          <a:xfrm>
            <a:off x="1813269" y="4978965"/>
            <a:ext cx="4199206" cy="830997"/>
          </a:xfrm>
          <a:prstGeom prst="rect">
            <a:avLst/>
          </a:prstGeom>
        </p:spPr>
        <p:txBody>
          <a:bodyPr wrap="square">
            <a:spAutoFit/>
          </a:bodyPr>
          <a:lstStyle/>
          <a:p>
            <a:r>
              <a:rPr lang="zh-CN" altLang="en-US" sz="2400" b="1" dirty="0">
                <a:solidFill>
                  <a:srgbClr val="0070C0"/>
                </a:solidFill>
                <a:latin typeface="微软雅黑" panose="020B0503020204020204" charset="-122"/>
                <a:ea typeface="微软雅黑" panose="020B0503020204020204" charset="-122"/>
                <a:sym typeface="+mn-ea"/>
              </a:rPr>
              <a:t>召回率</a:t>
            </a:r>
            <a:r>
              <a:rPr lang="en-US" altLang="zh-CN" sz="2400" b="1" dirty="0">
                <a:solidFill>
                  <a:srgbClr val="0070C0"/>
                </a:solidFill>
                <a:latin typeface="微软雅黑" panose="020B0503020204020204" charset="-122"/>
                <a:ea typeface="微软雅黑" panose="020B0503020204020204" charset="-122"/>
                <a:sym typeface="+mn-ea"/>
              </a:rPr>
              <a:t>(Recall)</a:t>
            </a:r>
            <a:r>
              <a:rPr lang="zh-CN" altLang="en-US" sz="2400" b="1" dirty="0">
                <a:solidFill>
                  <a:srgbClr val="0070C0"/>
                </a:solidFill>
                <a:latin typeface="微软雅黑" panose="020B0503020204020204" charset="-122"/>
                <a:ea typeface="微软雅黑" panose="020B0503020204020204" charset="-122"/>
                <a:sym typeface="+mn-ea"/>
              </a:rPr>
              <a:t>：</a:t>
            </a:r>
            <a:r>
              <a:rPr lang="zh-CN" altLang="en-US" sz="2400" dirty="0">
                <a:latin typeface="微软雅黑" panose="020B0503020204020204" charset="-122"/>
                <a:ea typeface="微软雅黑" panose="020B0503020204020204" charset="-122"/>
                <a:sym typeface="+mn-ea"/>
              </a:rPr>
              <a:t>正确的正样本个数占正样本个数的比例</a:t>
            </a:r>
          </a:p>
        </p:txBody>
      </p:sp>
      <p:sp>
        <p:nvSpPr>
          <p:cNvPr id="12" name="矩形 11"/>
          <p:cNvSpPr/>
          <p:nvPr/>
        </p:nvSpPr>
        <p:spPr>
          <a:xfrm>
            <a:off x="6170659" y="3910828"/>
            <a:ext cx="4481438" cy="1200329"/>
          </a:xfrm>
          <a:prstGeom prst="rect">
            <a:avLst/>
          </a:prstGeom>
        </p:spPr>
        <p:txBody>
          <a:bodyPr wrap="square">
            <a:spAutoFit/>
          </a:bodyPr>
          <a:lstStyle/>
          <a:p>
            <a:r>
              <a:rPr lang="en-US" altLang="zh-CN" sz="2400" b="1" dirty="0">
                <a:solidFill>
                  <a:srgbClr val="0070C0"/>
                </a:solidFill>
                <a:latin typeface="微软雅黑" panose="020B0503020204020204" charset="-122"/>
                <a:ea typeface="微软雅黑" panose="020B0503020204020204" charset="-122"/>
                <a:sym typeface="+mn-ea"/>
              </a:rPr>
              <a:t>F1-Score</a:t>
            </a:r>
            <a:r>
              <a:rPr lang="zh-CN" altLang="en-US" sz="2400" b="1" dirty="0">
                <a:solidFill>
                  <a:srgbClr val="0070C0"/>
                </a:solidFill>
                <a:latin typeface="微软雅黑" panose="020B0503020204020204" charset="-122"/>
                <a:ea typeface="微软雅黑" panose="020B0503020204020204" charset="-122"/>
                <a:sym typeface="+mn-ea"/>
              </a:rPr>
              <a:t>：</a:t>
            </a:r>
            <a:r>
              <a:rPr lang="zh-CN" altLang="en-US" sz="2400" dirty="0">
                <a:latin typeface="微软雅黑" panose="020B0503020204020204" charset="-122"/>
                <a:ea typeface="微软雅黑" panose="020B0503020204020204" charset="-122"/>
                <a:sym typeface="+mn-ea"/>
              </a:rPr>
              <a:t>精确率与召回率的调和平均值，它的值更接近于</a:t>
            </a:r>
            <a:r>
              <a:rPr lang="en-US" altLang="zh-CN" sz="2400" dirty="0">
                <a:latin typeface="微软雅黑" panose="020B0503020204020204" charset="-122"/>
                <a:ea typeface="微软雅黑" panose="020B0503020204020204" charset="-122"/>
                <a:sym typeface="+mn-ea"/>
              </a:rPr>
              <a:t>Precision</a:t>
            </a:r>
            <a:r>
              <a:rPr lang="zh-CN" altLang="en-US" sz="2400" dirty="0">
                <a:latin typeface="微软雅黑" panose="020B0503020204020204" charset="-122"/>
                <a:ea typeface="微软雅黑" panose="020B0503020204020204" charset="-122"/>
                <a:sym typeface="+mn-ea"/>
              </a:rPr>
              <a:t>与</a:t>
            </a:r>
            <a:r>
              <a:rPr lang="en-US" altLang="zh-CN" sz="2400" dirty="0">
                <a:latin typeface="微软雅黑" panose="020B0503020204020204" charset="-122"/>
                <a:ea typeface="微软雅黑" panose="020B0503020204020204" charset="-122"/>
                <a:sym typeface="+mn-ea"/>
              </a:rPr>
              <a:t>Recall</a:t>
            </a:r>
            <a:r>
              <a:rPr lang="zh-CN" altLang="en-US" sz="2400" dirty="0">
                <a:latin typeface="微软雅黑" panose="020B0503020204020204" charset="-122"/>
                <a:ea typeface="微软雅黑" panose="020B0503020204020204" charset="-122"/>
                <a:sym typeface="+mn-ea"/>
              </a:rPr>
              <a:t>中较小的值</a:t>
            </a:r>
          </a:p>
        </p:txBody>
      </p:sp>
      <p:pic>
        <p:nvPicPr>
          <p:cNvPr id="64514" name="Picture 2"/>
          <p:cNvPicPr>
            <a:picLocks noChangeAspect="1" noChangeArrowheads="1"/>
          </p:cNvPicPr>
          <p:nvPr/>
        </p:nvPicPr>
        <p:blipFill>
          <a:blip r:embed="rId3"/>
          <a:srcRect/>
          <a:stretch>
            <a:fillRect/>
          </a:stretch>
        </p:blipFill>
        <p:spPr bwMode="auto">
          <a:xfrm>
            <a:off x="1935878" y="2696038"/>
            <a:ext cx="3684941" cy="611939"/>
          </a:xfrm>
          <a:prstGeom prst="rect">
            <a:avLst/>
          </a:prstGeom>
          <a:noFill/>
          <a:ln w="9525">
            <a:noFill/>
            <a:miter lim="800000"/>
            <a:headEnd/>
            <a:tailEnd/>
          </a:ln>
          <a:effectLst/>
        </p:spPr>
      </p:pic>
      <p:pic>
        <p:nvPicPr>
          <p:cNvPr id="64516" name="Picture 4"/>
          <p:cNvPicPr>
            <a:picLocks noChangeAspect="1" noChangeArrowheads="1"/>
          </p:cNvPicPr>
          <p:nvPr/>
        </p:nvPicPr>
        <p:blipFill>
          <a:blip r:embed="rId4"/>
          <a:srcRect/>
          <a:stretch>
            <a:fillRect/>
          </a:stretch>
        </p:blipFill>
        <p:spPr bwMode="auto">
          <a:xfrm>
            <a:off x="2601007" y="4295702"/>
            <a:ext cx="2623730" cy="683263"/>
          </a:xfrm>
          <a:prstGeom prst="rect">
            <a:avLst/>
          </a:prstGeom>
          <a:noFill/>
          <a:ln w="9525">
            <a:noFill/>
            <a:miter lim="800000"/>
            <a:headEnd/>
            <a:tailEnd/>
          </a:ln>
          <a:effectLst/>
        </p:spPr>
      </p:pic>
      <p:pic>
        <p:nvPicPr>
          <p:cNvPr id="64517" name="Picture 5"/>
          <p:cNvPicPr>
            <a:picLocks noChangeAspect="1" noChangeArrowheads="1"/>
          </p:cNvPicPr>
          <p:nvPr/>
        </p:nvPicPr>
        <p:blipFill>
          <a:blip r:embed="rId5"/>
          <a:srcRect/>
          <a:stretch>
            <a:fillRect/>
          </a:stretch>
        </p:blipFill>
        <p:spPr bwMode="auto">
          <a:xfrm>
            <a:off x="2783632" y="5768123"/>
            <a:ext cx="2415098" cy="707608"/>
          </a:xfrm>
          <a:prstGeom prst="rect">
            <a:avLst/>
          </a:prstGeom>
          <a:noFill/>
          <a:ln w="9525">
            <a:noFill/>
            <a:miter lim="800000"/>
            <a:headEnd/>
            <a:tailEnd/>
          </a:ln>
          <a:effectLst/>
        </p:spPr>
      </p:pic>
      <p:pic>
        <p:nvPicPr>
          <p:cNvPr id="64518" name="Picture 6"/>
          <p:cNvPicPr>
            <a:picLocks noChangeAspect="1" noChangeArrowheads="1"/>
          </p:cNvPicPr>
          <p:nvPr/>
        </p:nvPicPr>
        <p:blipFill>
          <a:blip r:embed="rId6"/>
          <a:srcRect/>
          <a:stretch>
            <a:fillRect/>
          </a:stretch>
        </p:blipFill>
        <p:spPr bwMode="auto">
          <a:xfrm>
            <a:off x="6299002" y="5111156"/>
            <a:ext cx="4224753" cy="1041980"/>
          </a:xfrm>
          <a:prstGeom prst="rect">
            <a:avLst/>
          </a:prstGeom>
          <a:noFill/>
          <a:ln w="9525">
            <a:noFill/>
            <a:miter lim="800000"/>
            <a:headEnd/>
            <a:tailEnd/>
          </a:ln>
          <a:effectLst/>
        </p:spPr>
      </p:pic>
      <p:sp>
        <p:nvSpPr>
          <p:cNvPr id="17" name="标题 1"/>
          <p:cNvSpPr txBox="1">
            <a:spLocks/>
          </p:cNvSpPr>
          <p:nvPr/>
        </p:nvSpPr>
        <p:spPr>
          <a:xfrm>
            <a:off x="1460824" y="280698"/>
            <a:ext cx="9144000" cy="681777"/>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dirty="0">
                <a:latin typeface="微软雅黑" panose="020B0503020204020204" pitchFamily="34" charset="-122"/>
                <a:ea typeface="微软雅黑" panose="020B0503020204020204" pitchFamily="34" charset="-122"/>
              </a:rPr>
              <a:t>机器如何学习 </a:t>
            </a: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结果评估</a:t>
            </a:r>
          </a:p>
        </p:txBody>
      </p:sp>
    </p:spTree>
    <p:extLst>
      <p:ext uri="{BB962C8B-B14F-4D97-AF65-F5344CB8AC3E}">
        <p14:creationId xmlns:p14="http://schemas.microsoft.com/office/powerpoint/2010/main" val="10821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5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45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45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8447486" y="4738688"/>
            <a:ext cx="432197" cy="1643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sz="1800"/>
          </a:p>
        </p:txBody>
      </p:sp>
      <p:pic>
        <p:nvPicPr>
          <p:cNvPr id="129030" name="图片 5"/>
          <p:cNvPicPr>
            <a:picLocks noChangeAspect="1"/>
          </p:cNvPicPr>
          <p:nvPr/>
        </p:nvPicPr>
        <p:blipFill>
          <a:blip r:embed="rId2"/>
          <a:stretch>
            <a:fillRect/>
          </a:stretch>
        </p:blipFill>
        <p:spPr>
          <a:xfrm>
            <a:off x="2207568" y="2852936"/>
            <a:ext cx="7214084" cy="3312368"/>
          </a:xfrm>
          <a:prstGeom prst="rect">
            <a:avLst/>
          </a:prstGeom>
          <a:noFill/>
          <a:ln w="9525">
            <a:noFill/>
          </a:ln>
        </p:spPr>
      </p:pic>
      <p:sp>
        <p:nvSpPr>
          <p:cNvPr id="7" name="矩形 5"/>
          <p:cNvSpPr/>
          <p:nvPr/>
        </p:nvSpPr>
        <p:spPr>
          <a:xfrm>
            <a:off x="2596753" y="244990"/>
            <a:ext cx="4219327" cy="52322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b="1" dirty="0">
                <a:latin typeface="微软雅黑" panose="020B0503020204020204" pitchFamily="34" charset="-122"/>
                <a:ea typeface="微软雅黑" panose="020B0503020204020204" pitchFamily="34" charset="-122"/>
              </a:rPr>
              <a:t>性能评价指标</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分类</a:t>
            </a:r>
          </a:p>
        </p:txBody>
      </p:sp>
      <p:sp>
        <p:nvSpPr>
          <p:cNvPr id="3" name="矩形 2"/>
          <p:cNvSpPr/>
          <p:nvPr/>
        </p:nvSpPr>
        <p:spPr>
          <a:xfrm>
            <a:off x="1965519" y="948733"/>
            <a:ext cx="8568952" cy="1477328"/>
          </a:xfrm>
          <a:prstGeom prst="rect">
            <a:avLst/>
          </a:prstGeom>
        </p:spPr>
        <p:txBody>
          <a:bodyPr wrap="square">
            <a:spAutoFit/>
          </a:bodyPr>
          <a:lstStyle/>
          <a:p>
            <a:pPr indent="342900">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sym typeface="+mn-ea"/>
              </a:rPr>
              <a:t>AUC</a:t>
            </a:r>
            <a:r>
              <a:rPr lang="zh-CN" altLang="en-US" sz="2400" dirty="0">
                <a:latin typeface="微软雅黑" panose="020B0503020204020204" pitchFamily="34" charset="-122"/>
                <a:ea typeface="微软雅黑" panose="020B0503020204020204" pitchFamily="34" charset="-122"/>
                <a:sym typeface="+mn-ea"/>
              </a:rPr>
              <a:t>：是</a:t>
            </a:r>
            <a:r>
              <a:rPr lang="en-US" altLang="zh-CN" sz="2400" dirty="0">
                <a:latin typeface="微软雅黑" panose="020B0503020204020204" pitchFamily="34" charset="-122"/>
                <a:ea typeface="微软雅黑" panose="020B0503020204020204" pitchFamily="34" charset="-122"/>
                <a:sym typeface="+mn-ea"/>
              </a:rPr>
              <a:t>ROC</a:t>
            </a:r>
            <a:r>
              <a:rPr lang="zh-CN" altLang="en-US" sz="2400" dirty="0">
                <a:latin typeface="微软雅黑" panose="020B0503020204020204" pitchFamily="34" charset="-122"/>
                <a:ea typeface="微软雅黑" panose="020B0503020204020204" pitchFamily="34" charset="-122"/>
                <a:sym typeface="+mn-ea"/>
              </a:rPr>
              <a:t>曲线下的面积。一般来说，如果ROC是光滑的，那么基本可以判断没有太大的overfitting，这个时候调模型可以只看AUC，面积越大一般认为模型越好。</a:t>
            </a:r>
          </a:p>
        </p:txBody>
      </p:sp>
      <p:sp>
        <p:nvSpPr>
          <p:cNvPr id="129029" name="矩形 4"/>
          <p:cNvSpPr/>
          <p:nvPr/>
        </p:nvSpPr>
        <p:spPr>
          <a:xfrm>
            <a:off x="6672064" y="2934038"/>
            <a:ext cx="3168352" cy="861774"/>
          </a:xfrm>
          <a:prstGeom prst="rect">
            <a:avLst/>
          </a:prstGeom>
          <a:solidFill>
            <a:schemeClr val="bg1"/>
          </a:solid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342900">
              <a:lnSpc>
                <a:spcPct val="125000"/>
              </a:lnSpc>
              <a:spcBef>
                <a:spcPct val="0"/>
              </a:spcBef>
              <a:buNone/>
            </a:pPr>
            <a:r>
              <a:rPr lang="zh-CN" altLang="en-US" sz="2000" b="1" dirty="0">
                <a:solidFill>
                  <a:srgbClr val="FF0000"/>
                </a:solidFill>
                <a:latin typeface="微软雅黑" panose="020B0503020204020204" pitchFamily="34" charset="-122"/>
                <a:ea typeface="微软雅黑" panose="020B0503020204020204" pitchFamily="34" charset="-122"/>
                <a:sym typeface="+mn-ea"/>
              </a:rPr>
              <a:t>ROC</a:t>
            </a:r>
            <a:r>
              <a:rPr lang="zh-CN" altLang="en-US" sz="2000" dirty="0">
                <a:latin typeface="微软雅黑" panose="020B0503020204020204" pitchFamily="34" charset="-122"/>
                <a:ea typeface="微软雅黑" panose="020B0503020204020204" pitchFamily="34" charset="-122"/>
                <a:sym typeface="+mn-ea"/>
              </a:rPr>
              <a:t>：纵轴：真阳率TPR；横轴：假阳率 FPR</a:t>
            </a:r>
          </a:p>
        </p:txBody>
      </p:sp>
    </p:spTree>
    <p:extLst>
      <p:ext uri="{BB962C8B-B14F-4D97-AF65-F5344CB8AC3E}">
        <p14:creationId xmlns:p14="http://schemas.microsoft.com/office/powerpoint/2010/main" val="27395828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矩形 9"/>
          <p:cNvSpPr/>
          <p:nvPr/>
        </p:nvSpPr>
        <p:spPr>
          <a:xfrm>
            <a:off x="2063552" y="942451"/>
            <a:ext cx="7776864" cy="97872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20000"/>
              </a:lnSpc>
              <a:spcBef>
                <a:spcPct val="0"/>
              </a:spcBef>
              <a:buNone/>
            </a:pPr>
            <a:r>
              <a:rPr lang="en-US" altLang="zh-CN" sz="2400" b="1" dirty="0">
                <a:solidFill>
                  <a:srgbClr val="0070C0"/>
                </a:solidFill>
                <a:latin typeface="微软雅黑" panose="020B0503020204020204" pitchFamily="34" charset="-122"/>
                <a:ea typeface="微软雅黑" panose="020B0503020204020204" pitchFamily="34" charset="-122"/>
                <a:sym typeface="+mn-ea"/>
              </a:rPr>
              <a:t>PR</a:t>
            </a:r>
            <a:r>
              <a:rPr lang="zh-CN" altLang="en-US" sz="2400" b="1" dirty="0">
                <a:solidFill>
                  <a:srgbClr val="0070C0"/>
                </a:solidFill>
                <a:latin typeface="微软雅黑" panose="020B0503020204020204" pitchFamily="34" charset="-122"/>
                <a:ea typeface="微软雅黑" panose="020B0503020204020204" pitchFamily="34" charset="-122"/>
                <a:sym typeface="+mn-ea"/>
              </a:rPr>
              <a:t>曲线：</a:t>
            </a:r>
            <a:r>
              <a:rPr lang="zh-CN" altLang="en-US" sz="2400" dirty="0">
                <a:latin typeface="微软雅黑" panose="020B0503020204020204" pitchFamily="34" charset="-122"/>
                <a:ea typeface="微软雅黑" panose="020B0503020204020204" pitchFamily="34" charset="-122"/>
                <a:sym typeface="+mn-ea"/>
              </a:rPr>
              <a:t>根据学习器的预测结果按正例可能性大小对样例进行排序，并逐个把样本作为正例进行预测。</a:t>
            </a:r>
          </a:p>
        </p:txBody>
      </p:sp>
      <p:sp>
        <p:nvSpPr>
          <p:cNvPr id="4" name="矩形 3"/>
          <p:cNvSpPr/>
          <p:nvPr/>
        </p:nvSpPr>
        <p:spPr>
          <a:xfrm>
            <a:off x="2080110" y="2057845"/>
            <a:ext cx="2812256" cy="142192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257175" indent="-257175">
              <a:lnSpc>
                <a:spcPct val="120000"/>
              </a:lnSpc>
              <a:spcBef>
                <a:spcPct val="0"/>
              </a:spcBef>
              <a:buFont typeface="Wingdings" panose="05000000000000000000" pitchFamily="2" charset="2"/>
              <a:buChar char=""/>
            </a:pPr>
            <a:r>
              <a:rPr lang="en-US" altLang="zh-CN" sz="2400" dirty="0">
                <a:latin typeface="微软雅黑" panose="020B0503020204020204" pitchFamily="34" charset="-122"/>
                <a:ea typeface="微软雅黑" panose="020B0503020204020204" pitchFamily="34" charset="-122"/>
                <a:sym typeface="+mn-ea"/>
              </a:rPr>
              <a:t>A</a:t>
            </a:r>
            <a:r>
              <a:rPr lang="zh-CN" altLang="en-US" sz="2400" dirty="0">
                <a:latin typeface="微软雅黑" panose="020B0503020204020204" pitchFamily="34" charset="-122"/>
                <a:ea typeface="微软雅黑" panose="020B0503020204020204" pitchFamily="34" charset="-122"/>
                <a:sym typeface="+mn-ea"/>
              </a:rPr>
              <a:t>的</a:t>
            </a:r>
            <a:r>
              <a:rPr lang="zh-CN" altLang="en-US" sz="2400" b="1" dirty="0">
                <a:solidFill>
                  <a:srgbClr val="00B0F0"/>
                </a:solidFill>
                <a:latin typeface="微软雅黑" panose="020B0503020204020204" pitchFamily="34" charset="-122"/>
                <a:ea typeface="微软雅黑" panose="020B0503020204020204" pitchFamily="34" charset="-122"/>
                <a:sym typeface="+mn-ea"/>
              </a:rPr>
              <a:t>PR曲线</a:t>
            </a:r>
            <a:r>
              <a:rPr lang="zh-CN" altLang="en-US" sz="2400" dirty="0">
                <a:latin typeface="微软雅黑" panose="020B0503020204020204" pitchFamily="34" charset="-122"/>
                <a:ea typeface="微软雅黑" panose="020B0503020204020204" pitchFamily="34" charset="-122"/>
                <a:sym typeface="+mn-ea"/>
              </a:rPr>
              <a:t>包住了</a:t>
            </a:r>
            <a:r>
              <a:rPr lang="en-US" altLang="zh-CN" sz="2400" dirty="0">
                <a:latin typeface="微软雅黑" panose="020B0503020204020204" pitchFamily="34" charset="-122"/>
                <a:ea typeface="微软雅黑" panose="020B0503020204020204" pitchFamily="34" charset="-122"/>
                <a:sym typeface="+mn-ea"/>
              </a:rPr>
              <a:t>C</a:t>
            </a:r>
            <a:r>
              <a:rPr lang="zh-CN" altLang="en-US" sz="2400" dirty="0">
                <a:latin typeface="微软雅黑" panose="020B0503020204020204" pitchFamily="34" charset="-122"/>
                <a:ea typeface="微软雅黑" panose="020B0503020204020204" pitchFamily="34" charset="-122"/>
                <a:sym typeface="+mn-ea"/>
              </a:rPr>
              <a:t>，则可以认为A的性能优于C</a:t>
            </a:r>
          </a:p>
        </p:txBody>
      </p:sp>
      <p:pic>
        <p:nvPicPr>
          <p:cNvPr id="5" name="图片 4"/>
          <p:cNvPicPr>
            <a:picLocks noChangeAspect="1"/>
          </p:cNvPicPr>
          <p:nvPr/>
        </p:nvPicPr>
        <p:blipFill>
          <a:blip r:embed="rId3"/>
          <a:stretch>
            <a:fillRect/>
          </a:stretch>
        </p:blipFill>
        <p:spPr>
          <a:xfrm>
            <a:off x="5822114" y="5092783"/>
            <a:ext cx="2716396" cy="1541738"/>
          </a:xfrm>
          <a:prstGeom prst="rect">
            <a:avLst/>
          </a:prstGeom>
          <a:noFill/>
          <a:ln w="9525">
            <a:noFill/>
          </a:ln>
        </p:spPr>
      </p:pic>
      <p:pic>
        <p:nvPicPr>
          <p:cNvPr id="3" name="图片 2"/>
          <p:cNvPicPr>
            <a:picLocks noChangeAspect="1"/>
          </p:cNvPicPr>
          <p:nvPr/>
        </p:nvPicPr>
        <p:blipFill>
          <a:blip r:embed="rId4"/>
          <a:stretch>
            <a:fillRect/>
          </a:stretch>
        </p:blipFill>
        <p:spPr>
          <a:xfrm>
            <a:off x="5375921" y="2047795"/>
            <a:ext cx="3608785" cy="3077765"/>
          </a:xfrm>
          <a:prstGeom prst="rect">
            <a:avLst/>
          </a:prstGeom>
          <a:noFill/>
          <a:ln w="9525">
            <a:noFill/>
          </a:ln>
        </p:spPr>
      </p:pic>
      <p:sp>
        <p:nvSpPr>
          <p:cNvPr id="130055" name="矩形 1"/>
          <p:cNvSpPr/>
          <p:nvPr/>
        </p:nvSpPr>
        <p:spPr>
          <a:xfrm>
            <a:off x="1982349" y="3886613"/>
            <a:ext cx="3007778" cy="1421928"/>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20000"/>
              </a:lnSpc>
              <a:spcBef>
                <a:spcPct val="0"/>
              </a:spcBef>
              <a:buFont typeface="Wingdings" panose="05000000000000000000" pitchFamily="2" charset="2"/>
              <a:buChar char=""/>
            </a:pPr>
            <a:r>
              <a:rPr lang="zh-CN" altLang="en-US" sz="2400" dirty="0">
                <a:latin typeface="微软雅黑" panose="020B0503020204020204" pitchFamily="34" charset="-122"/>
                <a:ea typeface="微软雅黑" panose="020B0503020204020204" pitchFamily="34" charset="-122"/>
                <a:sym typeface="+mn-ea"/>
              </a:rPr>
              <a:t>如果有交叉，引入</a:t>
            </a:r>
            <a:r>
              <a:rPr lang="zh-CN" altLang="en-US" sz="2400" b="1" dirty="0">
                <a:solidFill>
                  <a:srgbClr val="00B0F0"/>
                </a:solidFill>
                <a:latin typeface="微软雅黑" panose="020B0503020204020204" pitchFamily="34" charset="-122"/>
                <a:ea typeface="微软雅黑" panose="020B0503020204020204" pitchFamily="34" charset="-122"/>
                <a:sym typeface="+mn-ea"/>
              </a:rPr>
              <a:t>平衡点(BEP)</a:t>
            </a:r>
            <a:r>
              <a:rPr lang="zh-CN" altLang="en-US" sz="2400" dirty="0">
                <a:latin typeface="微软雅黑" panose="020B0503020204020204" pitchFamily="34" charset="-122"/>
                <a:ea typeface="微软雅黑" panose="020B0503020204020204" pitchFamily="34" charset="-122"/>
                <a:sym typeface="+mn-ea"/>
              </a:rPr>
              <a:t>，基于BEP比较，A优于B</a:t>
            </a:r>
          </a:p>
        </p:txBody>
      </p:sp>
      <p:sp>
        <p:nvSpPr>
          <p:cNvPr id="8" name="矩形 5"/>
          <p:cNvSpPr/>
          <p:nvPr/>
        </p:nvSpPr>
        <p:spPr>
          <a:xfrm>
            <a:off x="2596753" y="244990"/>
            <a:ext cx="4219327" cy="52322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b="1" dirty="0">
                <a:latin typeface="微软雅黑" panose="020B0503020204020204" pitchFamily="34" charset="-122"/>
                <a:ea typeface="微软雅黑" panose="020B0503020204020204" pitchFamily="34" charset="-122"/>
              </a:rPr>
              <a:t>性能评价指标</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分类</a:t>
            </a:r>
          </a:p>
        </p:txBody>
      </p:sp>
    </p:spTree>
    <p:extLst>
      <p:ext uri="{BB962C8B-B14F-4D97-AF65-F5344CB8AC3E}">
        <p14:creationId xmlns:p14="http://schemas.microsoft.com/office/powerpoint/2010/main" val="267341738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矩形 9"/>
          <p:cNvSpPr/>
          <p:nvPr/>
        </p:nvSpPr>
        <p:spPr>
          <a:xfrm>
            <a:off x="2114426" y="1656754"/>
            <a:ext cx="7725991" cy="830997"/>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sz="2400" dirty="0">
                <a:latin typeface="微软雅黑" panose="020B0503020204020204" pitchFamily="34" charset="-122"/>
                <a:ea typeface="微软雅黑" panose="020B0503020204020204" pitchFamily="34" charset="-122"/>
                <a:sym typeface="+mn-ea"/>
              </a:rPr>
              <a:t>多分类问题中，若能得到</a:t>
            </a:r>
            <a:r>
              <a:rPr lang="zh-CN" altLang="en-US" sz="2400" b="1" dirty="0">
                <a:solidFill>
                  <a:srgbClr val="0432FF"/>
                </a:solidFill>
                <a:latin typeface="微软雅黑" panose="020B0503020204020204" pitchFamily="34" charset="-122"/>
                <a:ea typeface="微软雅黑" panose="020B0503020204020204" pitchFamily="34" charset="-122"/>
                <a:sym typeface="+mn-ea"/>
              </a:rPr>
              <a:t>多个混淆矩阵</a:t>
            </a:r>
            <a:r>
              <a:rPr lang="zh-CN" altLang="en-US" sz="2400" dirty="0">
                <a:latin typeface="微软雅黑" panose="020B0503020204020204" pitchFamily="34" charset="-122"/>
                <a:ea typeface="微软雅黑" panose="020B0503020204020204" pitchFamily="34" charset="-122"/>
                <a:sym typeface="+mn-ea"/>
              </a:rPr>
              <a:t>，例如多次训练/测试的结果，多分类的两两混淆矩阵：</a:t>
            </a:r>
          </a:p>
        </p:txBody>
      </p:sp>
      <p:sp>
        <p:nvSpPr>
          <p:cNvPr id="8" name="矩形 7"/>
          <p:cNvSpPr/>
          <p:nvPr/>
        </p:nvSpPr>
        <p:spPr>
          <a:xfrm>
            <a:off x="1775521" y="2622119"/>
            <a:ext cx="3886949" cy="477054"/>
          </a:xfrm>
          <a:prstGeom prst="rect">
            <a:avLst/>
          </a:prstGeom>
          <a:solidFill>
            <a:srgbClr val="F0FEE5"/>
          </a:solidFill>
        </p:spPr>
        <p:style>
          <a:lnRef idx="2">
            <a:schemeClr val="accent6"/>
          </a:lnRef>
          <a:fillRef idx="1">
            <a:schemeClr val="lt1"/>
          </a:fillRef>
          <a:effectRef idx="0">
            <a:schemeClr val="accent6"/>
          </a:effectRef>
          <a:fontRef idx="minor">
            <a:schemeClr val="dk1"/>
          </a:fontRef>
        </p:style>
        <p:txBody>
          <a:bodyPr wrap="square" anchor="ctr">
            <a:spAutoFit/>
          </a:bodyPr>
          <a:lstStyle/>
          <a:p>
            <a:pPr algn="ctr">
              <a:lnSpc>
                <a:spcPct val="125000"/>
              </a:lnSpc>
              <a:defRPr/>
            </a:pPr>
            <a:r>
              <a:rPr kumimoji="1" lang="zh-CN" altLang="en-US" sz="2000" b="1" dirty="0">
                <a:solidFill>
                  <a:srgbClr val="FF0000"/>
                </a:solidFill>
                <a:latin typeface="微软雅黑" panose="020B0503020204020204" pitchFamily="34" charset="-122"/>
                <a:ea typeface="微软雅黑" panose="020B0503020204020204" pitchFamily="34" charset="-122"/>
                <a:sym typeface="+mn-ea"/>
              </a:rPr>
              <a:t>宏(macro-)</a:t>
            </a:r>
            <a:r>
              <a:rPr kumimoji="1" lang="zh-CN" altLang="en-US" sz="2000" dirty="0">
                <a:latin typeface="微软雅黑" panose="020B0503020204020204" pitchFamily="34" charset="-122"/>
                <a:ea typeface="微软雅黑" panose="020B0503020204020204" pitchFamily="34" charset="-122"/>
                <a:sym typeface="+mn-ea"/>
              </a:rPr>
              <a:t>查准率、查全率、F1</a:t>
            </a:r>
          </a:p>
        </p:txBody>
      </p:sp>
      <p:sp>
        <p:nvSpPr>
          <p:cNvPr id="3" name="矩形 2"/>
          <p:cNvSpPr/>
          <p:nvPr/>
        </p:nvSpPr>
        <p:spPr>
          <a:xfrm>
            <a:off x="6210300" y="2621586"/>
            <a:ext cx="3846140" cy="477054"/>
          </a:xfrm>
          <a:prstGeom prst="rect">
            <a:avLst/>
          </a:prstGeom>
          <a:solidFill>
            <a:srgbClr val="F0FEE5"/>
          </a:solidFill>
        </p:spPr>
        <p:style>
          <a:lnRef idx="2">
            <a:schemeClr val="accent6"/>
          </a:lnRef>
          <a:fillRef idx="1">
            <a:schemeClr val="lt1"/>
          </a:fillRef>
          <a:effectRef idx="0">
            <a:schemeClr val="accent6"/>
          </a:effectRef>
          <a:fontRef idx="minor">
            <a:schemeClr val="dk1"/>
          </a:fontRef>
        </p:style>
        <p:txBody>
          <a:bodyPr wrap="square" anchor="ctr">
            <a:spAutoFit/>
          </a:bodyPr>
          <a:lstStyle/>
          <a:p>
            <a:pPr algn="ctr">
              <a:lnSpc>
                <a:spcPct val="125000"/>
              </a:lnSpc>
              <a:defRPr/>
            </a:pPr>
            <a:r>
              <a:rPr kumimoji="1" lang="zh-CN" altLang="en-US" sz="2000" b="1" dirty="0">
                <a:solidFill>
                  <a:srgbClr val="FF0000"/>
                </a:solidFill>
                <a:latin typeface="微软雅黑" panose="020B0503020204020204" pitchFamily="34" charset="-122"/>
                <a:ea typeface="微软雅黑" panose="020B0503020204020204" pitchFamily="34" charset="-122"/>
                <a:sym typeface="+mn-ea"/>
              </a:rPr>
              <a:t>微(micro-)</a:t>
            </a:r>
            <a:r>
              <a:rPr kumimoji="1" lang="zh-CN" altLang="en-US" sz="2000" dirty="0">
                <a:latin typeface="微软雅黑" panose="020B0503020204020204" pitchFamily="34" charset="-122"/>
                <a:ea typeface="微软雅黑" panose="020B0503020204020204" pitchFamily="34" charset="-122"/>
                <a:sym typeface="+mn-ea"/>
              </a:rPr>
              <a:t>查准率、查全率、F1</a:t>
            </a:r>
          </a:p>
        </p:txBody>
      </p:sp>
      <p:pic>
        <p:nvPicPr>
          <p:cNvPr id="4" name="图片 3"/>
          <p:cNvPicPr>
            <a:picLocks noChangeAspect="1"/>
          </p:cNvPicPr>
          <p:nvPr/>
        </p:nvPicPr>
        <p:blipFill>
          <a:blip r:embed="rId3"/>
          <a:stretch>
            <a:fillRect/>
          </a:stretch>
        </p:blipFill>
        <p:spPr>
          <a:xfrm>
            <a:off x="1775520" y="3233542"/>
            <a:ext cx="3958546" cy="2787746"/>
          </a:xfrm>
          <a:prstGeom prst="rect">
            <a:avLst/>
          </a:prstGeom>
          <a:noFill/>
          <a:ln w="9525">
            <a:noFill/>
          </a:ln>
        </p:spPr>
      </p:pic>
      <p:pic>
        <p:nvPicPr>
          <p:cNvPr id="5" name="图片 4"/>
          <p:cNvPicPr>
            <a:picLocks noChangeAspect="1"/>
          </p:cNvPicPr>
          <p:nvPr/>
        </p:nvPicPr>
        <p:blipFill>
          <a:blip r:embed="rId4"/>
          <a:stretch>
            <a:fillRect/>
          </a:stretch>
        </p:blipFill>
        <p:spPr>
          <a:xfrm>
            <a:off x="6168008" y="3232476"/>
            <a:ext cx="3905922" cy="2788812"/>
          </a:xfrm>
          <a:prstGeom prst="rect">
            <a:avLst/>
          </a:prstGeom>
          <a:noFill/>
          <a:ln w="9525">
            <a:noFill/>
          </a:ln>
        </p:spPr>
      </p:pic>
      <p:sp>
        <p:nvSpPr>
          <p:cNvPr id="132103" name="矩形 10"/>
          <p:cNvSpPr/>
          <p:nvPr/>
        </p:nvSpPr>
        <p:spPr>
          <a:xfrm>
            <a:off x="2114425" y="1026814"/>
            <a:ext cx="2591990" cy="46166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sz="2400" b="1" dirty="0">
                <a:solidFill>
                  <a:srgbClr val="0070C0"/>
                </a:solidFill>
                <a:latin typeface="微软雅黑" panose="020B0503020204020204" pitchFamily="34" charset="-122"/>
                <a:ea typeface="微软雅黑" panose="020B0503020204020204" pitchFamily="34" charset="-122"/>
                <a:sym typeface="+mn-ea"/>
              </a:rPr>
              <a:t>宏平均</a:t>
            </a:r>
            <a:r>
              <a:rPr lang="en-US" altLang="zh-CN" sz="2400" b="1" dirty="0">
                <a:solidFill>
                  <a:srgbClr val="0070C0"/>
                </a:solidFill>
                <a:latin typeface="微软雅黑" panose="020B0503020204020204" pitchFamily="34" charset="-122"/>
                <a:ea typeface="微软雅黑" panose="020B0503020204020204" pitchFamily="34" charset="-122"/>
                <a:sym typeface="+mn-ea"/>
              </a:rPr>
              <a:t>&amp;</a:t>
            </a:r>
            <a:r>
              <a:rPr lang="zh-CN" altLang="en-US" sz="2400" b="1" dirty="0">
                <a:solidFill>
                  <a:srgbClr val="0070C0"/>
                </a:solidFill>
                <a:latin typeface="微软雅黑" panose="020B0503020204020204" pitchFamily="34" charset="-122"/>
                <a:ea typeface="微软雅黑" panose="020B0503020204020204" pitchFamily="34" charset="-122"/>
                <a:sym typeface="+mn-ea"/>
              </a:rPr>
              <a:t>微平均</a:t>
            </a:r>
          </a:p>
        </p:txBody>
      </p:sp>
      <p:sp>
        <p:nvSpPr>
          <p:cNvPr id="9" name="矩形 5"/>
          <p:cNvSpPr/>
          <p:nvPr/>
        </p:nvSpPr>
        <p:spPr>
          <a:xfrm>
            <a:off x="2596753" y="244990"/>
            <a:ext cx="4219327" cy="52322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b="1" dirty="0">
                <a:latin typeface="微软雅黑" panose="020B0503020204020204" pitchFamily="34" charset="-122"/>
                <a:ea typeface="微软雅黑" panose="020B0503020204020204" pitchFamily="34" charset="-122"/>
              </a:rPr>
              <a:t>性能评价指标</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分类</a:t>
            </a:r>
          </a:p>
        </p:txBody>
      </p:sp>
    </p:spTree>
    <p:extLst>
      <p:ext uri="{BB962C8B-B14F-4D97-AF65-F5344CB8AC3E}">
        <p14:creationId xmlns:p14="http://schemas.microsoft.com/office/powerpoint/2010/main" val="346446762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bldLvl="0" animBg="1"/>
      <p:bldP spid="3"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a:off x="7457704" y="5439222"/>
            <a:ext cx="435769" cy="1500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sz="2400">
              <a:latin typeface="Times New Roman" panose="02020603050405020304" pitchFamily="18" charset="0"/>
              <a:cs typeface="Times New Roman" panose="02020603050405020304" pitchFamily="18" charset="0"/>
            </a:endParaRPr>
          </a:p>
        </p:txBody>
      </p:sp>
      <p:sp>
        <p:nvSpPr>
          <p:cNvPr id="4" name="矩形 3"/>
          <p:cNvSpPr/>
          <p:nvPr/>
        </p:nvSpPr>
        <p:spPr>
          <a:xfrm>
            <a:off x="2195142" y="1052737"/>
            <a:ext cx="8215727" cy="1015663"/>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25000"/>
              </a:lnSpc>
              <a:spcBef>
                <a:spcPct val="0"/>
              </a:spcBef>
              <a:buNone/>
            </a:pPr>
            <a:r>
              <a:rPr lang="zh-CN" altLang="en-US" sz="2400" b="1" dirty="0">
                <a:solidFill>
                  <a:srgbClr val="0070C0"/>
                </a:solidFill>
                <a:latin typeface="Times New Roman" panose="02020603050405020304" pitchFamily="18" charset="0"/>
                <a:ea typeface="微软雅黑" panose="020B0503020204020204" pitchFamily="34" charset="-122"/>
                <a:sym typeface="+mn-ea"/>
              </a:rPr>
              <a:t>对数损失</a:t>
            </a:r>
            <a:r>
              <a:rPr lang="zh-CN" altLang="en-US" sz="2400" dirty="0">
                <a:latin typeface="Times New Roman" panose="02020603050405020304" pitchFamily="18" charset="0"/>
                <a:ea typeface="微软雅黑" panose="020B0503020204020204" pitchFamily="34" charset="-122"/>
                <a:sym typeface="+mn-ea"/>
              </a:rPr>
              <a:t>（</a:t>
            </a:r>
            <a:r>
              <a:rPr lang="en-US" altLang="zh-CN" sz="2400" dirty="0">
                <a:latin typeface="Times New Roman" panose="02020603050405020304" pitchFamily="18" charset="0"/>
                <a:ea typeface="微软雅黑" panose="020B0503020204020204" pitchFamily="34" charset="-122"/>
                <a:sym typeface="+mn-ea"/>
              </a:rPr>
              <a:t>Log loss</a:t>
            </a:r>
            <a:r>
              <a:rPr lang="zh-CN" altLang="en-US" sz="2400" dirty="0">
                <a:latin typeface="Times New Roman" panose="02020603050405020304" pitchFamily="18" charset="0"/>
                <a:ea typeface="微软雅黑" panose="020B0503020204020204" pitchFamily="34" charset="-122"/>
                <a:sym typeface="+mn-ea"/>
              </a:rPr>
              <a:t>）亦被称为逻辑回归损失（</a:t>
            </a:r>
            <a:r>
              <a:rPr lang="en-US" altLang="zh-CN" sz="2400" dirty="0">
                <a:latin typeface="Times New Roman" panose="02020603050405020304" pitchFamily="18" charset="0"/>
                <a:ea typeface="微软雅黑" panose="020B0503020204020204" pitchFamily="34" charset="-122"/>
                <a:sym typeface="+mn-ea"/>
              </a:rPr>
              <a:t>Logistic regression loss</a:t>
            </a:r>
            <a:r>
              <a:rPr lang="zh-CN" altLang="en-US" sz="2400" dirty="0">
                <a:latin typeface="Times New Roman" panose="02020603050405020304" pitchFamily="18" charset="0"/>
                <a:ea typeface="微软雅黑" panose="020B0503020204020204" pitchFamily="34" charset="-122"/>
                <a:sym typeface="+mn-ea"/>
              </a:rPr>
              <a:t>）或交叉熵损失（</a:t>
            </a:r>
            <a:r>
              <a:rPr lang="en-US" altLang="zh-CN" sz="2400" dirty="0">
                <a:latin typeface="Times New Roman" panose="02020603050405020304" pitchFamily="18" charset="0"/>
                <a:ea typeface="微软雅黑" panose="020B0503020204020204" pitchFamily="34" charset="-122"/>
                <a:sym typeface="+mn-ea"/>
              </a:rPr>
              <a:t>Cross-entropy loss</a:t>
            </a:r>
            <a:r>
              <a:rPr lang="zh-CN" altLang="en-US" sz="2400" dirty="0">
                <a:latin typeface="Times New Roman" panose="02020603050405020304" pitchFamily="18" charset="0"/>
                <a:ea typeface="微软雅黑" panose="020B0503020204020204" pitchFamily="34" charset="-122"/>
                <a:sym typeface="+mn-ea"/>
              </a:rPr>
              <a:t>）。</a:t>
            </a:r>
          </a:p>
        </p:txBody>
      </p:sp>
      <p:pic>
        <p:nvPicPr>
          <p:cNvPr id="65539" name="Picture 3"/>
          <p:cNvPicPr>
            <a:picLocks noChangeAspect="1"/>
          </p:cNvPicPr>
          <p:nvPr/>
        </p:nvPicPr>
        <p:blipFill>
          <a:blip r:embed="rId2"/>
          <a:stretch>
            <a:fillRect/>
          </a:stretch>
        </p:blipFill>
        <p:spPr>
          <a:xfrm>
            <a:off x="2648769" y="3170586"/>
            <a:ext cx="6436648" cy="474439"/>
          </a:xfrm>
          <a:prstGeom prst="rect">
            <a:avLst/>
          </a:prstGeom>
          <a:noFill/>
          <a:ln w="9525">
            <a:noFill/>
          </a:ln>
        </p:spPr>
      </p:pic>
      <p:pic>
        <p:nvPicPr>
          <p:cNvPr id="65540" name="Picture 4"/>
          <p:cNvPicPr>
            <a:picLocks noChangeAspect="1"/>
          </p:cNvPicPr>
          <p:nvPr/>
        </p:nvPicPr>
        <p:blipFill>
          <a:blip r:embed="rId3"/>
          <a:stretch>
            <a:fillRect/>
          </a:stretch>
        </p:blipFill>
        <p:spPr>
          <a:xfrm>
            <a:off x="3545914" y="5242768"/>
            <a:ext cx="5555499" cy="778521"/>
          </a:xfrm>
          <a:prstGeom prst="rect">
            <a:avLst/>
          </a:prstGeom>
          <a:noFill/>
          <a:ln w="9525">
            <a:noFill/>
          </a:ln>
        </p:spPr>
      </p:pic>
      <p:pic>
        <p:nvPicPr>
          <p:cNvPr id="65541" name="Picture 5"/>
          <p:cNvPicPr>
            <a:picLocks noChangeAspect="1"/>
          </p:cNvPicPr>
          <p:nvPr/>
        </p:nvPicPr>
        <p:blipFill>
          <a:blip r:embed="rId4"/>
          <a:stretch>
            <a:fillRect/>
          </a:stretch>
        </p:blipFill>
        <p:spPr>
          <a:xfrm>
            <a:off x="4224066" y="2266761"/>
            <a:ext cx="935831" cy="361950"/>
          </a:xfrm>
          <a:prstGeom prst="rect">
            <a:avLst/>
          </a:prstGeom>
          <a:noFill/>
          <a:ln w="9525">
            <a:noFill/>
          </a:ln>
        </p:spPr>
      </p:pic>
      <p:pic>
        <p:nvPicPr>
          <p:cNvPr id="65542" name="Picture 6"/>
          <p:cNvPicPr>
            <a:picLocks noChangeAspect="1"/>
          </p:cNvPicPr>
          <p:nvPr/>
        </p:nvPicPr>
        <p:blipFill>
          <a:blip r:embed="rId5"/>
          <a:stretch>
            <a:fillRect/>
          </a:stretch>
        </p:blipFill>
        <p:spPr>
          <a:xfrm>
            <a:off x="6099408" y="2300062"/>
            <a:ext cx="1425179" cy="359569"/>
          </a:xfrm>
          <a:prstGeom prst="rect">
            <a:avLst/>
          </a:prstGeom>
          <a:noFill/>
          <a:ln w="9525">
            <a:noFill/>
          </a:ln>
        </p:spPr>
      </p:pic>
      <p:sp>
        <p:nvSpPr>
          <p:cNvPr id="10" name="矩形 9"/>
          <p:cNvSpPr/>
          <p:nvPr/>
        </p:nvSpPr>
        <p:spPr>
          <a:xfrm>
            <a:off x="2264198" y="2216919"/>
            <a:ext cx="2031325" cy="461665"/>
          </a:xfrm>
          <a:prstGeom prst="rect">
            <a:avLst/>
          </a:prstGeom>
          <a:noFill/>
          <a:ln w="9525">
            <a:noFill/>
          </a:ln>
        </p:spPr>
        <p:txBody>
          <a:bodyPr wrap="non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sz="2400" b="1" dirty="0">
                <a:solidFill>
                  <a:srgbClr val="0070C0"/>
                </a:solidFill>
                <a:latin typeface="Times New Roman" panose="02020603050405020304" pitchFamily="18" charset="0"/>
                <a:ea typeface="微软雅黑" panose="020B0503020204020204" pitchFamily="34" charset="-122"/>
                <a:sym typeface="+mn-ea"/>
              </a:rPr>
              <a:t>二分类问题：</a:t>
            </a:r>
            <a:endParaRPr lang="zh-CN" altLang="en-US" sz="2400" dirty="0">
              <a:latin typeface="Times New Roman" panose="02020603050405020304" pitchFamily="18" charset="0"/>
              <a:ea typeface="Gulim" panose="020B0600000101010101" charset="-127"/>
            </a:endParaRPr>
          </a:p>
        </p:txBody>
      </p:sp>
      <p:sp>
        <p:nvSpPr>
          <p:cNvPr id="11" name="矩形 10"/>
          <p:cNvSpPr/>
          <p:nvPr/>
        </p:nvSpPr>
        <p:spPr>
          <a:xfrm>
            <a:off x="2195141" y="3771206"/>
            <a:ext cx="8012130" cy="461665"/>
          </a:xfrm>
          <a:prstGeom prst="rect">
            <a:avLst/>
          </a:prstGeom>
          <a:noFill/>
          <a:ln w="9525">
            <a:noFill/>
          </a:ln>
        </p:spPr>
        <p:txBody>
          <a:bodyPr wrap="non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sz="2400" b="1" dirty="0">
                <a:solidFill>
                  <a:srgbClr val="0070C0"/>
                </a:solidFill>
                <a:latin typeface="Times New Roman" panose="02020603050405020304" pitchFamily="18" charset="0"/>
                <a:ea typeface="微软雅黑" panose="020B0503020204020204" pitchFamily="34" charset="-122"/>
                <a:sym typeface="+mn-ea"/>
              </a:rPr>
              <a:t>多分类问题：</a:t>
            </a:r>
            <a:r>
              <a:rPr lang="zh-CN" altLang="en-US" sz="2400" dirty="0">
                <a:latin typeface="Times New Roman" panose="02020603050405020304" pitchFamily="18" charset="0"/>
                <a:ea typeface="微软雅黑" panose="020B0503020204020204" pitchFamily="34" charset="-122"/>
                <a:sym typeface="+mn-ea"/>
              </a:rPr>
              <a:t>设</a:t>
            </a:r>
            <a:r>
              <a:rPr lang="en-US" altLang="zh-CN" sz="2400" dirty="0">
                <a:latin typeface="Times New Roman" panose="02020603050405020304" pitchFamily="18" charset="0"/>
                <a:ea typeface="微软雅黑" panose="020B0503020204020204" pitchFamily="34" charset="-122"/>
                <a:sym typeface="+mn-ea"/>
              </a:rPr>
              <a:t>Y</a:t>
            </a:r>
            <a:r>
              <a:rPr lang="zh-CN" altLang="en-US" sz="2400" dirty="0">
                <a:latin typeface="Times New Roman" panose="02020603050405020304" pitchFamily="18" charset="0"/>
                <a:ea typeface="微软雅黑" panose="020B0503020204020204" pitchFamily="34" charset="-122"/>
                <a:sym typeface="+mn-ea"/>
              </a:rPr>
              <a:t>为指示矩阵，即当样本</a:t>
            </a:r>
            <a:r>
              <a:rPr lang="en-US" altLang="zh-CN" sz="2400" dirty="0">
                <a:latin typeface="Times New Roman" panose="02020603050405020304" pitchFamily="18" charset="0"/>
                <a:ea typeface="微软雅黑" panose="020B0503020204020204" pitchFamily="34" charset="-122"/>
                <a:sym typeface="+mn-ea"/>
              </a:rPr>
              <a:t>i</a:t>
            </a:r>
            <a:r>
              <a:rPr lang="zh-CN" altLang="en-US" sz="2400" dirty="0">
                <a:latin typeface="Times New Roman" panose="02020603050405020304" pitchFamily="18" charset="0"/>
                <a:ea typeface="微软雅黑" panose="020B0503020204020204" pitchFamily="34" charset="-122"/>
                <a:sym typeface="+mn-ea"/>
              </a:rPr>
              <a:t>的分类为</a:t>
            </a:r>
            <a:r>
              <a:rPr lang="en-US" altLang="zh-CN" sz="2400" i="1" dirty="0">
                <a:latin typeface="Times New Roman" panose="02020603050405020304" pitchFamily="18" charset="0"/>
                <a:ea typeface="微软雅黑" panose="020B0503020204020204" pitchFamily="34" charset="-122"/>
                <a:sym typeface="+mn-ea"/>
              </a:rPr>
              <a:t>k</a:t>
            </a:r>
            <a:r>
              <a:rPr lang="zh-CN" altLang="en-US" sz="2400" dirty="0">
                <a:latin typeface="Times New Roman" panose="02020603050405020304" pitchFamily="18" charset="0"/>
                <a:ea typeface="微软雅黑" panose="020B0503020204020204" pitchFamily="34" charset="-122"/>
                <a:sym typeface="+mn-ea"/>
              </a:rPr>
              <a:t>，</a:t>
            </a:r>
            <a:r>
              <a:rPr lang="en-US" altLang="zh-CN" sz="2400" i="1" dirty="0">
                <a:latin typeface="Times New Roman" panose="02020603050405020304" pitchFamily="18" charset="0"/>
                <a:ea typeface="微软雅黑" panose="020B0503020204020204" pitchFamily="34" charset="-122"/>
                <a:sym typeface="+mn-ea"/>
              </a:rPr>
              <a:t>y</a:t>
            </a:r>
            <a:r>
              <a:rPr lang="en-US" altLang="zh-CN" sz="2400" i="1" baseline="-25000" dirty="0">
                <a:latin typeface="Times New Roman" panose="02020603050405020304" pitchFamily="18" charset="0"/>
                <a:ea typeface="微软雅黑" panose="020B0503020204020204" pitchFamily="34" charset="-122"/>
                <a:sym typeface="+mn-ea"/>
              </a:rPr>
              <a:t>ik</a:t>
            </a:r>
            <a:r>
              <a:rPr lang="en-US" altLang="zh-CN" sz="2400" dirty="0">
                <a:latin typeface="Times New Roman" panose="02020603050405020304" pitchFamily="18" charset="0"/>
                <a:ea typeface="微软雅黑" panose="020B0503020204020204" pitchFamily="34" charset="-122"/>
                <a:sym typeface="+mn-ea"/>
              </a:rPr>
              <a:t>=1</a:t>
            </a:r>
            <a:endParaRPr lang="zh-CN" altLang="en-US" sz="2400" dirty="0">
              <a:latin typeface="Times New Roman" panose="02020603050405020304" pitchFamily="18" charset="0"/>
              <a:ea typeface="微软雅黑" panose="020B0503020204020204" pitchFamily="34" charset="-122"/>
              <a:sym typeface="+mn-ea"/>
            </a:endParaRPr>
          </a:p>
        </p:txBody>
      </p:sp>
      <p:sp>
        <p:nvSpPr>
          <p:cNvPr id="13" name="矩形 12"/>
          <p:cNvSpPr/>
          <p:nvPr/>
        </p:nvSpPr>
        <p:spPr>
          <a:xfrm>
            <a:off x="2264198" y="2708921"/>
            <a:ext cx="3877985" cy="461665"/>
          </a:xfrm>
          <a:prstGeom prst="rect">
            <a:avLst/>
          </a:prstGeom>
          <a:noFill/>
          <a:ln w="9525">
            <a:noFill/>
          </a:ln>
        </p:spPr>
        <p:txBody>
          <a:bodyPr wrap="non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sz="2400" dirty="0">
                <a:latin typeface="Times New Roman" panose="02020603050405020304" pitchFamily="18" charset="0"/>
                <a:ea typeface="微软雅黑" panose="020B0503020204020204" pitchFamily="34" charset="-122"/>
                <a:sym typeface="+mn-ea"/>
              </a:rPr>
              <a:t>则对每个样本的对数损失为</a:t>
            </a:r>
          </a:p>
        </p:txBody>
      </p:sp>
      <p:sp>
        <p:nvSpPr>
          <p:cNvPr id="14" name="矩形 13"/>
          <p:cNvSpPr/>
          <p:nvPr/>
        </p:nvSpPr>
        <p:spPr>
          <a:xfrm>
            <a:off x="5159897" y="2216919"/>
            <a:ext cx="646331" cy="461665"/>
          </a:xfrm>
          <a:prstGeom prst="rect">
            <a:avLst/>
          </a:prstGeom>
          <a:noFill/>
          <a:ln w="9525">
            <a:noFill/>
          </a:ln>
        </p:spPr>
        <p:txBody>
          <a:bodyPr wrap="non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sz="2400" dirty="0">
                <a:latin typeface="Times New Roman" panose="02020603050405020304" pitchFamily="18" charset="0"/>
                <a:ea typeface="微软雅黑" panose="020B0503020204020204" pitchFamily="34" charset="-122"/>
              </a:rPr>
              <a:t>  且</a:t>
            </a:r>
          </a:p>
        </p:txBody>
      </p:sp>
      <p:sp>
        <p:nvSpPr>
          <p:cNvPr id="17" name="矩形 16"/>
          <p:cNvSpPr/>
          <p:nvPr/>
        </p:nvSpPr>
        <p:spPr>
          <a:xfrm>
            <a:off x="2115369" y="4286697"/>
            <a:ext cx="6319838" cy="830997"/>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sz="2400" dirty="0">
                <a:latin typeface="Times New Roman" panose="02020603050405020304" pitchFamily="18" charset="0"/>
                <a:ea typeface="微软雅黑" panose="020B0503020204020204" pitchFamily="34" charset="-122"/>
                <a:sym typeface="+mn-ea"/>
              </a:rPr>
              <a:t>设</a:t>
            </a:r>
            <a:r>
              <a:rPr lang="en-US" altLang="zh-CN" sz="2400" dirty="0">
                <a:latin typeface="Times New Roman" panose="02020603050405020304" pitchFamily="18" charset="0"/>
                <a:ea typeface="微软雅黑" panose="020B0503020204020204" pitchFamily="34" charset="-122"/>
                <a:sym typeface="+mn-ea"/>
              </a:rPr>
              <a:t>P</a:t>
            </a:r>
            <a:r>
              <a:rPr lang="zh-CN" altLang="en-US" sz="2400" dirty="0">
                <a:latin typeface="Times New Roman" panose="02020603050405020304" pitchFamily="18" charset="0"/>
                <a:ea typeface="微软雅黑" panose="020B0503020204020204" pitchFamily="34" charset="-122"/>
                <a:sym typeface="+mn-ea"/>
              </a:rPr>
              <a:t>为估计的概率矩阵，</a:t>
            </a:r>
            <a:r>
              <a:rPr lang="en-US" altLang="zh-CN" sz="2400" i="1" dirty="0">
                <a:latin typeface="Times New Roman" panose="02020603050405020304" pitchFamily="18" charset="0"/>
                <a:ea typeface="微软雅黑" panose="020B0503020204020204" pitchFamily="34" charset="-122"/>
                <a:sym typeface="+mn-ea"/>
              </a:rPr>
              <a:t>p</a:t>
            </a:r>
            <a:r>
              <a:rPr lang="en-US" altLang="zh-CN" sz="2400" i="1" baseline="-25000" dirty="0">
                <a:latin typeface="Times New Roman" panose="02020603050405020304" pitchFamily="18" charset="0"/>
                <a:ea typeface="微软雅黑" panose="020B0503020204020204" pitchFamily="34" charset="-122"/>
                <a:sym typeface="+mn-ea"/>
              </a:rPr>
              <a:t>ik</a:t>
            </a:r>
            <a:r>
              <a:rPr lang="en-US" altLang="zh-CN" sz="2400" dirty="0">
                <a:latin typeface="Times New Roman" panose="02020603050405020304" pitchFamily="18" charset="0"/>
                <a:ea typeface="微软雅黑" panose="020B0503020204020204" pitchFamily="34" charset="-122"/>
                <a:sym typeface="+mn-ea"/>
              </a:rPr>
              <a:t>=</a:t>
            </a:r>
            <a:r>
              <a:rPr lang="en-US" altLang="zh-CN" sz="2400" i="1" dirty="0">
                <a:latin typeface="Times New Roman" panose="02020603050405020304" pitchFamily="18" charset="0"/>
                <a:ea typeface="微软雅黑" panose="020B0503020204020204" pitchFamily="34" charset="-122"/>
                <a:sym typeface="+mn-ea"/>
              </a:rPr>
              <a:t>Pr </a:t>
            </a:r>
            <a:r>
              <a:rPr lang="en-US" altLang="zh-CN" sz="2400" dirty="0">
                <a:latin typeface="Times New Roman" panose="02020603050405020304" pitchFamily="18" charset="0"/>
                <a:ea typeface="微软雅黑" panose="020B0503020204020204" pitchFamily="34" charset="-122"/>
                <a:sym typeface="+mn-ea"/>
              </a:rPr>
              <a:t>(</a:t>
            </a:r>
            <a:r>
              <a:rPr lang="en-US" altLang="zh-CN" sz="2400" i="1" dirty="0">
                <a:latin typeface="Times New Roman" panose="02020603050405020304" pitchFamily="18" charset="0"/>
                <a:ea typeface="微软雅黑" panose="020B0503020204020204" pitchFamily="34" charset="-122"/>
                <a:sym typeface="+mn-ea"/>
              </a:rPr>
              <a:t>y</a:t>
            </a:r>
            <a:r>
              <a:rPr lang="en-US" altLang="zh-CN" sz="2400" i="1" baseline="-25000" dirty="0">
                <a:latin typeface="Times New Roman" panose="02020603050405020304" pitchFamily="18" charset="0"/>
                <a:ea typeface="微软雅黑" panose="020B0503020204020204" pitchFamily="34" charset="-122"/>
                <a:sym typeface="+mn-ea"/>
              </a:rPr>
              <a:t>ik</a:t>
            </a:r>
            <a:r>
              <a:rPr lang="en-US" altLang="zh-CN" sz="2400" dirty="0">
                <a:latin typeface="Times New Roman" panose="02020603050405020304" pitchFamily="18" charset="0"/>
                <a:ea typeface="微软雅黑" panose="020B0503020204020204" pitchFamily="34" charset="-122"/>
                <a:sym typeface="+mn-ea"/>
              </a:rPr>
              <a:t>=1), </a:t>
            </a:r>
            <a:r>
              <a:rPr lang="zh-CN" altLang="en-US" sz="2400" dirty="0">
                <a:latin typeface="Times New Roman" panose="02020603050405020304" pitchFamily="18" charset="0"/>
                <a:ea typeface="微软雅黑" panose="020B0503020204020204" pitchFamily="34" charset="-122"/>
                <a:sym typeface="+mn-ea"/>
              </a:rPr>
              <a:t>则对每个样本的对数损失为</a:t>
            </a:r>
          </a:p>
        </p:txBody>
      </p:sp>
      <p:sp>
        <p:nvSpPr>
          <p:cNvPr id="15" name="矩形 5"/>
          <p:cNvSpPr/>
          <p:nvPr/>
        </p:nvSpPr>
        <p:spPr>
          <a:xfrm>
            <a:off x="2596753" y="244990"/>
            <a:ext cx="4219327" cy="52322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b="1" dirty="0">
                <a:latin typeface="微软雅黑" panose="020B0503020204020204" pitchFamily="34" charset="-122"/>
                <a:ea typeface="微软雅黑" panose="020B0503020204020204" pitchFamily="34" charset="-122"/>
              </a:rPr>
              <a:t>性能评价指标</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分类</a:t>
            </a:r>
          </a:p>
        </p:txBody>
      </p:sp>
    </p:spTree>
    <p:extLst>
      <p:ext uri="{BB962C8B-B14F-4D97-AF65-F5344CB8AC3E}">
        <p14:creationId xmlns:p14="http://schemas.microsoft.com/office/powerpoint/2010/main" val="2604249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5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5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55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p:bldP spid="13" grpId="0"/>
      <p:bldP spid="14" grpId="0"/>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矩形 9"/>
          <p:cNvSpPr/>
          <p:nvPr/>
        </p:nvSpPr>
        <p:spPr>
          <a:xfrm>
            <a:off x="2207568" y="1052737"/>
            <a:ext cx="7776864" cy="830997"/>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342900">
              <a:lnSpc>
                <a:spcPct val="100000"/>
              </a:lnSpc>
              <a:spcBef>
                <a:spcPct val="0"/>
              </a:spcBef>
              <a:buNone/>
            </a:pPr>
            <a:r>
              <a:rPr lang="zh-CN" altLang="en-US" sz="2400" b="1" dirty="0">
                <a:solidFill>
                  <a:srgbClr val="0070C0"/>
                </a:solidFill>
                <a:latin typeface="Times New Roman" panose="02020603050405020304" pitchFamily="18" charset="0"/>
                <a:ea typeface="微软雅黑" panose="020B0503020204020204" pitchFamily="34" charset="-122"/>
                <a:sym typeface="+mn-ea"/>
              </a:rPr>
              <a:t>平均绝对误差：</a:t>
            </a:r>
            <a:r>
              <a:rPr lang="zh-CN" altLang="en-US" sz="2400" dirty="0">
                <a:latin typeface="Times New Roman" panose="02020603050405020304" pitchFamily="18" charset="0"/>
                <a:ea typeface="微软雅黑" panose="020B0503020204020204" pitchFamily="34" charset="-122"/>
                <a:sym typeface="+mn-ea"/>
              </a:rPr>
              <a:t>平均绝对误差</a:t>
            </a:r>
            <a:r>
              <a:rPr lang="en-US" altLang="zh-CN" sz="2400" dirty="0">
                <a:latin typeface="Times New Roman" panose="02020603050405020304" pitchFamily="18" charset="0"/>
                <a:ea typeface="微软雅黑" panose="020B0503020204020204" pitchFamily="34" charset="-122"/>
                <a:sym typeface="+mn-ea"/>
              </a:rPr>
              <a:t>MAE</a:t>
            </a:r>
            <a:r>
              <a:rPr lang="zh-CN" altLang="en-US" sz="2400" dirty="0">
                <a:latin typeface="Times New Roman" panose="02020603050405020304" pitchFamily="18" charset="0"/>
                <a:ea typeface="微软雅黑" panose="020B0503020204020204" pitchFamily="34" charset="-122"/>
                <a:sym typeface="+mn-ea"/>
              </a:rPr>
              <a:t>（</a:t>
            </a:r>
            <a:r>
              <a:rPr lang="en-US" altLang="zh-CN" sz="2400" dirty="0">
                <a:latin typeface="Times New Roman" panose="02020603050405020304" pitchFamily="18" charset="0"/>
                <a:ea typeface="微软雅黑" panose="020B0503020204020204" pitchFamily="34" charset="-122"/>
                <a:sym typeface="+mn-ea"/>
              </a:rPr>
              <a:t>Mean Absolute Error</a:t>
            </a:r>
            <a:r>
              <a:rPr lang="zh-CN" altLang="en-US" sz="2400" dirty="0">
                <a:latin typeface="Times New Roman" panose="02020603050405020304" pitchFamily="18" charset="0"/>
                <a:ea typeface="微软雅黑" panose="020B0503020204020204" pitchFamily="34" charset="-122"/>
                <a:sym typeface="+mn-ea"/>
              </a:rPr>
              <a:t>）又被称为</a:t>
            </a:r>
            <a:r>
              <a:rPr lang="en-US" altLang="zh-CN" sz="2400" i="1" dirty="0">
                <a:latin typeface="Times New Roman" panose="02020603050405020304" pitchFamily="18" charset="0"/>
                <a:ea typeface="微软雅黑" panose="020B0503020204020204" pitchFamily="34" charset="-122"/>
                <a:sym typeface="+mn-ea"/>
              </a:rPr>
              <a:t>l</a:t>
            </a:r>
            <a:r>
              <a:rPr lang="en-US" altLang="zh-CN" sz="2400" dirty="0">
                <a:latin typeface="Times New Roman" panose="02020603050405020304" pitchFamily="18" charset="0"/>
                <a:ea typeface="微软雅黑" panose="020B0503020204020204" pitchFamily="34" charset="-122"/>
                <a:sym typeface="+mn-ea"/>
              </a:rPr>
              <a:t>1</a:t>
            </a:r>
            <a:r>
              <a:rPr lang="zh-CN" altLang="en-US" sz="2400" dirty="0">
                <a:latin typeface="Times New Roman" panose="02020603050405020304" pitchFamily="18" charset="0"/>
                <a:ea typeface="微软雅黑" panose="020B0503020204020204" pitchFamily="34" charset="-122"/>
                <a:sym typeface="+mn-ea"/>
              </a:rPr>
              <a:t>范数损失（</a:t>
            </a:r>
            <a:r>
              <a:rPr lang="en-US" altLang="zh-CN" sz="2400" i="1" dirty="0">
                <a:latin typeface="Times New Roman" panose="02020603050405020304" pitchFamily="18" charset="0"/>
                <a:ea typeface="微软雅黑" panose="020B0503020204020204" pitchFamily="34" charset="-122"/>
                <a:sym typeface="+mn-ea"/>
              </a:rPr>
              <a:t>l</a:t>
            </a:r>
            <a:r>
              <a:rPr lang="en-US" altLang="zh-CN" sz="2400" dirty="0">
                <a:latin typeface="Times New Roman" panose="02020603050405020304" pitchFamily="18" charset="0"/>
                <a:ea typeface="微软雅黑" panose="020B0503020204020204" pitchFamily="34" charset="-122"/>
                <a:sym typeface="+mn-ea"/>
              </a:rPr>
              <a:t>1-norm loss</a:t>
            </a:r>
            <a:r>
              <a:rPr lang="zh-CN" altLang="en-US" sz="2400" dirty="0">
                <a:latin typeface="Times New Roman" panose="02020603050405020304" pitchFamily="18" charset="0"/>
                <a:ea typeface="微软雅黑" panose="020B0503020204020204" pitchFamily="34" charset="-122"/>
                <a:sym typeface="+mn-ea"/>
              </a:rPr>
              <a:t>）</a:t>
            </a:r>
          </a:p>
        </p:txBody>
      </p:sp>
      <p:pic>
        <p:nvPicPr>
          <p:cNvPr id="66562" name="Picture 2"/>
          <p:cNvPicPr>
            <a:picLocks noChangeAspect="1"/>
          </p:cNvPicPr>
          <p:nvPr/>
        </p:nvPicPr>
        <p:blipFill>
          <a:blip r:embed="rId3"/>
          <a:stretch>
            <a:fillRect/>
          </a:stretch>
        </p:blipFill>
        <p:spPr>
          <a:xfrm>
            <a:off x="3431531" y="1939692"/>
            <a:ext cx="3511153" cy="659606"/>
          </a:xfrm>
          <a:prstGeom prst="rect">
            <a:avLst/>
          </a:prstGeom>
          <a:noFill/>
          <a:ln w="9525">
            <a:noFill/>
          </a:ln>
        </p:spPr>
      </p:pic>
      <p:sp>
        <p:nvSpPr>
          <p:cNvPr id="18" name="矩形 17"/>
          <p:cNvSpPr/>
          <p:nvPr/>
        </p:nvSpPr>
        <p:spPr>
          <a:xfrm>
            <a:off x="2081362" y="2671688"/>
            <a:ext cx="7615038" cy="830997"/>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342900">
              <a:lnSpc>
                <a:spcPct val="100000"/>
              </a:lnSpc>
              <a:spcBef>
                <a:spcPct val="0"/>
              </a:spcBef>
              <a:buNone/>
            </a:pPr>
            <a:r>
              <a:rPr lang="zh-CN" altLang="en-US" sz="2400" b="1" dirty="0">
                <a:solidFill>
                  <a:srgbClr val="0070C0"/>
                </a:solidFill>
                <a:latin typeface="Times New Roman" panose="02020603050405020304" pitchFamily="18" charset="0"/>
                <a:ea typeface="微软雅黑" panose="020B0503020204020204" pitchFamily="34" charset="-122"/>
                <a:sym typeface="+mn-ea"/>
              </a:rPr>
              <a:t>平均平方误差：</a:t>
            </a:r>
            <a:r>
              <a:rPr lang="zh-CN" altLang="en-US" sz="2400" dirty="0">
                <a:latin typeface="Times New Roman" panose="02020603050405020304" pitchFamily="18" charset="0"/>
                <a:ea typeface="微软雅黑" panose="020B0503020204020204" pitchFamily="34" charset="-122"/>
                <a:sym typeface="+mn-ea"/>
              </a:rPr>
              <a:t>平均平方误差</a:t>
            </a:r>
            <a:r>
              <a:rPr lang="en-US" altLang="zh-CN" sz="2400" dirty="0">
                <a:latin typeface="Times New Roman" panose="02020603050405020304" pitchFamily="18" charset="0"/>
                <a:ea typeface="微软雅黑" panose="020B0503020204020204" pitchFamily="34" charset="-122"/>
                <a:sym typeface="+mn-ea"/>
              </a:rPr>
              <a:t>MSE</a:t>
            </a:r>
            <a:r>
              <a:rPr lang="zh-CN" altLang="en-US" sz="2400" dirty="0">
                <a:latin typeface="Times New Roman" panose="02020603050405020304" pitchFamily="18" charset="0"/>
                <a:ea typeface="微软雅黑" panose="020B0503020204020204" pitchFamily="34" charset="-122"/>
                <a:sym typeface="+mn-ea"/>
              </a:rPr>
              <a:t>（</a:t>
            </a:r>
            <a:r>
              <a:rPr lang="en-US" altLang="zh-CN" sz="2400" dirty="0">
                <a:latin typeface="Times New Roman" panose="02020603050405020304" pitchFamily="18" charset="0"/>
                <a:ea typeface="微软雅黑" panose="020B0503020204020204" pitchFamily="34" charset="-122"/>
                <a:sym typeface="+mn-ea"/>
              </a:rPr>
              <a:t>Mean Squared Error</a:t>
            </a:r>
            <a:r>
              <a:rPr lang="zh-CN" altLang="en-US" sz="2400" dirty="0">
                <a:latin typeface="Times New Roman" panose="02020603050405020304" pitchFamily="18" charset="0"/>
                <a:ea typeface="微软雅黑" panose="020B0503020204020204" pitchFamily="34" charset="-122"/>
                <a:sym typeface="+mn-ea"/>
              </a:rPr>
              <a:t>）又被称为</a:t>
            </a:r>
            <a:r>
              <a:rPr lang="en-US" altLang="zh-CN" sz="2400" i="1" dirty="0">
                <a:latin typeface="Times New Roman" panose="02020603050405020304" pitchFamily="18" charset="0"/>
                <a:ea typeface="微软雅黑" panose="020B0503020204020204" pitchFamily="34" charset="-122"/>
                <a:sym typeface="+mn-ea"/>
              </a:rPr>
              <a:t>l</a:t>
            </a:r>
            <a:r>
              <a:rPr lang="en-US" altLang="zh-CN" sz="2400" dirty="0">
                <a:latin typeface="Times New Roman" panose="02020603050405020304" pitchFamily="18" charset="0"/>
                <a:ea typeface="微软雅黑" panose="020B0503020204020204" pitchFamily="34" charset="-122"/>
                <a:sym typeface="+mn-ea"/>
              </a:rPr>
              <a:t>2</a:t>
            </a:r>
            <a:r>
              <a:rPr lang="zh-CN" altLang="en-US" sz="2400" dirty="0">
                <a:latin typeface="Times New Roman" panose="02020603050405020304" pitchFamily="18" charset="0"/>
                <a:ea typeface="微软雅黑" panose="020B0503020204020204" pitchFamily="34" charset="-122"/>
                <a:sym typeface="+mn-ea"/>
              </a:rPr>
              <a:t>范数损失（</a:t>
            </a:r>
            <a:r>
              <a:rPr lang="en-US" altLang="zh-CN" sz="2400" i="1" dirty="0">
                <a:latin typeface="Times New Roman" panose="02020603050405020304" pitchFamily="18" charset="0"/>
                <a:ea typeface="微软雅黑" panose="020B0503020204020204" pitchFamily="34" charset="-122"/>
                <a:sym typeface="+mn-ea"/>
              </a:rPr>
              <a:t>l</a:t>
            </a:r>
            <a:r>
              <a:rPr lang="en-US" altLang="zh-CN" sz="2400" dirty="0">
                <a:latin typeface="Times New Roman" panose="02020603050405020304" pitchFamily="18" charset="0"/>
                <a:ea typeface="微软雅黑" panose="020B0503020204020204" pitchFamily="34" charset="-122"/>
                <a:sym typeface="+mn-ea"/>
              </a:rPr>
              <a:t>2-norm loss</a:t>
            </a:r>
            <a:r>
              <a:rPr lang="zh-CN" altLang="en-US" sz="2400" dirty="0">
                <a:latin typeface="Times New Roman" panose="02020603050405020304" pitchFamily="18" charset="0"/>
                <a:ea typeface="微软雅黑" panose="020B0503020204020204" pitchFamily="34" charset="-122"/>
                <a:sym typeface="+mn-ea"/>
              </a:rPr>
              <a:t>）：</a:t>
            </a:r>
          </a:p>
        </p:txBody>
      </p:sp>
      <p:pic>
        <p:nvPicPr>
          <p:cNvPr id="66563" name="Picture 3"/>
          <p:cNvPicPr>
            <a:picLocks noChangeAspect="1"/>
          </p:cNvPicPr>
          <p:nvPr/>
        </p:nvPicPr>
        <p:blipFill>
          <a:blip r:embed="rId4"/>
          <a:stretch>
            <a:fillRect/>
          </a:stretch>
        </p:blipFill>
        <p:spPr>
          <a:xfrm>
            <a:off x="3845869" y="3584068"/>
            <a:ext cx="3096815" cy="628650"/>
          </a:xfrm>
          <a:prstGeom prst="rect">
            <a:avLst/>
          </a:prstGeom>
          <a:noFill/>
          <a:ln w="9525">
            <a:noFill/>
          </a:ln>
        </p:spPr>
      </p:pic>
      <p:sp>
        <p:nvSpPr>
          <p:cNvPr id="11" name="矩形 10"/>
          <p:cNvSpPr/>
          <p:nvPr/>
        </p:nvSpPr>
        <p:spPr>
          <a:xfrm>
            <a:off x="1703512" y="4561929"/>
            <a:ext cx="9000604" cy="46166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en-US" altLang="zh-CN" sz="2400" b="1" dirty="0">
                <a:solidFill>
                  <a:srgbClr val="0070C0"/>
                </a:solidFill>
                <a:latin typeface="Times New Roman" panose="02020603050405020304" pitchFamily="18" charset="0"/>
                <a:ea typeface="微软雅黑" panose="020B0503020204020204" pitchFamily="34" charset="-122"/>
                <a:sym typeface="+mn-ea"/>
              </a:rPr>
              <a:t>R Squared:</a:t>
            </a:r>
            <a:r>
              <a:rPr lang="zh-CN" altLang="en-US" sz="2400" dirty="0">
                <a:latin typeface="Times New Roman" panose="02020603050405020304" pitchFamily="18" charset="0"/>
                <a:ea typeface="微软雅黑" panose="020B0503020204020204" pitchFamily="34" charset="-122"/>
              </a:rPr>
              <a:t>是将预测值跟只使用均值的情况下相比，看能好多少。</a:t>
            </a:r>
            <a:endParaRPr lang="zh-CN" altLang="en-US" sz="2400" dirty="0">
              <a:solidFill>
                <a:srgbClr val="0070C0"/>
              </a:solidFill>
              <a:latin typeface="Times New Roman" panose="02020603050405020304" pitchFamily="18" charset="0"/>
              <a:ea typeface="微软雅黑" panose="020B0503020204020204" pitchFamily="34" charset="-122"/>
              <a:sym typeface="+mn-ea"/>
            </a:endParaRPr>
          </a:p>
        </p:txBody>
      </p:sp>
      <p:pic>
        <p:nvPicPr>
          <p:cNvPr id="12" name="Picture 2" descr="C:\Users\pcpc\AppData\Local\Temp\vmware-pcpc\VMwareDnD\da56681d\9085642-2b27e93fd95c1e6f.png"/>
          <p:cNvPicPr>
            <a:picLocks noChangeAspect="1"/>
          </p:cNvPicPr>
          <p:nvPr/>
        </p:nvPicPr>
        <p:blipFill>
          <a:blip r:embed="rId5"/>
          <a:srcRect t="62213" b="-6522"/>
          <a:stretch>
            <a:fillRect/>
          </a:stretch>
        </p:blipFill>
        <p:spPr>
          <a:xfrm>
            <a:off x="5591945" y="5309575"/>
            <a:ext cx="2377679" cy="787003"/>
          </a:xfrm>
          <a:prstGeom prst="rect">
            <a:avLst/>
          </a:prstGeom>
          <a:noFill/>
          <a:ln w="9525">
            <a:noFill/>
          </a:ln>
        </p:spPr>
      </p:pic>
      <p:pic>
        <p:nvPicPr>
          <p:cNvPr id="135177" name="图片 1"/>
          <p:cNvPicPr>
            <a:picLocks noChangeAspect="1"/>
          </p:cNvPicPr>
          <p:nvPr/>
        </p:nvPicPr>
        <p:blipFill>
          <a:blip r:embed="rId6"/>
          <a:stretch>
            <a:fillRect/>
          </a:stretch>
        </p:blipFill>
        <p:spPr>
          <a:xfrm>
            <a:off x="3459985" y="5195041"/>
            <a:ext cx="2063353" cy="985838"/>
          </a:xfrm>
          <a:prstGeom prst="rect">
            <a:avLst/>
          </a:prstGeom>
          <a:noFill/>
          <a:ln w="9525">
            <a:noFill/>
          </a:ln>
        </p:spPr>
      </p:pic>
      <p:sp>
        <p:nvSpPr>
          <p:cNvPr id="13" name="矩形 5"/>
          <p:cNvSpPr/>
          <p:nvPr/>
        </p:nvSpPr>
        <p:spPr>
          <a:xfrm>
            <a:off x="2596753" y="244990"/>
            <a:ext cx="4219327" cy="52322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b="1" dirty="0">
                <a:latin typeface="微软雅黑" panose="020B0503020204020204" pitchFamily="34" charset="-122"/>
                <a:ea typeface="微软雅黑" panose="020B0503020204020204" pitchFamily="34" charset="-122"/>
              </a:rPr>
              <a:t>性能评价指标</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回归</a:t>
            </a:r>
          </a:p>
        </p:txBody>
      </p:sp>
    </p:spTree>
    <p:extLst>
      <p:ext uri="{BB962C8B-B14F-4D97-AF65-F5344CB8AC3E}">
        <p14:creationId xmlns:p14="http://schemas.microsoft.com/office/powerpoint/2010/main" val="40108217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56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5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a:off x="1847528" y="1052736"/>
            <a:ext cx="8496944" cy="1421928"/>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20000"/>
              </a:lnSpc>
              <a:spcBef>
                <a:spcPct val="0"/>
              </a:spcBef>
              <a:buNone/>
            </a:pPr>
            <a:r>
              <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外部指标</a:t>
            </a:r>
            <a:r>
              <a:rPr lang="en-US" altLang="zh-CN"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对数据集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D={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，假定通过聚类给出的簇划分为                          参考模型给出的簇划分为                       ，通过比对</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C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和     来判定聚类结果的好坏。</a:t>
            </a:r>
          </a:p>
        </p:txBody>
      </p:sp>
      <p:sp>
        <p:nvSpPr>
          <p:cNvPr id="5" name="矩形 4"/>
          <p:cNvSpPr/>
          <p:nvPr/>
        </p:nvSpPr>
        <p:spPr>
          <a:xfrm>
            <a:off x="2207569" y="2514428"/>
            <a:ext cx="7632699" cy="120032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en-US" altLang="zh-CN" sz="2400" b="1" dirty="0">
                <a:latin typeface="微软雅黑" panose="020B0503020204020204" pitchFamily="34" charset="-122"/>
                <a:ea typeface="微软雅黑" panose="020B0503020204020204" pitchFamily="34" charset="-122"/>
              </a:rPr>
              <a:t>Jaccard</a:t>
            </a:r>
            <a:r>
              <a:rPr lang="zh-CN" altLang="en-US" sz="2400" b="1" dirty="0">
                <a:latin typeface="微软雅黑" panose="020B0503020204020204" pitchFamily="34" charset="-122"/>
                <a:ea typeface="微软雅黑" panose="020B0503020204020204" pitchFamily="34" charset="-122"/>
              </a:rPr>
              <a:t>系数，</a:t>
            </a:r>
            <a:r>
              <a:rPr lang="en-US" altLang="zh-CN" sz="2400" b="1" dirty="0">
                <a:latin typeface="微软雅黑" panose="020B0503020204020204" pitchFamily="34" charset="-122"/>
                <a:ea typeface="微软雅黑" panose="020B0503020204020204" pitchFamily="34" charset="-122"/>
              </a:rPr>
              <a:t> FM </a:t>
            </a:r>
            <a:r>
              <a:rPr lang="zh-CN" altLang="en-US" sz="2400" b="1" dirty="0">
                <a:latin typeface="微软雅黑" panose="020B0503020204020204" pitchFamily="34" charset="-122"/>
                <a:ea typeface="微软雅黑" panose="020B0503020204020204" pitchFamily="34" charset="-122"/>
              </a:rPr>
              <a:t>指数，</a:t>
            </a:r>
            <a:r>
              <a:rPr lang="en-US" altLang="zh-CN" sz="2400" b="1" dirty="0">
                <a:latin typeface="微软雅黑" panose="020B0503020204020204" pitchFamily="34" charset="-122"/>
                <a:ea typeface="微软雅黑" panose="020B0503020204020204" pitchFamily="34" charset="-122"/>
              </a:rPr>
              <a:t> Rand </a:t>
            </a:r>
            <a:r>
              <a:rPr lang="zh-CN" altLang="en-US" sz="2400" b="1" dirty="0">
                <a:latin typeface="微软雅黑" panose="020B0503020204020204" pitchFamily="34" charset="-122"/>
                <a:ea typeface="微软雅黑" panose="020B0503020204020204" pitchFamily="34" charset="-122"/>
              </a:rPr>
              <a:t>指数，纯度</a:t>
            </a:r>
            <a:r>
              <a:rPr lang="en-US" altLang="zh-CN" sz="2400" b="1" dirty="0">
                <a:latin typeface="微软雅黑" panose="020B0503020204020204" pitchFamily="34" charset="-122"/>
                <a:ea typeface="微软雅黑" panose="020B0503020204020204" pitchFamily="34" charset="-122"/>
              </a:rPr>
              <a:t>purity</a:t>
            </a:r>
            <a:r>
              <a:rPr lang="zh-CN" altLang="en-US" sz="2400" b="1" dirty="0">
                <a:latin typeface="微软雅黑" panose="020B0503020204020204" pitchFamily="34" charset="-122"/>
                <a:ea typeface="微软雅黑" panose="020B0503020204020204" pitchFamily="34" charset="-122"/>
              </a:rPr>
              <a:t>，熵 </a:t>
            </a:r>
            <a:r>
              <a:rPr lang="en-US" altLang="zh-CN" sz="2400" b="1" dirty="0">
                <a:latin typeface="微软雅黑" panose="020B0503020204020204" pitchFamily="34" charset="-122"/>
                <a:ea typeface="微软雅黑" panose="020B0503020204020204" pitchFamily="34" charset="-122"/>
              </a:rPr>
              <a:t>entropy</a:t>
            </a:r>
            <a:r>
              <a:rPr lang="zh-CN" altLang="en-US" sz="2400" b="1" dirty="0">
                <a:latin typeface="微软雅黑" panose="020B0503020204020204" pitchFamily="34" charset="-122"/>
                <a:ea typeface="微软雅黑" panose="020B0503020204020204" pitchFamily="34" charset="-122"/>
              </a:rPr>
              <a:t>，互信息，</a:t>
            </a:r>
            <a:r>
              <a:rPr lang="en-US" altLang="zh-CN" sz="2400" b="1" dirty="0">
                <a:latin typeface="微软雅黑" panose="020B0503020204020204" pitchFamily="34" charset="-122"/>
                <a:ea typeface="微软雅黑" panose="020B0503020204020204" pitchFamily="34" charset="-122"/>
              </a:rPr>
              <a:t> Adjusted Rand Index (ARI)</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 F-measure</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 Probabilistic Rand Index (PRI)</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6" name="对象 5"/>
          <p:cNvGraphicFramePr>
            <a:graphicFrameLocks noChangeAspect="1"/>
          </p:cNvGraphicFramePr>
          <p:nvPr/>
        </p:nvGraphicFramePr>
        <p:xfrm>
          <a:off x="5087888" y="1141771"/>
          <a:ext cx="1440160" cy="425042"/>
        </p:xfrm>
        <a:graphic>
          <a:graphicData uri="http://schemas.openxmlformats.org/presentationml/2006/ole">
            <mc:AlternateContent xmlns:mc="http://schemas.openxmlformats.org/markup-compatibility/2006">
              <mc:Choice xmlns:v="urn:schemas-microsoft-com:vml" Requires="v">
                <p:oleObj r:id="rId3" imgW="711200" imgH="228600" progId="Equation.3">
                  <p:embed/>
                </p:oleObj>
              </mc:Choice>
              <mc:Fallback>
                <p:oleObj r:id="rId3" imgW="711200" imgH="228600" progId="Equation.3">
                  <p:embed/>
                  <p:pic>
                    <p:nvPicPr>
                      <p:cNvPr id="0" name=""/>
                      <p:cNvPicPr/>
                      <p:nvPr/>
                    </p:nvPicPr>
                    <p:blipFill>
                      <a:blip r:embed="rId4"/>
                      <a:stretch>
                        <a:fillRect/>
                      </a:stretch>
                    </p:blipFill>
                    <p:spPr>
                      <a:xfrm>
                        <a:off x="5087888" y="1141771"/>
                        <a:ext cx="1440160" cy="425042"/>
                      </a:xfrm>
                      <a:prstGeom prst="rect">
                        <a:avLst/>
                      </a:prstGeom>
                      <a:noFill/>
                      <a:ln w="38100">
                        <a:noFill/>
                        <a:miter/>
                      </a:ln>
                    </p:spPr>
                  </p:pic>
                </p:oleObj>
              </mc:Fallback>
            </mc:AlternateContent>
          </a:graphicData>
        </a:graphic>
      </p:graphicFrame>
      <p:graphicFrame>
        <p:nvGraphicFramePr>
          <p:cNvPr id="7" name="对象 6"/>
          <p:cNvGraphicFramePr>
            <a:graphicFrameLocks noChangeAspect="1"/>
          </p:cNvGraphicFramePr>
          <p:nvPr/>
        </p:nvGraphicFramePr>
        <p:xfrm>
          <a:off x="8184233" y="1585931"/>
          <a:ext cx="1945455" cy="386797"/>
        </p:xfrm>
        <a:graphic>
          <a:graphicData uri="http://schemas.openxmlformats.org/presentationml/2006/ole">
            <mc:AlternateContent xmlns:mc="http://schemas.openxmlformats.org/markup-compatibility/2006">
              <mc:Choice xmlns:v="urn:schemas-microsoft-com:vml" Requires="v">
                <p:oleObj r:id="rId5" imgW="1143000" imgH="228600" progId="Equation.3">
                  <p:embed/>
                </p:oleObj>
              </mc:Choice>
              <mc:Fallback>
                <p:oleObj r:id="rId5" imgW="1143000" imgH="228600" progId="Equation.3">
                  <p:embed/>
                  <p:pic>
                    <p:nvPicPr>
                      <p:cNvPr id="0" name=""/>
                      <p:cNvPicPr/>
                      <p:nvPr/>
                    </p:nvPicPr>
                    <p:blipFill>
                      <a:blip r:embed="rId6"/>
                      <a:stretch>
                        <a:fillRect/>
                      </a:stretch>
                    </p:blipFill>
                    <p:spPr>
                      <a:xfrm>
                        <a:off x="8184233" y="1585931"/>
                        <a:ext cx="1945455" cy="386797"/>
                      </a:xfrm>
                      <a:prstGeom prst="rect">
                        <a:avLst/>
                      </a:prstGeom>
                      <a:noFill/>
                      <a:ln w="38100">
                        <a:noFill/>
                        <a:miter/>
                      </a:ln>
                    </p:spPr>
                  </p:pic>
                </p:oleObj>
              </mc:Fallback>
            </mc:AlternateContent>
          </a:graphicData>
        </a:graphic>
      </p:graphicFrame>
      <p:graphicFrame>
        <p:nvGraphicFramePr>
          <p:cNvPr id="8" name="对象 7"/>
          <p:cNvGraphicFramePr>
            <a:graphicFrameLocks noChangeAspect="1"/>
          </p:cNvGraphicFramePr>
          <p:nvPr/>
        </p:nvGraphicFramePr>
        <p:xfrm>
          <a:off x="2927648" y="1585929"/>
          <a:ext cx="1943342" cy="375618"/>
        </p:xfrm>
        <a:graphic>
          <a:graphicData uri="http://schemas.openxmlformats.org/presentationml/2006/ole">
            <mc:AlternateContent xmlns:mc="http://schemas.openxmlformats.org/markup-compatibility/2006">
              <mc:Choice xmlns:v="urn:schemas-microsoft-com:vml" Requires="v">
                <p:oleObj r:id="rId7" imgW="1244600" imgH="241300" progId="Equation.3">
                  <p:embed/>
                </p:oleObj>
              </mc:Choice>
              <mc:Fallback>
                <p:oleObj r:id="rId7" imgW="1244600" imgH="241300" progId="Equation.3">
                  <p:embed/>
                  <p:pic>
                    <p:nvPicPr>
                      <p:cNvPr id="0" name=""/>
                      <p:cNvPicPr/>
                      <p:nvPr/>
                    </p:nvPicPr>
                    <p:blipFill>
                      <a:blip r:embed="rId8"/>
                      <a:stretch>
                        <a:fillRect/>
                      </a:stretch>
                    </p:blipFill>
                    <p:spPr>
                      <a:xfrm>
                        <a:off x="2927648" y="1585929"/>
                        <a:ext cx="1943342" cy="375618"/>
                      </a:xfrm>
                      <a:prstGeom prst="rect">
                        <a:avLst/>
                      </a:prstGeom>
                      <a:noFill/>
                      <a:ln w="38100">
                        <a:noFill/>
                        <a:miter/>
                      </a:ln>
                    </p:spPr>
                  </p:pic>
                </p:oleObj>
              </mc:Fallback>
            </mc:AlternateContent>
          </a:graphicData>
        </a:graphic>
      </p:graphicFrame>
      <p:graphicFrame>
        <p:nvGraphicFramePr>
          <p:cNvPr id="104453" name="Object 5"/>
          <p:cNvGraphicFramePr>
            <a:graphicFrameLocks noChangeAspect="1"/>
          </p:cNvGraphicFramePr>
          <p:nvPr/>
        </p:nvGraphicFramePr>
        <p:xfrm>
          <a:off x="3718413" y="1972727"/>
          <a:ext cx="411302" cy="414326"/>
        </p:xfrm>
        <a:graphic>
          <a:graphicData uri="http://schemas.openxmlformats.org/presentationml/2006/ole">
            <mc:AlternateContent xmlns:mc="http://schemas.openxmlformats.org/markup-compatibility/2006">
              <mc:Choice xmlns:v="urn:schemas-microsoft-com:vml" Requires="v">
                <p:oleObj r:id="rId9" imgW="203200" imgH="203200" progId="Equation.3">
                  <p:embed/>
                </p:oleObj>
              </mc:Choice>
              <mc:Fallback>
                <p:oleObj r:id="rId9" imgW="203200" imgH="203200" progId="Equation.3">
                  <p:embed/>
                  <p:pic>
                    <p:nvPicPr>
                      <p:cNvPr id="0" name=""/>
                      <p:cNvPicPr/>
                      <p:nvPr/>
                    </p:nvPicPr>
                    <p:blipFill>
                      <a:blip r:embed="rId10"/>
                      <a:stretch>
                        <a:fillRect/>
                      </a:stretch>
                    </p:blipFill>
                    <p:spPr>
                      <a:xfrm>
                        <a:off x="3718413" y="1972727"/>
                        <a:ext cx="411302" cy="414326"/>
                      </a:xfrm>
                      <a:prstGeom prst="rect">
                        <a:avLst/>
                      </a:prstGeom>
                      <a:noFill/>
                      <a:ln w="38100">
                        <a:noFill/>
                        <a:miter/>
                      </a:ln>
                    </p:spPr>
                  </p:pic>
                </p:oleObj>
              </mc:Fallback>
            </mc:AlternateContent>
          </a:graphicData>
        </a:graphic>
      </p:graphicFrame>
      <p:sp>
        <p:nvSpPr>
          <p:cNvPr id="14" name="矩形 5"/>
          <p:cNvSpPr/>
          <p:nvPr/>
        </p:nvSpPr>
        <p:spPr>
          <a:xfrm>
            <a:off x="2596753" y="244990"/>
            <a:ext cx="4219327" cy="52322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b="1" dirty="0">
                <a:latin typeface="微软雅黑" panose="020B0503020204020204" pitchFamily="34" charset="-122"/>
                <a:ea typeface="微软雅黑" panose="020B0503020204020204" pitchFamily="34" charset="-122"/>
              </a:rPr>
              <a:t>性能评价指标</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聚类</a:t>
            </a:r>
          </a:p>
        </p:txBody>
      </p:sp>
      <p:pic>
        <p:nvPicPr>
          <p:cNvPr id="7182" name="Picture 14" descr="https://pic3.zhimg.com/v2-e62c8b4b793c89b1cd70f2aaebf690c6_r.jp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37642" y="4036583"/>
            <a:ext cx="3390806" cy="1403291"/>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5891343" y="3751686"/>
            <a:ext cx="2808312" cy="400110"/>
          </a:xfrm>
          <a:prstGeom prst="rect">
            <a:avLst/>
          </a:prstGeom>
        </p:spPr>
        <p:txBody>
          <a:bodyPr wrap="square">
            <a:spAutoFit/>
          </a:bodyPr>
          <a:lstStyle/>
          <a:p>
            <a:r>
              <a:rPr lang="en-US" altLang="zh-CN" sz="2000" b="1" dirty="0">
                <a:latin typeface="微软雅黑" panose="020B0503020204020204" pitchFamily="34" charset="-122"/>
                <a:ea typeface="微软雅黑" panose="020B0503020204020204" pitchFamily="34" charset="-122"/>
              </a:rPr>
              <a:t>Rand </a:t>
            </a:r>
            <a:r>
              <a:rPr lang="zh-CN" altLang="en-US" sz="2000" b="1" dirty="0">
                <a:latin typeface="微软雅黑" panose="020B0503020204020204" pitchFamily="34" charset="-122"/>
                <a:ea typeface="微软雅黑" panose="020B0503020204020204" pitchFamily="34" charset="-122"/>
              </a:rPr>
              <a:t>指数</a:t>
            </a:r>
            <a:r>
              <a:rPr lang="en-US" altLang="zh-CN" sz="2000" b="1" dirty="0">
                <a:latin typeface="微软雅黑" panose="020B0503020204020204" pitchFamily="34" charset="-122"/>
                <a:ea typeface="微软雅黑" panose="020B0503020204020204" pitchFamily="34" charset="-122"/>
              </a:rPr>
              <a:t>:</a:t>
            </a:r>
          </a:p>
        </p:txBody>
      </p:sp>
      <p:grpSp>
        <p:nvGrpSpPr>
          <p:cNvPr id="27" name="组合 26"/>
          <p:cNvGrpSpPr/>
          <p:nvPr/>
        </p:nvGrpSpPr>
        <p:grpSpPr>
          <a:xfrm>
            <a:off x="5146798" y="4215064"/>
            <a:ext cx="5521202" cy="991373"/>
            <a:chOff x="3622797" y="4406939"/>
            <a:chExt cx="5521202" cy="991373"/>
          </a:xfrm>
        </p:grpSpPr>
        <p:sp>
          <p:nvSpPr>
            <p:cNvPr id="9" name="文本框 8"/>
            <p:cNvSpPr txBox="1"/>
            <p:nvPr/>
          </p:nvSpPr>
          <p:spPr>
            <a:xfrm>
              <a:off x="7452320" y="4406939"/>
              <a:ext cx="1512168" cy="400110"/>
            </a:xfrm>
            <a:prstGeom prst="rect">
              <a:avLst/>
            </a:prstGeom>
            <a:solidFill>
              <a:schemeClr val="accent6">
                <a:lumMod val="20000"/>
                <a:lumOff val="80000"/>
              </a:schemeClr>
            </a:solidFill>
          </p:spPr>
          <p:txBody>
            <a:bodyPr wrap="square" rtlCol="0">
              <a:spAutoFit/>
            </a:bodyPr>
            <a:lstStyle/>
            <a:p>
              <a:r>
                <a:rPr lang="zh-CN" altLang="en-US" sz="2000" dirty="0"/>
                <a:t>属于同一簇</a:t>
              </a:r>
            </a:p>
          </p:txBody>
        </p:sp>
        <p:sp>
          <p:nvSpPr>
            <p:cNvPr id="18" name="文本框 17"/>
            <p:cNvSpPr txBox="1"/>
            <p:nvPr/>
          </p:nvSpPr>
          <p:spPr>
            <a:xfrm>
              <a:off x="7421048" y="4941487"/>
              <a:ext cx="1722951" cy="400110"/>
            </a:xfrm>
            <a:prstGeom prst="rect">
              <a:avLst/>
            </a:prstGeom>
            <a:solidFill>
              <a:schemeClr val="accent6">
                <a:lumMod val="20000"/>
                <a:lumOff val="80000"/>
              </a:schemeClr>
            </a:solidFill>
          </p:spPr>
          <p:txBody>
            <a:bodyPr wrap="square" rtlCol="0">
              <a:spAutoFit/>
            </a:bodyPr>
            <a:lstStyle/>
            <a:p>
              <a:r>
                <a:rPr lang="zh-CN" altLang="en-US" sz="2000" dirty="0"/>
                <a:t>不属于同一簇</a:t>
              </a:r>
            </a:p>
          </p:txBody>
        </p:sp>
        <p:sp>
          <p:nvSpPr>
            <p:cNvPr id="15" name="矩形 14"/>
            <p:cNvSpPr/>
            <p:nvPr/>
          </p:nvSpPr>
          <p:spPr>
            <a:xfrm>
              <a:off x="3653897" y="4425364"/>
              <a:ext cx="3276364" cy="400110"/>
            </a:xfrm>
            <a:prstGeom prst="rect">
              <a:avLst/>
            </a:prstGeom>
            <a:solidFill>
              <a:schemeClr val="accent2">
                <a:lumMod val="20000"/>
                <a:lumOff val="80000"/>
              </a:schemeClr>
            </a:solidFill>
          </p:spPr>
          <p:txBody>
            <a:bodyPr wrap="square">
              <a:spAutoFit/>
            </a:bodyPr>
            <a:lstStyle/>
            <a:p>
              <a:r>
                <a:rPr lang="zh-CN" altLang="en-US" sz="2000" b="1" dirty="0">
                  <a:latin typeface="微软雅黑" panose="020B0503020204020204" pitchFamily="34" charset="-122"/>
                  <a:ea typeface="微软雅黑" panose="020B0503020204020204" pitchFamily="34" charset="-122"/>
                </a:rPr>
                <a:t>一个簇中任意取出两个样本</a:t>
              </a:r>
              <a:endParaRPr lang="en-US" altLang="zh-CN" sz="2000" b="1" dirty="0">
                <a:latin typeface="微软雅黑" panose="020B0503020204020204" pitchFamily="34" charset="-122"/>
                <a:ea typeface="微软雅黑" panose="020B0503020204020204" pitchFamily="34" charset="-122"/>
              </a:endParaRPr>
            </a:p>
          </p:txBody>
        </p:sp>
        <p:sp>
          <p:nvSpPr>
            <p:cNvPr id="16" name="矩形 15"/>
            <p:cNvSpPr/>
            <p:nvPr/>
          </p:nvSpPr>
          <p:spPr>
            <a:xfrm>
              <a:off x="3622797" y="4998202"/>
              <a:ext cx="3338564" cy="400110"/>
            </a:xfrm>
            <a:prstGeom prst="rect">
              <a:avLst/>
            </a:prstGeom>
            <a:solidFill>
              <a:schemeClr val="accent2">
                <a:lumMod val="20000"/>
                <a:lumOff val="80000"/>
              </a:schemeClr>
            </a:solidFill>
          </p:spPr>
          <p:txBody>
            <a:bodyPr wrap="square">
              <a:spAutoFit/>
            </a:bodyPr>
            <a:lstStyle/>
            <a:p>
              <a:r>
                <a:rPr lang="zh-CN" altLang="en-US" sz="2000" b="1" dirty="0">
                  <a:latin typeface="微软雅黑" panose="020B0503020204020204" pitchFamily="34" charset="-122"/>
                  <a:ea typeface="微软雅黑" panose="020B0503020204020204" pitchFamily="34" charset="-122"/>
                </a:rPr>
                <a:t>两个簇中任意取出两个样本</a:t>
              </a:r>
              <a:endParaRPr lang="zh-CN" altLang="en-US" sz="2000" dirty="0"/>
            </a:p>
          </p:txBody>
        </p:sp>
        <p:cxnSp>
          <p:nvCxnSpPr>
            <p:cNvPr id="19" name="直接箭头连接符 18"/>
            <p:cNvCxnSpPr>
              <a:stCxn id="15" idx="3"/>
              <a:endCxn id="9" idx="1"/>
            </p:cNvCxnSpPr>
            <p:nvPr/>
          </p:nvCxnSpPr>
          <p:spPr>
            <a:xfrm flipV="1">
              <a:off x="6930261" y="4606994"/>
              <a:ext cx="522059" cy="18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5" idx="3"/>
              <a:endCxn id="18" idx="1"/>
            </p:cNvCxnSpPr>
            <p:nvPr/>
          </p:nvCxnSpPr>
          <p:spPr>
            <a:xfrm>
              <a:off x="6930261" y="4625419"/>
              <a:ext cx="490787" cy="516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6" idx="3"/>
            </p:cNvCxnSpPr>
            <p:nvPr/>
          </p:nvCxnSpPr>
          <p:spPr>
            <a:xfrm flipV="1">
              <a:off x="6961361" y="4625419"/>
              <a:ext cx="459687" cy="572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6" idx="3"/>
              <a:endCxn id="18" idx="1"/>
            </p:cNvCxnSpPr>
            <p:nvPr/>
          </p:nvCxnSpPr>
          <p:spPr>
            <a:xfrm flipV="1">
              <a:off x="6961361" y="5141542"/>
              <a:ext cx="459687" cy="56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7188" name="Picture 20" descr="https://pic3.zhimg.com/v2-a9e709a995b006be04d026aebc721c4e_r.jp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36813" y="5570792"/>
            <a:ext cx="6525487" cy="1050410"/>
          </a:xfrm>
          <a:prstGeom prst="rect">
            <a:avLst/>
          </a:prstGeom>
          <a:noFill/>
          <a:extLst>
            <a:ext uri="{909E8E84-426E-40DD-AFC4-6F175D3DCCD1}">
              <a14:hiddenFill xmlns:a14="http://schemas.microsoft.com/office/drawing/2010/main">
                <a:solidFill>
                  <a:srgbClr val="FFFFFF"/>
                </a:solidFill>
              </a14:hiddenFill>
            </a:ext>
          </a:extLst>
        </p:spPr>
      </p:pic>
      <p:pic>
        <p:nvPicPr>
          <p:cNvPr id="28" name="图片 2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392144" y="3769245"/>
            <a:ext cx="1832728" cy="387812"/>
          </a:xfrm>
          <a:prstGeom prst="rect">
            <a:avLst/>
          </a:prstGeom>
        </p:spPr>
      </p:pic>
    </p:spTree>
    <p:extLst>
      <p:ext uri="{BB962C8B-B14F-4D97-AF65-F5344CB8AC3E}">
        <p14:creationId xmlns:p14="http://schemas.microsoft.com/office/powerpoint/2010/main" val="197549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4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8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矩形 3"/>
          <p:cNvSpPr/>
          <p:nvPr/>
        </p:nvSpPr>
        <p:spPr>
          <a:xfrm>
            <a:off x="2286084" y="1052737"/>
            <a:ext cx="6912768" cy="97872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20000"/>
              </a:lnSpc>
              <a:spcBef>
                <a:spcPct val="0"/>
              </a:spcBef>
              <a:buNone/>
            </a:pPr>
            <a:r>
              <a:rPr lang="zh-CN" altLang="en-US" sz="2400" b="1" dirty="0">
                <a:solidFill>
                  <a:srgbClr val="0070C0"/>
                </a:solidFill>
                <a:latin typeface="微软雅黑" panose="020B0503020204020204" pitchFamily="34" charset="-122"/>
                <a:ea typeface="微软雅黑" panose="020B0503020204020204" pitchFamily="34" charset="-122"/>
                <a:sym typeface="+mn-ea"/>
              </a:rPr>
              <a:t>内部指标</a:t>
            </a:r>
            <a:r>
              <a:rPr lang="en-US" altLang="zh-CN" sz="2400" b="1" dirty="0">
                <a:solidFill>
                  <a:srgbClr val="0070C0"/>
                </a:solidFill>
                <a:latin typeface="微软雅黑" panose="020B0503020204020204" pitchFamily="34" charset="-122"/>
                <a:ea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sym typeface="+mn-ea"/>
              </a:rPr>
              <a:t>对聚类数据结构的描述，类内距离小，类间距离大较好</a:t>
            </a:r>
          </a:p>
        </p:txBody>
      </p:sp>
      <p:sp>
        <p:nvSpPr>
          <p:cNvPr id="10" name="矩形 9"/>
          <p:cNvSpPr/>
          <p:nvPr/>
        </p:nvSpPr>
        <p:spPr>
          <a:xfrm>
            <a:off x="2279531" y="2278418"/>
            <a:ext cx="7219860" cy="830997"/>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en-US" altLang="zh-CN" sz="2400" b="1" dirty="0">
                <a:latin typeface="微软雅黑" panose="020B0503020204020204" pitchFamily="34" charset="-122"/>
                <a:ea typeface="微软雅黑" panose="020B0503020204020204" pitchFamily="34" charset="-122"/>
              </a:rPr>
              <a:t>DB </a:t>
            </a:r>
            <a:r>
              <a:rPr lang="zh-CN" altLang="en-US" sz="2400" b="1" dirty="0">
                <a:latin typeface="微软雅黑" panose="020B0503020204020204" pitchFamily="34" charset="-122"/>
                <a:ea typeface="微软雅黑" panose="020B0503020204020204" pitchFamily="34" charset="-122"/>
              </a:rPr>
              <a:t>指数</a:t>
            </a:r>
            <a:r>
              <a:rPr lang="en-US" altLang="zh-CN" sz="2400" b="1" dirty="0">
                <a:latin typeface="微软雅黑" panose="020B0503020204020204" pitchFamily="34" charset="-122"/>
                <a:ea typeface="微软雅黑" panose="020B0503020204020204" pitchFamily="34" charset="-122"/>
              </a:rPr>
              <a:t>(DBI)</a:t>
            </a:r>
            <a:r>
              <a:rPr lang="zh-CN" altLang="en-US" sz="2400" dirty="0">
                <a:latin typeface="微软雅黑" panose="020B0503020204020204" pitchFamily="34" charset="-122"/>
                <a:ea typeface="微软雅黑" panose="020B0503020204020204" pitchFamily="34" charset="-122"/>
              </a:rPr>
              <a:t>：衡量同一簇中数据的紧密性，越小越好。</a:t>
            </a:r>
          </a:p>
        </p:txBody>
      </p:sp>
      <p:sp>
        <p:nvSpPr>
          <p:cNvPr id="11" name="矩形 10"/>
          <p:cNvSpPr/>
          <p:nvPr/>
        </p:nvSpPr>
        <p:spPr>
          <a:xfrm>
            <a:off x="2312451" y="4617656"/>
            <a:ext cx="7848918" cy="830997"/>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en-US" altLang="zh-CN" sz="2400" b="1" dirty="0">
                <a:latin typeface="微软雅黑" panose="020B0503020204020204" pitchFamily="34" charset="-122"/>
                <a:ea typeface="微软雅黑" panose="020B0503020204020204" pitchFamily="34" charset="-122"/>
              </a:rPr>
              <a:t>Dunn </a:t>
            </a:r>
            <a:r>
              <a:rPr lang="zh-CN" altLang="en-US" sz="2400" b="1" dirty="0">
                <a:latin typeface="微软雅黑" panose="020B0503020204020204" pitchFamily="34" charset="-122"/>
                <a:ea typeface="微软雅黑" panose="020B0503020204020204" pitchFamily="34" charset="-122"/>
              </a:rPr>
              <a:t>指数</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简称</a:t>
            </a:r>
            <a:r>
              <a:rPr lang="en-US" altLang="zh-CN" sz="2400" b="1" dirty="0">
                <a:latin typeface="微软雅黑" panose="020B0503020204020204" pitchFamily="34" charset="-122"/>
                <a:ea typeface="微软雅黑" panose="020B0503020204020204" pitchFamily="34" charset="-122"/>
              </a:rPr>
              <a:t>DI)</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衡量同一簇中数据的紧密性，越大越好。</a:t>
            </a:r>
            <a:endParaRPr lang="zh-CN" altLang="en-US" sz="2400" b="1" dirty="0">
              <a:latin typeface="微软雅黑" panose="020B0503020204020204" pitchFamily="34" charset="-122"/>
              <a:ea typeface="微软雅黑" panose="020B0503020204020204" pitchFamily="34" charset="-122"/>
            </a:endParaRPr>
          </a:p>
        </p:txBody>
      </p:sp>
      <p:sp>
        <p:nvSpPr>
          <p:cNvPr id="12" name="矩形 11"/>
          <p:cNvSpPr/>
          <p:nvPr/>
        </p:nvSpPr>
        <p:spPr>
          <a:xfrm>
            <a:off x="2279531" y="3284280"/>
            <a:ext cx="7410316" cy="46166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en-US" altLang="zh-CN" sz="2400" b="1" dirty="0">
                <a:latin typeface="微软雅黑" panose="020B0503020204020204" pitchFamily="34" charset="-122"/>
                <a:ea typeface="微软雅黑" panose="020B0503020204020204" pitchFamily="34" charset="-122"/>
              </a:rPr>
              <a:t>Silouette</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衡量同一簇中数据的紧密性，越大越好。</a:t>
            </a:r>
          </a:p>
        </p:txBody>
      </p:sp>
      <p:sp>
        <p:nvSpPr>
          <p:cNvPr id="13" name="矩形 12"/>
          <p:cNvSpPr/>
          <p:nvPr/>
        </p:nvSpPr>
        <p:spPr>
          <a:xfrm>
            <a:off x="2264431" y="4005065"/>
            <a:ext cx="5578620" cy="46166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en-US" altLang="zh-CN" sz="2400" b="1" dirty="0">
                <a:latin typeface="微软雅黑" panose="020B0503020204020204" pitchFamily="34" charset="-122"/>
                <a:ea typeface="微软雅黑" panose="020B0503020204020204" pitchFamily="34" charset="-122"/>
              </a:rPr>
              <a:t>Modurity</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衡量模块性，越大越好。</a:t>
            </a:r>
          </a:p>
        </p:txBody>
      </p:sp>
      <p:sp>
        <p:nvSpPr>
          <p:cNvPr id="14" name="矩形 5"/>
          <p:cNvSpPr/>
          <p:nvPr/>
        </p:nvSpPr>
        <p:spPr>
          <a:xfrm>
            <a:off x="2596753" y="244990"/>
            <a:ext cx="4219327" cy="52322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nSpc>
                <a:spcPct val="100000"/>
              </a:lnSpc>
              <a:spcBef>
                <a:spcPct val="0"/>
              </a:spcBef>
              <a:buNone/>
            </a:pPr>
            <a:r>
              <a:rPr lang="zh-CN" altLang="en-US" b="1" dirty="0">
                <a:latin typeface="微软雅黑" panose="020B0503020204020204" pitchFamily="34" charset="-122"/>
                <a:ea typeface="微软雅黑" panose="020B0503020204020204" pitchFamily="34" charset="-122"/>
              </a:rPr>
              <a:t>性能评价指标</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聚类</a:t>
            </a:r>
          </a:p>
        </p:txBody>
      </p:sp>
    </p:spTree>
    <p:extLst>
      <p:ext uri="{BB962C8B-B14F-4D97-AF65-F5344CB8AC3E}">
        <p14:creationId xmlns:p14="http://schemas.microsoft.com/office/powerpoint/2010/main" val="723739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p:bldP spid="12" grpId="0"/>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2"/>
          <p:cNvSpPr>
            <a:spLocks noGrp="1" noChangeArrowheads="1"/>
          </p:cNvSpPr>
          <p:nvPr>
            <p:ph type="ctrTitle"/>
          </p:nvPr>
        </p:nvSpPr>
        <p:spPr>
          <a:xfrm>
            <a:off x="2135561" y="692697"/>
            <a:ext cx="8139113" cy="5903913"/>
          </a:xfrm>
        </p:spPr>
        <p:txBody>
          <a:bodyPr vert="horz" wrap="square" lIns="91440" tIns="45720" rIns="91440" bIns="45720" numCol="1" anchor="ctr" anchorCtr="0" compatLnSpc="1"/>
          <a:lstStyle/>
          <a:p>
            <a:pPr lvl="0" algn="l" eaLnBrk="1" hangingPunct="1">
              <a:defRPr/>
            </a:pPr>
            <a:r>
              <a:rPr lang="zh-CN" altLang="en-US" dirty="0">
                <a:solidFill>
                  <a:schemeClr val="tx1"/>
                </a:solidFill>
                <a:latin typeface="Times New Roman" panose="02020603050405020304" pitchFamily="18" charset="0"/>
              </a:rPr>
              <a:t>			</a:t>
            </a:r>
            <a:r>
              <a:rPr lang="zh-CN" altLang="en-US" b="1" dirty="0">
                <a:solidFill>
                  <a:schemeClr val="tx1"/>
                </a:solidFill>
                <a:effectLst>
                  <a:outerShdw blurRad="38100" dist="38100" dir="2700000" algn="tl">
                    <a:srgbClr val="C0C0C0"/>
                  </a:outerShdw>
                </a:effectLst>
                <a:latin typeface="Times New Roman" panose="02020603050405020304" pitchFamily="18" charset="0"/>
              </a:rPr>
              <a:t>本章内容</a:t>
            </a:r>
            <a:br>
              <a:rPr lang="zh-CN" altLang="en-US" sz="5400" b="1" dirty="0">
                <a:solidFill>
                  <a:schemeClr val="tx1"/>
                </a:solidFill>
                <a:effectLst>
                  <a:outerShdw blurRad="38100" dist="38100" dir="2700000" algn="tl">
                    <a:srgbClr val="C0C0C0"/>
                  </a:outerShdw>
                </a:effectLst>
                <a:latin typeface="Times New Roman" panose="02020603050405020304" pitchFamily="18" charset="0"/>
              </a:rPr>
            </a:b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4.1 </a:t>
            </a:r>
            <a:r>
              <a:rPr lang="zh-CN" altLang="en-US" sz="3200" dirty="0">
                <a:solidFill>
                  <a:schemeClr val="tx1"/>
                </a:solidFill>
                <a:latin typeface="Times New Roman" panose="02020603050405020304" pitchFamily="18" charset="0"/>
                <a:ea typeface="黑体" panose="02010609060101010101" pitchFamily="49" charset="-122"/>
              </a:rPr>
              <a:t>机器学习概论</a:t>
            </a: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4.2 </a:t>
            </a:r>
            <a:r>
              <a:rPr lang="zh-CN" altLang="en-US" sz="3200" dirty="0">
                <a:solidFill>
                  <a:schemeClr val="tx1"/>
                </a:solidFill>
                <a:latin typeface="Times New Roman" panose="02020603050405020304" pitchFamily="18" charset="0"/>
                <a:ea typeface="黑体" panose="02010609060101010101" pitchFamily="49" charset="-122"/>
              </a:rPr>
              <a:t>分类算法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a:t>
            </a:r>
            <a:r>
              <a:rPr lang="en-US" altLang="zh-CN" sz="3200" b="1" dirty="0">
                <a:solidFill>
                  <a:srgbClr val="C00000"/>
                </a:solidFill>
                <a:latin typeface="Times New Roman" panose="02020603050405020304" pitchFamily="18" charset="0"/>
                <a:ea typeface="黑体" panose="02010609060101010101" pitchFamily="49" charset="-122"/>
              </a:rPr>
              <a:t>4.2.1</a:t>
            </a:r>
            <a:r>
              <a:rPr lang="zh-CN" altLang="en-US" sz="3200" b="1" dirty="0">
                <a:solidFill>
                  <a:srgbClr val="C00000"/>
                </a:solidFill>
                <a:latin typeface="Times New Roman" panose="02020603050405020304" pitchFamily="18" charset="0"/>
                <a:ea typeface="黑体" panose="02010609060101010101" pitchFamily="49" charset="-122"/>
              </a:rPr>
              <a:t>：决策树</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4.2.2</a:t>
            </a:r>
            <a:r>
              <a:rPr lang="zh-CN" altLang="en-US" sz="3200" dirty="0">
                <a:solidFill>
                  <a:schemeClr val="tx1"/>
                </a:solidFill>
                <a:latin typeface="Times New Roman" panose="02020603050405020304" pitchFamily="18" charset="0"/>
                <a:ea typeface="黑体" panose="02010609060101010101" pitchFamily="49" charset="-122"/>
              </a:rPr>
              <a:t>：朴素贝叶斯分类器</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4.2.3</a:t>
            </a:r>
            <a:r>
              <a:rPr lang="zh-CN" altLang="en-US" sz="3200" dirty="0">
                <a:solidFill>
                  <a:schemeClr val="tx1"/>
                </a:solidFill>
                <a:latin typeface="Times New Roman" panose="02020603050405020304" pitchFamily="18" charset="0"/>
                <a:ea typeface="黑体" panose="02010609060101010101" pitchFamily="49" charset="-122"/>
              </a:rPr>
              <a:t>：集体学习</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4.2.4</a:t>
            </a:r>
            <a:r>
              <a:rPr lang="zh-CN" altLang="en-US" sz="3200" dirty="0">
                <a:solidFill>
                  <a:schemeClr val="tx1"/>
                </a:solidFill>
                <a:latin typeface="Times New Roman" panose="02020603050405020304" pitchFamily="18" charset="0"/>
                <a:ea typeface="黑体" panose="02010609060101010101" pitchFamily="49" charset="-122"/>
              </a:rPr>
              <a:t>：支持向量机（</a:t>
            </a:r>
            <a:r>
              <a:rPr lang="en-US" altLang="zh-CN" sz="3200" dirty="0" err="1">
                <a:solidFill>
                  <a:schemeClr val="tx1"/>
                </a:solidFill>
                <a:latin typeface="Times New Roman" panose="02020603050405020304" pitchFamily="18" charset="0"/>
                <a:ea typeface="黑体" panose="02010609060101010101" pitchFamily="49" charset="-122"/>
              </a:rPr>
              <a:t>SVM</a:t>
            </a:r>
            <a:r>
              <a:rPr lang="zh-CN" altLang="en-US" sz="3200" dirty="0">
                <a:solidFill>
                  <a:schemeClr val="tx1"/>
                </a:solidFill>
                <a:latin typeface="Times New Roman" panose="02020603050405020304" pitchFamily="18" charset="0"/>
                <a:ea typeface="黑体" panose="02010609060101010101" pitchFamily="49" charset="-122"/>
              </a:rPr>
              <a:t>）</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4.3 </a:t>
            </a:r>
            <a:r>
              <a:rPr lang="zh-CN" altLang="en-US" sz="3200" dirty="0">
                <a:solidFill>
                  <a:schemeClr val="tx1"/>
                </a:solidFill>
                <a:latin typeface="Times New Roman" panose="02020603050405020304" pitchFamily="18" charset="0"/>
                <a:ea typeface="黑体" panose="02010609060101010101" pitchFamily="49" charset="-122"/>
              </a:rPr>
              <a:t>回归算法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4.4 </a:t>
            </a:r>
            <a:r>
              <a:rPr lang="zh-CN" altLang="en-US" sz="3200" dirty="0">
                <a:solidFill>
                  <a:schemeClr val="tx1"/>
                </a:solidFill>
                <a:latin typeface="Times New Roman" panose="02020603050405020304" pitchFamily="18" charset="0"/>
                <a:ea typeface="黑体" panose="02010609060101010101" pitchFamily="49" charset="-122"/>
              </a:rPr>
              <a:t>聚类算法</a:t>
            </a:r>
            <a:br>
              <a:rPr lang="zh-CN" altLang="en-US" sz="3200" dirty="0">
                <a:solidFill>
                  <a:schemeClr val="tx1"/>
                </a:solidFill>
                <a:latin typeface="Times New Roman" panose="02020603050405020304" pitchFamily="18" charset="0"/>
                <a:ea typeface="黑体" panose="02010609060101010101" pitchFamily="49" charset="-122"/>
              </a:rPr>
            </a:br>
            <a:br>
              <a:rPr lang="zh-CN" altLang="en-US" sz="3200" dirty="0">
                <a:solidFill>
                  <a:schemeClr val="tx1"/>
                </a:solidFill>
                <a:latin typeface="Times New Roman" panose="02020603050405020304" pitchFamily="18" charset="0"/>
                <a:ea typeface="黑体" panose="02010609060101010101" pitchFamily="49" charset="-122"/>
              </a:rPr>
            </a:br>
            <a:endParaRPr lang="en-US" altLang="zh-CN" sz="3200" dirty="0">
              <a:solidFill>
                <a:schemeClr val="tx1"/>
              </a:solidFill>
              <a:latin typeface="Times New Roman" panose="02020603050405020304" pitchFamily="18" charset="0"/>
              <a:ea typeface="黑体" panose="02010609060101010101" pitchFamily="49" charset="-122"/>
            </a:endParaRPr>
          </a:p>
        </p:txBody>
      </p:sp>
      <p:sp>
        <p:nvSpPr>
          <p:cNvPr id="7171" name="Text Box 3"/>
          <p:cNvSpPr txBox="1"/>
          <p:nvPr/>
        </p:nvSpPr>
        <p:spPr>
          <a:xfrm>
            <a:off x="1524001" y="404813"/>
            <a:ext cx="29876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50000"/>
              </a:spcBef>
              <a:buNone/>
            </a:pPr>
            <a:r>
              <a:rPr lang="zh-CN" altLang="en-US" sz="2400" dirty="0">
                <a:solidFill>
                  <a:srgbClr val="000000"/>
                </a:solidFill>
                <a:latin typeface="华文行楷" panose="02010800040101010101" pitchFamily="2" charset="-122"/>
                <a:ea typeface="华文行楷" panose="02010800040101010101" pitchFamily="2" charset="-122"/>
              </a:rPr>
              <a:t>第</a:t>
            </a:r>
            <a:r>
              <a:rPr lang="en-US" altLang="zh-CN" sz="2400" dirty="0">
                <a:solidFill>
                  <a:srgbClr val="000000"/>
                </a:solidFill>
                <a:latin typeface="华文行楷" panose="02010800040101010101" pitchFamily="2" charset="-122"/>
                <a:ea typeface="华文行楷" panose="02010800040101010101" pitchFamily="2" charset="-122"/>
              </a:rPr>
              <a:t>4</a:t>
            </a:r>
            <a:r>
              <a:rPr lang="zh-CN" altLang="en-US" sz="2400" dirty="0">
                <a:solidFill>
                  <a:srgbClr val="000000"/>
                </a:solidFill>
                <a:latin typeface="华文行楷" panose="02010800040101010101" pitchFamily="2" charset="-122"/>
                <a:ea typeface="华文行楷" panose="02010800040101010101" pitchFamily="2" charset="-122"/>
              </a:rPr>
              <a:t>章 机器学习</a:t>
            </a:r>
            <a:endParaRPr lang="en-US" altLang="zh-CN" sz="2400" dirty="0">
              <a:solidFill>
                <a:srgbClr val="000000"/>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4122305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a:xfrm>
            <a:off x="2209800" y="69850"/>
            <a:ext cx="7772400" cy="731838"/>
          </a:xfrm>
        </p:spPr>
        <p:txBody>
          <a:bodyPr vert="horz" wrap="square" lIns="91440" tIns="45720" rIns="91440" bIns="45720" numCol="1" anchor="ctr" anchorCtr="0" compatLnSpc="1"/>
          <a:lstStyle/>
          <a:p>
            <a:pPr algn="ctr" eaLnBrk="1" hangingPunct="1">
              <a:defRPr/>
            </a:pPr>
            <a:r>
              <a:rPr lang="zh-CN" altLang="en-US" b="1" dirty="0">
                <a:solidFill>
                  <a:schemeClr val="tx1"/>
                </a:solidFill>
                <a:effectLst>
                  <a:outerShdw blurRad="38100" dist="38100" dir="2700000" algn="tl">
                    <a:srgbClr val="C0C0C0"/>
                  </a:outerShdw>
                </a:effectLst>
              </a:rPr>
              <a:t>决策树</a:t>
            </a:r>
            <a:endParaRPr lang="en-US" altLang="zh-CN" b="1" dirty="0">
              <a:solidFill>
                <a:schemeClr val="tx1"/>
              </a:solidFill>
              <a:effectLst>
                <a:outerShdw blurRad="38100" dist="38100" dir="2700000" algn="tl">
                  <a:srgbClr val="C0C0C0"/>
                </a:outerShdw>
              </a:effectLst>
            </a:endParaRPr>
          </a:p>
        </p:txBody>
      </p:sp>
      <p:sp>
        <p:nvSpPr>
          <p:cNvPr id="421891" name="Rectangle 3"/>
          <p:cNvSpPr>
            <a:spLocks noGrp="1" noChangeArrowheads="1"/>
          </p:cNvSpPr>
          <p:nvPr>
            <p:ph type="body" sz="half" idx="1"/>
          </p:nvPr>
        </p:nvSpPr>
        <p:spPr>
          <a:xfrm>
            <a:off x="1847528" y="727532"/>
            <a:ext cx="8424936" cy="4968875"/>
          </a:xfrm>
        </p:spPr>
        <p:txBody>
          <a:bodyPr vert="horz" wrap="square" lIns="91440" tIns="45720" rIns="91440" bIns="45720" numCol="1" anchor="t" anchorCtr="0" compatLnSpc="1"/>
          <a:lstStyle/>
          <a:p>
            <a:pPr eaLnBrk="1" hangingPunct="1">
              <a:lnSpc>
                <a:spcPct val="120000"/>
              </a:lnSpc>
              <a:defRP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决策树是归纳学习算法中最简单也是最成功的算法之一</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defRP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以事物的属性值集合作为输入，输出通常是一个分类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离散的输出）</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defRP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例子：星期六上午是否适合打网球</a:t>
            </a:r>
          </a:p>
          <a:p>
            <a:pPr lvl="1" eaLnBrk="1" hangingPunct="1">
              <a:lnSpc>
                <a:spcPct val="120000"/>
              </a:lnSpc>
              <a:defRP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属性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outlook</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humidity</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wind</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lvl="1" eaLnBrk="1" latinLnBrk="0" hangingPunct="1">
              <a:lnSpc>
                <a:spcPct val="120000"/>
              </a:lnSpc>
              <a:defRP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属性值</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sunny, overcast, rain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high, normal</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strong, weak</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p:txBody>
      </p:sp>
      <p:pic>
        <p:nvPicPr>
          <p:cNvPr id="32773" name="图片 1"/>
          <p:cNvPicPr>
            <a:picLocks noChangeAspect="1"/>
          </p:cNvPicPr>
          <p:nvPr/>
        </p:nvPicPr>
        <p:blipFill>
          <a:blip r:embed="rId2"/>
          <a:stretch>
            <a:fillRect/>
          </a:stretch>
        </p:blipFill>
        <p:spPr>
          <a:xfrm>
            <a:off x="2053976" y="4024086"/>
            <a:ext cx="3646488" cy="2054225"/>
          </a:xfrm>
          <a:prstGeom prst="rect">
            <a:avLst/>
          </a:prstGeom>
          <a:noFill/>
          <a:ln w="9525">
            <a:noFill/>
          </a:ln>
        </p:spPr>
      </p:pic>
      <p:sp>
        <p:nvSpPr>
          <p:cNvPr id="2" name="矩形 1"/>
          <p:cNvSpPr/>
          <p:nvPr/>
        </p:nvSpPr>
        <p:spPr>
          <a:xfrm>
            <a:off x="6125919" y="4024085"/>
            <a:ext cx="4017279" cy="2308324"/>
          </a:xfrm>
          <a:prstGeom prst="rect">
            <a:avLst/>
          </a:prstGeom>
        </p:spPr>
        <p:txBody>
          <a:bodyPr wrap="square">
            <a:spAutoFit/>
          </a:bodyPr>
          <a:lstStyle/>
          <a:p>
            <a:pPr eaLnBrk="1" hangingPunct="1">
              <a:lnSpc>
                <a:spcPct val="120000"/>
              </a:lnSpc>
              <a:defRPr/>
            </a:pPr>
            <a:r>
              <a:rPr lang="zh-CN" altLang="en-US" sz="2400" dirty="0">
                <a:latin typeface="微软雅黑" panose="020B0503020204020204" pitchFamily="34" charset="-122"/>
                <a:ea typeface="微软雅黑" panose="020B0503020204020204" pitchFamily="34" charset="-122"/>
              </a:rPr>
              <a:t>是一个树结构，每个非叶节点表示一个</a:t>
            </a:r>
            <a:r>
              <a:rPr lang="zh-CN" altLang="en-US" sz="2400" dirty="0">
                <a:solidFill>
                  <a:schemeClr val="accent6"/>
                </a:solidFill>
                <a:latin typeface="微软雅黑" panose="020B0503020204020204" pitchFamily="34" charset="-122"/>
                <a:ea typeface="微软雅黑" panose="020B0503020204020204" pitchFamily="34" charset="-122"/>
              </a:rPr>
              <a:t>特征属性</a:t>
            </a:r>
            <a:r>
              <a:rPr lang="zh-CN" altLang="en-US" sz="2400" dirty="0">
                <a:latin typeface="微软雅黑" panose="020B0503020204020204" pitchFamily="34" charset="-122"/>
                <a:ea typeface="微软雅黑" panose="020B0503020204020204" pitchFamily="34" charset="-122"/>
              </a:rPr>
              <a:t>，每个分支边代表这个特征属性在</a:t>
            </a:r>
            <a:r>
              <a:rPr lang="zh-CN" altLang="en-US" sz="2400" dirty="0">
                <a:solidFill>
                  <a:schemeClr val="accent6"/>
                </a:solidFill>
                <a:latin typeface="微软雅黑" panose="020B0503020204020204" pitchFamily="34" charset="-122"/>
                <a:ea typeface="微软雅黑" panose="020B0503020204020204" pitchFamily="34" charset="-122"/>
              </a:rPr>
              <a:t>某个值域上的输出</a:t>
            </a:r>
            <a:r>
              <a:rPr lang="zh-CN" altLang="en-US" sz="2400" dirty="0">
                <a:latin typeface="微软雅黑" panose="020B0503020204020204" pitchFamily="34" charset="-122"/>
                <a:ea typeface="微软雅黑" panose="020B0503020204020204" pitchFamily="34" charset="-122"/>
              </a:rPr>
              <a:t>，每个叶节点存放一个</a:t>
            </a:r>
            <a:r>
              <a:rPr lang="zh-CN" altLang="en-US" sz="2400" dirty="0">
                <a:solidFill>
                  <a:schemeClr val="accent6"/>
                </a:solidFill>
                <a:latin typeface="微软雅黑" panose="020B0503020204020204" pitchFamily="34" charset="-122"/>
                <a:ea typeface="微软雅黑" panose="020B0503020204020204" pitchFamily="34" charset="-122"/>
              </a:rPr>
              <a:t>类别</a:t>
            </a:r>
            <a:r>
              <a:rPr lang="zh-CN" altLang="en-US" sz="2400" dirty="0">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1891">
                                            <p:txEl>
                                              <p:pRg st="0" end="0"/>
                                            </p:txEl>
                                          </p:spTgt>
                                        </p:tgtEl>
                                        <p:attrNameLst>
                                          <p:attrName>style.visibility</p:attrName>
                                        </p:attrNameLst>
                                      </p:cBhvr>
                                      <p:to>
                                        <p:strVal val="visible"/>
                                      </p:to>
                                    </p:set>
                                    <p:animEffect transition="in" filter="blinds(horizontal)">
                                      <p:cBhvr>
                                        <p:cTn id="7" dur="500"/>
                                        <p:tgtEl>
                                          <p:spTgt spid="421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1891">
                                            <p:txEl>
                                              <p:pRg st="1" end="1"/>
                                            </p:txEl>
                                          </p:spTgt>
                                        </p:tgtEl>
                                        <p:attrNameLst>
                                          <p:attrName>style.visibility</p:attrName>
                                        </p:attrNameLst>
                                      </p:cBhvr>
                                      <p:to>
                                        <p:strVal val="visible"/>
                                      </p:to>
                                    </p:set>
                                    <p:animEffect transition="in" filter="blinds(horizontal)">
                                      <p:cBhvr>
                                        <p:cTn id="12" dur="500"/>
                                        <p:tgtEl>
                                          <p:spTgt spid="421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1891">
                                            <p:txEl>
                                              <p:pRg st="2" end="2"/>
                                            </p:txEl>
                                          </p:spTgt>
                                        </p:tgtEl>
                                        <p:attrNameLst>
                                          <p:attrName>style.visibility</p:attrName>
                                        </p:attrNameLst>
                                      </p:cBhvr>
                                      <p:to>
                                        <p:strVal val="visible"/>
                                      </p:to>
                                    </p:set>
                                    <p:animEffect transition="in" filter="blinds(horizontal)">
                                      <p:cBhvr>
                                        <p:cTn id="17" dur="500"/>
                                        <p:tgtEl>
                                          <p:spTgt spid="421891">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421891">
                                            <p:txEl>
                                              <p:pRg st="3" end="3"/>
                                            </p:txEl>
                                          </p:spTgt>
                                        </p:tgtEl>
                                        <p:attrNameLst>
                                          <p:attrName>style.visibility</p:attrName>
                                        </p:attrNameLst>
                                      </p:cBhvr>
                                      <p:to>
                                        <p:strVal val="visible"/>
                                      </p:to>
                                    </p:set>
                                    <p:animEffect transition="in" filter="blinds(horizontal)">
                                      <p:cBhvr>
                                        <p:cTn id="20" dur="500"/>
                                        <p:tgtEl>
                                          <p:spTgt spid="421891">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421891">
                                            <p:txEl>
                                              <p:pRg st="4" end="4"/>
                                            </p:txEl>
                                          </p:spTgt>
                                        </p:tgtEl>
                                        <p:attrNameLst>
                                          <p:attrName>style.visibility</p:attrName>
                                        </p:attrNameLst>
                                      </p:cBhvr>
                                      <p:to>
                                        <p:strVal val="visible"/>
                                      </p:to>
                                    </p:set>
                                    <p:animEffect transition="in" filter="blinds(horizontal)">
                                      <p:cBhvr>
                                        <p:cTn id="23" dur="500"/>
                                        <p:tgtEl>
                                          <p:spTgt spid="421891">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277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1" grpId="0" build="p"/>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0" name="组合 19"/>
          <p:cNvGrpSpPr/>
          <p:nvPr/>
        </p:nvGrpSpPr>
        <p:grpSpPr>
          <a:xfrm>
            <a:off x="5735961" y="3429000"/>
            <a:ext cx="4913257" cy="2808312"/>
            <a:chOff x="8732" y="4478"/>
            <a:chExt cx="9311" cy="5873"/>
          </a:xfrm>
        </p:grpSpPr>
        <p:grpSp>
          <p:nvGrpSpPr>
            <p:cNvPr id="33801" name="组合 10"/>
            <p:cNvGrpSpPr/>
            <p:nvPr/>
          </p:nvGrpSpPr>
          <p:grpSpPr>
            <a:xfrm>
              <a:off x="8732" y="4478"/>
              <a:ext cx="9311" cy="5873"/>
              <a:chOff x="8732" y="4478"/>
              <a:chExt cx="9311" cy="5873"/>
            </a:xfrm>
          </p:grpSpPr>
          <p:pic>
            <p:nvPicPr>
              <p:cNvPr id="33803" name="图片 5"/>
              <p:cNvPicPr>
                <a:picLocks noChangeAspect="1"/>
              </p:cNvPicPr>
              <p:nvPr/>
            </p:nvPicPr>
            <p:blipFill>
              <a:blip r:embed="rId2"/>
              <a:stretch>
                <a:fillRect/>
              </a:stretch>
            </p:blipFill>
            <p:spPr>
              <a:xfrm>
                <a:off x="8732" y="4587"/>
                <a:ext cx="9311" cy="5764"/>
              </a:xfrm>
              <a:prstGeom prst="rect">
                <a:avLst/>
              </a:prstGeom>
              <a:noFill/>
              <a:ln w="9525">
                <a:noFill/>
              </a:ln>
            </p:spPr>
          </p:pic>
          <p:sp>
            <p:nvSpPr>
              <p:cNvPr id="39" name="圆角矩形 38"/>
              <p:cNvSpPr/>
              <p:nvPr/>
            </p:nvSpPr>
            <p:spPr>
              <a:xfrm>
                <a:off x="13149" y="4478"/>
                <a:ext cx="2348" cy="874"/>
              </a:xfrm>
              <a:prstGeom prst="roundRect">
                <a:avLst/>
              </a:prstGeom>
              <a:noFill/>
              <a:ln w="38100">
                <a:solidFill>
                  <a:srgbClr val="0432FF"/>
                </a:solidFill>
              </a:ln>
            </p:spPr>
            <p:style>
              <a:lnRef idx="2">
                <a:schemeClr val="accent5"/>
              </a:lnRef>
              <a:fillRef idx="1">
                <a:schemeClr val="lt1"/>
              </a:fillRef>
              <a:effectRef idx="0">
                <a:schemeClr val="accent5"/>
              </a:effectRef>
              <a:fontRef idx="minor">
                <a:schemeClr val="dk1"/>
              </a:fontRef>
            </p:style>
            <p:txBody>
              <a:bodyPr anchor="ctr"/>
              <a:lstStyle/>
              <a:p>
                <a:pPr algn="ctr">
                  <a:defRPr/>
                </a:pPr>
                <a:endParaRPr kumimoji="1" lang="zh-CN" altLang="en-US" sz="2100"/>
              </a:p>
            </p:txBody>
          </p:sp>
          <p:sp>
            <p:nvSpPr>
              <p:cNvPr id="7" name="圆角矩形 6"/>
              <p:cNvSpPr/>
              <p:nvPr/>
            </p:nvSpPr>
            <p:spPr>
              <a:xfrm>
                <a:off x="10157" y="5781"/>
                <a:ext cx="1937" cy="874"/>
              </a:xfrm>
              <a:prstGeom prst="roundRect">
                <a:avLst/>
              </a:prstGeom>
              <a:noFill/>
              <a:ln w="38100">
                <a:solidFill>
                  <a:srgbClr val="0432FF"/>
                </a:solidFill>
              </a:ln>
            </p:spPr>
            <p:style>
              <a:lnRef idx="2">
                <a:schemeClr val="accent5"/>
              </a:lnRef>
              <a:fillRef idx="1">
                <a:schemeClr val="lt1"/>
              </a:fillRef>
              <a:effectRef idx="0">
                <a:schemeClr val="accent5"/>
              </a:effectRef>
              <a:fontRef idx="minor">
                <a:schemeClr val="dk1"/>
              </a:fontRef>
            </p:style>
            <p:txBody>
              <a:bodyPr anchor="ctr"/>
              <a:lstStyle/>
              <a:p>
                <a:pPr algn="ctr">
                  <a:defRPr/>
                </a:pPr>
                <a:endParaRPr kumimoji="1" lang="zh-CN" altLang="en-US" sz="2100"/>
              </a:p>
            </p:txBody>
          </p:sp>
          <p:sp>
            <p:nvSpPr>
              <p:cNvPr id="8" name="椭圆 7"/>
              <p:cNvSpPr/>
              <p:nvPr/>
            </p:nvSpPr>
            <p:spPr>
              <a:xfrm>
                <a:off x="11138" y="5344"/>
                <a:ext cx="920" cy="433"/>
              </a:xfrm>
              <a:prstGeom prst="ellipse">
                <a:avLst/>
              </a:prstGeom>
              <a:noFill/>
              <a:ln w="28575">
                <a:solidFill>
                  <a:srgbClr val="CC0099"/>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sz="2100"/>
              </a:p>
            </p:txBody>
          </p:sp>
          <p:sp>
            <p:nvSpPr>
              <p:cNvPr id="9" name="椭圆 8"/>
              <p:cNvSpPr/>
              <p:nvPr/>
            </p:nvSpPr>
            <p:spPr>
              <a:xfrm>
                <a:off x="12165" y="6670"/>
                <a:ext cx="916" cy="437"/>
              </a:xfrm>
              <a:prstGeom prst="ellipse">
                <a:avLst/>
              </a:prstGeom>
              <a:noFill/>
              <a:ln w="28575">
                <a:solidFill>
                  <a:srgbClr val="CC0099"/>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sz="2100"/>
              </a:p>
            </p:txBody>
          </p:sp>
          <p:sp>
            <p:nvSpPr>
              <p:cNvPr id="33808" name="文本框 9"/>
              <p:cNvSpPr txBox="1"/>
              <p:nvPr/>
            </p:nvSpPr>
            <p:spPr>
              <a:xfrm>
                <a:off x="12531" y="7052"/>
                <a:ext cx="1492" cy="1352"/>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endParaRPr lang="zh-CN" altLang="en-US" sz="3600" dirty="0">
                  <a:solidFill>
                    <a:srgbClr val="FF0000"/>
                  </a:solidFill>
                  <a:latin typeface="Gulim" panose="020B0600000101010101" pitchFamily="34" charset="-127"/>
                  <a:ea typeface="Gulim" panose="020B0600000101010101" pitchFamily="34" charset="-127"/>
                </a:endParaRPr>
              </a:p>
            </p:txBody>
          </p:sp>
        </p:grpSp>
        <p:sp>
          <p:nvSpPr>
            <p:cNvPr id="33802" name="文本框 18"/>
            <p:cNvSpPr txBox="1"/>
            <p:nvPr/>
          </p:nvSpPr>
          <p:spPr>
            <a:xfrm>
              <a:off x="12661" y="6995"/>
              <a:ext cx="1225" cy="1352"/>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3600" dirty="0">
                  <a:solidFill>
                    <a:srgbClr val="FF0000"/>
                  </a:solidFill>
                  <a:latin typeface="Gulim" panose="020B0600000101010101" pitchFamily="34" charset="-127"/>
                  <a:ea typeface="Gulim" panose="020B0600000101010101" pitchFamily="34" charset="-127"/>
                </a:rPr>
                <a:t>✔️</a:t>
              </a:r>
            </a:p>
          </p:txBody>
        </p:sp>
      </p:grpSp>
      <p:sp>
        <p:nvSpPr>
          <p:cNvPr id="12" name="文本框 11"/>
          <p:cNvSpPr txBox="1"/>
          <p:nvPr/>
        </p:nvSpPr>
        <p:spPr>
          <a:xfrm>
            <a:off x="1578385" y="845038"/>
            <a:ext cx="4768569" cy="2677656"/>
          </a:xfrm>
          <a:prstGeom prst="rect">
            <a:avLst/>
          </a:prstGeom>
          <a:ln w="28575">
            <a:noFill/>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0000"/>
              </a:lnSpc>
              <a:defRPr/>
            </a:pPr>
            <a:r>
              <a:rPr kumimoji="1" lang="zh-CN" altLang="en-US" sz="2000" b="1" dirty="0">
                <a:solidFill>
                  <a:srgbClr val="CC0099"/>
                </a:solidFill>
                <a:latin typeface="微软雅黑" panose="020B0503020204020204" pitchFamily="34" charset="-122"/>
                <a:ea typeface="微软雅黑" panose="020B0503020204020204" pitchFamily="34" charset="-122"/>
              </a:rPr>
              <a:t>构建</a:t>
            </a:r>
            <a:r>
              <a:rPr kumimoji="1" sz="2000" b="1" dirty="0" err="1">
                <a:solidFill>
                  <a:srgbClr val="CC0099"/>
                </a:solidFill>
                <a:latin typeface="微软雅黑" panose="020B0503020204020204" pitchFamily="34" charset="-122"/>
                <a:ea typeface="微软雅黑" panose="020B0503020204020204" pitchFamily="34" charset="-122"/>
              </a:rPr>
              <a:t>决策树</a:t>
            </a:r>
            <a:endParaRPr kumimoji="1" lang="en-US" sz="2000" dirty="0">
              <a:latin typeface="微软雅黑" panose="020B0503020204020204" pitchFamily="34" charset="-122"/>
              <a:ea typeface="微软雅黑" panose="020B0503020204020204" pitchFamily="34" charset="-122"/>
            </a:endParaRPr>
          </a:p>
          <a:p>
            <a:pPr>
              <a:lnSpc>
                <a:spcPct val="120000"/>
              </a:lnSpc>
              <a:defRPr/>
            </a:pPr>
            <a:r>
              <a:rPr kumimoji="1" lang="en-US" altLang="zh-CN" sz="2000" dirty="0">
                <a:latin typeface="微软雅黑" panose="020B0503020204020204" pitchFamily="34" charset="-122"/>
                <a:ea typeface="微软雅黑" panose="020B0503020204020204" pitchFamily="34" charset="-122"/>
              </a:rPr>
              <a:t>1. </a:t>
            </a:r>
            <a:r>
              <a:rPr kumimoji="1" lang="zh-CN" altLang="en-US" sz="2000" dirty="0">
                <a:latin typeface="微软雅黑" panose="020B0503020204020204" pitchFamily="34" charset="-122"/>
                <a:ea typeface="微软雅黑" panose="020B0503020204020204" pitchFamily="34" charset="-122"/>
              </a:rPr>
              <a:t>特征选择：选取对训练数据具有分类能力的特征。</a:t>
            </a:r>
            <a:endParaRPr kumimoji="1" lang="en-US" altLang="zh-CN" sz="2000" dirty="0">
              <a:latin typeface="微软雅黑" panose="020B0503020204020204" pitchFamily="34" charset="-122"/>
              <a:ea typeface="微软雅黑" panose="020B0503020204020204" pitchFamily="34" charset="-122"/>
            </a:endParaRPr>
          </a:p>
          <a:p>
            <a:pPr>
              <a:lnSpc>
                <a:spcPct val="120000"/>
              </a:lnSpc>
              <a:defRPr/>
            </a:pPr>
            <a:r>
              <a:rPr kumimoji="1" lang="en-US" altLang="zh-CN" sz="2000" dirty="0">
                <a:latin typeface="微软雅黑" panose="020B0503020204020204" pitchFamily="34" charset="-122"/>
                <a:ea typeface="微软雅黑" panose="020B0503020204020204" pitchFamily="34" charset="-122"/>
              </a:rPr>
              <a:t>2. </a:t>
            </a:r>
            <a:r>
              <a:rPr kumimoji="1" lang="zh-CN" altLang="en-US" sz="2000" dirty="0">
                <a:latin typeface="微软雅黑" panose="020B0503020204020204" pitchFamily="34" charset="-122"/>
                <a:ea typeface="微软雅黑" panose="020B0503020204020204" pitchFamily="34" charset="-122"/>
              </a:rPr>
              <a:t>决策树生成：在决策树各个点上</a:t>
            </a:r>
            <a:r>
              <a:rPr kumimoji="1" lang="zh-CN" altLang="en-US" sz="2000" dirty="0">
                <a:solidFill>
                  <a:srgbClr val="FF0000"/>
                </a:solidFill>
                <a:latin typeface="微软雅黑" panose="020B0503020204020204" pitchFamily="34" charset="-122"/>
                <a:ea typeface="微软雅黑" panose="020B0503020204020204" pitchFamily="34" charset="-122"/>
              </a:rPr>
              <a:t>按照一定顺序选择属性</a:t>
            </a:r>
            <a:r>
              <a:rPr kumimoji="1" lang="zh-CN" altLang="en-US" sz="2000" dirty="0">
                <a:latin typeface="微软雅黑" panose="020B0503020204020204" pitchFamily="34" charset="-122"/>
                <a:ea typeface="微软雅黑" panose="020B0503020204020204" pitchFamily="34" charset="-122"/>
              </a:rPr>
              <a:t>，递归构建决策树。</a:t>
            </a:r>
            <a:endParaRPr kumimoji="1" lang="en-US" altLang="zh-CN" sz="2000" dirty="0">
              <a:latin typeface="微软雅黑" panose="020B0503020204020204" pitchFamily="34" charset="-122"/>
              <a:ea typeface="微软雅黑" panose="020B0503020204020204" pitchFamily="34" charset="-122"/>
            </a:endParaRPr>
          </a:p>
          <a:p>
            <a:pPr>
              <a:lnSpc>
                <a:spcPct val="120000"/>
              </a:lnSpc>
              <a:defRPr/>
            </a:pPr>
            <a:r>
              <a:rPr kumimoji="1" lang="en-US" altLang="zh-CN" sz="2000" dirty="0">
                <a:latin typeface="微软雅黑" panose="020B0503020204020204" pitchFamily="34" charset="-122"/>
                <a:ea typeface="微软雅黑" panose="020B0503020204020204" pitchFamily="34" charset="-122"/>
              </a:rPr>
              <a:t>3. </a:t>
            </a:r>
            <a:r>
              <a:rPr kumimoji="1" lang="zh-CN" altLang="en-US" sz="2000" dirty="0">
                <a:latin typeface="微软雅黑" panose="020B0503020204020204" pitchFamily="34" charset="-122"/>
                <a:ea typeface="微软雅黑" panose="020B0503020204020204" pitchFamily="34" charset="-122"/>
              </a:rPr>
              <a:t>决策树剪枝：在已生成的树上减掉一些子树或者叶节点，从而简化分类树模型</a:t>
            </a:r>
            <a:endParaRPr kumimoji="1" sz="2000" dirty="0">
              <a:latin typeface="微软雅黑" panose="020B0503020204020204" pitchFamily="34" charset="-122"/>
              <a:ea typeface="微软雅黑" panose="020B0503020204020204" pitchFamily="34" charset="-122"/>
            </a:endParaRPr>
          </a:p>
        </p:txBody>
      </p:sp>
      <p:sp>
        <p:nvSpPr>
          <p:cNvPr id="5" name="矩形 4"/>
          <p:cNvSpPr/>
          <p:nvPr/>
        </p:nvSpPr>
        <p:spPr>
          <a:xfrm>
            <a:off x="6475736" y="1929927"/>
            <a:ext cx="3841866" cy="923330"/>
          </a:xfrm>
          <a:prstGeom prst="rect">
            <a:avLst/>
          </a:prstGeom>
          <a:solidFill>
            <a:srgbClr val="F2FFFB"/>
          </a:solidFill>
          <a:ln w="19050">
            <a:solidFill>
              <a:schemeClr val="accent6"/>
            </a:solidFill>
            <a:prstDash val="sysDash"/>
          </a:ln>
        </p:spPr>
        <p:txBody>
          <a:bodyPr wrap="square">
            <a:spAutoFit/>
          </a:bodyPr>
          <a:lstStyle/>
          <a:p>
            <a:pPr fontAlgn="auto">
              <a:defRPr/>
            </a:pPr>
            <a:r>
              <a:rPr kumimoji="1" lang="zh-CN" altLang="en-US" sz="1800" b="1" dirty="0">
                <a:latin typeface="微软雅黑" panose="020B0503020204020204" pitchFamily="34" charset="-122"/>
                <a:ea typeface="微软雅黑" panose="020B0503020204020204" pitchFamily="34" charset="-122"/>
              </a:rPr>
              <a:t>示例：</a:t>
            </a:r>
            <a:r>
              <a:rPr kumimoji="1" sz="1800" dirty="0" err="1">
                <a:latin typeface="微软雅黑" panose="020B0503020204020204" pitchFamily="34" charset="-122"/>
                <a:ea typeface="微软雅黑" panose="020B0503020204020204" pitchFamily="34" charset="-122"/>
              </a:rPr>
              <a:t>假如我买了一个西瓜，它的特点是</a:t>
            </a:r>
            <a:r>
              <a:rPr kumimoji="1" sz="1800" b="1" dirty="0" err="1">
                <a:solidFill>
                  <a:srgbClr val="0070C0"/>
                </a:solidFill>
                <a:latin typeface="微软雅黑" panose="020B0503020204020204" pitchFamily="34" charset="-122"/>
                <a:ea typeface="微软雅黑" panose="020B0503020204020204" pitchFamily="34" charset="-122"/>
              </a:rPr>
              <a:t>纹理清晰</a:t>
            </a:r>
            <a:r>
              <a:rPr kumimoji="1" lang="zh-CN" altLang="en-US" sz="1800" b="1" dirty="0">
                <a:solidFill>
                  <a:srgbClr val="0070C0"/>
                </a:solidFill>
                <a:latin typeface="微软雅黑" panose="020B0503020204020204" pitchFamily="34" charset="-122"/>
                <a:ea typeface="微软雅黑" panose="020B0503020204020204" pitchFamily="34" charset="-122"/>
              </a:rPr>
              <a:t>、</a:t>
            </a:r>
            <a:r>
              <a:rPr kumimoji="1" sz="1800" b="1" dirty="0">
                <a:solidFill>
                  <a:srgbClr val="0070C0"/>
                </a:solidFill>
                <a:latin typeface="微软雅黑" panose="020B0503020204020204" pitchFamily="34" charset="-122"/>
                <a:ea typeface="微软雅黑" panose="020B0503020204020204" pitchFamily="34" charset="-122"/>
              </a:rPr>
              <a:t>根蒂硬挺</a:t>
            </a:r>
            <a:r>
              <a:rPr kumimoji="1" sz="1800" dirty="0">
                <a:latin typeface="微软雅黑" panose="020B0503020204020204" pitchFamily="34" charset="-122"/>
                <a:ea typeface="微软雅黑" panose="020B0503020204020204" pitchFamily="34" charset="-122"/>
              </a:rPr>
              <a:t>，</a:t>
            </a:r>
            <a:r>
              <a:rPr kumimoji="1" lang="zh-CN" altLang="en-US" sz="1800" dirty="0">
                <a:latin typeface="微软雅黑" panose="020B0503020204020204" pitchFamily="34" charset="-122"/>
                <a:ea typeface="微软雅黑" panose="020B0503020204020204" pitchFamily="34" charset="-122"/>
              </a:rPr>
              <a:t>如何根据决策树</a:t>
            </a:r>
            <a:r>
              <a:rPr kumimoji="1" sz="1800" dirty="0">
                <a:latin typeface="微软雅黑" panose="020B0503020204020204" pitchFamily="34" charset="-122"/>
                <a:ea typeface="微软雅黑" panose="020B0503020204020204" pitchFamily="34" charset="-122"/>
              </a:rPr>
              <a:t>判断是好瓜还是坏瓜</a:t>
            </a:r>
            <a:r>
              <a:rPr kumimoji="1" lang="zh-CN" altLang="en-US" sz="1800" dirty="0">
                <a:latin typeface="微软雅黑" panose="020B0503020204020204" pitchFamily="34" charset="-122"/>
                <a:ea typeface="微软雅黑" panose="020B0503020204020204" pitchFamily="34" charset="-122"/>
              </a:rPr>
              <a:t>？</a:t>
            </a:r>
          </a:p>
        </p:txBody>
      </p:sp>
      <p:sp>
        <p:nvSpPr>
          <p:cNvPr id="21" name="文本框 20"/>
          <p:cNvSpPr txBox="1"/>
          <p:nvPr/>
        </p:nvSpPr>
        <p:spPr>
          <a:xfrm>
            <a:off x="1559497" y="5414912"/>
            <a:ext cx="4429125" cy="707886"/>
          </a:xfrm>
          <a:prstGeom prst="rect">
            <a:avLst/>
          </a:prstGeom>
          <a:noFill/>
        </p:spPr>
        <p:txBody>
          <a:bodyPr>
            <a:spAutoFit/>
          </a:bodyPr>
          <a:lstStyle/>
          <a:p>
            <a:pPr marL="257175" indent="-257175">
              <a:buFont typeface="Wingdings" panose="05000000000000000000" pitchFamily="2" charset="2"/>
              <a:buChar char="l"/>
              <a:defRPr/>
            </a:pPr>
            <a:r>
              <a:rPr kumimoji="1" lang="zh-CN" altLang="en-US" sz="2000" b="1" dirty="0">
                <a:solidFill>
                  <a:srgbClr val="CC0099"/>
                </a:solidFill>
                <a:latin typeface="微软雅黑" panose="020B0503020204020204" pitchFamily="34" charset="-122"/>
                <a:ea typeface="微软雅黑" panose="020B0503020204020204" pitchFamily="34" charset="-122"/>
                <a:sym typeface="+mn-ea"/>
              </a:rPr>
              <a:t>核心算法</a:t>
            </a:r>
            <a:r>
              <a:rPr kumimoji="1" lang="zh-CN" altLang="en-US" sz="2000" dirty="0">
                <a:latin typeface="微软雅黑" panose="020B0503020204020204" pitchFamily="34" charset="-122"/>
                <a:ea typeface="微软雅黑" panose="020B0503020204020204" pitchFamily="34" charset="-122"/>
                <a:sym typeface="+mn-ea"/>
              </a:rPr>
              <a:t>：</a:t>
            </a:r>
          </a:p>
          <a:p>
            <a:pPr>
              <a:defRPr/>
            </a:pPr>
            <a:r>
              <a:rPr kumimoji="1" lang="zh-CN" altLang="en-US" sz="2000" dirty="0">
                <a:latin typeface="微软雅黑" panose="020B0503020204020204" pitchFamily="34" charset="-122"/>
                <a:ea typeface="微软雅黑" panose="020B0503020204020204" pitchFamily="34" charset="-122"/>
                <a:sym typeface="+mn-ea"/>
              </a:rPr>
              <a:t>      </a:t>
            </a:r>
            <a:r>
              <a:rPr kumimoji="1" lang="en-US" altLang="zh-CN" sz="2000" dirty="0">
                <a:latin typeface="微软雅黑" panose="020B0503020204020204" pitchFamily="34" charset="-122"/>
                <a:ea typeface="微软雅黑" panose="020B0503020204020204" pitchFamily="34" charset="-122"/>
                <a:sym typeface="+mn-ea"/>
              </a:rPr>
              <a:t>ID3</a:t>
            </a:r>
            <a:r>
              <a:rPr kumimoji="1" lang="zh-CN" altLang="en-US" sz="2000" dirty="0">
                <a:latin typeface="微软雅黑" panose="020B0503020204020204" pitchFamily="34" charset="-122"/>
                <a:ea typeface="微软雅黑" panose="020B0503020204020204" pitchFamily="34" charset="-122"/>
                <a:sym typeface="+mn-ea"/>
              </a:rPr>
              <a:t>算法，</a:t>
            </a:r>
            <a:r>
              <a:rPr kumimoji="1" lang="en-US" altLang="zh-CN" sz="2000" dirty="0">
                <a:latin typeface="微软雅黑" panose="020B0503020204020204" pitchFamily="34" charset="-122"/>
                <a:ea typeface="微软雅黑" panose="020B0503020204020204" pitchFamily="34" charset="-122"/>
                <a:sym typeface="+mn-ea"/>
              </a:rPr>
              <a:t>C4.5</a:t>
            </a:r>
            <a:r>
              <a:rPr kumimoji="1" lang="zh-CN" altLang="en-US" sz="2000" dirty="0">
                <a:latin typeface="微软雅黑" panose="020B0503020204020204" pitchFamily="34" charset="-122"/>
                <a:ea typeface="微软雅黑" panose="020B0503020204020204" pitchFamily="34" charset="-122"/>
                <a:sym typeface="+mn-ea"/>
              </a:rPr>
              <a:t>算法及</a:t>
            </a:r>
            <a:r>
              <a:rPr kumimoji="1" lang="en-US" altLang="zh-CN" sz="2000" dirty="0">
                <a:latin typeface="微软雅黑" panose="020B0503020204020204" pitchFamily="34" charset="-122"/>
                <a:ea typeface="微软雅黑" panose="020B0503020204020204" pitchFamily="34" charset="-122"/>
                <a:sym typeface="+mn-ea"/>
              </a:rPr>
              <a:t>CART</a:t>
            </a:r>
            <a:r>
              <a:rPr kumimoji="1" lang="zh-CN" altLang="en-US" sz="2000" dirty="0">
                <a:latin typeface="微软雅黑" panose="020B0503020204020204" pitchFamily="34" charset="-122"/>
                <a:ea typeface="微软雅黑" panose="020B0503020204020204" pitchFamily="34" charset="-122"/>
                <a:sym typeface="+mn-ea"/>
              </a:rPr>
              <a:t>算法</a:t>
            </a:r>
          </a:p>
        </p:txBody>
      </p:sp>
      <p:sp>
        <p:nvSpPr>
          <p:cNvPr id="16" name="Rectangle 2"/>
          <p:cNvSpPr txBox="1">
            <a:spLocks noChangeArrowheads="1"/>
          </p:cNvSpPr>
          <p:nvPr/>
        </p:nvSpPr>
        <p:spPr>
          <a:xfrm>
            <a:off x="2209800" y="69850"/>
            <a:ext cx="7772400" cy="731838"/>
          </a:xfrm>
          <a:prstGeom prst="rect">
            <a:avLst/>
          </a:prstGeom>
        </p:spPr>
        <p:txBody>
          <a:bodyP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zh-CN" altLang="en-US" b="1">
                <a:solidFill>
                  <a:schemeClr val="tx1"/>
                </a:solidFill>
                <a:effectLst>
                  <a:outerShdw blurRad="38100" dist="38100" dir="2700000" algn="tl">
                    <a:srgbClr val="C0C0C0"/>
                  </a:outerShdw>
                </a:effectLst>
              </a:rPr>
              <a:t>决策树</a:t>
            </a:r>
            <a:endParaRPr lang="en-US" altLang="zh-CN" b="1" dirty="0">
              <a:solidFill>
                <a:schemeClr val="tx1"/>
              </a:solidFill>
              <a:effectLst>
                <a:outerShdw blurRad="38100" dist="38100" dir="2700000" algn="tl">
                  <a:srgbClr val="C0C0C0"/>
                </a:outerShdw>
              </a:effectLst>
            </a:endParaRPr>
          </a:p>
        </p:txBody>
      </p:sp>
      <p:sp>
        <p:nvSpPr>
          <p:cNvPr id="2" name="矩形 1"/>
          <p:cNvSpPr/>
          <p:nvPr/>
        </p:nvSpPr>
        <p:spPr>
          <a:xfrm>
            <a:off x="1634912" y="3548678"/>
            <a:ext cx="4572000" cy="1631216"/>
          </a:xfrm>
          <a:prstGeom prst="rect">
            <a:avLst/>
          </a:prstGeom>
        </p:spPr>
        <p:txBody>
          <a:bodyPr>
            <a:spAutoFit/>
          </a:bodyPr>
          <a:lstStyle/>
          <a:p>
            <a:pPr lvl="0" fontAlgn="auto">
              <a:lnSpc>
                <a:spcPct val="125000"/>
              </a:lnSpc>
              <a:defRPr/>
            </a:pPr>
            <a:r>
              <a:rPr kumimoji="1" lang="zh-CN" altLang="en-US" sz="2000" b="1" dirty="0">
                <a:solidFill>
                  <a:srgbClr val="CC0099"/>
                </a:solidFill>
                <a:latin typeface="微软雅黑" panose="020B0503020204020204" pitchFamily="34" charset="-122"/>
                <a:ea typeface="微软雅黑" panose="020B0503020204020204" pitchFamily="34" charset="-122"/>
              </a:rPr>
              <a:t>决策过程</a:t>
            </a:r>
            <a:r>
              <a:rPr kumimoji="1" lang="zh-CN" altLang="en-US" sz="2000" b="1" dirty="0">
                <a:latin typeface="微软雅黑" panose="020B0503020204020204" pitchFamily="34" charset="-122"/>
                <a:ea typeface="微软雅黑" panose="020B0503020204020204" pitchFamily="34" charset="-122"/>
              </a:rPr>
              <a:t>：</a:t>
            </a:r>
            <a:r>
              <a:rPr kumimoji="1" lang="zh-CN" altLang="en-US" sz="2000" dirty="0">
                <a:latin typeface="微软雅黑" panose="020B0503020204020204" pitchFamily="34" charset="-122"/>
                <a:ea typeface="微软雅黑" panose="020B0503020204020204" pitchFamily="34" charset="-122"/>
              </a:rPr>
              <a:t>从根节点开始，测试输入样本相应的特征属性，并按照其值选择输出分支，直到到达叶子节点，将叶子节点存放的类别作为决策结果。</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2783633" y="385361"/>
            <a:ext cx="2807147" cy="523220"/>
          </a:xfrm>
          <a:prstGeom prst="rect">
            <a:avLst/>
          </a:prstGeom>
        </p:spPr>
        <p:txBody>
          <a:bodyPr wrap="square">
            <a:spAutoFit/>
          </a:bodyPr>
          <a:lstStyle/>
          <a:p>
            <a:r>
              <a:rPr lang="zh-CN" altLang="en-US" b="1" dirty="0">
                <a:latin typeface="微软雅黑" panose="020B0503020204020204" pitchFamily="34" charset="-122"/>
                <a:ea typeface="微软雅黑" panose="020B0503020204020204" pitchFamily="34" charset="-122"/>
              </a:rPr>
              <a:t>决策树属性选择</a:t>
            </a:r>
          </a:p>
        </p:txBody>
      </p:sp>
      <p:sp>
        <p:nvSpPr>
          <p:cNvPr id="6" name="矩形 5"/>
          <p:cNvSpPr/>
          <p:nvPr/>
        </p:nvSpPr>
        <p:spPr>
          <a:xfrm>
            <a:off x="1852323" y="2826711"/>
            <a:ext cx="5753230" cy="3447098"/>
          </a:xfrm>
          <a:prstGeom prst="rect">
            <a:avLst/>
          </a:prstGeom>
        </p:spPr>
        <p:txBody>
          <a:bodyPr wrap="square">
            <a:spAutoFit/>
          </a:bodyPr>
          <a:lstStyle/>
          <a:p>
            <a:pPr lvl="0">
              <a:lnSpc>
                <a:spcPct val="125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信息熵：</a:t>
            </a:r>
            <a:r>
              <a:rPr lang="zh-CN" altLang="en-US" sz="2000" dirty="0">
                <a:latin typeface="微软雅黑" panose="020B0503020204020204" pitchFamily="34" charset="-122"/>
                <a:ea typeface="微软雅黑" panose="020B0503020204020204" pitchFamily="34" charset="-122"/>
              </a:rPr>
              <a:t>表示随机变量的不确定性，熵越大不确定性越大。</a:t>
            </a:r>
            <a:endParaRPr lang="en-US" altLang="zh-CN" sz="2000" dirty="0">
              <a:latin typeface="微软雅黑" panose="020B0503020204020204" pitchFamily="34" charset="-122"/>
              <a:ea typeface="微软雅黑" panose="020B0503020204020204" pitchFamily="34" charset="-122"/>
            </a:endParaRPr>
          </a:p>
          <a:p>
            <a:pPr eaLnBrk="1" hangingPunct="1">
              <a:lnSpc>
                <a:spcPct val="120000"/>
              </a:lnSpc>
              <a:spcBef>
                <a:spcPct val="30000"/>
              </a:spcBef>
            </a:pPr>
            <a:endParaRPr lang="en-US" altLang="zh-CN" sz="2000" dirty="0">
              <a:latin typeface="Times New Roman" panose="02020603050405020304" pitchFamily="18" charset="0"/>
              <a:ea typeface="微软雅黑" panose="020B0503020204020204" pitchFamily="34" charset="-122"/>
            </a:endParaRPr>
          </a:p>
          <a:p>
            <a:pPr eaLnBrk="1" hangingPunct="1">
              <a:lnSpc>
                <a:spcPct val="120000"/>
              </a:lnSpc>
              <a:spcBef>
                <a:spcPct val="30000"/>
              </a:spcBef>
            </a:pPr>
            <a:endParaRPr lang="en-US" altLang="zh-CN" sz="2000" dirty="0">
              <a:latin typeface="Times New Roman" panose="02020603050405020304" pitchFamily="18" charset="0"/>
              <a:ea typeface="微软雅黑" panose="020B0503020204020204" pitchFamily="34" charset="-122"/>
            </a:endParaRPr>
          </a:p>
          <a:p>
            <a:pPr eaLnBrk="1" hangingPunct="1">
              <a:lnSpc>
                <a:spcPct val="120000"/>
              </a:lnSpc>
              <a:spcBef>
                <a:spcPct val="30000"/>
              </a:spcBef>
            </a:pPr>
            <a:r>
              <a:rPr lang="zh-CN" altLang="en-US" sz="2000" dirty="0">
                <a:latin typeface="Times New Roman" panose="02020603050405020304" pitchFamily="18" charset="0"/>
                <a:ea typeface="微软雅黑" panose="020B0503020204020204" pitchFamily="34" charset="-122"/>
              </a:rPr>
              <a:t>决策树的树根对应于最大熵（</a:t>
            </a:r>
            <a:r>
              <a:rPr lang="zh-CN" altLang="en-US" sz="2000" dirty="0">
                <a:solidFill>
                  <a:srgbClr val="FF0000"/>
                </a:solidFill>
                <a:latin typeface="Times New Roman" panose="02020603050405020304" pitchFamily="18" charset="0"/>
                <a:ea typeface="微软雅黑" panose="020B0503020204020204" pitchFamily="34" charset="-122"/>
              </a:rPr>
              <a:t>最大的不确定状态）</a:t>
            </a:r>
            <a:r>
              <a:rPr lang="zh-CN" altLang="en-US" sz="2000" dirty="0">
                <a:latin typeface="Times New Roman" panose="02020603050405020304" pitchFamily="18" charset="0"/>
                <a:ea typeface="微软雅黑" panose="020B0503020204020204" pitchFamily="34" charset="-122"/>
              </a:rPr>
              <a:t>，表示在分类之前对被分类的对象一无所知</a:t>
            </a:r>
          </a:p>
          <a:p>
            <a:pPr eaLnBrk="1" hangingPunct="1">
              <a:lnSpc>
                <a:spcPct val="120000"/>
              </a:lnSpc>
              <a:spcBef>
                <a:spcPct val="30000"/>
              </a:spcBef>
            </a:pPr>
            <a:r>
              <a:rPr lang="zh-CN" altLang="en-US" sz="2000" dirty="0">
                <a:latin typeface="Times New Roman" panose="02020603050405020304" pitchFamily="18" charset="0"/>
                <a:ea typeface="微软雅黑" panose="020B0503020204020204" pitchFamily="34" charset="-122"/>
              </a:rPr>
              <a:t>分类完成时</a:t>
            </a:r>
            <a:r>
              <a:rPr lang="zh-CN" altLang="en-US" sz="2000" dirty="0">
                <a:solidFill>
                  <a:srgbClr val="FF0000"/>
                </a:solidFill>
                <a:latin typeface="Times New Roman" panose="02020603050405020304" pitchFamily="18" charset="0"/>
                <a:ea typeface="微软雅黑" panose="020B0503020204020204" pitchFamily="34" charset="-122"/>
              </a:rPr>
              <a:t>不确定性为零 </a:t>
            </a:r>
            <a:r>
              <a:rPr lang="en-US" altLang="zh-CN" sz="2000" b="1" dirty="0">
                <a:solidFill>
                  <a:srgbClr val="FF0000"/>
                </a:solidFill>
                <a:latin typeface="Times New Roman" panose="02020603050405020304" pitchFamily="18" charset="0"/>
                <a:ea typeface="微软雅黑" panose="020B0503020204020204" pitchFamily="34" charset="-122"/>
              </a:rPr>
              <a:t>——</a:t>
            </a:r>
            <a:r>
              <a:rPr lang="en-US" altLang="zh-CN" sz="2000" dirty="0">
                <a:solidFill>
                  <a:srgbClr val="FF0000"/>
                </a:solidFill>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要提高决策树的分类效率，就相当于要求</a:t>
            </a:r>
            <a:r>
              <a:rPr lang="zh-CN" altLang="en-US" sz="2000" dirty="0">
                <a:solidFill>
                  <a:srgbClr val="FF0000"/>
                </a:solidFill>
                <a:latin typeface="Times New Roman" panose="02020603050405020304" pitchFamily="18" charset="0"/>
                <a:ea typeface="微软雅黑" panose="020B0503020204020204" pitchFamily="34" charset="-122"/>
              </a:rPr>
              <a:t>熵值下降的更快</a:t>
            </a:r>
            <a:endParaRPr lang="en-US" altLang="zh-CN" sz="2000" b="1" dirty="0">
              <a:solidFill>
                <a:srgbClr val="0070C0"/>
              </a:solidFill>
              <a:latin typeface="微软雅黑" panose="020B0503020204020204" pitchFamily="34" charset="-122"/>
              <a:ea typeface="微软雅黑" panose="020B0503020204020204" pitchFamily="34" charset="-122"/>
              <a:sym typeface="+mn-ea"/>
            </a:endParaRPr>
          </a:p>
        </p:txBody>
      </p:sp>
      <p:sp>
        <p:nvSpPr>
          <p:cNvPr id="7" name="椭圆 6"/>
          <p:cNvSpPr/>
          <p:nvPr/>
        </p:nvSpPr>
        <p:spPr>
          <a:xfrm>
            <a:off x="7690738" y="3586034"/>
            <a:ext cx="911697" cy="302216"/>
          </a:xfrm>
          <a:prstGeom prst="ellipse">
            <a:avLst/>
          </a:prstGeom>
          <a:solidFill>
            <a:srgbClr val="BDC1F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A</a:t>
            </a:r>
            <a:endPar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圆角矩形 8"/>
          <p:cNvSpPr/>
          <p:nvPr/>
        </p:nvSpPr>
        <p:spPr>
          <a:xfrm>
            <a:off x="8787907" y="2704556"/>
            <a:ext cx="864092" cy="436867"/>
          </a:xfrm>
          <a:prstGeom prst="roundRect">
            <a:avLst/>
          </a:prstGeom>
          <a:solidFill>
            <a:srgbClr val="0099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年龄</a:t>
            </a:r>
          </a:p>
        </p:txBody>
      </p:sp>
      <p:sp>
        <p:nvSpPr>
          <p:cNvPr id="44" name="椭圆 43"/>
          <p:cNvSpPr/>
          <p:nvPr/>
        </p:nvSpPr>
        <p:spPr>
          <a:xfrm>
            <a:off x="8808941" y="3581748"/>
            <a:ext cx="871939" cy="302216"/>
          </a:xfrm>
          <a:prstGeom prst="ellipse">
            <a:avLst/>
          </a:prstGeom>
          <a:solidFill>
            <a:srgbClr val="BDC1F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B</a:t>
            </a:r>
            <a:endPar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 name="椭圆 44"/>
          <p:cNvSpPr/>
          <p:nvPr/>
        </p:nvSpPr>
        <p:spPr>
          <a:xfrm>
            <a:off x="9786258" y="3535817"/>
            <a:ext cx="846246" cy="302216"/>
          </a:xfrm>
          <a:prstGeom prst="ellipse">
            <a:avLst/>
          </a:prstGeom>
          <a:solidFill>
            <a:srgbClr val="BDC1F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C</a:t>
            </a:r>
            <a:endPar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矩形 10"/>
          <p:cNvSpPr/>
          <p:nvPr/>
        </p:nvSpPr>
        <p:spPr>
          <a:xfrm>
            <a:off x="1754202" y="1052038"/>
            <a:ext cx="8848984" cy="1631216"/>
          </a:xfrm>
          <a:prstGeom prst="rect">
            <a:avLst/>
          </a:prstGeom>
        </p:spPr>
        <p:txBody>
          <a:bodyPr wrap="square">
            <a:spAutoFit/>
          </a:bodyPr>
          <a:lstStyle/>
          <a:p>
            <a:pPr>
              <a:lnSpc>
                <a:spcPct val="125000"/>
              </a:lnSpc>
            </a:pPr>
            <a:r>
              <a:rPr lang="zh-CN" altLang="en-US" sz="2000" dirty="0">
                <a:latin typeface="微软雅黑" panose="020B0503020204020204" pitchFamily="34" charset="-122"/>
                <a:ea typeface="微软雅黑" panose="020B0503020204020204" pitchFamily="34" charset="-122"/>
              </a:rPr>
              <a:t>决策树中的每个节点都代表一定的属性，这些属性如何在决策树中排布决定了决策树的学习效率。</a:t>
            </a:r>
            <a:endParaRPr lang="en-US" altLang="zh-CN"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属性选择方案的目标是为了</a:t>
            </a:r>
            <a:r>
              <a:rPr lang="zh-CN" altLang="en-US" sz="2000" dirty="0">
                <a:solidFill>
                  <a:srgbClr val="FF0000"/>
                </a:solidFill>
                <a:latin typeface="微软雅黑" panose="020B0503020204020204" pitchFamily="34" charset="-122"/>
                <a:ea typeface="微软雅黑" panose="020B0503020204020204" pitchFamily="34" charset="-122"/>
              </a:rPr>
              <a:t>最小化最终树的深度</a:t>
            </a:r>
            <a:r>
              <a:rPr lang="zh-CN" altLang="en-US" sz="2000" dirty="0">
                <a:latin typeface="微软雅黑" panose="020B0503020204020204" pitchFamily="34" charset="-122"/>
                <a:ea typeface="微软雅黑" panose="020B0503020204020204" pitchFamily="34" charset="-122"/>
              </a:rPr>
              <a:t>，从而使用尽可能少的判断步骤来分类某个样本</a:t>
            </a:r>
          </a:p>
        </p:txBody>
      </p:sp>
      <p:sp>
        <p:nvSpPr>
          <p:cNvPr id="46" name="圆角矩形 45"/>
          <p:cNvSpPr/>
          <p:nvPr/>
        </p:nvSpPr>
        <p:spPr>
          <a:xfrm>
            <a:off x="8343000" y="4690596"/>
            <a:ext cx="1726267" cy="435696"/>
          </a:xfrm>
          <a:prstGeom prst="roundRect">
            <a:avLst/>
          </a:prstGeom>
          <a:solidFill>
            <a:srgbClr val="0099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是否有工作</a:t>
            </a:r>
          </a:p>
        </p:txBody>
      </p:sp>
      <p:sp>
        <p:nvSpPr>
          <p:cNvPr id="47" name="椭圆 46"/>
          <p:cNvSpPr/>
          <p:nvPr/>
        </p:nvSpPr>
        <p:spPr>
          <a:xfrm>
            <a:off x="8011102" y="5565866"/>
            <a:ext cx="978044" cy="302216"/>
          </a:xfrm>
          <a:prstGeom prst="ellipse">
            <a:avLst/>
          </a:prstGeom>
          <a:solidFill>
            <a:srgbClr val="BDC1F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A</a:t>
            </a:r>
            <a:endPar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椭圆 47"/>
          <p:cNvSpPr/>
          <p:nvPr/>
        </p:nvSpPr>
        <p:spPr>
          <a:xfrm>
            <a:off x="9194926" y="5565866"/>
            <a:ext cx="973448" cy="302216"/>
          </a:xfrm>
          <a:prstGeom prst="ellipse">
            <a:avLst/>
          </a:prstGeom>
          <a:solidFill>
            <a:srgbClr val="BDC1F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B</a:t>
            </a:r>
            <a:endPar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3" name="直接箭头连接符 12"/>
          <p:cNvCxnSpPr>
            <a:stCxn id="9" idx="2"/>
            <a:endCxn id="56" idx="2"/>
          </p:cNvCxnSpPr>
          <p:nvPr/>
        </p:nvCxnSpPr>
        <p:spPr>
          <a:xfrm flipH="1">
            <a:off x="8330173" y="3141423"/>
            <a:ext cx="889780" cy="410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9" idx="2"/>
            <a:endCxn id="44" idx="0"/>
          </p:cNvCxnSpPr>
          <p:nvPr/>
        </p:nvCxnSpPr>
        <p:spPr>
          <a:xfrm>
            <a:off x="9219954" y="3141422"/>
            <a:ext cx="24957" cy="440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9" idx="2"/>
            <a:endCxn id="45" idx="0"/>
          </p:cNvCxnSpPr>
          <p:nvPr/>
        </p:nvCxnSpPr>
        <p:spPr>
          <a:xfrm>
            <a:off x="9219953" y="3141423"/>
            <a:ext cx="989428" cy="39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46" idx="2"/>
            <a:endCxn id="47" idx="0"/>
          </p:cNvCxnSpPr>
          <p:nvPr/>
        </p:nvCxnSpPr>
        <p:spPr>
          <a:xfrm flipH="1">
            <a:off x="8500125" y="5126292"/>
            <a:ext cx="706009" cy="439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46" idx="2"/>
            <a:endCxn id="48" idx="0"/>
          </p:cNvCxnSpPr>
          <p:nvPr/>
        </p:nvCxnSpPr>
        <p:spPr>
          <a:xfrm>
            <a:off x="9206134" y="5126292"/>
            <a:ext cx="475517" cy="439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8007008" y="3182335"/>
            <a:ext cx="646331" cy="369332"/>
          </a:xfrm>
          <a:prstGeom prst="rect">
            <a:avLst/>
          </a:prstGeom>
        </p:spPr>
        <p:txBody>
          <a:bodyPr wrap="none">
            <a:spAutoFit/>
          </a:bodyPr>
          <a:lstStyle/>
          <a:p>
            <a:r>
              <a:rPr lang="zh-CN" altLang="en-US" sz="1800"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青年</a:t>
            </a:r>
          </a:p>
        </p:txBody>
      </p:sp>
      <p:sp>
        <p:nvSpPr>
          <p:cNvPr id="57" name="矩形 56"/>
          <p:cNvSpPr/>
          <p:nvPr/>
        </p:nvSpPr>
        <p:spPr>
          <a:xfrm>
            <a:off x="8850199" y="3230469"/>
            <a:ext cx="646331" cy="369332"/>
          </a:xfrm>
          <a:prstGeom prst="rect">
            <a:avLst/>
          </a:prstGeom>
        </p:spPr>
        <p:txBody>
          <a:bodyPr wrap="none">
            <a:spAutoFit/>
          </a:bodyPr>
          <a:lstStyle/>
          <a:p>
            <a:r>
              <a:rPr lang="zh-CN" altLang="en-US" sz="1800"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中年</a:t>
            </a:r>
          </a:p>
        </p:txBody>
      </p:sp>
      <p:sp>
        <p:nvSpPr>
          <p:cNvPr id="58" name="矩形 57"/>
          <p:cNvSpPr/>
          <p:nvPr/>
        </p:nvSpPr>
        <p:spPr>
          <a:xfrm>
            <a:off x="9378698" y="3164361"/>
            <a:ext cx="646331" cy="369332"/>
          </a:xfrm>
          <a:prstGeom prst="rect">
            <a:avLst/>
          </a:prstGeom>
        </p:spPr>
        <p:txBody>
          <a:bodyPr wrap="none">
            <a:spAutoFit/>
          </a:bodyPr>
          <a:lstStyle/>
          <a:p>
            <a:r>
              <a:rPr lang="zh-CN" altLang="en-US" sz="1800"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老年</a:t>
            </a:r>
          </a:p>
        </p:txBody>
      </p:sp>
      <p:sp>
        <p:nvSpPr>
          <p:cNvPr id="59" name="矩形 58"/>
          <p:cNvSpPr/>
          <p:nvPr/>
        </p:nvSpPr>
        <p:spPr>
          <a:xfrm>
            <a:off x="8269658" y="5182010"/>
            <a:ext cx="415498" cy="369332"/>
          </a:xfrm>
          <a:prstGeom prst="rect">
            <a:avLst/>
          </a:prstGeom>
        </p:spPr>
        <p:txBody>
          <a:bodyPr wrap="none">
            <a:spAutoFit/>
          </a:bodyPr>
          <a:lstStyle/>
          <a:p>
            <a:r>
              <a:rPr lang="zh-CN" altLang="en-US" sz="1800"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是</a:t>
            </a:r>
          </a:p>
        </p:txBody>
      </p:sp>
      <p:sp>
        <p:nvSpPr>
          <p:cNvPr id="60" name="矩形 59"/>
          <p:cNvSpPr/>
          <p:nvPr/>
        </p:nvSpPr>
        <p:spPr>
          <a:xfrm>
            <a:off x="9159515" y="5190767"/>
            <a:ext cx="534500" cy="369332"/>
          </a:xfrm>
          <a:prstGeom prst="rect">
            <a:avLst/>
          </a:prstGeom>
        </p:spPr>
        <p:txBody>
          <a:bodyPr wrap="square">
            <a:spAutoFit/>
          </a:bodyPr>
          <a:lstStyle/>
          <a:p>
            <a:r>
              <a:rPr lang="zh-CN" altLang="en-US" sz="1800"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否</a:t>
            </a:r>
          </a:p>
        </p:txBody>
      </p:sp>
      <p:sp>
        <p:nvSpPr>
          <p:cNvPr id="3" name="矩形 2"/>
          <p:cNvSpPr/>
          <p:nvPr/>
        </p:nvSpPr>
        <p:spPr>
          <a:xfrm>
            <a:off x="2783632" y="3828850"/>
            <a:ext cx="2294218" cy="430887"/>
          </a:xfrm>
          <a:prstGeom prst="rect">
            <a:avLst/>
          </a:prstGeom>
        </p:spPr>
        <p:txBody>
          <a:bodyPr wrap="none">
            <a:spAutoFit/>
          </a:bodyPr>
          <a:lstStyle/>
          <a:p>
            <a:pPr marL="342900" indent="-342900" eaLnBrk="1" latinLnBrk="1" hangingPunct="1">
              <a:lnSpc>
                <a:spcPct val="110000"/>
              </a:lnSpc>
              <a:spcBef>
                <a:spcPct val="65000"/>
              </a:spcBef>
              <a:defRPr/>
            </a:pPr>
            <a:r>
              <a:rPr lang="en-US" altLang="zh-CN" sz="2000" i="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2000"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i="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aseline="-25000" dirty="0" err="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err="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aseline="-25000" dirty="0" err="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aseline="-25000" dirty="0" err="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aphicFrame>
        <p:nvGraphicFramePr>
          <p:cNvPr id="23" name="Object 5"/>
          <p:cNvGraphicFramePr>
            <a:graphicFrameLocks noChangeAspect="1"/>
          </p:cNvGraphicFramePr>
          <p:nvPr>
            <p:extLst>
              <p:ext uri="{D42A27DB-BD31-4B8C-83A1-F6EECF244321}">
                <p14:modId xmlns:p14="http://schemas.microsoft.com/office/powerpoint/2010/main" val="1823324953"/>
              </p:ext>
            </p:extLst>
          </p:nvPr>
        </p:nvGraphicFramePr>
        <p:xfrm>
          <a:off x="4924531" y="3627748"/>
          <a:ext cx="1594214" cy="808532"/>
        </p:xfrm>
        <a:graphic>
          <a:graphicData uri="http://schemas.openxmlformats.org/presentationml/2006/ole">
            <mc:AlternateContent xmlns:mc="http://schemas.openxmlformats.org/markup-compatibility/2006">
              <mc:Choice xmlns:v="urn:schemas-microsoft-com:vml" Requires="v">
                <p:oleObj r:id="rId3" imgW="850265" imgH="431800" progId="Equation.DSMT4">
                  <p:embed/>
                </p:oleObj>
              </mc:Choice>
              <mc:Fallback>
                <p:oleObj r:id="rId3" imgW="850265" imgH="431800" progId="Equation.DSMT4">
                  <p:embed/>
                  <p:pic>
                    <p:nvPicPr>
                      <p:cNvPr id="0" name=""/>
                      <p:cNvPicPr/>
                      <p:nvPr/>
                    </p:nvPicPr>
                    <p:blipFill>
                      <a:blip r:embed="rId4"/>
                      <a:stretch>
                        <a:fillRect/>
                      </a:stretch>
                    </p:blipFill>
                    <p:spPr>
                      <a:xfrm>
                        <a:off x="4924531" y="3627748"/>
                        <a:ext cx="1594214" cy="808532"/>
                      </a:xfrm>
                      <a:prstGeom prst="rect">
                        <a:avLst/>
                      </a:prstGeom>
                      <a:solidFill>
                        <a:srgbClr val="FFFFFF"/>
                      </a:solidFill>
                      <a:ln w="38100">
                        <a:noFill/>
                        <a:miter/>
                      </a:ln>
                    </p:spPr>
                  </p:pic>
                </p:oleObj>
              </mc:Fallback>
            </mc:AlternateContent>
          </a:graphicData>
        </a:graphic>
      </p:graphicFrame>
    </p:spTree>
    <p:extLst>
      <p:ext uri="{BB962C8B-B14F-4D97-AF65-F5344CB8AC3E}">
        <p14:creationId xmlns:p14="http://schemas.microsoft.com/office/powerpoint/2010/main" val="235622249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3" presetClass="entr" presetSubtype="1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linds(horizont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9"/>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50"/>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51"/>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5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57"/>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5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59"/>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44" grpId="0" animBg="1"/>
      <p:bldP spid="45" grpId="0" animBg="1"/>
      <p:bldP spid="11" grpId="0"/>
      <p:bldP spid="46" grpId="0" animBg="1"/>
      <p:bldP spid="47" grpId="0" animBg="1"/>
      <p:bldP spid="48" grpId="0" animBg="1"/>
      <p:bldP spid="56" grpId="0"/>
      <p:bldP spid="57" grpId="0"/>
      <p:bldP spid="58" grpId="0"/>
      <p:bldP spid="59" grpId="0"/>
      <p:bldP spid="60"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2783633" y="385361"/>
            <a:ext cx="2807147" cy="523220"/>
          </a:xfrm>
          <a:prstGeom prst="rect">
            <a:avLst/>
          </a:prstGeom>
        </p:spPr>
        <p:txBody>
          <a:bodyPr wrap="square">
            <a:spAutoFit/>
          </a:bodyPr>
          <a:lstStyle/>
          <a:p>
            <a:r>
              <a:rPr lang="zh-CN" altLang="en-US" b="1" dirty="0">
                <a:latin typeface="微软雅黑" panose="020B0503020204020204" pitchFamily="34" charset="-122"/>
                <a:ea typeface="微软雅黑" panose="020B0503020204020204" pitchFamily="34" charset="-122"/>
              </a:rPr>
              <a:t>决策树属性选择</a:t>
            </a:r>
          </a:p>
        </p:txBody>
      </p:sp>
      <p:sp>
        <p:nvSpPr>
          <p:cNvPr id="7" name="椭圆 6"/>
          <p:cNvSpPr/>
          <p:nvPr/>
        </p:nvSpPr>
        <p:spPr>
          <a:xfrm>
            <a:off x="7608169" y="2982768"/>
            <a:ext cx="911697" cy="302216"/>
          </a:xfrm>
          <a:prstGeom prst="ellipse">
            <a:avLst/>
          </a:prstGeom>
          <a:solidFill>
            <a:srgbClr val="BDC1F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A</a:t>
            </a:r>
            <a:endPar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圆角矩形 8"/>
          <p:cNvSpPr/>
          <p:nvPr/>
        </p:nvSpPr>
        <p:spPr>
          <a:xfrm>
            <a:off x="8705338" y="2101290"/>
            <a:ext cx="864092" cy="436867"/>
          </a:xfrm>
          <a:prstGeom prst="roundRect">
            <a:avLst/>
          </a:prstGeom>
          <a:solidFill>
            <a:srgbClr val="0099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年龄</a:t>
            </a:r>
          </a:p>
        </p:txBody>
      </p:sp>
      <p:sp>
        <p:nvSpPr>
          <p:cNvPr id="44" name="椭圆 43"/>
          <p:cNvSpPr/>
          <p:nvPr/>
        </p:nvSpPr>
        <p:spPr>
          <a:xfrm>
            <a:off x="8726372" y="2978482"/>
            <a:ext cx="871939" cy="302216"/>
          </a:xfrm>
          <a:prstGeom prst="ellipse">
            <a:avLst/>
          </a:prstGeom>
          <a:solidFill>
            <a:srgbClr val="BDC1F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B</a:t>
            </a:r>
            <a:endPar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 name="椭圆 44"/>
          <p:cNvSpPr/>
          <p:nvPr/>
        </p:nvSpPr>
        <p:spPr>
          <a:xfrm>
            <a:off x="9703689" y="2932551"/>
            <a:ext cx="846246" cy="302216"/>
          </a:xfrm>
          <a:prstGeom prst="ellipse">
            <a:avLst/>
          </a:prstGeom>
          <a:solidFill>
            <a:srgbClr val="BDC1F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C</a:t>
            </a:r>
            <a:endPar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6" name="圆角矩形 45"/>
          <p:cNvSpPr/>
          <p:nvPr/>
        </p:nvSpPr>
        <p:spPr>
          <a:xfrm>
            <a:off x="5689567" y="2107498"/>
            <a:ext cx="1726267" cy="435696"/>
          </a:xfrm>
          <a:prstGeom prst="roundRect">
            <a:avLst/>
          </a:prstGeom>
          <a:solidFill>
            <a:srgbClr val="0099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是否有工作</a:t>
            </a:r>
          </a:p>
        </p:txBody>
      </p:sp>
      <p:sp>
        <p:nvSpPr>
          <p:cNvPr id="47" name="椭圆 46"/>
          <p:cNvSpPr/>
          <p:nvPr/>
        </p:nvSpPr>
        <p:spPr>
          <a:xfrm>
            <a:off x="5357669" y="2982768"/>
            <a:ext cx="978044" cy="302216"/>
          </a:xfrm>
          <a:prstGeom prst="ellipse">
            <a:avLst/>
          </a:prstGeom>
          <a:solidFill>
            <a:srgbClr val="BDC1F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A</a:t>
            </a:r>
            <a:endPar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椭圆 47"/>
          <p:cNvSpPr/>
          <p:nvPr/>
        </p:nvSpPr>
        <p:spPr>
          <a:xfrm>
            <a:off x="6541493" y="2982768"/>
            <a:ext cx="973448" cy="302216"/>
          </a:xfrm>
          <a:prstGeom prst="ellipse">
            <a:avLst/>
          </a:prstGeom>
          <a:solidFill>
            <a:srgbClr val="BDC1F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B</a:t>
            </a:r>
            <a:endParaRPr lang="zh-CN" altLang="en-US" sz="1800" b="1"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3" name="直接箭头连接符 12"/>
          <p:cNvCxnSpPr>
            <a:stCxn id="9" idx="2"/>
            <a:endCxn id="56" idx="2"/>
          </p:cNvCxnSpPr>
          <p:nvPr/>
        </p:nvCxnSpPr>
        <p:spPr>
          <a:xfrm flipH="1">
            <a:off x="8247604" y="2538157"/>
            <a:ext cx="889780" cy="410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9" idx="2"/>
            <a:endCxn id="44" idx="0"/>
          </p:cNvCxnSpPr>
          <p:nvPr/>
        </p:nvCxnSpPr>
        <p:spPr>
          <a:xfrm>
            <a:off x="9137385" y="2538156"/>
            <a:ext cx="24957" cy="440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9" idx="2"/>
            <a:endCxn id="45" idx="0"/>
          </p:cNvCxnSpPr>
          <p:nvPr/>
        </p:nvCxnSpPr>
        <p:spPr>
          <a:xfrm>
            <a:off x="9137384" y="2538157"/>
            <a:ext cx="989428" cy="394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46" idx="2"/>
            <a:endCxn id="47" idx="0"/>
          </p:cNvCxnSpPr>
          <p:nvPr/>
        </p:nvCxnSpPr>
        <p:spPr>
          <a:xfrm flipH="1">
            <a:off x="5846692" y="2543194"/>
            <a:ext cx="706009" cy="439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46" idx="2"/>
            <a:endCxn id="48" idx="0"/>
          </p:cNvCxnSpPr>
          <p:nvPr/>
        </p:nvCxnSpPr>
        <p:spPr>
          <a:xfrm>
            <a:off x="6552701" y="2543194"/>
            <a:ext cx="475517" cy="439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7924439" y="2579069"/>
            <a:ext cx="646331" cy="369332"/>
          </a:xfrm>
          <a:prstGeom prst="rect">
            <a:avLst/>
          </a:prstGeom>
        </p:spPr>
        <p:txBody>
          <a:bodyPr wrap="none">
            <a:spAutoFit/>
          </a:bodyPr>
          <a:lstStyle/>
          <a:p>
            <a:r>
              <a:rPr lang="zh-CN" altLang="en-US" sz="1800"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青年</a:t>
            </a:r>
          </a:p>
        </p:txBody>
      </p:sp>
      <p:sp>
        <p:nvSpPr>
          <p:cNvPr id="57" name="矩形 56"/>
          <p:cNvSpPr/>
          <p:nvPr/>
        </p:nvSpPr>
        <p:spPr>
          <a:xfrm>
            <a:off x="8767630" y="2627203"/>
            <a:ext cx="646331" cy="369332"/>
          </a:xfrm>
          <a:prstGeom prst="rect">
            <a:avLst/>
          </a:prstGeom>
        </p:spPr>
        <p:txBody>
          <a:bodyPr wrap="none">
            <a:spAutoFit/>
          </a:bodyPr>
          <a:lstStyle/>
          <a:p>
            <a:r>
              <a:rPr lang="zh-CN" altLang="en-US" sz="1800"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中年</a:t>
            </a:r>
          </a:p>
        </p:txBody>
      </p:sp>
      <p:sp>
        <p:nvSpPr>
          <p:cNvPr id="58" name="矩形 57"/>
          <p:cNvSpPr/>
          <p:nvPr/>
        </p:nvSpPr>
        <p:spPr>
          <a:xfrm>
            <a:off x="9296129" y="2561095"/>
            <a:ext cx="646331" cy="369332"/>
          </a:xfrm>
          <a:prstGeom prst="rect">
            <a:avLst/>
          </a:prstGeom>
        </p:spPr>
        <p:txBody>
          <a:bodyPr wrap="none">
            <a:spAutoFit/>
          </a:bodyPr>
          <a:lstStyle/>
          <a:p>
            <a:r>
              <a:rPr lang="zh-CN" altLang="en-US" sz="1800"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老年</a:t>
            </a:r>
          </a:p>
        </p:txBody>
      </p:sp>
      <p:sp>
        <p:nvSpPr>
          <p:cNvPr id="59" name="矩形 58"/>
          <p:cNvSpPr/>
          <p:nvPr/>
        </p:nvSpPr>
        <p:spPr>
          <a:xfrm>
            <a:off x="5616225" y="2598912"/>
            <a:ext cx="415498" cy="369332"/>
          </a:xfrm>
          <a:prstGeom prst="rect">
            <a:avLst/>
          </a:prstGeom>
        </p:spPr>
        <p:txBody>
          <a:bodyPr wrap="none">
            <a:spAutoFit/>
          </a:bodyPr>
          <a:lstStyle/>
          <a:p>
            <a:r>
              <a:rPr lang="zh-CN" altLang="en-US" sz="1800"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是</a:t>
            </a:r>
          </a:p>
        </p:txBody>
      </p:sp>
      <p:sp>
        <p:nvSpPr>
          <p:cNvPr id="60" name="矩形 59"/>
          <p:cNvSpPr/>
          <p:nvPr/>
        </p:nvSpPr>
        <p:spPr>
          <a:xfrm>
            <a:off x="6506082" y="2607669"/>
            <a:ext cx="534500" cy="369332"/>
          </a:xfrm>
          <a:prstGeom prst="rect">
            <a:avLst/>
          </a:prstGeom>
        </p:spPr>
        <p:txBody>
          <a:bodyPr wrap="square">
            <a:spAutoFit/>
          </a:bodyPr>
          <a:lstStyle/>
          <a:p>
            <a:r>
              <a:rPr lang="zh-CN" altLang="en-US" sz="1800" dirty="0">
                <a:solidFill>
                  <a:srgbClr val="5066B8"/>
                </a:solidFill>
                <a:latin typeface="Times New Roman" panose="02020603050405020304" pitchFamily="18" charset="0"/>
                <a:ea typeface="微软雅黑" panose="020B0503020204020204" pitchFamily="34" charset="-122"/>
                <a:cs typeface="Times New Roman" panose="02020603050405020304" pitchFamily="18" charset="0"/>
              </a:rPr>
              <a:t>否</a:t>
            </a:r>
          </a:p>
        </p:txBody>
      </p:sp>
      <p:graphicFrame>
        <p:nvGraphicFramePr>
          <p:cNvPr id="3" name="表格 2"/>
          <p:cNvGraphicFramePr>
            <a:graphicFrameLocks noGrp="1"/>
          </p:cNvGraphicFramePr>
          <p:nvPr>
            <p:extLst>
              <p:ext uri="{D42A27DB-BD31-4B8C-83A1-F6EECF244321}">
                <p14:modId xmlns:p14="http://schemas.microsoft.com/office/powerpoint/2010/main" val="3311642492"/>
              </p:ext>
            </p:extLst>
          </p:nvPr>
        </p:nvGraphicFramePr>
        <p:xfrm>
          <a:off x="1576161" y="1102997"/>
          <a:ext cx="3678267" cy="2966720"/>
        </p:xfrm>
        <a:graphic>
          <a:graphicData uri="http://schemas.openxmlformats.org/drawingml/2006/table">
            <a:tbl>
              <a:tblPr firstRow="1" bandRow="1">
                <a:tableStyleId>{5C22544A-7EE6-4342-B048-85BDC9FD1C3A}</a:tableStyleId>
              </a:tblPr>
              <a:tblGrid>
                <a:gridCol w="527720">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1206331">
                  <a:extLst>
                    <a:ext uri="{9D8B030D-6E8A-4147-A177-3AD203B41FA5}">
                      <a16:colId xmlns:a16="http://schemas.microsoft.com/office/drawing/2014/main" val="20003"/>
                    </a:ext>
                  </a:extLst>
                </a:gridCol>
              </a:tblGrid>
              <a:tr h="370840">
                <a:tc>
                  <a:txBody>
                    <a:bodyPr/>
                    <a:lstStyle/>
                    <a:p>
                      <a:endParaRPr lang="zh-CN" altLang="en-US" dirty="0"/>
                    </a:p>
                  </a:txBody>
                  <a:tcPr/>
                </a:tc>
                <a:tc>
                  <a:txBody>
                    <a:bodyPr/>
                    <a:lstStyle/>
                    <a:p>
                      <a:r>
                        <a:rPr lang="zh-CN" altLang="en-US" dirty="0"/>
                        <a:t>年龄</a:t>
                      </a:r>
                    </a:p>
                  </a:txBody>
                  <a:tcPr/>
                </a:tc>
                <a:tc>
                  <a:txBody>
                    <a:bodyPr/>
                    <a:lstStyle/>
                    <a:p>
                      <a:r>
                        <a:rPr lang="zh-CN" altLang="en-US" dirty="0"/>
                        <a:t>工作</a:t>
                      </a:r>
                    </a:p>
                  </a:txBody>
                  <a:tcPr/>
                </a:tc>
                <a:tc>
                  <a:txBody>
                    <a:bodyPr/>
                    <a:lstStyle/>
                    <a:p>
                      <a:r>
                        <a:rPr lang="zh-CN" altLang="en-US" dirty="0"/>
                        <a:t>是否买房</a:t>
                      </a:r>
                    </a:p>
                  </a:txBody>
                  <a:tcPr/>
                </a:tc>
                <a:extLst>
                  <a:ext uri="{0D108BD9-81ED-4DB2-BD59-A6C34878D82A}">
                    <a16:rowId xmlns:a16="http://schemas.microsoft.com/office/drawing/2014/main" val="10000"/>
                  </a:ext>
                </a:extLst>
              </a:tr>
              <a:tr h="370840">
                <a:tc>
                  <a:txBody>
                    <a:bodyPr/>
                    <a:lstStyle/>
                    <a:p>
                      <a:r>
                        <a:rPr lang="en-US" altLang="zh-CN" dirty="0"/>
                        <a:t>1</a:t>
                      </a:r>
                      <a:endParaRPr lang="zh-CN" altLang="en-US" dirty="0"/>
                    </a:p>
                  </a:txBody>
                  <a:tcPr/>
                </a:tc>
                <a:tc>
                  <a:txBody>
                    <a:bodyPr/>
                    <a:lstStyle/>
                    <a:p>
                      <a:r>
                        <a:rPr lang="zh-CN" altLang="en-US" dirty="0"/>
                        <a:t>青年</a:t>
                      </a:r>
                    </a:p>
                  </a:txBody>
                  <a:tcPr/>
                </a:tc>
                <a:tc>
                  <a:txBody>
                    <a:bodyPr/>
                    <a:lstStyle/>
                    <a:p>
                      <a:r>
                        <a:rPr lang="zh-CN" altLang="en-US" dirty="0"/>
                        <a:t>有</a:t>
                      </a:r>
                    </a:p>
                  </a:txBody>
                  <a:tcPr/>
                </a:tc>
                <a:tc>
                  <a:txBody>
                    <a:bodyPr/>
                    <a:lstStyle/>
                    <a:p>
                      <a:r>
                        <a:rPr lang="en-US" altLang="zh-CN" dirty="0"/>
                        <a:t>Y</a:t>
                      </a:r>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2</a:t>
                      </a:r>
                      <a:endParaRPr lang="zh-CN" altLang="en-US" dirty="0"/>
                    </a:p>
                  </a:txBody>
                  <a:tcPr/>
                </a:tc>
                <a:tc>
                  <a:txBody>
                    <a:bodyPr/>
                    <a:lstStyle/>
                    <a:p>
                      <a:r>
                        <a:rPr lang="zh-CN" altLang="en-US" dirty="0"/>
                        <a:t>青年</a:t>
                      </a:r>
                    </a:p>
                  </a:txBody>
                  <a:tcPr/>
                </a:tc>
                <a:tc>
                  <a:txBody>
                    <a:bodyPr/>
                    <a:lstStyle/>
                    <a:p>
                      <a:r>
                        <a:rPr lang="zh-CN" altLang="en-US" dirty="0"/>
                        <a:t>无</a:t>
                      </a:r>
                    </a:p>
                  </a:txBody>
                  <a:tcPr/>
                </a:tc>
                <a:tc>
                  <a:txBody>
                    <a:bodyPr/>
                    <a:lstStyle/>
                    <a:p>
                      <a:r>
                        <a:rPr lang="en-US" altLang="zh-CN" dirty="0"/>
                        <a:t>N</a:t>
                      </a:r>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a:t>3</a:t>
                      </a:r>
                      <a:endParaRPr lang="zh-CN" altLang="en-US" dirty="0"/>
                    </a:p>
                  </a:txBody>
                  <a:tcPr/>
                </a:tc>
                <a:tc>
                  <a:txBody>
                    <a:bodyPr/>
                    <a:lstStyle/>
                    <a:p>
                      <a:r>
                        <a:rPr lang="zh-CN" altLang="en-US" dirty="0"/>
                        <a:t>中年</a:t>
                      </a:r>
                    </a:p>
                  </a:txBody>
                  <a:tcPr/>
                </a:tc>
                <a:tc>
                  <a:txBody>
                    <a:bodyPr/>
                    <a:lstStyle/>
                    <a:p>
                      <a:r>
                        <a:rPr lang="zh-CN" altLang="en-US" dirty="0"/>
                        <a:t>有</a:t>
                      </a:r>
                    </a:p>
                  </a:txBody>
                  <a:tcPr/>
                </a:tc>
                <a:tc>
                  <a:txBody>
                    <a:bodyPr/>
                    <a:lstStyle/>
                    <a:p>
                      <a:r>
                        <a:rPr lang="en-US" altLang="zh-CN" dirty="0"/>
                        <a:t>Y</a:t>
                      </a:r>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a:t>4</a:t>
                      </a:r>
                      <a:endParaRPr lang="zh-CN" altLang="en-US" dirty="0"/>
                    </a:p>
                  </a:txBody>
                  <a:tcPr/>
                </a:tc>
                <a:tc>
                  <a:txBody>
                    <a:bodyPr/>
                    <a:lstStyle/>
                    <a:p>
                      <a:r>
                        <a:rPr lang="zh-CN" altLang="en-US" dirty="0"/>
                        <a:t>老年</a:t>
                      </a:r>
                    </a:p>
                  </a:txBody>
                  <a:tcPr/>
                </a:tc>
                <a:tc>
                  <a:txBody>
                    <a:bodyPr/>
                    <a:lstStyle/>
                    <a:p>
                      <a:r>
                        <a:rPr lang="zh-CN" altLang="en-US" dirty="0"/>
                        <a:t>有</a:t>
                      </a:r>
                    </a:p>
                  </a:txBody>
                  <a:tcPr/>
                </a:tc>
                <a:tc>
                  <a:txBody>
                    <a:bodyPr/>
                    <a:lstStyle/>
                    <a:p>
                      <a:r>
                        <a:rPr lang="en-US" altLang="zh-CN" dirty="0"/>
                        <a:t>Y</a:t>
                      </a:r>
                      <a:endParaRPr lang="zh-CN" altLang="en-US" dirty="0"/>
                    </a:p>
                  </a:txBody>
                  <a:tcPr/>
                </a:tc>
                <a:extLst>
                  <a:ext uri="{0D108BD9-81ED-4DB2-BD59-A6C34878D82A}">
                    <a16:rowId xmlns:a16="http://schemas.microsoft.com/office/drawing/2014/main" val="10004"/>
                  </a:ext>
                </a:extLst>
              </a:tr>
              <a:tr h="370840">
                <a:tc>
                  <a:txBody>
                    <a:bodyPr/>
                    <a:lstStyle/>
                    <a:p>
                      <a:r>
                        <a:rPr lang="en-US" altLang="zh-CN" dirty="0"/>
                        <a:t>5</a:t>
                      </a:r>
                      <a:endParaRPr lang="zh-CN" altLang="en-US" dirty="0"/>
                    </a:p>
                  </a:txBody>
                  <a:tcPr/>
                </a:tc>
                <a:tc>
                  <a:txBody>
                    <a:bodyPr/>
                    <a:lstStyle/>
                    <a:p>
                      <a:r>
                        <a:rPr lang="zh-CN" altLang="en-US" dirty="0"/>
                        <a:t>中年</a:t>
                      </a:r>
                    </a:p>
                  </a:txBody>
                  <a:tcPr/>
                </a:tc>
                <a:tc>
                  <a:txBody>
                    <a:bodyPr/>
                    <a:lstStyle/>
                    <a:p>
                      <a:r>
                        <a:rPr lang="zh-CN" altLang="en-US" dirty="0"/>
                        <a:t>有</a:t>
                      </a:r>
                    </a:p>
                  </a:txBody>
                  <a:tcPr/>
                </a:tc>
                <a:tc>
                  <a:txBody>
                    <a:bodyPr/>
                    <a:lstStyle/>
                    <a:p>
                      <a:r>
                        <a:rPr lang="en-US" altLang="zh-CN" dirty="0"/>
                        <a:t>N</a:t>
                      </a:r>
                      <a:endParaRPr lang="zh-CN" altLang="en-US" dirty="0"/>
                    </a:p>
                  </a:txBody>
                  <a:tcPr/>
                </a:tc>
                <a:extLst>
                  <a:ext uri="{0D108BD9-81ED-4DB2-BD59-A6C34878D82A}">
                    <a16:rowId xmlns:a16="http://schemas.microsoft.com/office/drawing/2014/main" val="10005"/>
                  </a:ext>
                </a:extLst>
              </a:tr>
              <a:tr h="370840">
                <a:tc>
                  <a:txBody>
                    <a:bodyPr/>
                    <a:lstStyle/>
                    <a:p>
                      <a:r>
                        <a:rPr lang="en-US" altLang="zh-CN" dirty="0"/>
                        <a:t>6</a:t>
                      </a:r>
                      <a:endParaRPr lang="zh-CN" altLang="en-US" dirty="0"/>
                    </a:p>
                  </a:txBody>
                  <a:tcPr/>
                </a:tc>
                <a:tc>
                  <a:txBody>
                    <a:bodyPr/>
                    <a:lstStyle/>
                    <a:p>
                      <a:r>
                        <a:rPr lang="zh-CN" altLang="en-US" dirty="0"/>
                        <a:t>中年</a:t>
                      </a:r>
                    </a:p>
                  </a:txBody>
                  <a:tcPr/>
                </a:tc>
                <a:tc>
                  <a:txBody>
                    <a:bodyPr/>
                    <a:lstStyle/>
                    <a:p>
                      <a:r>
                        <a:rPr lang="zh-CN" altLang="en-US" dirty="0"/>
                        <a:t>无</a:t>
                      </a:r>
                    </a:p>
                  </a:txBody>
                  <a:tcPr/>
                </a:tc>
                <a:tc>
                  <a:txBody>
                    <a:bodyPr/>
                    <a:lstStyle/>
                    <a:p>
                      <a:r>
                        <a:rPr lang="en-US" altLang="zh-CN" dirty="0"/>
                        <a:t>Y</a:t>
                      </a:r>
                      <a:endParaRPr lang="zh-CN" altLang="en-US" dirty="0"/>
                    </a:p>
                  </a:txBody>
                  <a:tcPr/>
                </a:tc>
                <a:extLst>
                  <a:ext uri="{0D108BD9-81ED-4DB2-BD59-A6C34878D82A}">
                    <a16:rowId xmlns:a16="http://schemas.microsoft.com/office/drawing/2014/main" val="10006"/>
                  </a:ext>
                </a:extLst>
              </a:tr>
              <a:tr h="370840">
                <a:tc>
                  <a:txBody>
                    <a:bodyPr/>
                    <a:lstStyle/>
                    <a:p>
                      <a:r>
                        <a:rPr lang="en-US" altLang="zh-CN" dirty="0"/>
                        <a:t>7</a:t>
                      </a:r>
                      <a:endParaRPr lang="zh-CN" altLang="en-US" dirty="0"/>
                    </a:p>
                  </a:txBody>
                  <a:tcPr/>
                </a:tc>
                <a:tc>
                  <a:txBody>
                    <a:bodyPr/>
                    <a:lstStyle/>
                    <a:p>
                      <a:r>
                        <a:rPr lang="zh-CN" altLang="en-US" dirty="0"/>
                        <a:t>老年</a:t>
                      </a:r>
                    </a:p>
                  </a:txBody>
                  <a:tcPr/>
                </a:tc>
                <a:tc>
                  <a:txBody>
                    <a:bodyPr/>
                    <a:lstStyle/>
                    <a:p>
                      <a:r>
                        <a:rPr lang="zh-CN" altLang="en-US" dirty="0"/>
                        <a:t>无</a:t>
                      </a:r>
                    </a:p>
                  </a:txBody>
                  <a:tcPr/>
                </a:tc>
                <a:tc>
                  <a:txBody>
                    <a:bodyPr/>
                    <a:lstStyle/>
                    <a:p>
                      <a:r>
                        <a:rPr lang="en-US" altLang="zh-CN" dirty="0"/>
                        <a:t>Y</a:t>
                      </a:r>
                      <a:endParaRPr lang="zh-CN" altLang="en-US" dirty="0"/>
                    </a:p>
                  </a:txBody>
                  <a:tcPr/>
                </a:tc>
                <a:extLst>
                  <a:ext uri="{0D108BD9-81ED-4DB2-BD59-A6C34878D82A}">
                    <a16:rowId xmlns:a16="http://schemas.microsoft.com/office/drawing/2014/main" val="10007"/>
                  </a:ext>
                </a:extLst>
              </a:tr>
            </a:tbl>
          </a:graphicData>
        </a:graphic>
      </p:graphicFrame>
      <p:sp>
        <p:nvSpPr>
          <p:cNvPr id="10" name="文本框 9"/>
          <p:cNvSpPr txBox="1"/>
          <p:nvPr/>
        </p:nvSpPr>
        <p:spPr>
          <a:xfrm>
            <a:off x="6930971" y="749185"/>
            <a:ext cx="1892081"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分类前：</a:t>
            </a:r>
          </a:p>
        </p:txBody>
      </p:sp>
      <p:sp>
        <p:nvSpPr>
          <p:cNvPr id="12" name="矩形 11"/>
          <p:cNvSpPr/>
          <p:nvPr/>
        </p:nvSpPr>
        <p:spPr>
          <a:xfrm>
            <a:off x="5743317" y="1205013"/>
            <a:ext cx="4572000" cy="707886"/>
          </a:xfrm>
          <a:prstGeom prst="rect">
            <a:avLst/>
          </a:prstGeom>
        </p:spPr>
        <p:txBody>
          <a:bodyPr>
            <a:spAutoFit/>
          </a:bodyPr>
          <a:lstStyle/>
          <a:p>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a:t>
            </a:r>
            <a:r>
              <a:rPr kumimoji="1"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X,w</a:t>
            </a:r>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-(5/7)log(5/7)-(2/7)log(2/7) = 0.104+0.155=0.259</a:t>
            </a:r>
            <a:endParaRPr lang="zh-CN" altLang="en-US" sz="2000" dirty="0"/>
          </a:p>
        </p:txBody>
      </p:sp>
      <p:graphicFrame>
        <p:nvGraphicFramePr>
          <p:cNvPr id="28" name="Object 5"/>
          <p:cNvGraphicFramePr>
            <a:graphicFrameLocks noChangeAspect="1"/>
          </p:cNvGraphicFramePr>
          <p:nvPr>
            <p:extLst>
              <p:ext uri="{D42A27DB-BD31-4B8C-83A1-F6EECF244321}">
                <p14:modId xmlns:p14="http://schemas.microsoft.com/office/powerpoint/2010/main" val="3953416807"/>
              </p:ext>
            </p:extLst>
          </p:nvPr>
        </p:nvGraphicFramePr>
        <p:xfrm>
          <a:off x="1597987" y="4570478"/>
          <a:ext cx="3211513" cy="703263"/>
        </p:xfrm>
        <a:graphic>
          <a:graphicData uri="http://schemas.openxmlformats.org/presentationml/2006/ole">
            <mc:AlternateContent xmlns:mc="http://schemas.openxmlformats.org/markup-compatibility/2006">
              <mc:Choice xmlns:v="urn:schemas-microsoft-com:vml" Requires="v">
                <p:oleObj r:id="rId3" imgW="1968500" imgH="431800" progId="Equation.DSMT4">
                  <p:embed/>
                </p:oleObj>
              </mc:Choice>
              <mc:Fallback>
                <p:oleObj r:id="rId3" imgW="1968500" imgH="431800" progId="Equation.DSMT4">
                  <p:embed/>
                  <p:pic>
                    <p:nvPicPr>
                      <p:cNvPr id="0" name=""/>
                      <p:cNvPicPr/>
                      <p:nvPr/>
                    </p:nvPicPr>
                    <p:blipFill>
                      <a:blip r:embed="rId4"/>
                      <a:srcRect/>
                      <a:stretch>
                        <a:fillRect/>
                      </a:stretch>
                    </p:blipFill>
                    <p:spPr>
                      <a:xfrm>
                        <a:off x="1597987" y="4570478"/>
                        <a:ext cx="3211513" cy="703263"/>
                      </a:xfrm>
                      <a:prstGeom prst="rect">
                        <a:avLst/>
                      </a:prstGeom>
                      <a:noFill/>
                      <a:ln w="38100">
                        <a:miter/>
                      </a:ln>
                    </p:spPr>
                  </p:pic>
                </p:oleObj>
              </mc:Fallback>
            </mc:AlternateContent>
          </a:graphicData>
        </a:graphic>
      </p:graphicFrame>
      <p:sp>
        <p:nvSpPr>
          <p:cNvPr id="14" name="矩形 13"/>
          <p:cNvSpPr/>
          <p:nvPr/>
        </p:nvSpPr>
        <p:spPr>
          <a:xfrm>
            <a:off x="1576160" y="4224541"/>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分类前：</a:t>
            </a:r>
          </a:p>
        </p:txBody>
      </p:sp>
      <p:graphicFrame>
        <p:nvGraphicFramePr>
          <p:cNvPr id="30" name="Object 5"/>
          <p:cNvGraphicFramePr>
            <a:graphicFrameLocks noChangeAspect="1"/>
          </p:cNvGraphicFramePr>
          <p:nvPr>
            <p:extLst>
              <p:ext uri="{D42A27DB-BD31-4B8C-83A1-F6EECF244321}">
                <p14:modId xmlns:p14="http://schemas.microsoft.com/office/powerpoint/2010/main" val="1159220027"/>
              </p:ext>
            </p:extLst>
          </p:nvPr>
        </p:nvGraphicFramePr>
        <p:xfrm>
          <a:off x="2783632" y="5359172"/>
          <a:ext cx="4895850" cy="1319213"/>
        </p:xfrm>
        <a:graphic>
          <a:graphicData uri="http://schemas.openxmlformats.org/presentationml/2006/ole">
            <mc:AlternateContent xmlns:mc="http://schemas.openxmlformats.org/markup-compatibility/2006">
              <mc:Choice xmlns:v="urn:schemas-microsoft-com:vml" Requires="v">
                <p:oleObj r:id="rId5" imgW="3302000" imgH="889000" progId="Equation.3">
                  <p:embed/>
                </p:oleObj>
              </mc:Choice>
              <mc:Fallback>
                <p:oleObj r:id="rId5" imgW="3302000" imgH="889000" progId="Equation.3">
                  <p:embed/>
                  <p:pic>
                    <p:nvPicPr>
                      <p:cNvPr id="0" name=""/>
                      <p:cNvPicPr/>
                      <p:nvPr/>
                    </p:nvPicPr>
                    <p:blipFill>
                      <a:blip r:embed="rId6"/>
                      <a:srcRect/>
                      <a:stretch>
                        <a:fillRect/>
                      </a:stretch>
                    </p:blipFill>
                    <p:spPr>
                      <a:xfrm>
                        <a:off x="2783632" y="5359172"/>
                        <a:ext cx="4895850" cy="1319213"/>
                      </a:xfrm>
                      <a:prstGeom prst="rect">
                        <a:avLst/>
                      </a:prstGeom>
                      <a:solidFill>
                        <a:srgbClr val="FFFFFF">
                          <a:alpha val="100000"/>
                        </a:srgbClr>
                      </a:solidFill>
                      <a:ln w="38100">
                        <a:miter/>
                      </a:ln>
                    </p:spPr>
                  </p:pic>
                </p:oleObj>
              </mc:Fallback>
            </mc:AlternateContent>
          </a:graphicData>
        </a:graphic>
      </p:graphicFrame>
      <p:sp>
        <p:nvSpPr>
          <p:cNvPr id="31" name="矩形 30"/>
          <p:cNvSpPr/>
          <p:nvPr/>
        </p:nvSpPr>
        <p:spPr>
          <a:xfrm>
            <a:off x="1584315" y="5751248"/>
            <a:ext cx="1210588" cy="707886"/>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按属性</a:t>
            </a:r>
            <a:r>
              <a:rPr lang="en-US" altLang="zh-CN" sz="2000" dirty="0">
                <a:latin typeface="微软雅黑" panose="020B0503020204020204" pitchFamily="34" charset="-122"/>
                <a:ea typeface="微软雅黑" panose="020B0503020204020204" pitchFamily="34" charset="-122"/>
              </a:rPr>
              <a:t>a</a:t>
            </a:r>
          </a:p>
          <a:p>
            <a:r>
              <a:rPr lang="zh-CN" altLang="en-US" sz="2000" dirty="0">
                <a:latin typeface="微软雅黑" panose="020B0503020204020204" pitchFamily="34" charset="-122"/>
                <a:ea typeface="微软雅黑" panose="020B0503020204020204" pitchFamily="34" charset="-122"/>
              </a:rPr>
              <a:t>分类后：</a:t>
            </a:r>
          </a:p>
        </p:txBody>
      </p:sp>
      <p:sp>
        <p:nvSpPr>
          <p:cNvPr id="32" name="矩形 31"/>
          <p:cNvSpPr/>
          <p:nvPr/>
        </p:nvSpPr>
        <p:spPr>
          <a:xfrm>
            <a:off x="5254427" y="3550098"/>
            <a:ext cx="5695204" cy="707886"/>
          </a:xfrm>
          <a:prstGeom prst="rect">
            <a:avLst/>
          </a:prstGeom>
        </p:spPr>
        <p:txBody>
          <a:bodyPr wrap="square">
            <a:spAutoFit/>
          </a:bodyPr>
          <a:lstStyle/>
          <a:p>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a:t>
            </a:r>
            <a:r>
              <a:rPr kumimoji="1"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年龄</a:t>
            </a:r>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,w) = </a:t>
            </a:r>
            <a:r>
              <a:rPr kumimoji="1" lang="en-US" altLang="zh-CN" sz="2000" u="sng"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-(2/7)((1/2)log(1/2)+ (1/2)log(1/2)) </a:t>
            </a:r>
            <a:r>
              <a:rPr kumimoji="1" lang="en-US" altLang="zh-CN" sz="2000" u="sng"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rPr>
              <a:t>-(3/7)((2/3)log(2/3)+(1/3)log(1/3) </a:t>
            </a:r>
            <a:r>
              <a:rPr kumimoji="1" lang="en-US" altLang="zh-CN" sz="2000" u="sng" dirty="0">
                <a:solidFill>
                  <a:srgbClr val="00B050"/>
                </a:solidFill>
                <a:latin typeface="Times New Roman" panose="02020603050405020304" pitchFamily="18" charset="0"/>
                <a:ea typeface="微软雅黑" panose="020B0503020204020204" pitchFamily="34" charset="-122"/>
                <a:cs typeface="Times New Roman" panose="02020603050405020304" pitchFamily="18" charset="0"/>
              </a:rPr>
              <a:t>-(2/7)log(1)</a:t>
            </a:r>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=0.204</a:t>
            </a:r>
            <a:endParaRPr lang="zh-CN" altLang="en-US" sz="2000" dirty="0"/>
          </a:p>
        </p:txBody>
      </p:sp>
      <p:sp>
        <p:nvSpPr>
          <p:cNvPr id="33" name="矩形 32"/>
          <p:cNvSpPr/>
          <p:nvPr/>
        </p:nvSpPr>
        <p:spPr>
          <a:xfrm>
            <a:off x="5263721" y="4317227"/>
            <a:ext cx="5685911" cy="707886"/>
          </a:xfrm>
          <a:prstGeom prst="rect">
            <a:avLst/>
          </a:prstGeom>
        </p:spPr>
        <p:txBody>
          <a:bodyPr wrap="square">
            <a:spAutoFit/>
          </a:bodyPr>
          <a:lstStyle/>
          <a:p>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a:t>
            </a:r>
            <a:r>
              <a:rPr kumimoji="1"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工作</a:t>
            </a:r>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,w) = </a:t>
            </a:r>
            <a:r>
              <a:rPr kumimoji="1" lang="en-US" altLang="zh-CN" sz="2000" u="sng"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-(4/7)((1/4)log(1/4)+ (3/4)log(3/4)) </a:t>
            </a:r>
            <a:r>
              <a:rPr kumimoji="1" lang="en-US" altLang="zh-CN" sz="2000" u="sng"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rPr>
              <a:t>-(3/7)((2/3)log(2/3)+(1/3)log(1/3) </a:t>
            </a:r>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=0.255</a:t>
            </a:r>
            <a:endParaRPr lang="zh-CN" altLang="en-US" sz="2000" dirty="0"/>
          </a:p>
        </p:txBody>
      </p:sp>
      <p:sp>
        <p:nvSpPr>
          <p:cNvPr id="34" name="文本框 33"/>
          <p:cNvSpPr txBox="1"/>
          <p:nvPr/>
        </p:nvSpPr>
        <p:spPr>
          <a:xfrm>
            <a:off x="7759298" y="5243581"/>
            <a:ext cx="1892081" cy="400110"/>
          </a:xfrm>
          <a:prstGeom prst="rect">
            <a:avLst/>
          </a:prstGeom>
          <a:solidFill>
            <a:schemeClr val="accent1">
              <a:lumMod val="20000"/>
              <a:lumOff val="80000"/>
            </a:schemeClr>
          </a:solidFill>
        </p:spPr>
        <p:txBody>
          <a:bodyPr wrap="square" rtlCol="0">
            <a:spAutoFit/>
          </a:bodyPr>
          <a:lstStyle/>
          <a:p>
            <a:r>
              <a:rPr lang="zh-CN" altLang="en-US" sz="2000" b="1" dirty="0">
                <a:solidFill>
                  <a:srgbClr val="C00000"/>
                </a:solidFill>
                <a:latin typeface="微软雅黑" panose="020B0503020204020204" pitchFamily="34" charset="-122"/>
                <a:ea typeface="微软雅黑" panose="020B0503020204020204" pitchFamily="34" charset="-122"/>
              </a:rPr>
              <a:t>选择年龄属性</a:t>
            </a:r>
          </a:p>
        </p:txBody>
      </p:sp>
    </p:spTree>
    <p:extLst>
      <p:ext uri="{BB962C8B-B14F-4D97-AF65-F5344CB8AC3E}">
        <p14:creationId xmlns:p14="http://schemas.microsoft.com/office/powerpoint/2010/main" val="100016229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P spid="31" grpId="0"/>
      <p:bldP spid="32" grpId="0"/>
      <p:bldP spid="33" grpId="0"/>
      <p:bldP spid="34"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矩形 1"/>
          <p:cNvSpPr/>
          <p:nvPr/>
        </p:nvSpPr>
        <p:spPr>
          <a:xfrm>
            <a:off x="2640013" y="153988"/>
            <a:ext cx="2355850" cy="5080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700" b="1" dirty="0">
                <a:latin typeface="微软雅黑" panose="020B0503020204020204" pitchFamily="34" charset="-122"/>
                <a:ea typeface="微软雅黑" panose="020B0503020204020204" pitchFamily="34" charset="-122"/>
              </a:rPr>
              <a:t>决策树剪枝</a:t>
            </a:r>
          </a:p>
        </p:txBody>
      </p:sp>
      <p:sp>
        <p:nvSpPr>
          <p:cNvPr id="3" name="矩形 2"/>
          <p:cNvSpPr/>
          <p:nvPr/>
        </p:nvSpPr>
        <p:spPr>
          <a:xfrm>
            <a:off x="1701800" y="790575"/>
            <a:ext cx="8936038" cy="12001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405130" latinLnBrk="0">
              <a:spcBef>
                <a:spcPct val="0"/>
              </a:spcBef>
              <a:buNone/>
            </a:pPr>
            <a:r>
              <a:rPr lang="zh-CN" altLang="en-US" sz="2400" dirty="0">
                <a:latin typeface="微软雅黑" panose="020B0503020204020204" pitchFamily="34" charset="-122"/>
                <a:ea typeface="微软雅黑" panose="020B0503020204020204" pitchFamily="34" charset="-122"/>
                <a:sym typeface="+mn-ea"/>
              </a:rPr>
              <a:t>在生成树的过程中，如果没有</a:t>
            </a:r>
            <a:r>
              <a:rPr lang="zh-CN" altLang="en-US" sz="2400" b="1" dirty="0">
                <a:latin typeface="微软雅黑" panose="020B0503020204020204" pitchFamily="34" charset="-122"/>
                <a:ea typeface="微软雅黑" panose="020B0503020204020204" pitchFamily="34" charset="-122"/>
                <a:sym typeface="+mn-ea"/>
              </a:rPr>
              <a:t>剪枝（pruning）</a:t>
            </a:r>
            <a:r>
              <a:rPr lang="zh-CN" altLang="en-US" sz="2400" dirty="0">
                <a:latin typeface="微软雅黑" panose="020B0503020204020204" pitchFamily="34" charset="-122"/>
                <a:ea typeface="微软雅黑" panose="020B0503020204020204" pitchFamily="34" charset="-122"/>
                <a:sym typeface="+mn-ea"/>
              </a:rPr>
              <a:t>操作，就会生成一个对训练集完全拟合的决策树，但这是对测试集非常不友好的，泛化能力不行。因此，需要剪枝使得模型泛化能力更强。</a:t>
            </a:r>
          </a:p>
        </p:txBody>
      </p:sp>
      <p:grpSp>
        <p:nvGrpSpPr>
          <p:cNvPr id="7" name="组合 6"/>
          <p:cNvGrpSpPr/>
          <p:nvPr/>
        </p:nvGrpSpPr>
        <p:grpSpPr>
          <a:xfrm>
            <a:off x="6016626" y="4292601"/>
            <a:ext cx="4702175" cy="2054759"/>
            <a:chOff x="10929" y="3442"/>
            <a:chExt cx="7351" cy="2683"/>
          </a:xfrm>
        </p:grpSpPr>
        <p:pic>
          <p:nvPicPr>
            <p:cNvPr id="51207" name="图片 4"/>
            <p:cNvPicPr>
              <a:picLocks noChangeAspect="1"/>
            </p:cNvPicPr>
            <p:nvPr/>
          </p:nvPicPr>
          <p:blipFill>
            <a:blip r:embed="rId2"/>
            <a:stretch>
              <a:fillRect/>
            </a:stretch>
          </p:blipFill>
          <p:spPr>
            <a:xfrm>
              <a:off x="10929" y="3442"/>
              <a:ext cx="7112" cy="2420"/>
            </a:xfrm>
            <a:prstGeom prst="rect">
              <a:avLst/>
            </a:prstGeom>
            <a:noFill/>
            <a:ln w="9525">
              <a:noFill/>
            </a:ln>
          </p:spPr>
        </p:pic>
        <p:sp>
          <p:nvSpPr>
            <p:cNvPr id="6" name="矩形 5"/>
            <p:cNvSpPr/>
            <p:nvPr/>
          </p:nvSpPr>
          <p:spPr>
            <a:xfrm>
              <a:off x="16832" y="5673"/>
              <a:ext cx="1448" cy="452"/>
            </a:xfrm>
            <a:prstGeom prst="rect">
              <a:avLst/>
            </a:prstGeom>
            <a:solidFill>
              <a:schemeClr val="bg1"/>
            </a:solidFill>
          </p:spPr>
          <p:txBody>
            <a:bodyPr>
              <a:spAutoFit/>
            </a:bodyPr>
            <a:lstStyle/>
            <a:p>
              <a:pPr fontAlgn="auto">
                <a:defRPr/>
              </a:pPr>
              <a:endParaRPr kumimoji="1" lang="zh-CN" altLang="en-US" sz="1650" dirty="0">
                <a:latin typeface="微软雅黑" panose="020B0503020204020204" pitchFamily="34" charset="-122"/>
                <a:ea typeface="微软雅黑" panose="020B0503020204020204" pitchFamily="34" charset="-122"/>
                <a:sym typeface="+mn-ea"/>
              </a:endParaRPr>
            </a:p>
          </p:txBody>
        </p:sp>
      </p:grpSp>
      <p:sp>
        <p:nvSpPr>
          <p:cNvPr id="8" name="矩形 7"/>
          <p:cNvSpPr/>
          <p:nvPr/>
        </p:nvSpPr>
        <p:spPr>
          <a:xfrm>
            <a:off x="1774825" y="2216150"/>
            <a:ext cx="4344988" cy="4154488"/>
          </a:xfrm>
          <a:prstGeom prst="rect">
            <a:avLst/>
          </a:prstGeom>
        </p:spPr>
        <p:txBody>
          <a:bodyPr wrap="square">
            <a:spAutoFit/>
          </a:bodyPr>
          <a:lstStyle/>
          <a:p>
            <a:pPr>
              <a:defRPr/>
            </a:pPr>
            <a:r>
              <a:rPr kumimoji="1" lang="zh-CN" altLang="en-US" sz="2400" b="1" dirty="0">
                <a:solidFill>
                  <a:srgbClr val="0070C0"/>
                </a:solidFill>
                <a:latin typeface="微软雅黑" panose="020B0503020204020204" pitchFamily="34" charset="-122"/>
                <a:ea typeface="微软雅黑" panose="020B0503020204020204" pitchFamily="34" charset="-122"/>
                <a:sym typeface="+mn-ea"/>
              </a:rPr>
              <a:t>预剪枝</a:t>
            </a:r>
          </a:p>
          <a:p>
            <a:pPr>
              <a:defRPr/>
            </a:pPr>
            <a:r>
              <a:rPr kumimoji="1" lang="zh-CN" altLang="en-US" sz="2400" dirty="0">
                <a:latin typeface="微软雅黑" panose="020B0503020204020204" pitchFamily="34" charset="-122"/>
                <a:ea typeface="微软雅黑" panose="020B0503020204020204" pitchFamily="34" charset="-122"/>
                <a:sym typeface="+mn-ea"/>
              </a:rPr>
              <a:t>      通过提前停止树的构建而对树剪枝，一旦停止，节点就是叶子，被标注为子集中最频繁的类。</a:t>
            </a:r>
          </a:p>
          <a:p>
            <a:pPr marL="214630" indent="-214630">
              <a:buFont typeface="Wingdings" panose="05000000000000000000" charset="0"/>
              <a:buChar char=""/>
              <a:defRPr/>
            </a:pPr>
            <a:r>
              <a:rPr kumimoji="1" lang="zh-CN" altLang="en-US" sz="2400" dirty="0">
                <a:latin typeface="微软雅黑" panose="020B0503020204020204" pitchFamily="34" charset="-122"/>
                <a:ea typeface="微软雅黑" panose="020B0503020204020204" pitchFamily="34" charset="-122"/>
                <a:sym typeface="+mn-ea"/>
              </a:rPr>
              <a:t>定义一个高度，当决策树达到该高度时就停止生长</a:t>
            </a:r>
          </a:p>
          <a:p>
            <a:pPr marL="214630" indent="-214630">
              <a:buFont typeface="Wingdings" panose="05000000000000000000" charset="0"/>
              <a:buChar char=""/>
              <a:defRPr/>
            </a:pPr>
            <a:r>
              <a:rPr kumimoji="1" lang="zh-CN" altLang="en-US" sz="2400" dirty="0">
                <a:latin typeface="微软雅黑" panose="020B0503020204020204" pitchFamily="34" charset="-122"/>
                <a:ea typeface="微软雅黑" panose="020B0503020204020204" pitchFamily="34" charset="-122"/>
                <a:sym typeface="+mn-ea"/>
              </a:rPr>
              <a:t>达到某个节点的实例具有相同的特征向量</a:t>
            </a:r>
            <a:endParaRPr kumimoji="1" lang="en-US" altLang="zh-CN" sz="2400" dirty="0">
              <a:latin typeface="微软雅黑" panose="020B0503020204020204" pitchFamily="34" charset="-122"/>
              <a:ea typeface="微软雅黑" panose="020B0503020204020204" pitchFamily="34" charset="-122"/>
              <a:sym typeface="+mn-ea"/>
            </a:endParaRPr>
          </a:p>
          <a:p>
            <a:pPr marL="214630" indent="-214630">
              <a:buFont typeface="Wingdings" panose="05000000000000000000" charset="0"/>
              <a:buChar char=""/>
              <a:defRPr/>
            </a:pPr>
            <a:r>
              <a:rPr kumimoji="1" lang="zh-CN" altLang="en-US" sz="2400" dirty="0">
                <a:latin typeface="微软雅黑" panose="020B0503020204020204" pitchFamily="34" charset="-122"/>
                <a:ea typeface="微软雅黑" panose="020B0503020204020204" pitchFamily="34" charset="-122"/>
                <a:sym typeface="+mn-ea"/>
              </a:rPr>
              <a:t>定义一个阈值（实例个数、系统性能增益等）</a:t>
            </a:r>
          </a:p>
        </p:txBody>
      </p:sp>
      <p:sp>
        <p:nvSpPr>
          <p:cNvPr id="4" name="矩形 3"/>
          <p:cNvSpPr/>
          <p:nvPr/>
        </p:nvSpPr>
        <p:spPr>
          <a:xfrm>
            <a:off x="6783389" y="1990725"/>
            <a:ext cx="3756025" cy="1570038"/>
          </a:xfrm>
          <a:prstGeom prst="rect">
            <a:avLst/>
          </a:prstGeom>
          <a:solidFill>
            <a:srgbClr val="F2FFFB"/>
          </a:solidFill>
          <a:ln w="19050">
            <a:solidFill>
              <a:schemeClr val="accent6"/>
            </a:solidFill>
            <a:prstDash val="sysDash"/>
          </a:ln>
        </p:spPr>
        <p:txBody>
          <a:bodyPr>
            <a:spAutoFit/>
          </a:bodyPr>
          <a:lstStyle/>
          <a:p>
            <a:pPr>
              <a:defRPr/>
            </a:pPr>
            <a:r>
              <a:rPr kumimoji="1" lang="zh-CN" altLang="en-US" sz="2400" dirty="0">
                <a:latin typeface="微软雅黑" panose="020B0503020204020204" pitchFamily="34" charset="-122"/>
                <a:ea typeface="微软雅黑" panose="020B0503020204020204" pitchFamily="34" charset="-122"/>
                <a:sym typeface="+mn-ea"/>
              </a:rPr>
              <a:t>理想的决策树有三种：叶子节点数最少、叶子节点深度最小、叶子节点数最少且叶子节点深度最小。</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矩形 1"/>
          <p:cNvSpPr/>
          <p:nvPr/>
        </p:nvSpPr>
        <p:spPr>
          <a:xfrm>
            <a:off x="2563813" y="339725"/>
            <a:ext cx="2355850" cy="5080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700" b="1" dirty="0">
                <a:latin typeface="微软雅黑" panose="020B0503020204020204" pitchFamily="34" charset="-122"/>
                <a:ea typeface="微软雅黑" panose="020B0503020204020204" pitchFamily="34" charset="-122"/>
              </a:rPr>
              <a:t>决策树剪枝</a:t>
            </a:r>
          </a:p>
        </p:txBody>
      </p:sp>
      <p:grpSp>
        <p:nvGrpSpPr>
          <p:cNvPr id="7" name="组合 6"/>
          <p:cNvGrpSpPr/>
          <p:nvPr/>
        </p:nvGrpSpPr>
        <p:grpSpPr>
          <a:xfrm>
            <a:off x="4727576" y="3198814"/>
            <a:ext cx="5940425" cy="2500655"/>
            <a:chOff x="10929" y="3442"/>
            <a:chExt cx="7351" cy="2590"/>
          </a:xfrm>
        </p:grpSpPr>
        <p:pic>
          <p:nvPicPr>
            <p:cNvPr id="52230" name="图片 4"/>
            <p:cNvPicPr>
              <a:picLocks noChangeAspect="1"/>
            </p:cNvPicPr>
            <p:nvPr/>
          </p:nvPicPr>
          <p:blipFill>
            <a:blip r:embed="rId2"/>
            <a:stretch>
              <a:fillRect/>
            </a:stretch>
          </p:blipFill>
          <p:spPr>
            <a:xfrm>
              <a:off x="10929" y="3442"/>
              <a:ext cx="7112" cy="2420"/>
            </a:xfrm>
            <a:prstGeom prst="rect">
              <a:avLst/>
            </a:prstGeom>
            <a:noFill/>
            <a:ln w="9525">
              <a:noFill/>
            </a:ln>
          </p:spPr>
        </p:pic>
        <p:sp>
          <p:nvSpPr>
            <p:cNvPr id="6" name="矩形 5"/>
            <p:cNvSpPr/>
            <p:nvPr/>
          </p:nvSpPr>
          <p:spPr>
            <a:xfrm>
              <a:off x="16832" y="5673"/>
              <a:ext cx="1448" cy="359"/>
            </a:xfrm>
            <a:prstGeom prst="rect">
              <a:avLst/>
            </a:prstGeom>
            <a:solidFill>
              <a:schemeClr val="bg1"/>
            </a:solidFill>
          </p:spPr>
          <p:txBody>
            <a:bodyPr>
              <a:spAutoFit/>
            </a:bodyPr>
            <a:lstStyle/>
            <a:p>
              <a:pPr fontAlgn="auto">
                <a:defRPr/>
              </a:pPr>
              <a:endParaRPr kumimoji="1" lang="zh-CN" altLang="en-US" sz="1650" dirty="0">
                <a:latin typeface="微软雅黑" panose="020B0503020204020204" pitchFamily="34" charset="-122"/>
                <a:ea typeface="微软雅黑" panose="020B0503020204020204" pitchFamily="34" charset="-122"/>
                <a:sym typeface="+mn-ea"/>
              </a:endParaRPr>
            </a:p>
          </p:txBody>
        </p:sp>
      </p:grpSp>
      <p:sp>
        <p:nvSpPr>
          <p:cNvPr id="9" name="文本框 8"/>
          <p:cNvSpPr txBox="1"/>
          <p:nvPr/>
        </p:nvSpPr>
        <p:spPr>
          <a:xfrm>
            <a:off x="1719264" y="981075"/>
            <a:ext cx="8351837" cy="1938338"/>
          </a:xfrm>
          <a:prstGeom prst="rect">
            <a:avLst/>
          </a:prstGeom>
          <a:solidFill>
            <a:schemeClr val="bg1"/>
          </a:solid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400" b="1" dirty="0">
                <a:solidFill>
                  <a:srgbClr val="0070C0"/>
                </a:solidFill>
                <a:latin typeface="微软雅黑" panose="020B0503020204020204" pitchFamily="34" charset="-122"/>
                <a:ea typeface="微软雅黑" panose="020B0503020204020204" pitchFamily="34" charset="-122"/>
              </a:rPr>
              <a:t>后剪枝方法</a:t>
            </a:r>
          </a:p>
          <a:p>
            <a:pPr marL="0" indent="0" latinLnBrk="0">
              <a:spcBef>
                <a:spcPct val="0"/>
              </a:spcBef>
              <a:buNone/>
            </a:pPr>
            <a:r>
              <a:rPr lang="zh-CN" altLang="en-US" sz="2400" dirty="0">
                <a:latin typeface="微软雅黑" panose="020B0503020204020204" pitchFamily="34" charset="-122"/>
                <a:ea typeface="微软雅黑" panose="020B0503020204020204" pitchFamily="34" charset="-122"/>
              </a:rPr>
              <a:t>      首先构造完整的决策树，然后对那些</a:t>
            </a:r>
            <a:r>
              <a:rPr lang="zh-CN" altLang="en-US" sz="2400" dirty="0">
                <a:solidFill>
                  <a:srgbClr val="FF0000"/>
                </a:solidFill>
                <a:latin typeface="微软雅黑" panose="020B0503020204020204" pitchFamily="34" charset="-122"/>
                <a:ea typeface="微软雅黑" panose="020B0503020204020204" pitchFamily="34" charset="-122"/>
              </a:rPr>
              <a:t>置信度不够</a:t>
            </a:r>
            <a:r>
              <a:rPr lang="zh-CN" altLang="en-US" sz="2400" dirty="0">
                <a:latin typeface="微软雅黑" panose="020B0503020204020204" pitchFamily="34" charset="-122"/>
                <a:ea typeface="微软雅黑" panose="020B0503020204020204" pitchFamily="34" charset="-122"/>
              </a:rPr>
              <a:t>的结点子树用叶子结点来代替，该叶子的类标号用该结点子树中最频繁的类标记。相比于预剪枝，这种方法更常用，因为在预剪枝方法中精确地估计何时停止树增长很困难。</a:t>
            </a:r>
          </a:p>
        </p:txBody>
      </p:sp>
      <p:sp>
        <p:nvSpPr>
          <p:cNvPr id="5" name="矩形 4"/>
          <p:cNvSpPr/>
          <p:nvPr/>
        </p:nvSpPr>
        <p:spPr>
          <a:xfrm>
            <a:off x="1774825" y="3071813"/>
            <a:ext cx="3144838" cy="2862322"/>
          </a:xfrm>
          <a:prstGeom prst="rect">
            <a:avLst/>
          </a:prstGeom>
        </p:spPr>
        <p:txBody>
          <a:bodyPr wrap="square">
            <a:spAutoFit/>
          </a:bodyPr>
          <a:lstStyle/>
          <a:p>
            <a:pPr>
              <a:lnSpc>
                <a:spcPct val="150000"/>
              </a:lnSpc>
              <a:defRPr/>
            </a:pPr>
            <a:r>
              <a:rPr kumimoji="1"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置信度计算方法：</a:t>
            </a:r>
            <a:endParaRPr kumimoji="1"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defRPr/>
            </a:pPr>
            <a:r>
              <a:rPr kumimoji="1"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剪枝前后的错误率</a:t>
            </a:r>
            <a:endParaRPr kumimoji="1"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Arial" panose="020B0604020202020204" pitchFamily="34" charset="0"/>
              <a:buChar char="•"/>
              <a:defRPr/>
            </a:pPr>
            <a:r>
              <a:rPr kumimoji="1"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被剪子树的代价和复杂度折衷值</a:t>
            </a:r>
          </a:p>
          <a:p>
            <a:pPr>
              <a:lnSpc>
                <a:spcPct val="150000"/>
              </a:lnSpc>
              <a:defRPr/>
            </a:pPr>
            <a:endParaRPr kumimoji="1"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2"/>
          <p:cNvSpPr>
            <a:spLocks noGrp="1" noChangeArrowheads="1"/>
          </p:cNvSpPr>
          <p:nvPr>
            <p:ph type="ctrTitle"/>
          </p:nvPr>
        </p:nvSpPr>
        <p:spPr>
          <a:xfrm>
            <a:off x="2135561" y="692697"/>
            <a:ext cx="8139113" cy="5903913"/>
          </a:xfrm>
        </p:spPr>
        <p:txBody>
          <a:bodyPr vert="horz" wrap="square" lIns="91440" tIns="45720" rIns="91440" bIns="45720" numCol="1" anchor="ctr" anchorCtr="0" compatLnSpc="1"/>
          <a:lstStyle/>
          <a:p>
            <a:pPr lvl="0" algn="l" eaLnBrk="1" hangingPunct="1">
              <a:defRPr/>
            </a:pPr>
            <a:r>
              <a:rPr lang="zh-CN" altLang="en-US" dirty="0">
                <a:solidFill>
                  <a:schemeClr val="tx1"/>
                </a:solidFill>
                <a:latin typeface="Times New Roman" panose="02020603050405020304" pitchFamily="18" charset="0"/>
              </a:rPr>
              <a:t>			</a:t>
            </a:r>
            <a:r>
              <a:rPr lang="zh-CN" altLang="en-US" b="1" dirty="0">
                <a:solidFill>
                  <a:schemeClr val="tx1"/>
                </a:solidFill>
                <a:effectLst>
                  <a:outerShdw blurRad="38100" dist="38100" dir="2700000" algn="tl">
                    <a:srgbClr val="C0C0C0"/>
                  </a:outerShdw>
                </a:effectLst>
                <a:latin typeface="Times New Roman" panose="02020603050405020304" pitchFamily="18" charset="0"/>
              </a:rPr>
              <a:t>本章内容</a:t>
            </a:r>
            <a:br>
              <a:rPr lang="zh-CN" altLang="en-US" sz="5400" b="1" dirty="0">
                <a:solidFill>
                  <a:schemeClr val="tx1"/>
                </a:solidFill>
                <a:effectLst>
                  <a:outerShdw blurRad="38100" dist="38100" dir="2700000" algn="tl">
                    <a:srgbClr val="C0C0C0"/>
                  </a:outerShdw>
                </a:effectLst>
                <a:latin typeface="Times New Roman" panose="02020603050405020304" pitchFamily="18" charset="0"/>
              </a:rPr>
            </a:b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4.1 </a:t>
            </a:r>
            <a:r>
              <a:rPr lang="zh-CN" altLang="en-US" sz="3200" dirty="0">
                <a:solidFill>
                  <a:schemeClr val="tx1"/>
                </a:solidFill>
                <a:latin typeface="Times New Roman" panose="02020603050405020304" pitchFamily="18" charset="0"/>
                <a:ea typeface="黑体" panose="02010609060101010101" pitchFamily="49" charset="-122"/>
              </a:rPr>
              <a:t>机器学习概论</a:t>
            </a: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4.2 </a:t>
            </a:r>
            <a:r>
              <a:rPr lang="zh-CN" altLang="en-US" sz="3200" dirty="0">
                <a:solidFill>
                  <a:schemeClr val="tx1"/>
                </a:solidFill>
                <a:latin typeface="Times New Roman" panose="02020603050405020304" pitchFamily="18" charset="0"/>
                <a:ea typeface="黑体" panose="02010609060101010101" pitchFamily="49" charset="-122"/>
              </a:rPr>
              <a:t>分类算法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4.2.1</a:t>
            </a:r>
            <a:r>
              <a:rPr lang="zh-CN" altLang="en-US" sz="3200" dirty="0">
                <a:solidFill>
                  <a:schemeClr val="tx1"/>
                </a:solidFill>
                <a:latin typeface="Times New Roman" panose="02020603050405020304" pitchFamily="18" charset="0"/>
                <a:ea typeface="黑体" panose="02010609060101010101" pitchFamily="49" charset="-122"/>
              </a:rPr>
              <a:t>：决策树</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a:t>
            </a:r>
            <a:r>
              <a:rPr lang="en-US" altLang="zh-CN" sz="3200" b="1" dirty="0">
                <a:solidFill>
                  <a:srgbClr val="C00000"/>
                </a:solidFill>
                <a:latin typeface="Times New Roman" panose="02020603050405020304" pitchFamily="18" charset="0"/>
                <a:ea typeface="黑体" panose="02010609060101010101" pitchFamily="49" charset="-122"/>
              </a:rPr>
              <a:t>4.2.2</a:t>
            </a:r>
            <a:r>
              <a:rPr lang="zh-CN" altLang="en-US" sz="3200" b="1" dirty="0">
                <a:solidFill>
                  <a:srgbClr val="C00000"/>
                </a:solidFill>
                <a:latin typeface="Times New Roman" panose="02020603050405020304" pitchFamily="18" charset="0"/>
                <a:ea typeface="黑体" panose="02010609060101010101" pitchFamily="49" charset="-122"/>
              </a:rPr>
              <a:t>：朴素贝叶斯分类器</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4.2.3</a:t>
            </a:r>
            <a:r>
              <a:rPr lang="zh-CN" altLang="en-US" sz="3200" dirty="0">
                <a:solidFill>
                  <a:schemeClr val="tx1"/>
                </a:solidFill>
                <a:latin typeface="Times New Roman" panose="02020603050405020304" pitchFamily="18" charset="0"/>
                <a:ea typeface="黑体" panose="02010609060101010101" pitchFamily="49" charset="-122"/>
              </a:rPr>
              <a:t>：集体学习</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4.2.4</a:t>
            </a:r>
            <a:r>
              <a:rPr lang="zh-CN" altLang="en-US" sz="3200" dirty="0">
                <a:solidFill>
                  <a:schemeClr val="tx1"/>
                </a:solidFill>
                <a:latin typeface="Times New Roman" panose="02020603050405020304" pitchFamily="18" charset="0"/>
                <a:ea typeface="黑体" panose="02010609060101010101" pitchFamily="49" charset="-122"/>
              </a:rPr>
              <a:t>：支持向量机（</a:t>
            </a:r>
            <a:r>
              <a:rPr lang="en-US" altLang="zh-CN" sz="3200" dirty="0" err="1">
                <a:solidFill>
                  <a:schemeClr val="tx1"/>
                </a:solidFill>
                <a:latin typeface="Times New Roman" panose="02020603050405020304" pitchFamily="18" charset="0"/>
                <a:ea typeface="黑体" panose="02010609060101010101" pitchFamily="49" charset="-122"/>
              </a:rPr>
              <a:t>SVM</a:t>
            </a:r>
            <a:r>
              <a:rPr lang="zh-CN" altLang="en-US" sz="3200" dirty="0">
                <a:solidFill>
                  <a:schemeClr val="tx1"/>
                </a:solidFill>
                <a:latin typeface="Times New Roman" panose="02020603050405020304" pitchFamily="18" charset="0"/>
                <a:ea typeface="黑体" panose="02010609060101010101" pitchFamily="49" charset="-122"/>
              </a:rPr>
              <a:t>）</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4.3 </a:t>
            </a:r>
            <a:r>
              <a:rPr lang="zh-CN" altLang="en-US" sz="3200" dirty="0">
                <a:solidFill>
                  <a:schemeClr val="tx1"/>
                </a:solidFill>
                <a:latin typeface="Times New Roman" panose="02020603050405020304" pitchFamily="18" charset="0"/>
                <a:ea typeface="黑体" panose="02010609060101010101" pitchFamily="49" charset="-122"/>
              </a:rPr>
              <a:t>回归算法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4.4 </a:t>
            </a:r>
            <a:r>
              <a:rPr lang="zh-CN" altLang="en-US" sz="3200" dirty="0">
                <a:solidFill>
                  <a:schemeClr val="tx1"/>
                </a:solidFill>
                <a:latin typeface="Times New Roman" panose="02020603050405020304" pitchFamily="18" charset="0"/>
                <a:ea typeface="黑体" panose="02010609060101010101" pitchFamily="49" charset="-122"/>
              </a:rPr>
              <a:t>聚类算法</a:t>
            </a:r>
            <a:br>
              <a:rPr lang="zh-CN" altLang="en-US" sz="3200" dirty="0">
                <a:solidFill>
                  <a:schemeClr val="tx1"/>
                </a:solidFill>
                <a:latin typeface="Times New Roman" panose="02020603050405020304" pitchFamily="18" charset="0"/>
                <a:ea typeface="黑体" panose="02010609060101010101" pitchFamily="49" charset="-122"/>
              </a:rPr>
            </a:br>
            <a:br>
              <a:rPr lang="zh-CN" altLang="en-US" sz="3200" dirty="0">
                <a:solidFill>
                  <a:schemeClr val="tx1"/>
                </a:solidFill>
                <a:latin typeface="Times New Roman" panose="02020603050405020304" pitchFamily="18" charset="0"/>
                <a:ea typeface="黑体" panose="02010609060101010101" pitchFamily="49" charset="-122"/>
              </a:rPr>
            </a:br>
            <a:endParaRPr lang="en-US" altLang="zh-CN" sz="3200" dirty="0">
              <a:solidFill>
                <a:schemeClr val="tx1"/>
              </a:solidFill>
              <a:latin typeface="Times New Roman" panose="02020603050405020304" pitchFamily="18" charset="0"/>
              <a:ea typeface="黑体" panose="02010609060101010101" pitchFamily="49" charset="-122"/>
            </a:endParaRPr>
          </a:p>
        </p:txBody>
      </p:sp>
      <p:sp>
        <p:nvSpPr>
          <p:cNvPr id="7171" name="Text Box 3"/>
          <p:cNvSpPr txBox="1"/>
          <p:nvPr/>
        </p:nvSpPr>
        <p:spPr>
          <a:xfrm>
            <a:off x="1524001" y="404813"/>
            <a:ext cx="29876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50000"/>
              </a:spcBef>
              <a:buNone/>
            </a:pPr>
            <a:r>
              <a:rPr lang="zh-CN" altLang="en-US" sz="2400" dirty="0">
                <a:solidFill>
                  <a:srgbClr val="000000"/>
                </a:solidFill>
                <a:latin typeface="华文行楷" panose="02010800040101010101" pitchFamily="2" charset="-122"/>
                <a:ea typeface="华文行楷" panose="02010800040101010101" pitchFamily="2" charset="-122"/>
              </a:rPr>
              <a:t>第</a:t>
            </a:r>
            <a:r>
              <a:rPr lang="en-US" altLang="zh-CN" sz="2400" dirty="0">
                <a:solidFill>
                  <a:srgbClr val="000000"/>
                </a:solidFill>
                <a:latin typeface="华文行楷" panose="02010800040101010101" pitchFamily="2" charset="-122"/>
                <a:ea typeface="华文行楷" panose="02010800040101010101" pitchFamily="2" charset="-122"/>
              </a:rPr>
              <a:t>4</a:t>
            </a:r>
            <a:r>
              <a:rPr lang="zh-CN" altLang="en-US" sz="2400" dirty="0">
                <a:solidFill>
                  <a:srgbClr val="000000"/>
                </a:solidFill>
                <a:latin typeface="华文行楷" panose="02010800040101010101" pitchFamily="2" charset="-122"/>
                <a:ea typeface="华文行楷" panose="02010800040101010101" pitchFamily="2" charset="-122"/>
              </a:rPr>
              <a:t>章 机器学习</a:t>
            </a:r>
            <a:endParaRPr lang="en-US" altLang="zh-CN" sz="2400" dirty="0">
              <a:solidFill>
                <a:srgbClr val="000000"/>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6423670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矩形 9"/>
          <p:cNvSpPr/>
          <p:nvPr/>
        </p:nvSpPr>
        <p:spPr>
          <a:xfrm>
            <a:off x="1631951" y="942976"/>
            <a:ext cx="8424863" cy="124649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342900" latinLnBrk="0">
              <a:lnSpc>
                <a:spcPct val="125000"/>
              </a:lnSpc>
              <a:spcBef>
                <a:spcPct val="0"/>
              </a:spcBef>
              <a:buNone/>
            </a:pPr>
            <a:r>
              <a:rPr lang="zh-CN" altLang="en-US" sz="2000" dirty="0">
                <a:latin typeface="微软雅黑" panose="020B0503020204020204" pitchFamily="34" charset="-122"/>
                <a:ea typeface="微软雅黑" panose="020B0503020204020204" pitchFamily="34" charset="-122"/>
                <a:sym typeface="+mn-ea"/>
              </a:rPr>
              <a:t>贝叶斯分类是基于贝叶斯定理和属性特征条件独立性的分类方法。</a:t>
            </a:r>
            <a:endParaRPr lang="en-US" altLang="zh-CN" sz="2000" dirty="0">
              <a:latin typeface="微软雅黑" panose="020B0503020204020204" pitchFamily="34" charset="-122"/>
              <a:ea typeface="微软雅黑" panose="020B0503020204020204" pitchFamily="34" charset="-122"/>
              <a:sym typeface="+mn-ea"/>
            </a:endParaRPr>
          </a:p>
          <a:p>
            <a:pPr marL="0" indent="342900" latinLnBrk="0">
              <a:lnSpc>
                <a:spcPct val="125000"/>
              </a:lnSpc>
              <a:spcBef>
                <a:spcPct val="0"/>
              </a:spcBef>
              <a:buNone/>
            </a:pPr>
            <a:r>
              <a:rPr lang="zh-CN" altLang="en-US" sz="2000" dirty="0">
                <a:latin typeface="微软雅黑" panose="020B0503020204020204" pitchFamily="34" charset="-122"/>
                <a:ea typeface="微软雅黑" panose="020B0503020204020204" pitchFamily="34" charset="-122"/>
              </a:rPr>
              <a:t>贝叶斯流派的核心：</a:t>
            </a:r>
            <a:r>
              <a:rPr lang="en-US" altLang="zh-CN" sz="2000" dirty="0">
                <a:latin typeface="微软雅黑" panose="020B0503020204020204" pitchFamily="34" charset="-122"/>
                <a:ea typeface="微软雅黑" panose="020B0503020204020204" pitchFamily="34" charset="-122"/>
                <a:sym typeface="+mn-ea"/>
              </a:rPr>
              <a:t>Probability theory is nothing but common sense reduced to calculation.</a:t>
            </a:r>
            <a:endParaRPr lang="zh-CN" altLang="en-US" sz="2000" dirty="0">
              <a:latin typeface="微软雅黑" panose="020B0503020204020204" pitchFamily="34" charset="-122"/>
              <a:ea typeface="微软雅黑" panose="020B0503020204020204" pitchFamily="34" charset="-122"/>
              <a:sym typeface="+mn-ea"/>
            </a:endParaRPr>
          </a:p>
        </p:txBody>
      </p:sp>
      <p:sp>
        <p:nvSpPr>
          <p:cNvPr id="11" name="矩形 10"/>
          <p:cNvSpPr/>
          <p:nvPr/>
        </p:nvSpPr>
        <p:spPr>
          <a:xfrm>
            <a:off x="2116138" y="2765425"/>
            <a:ext cx="5203998" cy="707886"/>
          </a:xfrm>
          <a:prstGeom prst="rect">
            <a:avLst/>
          </a:prstGeom>
          <a:solidFill>
            <a:srgbClr val="F2FFFB"/>
          </a:solidFill>
          <a:ln w="19050">
            <a:solidFill>
              <a:schemeClr val="accent6"/>
            </a:solidFill>
            <a:prstDash val="sysDash"/>
          </a:ln>
        </p:spPr>
        <p:txBody>
          <a:bodyPr wrap="square">
            <a:spAutoFit/>
          </a:bodyPr>
          <a:lstStyle/>
          <a:p>
            <a:pPr>
              <a:defRPr/>
            </a:pPr>
            <a:r>
              <a:rPr kumimoji="1" lang="zh-CN" altLang="en-US" sz="2000" dirty="0">
                <a:latin typeface="微软雅黑" panose="020B0503020204020204" pitchFamily="34" charset="-122"/>
                <a:ea typeface="微软雅黑" panose="020B0503020204020204" pitchFamily="34" charset="-122"/>
                <a:sym typeface="+mn-ea"/>
              </a:rPr>
              <a:t>案例：假设春季感冒流行，你同桌打了一个喷嚏，那你同桌感冒了的概率是多少？</a:t>
            </a:r>
          </a:p>
        </p:txBody>
      </p:sp>
      <p:pic>
        <p:nvPicPr>
          <p:cNvPr id="13" name="Picture 2" descr="C:\Users\pcpc\AppData\Local\Temp\vmware-pcpc\VMwareDnD\5a42fc03\timg.jpg"/>
          <p:cNvPicPr>
            <a:picLocks noChangeAspect="1"/>
          </p:cNvPicPr>
          <p:nvPr/>
        </p:nvPicPr>
        <p:blipFill>
          <a:blip r:embed="rId2"/>
          <a:stretch>
            <a:fillRect/>
          </a:stretch>
        </p:blipFill>
        <p:spPr>
          <a:xfrm>
            <a:off x="7227888" y="3635375"/>
            <a:ext cx="3440113" cy="2501900"/>
          </a:xfrm>
          <a:prstGeom prst="rect">
            <a:avLst/>
          </a:prstGeom>
          <a:noFill/>
          <a:ln w="9525">
            <a:noFill/>
          </a:ln>
        </p:spPr>
      </p:pic>
      <p:sp>
        <p:nvSpPr>
          <p:cNvPr id="3" name="矩形 2"/>
          <p:cNvSpPr/>
          <p:nvPr/>
        </p:nvSpPr>
        <p:spPr>
          <a:xfrm>
            <a:off x="2101850" y="2143125"/>
            <a:ext cx="7810500" cy="40011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000" dirty="0">
                <a:latin typeface="微软雅黑" panose="020B0503020204020204" pitchFamily="34" charset="-122"/>
                <a:ea typeface="微软雅黑" panose="020B0503020204020204" pitchFamily="34" charset="-122"/>
              </a:rPr>
              <a:t>概率论只不过是把常识用数学公式表达了出来。</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拉普拉斯</a:t>
            </a:r>
          </a:p>
        </p:txBody>
      </p:sp>
      <p:sp>
        <p:nvSpPr>
          <p:cNvPr id="12" name="矩形 11"/>
          <p:cNvSpPr/>
          <p:nvPr/>
        </p:nvSpPr>
        <p:spPr>
          <a:xfrm>
            <a:off x="2116138" y="3635376"/>
            <a:ext cx="5244338" cy="2400657"/>
          </a:xfrm>
          <a:prstGeom prst="rect">
            <a:avLst/>
          </a:prstGeom>
        </p:spPr>
        <p:txBody>
          <a:bodyPr wrap="square">
            <a:spAutoFit/>
          </a:bodyPr>
          <a:lstStyle/>
          <a:p>
            <a:pPr>
              <a:lnSpc>
                <a:spcPct val="125000"/>
              </a:lnSpc>
              <a:buFont typeface="+mj-lt"/>
              <a:buAutoNum type="arabicPeriod"/>
              <a:defRPr/>
            </a:pPr>
            <a:r>
              <a:rPr kumimoji="1" lang="zh-CN" altLang="en-US" sz="2000" b="1" dirty="0">
                <a:solidFill>
                  <a:srgbClr val="0070C0"/>
                </a:solidFill>
                <a:latin typeface="微软雅黑" panose="020B0503020204020204" pitchFamily="34" charset="-122"/>
                <a:ea typeface="微软雅黑" panose="020B0503020204020204" pitchFamily="34" charset="-122"/>
              </a:rPr>
              <a:t>  计算先验概率：</a:t>
            </a:r>
            <a:r>
              <a:rPr kumimoji="1" lang="zh-CN" altLang="en-US" sz="2000" dirty="0">
                <a:latin typeface="微软雅黑" panose="020B0503020204020204" pitchFamily="34" charset="-122"/>
                <a:ea typeface="微软雅黑" panose="020B0503020204020204" pitchFamily="34" charset="-122"/>
              </a:rPr>
              <a:t>你同桌得感冒的概率</a:t>
            </a:r>
            <a:endParaRPr kumimoji="1" lang="en-US" altLang="zh-CN" sz="2000" dirty="0">
              <a:latin typeface="微软雅黑" panose="020B0503020204020204" pitchFamily="34" charset="-122"/>
              <a:ea typeface="微软雅黑" panose="020B0503020204020204" pitchFamily="34" charset="-122"/>
            </a:endParaRPr>
          </a:p>
          <a:p>
            <a:pPr indent="-342900">
              <a:lnSpc>
                <a:spcPct val="125000"/>
              </a:lnSpc>
              <a:buFont typeface="+mj-lt"/>
              <a:buAutoNum type="arabicPeriod" startAt="2"/>
              <a:defRPr/>
            </a:pPr>
            <a:r>
              <a:rPr kumimoji="1" lang="zh-CN" altLang="en-US" sz="2000" b="1" dirty="0">
                <a:solidFill>
                  <a:srgbClr val="0070C0"/>
                </a:solidFill>
                <a:latin typeface="微软雅黑" panose="020B0503020204020204" pitchFamily="34" charset="-122"/>
                <a:ea typeface="微软雅黑" panose="020B0503020204020204" pitchFamily="34" charset="-122"/>
              </a:rPr>
              <a:t>为每个属性计算条件概率：</a:t>
            </a:r>
            <a:r>
              <a:rPr kumimoji="1" lang="zh-CN" altLang="en-US" sz="2000" dirty="0">
                <a:latin typeface="微软雅黑" panose="020B0503020204020204" pitchFamily="34" charset="-122"/>
                <a:ea typeface="微软雅黑" panose="020B0503020204020204" pitchFamily="34" charset="-122"/>
              </a:rPr>
              <a:t>如果你同桌感冒了， 那么他会打喷嚏的概率是多少， 如果他没感冒， 出现打喷嚏症状的概率有多少？ </a:t>
            </a:r>
            <a:r>
              <a:rPr kumimoji="1" lang="zh-CN" altLang="en-US" sz="2000" b="1" dirty="0">
                <a:solidFill>
                  <a:srgbClr val="0070C0"/>
                </a:solidFill>
                <a:latin typeface="微软雅黑" panose="020B0503020204020204" pitchFamily="34" charset="-122"/>
                <a:ea typeface="微软雅黑" panose="020B0503020204020204" pitchFamily="34" charset="-122"/>
              </a:rPr>
              <a:t> </a:t>
            </a:r>
            <a:endParaRPr kumimoji="1" lang="en-US" altLang="zh-CN" sz="2000" dirty="0">
              <a:latin typeface="微软雅黑" panose="020B0503020204020204" pitchFamily="34" charset="-122"/>
              <a:ea typeface="微软雅黑" panose="020B0503020204020204" pitchFamily="34" charset="-122"/>
            </a:endParaRPr>
          </a:p>
          <a:p>
            <a:pPr>
              <a:lnSpc>
                <a:spcPct val="125000"/>
              </a:lnSpc>
              <a:buFont typeface="+mj-lt"/>
              <a:buAutoNum type="arabicPeriod" startAt="2"/>
              <a:defRPr/>
            </a:pPr>
            <a:r>
              <a:rPr kumimoji="1" lang="zh-CN" altLang="en-US" sz="2000" b="1" dirty="0">
                <a:solidFill>
                  <a:srgbClr val="0070C0"/>
                </a:solidFill>
                <a:latin typeface="微软雅黑" panose="020B0503020204020204" pitchFamily="34" charset="-122"/>
                <a:ea typeface="微软雅黑" panose="020B0503020204020204" pitchFamily="34" charset="-122"/>
              </a:rPr>
              <a:t>  计算后验概率：</a:t>
            </a:r>
            <a:r>
              <a:rPr kumimoji="1" lang="zh-CN" altLang="en-US" sz="2000" dirty="0">
                <a:latin typeface="微软雅黑" panose="020B0503020204020204" pitchFamily="34" charset="-122"/>
                <a:ea typeface="微软雅黑" panose="020B0503020204020204" pitchFamily="34" charset="-122"/>
              </a:rPr>
              <a:t>根据</a:t>
            </a:r>
            <a:r>
              <a:rPr kumimoji="1" lang="en-US" altLang="zh-CN" sz="2000" dirty="0">
                <a:latin typeface="微软雅黑" panose="020B0503020204020204" pitchFamily="34" charset="-122"/>
                <a:ea typeface="微软雅黑" panose="020B0503020204020204" pitchFamily="34" charset="-122"/>
              </a:rPr>
              <a:t>1 </a:t>
            </a:r>
            <a:r>
              <a:rPr kumimoji="1" lang="zh-CN" altLang="en-US" sz="2000" dirty="0">
                <a:latin typeface="微软雅黑" panose="020B0503020204020204" pitchFamily="34" charset="-122"/>
                <a:ea typeface="微软雅黑" panose="020B0503020204020204" pitchFamily="34" charset="-122"/>
              </a:rPr>
              <a:t>和</a:t>
            </a:r>
            <a:r>
              <a:rPr kumimoji="1" lang="en-US" altLang="zh-CN" sz="2000" dirty="0">
                <a:latin typeface="微软雅黑" panose="020B0503020204020204" pitchFamily="34" charset="-122"/>
                <a:ea typeface="微软雅黑" panose="020B0503020204020204" pitchFamily="34" charset="-122"/>
              </a:rPr>
              <a:t>2</a:t>
            </a:r>
            <a:r>
              <a:rPr kumimoji="1" lang="zh-CN" altLang="en-US" sz="2000" dirty="0">
                <a:latin typeface="微软雅黑" panose="020B0503020204020204" pitchFamily="34" charset="-122"/>
                <a:ea typeface="微软雅黑" panose="020B0503020204020204" pitchFamily="34" charset="-122"/>
              </a:rPr>
              <a:t>求解最终问题，这才是拥有贝叶斯思想的你该做的分析</a:t>
            </a:r>
            <a:r>
              <a:rPr kumimoji="1" lang="zh-CN" altLang="en-US" sz="2000" dirty="0">
                <a:latin typeface="PingFang SC"/>
              </a:rPr>
              <a:t>。</a:t>
            </a:r>
          </a:p>
        </p:txBody>
      </p:sp>
      <p:sp>
        <p:nvSpPr>
          <p:cNvPr id="8" name="Rectangle 2"/>
          <p:cNvSpPr txBox="1">
            <a:spLocks noChangeArrowheads="1"/>
          </p:cNvSpPr>
          <p:nvPr/>
        </p:nvSpPr>
        <p:spPr>
          <a:xfrm>
            <a:off x="1847850" y="84138"/>
            <a:ext cx="7772400" cy="731838"/>
          </a:xfrm>
          <a:prstGeom prst="rect">
            <a:avLst/>
          </a:prstGeom>
        </p:spPr>
        <p:txBody>
          <a:bodyP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en-US" altLang="zh-CN" sz="3200" b="1" dirty="0">
                <a:solidFill>
                  <a:schemeClr val="tx1"/>
                </a:solidFill>
                <a:effectLst>
                  <a:outerShdw blurRad="38100" dist="38100" dir="2700000" algn="tl">
                    <a:srgbClr val="C0C0C0"/>
                  </a:outerShdw>
                </a:effectLst>
              </a:rPr>
              <a:t>4.3 </a:t>
            </a:r>
            <a:r>
              <a:rPr lang="zh-CN" altLang="en-US" sz="3200" b="1" dirty="0">
                <a:solidFill>
                  <a:schemeClr val="tx1"/>
                </a:solidFill>
                <a:effectLst>
                  <a:outerShdw blurRad="38100" dist="38100" dir="2700000" algn="tl">
                    <a:srgbClr val="C0C0C0"/>
                  </a:outerShdw>
                </a:effectLst>
              </a:rPr>
              <a:t>朴素贝叶斯分类</a:t>
            </a:r>
            <a:endParaRPr lang="en-US" altLang="zh-CN" sz="3200" b="1" dirty="0">
              <a:solidFill>
                <a:schemeClr val="tx1"/>
              </a:solidFill>
              <a:effectLst>
                <a:outerShdw blurRad="38100" dist="38100" dir="2700000" algn="tl">
                  <a:srgbClr val="C0C0C0"/>
                </a:outerShdw>
              </a:effectLst>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4223792" y="776086"/>
            <a:ext cx="5810524" cy="1185108"/>
          </a:xfrm>
          <a:prstGeom prst="rect">
            <a:avLst/>
          </a:prstGeom>
          <a:noFill/>
          <a:ln w="9525">
            <a:noFill/>
          </a:ln>
        </p:spPr>
      </p:pic>
      <p:pic>
        <p:nvPicPr>
          <p:cNvPr id="23" name="图片 22"/>
          <p:cNvPicPr>
            <a:picLocks noChangeAspect="1"/>
          </p:cNvPicPr>
          <p:nvPr/>
        </p:nvPicPr>
        <p:blipFill>
          <a:blip r:embed="rId3"/>
          <a:stretch>
            <a:fillRect/>
          </a:stretch>
        </p:blipFill>
        <p:spPr>
          <a:xfrm>
            <a:off x="6750061" y="2364946"/>
            <a:ext cx="3773589" cy="688221"/>
          </a:xfrm>
          <a:prstGeom prst="rect">
            <a:avLst/>
          </a:prstGeom>
          <a:noFill/>
          <a:ln w="9525">
            <a:noFill/>
          </a:ln>
        </p:spPr>
      </p:pic>
      <p:sp>
        <p:nvSpPr>
          <p:cNvPr id="7" name="矩形 6"/>
          <p:cNvSpPr/>
          <p:nvPr/>
        </p:nvSpPr>
        <p:spPr>
          <a:xfrm>
            <a:off x="2135710" y="1160678"/>
            <a:ext cx="1800225" cy="415925"/>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100" b="1" dirty="0">
                <a:solidFill>
                  <a:srgbClr val="0070C0"/>
                </a:solidFill>
                <a:latin typeface="微软雅黑" panose="020B0503020204020204" pitchFamily="34" charset="-122"/>
                <a:ea typeface="微软雅黑" panose="020B0503020204020204" pitchFamily="34" charset="-122"/>
                <a:sym typeface="+mn-ea"/>
              </a:rPr>
              <a:t>贝叶斯公式：</a:t>
            </a:r>
          </a:p>
        </p:txBody>
      </p:sp>
      <p:pic>
        <p:nvPicPr>
          <p:cNvPr id="16" name="图片 15"/>
          <p:cNvPicPr>
            <a:picLocks noChangeAspect="1"/>
          </p:cNvPicPr>
          <p:nvPr/>
        </p:nvPicPr>
        <p:blipFill>
          <a:blip r:embed="rId4"/>
          <a:stretch>
            <a:fillRect/>
          </a:stretch>
        </p:blipFill>
        <p:spPr>
          <a:xfrm>
            <a:off x="4151785" y="2371123"/>
            <a:ext cx="2428353" cy="675866"/>
          </a:xfrm>
          <a:prstGeom prst="rect">
            <a:avLst/>
          </a:prstGeom>
          <a:noFill/>
          <a:ln w="9525">
            <a:noFill/>
          </a:ln>
        </p:spPr>
      </p:pic>
      <p:sp>
        <p:nvSpPr>
          <p:cNvPr id="27" name="矩形 26"/>
          <p:cNvSpPr/>
          <p:nvPr/>
        </p:nvSpPr>
        <p:spPr>
          <a:xfrm>
            <a:off x="2108642" y="2420441"/>
            <a:ext cx="1800493" cy="415498"/>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100" b="1" dirty="0">
                <a:solidFill>
                  <a:srgbClr val="0070C0"/>
                </a:solidFill>
                <a:latin typeface="微软雅黑" panose="020B0503020204020204" pitchFamily="34" charset="-122"/>
                <a:ea typeface="微软雅黑" panose="020B0503020204020204" pitchFamily="34" charset="-122"/>
                <a:sym typeface="+mn-ea"/>
              </a:rPr>
              <a:t>贝叶斯理论：</a:t>
            </a:r>
          </a:p>
        </p:txBody>
      </p:sp>
      <p:sp>
        <p:nvSpPr>
          <p:cNvPr id="29" name="矩形 28"/>
          <p:cNvSpPr/>
          <p:nvPr/>
        </p:nvSpPr>
        <p:spPr>
          <a:xfrm>
            <a:off x="2010222" y="3446712"/>
            <a:ext cx="1800225" cy="414337"/>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100" b="1" dirty="0">
                <a:solidFill>
                  <a:srgbClr val="0070C0"/>
                </a:solidFill>
                <a:latin typeface="微软雅黑" panose="020B0503020204020204" pitchFamily="34" charset="-122"/>
                <a:ea typeface="微软雅黑" panose="020B0503020204020204" pitchFamily="34" charset="-122"/>
                <a:sym typeface="+mn-ea"/>
              </a:rPr>
              <a:t>朴素贝叶斯：</a:t>
            </a:r>
          </a:p>
        </p:txBody>
      </p:sp>
      <p:pic>
        <p:nvPicPr>
          <p:cNvPr id="19" name="图片 18"/>
          <p:cNvPicPr>
            <a:picLocks noChangeAspect="1"/>
          </p:cNvPicPr>
          <p:nvPr/>
        </p:nvPicPr>
        <p:blipFill>
          <a:blip r:embed="rId5"/>
          <a:stretch>
            <a:fillRect/>
          </a:stretch>
        </p:blipFill>
        <p:spPr>
          <a:xfrm>
            <a:off x="2053183" y="4078985"/>
            <a:ext cx="3514526" cy="565150"/>
          </a:xfrm>
          <a:prstGeom prst="rect">
            <a:avLst/>
          </a:prstGeom>
          <a:noFill/>
          <a:ln w="9525">
            <a:noFill/>
          </a:ln>
        </p:spPr>
      </p:pic>
      <p:pic>
        <p:nvPicPr>
          <p:cNvPr id="21" name="图片 20"/>
          <p:cNvPicPr>
            <a:picLocks noChangeAspect="1"/>
          </p:cNvPicPr>
          <p:nvPr/>
        </p:nvPicPr>
        <p:blipFill>
          <a:blip r:embed="rId6"/>
          <a:stretch>
            <a:fillRect/>
          </a:stretch>
        </p:blipFill>
        <p:spPr>
          <a:xfrm>
            <a:off x="5919547" y="3968206"/>
            <a:ext cx="4134253" cy="833799"/>
          </a:xfrm>
          <a:prstGeom prst="rect">
            <a:avLst/>
          </a:prstGeom>
          <a:noFill/>
          <a:ln w="9525">
            <a:noFill/>
          </a:ln>
        </p:spPr>
      </p:pic>
      <p:pic>
        <p:nvPicPr>
          <p:cNvPr id="24" name="图片 23"/>
          <p:cNvPicPr>
            <a:picLocks noChangeAspect="1"/>
          </p:cNvPicPr>
          <p:nvPr/>
        </p:nvPicPr>
        <p:blipFill>
          <a:blip r:embed="rId7"/>
          <a:stretch>
            <a:fillRect/>
          </a:stretch>
        </p:blipFill>
        <p:spPr>
          <a:xfrm>
            <a:off x="2000929" y="5154334"/>
            <a:ext cx="4289069" cy="624681"/>
          </a:xfrm>
          <a:prstGeom prst="rect">
            <a:avLst/>
          </a:prstGeom>
          <a:noFill/>
          <a:ln w="9525">
            <a:noFill/>
          </a:ln>
        </p:spPr>
      </p:pic>
      <p:pic>
        <p:nvPicPr>
          <p:cNvPr id="26" name="图片 25"/>
          <p:cNvPicPr>
            <a:picLocks noChangeAspect="1"/>
          </p:cNvPicPr>
          <p:nvPr/>
        </p:nvPicPr>
        <p:blipFill>
          <a:blip r:embed="rId8"/>
          <a:stretch>
            <a:fillRect/>
          </a:stretch>
        </p:blipFill>
        <p:spPr>
          <a:xfrm>
            <a:off x="6504252" y="4955199"/>
            <a:ext cx="3742276" cy="948999"/>
          </a:xfrm>
          <a:prstGeom prst="rect">
            <a:avLst/>
          </a:prstGeom>
          <a:noFill/>
          <a:ln w="9525">
            <a:noFill/>
          </a:ln>
        </p:spPr>
      </p:pic>
      <p:cxnSp>
        <p:nvCxnSpPr>
          <p:cNvPr id="34" name="直接连接符 33"/>
          <p:cNvCxnSpPr/>
          <p:nvPr/>
        </p:nvCxnSpPr>
        <p:spPr>
          <a:xfrm>
            <a:off x="4833388" y="5744703"/>
            <a:ext cx="1916672" cy="38664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6964315" y="5692289"/>
            <a:ext cx="1816902" cy="43905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6104323" y="6161421"/>
            <a:ext cx="2049463" cy="41592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100" b="1" dirty="0">
                <a:solidFill>
                  <a:srgbClr val="FF0000"/>
                </a:solidFill>
                <a:latin typeface="微软雅黑" panose="020B0503020204020204" pitchFamily="34" charset="-122"/>
                <a:ea typeface="微软雅黑" panose="020B0503020204020204" pitchFamily="34" charset="-122"/>
              </a:rPr>
              <a:t>条件独立假设</a:t>
            </a:r>
          </a:p>
        </p:txBody>
      </p:sp>
      <p:sp>
        <p:nvSpPr>
          <p:cNvPr id="4" name="矩形 3"/>
          <p:cNvSpPr/>
          <p:nvPr/>
        </p:nvSpPr>
        <p:spPr>
          <a:xfrm>
            <a:off x="3680272" y="3384799"/>
            <a:ext cx="6880225" cy="46166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lnSpc>
                <a:spcPct val="120000"/>
              </a:lnSpc>
              <a:spcBef>
                <a:spcPct val="0"/>
              </a:spcBef>
              <a:buNone/>
            </a:pP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输入：</a:t>
            </a:r>
            <a:r>
              <a:rPr lang="en-US" altLang="zh-CN" sz="2000" dirty="0">
                <a:latin typeface="Times New Roman" panose="02020603050405020304" pitchFamily="18" charset="0"/>
                <a:ea typeface="微软雅黑" panose="020B0503020204020204" pitchFamily="34" charset="-122"/>
                <a:sym typeface="Symbol" panose="05050102010706020507" pitchFamily="18" charset="2"/>
              </a:rPr>
              <a:t>x=&lt;a</a:t>
            </a:r>
            <a:r>
              <a:rPr lang="en-US" altLang="zh-CN" sz="2000" baseline="-25000" dirty="0">
                <a:latin typeface="Times New Roman" panose="02020603050405020304" pitchFamily="18" charset="0"/>
                <a:ea typeface="微软雅黑" panose="020B0503020204020204" pitchFamily="34" charset="-122"/>
                <a:sym typeface="Symbol" panose="05050102010706020507" pitchFamily="18" charset="2"/>
              </a:rPr>
              <a:t>1</a:t>
            </a:r>
            <a:r>
              <a:rPr lang="en-US" altLang="zh-CN" sz="2000" dirty="0">
                <a:latin typeface="Times New Roman" panose="02020603050405020304" pitchFamily="18" charset="0"/>
                <a:ea typeface="微软雅黑" panose="020B0503020204020204" pitchFamily="34" charset="-122"/>
                <a:sym typeface="Symbol" panose="05050102010706020507" pitchFamily="18" charset="2"/>
              </a:rPr>
              <a:t>,a</a:t>
            </a:r>
            <a:r>
              <a:rPr lang="en-US" altLang="zh-CN" sz="2000" baseline="-25000" dirty="0">
                <a:latin typeface="Times New Roman" panose="02020603050405020304" pitchFamily="18" charset="0"/>
                <a:ea typeface="微软雅黑" panose="020B0503020204020204" pitchFamily="34" charset="-122"/>
                <a:sym typeface="Symbol" panose="05050102010706020507" pitchFamily="18" charset="2"/>
              </a:rPr>
              <a:t>2</a:t>
            </a:r>
            <a:r>
              <a:rPr lang="en-US" altLang="zh-CN" sz="2000" dirty="0">
                <a:latin typeface="Times New Roman" panose="02020603050405020304" pitchFamily="18" charset="0"/>
                <a:ea typeface="微软雅黑" panose="020B0503020204020204" pitchFamily="34" charset="-122"/>
                <a:sym typeface="Symbol" panose="05050102010706020507" pitchFamily="18" charset="2"/>
              </a:rPr>
              <a:t>,…a</a:t>
            </a:r>
            <a:r>
              <a:rPr lang="en-US" altLang="zh-CN" sz="2000" baseline="-25000" dirty="0">
                <a:latin typeface="Times New Roman" panose="02020603050405020304" pitchFamily="18" charset="0"/>
                <a:ea typeface="微软雅黑" panose="020B0503020204020204" pitchFamily="34" charset="-122"/>
                <a:sym typeface="Symbol" panose="05050102010706020507" pitchFamily="18" charset="2"/>
              </a:rPr>
              <a:t>n</a:t>
            </a:r>
            <a:r>
              <a:rPr lang="en-US" altLang="zh-CN" sz="2000" dirty="0">
                <a:latin typeface="Times New Roman" panose="02020603050405020304" pitchFamily="18" charset="0"/>
                <a:ea typeface="微软雅黑" panose="020B0503020204020204" pitchFamily="34" charset="-122"/>
                <a:sym typeface="Symbol" panose="05050102010706020507" pitchFamily="18" charset="2"/>
              </a:rPr>
              <a:t>&gt;</a:t>
            </a: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，输出：最佳分类</a:t>
            </a:r>
            <a:r>
              <a:rPr lang="en-US" altLang="zh-CN" sz="2000" i="1" dirty="0">
                <a:latin typeface="Times New Roman" panose="02020603050405020304" pitchFamily="18" charset="0"/>
                <a:ea typeface="微软雅黑" panose="020B0503020204020204" pitchFamily="34" charset="-122"/>
                <a:sym typeface="Symbol" panose="05050102010706020507" pitchFamily="18" charset="2"/>
              </a:rPr>
              <a:t>w</a:t>
            </a:r>
            <a:r>
              <a:rPr lang="en-US" altLang="zh-CN" sz="2000" baseline="-25000" dirty="0">
                <a:latin typeface="Times New Roman" panose="02020603050405020304" pitchFamily="18" charset="0"/>
                <a:ea typeface="微软雅黑" panose="020B0503020204020204" pitchFamily="34" charset="-122"/>
                <a:sym typeface="Symbol" panose="05050102010706020507" pitchFamily="18" charset="2"/>
              </a:rPr>
              <a:t>j</a:t>
            </a:r>
            <a:endParaRPr lang="zh-CN" altLang="en-US" sz="2000" baseline="-25000" dirty="0">
              <a:latin typeface="Times New Roman" panose="02020603050405020304" pitchFamily="18" charset="0"/>
              <a:ea typeface="微软雅黑" panose="020B0503020204020204" pitchFamily="34" charset="-122"/>
              <a:sym typeface="Symbol" panose="05050102010706020507" pitchFamily="18" charset="2"/>
            </a:endParaRPr>
          </a:p>
        </p:txBody>
      </p:sp>
      <p:sp>
        <p:nvSpPr>
          <p:cNvPr id="18" name="椭圆 17"/>
          <p:cNvSpPr/>
          <p:nvPr/>
        </p:nvSpPr>
        <p:spPr>
          <a:xfrm>
            <a:off x="7820809" y="4423400"/>
            <a:ext cx="1914191" cy="434053"/>
          </a:xfrm>
          <a:prstGeom prst="ellipse">
            <a:avLst/>
          </a:prstGeom>
          <a:noFill/>
          <a:ln w="9525" cap="flat" cmpd="sng">
            <a:solidFill>
              <a:srgbClr val="FF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20" name="文本框 19"/>
          <p:cNvSpPr txBox="1"/>
          <p:nvPr/>
        </p:nvSpPr>
        <p:spPr>
          <a:xfrm>
            <a:off x="9700635" y="4429678"/>
            <a:ext cx="1187450" cy="400050"/>
          </a:xfrm>
          <a:prstGeom prst="rect">
            <a:avLst/>
          </a:prstGeom>
          <a:noFill/>
        </p:spPr>
        <p:txBody>
          <a:bodyPr>
            <a:spAutoFit/>
          </a:bodyPr>
          <a:lstStyle/>
          <a:p>
            <a:pPr>
              <a:defRPr/>
            </a:pPr>
            <a:r>
              <a:rPr kumimoji="1" lang="zh-CN" altLang="en-US" sz="2000" dirty="0">
                <a:solidFill>
                  <a:srgbClr val="FF0000"/>
                </a:solidFill>
                <a:latin typeface="+mn-ea"/>
                <a:ea typeface="+mn-ea"/>
              </a:rPr>
              <a:t>常数</a:t>
            </a:r>
          </a:p>
        </p:txBody>
      </p:sp>
      <p:sp>
        <p:nvSpPr>
          <p:cNvPr id="5" name="矩形 4"/>
          <p:cNvSpPr/>
          <p:nvPr/>
        </p:nvSpPr>
        <p:spPr>
          <a:xfrm>
            <a:off x="2698343" y="6067050"/>
            <a:ext cx="2533561" cy="424732"/>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lnSpc>
                <a:spcPct val="120000"/>
              </a:lnSpc>
              <a:spcBef>
                <a:spcPct val="0"/>
              </a:spcBef>
              <a:buNone/>
            </a:pPr>
            <a:r>
              <a:rPr lang="zh-CN" altLang="en-US" sz="1800" dirty="0">
                <a:latin typeface="Times New Roman" panose="02020603050405020304" pitchFamily="18" charset="0"/>
                <a:ea typeface="微软雅黑" panose="020B0503020204020204" pitchFamily="34" charset="-122"/>
                <a:sym typeface="Symbol" panose="05050102010706020507" pitchFamily="18" charset="2"/>
              </a:rPr>
              <a:t>最大后验概率公式</a:t>
            </a:r>
            <a:endParaRPr lang="en-US" altLang="zh-CN" sz="1800" dirty="0">
              <a:latin typeface="Times New Roman" panose="02020603050405020304" pitchFamily="18" charset="0"/>
              <a:ea typeface="微软雅黑" panose="020B0503020204020204" pitchFamily="34" charset="-122"/>
              <a:sym typeface="Symbol" panose="05050102010706020507" pitchFamily="18" charset="2"/>
            </a:endParaRPr>
          </a:p>
        </p:txBody>
      </p:sp>
      <p:sp>
        <p:nvSpPr>
          <p:cNvPr id="22" name="Rectangle 2"/>
          <p:cNvSpPr txBox="1">
            <a:spLocks noChangeArrowheads="1"/>
          </p:cNvSpPr>
          <p:nvPr/>
        </p:nvSpPr>
        <p:spPr>
          <a:xfrm>
            <a:off x="1847850" y="84138"/>
            <a:ext cx="7772400" cy="731838"/>
          </a:xfrm>
          <a:prstGeom prst="rect">
            <a:avLst/>
          </a:prstGeom>
        </p:spPr>
        <p:txBody>
          <a:bodyP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en-US" altLang="zh-CN" sz="3200" b="1" dirty="0">
                <a:solidFill>
                  <a:schemeClr val="tx1"/>
                </a:solidFill>
                <a:effectLst>
                  <a:outerShdw blurRad="38100" dist="38100" dir="2700000" algn="tl">
                    <a:srgbClr val="C0C0C0"/>
                  </a:outerShdw>
                </a:effectLst>
              </a:rPr>
              <a:t>4.3 </a:t>
            </a:r>
            <a:r>
              <a:rPr lang="zh-CN" altLang="en-US" sz="3200" b="1" dirty="0">
                <a:solidFill>
                  <a:schemeClr val="tx1"/>
                </a:solidFill>
                <a:effectLst>
                  <a:outerShdw blurRad="38100" dist="38100" dir="2700000" algn="tl">
                    <a:srgbClr val="C0C0C0"/>
                  </a:outerShdw>
                </a:effectLst>
              </a:rPr>
              <a:t>朴素贝叶斯分类</a:t>
            </a:r>
            <a:endParaRPr lang="en-US" altLang="zh-CN" sz="3200" b="1" dirty="0">
              <a:solidFill>
                <a:schemeClr val="tx1"/>
              </a:solidFill>
              <a:effectLst>
                <a:outerShdw blurRad="38100" dist="38100" dir="2700000" algn="tl">
                  <a:srgbClr val="C0C0C0"/>
                </a:outerShdw>
              </a:effectLst>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7" grpId="0"/>
      <p:bldP spid="29" grpId="0"/>
      <p:bldP spid="40" grpId="0"/>
      <p:bldP spid="4" grpId="0"/>
      <p:bldP spid="18" grpId="0" animBg="1"/>
      <p:bldP spid="20" grpId="0"/>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a:xfrm>
            <a:off x="2208213" y="549275"/>
            <a:ext cx="7772400" cy="731838"/>
          </a:xfrm>
        </p:spPr>
        <p:txBody>
          <a:bodyPr vert="horz" wrap="square" lIns="91440" tIns="45720" rIns="91440" bIns="45720" numCol="1" anchor="ctr" anchorCtr="0" compatLnSpc="1"/>
          <a:lstStyle/>
          <a:p>
            <a:pPr algn="ctr" eaLnBrk="1" hangingPunct="1">
              <a:defRPr/>
            </a:pPr>
            <a:r>
              <a:rPr lang="zh-CN" altLang="en-US" sz="3600" b="1" dirty="0">
                <a:solidFill>
                  <a:schemeClr val="tx1"/>
                </a:solidFill>
                <a:effectLst>
                  <a:outerShdw blurRad="38100" dist="38100" dir="2700000" algn="tl">
                    <a:srgbClr val="C0C0C0"/>
                  </a:outerShdw>
                </a:effectLst>
                <a:latin typeface="+mn-ea"/>
                <a:ea typeface="+mn-ea"/>
              </a:rPr>
              <a:t>朴素贝叶斯分类器假设</a:t>
            </a:r>
            <a:endParaRPr lang="en-US" altLang="zh-CN" sz="3600" b="1" dirty="0">
              <a:solidFill>
                <a:schemeClr val="tx1"/>
              </a:solidFill>
              <a:effectLst>
                <a:outerShdw blurRad="38100" dist="38100" dir="2700000" algn="tl">
                  <a:srgbClr val="C0C0C0"/>
                </a:outerShdw>
              </a:effectLst>
              <a:latin typeface="+mn-ea"/>
              <a:ea typeface="+mn-ea"/>
            </a:endParaRPr>
          </a:p>
        </p:txBody>
      </p:sp>
      <p:sp>
        <p:nvSpPr>
          <p:cNvPr id="565251" name="Rectangle 3"/>
          <p:cNvSpPr>
            <a:spLocks noGrp="1"/>
          </p:cNvSpPr>
          <p:nvPr>
            <p:ph idx="1"/>
          </p:nvPr>
        </p:nvSpPr>
        <p:spPr>
          <a:xfrm>
            <a:off x="1847850" y="1484313"/>
            <a:ext cx="8604250" cy="4824412"/>
          </a:xfrm>
          <a:ln/>
        </p:spPr>
        <p:txBody>
          <a:bodyPr vert="horz" wrap="square" lIns="91440" tIns="45720" rIns="91440" bIns="45720" anchor="t" anchorCtr="0"/>
          <a:lstStyle/>
          <a:p>
            <a:pPr eaLnBrk="1" hangingPunct="1">
              <a:lnSpc>
                <a:spcPct val="120000"/>
              </a:lnSpc>
            </a:pPr>
            <a:r>
              <a:rPr lang="zh-CN" altLang="en-US" sz="2400" dirty="0">
                <a:latin typeface="Times New Roman" panose="02020603050405020304" pitchFamily="18" charset="0"/>
                <a:ea typeface="微软雅黑" panose="020B0503020204020204" pitchFamily="34" charset="-122"/>
              </a:rPr>
              <a:t>朴素贝叶斯分类器核心假设</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在给定类别值时属性值之间相互</a:t>
            </a:r>
            <a:r>
              <a:rPr lang="zh-CN" altLang="en-US" sz="2400" dirty="0">
                <a:solidFill>
                  <a:srgbClr val="FF0000"/>
                </a:solidFill>
                <a:latin typeface="Times New Roman" panose="02020603050405020304" pitchFamily="18" charset="0"/>
                <a:ea typeface="微软雅黑" panose="020B0503020204020204" pitchFamily="34" charset="-122"/>
              </a:rPr>
              <a:t>条件独立</a:t>
            </a:r>
            <a:r>
              <a:rPr lang="zh-CN" altLang="en-US" sz="2400" dirty="0">
                <a:latin typeface="Times New Roman" panose="02020603050405020304" pitchFamily="18" charset="0"/>
                <a:ea typeface="微软雅黑" panose="020B0503020204020204" pitchFamily="34" charset="-122"/>
              </a:rPr>
              <a:t>，即</a:t>
            </a:r>
          </a:p>
          <a:p>
            <a:pPr algn="ctr" eaLnBrk="1" hangingPunct="1">
              <a:lnSpc>
                <a:spcPct val="120000"/>
              </a:lnSpc>
              <a:buNone/>
            </a:pPr>
            <a:r>
              <a:rPr lang="en-US" altLang="zh-CN" sz="2400" dirty="0">
                <a:latin typeface="Times New Roman" panose="02020603050405020304" pitchFamily="18" charset="0"/>
                <a:ea typeface="微软雅黑" panose="020B0503020204020204" pitchFamily="34" charset="-122"/>
              </a:rPr>
              <a:t>P( a</a:t>
            </a:r>
            <a:r>
              <a:rPr lang="en-US" altLang="zh-CN" sz="2400" baseline="-25000" dirty="0">
                <a:latin typeface="Times New Roman" panose="02020603050405020304" pitchFamily="18" charset="0"/>
                <a:ea typeface="微软雅黑" panose="020B0503020204020204" pitchFamily="34" charset="-122"/>
              </a:rPr>
              <a:t>1</a:t>
            </a:r>
            <a:r>
              <a:rPr lang="en-US" altLang="zh-CN" sz="2400" dirty="0">
                <a:latin typeface="Times New Roman" panose="02020603050405020304" pitchFamily="18" charset="0"/>
                <a:ea typeface="微软雅黑" panose="020B0503020204020204" pitchFamily="34" charset="-122"/>
              </a:rPr>
              <a:t>,a</a:t>
            </a:r>
            <a:r>
              <a:rPr lang="en-US" altLang="zh-CN" sz="2400" baseline="-25000" dirty="0">
                <a:latin typeface="Times New Roman" panose="02020603050405020304" pitchFamily="18" charset="0"/>
                <a:ea typeface="微软雅黑" panose="020B0503020204020204" pitchFamily="34" charset="-122"/>
              </a:rPr>
              <a:t>2</a:t>
            </a:r>
            <a:r>
              <a:rPr lang="en-US" altLang="zh-CN" sz="2400" dirty="0">
                <a:latin typeface="Times New Roman" panose="02020603050405020304" pitchFamily="18" charset="0"/>
                <a:ea typeface="微软雅黑" panose="020B0503020204020204" pitchFamily="34" charset="-122"/>
              </a:rPr>
              <a:t>,…</a:t>
            </a:r>
            <a:r>
              <a:rPr lang="en-US" altLang="zh-CN" sz="2400" dirty="0" err="1">
                <a:latin typeface="Times New Roman" panose="02020603050405020304" pitchFamily="18" charset="0"/>
                <a:ea typeface="微软雅黑" panose="020B0503020204020204" pitchFamily="34" charset="-122"/>
              </a:rPr>
              <a:t>a</a:t>
            </a:r>
            <a:r>
              <a:rPr lang="en-US" altLang="zh-CN" sz="2400" baseline="-25000" dirty="0" err="1">
                <a:latin typeface="Times New Roman" panose="02020603050405020304" pitchFamily="18" charset="0"/>
                <a:ea typeface="微软雅黑" panose="020B0503020204020204" pitchFamily="34" charset="-122"/>
              </a:rPr>
              <a:t>n</a:t>
            </a:r>
            <a:r>
              <a:rPr lang="en-US" altLang="zh-CN" sz="2400" dirty="0" err="1">
                <a:latin typeface="Times New Roman" panose="02020603050405020304" pitchFamily="18" charset="0"/>
                <a:ea typeface="微软雅黑" panose="020B0503020204020204" pitchFamily="34" charset="-122"/>
              </a:rPr>
              <a:t>|w</a:t>
            </a:r>
            <a:r>
              <a:rPr lang="en-US" altLang="zh-CN" sz="2400" baseline="-25000" dirty="0" err="1">
                <a:latin typeface="Times New Roman" panose="02020603050405020304" pitchFamily="18" charset="0"/>
                <a:ea typeface="微软雅黑" panose="020B0503020204020204" pitchFamily="34" charset="-122"/>
              </a:rPr>
              <a:t>j</a:t>
            </a:r>
            <a:r>
              <a:rPr lang="en-US" altLang="zh-CN" sz="2400" baseline="-250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 = ∏</a:t>
            </a:r>
            <a:r>
              <a:rPr lang="en-US" altLang="zh-CN" sz="2400" baseline="-25000" dirty="0">
                <a:latin typeface="Times New Roman" panose="02020603050405020304" pitchFamily="18" charset="0"/>
                <a:ea typeface="微软雅黑" panose="020B0503020204020204" pitchFamily="34" charset="-122"/>
              </a:rPr>
              <a:t>i</a:t>
            </a:r>
            <a:r>
              <a:rPr lang="en-US" altLang="zh-CN" sz="2400" dirty="0">
                <a:latin typeface="Times New Roman" panose="02020603050405020304" pitchFamily="18" charset="0"/>
                <a:ea typeface="微软雅黑" panose="020B0503020204020204" pitchFamily="34" charset="-122"/>
              </a:rPr>
              <a:t> P( </a:t>
            </a:r>
            <a:r>
              <a:rPr lang="en-US" altLang="zh-CN" sz="2400" dirty="0" err="1">
                <a:latin typeface="Times New Roman" panose="02020603050405020304" pitchFamily="18" charset="0"/>
                <a:ea typeface="微软雅黑" panose="020B0503020204020204" pitchFamily="34" charset="-122"/>
              </a:rPr>
              <a:t>a</a:t>
            </a:r>
            <a:r>
              <a:rPr lang="en-US" altLang="zh-CN" sz="2400" baseline="-25000" dirty="0" err="1">
                <a:latin typeface="Times New Roman" panose="02020603050405020304" pitchFamily="18" charset="0"/>
                <a:ea typeface="微软雅黑" panose="020B0503020204020204" pitchFamily="34" charset="-122"/>
              </a:rPr>
              <a:t>i</a:t>
            </a:r>
            <a:r>
              <a:rPr lang="en-US" altLang="zh-CN" sz="2400" dirty="0" err="1">
                <a:latin typeface="Times New Roman" panose="02020603050405020304" pitchFamily="18" charset="0"/>
                <a:ea typeface="微软雅黑" panose="020B0503020204020204" pitchFamily="34" charset="-122"/>
              </a:rPr>
              <a:t>|w</a:t>
            </a:r>
            <a:r>
              <a:rPr lang="en-US" altLang="zh-CN" sz="2400" baseline="-25000" dirty="0" err="1">
                <a:latin typeface="Times New Roman" panose="02020603050405020304" pitchFamily="18" charset="0"/>
                <a:ea typeface="微软雅黑" panose="020B0503020204020204" pitchFamily="34" charset="-122"/>
              </a:rPr>
              <a:t>j</a:t>
            </a:r>
            <a:r>
              <a:rPr lang="en-US" altLang="zh-CN" sz="2400" baseline="-250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a:t>
            </a:r>
          </a:p>
          <a:p>
            <a:pPr eaLnBrk="1" latinLnBrk="0" hangingPunct="1">
              <a:lnSpc>
                <a:spcPct val="120000"/>
              </a:lnSpc>
              <a:spcBef>
                <a:spcPct val="55000"/>
              </a:spcBef>
            </a:pPr>
            <a:r>
              <a:rPr lang="zh-CN" altLang="en-US" sz="2400" dirty="0">
                <a:latin typeface="Times New Roman" panose="02020603050405020304" pitchFamily="18" charset="0"/>
                <a:ea typeface="微软雅黑" panose="020B0503020204020204" pitchFamily="34" charset="-122"/>
              </a:rPr>
              <a:t>估计每个</a:t>
            </a:r>
            <a:r>
              <a:rPr lang="en-US" altLang="zh-CN" sz="2400" dirty="0">
                <a:latin typeface="Times New Roman" panose="02020603050405020304" pitchFamily="18" charset="0"/>
                <a:ea typeface="微软雅黑" panose="020B0503020204020204" pitchFamily="34" charset="-122"/>
              </a:rPr>
              <a:t>P(</a:t>
            </a:r>
            <a:r>
              <a:rPr lang="en-US" altLang="zh-CN" sz="2400" dirty="0" err="1">
                <a:latin typeface="Times New Roman" panose="02020603050405020304" pitchFamily="18" charset="0"/>
                <a:ea typeface="微软雅黑" panose="020B0503020204020204" pitchFamily="34" charset="-122"/>
              </a:rPr>
              <a:t>a</a:t>
            </a:r>
            <a:r>
              <a:rPr lang="en-US" altLang="zh-CN" sz="2400" baseline="-25000" dirty="0" err="1">
                <a:latin typeface="Times New Roman" panose="02020603050405020304" pitchFamily="18" charset="0"/>
                <a:ea typeface="微软雅黑" panose="020B0503020204020204" pitchFamily="34" charset="-122"/>
              </a:rPr>
              <a:t>i</a:t>
            </a:r>
            <a:r>
              <a:rPr lang="en-US" altLang="zh-CN" sz="2400" dirty="0" err="1">
                <a:latin typeface="Times New Roman" panose="02020603050405020304" pitchFamily="18" charset="0"/>
                <a:ea typeface="微软雅黑" panose="020B0503020204020204" pitchFamily="34" charset="-122"/>
              </a:rPr>
              <a:t>|w</a:t>
            </a:r>
            <a:r>
              <a:rPr lang="en-US" altLang="zh-CN" sz="2400" baseline="-25000" dirty="0" err="1">
                <a:latin typeface="Times New Roman" panose="02020603050405020304" pitchFamily="18" charset="0"/>
                <a:ea typeface="微软雅黑" panose="020B0503020204020204" pitchFamily="34" charset="-122"/>
              </a:rPr>
              <a:t>j</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所需数据量比估计</a:t>
            </a:r>
            <a:r>
              <a:rPr lang="en-US" altLang="zh-CN" sz="2400" dirty="0">
                <a:latin typeface="Times New Roman" panose="02020603050405020304" pitchFamily="18" charset="0"/>
                <a:ea typeface="微软雅黑" panose="020B0503020204020204" pitchFamily="34" charset="-122"/>
              </a:rPr>
              <a:t>P(a</a:t>
            </a:r>
            <a:r>
              <a:rPr lang="en-US" altLang="zh-CN" sz="2400" baseline="-25000" dirty="0">
                <a:latin typeface="Times New Roman" panose="02020603050405020304" pitchFamily="18" charset="0"/>
                <a:ea typeface="微软雅黑" panose="020B0503020204020204" pitchFamily="34" charset="-122"/>
              </a:rPr>
              <a:t>1</a:t>
            </a:r>
            <a:r>
              <a:rPr lang="en-US" altLang="zh-CN" sz="2400" dirty="0">
                <a:latin typeface="Times New Roman" panose="02020603050405020304" pitchFamily="18" charset="0"/>
                <a:ea typeface="微软雅黑" panose="020B0503020204020204" pitchFamily="34" charset="-122"/>
              </a:rPr>
              <a:t>,a</a:t>
            </a:r>
            <a:r>
              <a:rPr lang="en-US" altLang="zh-CN" sz="2400" baseline="-25000" dirty="0">
                <a:latin typeface="Times New Roman" panose="02020603050405020304" pitchFamily="18" charset="0"/>
                <a:ea typeface="微软雅黑" panose="020B0503020204020204" pitchFamily="34" charset="-122"/>
              </a:rPr>
              <a:t>2</a:t>
            </a:r>
            <a:r>
              <a:rPr lang="en-US" altLang="zh-CN" sz="2400" dirty="0">
                <a:latin typeface="Times New Roman" panose="02020603050405020304" pitchFamily="18" charset="0"/>
                <a:ea typeface="微软雅黑" panose="020B0503020204020204" pitchFamily="34" charset="-122"/>
              </a:rPr>
              <a:t>,…</a:t>
            </a:r>
            <a:r>
              <a:rPr lang="en-US" altLang="zh-CN" sz="2400" dirty="0" err="1">
                <a:latin typeface="Times New Roman" panose="02020603050405020304" pitchFamily="18" charset="0"/>
                <a:ea typeface="微软雅黑" panose="020B0503020204020204" pitchFamily="34" charset="-122"/>
              </a:rPr>
              <a:t>a</a:t>
            </a:r>
            <a:r>
              <a:rPr lang="en-US" altLang="zh-CN" sz="2400" baseline="-25000" dirty="0" err="1">
                <a:latin typeface="Times New Roman" panose="02020603050405020304" pitchFamily="18" charset="0"/>
                <a:ea typeface="微软雅黑" panose="020B0503020204020204" pitchFamily="34" charset="-122"/>
              </a:rPr>
              <a:t>n</a:t>
            </a:r>
            <a:r>
              <a:rPr lang="en-US" altLang="zh-CN" sz="2400" dirty="0" err="1">
                <a:latin typeface="Times New Roman" panose="02020603050405020304" pitchFamily="18" charset="0"/>
                <a:ea typeface="微软雅黑" panose="020B0503020204020204" pitchFamily="34" charset="-122"/>
              </a:rPr>
              <a:t>|w</a:t>
            </a:r>
            <a:r>
              <a:rPr lang="en-US" altLang="zh-CN" sz="2400" baseline="-25000" dirty="0" err="1">
                <a:latin typeface="Times New Roman" panose="02020603050405020304" pitchFamily="18" charset="0"/>
                <a:ea typeface="微软雅黑" panose="020B0503020204020204" pitchFamily="34" charset="-122"/>
              </a:rPr>
              <a:t>j</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要少得多</a:t>
            </a:r>
          </a:p>
          <a:p>
            <a:pPr eaLnBrk="1" latinLnBrk="0" hangingPunct="1">
              <a:lnSpc>
                <a:spcPct val="120000"/>
              </a:lnSpc>
            </a:pPr>
            <a:r>
              <a:rPr lang="zh-CN" altLang="en-US" sz="2400" dirty="0">
                <a:latin typeface="Times New Roman" panose="02020603050405020304" pitchFamily="18" charset="0"/>
                <a:ea typeface="微软雅黑" panose="020B0503020204020204" pitchFamily="34" charset="-122"/>
              </a:rPr>
              <a:t>训练 </a:t>
            </a:r>
            <a:r>
              <a:rPr lang="en-US" altLang="zh-CN" sz="2400" dirty="0">
                <a:latin typeface="Times New Roman" panose="02020603050405020304" pitchFamily="18" charset="0"/>
                <a:ea typeface="微软雅黑" panose="020B0503020204020204" pitchFamily="34" charset="-122"/>
              </a:rPr>
              <a:t>P(</a:t>
            </a:r>
            <a:r>
              <a:rPr lang="en-US" altLang="zh-CN" sz="2400" dirty="0" err="1">
                <a:latin typeface="Times New Roman" panose="02020603050405020304" pitchFamily="18" charset="0"/>
                <a:ea typeface="微软雅黑" panose="020B0503020204020204" pitchFamily="34" charset="-122"/>
              </a:rPr>
              <a:t>w</a:t>
            </a:r>
            <a:r>
              <a:rPr lang="en-US" altLang="zh-CN" sz="2400" baseline="-25000" dirty="0" err="1">
                <a:latin typeface="Times New Roman" panose="02020603050405020304" pitchFamily="18" charset="0"/>
                <a:ea typeface="微软雅黑" panose="020B0503020204020204" pitchFamily="34" charset="-122"/>
              </a:rPr>
              <a:t>j</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和</a:t>
            </a:r>
            <a:r>
              <a:rPr lang="en-US" altLang="zh-CN" sz="2400" dirty="0">
                <a:latin typeface="Times New Roman" panose="02020603050405020304" pitchFamily="18" charset="0"/>
                <a:ea typeface="微软雅黑" panose="020B0503020204020204" pitchFamily="34" charset="-122"/>
              </a:rPr>
              <a:t>P(</a:t>
            </a:r>
            <a:r>
              <a:rPr lang="en-US" altLang="zh-CN" sz="2400" dirty="0" err="1">
                <a:latin typeface="Times New Roman" panose="02020603050405020304" pitchFamily="18" charset="0"/>
                <a:ea typeface="微软雅黑" panose="020B0503020204020204" pitchFamily="34" charset="-122"/>
              </a:rPr>
              <a:t>a</a:t>
            </a:r>
            <a:r>
              <a:rPr lang="en-US" altLang="zh-CN" sz="2400" baseline="-25000" dirty="0" err="1">
                <a:latin typeface="Times New Roman" panose="02020603050405020304" pitchFamily="18" charset="0"/>
                <a:ea typeface="微软雅黑" panose="020B0503020204020204" pitchFamily="34" charset="-122"/>
              </a:rPr>
              <a:t>i</a:t>
            </a:r>
            <a:r>
              <a:rPr lang="en-US" altLang="zh-CN" sz="2400" dirty="0" err="1">
                <a:latin typeface="Times New Roman" panose="02020603050405020304" pitchFamily="18" charset="0"/>
                <a:ea typeface="微软雅黑" panose="020B0503020204020204" pitchFamily="34" charset="-122"/>
              </a:rPr>
              <a:t>|w</a:t>
            </a:r>
            <a:r>
              <a:rPr lang="en-US" altLang="zh-CN" sz="2400" baseline="-25000" dirty="0" err="1">
                <a:latin typeface="Times New Roman" panose="02020603050405020304" pitchFamily="18" charset="0"/>
                <a:ea typeface="微软雅黑" panose="020B0503020204020204" pitchFamily="34" charset="-122"/>
              </a:rPr>
              <a:t>j</a:t>
            </a:r>
            <a:r>
              <a:rPr lang="en-US" altLang="zh-CN" sz="2400" dirty="0">
                <a:latin typeface="Times New Roman" panose="02020603050405020304" pitchFamily="18" charset="0"/>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最大似然参数学习</a:t>
            </a:r>
            <a:r>
              <a:rPr lang="en-US" altLang="zh-CN" sz="2400" dirty="0">
                <a:latin typeface="微软雅黑" panose="020B0503020204020204" pitchFamily="34" charset="-122"/>
                <a:ea typeface="微软雅黑" panose="020B0503020204020204" pitchFamily="34" charset="-122"/>
              </a:rPr>
              <a:t>: </a:t>
            </a:r>
            <a:r>
              <a:rPr lang="zh-CN" altLang="en-US" sz="2400" dirty="0">
                <a:solidFill>
                  <a:srgbClr val="C00000"/>
                </a:solidFill>
                <a:latin typeface="Times New Roman" panose="02020603050405020304" pitchFamily="18" charset="0"/>
                <a:ea typeface="微软雅黑" panose="020B0503020204020204" pitchFamily="34" charset="-122"/>
              </a:rPr>
              <a:t>极大似然估计</a:t>
            </a:r>
            <a:r>
              <a:rPr lang="zh-CN" altLang="en-US" sz="2400" dirty="0">
                <a:latin typeface="Times New Roman" panose="02020603050405020304" pitchFamily="18" charset="0"/>
                <a:ea typeface="微软雅黑" panose="020B0503020204020204" pitchFamily="34" charset="-122"/>
              </a:rPr>
              <a:t>（频率模拟概率）</a:t>
            </a:r>
            <a:endParaRPr lang="en-US" altLang="zh-CN" sz="2400" dirty="0">
              <a:latin typeface="Times New Roman" panose="02020603050405020304" pitchFamily="18" charset="0"/>
              <a:ea typeface="微软雅黑" panose="020B0503020204020204" pitchFamily="34" charset="-122"/>
            </a:endParaRPr>
          </a:p>
          <a:p>
            <a:pPr marL="857250" lvl="1" indent="-457200" eaLnBrk="1" latinLnBrk="0" hangingPunct="1">
              <a:lnSpc>
                <a:spcPct val="120000"/>
              </a:lnSpc>
              <a:buFont typeface="宋体" panose="02010600030101010101" pitchFamily="2" charset="-122"/>
              <a:buAutoNum type="arabicPeriod"/>
            </a:pPr>
            <a:r>
              <a:rPr lang="zh-CN" altLang="en-US" sz="2400" dirty="0">
                <a:latin typeface="Times New Roman" panose="02020603050405020304" pitchFamily="18" charset="0"/>
                <a:ea typeface="微软雅黑" panose="020B0503020204020204" pitchFamily="34" charset="-122"/>
              </a:rPr>
              <a:t>写出数据的似然表达式，这是待学习参数的一个函数</a:t>
            </a:r>
          </a:p>
          <a:p>
            <a:pPr marL="857250" lvl="1" indent="-457200" eaLnBrk="1" latinLnBrk="0" hangingPunct="1">
              <a:lnSpc>
                <a:spcPct val="120000"/>
              </a:lnSpc>
              <a:buFont typeface="宋体" panose="02010600030101010101" pitchFamily="2" charset="-122"/>
              <a:buAutoNum type="arabicPeriod"/>
            </a:pPr>
            <a:r>
              <a:rPr lang="zh-CN" altLang="en-US" sz="2400" dirty="0">
                <a:latin typeface="Times New Roman" panose="02020603050405020304" pitchFamily="18" charset="0"/>
                <a:ea typeface="微软雅黑" panose="020B0503020204020204" pitchFamily="34" charset="-122"/>
              </a:rPr>
              <a:t>对似然函数取对数并对每个参数求导，写出似然方程</a:t>
            </a:r>
          </a:p>
          <a:p>
            <a:pPr marL="857250" lvl="1" indent="-457200" eaLnBrk="1" latinLnBrk="0" hangingPunct="1">
              <a:lnSpc>
                <a:spcPct val="120000"/>
              </a:lnSpc>
              <a:buFont typeface="宋体" panose="02010600030101010101" pitchFamily="2" charset="-122"/>
              <a:buAutoNum type="arabicPeriod"/>
            </a:pPr>
            <a:r>
              <a:rPr lang="zh-CN" altLang="en-US" sz="2400" dirty="0">
                <a:latin typeface="Times New Roman" panose="02020603050405020304" pitchFamily="18" charset="0"/>
                <a:ea typeface="微软雅黑" panose="020B0503020204020204" pitchFamily="34" charset="-122"/>
              </a:rPr>
              <a:t>求解方程，求得对应参数值</a:t>
            </a:r>
          </a:p>
          <a:p>
            <a:pPr eaLnBrk="1" latinLnBrk="0" hangingPunct="1">
              <a:lnSpc>
                <a:spcPct val="120000"/>
              </a:lnSpc>
              <a:buAutoNum type="arabicPeriod"/>
            </a:pPr>
            <a:endParaRPr lang="zh-CN" altLang="en-US" sz="2400" dirty="0">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5251">
                                            <p:txEl>
                                              <p:pRg st="0" end="0"/>
                                            </p:txEl>
                                          </p:spTgt>
                                        </p:tgtEl>
                                        <p:attrNameLst>
                                          <p:attrName>style.visibility</p:attrName>
                                        </p:attrNameLst>
                                      </p:cBhvr>
                                      <p:to>
                                        <p:strVal val="visible"/>
                                      </p:to>
                                    </p:set>
                                    <p:animEffect transition="in" filter="blinds(horizontal)">
                                      <p:cBhvr>
                                        <p:cTn id="7" dur="500"/>
                                        <p:tgtEl>
                                          <p:spTgt spid="5652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65251">
                                            <p:txEl>
                                              <p:pRg st="1" end="1"/>
                                            </p:txEl>
                                          </p:spTgt>
                                        </p:tgtEl>
                                        <p:attrNameLst>
                                          <p:attrName>style.visibility</p:attrName>
                                        </p:attrNameLst>
                                      </p:cBhvr>
                                      <p:to>
                                        <p:strVal val="visible"/>
                                      </p:to>
                                    </p:set>
                                    <p:animEffect transition="in" filter="blinds(horizontal)">
                                      <p:cBhvr>
                                        <p:cTn id="12" dur="500"/>
                                        <p:tgtEl>
                                          <p:spTgt spid="5652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65251">
                                            <p:txEl>
                                              <p:pRg st="2" end="2"/>
                                            </p:txEl>
                                          </p:spTgt>
                                        </p:tgtEl>
                                        <p:attrNameLst>
                                          <p:attrName>style.visibility</p:attrName>
                                        </p:attrNameLst>
                                      </p:cBhvr>
                                      <p:to>
                                        <p:strVal val="visible"/>
                                      </p:to>
                                    </p:set>
                                    <p:animEffect transition="in" filter="blinds(horizontal)">
                                      <p:cBhvr>
                                        <p:cTn id="17" dur="500"/>
                                        <p:tgtEl>
                                          <p:spTgt spid="5652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65251">
                                            <p:txEl>
                                              <p:pRg st="3" end="3"/>
                                            </p:txEl>
                                          </p:spTgt>
                                        </p:tgtEl>
                                        <p:attrNameLst>
                                          <p:attrName>style.visibility</p:attrName>
                                        </p:attrNameLst>
                                      </p:cBhvr>
                                      <p:to>
                                        <p:strVal val="visible"/>
                                      </p:to>
                                    </p:set>
                                    <p:animEffect transition="in" filter="blinds(horizontal)">
                                      <p:cBhvr>
                                        <p:cTn id="22" dur="500"/>
                                        <p:tgtEl>
                                          <p:spTgt spid="565251">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65251">
                                            <p:txEl>
                                              <p:pRg st="4" end="4"/>
                                            </p:txEl>
                                          </p:spTgt>
                                        </p:tgtEl>
                                        <p:attrNameLst>
                                          <p:attrName>style.visibility</p:attrName>
                                        </p:attrNameLst>
                                      </p:cBhvr>
                                      <p:to>
                                        <p:strVal val="visible"/>
                                      </p:to>
                                    </p:set>
                                    <p:animEffect transition="in" filter="blinds(horizontal)">
                                      <p:cBhvr>
                                        <p:cTn id="25" dur="500"/>
                                        <p:tgtEl>
                                          <p:spTgt spid="565251">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65251">
                                            <p:txEl>
                                              <p:pRg st="5" end="5"/>
                                            </p:txEl>
                                          </p:spTgt>
                                        </p:tgtEl>
                                        <p:attrNameLst>
                                          <p:attrName>style.visibility</p:attrName>
                                        </p:attrNameLst>
                                      </p:cBhvr>
                                      <p:to>
                                        <p:strVal val="visible"/>
                                      </p:to>
                                    </p:set>
                                    <p:animEffect transition="in" filter="blinds(horizontal)">
                                      <p:cBhvr>
                                        <p:cTn id="28" dur="500"/>
                                        <p:tgtEl>
                                          <p:spTgt spid="565251">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565251">
                                            <p:txEl>
                                              <p:pRg st="6" end="6"/>
                                            </p:txEl>
                                          </p:spTgt>
                                        </p:tgtEl>
                                        <p:attrNameLst>
                                          <p:attrName>style.visibility</p:attrName>
                                        </p:attrNameLst>
                                      </p:cBhvr>
                                      <p:to>
                                        <p:strVal val="visible"/>
                                      </p:to>
                                    </p:set>
                                    <p:animEffect transition="in" filter="blinds(horizontal)">
                                      <p:cBhvr>
                                        <p:cTn id="31" dur="500"/>
                                        <p:tgtEl>
                                          <p:spTgt spid="5652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1"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zh-CN" altLang="en-US"/>
              <a:t>最大似然估计</a:t>
            </a:r>
            <a:r>
              <a:rPr lang="en-US" altLang="zh-CN"/>
              <a:t>MLE</a:t>
            </a:r>
            <a:endParaRPr lang="zh-CN" altLang="en-US"/>
          </a:p>
        </p:txBody>
      </p:sp>
      <p:pic>
        <p:nvPicPr>
          <p:cNvPr id="62467" name="Picture 2" descr="https://img-blog.csdn.net/201705280028277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0" y="1196976"/>
            <a:ext cx="6840538"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8" name="矩形 2"/>
          <p:cNvSpPr>
            <a:spLocks noChangeArrowheads="1"/>
          </p:cNvSpPr>
          <p:nvPr/>
        </p:nvSpPr>
        <p:spPr bwMode="auto">
          <a:xfrm>
            <a:off x="2640013" y="5829301"/>
            <a:ext cx="69135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rgbClr val="FF3300"/>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rgbClr val="FF3300"/>
              </a:buClr>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20000"/>
              </a:spcBef>
              <a:buClr>
                <a:srgbClr val="FF3300"/>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en-US" sz="2400" b="1">
                <a:solidFill>
                  <a:srgbClr val="333399"/>
                </a:solidFill>
                <a:latin typeface="微软雅黑" panose="020B0503020204020204" pitchFamily="34" charset="-122"/>
                <a:ea typeface="微软雅黑" panose="020B0503020204020204" pitchFamily="34" charset="-122"/>
              </a:rPr>
              <a:t>最大似然估计：利用已知的样本结果，反推最有可能（最大概率）导致这样结果的参数值。</a:t>
            </a:r>
            <a:endParaRPr lang="zh-CN" altLang="en-US" sz="2400" b="1">
              <a:solidFill>
                <a:srgbClr val="333399"/>
              </a:solidFill>
            </a:endParaRPr>
          </a:p>
        </p:txBody>
      </p:sp>
    </p:spTree>
    <p:extLst>
      <p:ext uri="{BB962C8B-B14F-4D97-AF65-F5344CB8AC3E}">
        <p14:creationId xmlns:p14="http://schemas.microsoft.com/office/powerpoint/2010/main" val="3456540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a:t>最大似然估计</a:t>
            </a:r>
            <a:r>
              <a:rPr lang="en-US" altLang="zh-CN"/>
              <a:t>MLE</a:t>
            </a:r>
            <a:endParaRPr lang="zh-CN" altLang="en-US"/>
          </a:p>
        </p:txBody>
      </p:sp>
      <p:sp>
        <p:nvSpPr>
          <p:cNvPr id="63491" name="矩形 2"/>
          <p:cNvSpPr>
            <a:spLocks noChangeArrowheads="1"/>
          </p:cNvSpPr>
          <p:nvPr/>
        </p:nvSpPr>
        <p:spPr bwMode="auto">
          <a:xfrm>
            <a:off x="2063751" y="1233489"/>
            <a:ext cx="835342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rgbClr val="FF3300"/>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rgbClr val="FF3300"/>
              </a:buClr>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20000"/>
              </a:spcBef>
              <a:buClr>
                <a:srgbClr val="FF3300"/>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en-US" sz="2400" b="1" dirty="0">
                <a:solidFill>
                  <a:srgbClr val="333399"/>
                </a:solidFill>
                <a:latin typeface="微软雅黑" panose="020B0503020204020204" pitchFamily="34" charset="-122"/>
                <a:ea typeface="微软雅黑" panose="020B0503020204020204" pitchFamily="34" charset="-122"/>
              </a:rPr>
              <a:t>最大似然估计提供了一种给定观察数据来评估模型参数的方法，即 “模型已定，参数未知”。通过若干次试验，观察其结果，利用试验结果得到某个参数值能够使样本出现的概率为最大，则称为最大似然估计。</a:t>
            </a:r>
            <a:endParaRPr lang="zh-CN" altLang="en-US" sz="2400" b="1" dirty="0">
              <a:solidFill>
                <a:srgbClr val="333399"/>
              </a:solidFill>
            </a:endParaRPr>
          </a:p>
        </p:txBody>
      </p:sp>
      <p:sp>
        <p:nvSpPr>
          <p:cNvPr id="63492" name="矩形 18"/>
          <p:cNvSpPr>
            <a:spLocks noChangeArrowheads="1"/>
          </p:cNvSpPr>
          <p:nvPr/>
        </p:nvSpPr>
        <p:spPr bwMode="auto">
          <a:xfrm>
            <a:off x="2063751" y="2924176"/>
            <a:ext cx="8353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rgbClr val="FF3300"/>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rgbClr val="FF3300"/>
              </a:buClr>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20000"/>
              </a:spcBef>
              <a:buClr>
                <a:srgbClr val="FF3300"/>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en-US" sz="2400">
                <a:solidFill>
                  <a:srgbClr val="000000"/>
                </a:solidFill>
                <a:latin typeface="微软雅黑" panose="020B0503020204020204" pitchFamily="34" charset="-122"/>
                <a:ea typeface="微软雅黑" panose="020B0503020204020204" pitchFamily="34" charset="-122"/>
              </a:rPr>
              <a:t>样本集合</a:t>
            </a:r>
            <a:endParaRPr lang="zh-CN" altLang="en-US" sz="2400">
              <a:solidFill>
                <a:srgbClr val="000000"/>
              </a:solidFill>
            </a:endParaRPr>
          </a:p>
        </p:txBody>
      </p:sp>
      <p:pic>
        <p:nvPicPr>
          <p:cNvPr id="63493" name="Picture 16" descr="https://img-blog.csdn.net/201705280031382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051" y="2852739"/>
            <a:ext cx="17621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4" name="矩形 20"/>
          <p:cNvSpPr>
            <a:spLocks noChangeArrowheads="1"/>
          </p:cNvSpPr>
          <p:nvPr/>
        </p:nvSpPr>
        <p:spPr bwMode="auto">
          <a:xfrm>
            <a:off x="2063751" y="3497263"/>
            <a:ext cx="8353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rgbClr val="FF3300"/>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rgbClr val="FF3300"/>
              </a:buClr>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20000"/>
              </a:spcBef>
              <a:buClr>
                <a:srgbClr val="FF3300"/>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en-US" sz="2400">
                <a:solidFill>
                  <a:srgbClr val="000000"/>
                </a:solidFill>
                <a:latin typeface="微软雅黑" panose="020B0503020204020204" pitchFamily="34" charset="-122"/>
                <a:ea typeface="微软雅黑" panose="020B0503020204020204" pitchFamily="34" charset="-122"/>
              </a:rPr>
              <a:t>似然函数</a:t>
            </a:r>
            <a:endParaRPr lang="zh-CN" altLang="en-US" sz="2400">
              <a:solidFill>
                <a:srgbClr val="000000"/>
              </a:solidFill>
            </a:endParaRPr>
          </a:p>
        </p:txBody>
      </p:sp>
      <p:pic>
        <p:nvPicPr>
          <p:cNvPr id="63495" name="Picture 18" descr="https://img-blog.csdn.net/201705280032238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0763" y="3463926"/>
            <a:ext cx="48577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6" name="矩形 22"/>
          <p:cNvSpPr>
            <a:spLocks noChangeArrowheads="1"/>
          </p:cNvSpPr>
          <p:nvPr/>
        </p:nvSpPr>
        <p:spPr bwMode="auto">
          <a:xfrm>
            <a:off x="2063751" y="4235451"/>
            <a:ext cx="8353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rgbClr val="FF3300"/>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rgbClr val="FF3300"/>
              </a:buClr>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20000"/>
              </a:spcBef>
              <a:buClr>
                <a:srgbClr val="FF3300"/>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en-US" sz="2400">
                <a:solidFill>
                  <a:srgbClr val="000000"/>
                </a:solidFill>
                <a:latin typeface="微软雅黑" panose="020B0503020204020204" pitchFamily="34" charset="-122"/>
                <a:ea typeface="微软雅黑" panose="020B0503020204020204" pitchFamily="34" charset="-122"/>
              </a:rPr>
              <a:t>目标：求解使得出现该组样本的概率最大的</a:t>
            </a:r>
            <a:r>
              <a:rPr lang="en-US" altLang="zh-CN" sz="2400">
                <a:solidFill>
                  <a:srgbClr val="000000"/>
                </a:solidFill>
                <a:latin typeface="微软雅黑" panose="020B0503020204020204" pitchFamily="34" charset="-122"/>
                <a:ea typeface="微软雅黑" panose="020B0503020204020204" pitchFamily="34" charset="-122"/>
              </a:rPr>
              <a:t>θ</a:t>
            </a:r>
            <a:r>
              <a:rPr lang="zh-CN" altLang="en-US" sz="2400">
                <a:solidFill>
                  <a:srgbClr val="000000"/>
                </a:solidFill>
                <a:latin typeface="微软雅黑" panose="020B0503020204020204" pitchFamily="34" charset="-122"/>
                <a:ea typeface="微软雅黑" panose="020B0503020204020204" pitchFamily="34" charset="-122"/>
              </a:rPr>
              <a:t>值</a:t>
            </a:r>
            <a:endParaRPr lang="zh-CN" altLang="en-US" sz="2400">
              <a:solidFill>
                <a:srgbClr val="000000"/>
              </a:solidFill>
            </a:endParaRPr>
          </a:p>
        </p:txBody>
      </p:sp>
      <p:pic>
        <p:nvPicPr>
          <p:cNvPr id="63497" name="Picture 20" descr="https://img-blog.csdn.net/201705280038383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5413" y="4611688"/>
            <a:ext cx="37719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8" name="矩形 24"/>
          <p:cNvSpPr>
            <a:spLocks noChangeArrowheads="1"/>
          </p:cNvSpPr>
          <p:nvPr/>
        </p:nvSpPr>
        <p:spPr bwMode="auto">
          <a:xfrm>
            <a:off x="2133600" y="5487988"/>
            <a:ext cx="8351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rgbClr val="FF3300"/>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rgbClr val="FF3300"/>
              </a:buClr>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20000"/>
              </a:spcBef>
              <a:buClr>
                <a:srgbClr val="FF3300"/>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3300"/>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FontTx/>
              <a:buNone/>
            </a:pPr>
            <a:r>
              <a:rPr lang="zh-CN" altLang="en-US" sz="2400">
                <a:solidFill>
                  <a:srgbClr val="000000"/>
                </a:solidFill>
                <a:latin typeface="微软雅黑" panose="020B0503020204020204" pitchFamily="34" charset="-122"/>
                <a:ea typeface="微软雅黑" panose="020B0503020204020204" pitchFamily="34" charset="-122"/>
              </a:rPr>
              <a:t>途径：</a:t>
            </a:r>
            <a:endParaRPr lang="en-US" altLang="zh-CN" sz="2400">
              <a:solidFill>
                <a:srgbClr val="000000"/>
              </a:solidFill>
              <a:latin typeface="微软雅黑" panose="020B0503020204020204" pitchFamily="34" charset="-122"/>
              <a:ea typeface="微软雅黑" panose="020B0503020204020204" pitchFamily="34" charset="-122"/>
            </a:endParaRPr>
          </a:p>
        </p:txBody>
      </p:sp>
      <p:pic>
        <p:nvPicPr>
          <p:cNvPr id="63499" name="Picture 22" descr="https://img-blog.csdn.net/201705280038557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6289" y="5541964"/>
            <a:ext cx="439102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40416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a:xfrm>
            <a:off x="2174698" y="1257002"/>
            <a:ext cx="7772400" cy="731838"/>
          </a:xfrm>
        </p:spPr>
        <p:txBody>
          <a:bodyPr vert="horz" wrap="square" lIns="91440" tIns="45720" rIns="91440" bIns="45720" numCol="1" anchor="ctr" anchorCtr="0" compatLnSpc="1"/>
          <a:lstStyle/>
          <a:p>
            <a:pPr algn="ctr">
              <a:defRPr/>
            </a:pPr>
            <a:r>
              <a:rPr lang="zh-CN" altLang="en-US" sz="28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例子</a:t>
            </a:r>
            <a:r>
              <a:rPr lang="en-US" altLang="zh-CN" sz="28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zh-CN" altLang="en-US" sz="28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预测糖果口味比例</a:t>
            </a:r>
            <a:endParaRPr lang="en-US" altLang="zh-CN" sz="28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585731" name="Rectangle 3"/>
          <p:cNvSpPr>
            <a:spLocks noGrp="1"/>
          </p:cNvSpPr>
          <p:nvPr>
            <p:ph type="body" sz="half" idx="1"/>
          </p:nvPr>
        </p:nvSpPr>
        <p:spPr>
          <a:xfrm>
            <a:off x="2174698" y="1988841"/>
            <a:ext cx="7977188" cy="4624387"/>
          </a:xfrm>
          <a:ln/>
        </p:spPr>
        <p:txBody>
          <a:bodyPr vert="horz" wrap="square" lIns="91440" tIns="45720" rIns="91440" bIns="45720" anchor="t" anchorCtr="0"/>
          <a:lstStyle/>
          <a:p>
            <a:pPr latinLnBrk="0">
              <a:lnSpc>
                <a:spcPct val="110000"/>
              </a:lnSpc>
              <a:buClrTx/>
              <a:buSzTx/>
              <a:buFontTx/>
            </a:pPr>
            <a:r>
              <a:rPr lang="zh-CN" altLang="en-US" sz="2400" dirty="0">
                <a:latin typeface="微软雅黑" panose="020B0503020204020204" pitchFamily="34" charset="-122"/>
                <a:ea typeface="微软雅黑" panose="020B0503020204020204" pitchFamily="34" charset="-122"/>
              </a:rPr>
              <a:t>问题</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假设买了一包糖果，其中樱桃糖和</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酸橙糖</a:t>
            </a:r>
            <a:r>
              <a:rPr lang="zh-CN" altLang="en-US" sz="2400" dirty="0">
                <a:latin typeface="微软雅黑" panose="020B0503020204020204" pitchFamily="34" charset="-122"/>
                <a:ea typeface="微软雅黑" panose="020B0503020204020204" pitchFamily="34" charset="-122"/>
              </a:rPr>
              <a:t>的比例未知，设樱桃糖比例记为</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[0,1]</a:t>
            </a:r>
          </a:p>
          <a:p>
            <a:pPr latinLnBrk="0">
              <a:lnSpc>
                <a:spcPct val="110000"/>
              </a:lnSpc>
              <a:buClrTx/>
              <a:buSzTx/>
              <a:buFontTx/>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不考虑先验概率，则最大后验概率公式变为最大似然公式：</a:t>
            </a: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latinLnBrk="0">
              <a:lnSpc>
                <a:spcPct val="110000"/>
              </a:lnSpc>
              <a:buClrTx/>
              <a:buSzTx/>
              <a:buFontTx/>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latinLnBrk="0">
              <a:lnSpc>
                <a:spcPct val="110000"/>
              </a:lnSpc>
              <a:buClrTx/>
              <a:buSzTx/>
              <a:buFontTx/>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latinLnBrk="0">
              <a:lnSpc>
                <a:spcPct val="110000"/>
              </a:lnSpc>
              <a:buClrTx/>
              <a:buSzTx/>
              <a:buFontTx/>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数据采样：设已经剥开了</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N</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颗糖，其中</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c</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颗为樱桃味，其余为酸橙味，则按照最大似然公式有</a:t>
            </a: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latinLnBrk="0">
              <a:buClrTx/>
              <a:buSzTx/>
              <a:buFontTx/>
            </a:pPr>
            <a:endParaRPr lang="zh-CN" altLang="zh-CN" sz="2400" dirty="0">
              <a:latin typeface="微软雅黑" panose="020B0503020204020204" pitchFamily="34" charset="-122"/>
              <a:ea typeface="微软雅黑" panose="020B0503020204020204" pitchFamily="34" charset="-122"/>
              <a:sym typeface="Symbol" panose="05050102010706020507" pitchFamily="18" charset="2"/>
            </a:endParaRPr>
          </a:p>
        </p:txBody>
      </p:sp>
      <p:graphicFrame>
        <p:nvGraphicFramePr>
          <p:cNvPr id="585733" name="Object 5"/>
          <p:cNvGraphicFramePr>
            <a:graphicFrameLocks noGrp="1" noChangeAspect="1"/>
          </p:cNvGraphicFramePr>
          <p:nvPr>
            <p:ph sz="half" idx="2"/>
            <p:extLst>
              <p:ext uri="{D42A27DB-BD31-4B8C-83A1-F6EECF244321}">
                <p14:modId xmlns:p14="http://schemas.microsoft.com/office/powerpoint/2010/main" val="2130664077"/>
              </p:ext>
            </p:extLst>
          </p:nvPr>
        </p:nvGraphicFramePr>
        <p:xfrm>
          <a:off x="3216275" y="5661025"/>
          <a:ext cx="5257800" cy="1006475"/>
        </p:xfrm>
        <a:graphic>
          <a:graphicData uri="http://schemas.openxmlformats.org/presentationml/2006/ole">
            <mc:AlternateContent xmlns:mc="http://schemas.openxmlformats.org/markup-compatibility/2006">
              <mc:Choice xmlns:v="urn:schemas-microsoft-com:vml" Requires="v">
                <p:oleObj r:id="rId3" imgW="2387600" imgH="457200" progId="Equation.3">
                  <p:embed/>
                </p:oleObj>
              </mc:Choice>
              <mc:Fallback>
                <p:oleObj r:id="rId3" imgW="2387600" imgH="457200" progId="Equation.3">
                  <p:embed/>
                  <p:pic>
                    <p:nvPicPr>
                      <p:cNvPr id="0" name="图片 3087"/>
                      <p:cNvPicPr/>
                      <p:nvPr/>
                    </p:nvPicPr>
                    <p:blipFill>
                      <a:blip r:embed="rId4"/>
                      <a:srcRect/>
                      <a:stretch>
                        <a:fillRect/>
                      </a:stretch>
                    </p:blipFill>
                    <p:spPr>
                      <a:xfrm>
                        <a:off x="3216275" y="5661025"/>
                        <a:ext cx="5257800" cy="1006475"/>
                      </a:xfrm>
                      <a:prstGeom prst="rect">
                        <a:avLst/>
                      </a:prstGeom>
                      <a:noFill/>
                      <a:ln w="38100">
                        <a:miter/>
                      </a:ln>
                    </p:spPr>
                  </p:pic>
                </p:oleObj>
              </mc:Fallback>
            </mc:AlternateContent>
          </a:graphicData>
        </a:graphic>
      </p:graphicFrame>
      <p:pic>
        <p:nvPicPr>
          <p:cNvPr id="6" name="图片 5"/>
          <p:cNvPicPr>
            <a:picLocks noChangeAspect="1"/>
          </p:cNvPicPr>
          <p:nvPr/>
        </p:nvPicPr>
        <p:blipFill>
          <a:blip r:embed="rId5"/>
          <a:stretch>
            <a:fillRect/>
          </a:stretch>
        </p:blipFill>
        <p:spPr>
          <a:xfrm>
            <a:off x="3669507" y="3428480"/>
            <a:ext cx="4849812" cy="1230312"/>
          </a:xfrm>
          <a:prstGeom prst="rect">
            <a:avLst/>
          </a:prstGeom>
          <a:noFill/>
          <a:ln w="9525">
            <a:noFill/>
          </a:ln>
        </p:spPr>
      </p:pic>
      <p:sp>
        <p:nvSpPr>
          <p:cNvPr id="8" name="矩形 7"/>
          <p:cNvSpPr/>
          <p:nvPr/>
        </p:nvSpPr>
        <p:spPr>
          <a:xfrm>
            <a:off x="2166905" y="150250"/>
            <a:ext cx="6288901" cy="523220"/>
          </a:xfrm>
          <a:prstGeom prst="rect">
            <a:avLst/>
          </a:prstGeom>
        </p:spPr>
        <p:txBody>
          <a:bodyPr wrap="none">
            <a:spAutoFit/>
          </a:bodyPr>
          <a:lstStyle/>
          <a:p>
            <a:r>
              <a:rPr kumimoji="1" lang="zh-CN" altLang="en-US" b="1" dirty="0">
                <a:effectLst>
                  <a:outerShdw blurRad="38100" dist="38100" dir="2700000" algn="tl">
                    <a:srgbClr val="C0C0C0"/>
                  </a:outerShdw>
                </a:effectLst>
                <a:latin typeface="微软雅黑" panose="020B0503020204020204" pitchFamily="34" charset="-122"/>
                <a:ea typeface="微软雅黑" panose="020B0503020204020204" pitchFamily="34" charset="-122"/>
              </a:rPr>
              <a:t>概率大的事件在一次观测中更容易发生</a:t>
            </a:r>
            <a:endParaRPr lang="zh-CN" altLang="en-US" dirty="0">
              <a:latin typeface="微软雅黑" panose="020B0503020204020204" pitchFamily="34" charset="-122"/>
              <a:ea typeface="微软雅黑" panose="020B0503020204020204" pitchFamily="34" charset="-122"/>
            </a:endParaRPr>
          </a:p>
        </p:txBody>
      </p:sp>
      <p:sp>
        <p:nvSpPr>
          <p:cNvPr id="9" name="矩形 8"/>
          <p:cNvSpPr/>
          <p:nvPr/>
        </p:nvSpPr>
        <p:spPr>
          <a:xfrm>
            <a:off x="2166905" y="651503"/>
            <a:ext cx="6288901" cy="523220"/>
          </a:xfrm>
          <a:prstGeom prst="rect">
            <a:avLst/>
          </a:prstGeom>
        </p:spPr>
        <p:txBody>
          <a:bodyPr wrap="none">
            <a:spAutoFit/>
          </a:bodyPr>
          <a:lstStyle/>
          <a:p>
            <a:r>
              <a:rPr kumimoji="1" lang="zh-CN" altLang="en-US" b="1" dirty="0">
                <a:effectLst>
                  <a:outerShdw blurRad="38100" dist="38100" dir="2700000" algn="tl">
                    <a:srgbClr val="C0C0C0"/>
                  </a:outerShdw>
                </a:effectLst>
                <a:latin typeface="微软雅黑" panose="020B0503020204020204" pitchFamily="34" charset="-122"/>
                <a:ea typeface="微软雅黑" panose="020B0503020204020204" pitchFamily="34" charset="-122"/>
              </a:rPr>
              <a:t>在一次观测中发生的事件的概率应该大</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57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585731">
                                            <p:txEl>
                                              <p:pRg st="0" end="0"/>
                                            </p:txEl>
                                          </p:spTgt>
                                        </p:tgtEl>
                                        <p:attrNameLst>
                                          <p:attrName>style.visibility</p:attrName>
                                        </p:attrNameLst>
                                      </p:cBhvr>
                                      <p:to>
                                        <p:strVal val="visible"/>
                                      </p:to>
                                    </p:set>
                                    <p:animEffect transition="in" filter="blinds(horizontal)">
                                      <p:cBhvr>
                                        <p:cTn id="11" dur="500"/>
                                        <p:tgtEl>
                                          <p:spTgt spid="58573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585731">
                                            <p:txEl>
                                              <p:pRg st="1" end="1"/>
                                            </p:txEl>
                                          </p:spTgt>
                                        </p:tgtEl>
                                        <p:attrNameLst>
                                          <p:attrName>style.visibility</p:attrName>
                                        </p:attrNameLst>
                                      </p:cBhvr>
                                      <p:to>
                                        <p:strVal val="visible"/>
                                      </p:to>
                                    </p:set>
                                    <p:animEffect transition="in" filter="blinds(horizontal)">
                                      <p:cBhvr>
                                        <p:cTn id="16" dur="500"/>
                                        <p:tgtEl>
                                          <p:spTgt spid="58573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585731">
                                            <p:txEl>
                                              <p:pRg st="4" end="4"/>
                                            </p:txEl>
                                          </p:spTgt>
                                        </p:tgtEl>
                                        <p:attrNameLst>
                                          <p:attrName>style.visibility</p:attrName>
                                        </p:attrNameLst>
                                      </p:cBhvr>
                                      <p:to>
                                        <p:strVal val="visible"/>
                                      </p:to>
                                    </p:set>
                                    <p:animEffect transition="in" filter="blinds(horizontal)">
                                      <p:cBhvr>
                                        <p:cTn id="25" dur="500"/>
                                        <p:tgtEl>
                                          <p:spTgt spid="585731">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585733"/>
                                        </p:tgtEl>
                                        <p:attrNameLst>
                                          <p:attrName>style.visibility</p:attrName>
                                        </p:attrNameLst>
                                      </p:cBhvr>
                                      <p:to>
                                        <p:strVal val="visible"/>
                                      </p:to>
                                    </p:set>
                                    <p:animEffect transition="in" filter="blinds(horizontal)">
                                      <p:cBhvr>
                                        <p:cTn id="30" dur="500"/>
                                        <p:tgtEl>
                                          <p:spTgt spid="585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0" grpId="0"/>
      <p:bldP spid="585731" grpId="0" build="p"/>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2208213" y="549275"/>
            <a:ext cx="7772400" cy="731838"/>
          </a:xfrm>
        </p:spPr>
        <p:txBody>
          <a:bodyPr vert="horz" wrap="square" lIns="91440" tIns="45720" rIns="91440" bIns="45720" numCol="1" anchor="ctr" anchorCtr="0" compatLnSpc="1"/>
          <a:lstStyle/>
          <a:p>
            <a:pPr algn="ctr">
              <a:defRPr/>
            </a:pPr>
            <a:r>
              <a:rPr lang="zh-CN" altLang="en-US" sz="2800" b="1" dirty="0">
                <a:solidFill>
                  <a:schemeClr val="tx1"/>
                </a:solidFill>
                <a:effectLst>
                  <a:outerShdw blurRad="38100" dist="38100" dir="2700000" algn="tl">
                    <a:srgbClr val="C0C0C0"/>
                  </a:outerShdw>
                </a:effectLst>
              </a:rPr>
              <a:t>极大似然估计例子</a:t>
            </a:r>
            <a:r>
              <a:rPr lang="en-US" altLang="zh-CN" sz="2800" b="1" dirty="0">
                <a:solidFill>
                  <a:schemeClr val="tx1"/>
                </a:solidFill>
                <a:effectLst>
                  <a:outerShdw blurRad="38100" dist="38100" dir="2700000" algn="tl">
                    <a:srgbClr val="C0C0C0"/>
                  </a:outerShdw>
                </a:effectLst>
              </a:rPr>
              <a:t>—</a:t>
            </a:r>
            <a:r>
              <a:rPr lang="zh-CN" altLang="en-US" sz="2800" b="1" dirty="0">
                <a:solidFill>
                  <a:schemeClr val="tx1"/>
                </a:solidFill>
                <a:effectLst>
                  <a:outerShdw blurRad="38100" dist="38100" dir="2700000" algn="tl">
                    <a:srgbClr val="C0C0C0"/>
                  </a:outerShdw>
                </a:effectLst>
              </a:rPr>
              <a:t>预测糖果口味比例（续）</a:t>
            </a:r>
            <a:endParaRPr lang="en-US" altLang="zh-CN" sz="2800" b="1" dirty="0">
              <a:solidFill>
                <a:schemeClr val="tx1"/>
              </a:solidFill>
              <a:effectLst>
                <a:outerShdw blurRad="38100" dist="38100" dir="2700000" algn="tl">
                  <a:srgbClr val="C0C0C0"/>
                </a:outerShdw>
              </a:effectLst>
            </a:endParaRPr>
          </a:p>
        </p:txBody>
      </p:sp>
      <p:sp>
        <p:nvSpPr>
          <p:cNvPr id="588803" name="Rectangle 3"/>
          <p:cNvSpPr>
            <a:spLocks noGrp="1"/>
          </p:cNvSpPr>
          <p:nvPr>
            <p:ph type="body" sz="half" idx="1"/>
          </p:nvPr>
        </p:nvSpPr>
        <p:spPr>
          <a:xfrm>
            <a:off x="2063750" y="1412875"/>
            <a:ext cx="8064500" cy="5111750"/>
          </a:xfrm>
          <a:ln/>
        </p:spPr>
        <p:txBody>
          <a:bodyPr vert="horz" wrap="square" lIns="91440" tIns="45720" rIns="91440" bIns="45720" anchor="t" anchorCtr="0">
            <a:normAutofit lnSpcReduction="10000"/>
          </a:bodyPr>
          <a:lstStyle/>
          <a:p>
            <a:pPr latinLnBrk="0">
              <a:lnSpc>
                <a:spcPct val="120000"/>
              </a:lnSpc>
              <a:buClrTx/>
              <a:buSzTx/>
              <a:buFontTx/>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似然函数取对数</a:t>
            </a:r>
          </a:p>
          <a:p>
            <a:pPr latinLnBrk="0">
              <a:lnSpc>
                <a:spcPct val="120000"/>
              </a:lnSpc>
              <a:buClrTx/>
              <a:buSzTx/>
              <a:buFontTx/>
            </a:pP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a:p>
            <a:pPr latinLnBrk="0">
              <a:lnSpc>
                <a:spcPct val="120000"/>
              </a:lnSpc>
              <a:buClrTx/>
              <a:buSzTx/>
              <a:buFontTx/>
            </a:pP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a:p>
            <a:pPr latinLnBrk="0">
              <a:lnSpc>
                <a:spcPct val="120000"/>
              </a:lnSpc>
              <a:buClrTx/>
              <a:buSzTx/>
              <a:buFontTx/>
            </a:pP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a:p>
            <a:pPr latinLnBrk="0">
              <a:lnSpc>
                <a:spcPct val="120000"/>
              </a:lnSpc>
              <a:buClrTx/>
              <a:buSzTx/>
              <a:buFontTx/>
            </a:pP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a:p>
            <a:pPr latinLnBrk="0">
              <a:lnSpc>
                <a:spcPct val="120000"/>
              </a:lnSpc>
              <a:buClrTx/>
              <a:buSzTx/>
              <a:buFontTx/>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latinLnBrk="0">
              <a:lnSpc>
                <a:spcPct val="120000"/>
              </a:lnSpc>
              <a:buClrTx/>
              <a:buSzTx/>
              <a:buFontTx/>
            </a:pPr>
            <a:r>
              <a:rPr lang="zh-CN" altLang="zh-CN" sz="2400" dirty="0">
                <a:latin typeface="微软雅黑" panose="020B0503020204020204" pitchFamily="34" charset="-122"/>
                <a:ea typeface="微软雅黑" panose="020B0503020204020204" pitchFamily="34" charset="-122"/>
                <a:sym typeface="Symbol" panose="05050102010706020507" pitchFamily="18" charset="2"/>
              </a:rPr>
              <a:t>此结果表明—最大似然假设h</a:t>
            </a:r>
            <a:r>
              <a:rPr lang="zh-CN" altLang="zh-CN" sz="2400" baseline="-25000" dirty="0">
                <a:latin typeface="微软雅黑" panose="020B0503020204020204" pitchFamily="34" charset="-122"/>
                <a:ea typeface="微软雅黑" panose="020B0503020204020204" pitchFamily="34" charset="-122"/>
                <a:sym typeface="Symbol" panose="05050102010706020507" pitchFamily="18" charset="2"/>
              </a:rPr>
              <a:t>ML</a:t>
            </a:r>
            <a:r>
              <a:rPr lang="zh-CN" altLang="zh-CN" sz="2400" dirty="0">
                <a:latin typeface="微软雅黑" panose="020B0503020204020204" pitchFamily="34" charset="-122"/>
                <a:ea typeface="微软雅黑" panose="020B0503020204020204" pitchFamily="34" charset="-122"/>
                <a:sym typeface="Symbol" panose="05050102010706020507" pitchFamily="18" charset="2"/>
              </a:rPr>
              <a:t>预测樱桃糖的实际比例与到目前为止所观察的已剥开糖果的比例相等</a:t>
            </a: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a:p>
            <a:pPr latinLnBrk="0">
              <a:lnSpc>
                <a:spcPct val="120000"/>
              </a:lnSpc>
              <a:buClrTx/>
              <a:buSzTx/>
              <a:buFontTx/>
            </a:pPr>
            <a:r>
              <a:rPr lang="zh-CN" altLang="zh-CN" sz="2400" dirty="0">
                <a:latin typeface="微软雅黑" panose="020B0503020204020204" pitchFamily="34" charset="-122"/>
                <a:ea typeface="微软雅黑" panose="020B0503020204020204" pitchFamily="34" charset="-122"/>
                <a:sym typeface="Symbol" panose="05050102010706020507" pitchFamily="18" charset="2"/>
              </a:rPr>
              <a:t>为了避免0概率问题，可以考虑给每个事件初始化计数为1</a:t>
            </a:r>
          </a:p>
        </p:txBody>
      </p:sp>
      <p:graphicFrame>
        <p:nvGraphicFramePr>
          <p:cNvPr id="588805" name="Object 5"/>
          <p:cNvGraphicFramePr>
            <a:graphicFrameLocks noGrp="1" noChangeAspect="1"/>
          </p:cNvGraphicFramePr>
          <p:nvPr>
            <p:ph sz="quarter" idx="2"/>
          </p:nvPr>
        </p:nvGraphicFramePr>
        <p:xfrm>
          <a:off x="3433763" y="1844675"/>
          <a:ext cx="5038725" cy="1314450"/>
        </p:xfrm>
        <a:graphic>
          <a:graphicData uri="http://schemas.openxmlformats.org/presentationml/2006/ole">
            <mc:AlternateContent xmlns:mc="http://schemas.openxmlformats.org/markup-compatibility/2006">
              <mc:Choice xmlns:v="urn:schemas-microsoft-com:vml" Requires="v">
                <p:oleObj r:id="rId3" imgW="2628900" imgH="685800" progId="Equation.3">
                  <p:embed/>
                </p:oleObj>
              </mc:Choice>
              <mc:Fallback>
                <p:oleObj r:id="rId3" imgW="2628900" imgH="685800" progId="Equation.3">
                  <p:embed/>
                  <p:pic>
                    <p:nvPicPr>
                      <p:cNvPr id="0" name="图片 3088"/>
                      <p:cNvPicPr/>
                      <p:nvPr/>
                    </p:nvPicPr>
                    <p:blipFill>
                      <a:blip r:embed="rId4"/>
                      <a:srcRect/>
                      <a:stretch>
                        <a:fillRect/>
                      </a:stretch>
                    </p:blipFill>
                    <p:spPr>
                      <a:xfrm>
                        <a:off x="3433763" y="1844675"/>
                        <a:ext cx="5038725" cy="1314450"/>
                      </a:xfrm>
                      <a:prstGeom prst="rect">
                        <a:avLst/>
                      </a:prstGeom>
                      <a:noFill/>
                      <a:ln w="38100">
                        <a:miter/>
                      </a:ln>
                    </p:spPr>
                  </p:pic>
                </p:oleObj>
              </mc:Fallback>
            </mc:AlternateContent>
          </a:graphicData>
        </a:graphic>
      </p:graphicFrame>
      <p:graphicFrame>
        <p:nvGraphicFramePr>
          <p:cNvPr id="588806" name="Object 6"/>
          <p:cNvGraphicFramePr>
            <a:graphicFrameLocks noGrp="1" noChangeAspect="1"/>
          </p:cNvGraphicFramePr>
          <p:nvPr>
            <p:ph sz="quarter" idx="3"/>
            <p:extLst>
              <p:ext uri="{D42A27DB-BD31-4B8C-83A1-F6EECF244321}">
                <p14:modId xmlns:p14="http://schemas.microsoft.com/office/powerpoint/2010/main" val="2712902090"/>
              </p:ext>
            </p:extLst>
          </p:nvPr>
        </p:nvGraphicFramePr>
        <p:xfrm>
          <a:off x="4657725" y="3432175"/>
          <a:ext cx="4389438" cy="773113"/>
        </p:xfrm>
        <a:graphic>
          <a:graphicData uri="http://schemas.openxmlformats.org/presentationml/2006/ole">
            <mc:AlternateContent xmlns:mc="http://schemas.openxmlformats.org/markup-compatibility/2006">
              <mc:Choice xmlns:v="urn:schemas-microsoft-com:vml" Requires="v">
                <p:oleObj r:id="rId5" imgW="2235200" imgH="393700" progId="Equation.3">
                  <p:embed/>
                </p:oleObj>
              </mc:Choice>
              <mc:Fallback>
                <p:oleObj r:id="rId5" imgW="2235200" imgH="393700" progId="Equation.3">
                  <p:embed/>
                  <p:pic>
                    <p:nvPicPr>
                      <p:cNvPr id="0" name="图片 3086"/>
                      <p:cNvPicPr/>
                      <p:nvPr/>
                    </p:nvPicPr>
                    <p:blipFill>
                      <a:blip r:embed="rId6"/>
                      <a:srcRect/>
                      <a:stretch>
                        <a:fillRect/>
                      </a:stretch>
                    </p:blipFill>
                    <p:spPr>
                      <a:xfrm>
                        <a:off x="4657725" y="3432175"/>
                        <a:ext cx="4389438" cy="773113"/>
                      </a:xfrm>
                      <a:prstGeom prst="rect">
                        <a:avLst/>
                      </a:prstGeom>
                      <a:noFill/>
                      <a:ln w="38100">
                        <a:miter/>
                      </a:ln>
                    </p:spPr>
                  </p:pic>
                </p:oleObj>
              </mc:Fallback>
            </mc:AlternateContent>
          </a:graphicData>
        </a:graphic>
      </p:graphicFrame>
      <p:sp>
        <p:nvSpPr>
          <p:cNvPr id="59398" name="Text Box 8"/>
          <p:cNvSpPr txBox="1"/>
          <p:nvPr/>
        </p:nvSpPr>
        <p:spPr>
          <a:xfrm>
            <a:off x="2279650" y="4149726"/>
            <a:ext cx="184150" cy="519113"/>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endParaRPr lang="zh-CN" altLang="en-US" sz="2800" b="1" dirty="0">
              <a:latin typeface="Gulim" panose="020B0600000101010101" pitchFamily="34" charset="-127"/>
              <a:ea typeface="Gulim" panose="020B0600000101010101" pitchFamily="34" charset="-127"/>
            </a:endParaRPr>
          </a:p>
        </p:txBody>
      </p:sp>
      <p:sp>
        <p:nvSpPr>
          <p:cNvPr id="2" name="矩形 1"/>
          <p:cNvSpPr/>
          <p:nvPr/>
        </p:nvSpPr>
        <p:spPr>
          <a:xfrm>
            <a:off x="2339571" y="3329670"/>
            <a:ext cx="2160042" cy="978729"/>
          </a:xfrm>
          <a:prstGeom prst="rect">
            <a:avLst/>
          </a:prstGeom>
        </p:spPr>
        <p:txBody>
          <a:bodyPr wrap="square">
            <a:spAutoFit/>
          </a:bodyPr>
          <a:lstStyle/>
          <a:p>
            <a:pPr>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对求导并令导数为零，得</a:t>
            </a: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88805"/>
                                        </p:tgtEl>
                                        <p:attrNameLst>
                                          <p:attrName>style.visibility</p:attrName>
                                        </p:attrNameLst>
                                      </p:cBhvr>
                                      <p:to>
                                        <p:strVal val="visible"/>
                                      </p:to>
                                    </p:set>
                                    <p:animEffect transition="in" filter="blinds(horizontal)">
                                      <p:cBhvr>
                                        <p:cTn id="7" dur="500"/>
                                        <p:tgtEl>
                                          <p:spTgt spid="58880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588806"/>
                                        </p:tgtEl>
                                        <p:attrNameLst>
                                          <p:attrName>style.visibility</p:attrName>
                                        </p:attrNameLst>
                                      </p:cBhvr>
                                      <p:to>
                                        <p:strVal val="visible"/>
                                      </p:to>
                                    </p:set>
                                    <p:animEffect transition="in" filter="blinds(horizontal)">
                                      <p:cBhvr>
                                        <p:cTn id="16" dur="500"/>
                                        <p:tgtEl>
                                          <p:spTgt spid="58880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88803">
                                            <p:txEl>
                                              <p:pRg st="6" end="6"/>
                                            </p:txEl>
                                          </p:spTgt>
                                        </p:tgtEl>
                                        <p:attrNameLst>
                                          <p:attrName>style.visibility</p:attrName>
                                        </p:attrNameLst>
                                      </p:cBhvr>
                                      <p:to>
                                        <p:strVal val="visible"/>
                                      </p:to>
                                    </p:set>
                                    <p:animEffect transition="in" filter="blinds(horizontal)">
                                      <p:cBhvr>
                                        <p:cTn id="21" dur="500"/>
                                        <p:tgtEl>
                                          <p:spTgt spid="58880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88803">
                                            <p:txEl>
                                              <p:pRg st="7" end="7"/>
                                            </p:txEl>
                                          </p:spTgt>
                                        </p:tgtEl>
                                        <p:attrNameLst>
                                          <p:attrName>style.visibility</p:attrName>
                                        </p:attrNameLst>
                                      </p:cBhvr>
                                      <p:to>
                                        <p:strVal val="visible"/>
                                      </p:to>
                                    </p:set>
                                    <p:animEffect transition="in" filter="blinds(horizontal)">
                                      <p:cBhvr>
                                        <p:cTn id="26" dur="500"/>
                                        <p:tgtEl>
                                          <p:spTgt spid="5888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文本框 17"/>
          <p:cNvSpPr txBox="1"/>
          <p:nvPr/>
        </p:nvSpPr>
        <p:spPr>
          <a:xfrm>
            <a:off x="1979370" y="2981326"/>
            <a:ext cx="4208463" cy="400110"/>
          </a:xfrm>
          <a:prstGeom prst="rect">
            <a:avLst/>
          </a:prstGeom>
          <a:solidFill>
            <a:schemeClr val="bg1"/>
          </a:solid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257175" indent="-257175" latinLnBrk="0">
              <a:spcBef>
                <a:spcPct val="0"/>
              </a:spcBef>
              <a:buFont typeface="宋体" panose="02010600030101010101" pitchFamily="2" charset="-122"/>
              <a:buAutoNum type="circleNumDbPlain" startAt="2"/>
            </a:pPr>
            <a:r>
              <a:rPr lang="zh-CN" altLang="en-US" sz="2000" dirty="0">
                <a:latin typeface="微软雅黑" panose="020B0503020204020204" pitchFamily="34" charset="-122"/>
                <a:ea typeface="微软雅黑" panose="020B0503020204020204" pitchFamily="34" charset="-122"/>
                <a:sym typeface="+mn-ea"/>
              </a:rPr>
              <a:t>为每个属性计算条件概率</a:t>
            </a:r>
            <a:r>
              <a:rPr lang="zh-CN" altLang="en-US" sz="2000" i="1" dirty="0">
                <a:latin typeface="微软雅黑" panose="020B0503020204020204" pitchFamily="34" charset="-122"/>
                <a:ea typeface="微软雅黑" panose="020B0503020204020204" pitchFamily="34" charset="-122"/>
                <a:sym typeface="+mn-ea"/>
              </a:rPr>
              <a:t>P(x</a:t>
            </a:r>
            <a:r>
              <a:rPr lang="zh-CN" altLang="en-US" sz="2000" i="1" baseline="-25000" dirty="0">
                <a:latin typeface="微软雅黑" panose="020B0503020204020204" pitchFamily="34" charset="-122"/>
                <a:ea typeface="微软雅黑" panose="020B0503020204020204" pitchFamily="34" charset="-122"/>
                <a:sym typeface="+mn-ea"/>
              </a:rPr>
              <a:t>i</a:t>
            </a:r>
            <a:r>
              <a:rPr lang="zh-CN" altLang="en-US" sz="2000" i="1" dirty="0">
                <a:latin typeface="微软雅黑" panose="020B0503020204020204" pitchFamily="34" charset="-122"/>
                <a:ea typeface="微软雅黑" panose="020B0503020204020204" pitchFamily="34" charset="-122"/>
                <a:sym typeface="+mn-ea"/>
              </a:rPr>
              <a:t>|c)</a:t>
            </a:r>
          </a:p>
        </p:txBody>
      </p:sp>
      <p:sp>
        <p:nvSpPr>
          <p:cNvPr id="20" name="文本框 19"/>
          <p:cNvSpPr txBox="1"/>
          <p:nvPr/>
        </p:nvSpPr>
        <p:spPr>
          <a:xfrm>
            <a:off x="2001382" y="4511437"/>
            <a:ext cx="3581400" cy="40011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257175" indent="-257175" latinLnBrk="0">
              <a:spcBef>
                <a:spcPct val="0"/>
              </a:spcBef>
              <a:buFont typeface="宋体" panose="02010600030101010101" pitchFamily="2" charset="-122"/>
              <a:buAutoNum type="circleNumDbPlain" startAt="3"/>
            </a:pPr>
            <a:r>
              <a:rPr lang="zh-CN" altLang="en-US" sz="2000" dirty="0">
                <a:latin typeface="微软雅黑" panose="020B0503020204020204" pitchFamily="34" charset="-122"/>
                <a:ea typeface="微软雅黑" panose="020B0503020204020204" pitchFamily="34" charset="-122"/>
                <a:sym typeface="+mn-ea"/>
              </a:rPr>
              <a:t>计算后验概率</a:t>
            </a:r>
          </a:p>
        </p:txBody>
      </p:sp>
      <p:sp>
        <p:nvSpPr>
          <p:cNvPr id="22" name="文本框 21"/>
          <p:cNvSpPr txBox="1"/>
          <p:nvPr/>
        </p:nvSpPr>
        <p:spPr>
          <a:xfrm>
            <a:off x="2001382" y="1972826"/>
            <a:ext cx="2438488" cy="400110"/>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257175" indent="-257175" latinLnBrk="0">
              <a:spcBef>
                <a:spcPct val="0"/>
              </a:spcBef>
              <a:buFont typeface="宋体" panose="02010600030101010101" pitchFamily="2" charset="-122"/>
              <a:buAutoNum type="circleNumDbPlain"/>
            </a:pPr>
            <a:r>
              <a:rPr lang="zh-CN" altLang="en-US" sz="2000" dirty="0">
                <a:latin typeface="微软雅黑" panose="020B0503020204020204" pitchFamily="34" charset="-122"/>
                <a:ea typeface="微软雅黑" panose="020B0503020204020204" pitchFamily="34" charset="-122"/>
                <a:sym typeface="+mn-ea"/>
              </a:rPr>
              <a:t>估计先验概率P(c)</a:t>
            </a:r>
            <a:endParaRPr lang="zh-CN" altLang="en-US" sz="2000" dirty="0">
              <a:latin typeface="Gulim" panose="020B0600000101010101" pitchFamily="34" charset="-127"/>
              <a:ea typeface="Gulim" panose="020B0600000101010101" pitchFamily="34" charset="-127"/>
            </a:endParaRPr>
          </a:p>
        </p:txBody>
      </p:sp>
      <p:sp>
        <p:nvSpPr>
          <p:cNvPr id="9" name="矩形 8"/>
          <p:cNvSpPr/>
          <p:nvPr/>
        </p:nvSpPr>
        <p:spPr>
          <a:xfrm>
            <a:off x="1746250" y="928688"/>
            <a:ext cx="8400194" cy="861774"/>
          </a:xfrm>
          <a:prstGeom prst="rect">
            <a:avLst/>
          </a:prstGeom>
          <a:solidFill>
            <a:srgbClr val="F2FFFB"/>
          </a:solidFill>
          <a:ln w="19050">
            <a:solidFill>
              <a:schemeClr val="accent6"/>
            </a:solidFill>
            <a:prstDash val="sysDash"/>
          </a:ln>
        </p:spPr>
        <p:txBody>
          <a:bodyPr wrap="square">
            <a:spAutoFit/>
          </a:bodyPr>
          <a:lstStyle/>
          <a:p>
            <a:pPr>
              <a:lnSpc>
                <a:spcPct val="125000"/>
              </a:lnSpc>
              <a:defRPr/>
            </a:pPr>
            <a:r>
              <a:rPr kumimoji="1" lang="zh-CN" altLang="en-US" sz="2000" dirty="0">
                <a:latin typeface="微软雅黑" panose="020B0503020204020204" pitchFamily="34" charset="-122"/>
                <a:ea typeface="微软雅黑" panose="020B0503020204020204" pitchFamily="34" charset="-122"/>
                <a:sym typeface="+mn-ea"/>
              </a:rPr>
              <a:t>       举个栗子：一对男女朋友，男生向女生求婚，男生的四个特点分别是不帅，性格不好，身高矮，不上进，请你判断一下女生是嫁还是不嫁？</a:t>
            </a:r>
          </a:p>
        </p:txBody>
      </p:sp>
      <p:sp>
        <p:nvSpPr>
          <p:cNvPr id="10" name="矩形 9"/>
          <p:cNvSpPr/>
          <p:nvPr/>
        </p:nvSpPr>
        <p:spPr>
          <a:xfrm>
            <a:off x="2046901" y="2490716"/>
            <a:ext cx="2353529" cy="400110"/>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en-US" altLang="zh-CN" sz="2000" dirty="0">
                <a:latin typeface="微软雅黑" panose="020B0503020204020204" pitchFamily="34" charset="-122"/>
                <a:ea typeface="微软雅黑" panose="020B0503020204020204" pitchFamily="34" charset="-122"/>
              </a:rPr>
              <a:t>p(</a:t>
            </a:r>
            <a:r>
              <a:rPr lang="zh-CN" altLang="en-US" sz="2000" dirty="0">
                <a:latin typeface="微软雅黑" panose="020B0503020204020204" pitchFamily="34" charset="-122"/>
                <a:ea typeface="微软雅黑" panose="020B0503020204020204" pitchFamily="34" charset="-122"/>
              </a:rPr>
              <a:t>嫁</a:t>
            </a:r>
            <a:r>
              <a:rPr lang="en-US" altLang="zh-CN" sz="2000" dirty="0">
                <a:latin typeface="微软雅黑" panose="020B0503020204020204" pitchFamily="34" charset="-122"/>
                <a:ea typeface="微软雅黑" panose="020B0503020204020204" pitchFamily="34" charset="-122"/>
              </a:rPr>
              <a:t>) = 6/12= 1/2</a:t>
            </a:r>
            <a:endParaRPr lang="zh-CN" altLang="en-US" sz="2000" dirty="0">
              <a:latin typeface="微软雅黑" panose="020B0503020204020204" pitchFamily="34" charset="-122"/>
              <a:ea typeface="微软雅黑" panose="020B0503020204020204" pitchFamily="34" charset="-122"/>
            </a:endParaRPr>
          </a:p>
        </p:txBody>
      </p:sp>
      <p:sp>
        <p:nvSpPr>
          <p:cNvPr id="15" name="矩形 14"/>
          <p:cNvSpPr/>
          <p:nvPr/>
        </p:nvSpPr>
        <p:spPr>
          <a:xfrm>
            <a:off x="2001382" y="3981666"/>
            <a:ext cx="2711450" cy="40011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en-US" altLang="zh-CN" sz="2000" dirty="0">
                <a:latin typeface="微软雅黑" panose="020B0503020204020204" pitchFamily="34" charset="-122"/>
                <a:ea typeface="微软雅黑" panose="020B0503020204020204" pitchFamily="34" charset="-122"/>
              </a:rPr>
              <a:t>p(</a:t>
            </a:r>
            <a:r>
              <a:rPr lang="zh-CN" altLang="en-US" sz="2000" dirty="0">
                <a:latin typeface="微软雅黑" panose="020B0503020204020204" pitchFamily="34" charset="-122"/>
                <a:ea typeface="微软雅黑" panose="020B0503020204020204" pitchFamily="34" charset="-122"/>
              </a:rPr>
              <a:t>性格不好</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嫁</a:t>
            </a:r>
            <a:r>
              <a:rPr lang="en-US" altLang="zh-CN" sz="2000" dirty="0">
                <a:latin typeface="微软雅黑" panose="020B0503020204020204" pitchFamily="34" charset="-122"/>
                <a:ea typeface="微软雅黑" panose="020B0503020204020204" pitchFamily="34" charset="-122"/>
              </a:rPr>
              <a:t>)= 1/6</a:t>
            </a:r>
            <a:endParaRPr lang="zh-CN" altLang="en-US" sz="2000" dirty="0">
              <a:latin typeface="微软雅黑" panose="020B0503020204020204" pitchFamily="34" charset="-122"/>
              <a:ea typeface="微软雅黑" panose="020B0503020204020204" pitchFamily="34" charset="-122"/>
            </a:endParaRPr>
          </a:p>
        </p:txBody>
      </p:sp>
      <p:sp>
        <p:nvSpPr>
          <p:cNvPr id="30" name="矩形 29"/>
          <p:cNvSpPr/>
          <p:nvPr/>
        </p:nvSpPr>
        <p:spPr>
          <a:xfrm>
            <a:off x="1977213" y="3482212"/>
            <a:ext cx="2935419" cy="400110"/>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en-US" altLang="zh-CN" sz="2000" dirty="0">
                <a:latin typeface="微软雅黑" panose="020B0503020204020204" pitchFamily="34" charset="-122"/>
                <a:ea typeface="微软雅黑" panose="020B0503020204020204" pitchFamily="34" charset="-122"/>
              </a:rPr>
              <a:t>p(</a:t>
            </a:r>
            <a:r>
              <a:rPr lang="zh-CN" altLang="en-US" sz="2000" dirty="0">
                <a:latin typeface="微软雅黑" panose="020B0503020204020204" pitchFamily="34" charset="-122"/>
                <a:ea typeface="微软雅黑" panose="020B0503020204020204" pitchFamily="34" charset="-122"/>
              </a:rPr>
              <a:t>不帅</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嫁</a:t>
            </a:r>
            <a:r>
              <a:rPr lang="en-US" altLang="zh-CN" sz="2000" dirty="0">
                <a:latin typeface="微软雅黑" panose="020B0503020204020204" pitchFamily="34" charset="-122"/>
                <a:ea typeface="微软雅黑" panose="020B0503020204020204" pitchFamily="34" charset="-122"/>
              </a:rPr>
              <a:t>) = 3/6 = 1/2 </a:t>
            </a:r>
            <a:endParaRPr lang="zh-CN" altLang="en-US" sz="2000" dirty="0">
              <a:latin typeface="微软雅黑" panose="020B0503020204020204" pitchFamily="34" charset="-122"/>
              <a:ea typeface="微软雅黑" panose="020B0503020204020204" pitchFamily="34" charset="-122"/>
            </a:endParaRPr>
          </a:p>
        </p:txBody>
      </p:sp>
      <p:sp>
        <p:nvSpPr>
          <p:cNvPr id="33" name="矩形 32"/>
          <p:cNvSpPr/>
          <p:nvPr/>
        </p:nvSpPr>
        <p:spPr>
          <a:xfrm>
            <a:off x="5973964" y="6374829"/>
            <a:ext cx="2236510" cy="400110"/>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000" dirty="0">
                <a:solidFill>
                  <a:srgbClr val="FF0000"/>
                </a:solidFill>
                <a:latin typeface="微软雅黑" panose="020B0503020204020204" pitchFamily="34" charset="-122"/>
                <a:ea typeface="微软雅黑" panose="020B0503020204020204" pitchFamily="34" charset="-122"/>
                <a:sym typeface="+mn-ea"/>
              </a:rPr>
              <a:t>分析结果：不嫁！</a:t>
            </a:r>
            <a:endParaRPr lang="zh-CN" altLang="en-US" sz="2000" dirty="0">
              <a:solidFill>
                <a:srgbClr val="FF0000"/>
              </a:solidFill>
              <a:latin typeface="Gulim" panose="020B0600000101010101" pitchFamily="34" charset="-127"/>
              <a:ea typeface="Gulim" panose="020B0600000101010101" pitchFamily="34" charset="-127"/>
            </a:endParaRPr>
          </a:p>
        </p:txBody>
      </p:sp>
      <p:pic>
        <p:nvPicPr>
          <p:cNvPr id="65550" name="图片 5"/>
          <p:cNvPicPr>
            <a:picLocks noChangeAspect="1"/>
          </p:cNvPicPr>
          <p:nvPr/>
        </p:nvPicPr>
        <p:blipFill>
          <a:blip r:embed="rId2"/>
          <a:stretch>
            <a:fillRect/>
          </a:stretch>
        </p:blipFill>
        <p:spPr>
          <a:xfrm>
            <a:off x="1815646" y="981195"/>
            <a:ext cx="371475" cy="322263"/>
          </a:xfrm>
          <a:prstGeom prst="rect">
            <a:avLst/>
          </a:prstGeom>
          <a:noFill/>
          <a:ln w="9525">
            <a:noFill/>
          </a:ln>
        </p:spPr>
      </p:pic>
      <p:sp>
        <p:nvSpPr>
          <p:cNvPr id="16" name="Rectangle 2"/>
          <p:cNvSpPr txBox="1">
            <a:spLocks noChangeArrowheads="1"/>
          </p:cNvSpPr>
          <p:nvPr/>
        </p:nvSpPr>
        <p:spPr>
          <a:xfrm>
            <a:off x="1852613" y="203200"/>
            <a:ext cx="7772400" cy="731838"/>
          </a:xfrm>
          <a:prstGeom prst="rect">
            <a:avLst/>
          </a:prstGeom>
        </p:spPr>
        <p:txBody>
          <a:bodyP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en-US" altLang="zh-CN" sz="3200" b="1" dirty="0">
                <a:solidFill>
                  <a:schemeClr val="tx1"/>
                </a:solidFill>
                <a:effectLst>
                  <a:outerShdw blurRad="38100" dist="38100" dir="2700000" algn="tl">
                    <a:srgbClr val="C0C0C0"/>
                  </a:outerShdw>
                </a:effectLst>
              </a:rPr>
              <a:t>4.3 </a:t>
            </a:r>
            <a:r>
              <a:rPr lang="zh-CN" altLang="en-US" sz="3200" b="1" dirty="0">
                <a:solidFill>
                  <a:schemeClr val="tx1"/>
                </a:solidFill>
                <a:effectLst>
                  <a:outerShdw blurRad="38100" dist="38100" dir="2700000" algn="tl">
                    <a:srgbClr val="C0C0C0"/>
                  </a:outerShdw>
                </a:effectLst>
              </a:rPr>
              <a:t>朴素贝叶斯分类</a:t>
            </a:r>
            <a:endParaRPr lang="en-US" altLang="zh-CN" sz="3200" b="1" dirty="0">
              <a:solidFill>
                <a:schemeClr val="tx1"/>
              </a:solidFill>
              <a:effectLst>
                <a:outerShdw blurRad="38100" dist="38100" dir="2700000" algn="tl">
                  <a:srgbClr val="C0C0C0"/>
                </a:outerShdw>
              </a:effectLst>
            </a:endParaRPr>
          </a:p>
        </p:txBody>
      </p:sp>
      <p:graphicFrame>
        <p:nvGraphicFramePr>
          <p:cNvPr id="3" name="表格 2"/>
          <p:cNvGraphicFramePr>
            <a:graphicFrameLocks noGrp="1"/>
          </p:cNvGraphicFramePr>
          <p:nvPr>
            <p:extLst>
              <p:ext uri="{D42A27DB-BD31-4B8C-83A1-F6EECF244321}">
                <p14:modId xmlns:p14="http://schemas.microsoft.com/office/powerpoint/2010/main" val="3546969374"/>
              </p:ext>
            </p:extLst>
          </p:nvPr>
        </p:nvGraphicFramePr>
        <p:xfrm>
          <a:off x="5891139" y="1808883"/>
          <a:ext cx="4615160" cy="4358640"/>
        </p:xfrm>
        <a:graphic>
          <a:graphicData uri="http://schemas.openxmlformats.org/drawingml/2006/table">
            <a:tbl>
              <a:tblPr firstRow="1" bandRow="1">
                <a:tableStyleId>{5C22544A-7EE6-4342-B048-85BDC9FD1C3A}</a:tableStyleId>
              </a:tblPr>
              <a:tblGrid>
                <a:gridCol w="923032">
                  <a:extLst>
                    <a:ext uri="{9D8B030D-6E8A-4147-A177-3AD203B41FA5}">
                      <a16:colId xmlns:a16="http://schemas.microsoft.com/office/drawing/2014/main" val="20000"/>
                    </a:ext>
                  </a:extLst>
                </a:gridCol>
                <a:gridCol w="923032">
                  <a:extLst>
                    <a:ext uri="{9D8B030D-6E8A-4147-A177-3AD203B41FA5}">
                      <a16:colId xmlns:a16="http://schemas.microsoft.com/office/drawing/2014/main" val="20001"/>
                    </a:ext>
                  </a:extLst>
                </a:gridCol>
                <a:gridCol w="923032">
                  <a:extLst>
                    <a:ext uri="{9D8B030D-6E8A-4147-A177-3AD203B41FA5}">
                      <a16:colId xmlns:a16="http://schemas.microsoft.com/office/drawing/2014/main" val="20002"/>
                    </a:ext>
                  </a:extLst>
                </a:gridCol>
                <a:gridCol w="923032">
                  <a:extLst>
                    <a:ext uri="{9D8B030D-6E8A-4147-A177-3AD203B41FA5}">
                      <a16:colId xmlns:a16="http://schemas.microsoft.com/office/drawing/2014/main" val="20003"/>
                    </a:ext>
                  </a:extLst>
                </a:gridCol>
                <a:gridCol w="923032">
                  <a:extLst>
                    <a:ext uri="{9D8B030D-6E8A-4147-A177-3AD203B41FA5}">
                      <a16:colId xmlns:a16="http://schemas.microsoft.com/office/drawing/2014/main" val="20004"/>
                    </a:ext>
                  </a:extLst>
                </a:gridCol>
              </a:tblGrid>
              <a:tr h="266664">
                <a:tc>
                  <a:txBody>
                    <a:bodyPr/>
                    <a:lstStyle/>
                    <a:p>
                      <a:r>
                        <a:rPr lang="zh-CN" altLang="en-US" sz="1600" dirty="0"/>
                        <a:t>帅？</a:t>
                      </a:r>
                    </a:p>
                  </a:txBody>
                  <a:tcPr/>
                </a:tc>
                <a:tc>
                  <a:txBody>
                    <a:bodyPr/>
                    <a:lstStyle/>
                    <a:p>
                      <a:r>
                        <a:rPr lang="zh-CN" altLang="en-US" sz="1600" dirty="0"/>
                        <a:t>性格好？</a:t>
                      </a:r>
                    </a:p>
                  </a:txBody>
                  <a:tcPr/>
                </a:tc>
                <a:tc>
                  <a:txBody>
                    <a:bodyPr/>
                    <a:lstStyle/>
                    <a:p>
                      <a:r>
                        <a:rPr lang="zh-CN" altLang="en-US" sz="1600" dirty="0"/>
                        <a:t>身高？</a:t>
                      </a:r>
                    </a:p>
                  </a:txBody>
                  <a:tcPr/>
                </a:tc>
                <a:tc>
                  <a:txBody>
                    <a:bodyPr/>
                    <a:lstStyle/>
                    <a:p>
                      <a:r>
                        <a:rPr lang="zh-CN" altLang="en-US" sz="1600" dirty="0"/>
                        <a:t>上进？</a:t>
                      </a:r>
                    </a:p>
                  </a:txBody>
                  <a:tcPr/>
                </a:tc>
                <a:tc>
                  <a:txBody>
                    <a:bodyPr/>
                    <a:lstStyle/>
                    <a:p>
                      <a:r>
                        <a:rPr lang="zh-CN" altLang="en-US" sz="1600" dirty="0"/>
                        <a:t>嫁否？</a:t>
                      </a:r>
                    </a:p>
                  </a:txBody>
                  <a:tcPr/>
                </a:tc>
                <a:extLst>
                  <a:ext uri="{0D108BD9-81ED-4DB2-BD59-A6C34878D82A}">
                    <a16:rowId xmlns:a16="http://schemas.microsoft.com/office/drawing/2014/main" val="10000"/>
                  </a:ext>
                </a:extLst>
              </a:tr>
              <a:tr h="266664">
                <a:tc>
                  <a:txBody>
                    <a:bodyPr/>
                    <a:lstStyle/>
                    <a:p>
                      <a:r>
                        <a:rPr lang="zh-CN" altLang="en-US" sz="1600" dirty="0"/>
                        <a:t>帅</a:t>
                      </a:r>
                    </a:p>
                  </a:txBody>
                  <a:tcPr/>
                </a:tc>
                <a:tc>
                  <a:txBody>
                    <a:bodyPr/>
                    <a:lstStyle/>
                    <a:p>
                      <a:r>
                        <a:rPr lang="zh-CN" altLang="en-US" sz="1600" dirty="0"/>
                        <a:t>不好</a:t>
                      </a:r>
                    </a:p>
                  </a:txBody>
                  <a:tcPr/>
                </a:tc>
                <a:tc>
                  <a:txBody>
                    <a:bodyPr/>
                    <a:lstStyle/>
                    <a:p>
                      <a:r>
                        <a:rPr lang="zh-CN" altLang="en-US" sz="1600" dirty="0"/>
                        <a:t>矮</a:t>
                      </a:r>
                    </a:p>
                  </a:txBody>
                  <a:tcPr/>
                </a:tc>
                <a:tc>
                  <a:txBody>
                    <a:bodyPr/>
                    <a:lstStyle/>
                    <a:p>
                      <a:r>
                        <a:rPr lang="zh-CN" altLang="en-US" sz="1600" dirty="0"/>
                        <a:t>不上进</a:t>
                      </a:r>
                    </a:p>
                  </a:txBody>
                  <a:tcPr/>
                </a:tc>
                <a:tc>
                  <a:txBody>
                    <a:bodyPr/>
                    <a:lstStyle/>
                    <a:p>
                      <a:r>
                        <a:rPr lang="en-US" altLang="zh-CN" sz="1600" dirty="0"/>
                        <a:t>no</a:t>
                      </a:r>
                      <a:endParaRPr lang="zh-CN" altLang="en-US" sz="1600" dirty="0"/>
                    </a:p>
                  </a:txBody>
                  <a:tcPr/>
                </a:tc>
                <a:extLst>
                  <a:ext uri="{0D108BD9-81ED-4DB2-BD59-A6C34878D82A}">
                    <a16:rowId xmlns:a16="http://schemas.microsoft.com/office/drawing/2014/main" val="10001"/>
                  </a:ext>
                </a:extLst>
              </a:tr>
              <a:tr h="266664">
                <a:tc>
                  <a:txBody>
                    <a:bodyPr/>
                    <a:lstStyle/>
                    <a:p>
                      <a:r>
                        <a:rPr lang="zh-CN" altLang="en-US" sz="1600" dirty="0"/>
                        <a:t>不帅</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好</a:t>
                      </a:r>
                    </a:p>
                  </a:txBody>
                  <a:tcPr/>
                </a:tc>
                <a:tc>
                  <a:txBody>
                    <a:bodyPr/>
                    <a:lstStyle/>
                    <a:p>
                      <a:r>
                        <a:rPr lang="zh-CN" altLang="en-US" sz="1600" dirty="0"/>
                        <a:t>矮</a:t>
                      </a:r>
                    </a:p>
                  </a:txBody>
                  <a:tcPr/>
                </a:tc>
                <a:tc>
                  <a:txBody>
                    <a:bodyPr/>
                    <a:lstStyle/>
                    <a:p>
                      <a:r>
                        <a:rPr lang="zh-CN" altLang="en-US" sz="1600" dirty="0"/>
                        <a:t>上进</a:t>
                      </a:r>
                    </a:p>
                  </a:txBody>
                  <a:tcPr/>
                </a:tc>
                <a:tc>
                  <a:txBody>
                    <a:bodyPr/>
                    <a:lstStyle/>
                    <a:p>
                      <a:r>
                        <a:rPr lang="en-US" altLang="zh-CN" sz="1600" dirty="0"/>
                        <a:t>no</a:t>
                      </a:r>
                      <a:endParaRPr lang="zh-CN" altLang="en-US" sz="1600" dirty="0"/>
                    </a:p>
                  </a:txBody>
                  <a:tcPr/>
                </a:tc>
                <a:extLst>
                  <a:ext uri="{0D108BD9-81ED-4DB2-BD59-A6C34878D82A}">
                    <a16:rowId xmlns:a16="http://schemas.microsoft.com/office/drawing/2014/main" val="10002"/>
                  </a:ext>
                </a:extLst>
              </a:tr>
              <a:tr h="266664">
                <a:tc>
                  <a:txBody>
                    <a:bodyPr/>
                    <a:lstStyle/>
                    <a:p>
                      <a:r>
                        <a:rPr lang="zh-CN" altLang="en-US" sz="1600" dirty="0"/>
                        <a:t>帅</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好</a:t>
                      </a:r>
                    </a:p>
                  </a:txBody>
                  <a:tcPr/>
                </a:tc>
                <a:tc>
                  <a:txBody>
                    <a:bodyPr/>
                    <a:lstStyle/>
                    <a:p>
                      <a:r>
                        <a:rPr lang="zh-CN" altLang="en-US" sz="1600" dirty="0"/>
                        <a:t>矮</a:t>
                      </a:r>
                    </a:p>
                  </a:txBody>
                  <a:tcPr/>
                </a:tc>
                <a:tc>
                  <a:txBody>
                    <a:bodyPr/>
                    <a:lstStyle/>
                    <a:p>
                      <a:r>
                        <a:rPr lang="zh-CN" altLang="en-US" sz="1600" dirty="0"/>
                        <a:t>上进</a:t>
                      </a:r>
                    </a:p>
                  </a:txBody>
                  <a:tcPr/>
                </a:tc>
                <a:tc>
                  <a:txBody>
                    <a:bodyPr/>
                    <a:lstStyle/>
                    <a:p>
                      <a:r>
                        <a:rPr lang="en-US" altLang="zh-CN" sz="1600" dirty="0"/>
                        <a:t>yes</a:t>
                      </a:r>
                      <a:endParaRPr lang="zh-CN" altLang="en-US" sz="1600" dirty="0"/>
                    </a:p>
                  </a:txBody>
                  <a:tcPr/>
                </a:tc>
                <a:extLst>
                  <a:ext uri="{0D108BD9-81ED-4DB2-BD59-A6C34878D82A}">
                    <a16:rowId xmlns:a16="http://schemas.microsoft.com/office/drawing/2014/main" val="10003"/>
                  </a:ext>
                </a:extLst>
              </a:tr>
              <a:tr h="266664">
                <a:tc>
                  <a:txBody>
                    <a:bodyPr/>
                    <a:lstStyle/>
                    <a:p>
                      <a:r>
                        <a:rPr lang="zh-CN" altLang="en-US" sz="1600" dirty="0"/>
                        <a:t>不帅</a:t>
                      </a:r>
                    </a:p>
                  </a:txBody>
                  <a:tcPr/>
                </a:tc>
                <a:tc>
                  <a:txBody>
                    <a:bodyPr/>
                    <a:lstStyle/>
                    <a:p>
                      <a:r>
                        <a:rPr lang="zh-CN" altLang="en-US" sz="1600" dirty="0"/>
                        <a:t>好</a:t>
                      </a:r>
                    </a:p>
                  </a:txBody>
                  <a:tcPr/>
                </a:tc>
                <a:tc>
                  <a:txBody>
                    <a:bodyPr/>
                    <a:lstStyle/>
                    <a:p>
                      <a:r>
                        <a:rPr lang="zh-CN" altLang="en-US" sz="1600" dirty="0"/>
                        <a:t>高</a:t>
                      </a:r>
                    </a:p>
                  </a:txBody>
                  <a:tcPr/>
                </a:tc>
                <a:tc>
                  <a:txBody>
                    <a:bodyPr/>
                    <a:lstStyle/>
                    <a:p>
                      <a:r>
                        <a:rPr lang="zh-CN" altLang="en-US" sz="1600" dirty="0"/>
                        <a:t>上进</a:t>
                      </a:r>
                    </a:p>
                  </a:txBody>
                  <a:tcPr/>
                </a:tc>
                <a:tc>
                  <a:txBody>
                    <a:bodyPr/>
                    <a:lstStyle/>
                    <a:p>
                      <a:r>
                        <a:rPr lang="en-US" altLang="zh-CN" sz="1600" dirty="0"/>
                        <a:t>yes</a:t>
                      </a:r>
                      <a:endParaRPr lang="zh-CN" altLang="en-US" sz="1600" dirty="0"/>
                    </a:p>
                  </a:txBody>
                  <a:tcPr/>
                </a:tc>
                <a:extLst>
                  <a:ext uri="{0D108BD9-81ED-4DB2-BD59-A6C34878D82A}">
                    <a16:rowId xmlns:a16="http://schemas.microsoft.com/office/drawing/2014/main" val="10004"/>
                  </a:ext>
                </a:extLst>
              </a:tr>
              <a:tr h="266664">
                <a:tc>
                  <a:txBody>
                    <a:bodyPr/>
                    <a:lstStyle/>
                    <a:p>
                      <a:r>
                        <a:rPr lang="zh-CN" altLang="en-US" sz="1600" dirty="0"/>
                        <a:t>帅</a:t>
                      </a:r>
                    </a:p>
                  </a:txBody>
                  <a:tcPr/>
                </a:tc>
                <a:tc>
                  <a:txBody>
                    <a:bodyPr/>
                    <a:lstStyle/>
                    <a:p>
                      <a:r>
                        <a:rPr lang="zh-CN" altLang="en-US" sz="1600" dirty="0"/>
                        <a:t>不好</a:t>
                      </a:r>
                    </a:p>
                  </a:txBody>
                  <a:tcPr/>
                </a:tc>
                <a:tc>
                  <a:txBody>
                    <a:bodyPr/>
                    <a:lstStyle/>
                    <a:p>
                      <a:r>
                        <a:rPr lang="zh-CN" altLang="en-US" sz="1600" dirty="0"/>
                        <a:t>矮</a:t>
                      </a:r>
                    </a:p>
                  </a:txBody>
                  <a:tcPr/>
                </a:tc>
                <a:tc>
                  <a:txBody>
                    <a:bodyPr/>
                    <a:lstStyle/>
                    <a:p>
                      <a:r>
                        <a:rPr lang="zh-CN" altLang="en-US" sz="1600" dirty="0"/>
                        <a:t>上进</a:t>
                      </a:r>
                    </a:p>
                  </a:txBody>
                  <a:tcPr/>
                </a:tc>
                <a:tc>
                  <a:txBody>
                    <a:bodyPr/>
                    <a:lstStyle/>
                    <a:p>
                      <a:r>
                        <a:rPr lang="en-US" altLang="zh-CN" sz="1600"/>
                        <a:t>no</a:t>
                      </a:r>
                      <a:endParaRPr lang="zh-CN" altLang="en-US" sz="1600" dirty="0"/>
                    </a:p>
                  </a:txBody>
                  <a:tcPr/>
                </a:tc>
                <a:extLst>
                  <a:ext uri="{0D108BD9-81ED-4DB2-BD59-A6C34878D82A}">
                    <a16:rowId xmlns:a16="http://schemas.microsoft.com/office/drawing/2014/main" val="10005"/>
                  </a:ext>
                </a:extLst>
              </a:tr>
              <a:tr h="266664">
                <a:tc>
                  <a:txBody>
                    <a:bodyPr/>
                    <a:lstStyle/>
                    <a:p>
                      <a:r>
                        <a:rPr lang="zh-CN" altLang="en-US" sz="1600" dirty="0"/>
                        <a:t>不帅</a:t>
                      </a:r>
                    </a:p>
                  </a:txBody>
                  <a:tcPr/>
                </a:tc>
                <a:tc>
                  <a:txBody>
                    <a:bodyPr/>
                    <a:lstStyle/>
                    <a:p>
                      <a:r>
                        <a:rPr lang="zh-CN" altLang="en-US" sz="1600" dirty="0"/>
                        <a:t>不好</a:t>
                      </a:r>
                    </a:p>
                  </a:txBody>
                  <a:tcPr/>
                </a:tc>
                <a:tc>
                  <a:txBody>
                    <a:bodyPr/>
                    <a:lstStyle/>
                    <a:p>
                      <a:r>
                        <a:rPr lang="zh-CN" altLang="en-US" sz="1600" dirty="0"/>
                        <a:t>矮</a:t>
                      </a:r>
                    </a:p>
                  </a:txBody>
                  <a:tcPr/>
                </a:tc>
                <a:tc>
                  <a:txBody>
                    <a:bodyPr/>
                    <a:lstStyle/>
                    <a:p>
                      <a:r>
                        <a:rPr lang="zh-CN" altLang="en-US" sz="1600"/>
                        <a:t>不上进</a:t>
                      </a:r>
                      <a:endParaRPr lang="zh-CN" altLang="en-US" sz="1600" dirty="0"/>
                    </a:p>
                  </a:txBody>
                  <a:tcPr/>
                </a:tc>
                <a:tc>
                  <a:txBody>
                    <a:bodyPr/>
                    <a:lstStyle/>
                    <a:p>
                      <a:r>
                        <a:rPr lang="en-US" altLang="zh-CN" sz="1600" dirty="0"/>
                        <a:t>no</a:t>
                      </a:r>
                      <a:endParaRPr lang="zh-CN" altLang="en-US" sz="1600" dirty="0"/>
                    </a:p>
                  </a:txBody>
                  <a:tcPr/>
                </a:tc>
                <a:extLst>
                  <a:ext uri="{0D108BD9-81ED-4DB2-BD59-A6C34878D82A}">
                    <a16:rowId xmlns:a16="http://schemas.microsoft.com/office/drawing/2014/main" val="10006"/>
                  </a:ext>
                </a:extLst>
              </a:tr>
              <a:tr h="266664">
                <a:tc>
                  <a:txBody>
                    <a:bodyPr/>
                    <a:lstStyle/>
                    <a:p>
                      <a:r>
                        <a:rPr lang="zh-CN" altLang="en-US" sz="1600" dirty="0"/>
                        <a:t>帅</a:t>
                      </a:r>
                    </a:p>
                  </a:txBody>
                  <a:tcPr/>
                </a:tc>
                <a:tc>
                  <a:txBody>
                    <a:bodyPr/>
                    <a:lstStyle/>
                    <a:p>
                      <a:r>
                        <a:rPr lang="zh-CN" altLang="en-US" sz="1600" dirty="0"/>
                        <a:t>好</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高</a:t>
                      </a:r>
                    </a:p>
                  </a:txBody>
                  <a:tcPr/>
                </a:tc>
                <a:tc>
                  <a:txBody>
                    <a:bodyPr/>
                    <a:lstStyle/>
                    <a:p>
                      <a:r>
                        <a:rPr lang="zh-CN" altLang="en-US" sz="1600" dirty="0"/>
                        <a:t>不上进</a:t>
                      </a:r>
                    </a:p>
                  </a:txBody>
                  <a:tcPr/>
                </a:tc>
                <a:tc>
                  <a:txBody>
                    <a:bodyPr/>
                    <a:lstStyle/>
                    <a:p>
                      <a:r>
                        <a:rPr lang="en-US" altLang="zh-CN" sz="1600"/>
                        <a:t>yes</a:t>
                      </a:r>
                      <a:endParaRPr lang="zh-CN" altLang="en-US" sz="1600" dirty="0"/>
                    </a:p>
                  </a:txBody>
                  <a:tcPr/>
                </a:tc>
                <a:extLst>
                  <a:ext uri="{0D108BD9-81ED-4DB2-BD59-A6C34878D82A}">
                    <a16:rowId xmlns:a16="http://schemas.microsoft.com/office/drawing/2014/main" val="10007"/>
                  </a:ext>
                </a:extLst>
              </a:tr>
              <a:tr h="266664">
                <a:tc>
                  <a:txBody>
                    <a:bodyPr/>
                    <a:lstStyle/>
                    <a:p>
                      <a:r>
                        <a:rPr lang="zh-CN" altLang="en-US" sz="1600" dirty="0"/>
                        <a:t>不帅</a:t>
                      </a:r>
                    </a:p>
                  </a:txBody>
                  <a:tcPr/>
                </a:tc>
                <a:tc>
                  <a:txBody>
                    <a:bodyPr/>
                    <a:lstStyle/>
                    <a:p>
                      <a:r>
                        <a:rPr lang="zh-CN" altLang="en-US" sz="1600" dirty="0"/>
                        <a:t>好</a:t>
                      </a:r>
                    </a:p>
                  </a:txBody>
                  <a:tcPr/>
                </a:tc>
                <a:tc>
                  <a:txBody>
                    <a:bodyPr/>
                    <a:lstStyle/>
                    <a:p>
                      <a:r>
                        <a:rPr lang="zh-CN" altLang="en-US" sz="1600" dirty="0"/>
                        <a:t>高</a:t>
                      </a:r>
                    </a:p>
                  </a:txBody>
                  <a:tcPr/>
                </a:tc>
                <a:tc>
                  <a:txBody>
                    <a:bodyPr/>
                    <a:lstStyle/>
                    <a:p>
                      <a:r>
                        <a:rPr lang="zh-CN" altLang="en-US" sz="1600" dirty="0"/>
                        <a:t>上进</a:t>
                      </a:r>
                    </a:p>
                  </a:txBody>
                  <a:tcPr/>
                </a:tc>
                <a:tc>
                  <a:txBody>
                    <a:bodyPr/>
                    <a:lstStyle/>
                    <a:p>
                      <a:r>
                        <a:rPr lang="en-US" altLang="zh-CN" sz="1600"/>
                        <a:t>yes</a:t>
                      </a:r>
                      <a:endParaRPr lang="zh-CN" altLang="en-US" sz="1600" dirty="0"/>
                    </a:p>
                  </a:txBody>
                  <a:tcPr/>
                </a:tc>
                <a:extLst>
                  <a:ext uri="{0D108BD9-81ED-4DB2-BD59-A6C34878D82A}">
                    <a16:rowId xmlns:a16="http://schemas.microsoft.com/office/drawing/2014/main" val="10008"/>
                  </a:ext>
                </a:extLst>
              </a:tr>
              <a:tr h="266664">
                <a:tc>
                  <a:txBody>
                    <a:bodyPr/>
                    <a:lstStyle/>
                    <a:p>
                      <a:r>
                        <a:rPr lang="zh-CN" altLang="en-US" sz="1600" dirty="0"/>
                        <a:t>帅</a:t>
                      </a:r>
                    </a:p>
                  </a:txBody>
                  <a:tcPr/>
                </a:tc>
                <a:tc>
                  <a:txBody>
                    <a:bodyPr/>
                    <a:lstStyle/>
                    <a:p>
                      <a:r>
                        <a:rPr lang="zh-CN" altLang="en-US" sz="1600" dirty="0"/>
                        <a:t>好</a:t>
                      </a:r>
                    </a:p>
                  </a:txBody>
                  <a:tcPr/>
                </a:tc>
                <a:tc>
                  <a:txBody>
                    <a:bodyPr/>
                    <a:lstStyle/>
                    <a:p>
                      <a:r>
                        <a:rPr lang="zh-CN" altLang="en-US" sz="1600" dirty="0"/>
                        <a:t>高</a:t>
                      </a:r>
                    </a:p>
                  </a:txBody>
                  <a:tcPr/>
                </a:tc>
                <a:tc>
                  <a:txBody>
                    <a:bodyPr/>
                    <a:lstStyle/>
                    <a:p>
                      <a:r>
                        <a:rPr lang="zh-CN" altLang="en-US" sz="1600" dirty="0"/>
                        <a:t>上进</a:t>
                      </a:r>
                    </a:p>
                  </a:txBody>
                  <a:tcPr/>
                </a:tc>
                <a:tc>
                  <a:txBody>
                    <a:bodyPr/>
                    <a:lstStyle/>
                    <a:p>
                      <a:r>
                        <a:rPr lang="en-US" altLang="zh-CN" sz="1600"/>
                        <a:t>yes</a:t>
                      </a:r>
                      <a:endParaRPr lang="zh-CN" altLang="en-US" sz="1600" dirty="0"/>
                    </a:p>
                  </a:txBody>
                  <a:tcPr/>
                </a:tc>
                <a:extLst>
                  <a:ext uri="{0D108BD9-81ED-4DB2-BD59-A6C34878D82A}">
                    <a16:rowId xmlns:a16="http://schemas.microsoft.com/office/drawing/2014/main" val="10009"/>
                  </a:ext>
                </a:extLst>
              </a:tr>
              <a:tr h="266664">
                <a:tc>
                  <a:txBody>
                    <a:bodyPr/>
                    <a:lstStyle/>
                    <a:p>
                      <a:r>
                        <a:rPr lang="zh-CN" altLang="en-US" sz="1600" dirty="0"/>
                        <a:t>不帅</a:t>
                      </a:r>
                    </a:p>
                  </a:txBody>
                  <a:tcPr/>
                </a:tc>
                <a:tc>
                  <a:txBody>
                    <a:bodyPr/>
                    <a:lstStyle/>
                    <a:p>
                      <a:r>
                        <a:rPr lang="zh-CN" altLang="en-US" sz="1600" dirty="0"/>
                        <a:t>不好</a:t>
                      </a:r>
                    </a:p>
                  </a:txBody>
                  <a:tcPr/>
                </a:tc>
                <a:tc>
                  <a:txBody>
                    <a:bodyPr/>
                    <a:lstStyle/>
                    <a:p>
                      <a:r>
                        <a:rPr lang="zh-CN" altLang="en-US" sz="1600" dirty="0"/>
                        <a:t>高</a:t>
                      </a:r>
                    </a:p>
                  </a:txBody>
                  <a:tcPr/>
                </a:tc>
                <a:tc>
                  <a:txBody>
                    <a:bodyPr/>
                    <a:lstStyle/>
                    <a:p>
                      <a:r>
                        <a:rPr lang="zh-CN" altLang="en-US" sz="1600" dirty="0"/>
                        <a:t>上进</a:t>
                      </a:r>
                    </a:p>
                  </a:txBody>
                  <a:tcPr/>
                </a:tc>
                <a:tc>
                  <a:txBody>
                    <a:bodyPr/>
                    <a:lstStyle/>
                    <a:p>
                      <a:r>
                        <a:rPr lang="en-US" altLang="zh-CN" sz="1600" dirty="0"/>
                        <a:t>yes</a:t>
                      </a:r>
                      <a:endParaRPr lang="zh-CN" altLang="en-US" sz="1600" dirty="0"/>
                    </a:p>
                  </a:txBody>
                  <a:tcPr/>
                </a:tc>
                <a:extLst>
                  <a:ext uri="{0D108BD9-81ED-4DB2-BD59-A6C34878D82A}">
                    <a16:rowId xmlns:a16="http://schemas.microsoft.com/office/drawing/2014/main" val="10010"/>
                  </a:ext>
                </a:extLst>
              </a:tr>
              <a:tr h="266664">
                <a:tc>
                  <a:txBody>
                    <a:bodyPr/>
                    <a:lstStyle/>
                    <a:p>
                      <a:r>
                        <a:rPr lang="zh-CN" altLang="en-US" sz="1600" dirty="0"/>
                        <a:t>帅</a:t>
                      </a:r>
                    </a:p>
                  </a:txBody>
                  <a:tcPr/>
                </a:tc>
                <a:tc>
                  <a:txBody>
                    <a:bodyPr/>
                    <a:lstStyle/>
                    <a:p>
                      <a:r>
                        <a:rPr lang="zh-CN" altLang="en-US" sz="1600" dirty="0"/>
                        <a:t>好</a:t>
                      </a:r>
                    </a:p>
                  </a:txBody>
                  <a:tcPr/>
                </a:tc>
                <a:tc>
                  <a:txBody>
                    <a:bodyPr/>
                    <a:lstStyle/>
                    <a:p>
                      <a:r>
                        <a:rPr lang="zh-CN" altLang="en-US" sz="1600" dirty="0"/>
                        <a:t>矮</a:t>
                      </a:r>
                    </a:p>
                  </a:txBody>
                  <a:tcPr/>
                </a:tc>
                <a:tc>
                  <a:txBody>
                    <a:bodyPr/>
                    <a:lstStyle/>
                    <a:p>
                      <a:r>
                        <a:rPr lang="zh-CN" altLang="en-US" sz="1600"/>
                        <a:t>不上进</a:t>
                      </a:r>
                      <a:endParaRPr lang="zh-CN" altLang="en-US" sz="1600" dirty="0"/>
                    </a:p>
                  </a:txBody>
                  <a:tcPr/>
                </a:tc>
                <a:tc>
                  <a:txBody>
                    <a:bodyPr/>
                    <a:lstStyle/>
                    <a:p>
                      <a:r>
                        <a:rPr lang="en-US" altLang="zh-CN" sz="1600" dirty="0"/>
                        <a:t>no</a:t>
                      </a:r>
                      <a:endParaRPr lang="zh-CN" altLang="en-US" sz="1600" dirty="0"/>
                    </a:p>
                  </a:txBody>
                  <a:tcPr/>
                </a:tc>
                <a:extLst>
                  <a:ext uri="{0D108BD9-81ED-4DB2-BD59-A6C34878D82A}">
                    <a16:rowId xmlns:a16="http://schemas.microsoft.com/office/drawing/2014/main" val="10011"/>
                  </a:ext>
                </a:extLst>
              </a:tr>
              <a:tr h="266664">
                <a:tc>
                  <a:txBody>
                    <a:bodyPr/>
                    <a:lstStyle/>
                    <a:p>
                      <a:r>
                        <a:rPr lang="zh-CN" altLang="en-US" sz="1600" dirty="0"/>
                        <a:t>帅</a:t>
                      </a:r>
                    </a:p>
                  </a:txBody>
                  <a:tcPr/>
                </a:tc>
                <a:tc>
                  <a:txBody>
                    <a:bodyPr/>
                    <a:lstStyle/>
                    <a:p>
                      <a:r>
                        <a:rPr lang="zh-CN" altLang="en-US" sz="1600" dirty="0"/>
                        <a:t>好</a:t>
                      </a:r>
                    </a:p>
                  </a:txBody>
                  <a:tcPr/>
                </a:tc>
                <a:tc>
                  <a:txBody>
                    <a:bodyPr/>
                    <a:lstStyle/>
                    <a:p>
                      <a:r>
                        <a:rPr lang="zh-CN" altLang="en-US" sz="1600" dirty="0"/>
                        <a:t>矮</a:t>
                      </a:r>
                    </a:p>
                  </a:txBody>
                  <a:tcPr/>
                </a:tc>
                <a:tc>
                  <a:txBody>
                    <a:bodyPr/>
                    <a:lstStyle/>
                    <a:p>
                      <a:r>
                        <a:rPr lang="zh-CN" altLang="en-US" sz="1600" dirty="0"/>
                        <a:t>不上进</a:t>
                      </a:r>
                    </a:p>
                  </a:txBody>
                  <a:tcPr/>
                </a:tc>
                <a:tc>
                  <a:txBody>
                    <a:bodyPr/>
                    <a:lstStyle/>
                    <a:p>
                      <a:r>
                        <a:rPr lang="en-US" altLang="zh-CN" sz="1600" dirty="0"/>
                        <a:t>no</a:t>
                      </a:r>
                      <a:endParaRPr lang="zh-CN" altLang="en-US" sz="1600" dirty="0"/>
                    </a:p>
                  </a:txBody>
                  <a:tcPr/>
                </a:tc>
                <a:extLst>
                  <a:ext uri="{0D108BD9-81ED-4DB2-BD59-A6C34878D82A}">
                    <a16:rowId xmlns:a16="http://schemas.microsoft.com/office/drawing/2014/main" val="10012"/>
                  </a:ext>
                </a:extLst>
              </a:tr>
            </a:tbl>
          </a:graphicData>
        </a:graphic>
      </p:graphicFrame>
      <p:pic>
        <p:nvPicPr>
          <p:cNvPr id="8" name="图片 7"/>
          <p:cNvPicPr>
            <a:picLocks noChangeAspect="1"/>
          </p:cNvPicPr>
          <p:nvPr/>
        </p:nvPicPr>
        <p:blipFill>
          <a:blip r:embed="rId3"/>
          <a:stretch>
            <a:fillRect/>
          </a:stretch>
        </p:blipFill>
        <p:spPr>
          <a:xfrm>
            <a:off x="1799829" y="5031221"/>
            <a:ext cx="8666704" cy="1318666"/>
          </a:xfrm>
          <a:prstGeom prst="rect">
            <a:avLst/>
          </a:prstGeom>
          <a:noFill/>
          <a:ln w="9525">
            <a:noFill/>
          </a:ln>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p:bldP spid="22" grpId="0"/>
      <p:bldP spid="10" grpId="0"/>
      <p:bldP spid="15" grpId="0"/>
      <p:bldP spid="30" grpId="0"/>
      <p:bldP spid="33" grpId="0"/>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6514" name="Rectangle 2"/>
          <p:cNvSpPr>
            <a:spLocks noGrp="1" noChangeArrowheads="1"/>
          </p:cNvSpPr>
          <p:nvPr>
            <p:ph type="title"/>
          </p:nvPr>
        </p:nvSpPr>
        <p:spPr>
          <a:xfrm>
            <a:off x="2300760" y="303316"/>
            <a:ext cx="7772400" cy="731838"/>
          </a:xfrm>
        </p:spPr>
        <p:txBody>
          <a:bodyPr vert="horz" wrap="square" lIns="91440" tIns="45720" rIns="91440" bIns="45720" numCol="1" anchor="ctr" anchorCtr="0" compatLnSpc="1"/>
          <a:lstStyle/>
          <a:p>
            <a:pPr algn="ctr" eaLnBrk="1" hangingPunct="1">
              <a:defRPr/>
            </a:pPr>
            <a:r>
              <a:rPr lang="zh-CN" altLang="en-US" sz="3200" b="1" dirty="0">
                <a:solidFill>
                  <a:schemeClr val="tx1"/>
                </a:solidFill>
                <a:effectLst>
                  <a:outerShdw blurRad="38100" dist="38100" dir="2700000" algn="tl">
                    <a:srgbClr val="C0C0C0"/>
                  </a:outerShdw>
                </a:effectLst>
              </a:rPr>
              <a:t>纠正过低估计</a:t>
            </a:r>
            <a:r>
              <a:rPr lang="en-US" altLang="zh-CN" sz="3200" b="1" dirty="0">
                <a:solidFill>
                  <a:schemeClr val="tx1"/>
                </a:solidFill>
                <a:effectLst>
                  <a:outerShdw blurRad="38100" dist="38100" dir="2700000" algn="tl">
                    <a:srgbClr val="C0C0C0"/>
                  </a:outerShdw>
                </a:effectLst>
              </a:rPr>
              <a:t>—</a:t>
            </a:r>
            <a:r>
              <a:rPr lang="zh-CN" altLang="en-US" sz="3200" b="1" dirty="0">
                <a:solidFill>
                  <a:schemeClr val="tx1"/>
                </a:solidFill>
                <a:effectLst>
                  <a:outerShdw blurRad="38100" dist="38100" dir="2700000" algn="tl">
                    <a:srgbClr val="C0C0C0"/>
                  </a:outerShdw>
                </a:effectLst>
              </a:rPr>
              <a:t>数据平滑技术：</a:t>
            </a:r>
            <a:r>
              <a:rPr lang="en-US" altLang="zh-CN" sz="3200" b="1" dirty="0">
                <a:solidFill>
                  <a:schemeClr val="tx1"/>
                </a:solidFill>
                <a:effectLst>
                  <a:outerShdw blurRad="38100" dist="38100" dir="2700000" algn="tl">
                    <a:srgbClr val="C0C0C0"/>
                  </a:outerShdw>
                </a:effectLst>
              </a:rPr>
              <a:t>m</a:t>
            </a:r>
            <a:r>
              <a:rPr lang="zh-CN" altLang="en-US" sz="3200" b="1" dirty="0">
                <a:solidFill>
                  <a:schemeClr val="tx1"/>
                </a:solidFill>
                <a:effectLst>
                  <a:outerShdw blurRad="38100" dist="38100" dir="2700000" algn="tl">
                    <a:srgbClr val="C0C0C0"/>
                  </a:outerShdw>
                </a:effectLst>
              </a:rPr>
              <a:t>估计</a:t>
            </a:r>
            <a:endParaRPr lang="en-US" altLang="zh-CN" sz="3200" b="1" dirty="0">
              <a:solidFill>
                <a:schemeClr val="tx1"/>
              </a:solidFill>
              <a:effectLst>
                <a:outerShdw blurRad="38100" dist="38100" dir="2700000" algn="tl">
                  <a:srgbClr val="C0C0C0"/>
                </a:outerShdw>
              </a:effectLst>
            </a:endParaRPr>
          </a:p>
        </p:txBody>
      </p:sp>
      <p:sp>
        <p:nvSpPr>
          <p:cNvPr id="576515" name="Rectangle 3"/>
          <p:cNvSpPr>
            <a:spLocks noGrp="1"/>
          </p:cNvSpPr>
          <p:nvPr>
            <p:ph type="body" sz="half" idx="1"/>
          </p:nvPr>
        </p:nvSpPr>
        <p:spPr>
          <a:xfrm>
            <a:off x="2062957" y="2466976"/>
            <a:ext cx="8208963" cy="3338289"/>
          </a:xfrm>
          <a:ln/>
        </p:spPr>
        <p:txBody>
          <a:bodyPr vert="horz" wrap="square" lIns="91440" tIns="45720" rIns="91440" bIns="45720" anchor="t" anchorCtr="0"/>
          <a:lstStyle/>
          <a:p>
            <a:pPr eaLnBrk="1" latinLnBrk="0" hangingPunct="1">
              <a:lnSpc>
                <a:spcPct val="120000"/>
              </a:lnSpc>
              <a:buClrTx/>
              <a:buSzTx/>
              <a:buFontTx/>
            </a:pPr>
            <a:r>
              <a:rPr lang="zh-CN" altLang="en-US" sz="2400" dirty="0">
                <a:latin typeface="微软雅黑" panose="020B0503020204020204" pitchFamily="34" charset="-122"/>
                <a:ea typeface="微软雅黑" panose="020B0503020204020204" pitchFamily="34" charset="-122"/>
              </a:rPr>
              <a:t>改进</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采用</a:t>
            </a:r>
            <a:r>
              <a:rPr lang="en-US" altLang="zh-CN" sz="2400"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估计，即将所有原来的频率增加一个很小常数</a:t>
            </a:r>
            <a:r>
              <a:rPr lang="en-US" altLang="zh-CN" sz="2400"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，杜绝了</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概率的事件发生。</a:t>
            </a:r>
          </a:p>
        </p:txBody>
      </p:sp>
      <p:graphicFrame>
        <p:nvGraphicFramePr>
          <p:cNvPr id="576517" name="Object 5"/>
          <p:cNvGraphicFramePr>
            <a:graphicFrameLocks noGrp="1" noChangeAspect="1"/>
          </p:cNvGraphicFramePr>
          <p:nvPr>
            <p:ph sz="half" idx="2"/>
            <p:extLst>
              <p:ext uri="{D42A27DB-BD31-4B8C-83A1-F6EECF244321}">
                <p14:modId xmlns:p14="http://schemas.microsoft.com/office/powerpoint/2010/main" val="1573184422"/>
              </p:ext>
            </p:extLst>
          </p:nvPr>
        </p:nvGraphicFramePr>
        <p:xfrm>
          <a:off x="4752975" y="3465513"/>
          <a:ext cx="1368425" cy="1009650"/>
        </p:xfrm>
        <a:graphic>
          <a:graphicData uri="http://schemas.openxmlformats.org/presentationml/2006/ole">
            <mc:AlternateContent xmlns:mc="http://schemas.openxmlformats.org/markup-compatibility/2006">
              <mc:Choice xmlns:v="urn:schemas-microsoft-com:vml" Requires="v">
                <p:oleObj r:id="rId3" imgW="533400" imgH="393700" progId="Equation.3">
                  <p:embed/>
                </p:oleObj>
              </mc:Choice>
              <mc:Fallback>
                <p:oleObj r:id="rId3" imgW="533400" imgH="393700" progId="Equation.3">
                  <p:embed/>
                  <p:pic>
                    <p:nvPicPr>
                      <p:cNvPr id="0" name="图片 3090"/>
                      <p:cNvPicPr/>
                      <p:nvPr/>
                    </p:nvPicPr>
                    <p:blipFill>
                      <a:blip r:embed="rId4"/>
                      <a:srcRect/>
                      <a:stretch>
                        <a:fillRect/>
                      </a:stretch>
                    </p:blipFill>
                    <p:spPr>
                      <a:xfrm>
                        <a:off x="4752975" y="3465513"/>
                        <a:ext cx="1368425" cy="1009650"/>
                      </a:xfrm>
                      <a:prstGeom prst="rect">
                        <a:avLst/>
                      </a:prstGeom>
                      <a:noFill/>
                      <a:ln w="38100">
                        <a:miter/>
                      </a:ln>
                    </p:spPr>
                  </p:pic>
                </p:oleObj>
              </mc:Fallback>
            </mc:AlternateContent>
          </a:graphicData>
        </a:graphic>
      </p:graphicFrame>
      <p:sp>
        <p:nvSpPr>
          <p:cNvPr id="576519" name="Text Box 7"/>
          <p:cNvSpPr txBox="1"/>
          <p:nvPr/>
        </p:nvSpPr>
        <p:spPr>
          <a:xfrm>
            <a:off x="2423592" y="4442367"/>
            <a:ext cx="4968552" cy="2031325"/>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lnSpc>
                <a:spcPct val="110000"/>
              </a:lnSpc>
              <a:buNone/>
            </a:pPr>
            <a:r>
              <a:rPr lang="zh-CN" altLang="en-US" sz="2000" dirty="0">
                <a:latin typeface="Times New Roman" panose="02020603050405020304" pitchFamily="18" charset="0"/>
                <a:ea typeface="微软雅黑" panose="020B0503020204020204" pitchFamily="34" charset="-122"/>
              </a:rPr>
              <a:t>其中：</a:t>
            </a:r>
            <a:endParaRPr lang="en-US" altLang="zh-CN" sz="2000" dirty="0">
              <a:latin typeface="Times New Roman" panose="02020603050405020304" pitchFamily="18" charset="0"/>
              <a:ea typeface="微软雅黑" panose="020B0503020204020204" pitchFamily="34" charset="-122"/>
            </a:endParaRPr>
          </a:p>
          <a:p>
            <a:pPr marL="0" indent="0" eaLnBrk="1" hangingPunct="1">
              <a:lnSpc>
                <a:spcPct val="110000"/>
              </a:lnSpc>
              <a:buNone/>
            </a:pPr>
            <a:r>
              <a:rPr lang="en-US" altLang="zh-CN" sz="2000" dirty="0">
                <a:latin typeface="Times New Roman" panose="02020603050405020304" pitchFamily="18" charset="0"/>
                <a:ea typeface="微软雅黑" panose="020B0503020204020204" pitchFamily="34" charset="-122"/>
              </a:rPr>
              <a:t>n </a:t>
            </a:r>
            <a:r>
              <a:rPr lang="zh-CN" altLang="en-US" sz="2000" dirty="0">
                <a:latin typeface="Times New Roman" panose="02020603050405020304" pitchFamily="18" charset="0"/>
                <a:ea typeface="微软雅黑" panose="020B0503020204020204" pitchFamily="34" charset="-122"/>
              </a:rPr>
              <a:t>是类别 </a:t>
            </a:r>
            <a:r>
              <a:rPr lang="en-US" altLang="zh-CN" sz="2000" i="1" dirty="0">
                <a:latin typeface="Times New Roman" panose="02020603050405020304" pitchFamily="18" charset="0"/>
                <a:ea typeface="微软雅黑" panose="020B0503020204020204" pitchFamily="34" charset="-122"/>
              </a:rPr>
              <a:t>v</a:t>
            </a:r>
            <a:r>
              <a:rPr lang="en-US" altLang="zh-CN" sz="2000" i="1" baseline="-25000" dirty="0">
                <a:latin typeface="Times New Roman" panose="02020603050405020304" pitchFamily="18" charset="0"/>
                <a:ea typeface="微软雅黑" panose="020B0503020204020204" pitchFamily="34" charset="-122"/>
              </a:rPr>
              <a:t>j  </a:t>
            </a:r>
            <a:r>
              <a:rPr lang="zh-CN" altLang="en-US" sz="2000" dirty="0">
                <a:latin typeface="Times New Roman" panose="02020603050405020304" pitchFamily="18" charset="0"/>
                <a:ea typeface="微软雅黑" panose="020B0503020204020204" pitchFamily="34" charset="-122"/>
              </a:rPr>
              <a:t>的实例个数 </a:t>
            </a:r>
            <a:endParaRPr lang="en-US" altLang="zh-CN" sz="2000" dirty="0">
              <a:latin typeface="Times New Roman" panose="02020603050405020304" pitchFamily="18" charset="0"/>
              <a:ea typeface="微软雅黑" panose="020B0503020204020204" pitchFamily="34" charset="-122"/>
            </a:endParaRPr>
          </a:p>
          <a:p>
            <a:pPr marL="0" indent="0" eaLnBrk="1" hangingPunct="1">
              <a:lnSpc>
                <a:spcPct val="110000"/>
              </a:lnSpc>
              <a:buNone/>
            </a:pPr>
            <a:r>
              <a:rPr lang="en-US" altLang="zh-CN" sz="2000" dirty="0" err="1">
                <a:latin typeface="Times New Roman" panose="02020603050405020304" pitchFamily="18" charset="0"/>
                <a:ea typeface="微软雅黑" panose="020B0503020204020204" pitchFamily="34" charset="-122"/>
              </a:rPr>
              <a:t>n</a:t>
            </a:r>
            <a:r>
              <a:rPr lang="en-US" altLang="zh-CN" sz="2000" baseline="-25000" dirty="0" err="1">
                <a:latin typeface="Times New Roman" panose="02020603050405020304" pitchFamily="18" charset="0"/>
                <a:ea typeface="微软雅黑" panose="020B0503020204020204" pitchFamily="34" charset="-122"/>
              </a:rPr>
              <a:t>c</a:t>
            </a:r>
            <a:r>
              <a:rPr lang="en-US" altLang="zh-CN" sz="2000" baseline="-25000" dirty="0">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是类别 </a:t>
            </a:r>
            <a:r>
              <a:rPr lang="en-US" altLang="zh-CN" sz="2000" i="1" dirty="0" err="1">
                <a:latin typeface="Times New Roman" panose="02020603050405020304" pitchFamily="18" charset="0"/>
                <a:ea typeface="微软雅黑" panose="020B0503020204020204" pitchFamily="34" charset="-122"/>
              </a:rPr>
              <a:t>v</a:t>
            </a:r>
            <a:r>
              <a:rPr lang="en-US" altLang="zh-CN" sz="2000" i="1" baseline="-25000" dirty="0" err="1">
                <a:latin typeface="Times New Roman" panose="02020603050405020304" pitchFamily="18" charset="0"/>
                <a:ea typeface="微软雅黑" panose="020B0503020204020204" pitchFamily="34" charset="-122"/>
              </a:rPr>
              <a:t>j</a:t>
            </a:r>
            <a:r>
              <a:rPr lang="en-US" altLang="zh-CN" sz="2000" i="1" baseline="-25000" dirty="0">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中属性</a:t>
            </a:r>
            <a:r>
              <a:rPr lang="en-US" altLang="zh-CN" sz="2000" dirty="0">
                <a:latin typeface="Times New Roman" panose="02020603050405020304" pitchFamily="18" charset="0"/>
                <a:ea typeface="微软雅黑" panose="020B0503020204020204" pitchFamily="34" charset="-122"/>
              </a:rPr>
              <a:t>a</a:t>
            </a:r>
            <a:r>
              <a:rPr lang="zh-CN" altLang="en-US" sz="2000" dirty="0">
                <a:latin typeface="Times New Roman" panose="02020603050405020304" pitchFamily="18" charset="0"/>
                <a:ea typeface="微软雅黑" panose="020B0503020204020204" pitchFamily="34" charset="-122"/>
              </a:rPr>
              <a:t>取值为 </a:t>
            </a:r>
            <a:r>
              <a:rPr lang="en-US" altLang="zh-CN" sz="2000" i="1" dirty="0" err="1">
                <a:latin typeface="Times New Roman" panose="02020603050405020304" pitchFamily="18" charset="0"/>
                <a:ea typeface="微软雅黑" panose="020B0503020204020204" pitchFamily="34" charset="-122"/>
              </a:rPr>
              <a:t>a</a:t>
            </a:r>
            <a:r>
              <a:rPr lang="en-US" altLang="zh-CN" sz="2000" i="1" baseline="-25000" dirty="0" err="1">
                <a:latin typeface="Times New Roman" panose="02020603050405020304" pitchFamily="18" charset="0"/>
                <a:ea typeface="微软雅黑" panose="020B0503020204020204" pitchFamily="34" charset="-122"/>
              </a:rPr>
              <a:t>i</a:t>
            </a:r>
            <a:r>
              <a:rPr lang="en-US" altLang="zh-CN" sz="2000" i="1" baseline="-25000" dirty="0">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的实例个数 </a:t>
            </a:r>
            <a:endParaRPr lang="en-US" altLang="zh-CN" sz="2000" dirty="0">
              <a:latin typeface="Times New Roman" panose="02020603050405020304" pitchFamily="18" charset="0"/>
              <a:ea typeface="微软雅黑" panose="020B0503020204020204" pitchFamily="34" charset="-122"/>
            </a:endParaRPr>
          </a:p>
          <a:p>
            <a:pPr marL="0" indent="0" eaLnBrk="1" hangingPunct="1">
              <a:lnSpc>
                <a:spcPct val="110000"/>
              </a:lnSpc>
              <a:buNone/>
            </a:pPr>
            <a:r>
              <a:rPr lang="en-US" altLang="zh-CN" sz="2000" dirty="0">
                <a:latin typeface="Times New Roman" panose="02020603050405020304" pitchFamily="18" charset="0"/>
                <a:ea typeface="微软雅黑" panose="020B0503020204020204" pitchFamily="34" charset="-122"/>
              </a:rPr>
              <a:t>p=1/|C|</a:t>
            </a:r>
            <a:r>
              <a:rPr lang="zh-CN" altLang="en-US" sz="2000" dirty="0">
                <a:latin typeface="Times New Roman" panose="02020603050405020304" pitchFamily="18" charset="0"/>
                <a:ea typeface="微软雅黑" panose="020B0503020204020204" pitchFamily="34" charset="-122"/>
              </a:rPr>
              <a:t>，</a:t>
            </a:r>
            <a:r>
              <a:rPr lang="en-US" altLang="zh-CN" sz="2000" dirty="0">
                <a:latin typeface="Times New Roman" panose="02020603050405020304" pitchFamily="18" charset="0"/>
                <a:ea typeface="微软雅黑" panose="020B0503020204020204" pitchFamily="34" charset="-122"/>
              </a:rPr>
              <a:t>C</a:t>
            </a:r>
            <a:r>
              <a:rPr lang="zh-CN" altLang="en-US" sz="2000" dirty="0">
                <a:latin typeface="Times New Roman" panose="02020603050405020304" pitchFamily="18" charset="0"/>
                <a:ea typeface="微软雅黑" panose="020B0503020204020204" pitchFamily="34" charset="-122"/>
              </a:rPr>
              <a:t>即指属性</a:t>
            </a:r>
            <a:r>
              <a:rPr lang="en-US" altLang="zh-CN" sz="2000" dirty="0">
                <a:latin typeface="Times New Roman" panose="02020603050405020304" pitchFamily="18" charset="0"/>
                <a:ea typeface="微软雅黑" panose="020B0503020204020204" pitchFamily="34" charset="-122"/>
              </a:rPr>
              <a:t>a</a:t>
            </a:r>
            <a:r>
              <a:rPr lang="zh-CN" altLang="en-US" sz="2000" dirty="0">
                <a:latin typeface="Times New Roman" panose="02020603050405020304" pitchFamily="18" charset="0"/>
                <a:ea typeface="微软雅黑" panose="020B0503020204020204" pitchFamily="34" charset="-122"/>
              </a:rPr>
              <a:t>所有可能取值的个数</a:t>
            </a:r>
            <a:endParaRPr lang="en-US" altLang="zh-CN" sz="2000" dirty="0">
              <a:latin typeface="Times New Roman" panose="02020603050405020304" pitchFamily="18" charset="0"/>
              <a:ea typeface="微软雅黑" panose="020B0503020204020204" pitchFamily="34" charset="-122"/>
            </a:endParaRPr>
          </a:p>
          <a:p>
            <a:pPr marL="0" indent="0" eaLnBrk="1" hangingPunct="1">
              <a:lnSpc>
                <a:spcPct val="110000"/>
              </a:lnSpc>
              <a:buNone/>
            </a:pPr>
            <a:r>
              <a:rPr lang="en-US" altLang="zh-CN" sz="2000" dirty="0">
                <a:latin typeface="Times New Roman" panose="02020603050405020304" pitchFamily="18" charset="0"/>
                <a:ea typeface="微软雅黑" panose="020B0503020204020204" pitchFamily="34" charset="-122"/>
              </a:rPr>
              <a:t>m</a:t>
            </a:r>
            <a:r>
              <a:rPr lang="zh-CN" altLang="en-US" sz="2000" dirty="0">
                <a:latin typeface="Times New Roman" panose="02020603050405020304" pitchFamily="18" charset="0"/>
                <a:ea typeface="微软雅黑" panose="020B0503020204020204" pitchFamily="34" charset="-122"/>
              </a:rPr>
              <a:t>由实验确定</a:t>
            </a:r>
            <a:endParaRPr lang="en-US" altLang="zh-CN" sz="2000" dirty="0">
              <a:latin typeface="Times New Roman" panose="02020603050405020304" pitchFamily="18" charset="0"/>
              <a:ea typeface="微软雅黑" panose="020B0503020204020204" pitchFamily="34" charset="-122"/>
            </a:endParaRPr>
          </a:p>
        </p:txBody>
      </p:sp>
      <p:sp>
        <p:nvSpPr>
          <p:cNvPr id="2" name="文本框 1"/>
          <p:cNvSpPr txBox="1"/>
          <p:nvPr/>
        </p:nvSpPr>
        <p:spPr>
          <a:xfrm>
            <a:off x="3358946" y="3708008"/>
            <a:ext cx="2188076" cy="523220"/>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en-US" altLang="zh-CN" sz="2800" i="1" dirty="0">
                <a:latin typeface="Times New Roman" panose="02020603050405020304" pitchFamily="18" charset="0"/>
                <a:ea typeface="Gulim" panose="020B0600000101010101" pitchFamily="34" charset="-127"/>
              </a:rPr>
              <a:t>p</a:t>
            </a:r>
            <a:r>
              <a:rPr lang="en-US" altLang="zh-CN" sz="2800" dirty="0">
                <a:latin typeface="Times New Roman" panose="02020603050405020304" pitchFamily="18" charset="0"/>
                <a:ea typeface="Gulim" panose="020B0600000101010101" pitchFamily="34" charset="-127"/>
              </a:rPr>
              <a:t>(</a:t>
            </a:r>
            <a:r>
              <a:rPr lang="en-US" altLang="zh-CN" sz="2800" i="1" dirty="0">
                <a:latin typeface="Times New Roman" panose="02020603050405020304" pitchFamily="18" charset="0"/>
                <a:ea typeface="Gulim" panose="020B0600000101010101" pitchFamily="34" charset="-127"/>
              </a:rPr>
              <a:t>a</a:t>
            </a:r>
            <a:r>
              <a:rPr lang="en-US" altLang="zh-CN" sz="2800" i="1" baseline="-25000" dirty="0">
                <a:latin typeface="Times New Roman" panose="02020603050405020304" pitchFamily="18" charset="0"/>
                <a:ea typeface="Gulim" panose="020B0600000101010101" pitchFamily="34" charset="-127"/>
              </a:rPr>
              <a:t>i</a:t>
            </a:r>
            <a:r>
              <a:rPr lang="en-US" altLang="zh-CN" sz="2800" i="1" dirty="0">
                <a:latin typeface="Times New Roman" panose="02020603050405020304" pitchFamily="18" charset="0"/>
                <a:ea typeface="Gulim" panose="020B0600000101010101" pitchFamily="34" charset="-127"/>
              </a:rPr>
              <a:t>|v</a:t>
            </a:r>
            <a:r>
              <a:rPr lang="en-US" altLang="zh-CN" sz="2800" i="1" baseline="-25000" dirty="0">
                <a:latin typeface="Times New Roman" panose="02020603050405020304" pitchFamily="18" charset="0"/>
                <a:ea typeface="Gulim" panose="020B0600000101010101" pitchFamily="34" charset="-127"/>
              </a:rPr>
              <a:t>j</a:t>
            </a:r>
            <a:r>
              <a:rPr lang="en-US" altLang="zh-CN" sz="2800" dirty="0">
                <a:latin typeface="Times New Roman" panose="02020603050405020304" pitchFamily="18" charset="0"/>
                <a:ea typeface="Gulim" panose="020B0600000101010101" pitchFamily="34" charset="-127"/>
              </a:rPr>
              <a:t>)</a:t>
            </a:r>
            <a:r>
              <a:rPr lang="en-US" altLang="zh-CN" sz="2800" i="1" dirty="0">
                <a:latin typeface="Times New Roman" panose="02020603050405020304" pitchFamily="18" charset="0"/>
                <a:ea typeface="Gulim" panose="020B0600000101010101" pitchFamily="34" charset="-127"/>
              </a:rPr>
              <a:t>=</a:t>
            </a:r>
            <a:endParaRPr lang="zh-CN" altLang="en-US" sz="2800" i="1" dirty="0">
              <a:latin typeface="Times New Roman" panose="02020603050405020304" pitchFamily="18" charset="0"/>
              <a:ea typeface="Gulim" panose="020B0600000101010101" pitchFamily="34" charset="-127"/>
            </a:endParaRPr>
          </a:p>
        </p:txBody>
      </p:sp>
      <p:sp>
        <p:nvSpPr>
          <p:cNvPr id="3" name="文本框 2"/>
          <p:cNvSpPr txBox="1"/>
          <p:nvPr/>
        </p:nvSpPr>
        <p:spPr>
          <a:xfrm>
            <a:off x="6941361" y="3708009"/>
            <a:ext cx="3095625" cy="830997"/>
          </a:xfrm>
          <a:prstGeom prst="rect">
            <a:avLst/>
          </a:prstGeom>
          <a:solidFill>
            <a:schemeClr val="accent3">
              <a:lumMod val="95000"/>
            </a:schemeClr>
          </a:solidFill>
        </p:spPr>
        <p:txBody>
          <a:bodyPr>
            <a:spAutoFit/>
          </a:bodyPr>
          <a:lstStyle/>
          <a:p>
            <a:pPr>
              <a:defRPr/>
            </a:pPr>
            <a:r>
              <a:rPr kumimoji="1" lang="zh-CN" altLang="en-US" sz="2400" dirty="0">
                <a:latin typeface="微软雅黑" panose="020B0503020204020204" pitchFamily="34" charset="-122"/>
                <a:ea typeface="微软雅黑" panose="020B0503020204020204" pitchFamily="34" charset="-122"/>
              </a:rPr>
              <a:t>保持总概率为</a:t>
            </a:r>
            <a:r>
              <a:rPr kumimoji="1" lang="en-US" altLang="zh-CN" sz="2400" dirty="0">
                <a:latin typeface="微软雅黑" panose="020B0503020204020204" pitchFamily="34" charset="-122"/>
                <a:ea typeface="微软雅黑" panose="020B0503020204020204" pitchFamily="34" charset="-122"/>
              </a:rPr>
              <a:t>1</a:t>
            </a:r>
            <a:r>
              <a:rPr kumimoji="1" lang="zh-CN" altLang="en-US" sz="2400" dirty="0">
                <a:latin typeface="微软雅黑" panose="020B0503020204020204" pitchFamily="34" charset="-122"/>
                <a:ea typeface="微软雅黑" panose="020B0503020204020204" pitchFamily="34" charset="-122"/>
              </a:rPr>
              <a:t>，劫富济贫原则</a:t>
            </a:r>
          </a:p>
        </p:txBody>
      </p:sp>
      <p:pic>
        <p:nvPicPr>
          <p:cNvPr id="9" name="图片 8"/>
          <p:cNvPicPr>
            <a:picLocks noChangeAspect="1"/>
          </p:cNvPicPr>
          <p:nvPr/>
        </p:nvPicPr>
        <p:blipFill>
          <a:blip r:embed="rId5"/>
          <a:stretch>
            <a:fillRect/>
          </a:stretch>
        </p:blipFill>
        <p:spPr>
          <a:xfrm>
            <a:off x="2062956" y="1173936"/>
            <a:ext cx="4479550" cy="1135963"/>
          </a:xfrm>
          <a:prstGeom prst="rect">
            <a:avLst/>
          </a:prstGeom>
          <a:noFill/>
          <a:ln w="9525">
            <a:noFill/>
          </a:ln>
        </p:spPr>
      </p:pic>
      <p:sp>
        <p:nvSpPr>
          <p:cNvPr id="10" name="文本框 9"/>
          <p:cNvSpPr txBox="1"/>
          <p:nvPr/>
        </p:nvSpPr>
        <p:spPr>
          <a:xfrm>
            <a:off x="6664381" y="1111136"/>
            <a:ext cx="3752099" cy="1200329"/>
          </a:xfrm>
          <a:prstGeom prst="rect">
            <a:avLst/>
          </a:prstGeom>
          <a:solidFill>
            <a:schemeClr val="accent3">
              <a:lumMod val="95000"/>
            </a:schemeClr>
          </a:solidFill>
        </p:spPr>
        <p:txBody>
          <a:bodyPr wrap="square">
            <a:spAutoFit/>
          </a:bodyPr>
          <a:lstStyle/>
          <a:p>
            <a:pPr>
              <a:defRPr/>
            </a:pPr>
            <a:r>
              <a:rPr kumimoji="1" lang="zh-CN" altLang="en-US" sz="2400" dirty="0">
                <a:latin typeface="微软雅黑" panose="020B0503020204020204" pitchFamily="34" charset="-122"/>
                <a:ea typeface="微软雅黑" panose="020B0503020204020204" pitchFamily="34" charset="-122"/>
              </a:rPr>
              <a:t>如果一个特征的取值</a:t>
            </a:r>
            <a:r>
              <a:rPr kumimoji="1" lang="en-US" altLang="zh-CN" sz="2400" dirty="0" err="1">
                <a:latin typeface="微软雅黑" panose="020B0503020204020204" pitchFamily="34" charset="-122"/>
                <a:ea typeface="微软雅黑" panose="020B0503020204020204" pitchFamily="34" charset="-122"/>
              </a:rPr>
              <a:t>a</a:t>
            </a:r>
            <a:r>
              <a:rPr kumimoji="1" lang="en-US" altLang="zh-CN" sz="2400" baseline="-25000" dirty="0" err="1">
                <a:latin typeface="微软雅黑" panose="020B0503020204020204" pitchFamily="34" charset="-122"/>
                <a:ea typeface="微软雅黑" panose="020B0503020204020204" pitchFamily="34" charset="-122"/>
              </a:rPr>
              <a:t>j</a:t>
            </a:r>
            <a:r>
              <a:rPr kumimoji="1" lang="zh-CN" altLang="en-US" sz="2400" dirty="0">
                <a:latin typeface="微软雅黑" panose="020B0503020204020204" pitchFamily="34" charset="-122"/>
                <a:ea typeface="微软雅黑" panose="020B0503020204020204" pitchFamily="34" charset="-122"/>
              </a:rPr>
              <a:t>在样本中出现频率为</a:t>
            </a:r>
            <a:r>
              <a:rPr kumimoji="1" lang="en-US" altLang="zh-CN" sz="2400" dirty="0">
                <a:latin typeface="微软雅黑" panose="020B0503020204020204" pitchFamily="34" charset="-122"/>
                <a:ea typeface="微软雅黑" panose="020B0503020204020204" pitchFamily="34" charset="-122"/>
              </a:rPr>
              <a:t>0</a:t>
            </a:r>
            <a:r>
              <a:rPr kumimoji="1" lang="zh-CN" altLang="en-US" sz="2400" dirty="0">
                <a:latin typeface="微软雅黑" panose="020B0503020204020204" pitchFamily="34" charset="-122"/>
                <a:ea typeface="微软雅黑" panose="020B0503020204020204" pitchFamily="34" charset="-122"/>
              </a:rPr>
              <a:t>，则概率为</a:t>
            </a:r>
            <a:r>
              <a:rPr kumimoji="1" lang="en-US" altLang="zh-CN" sz="2400" dirty="0">
                <a:latin typeface="微软雅黑" panose="020B0503020204020204" pitchFamily="34" charset="-122"/>
                <a:ea typeface="微软雅黑" panose="020B0503020204020204" pitchFamily="34" charset="-122"/>
              </a:rPr>
              <a:t>0</a:t>
            </a:r>
            <a:r>
              <a:rPr kumimoji="1" lang="zh-CN" altLang="en-US" sz="2400" dirty="0">
                <a:latin typeface="微软雅黑" panose="020B0503020204020204" pitchFamily="34" charset="-122"/>
                <a:ea typeface="微软雅黑" panose="020B0503020204020204" pitchFamily="34" charset="-122"/>
              </a:rPr>
              <a:t>，则整体概率为</a:t>
            </a:r>
            <a:r>
              <a:rPr kumimoji="1" lang="en-US" altLang="zh-CN" sz="2400" dirty="0">
                <a:latin typeface="微软雅黑" panose="020B0503020204020204" pitchFamily="34" charset="-122"/>
                <a:ea typeface="微软雅黑" panose="020B0503020204020204" pitchFamily="34" charset="-122"/>
              </a:rPr>
              <a:t>0</a:t>
            </a:r>
            <a:r>
              <a:rPr kumimoji="1" lang="zh-CN" altLang="en-US" sz="2400" dirty="0">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76515">
                                            <p:txEl>
                                              <p:pRg st="0" end="0"/>
                                            </p:txEl>
                                          </p:spTgt>
                                        </p:tgtEl>
                                        <p:attrNameLst>
                                          <p:attrName>style.visibility</p:attrName>
                                        </p:attrNameLst>
                                      </p:cBhvr>
                                      <p:to>
                                        <p:strVal val="visible"/>
                                      </p:to>
                                    </p:set>
                                    <p:animEffect transition="in" filter="blinds(horizontal)">
                                      <p:cBhvr>
                                        <p:cTn id="15" dur="500"/>
                                        <p:tgtEl>
                                          <p:spTgt spid="57651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576517"/>
                                        </p:tgtEl>
                                        <p:attrNameLst>
                                          <p:attrName>style.visibility</p:attrName>
                                        </p:attrNameLst>
                                      </p:cBhvr>
                                      <p:to>
                                        <p:strVal val="visible"/>
                                      </p:to>
                                    </p:set>
                                    <p:animEffect transition="in" filter="blinds(horizontal)">
                                      <p:cBhvr>
                                        <p:cTn id="24" dur="500"/>
                                        <p:tgtEl>
                                          <p:spTgt spid="576517"/>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576519"/>
                                        </p:tgtEl>
                                        <p:attrNameLst>
                                          <p:attrName>style.visibility</p:attrName>
                                        </p:attrNameLst>
                                      </p:cBhvr>
                                      <p:to>
                                        <p:strVal val="visible"/>
                                      </p:to>
                                    </p:set>
                                    <p:animEffect transition="in" filter="blinds(horizontal)">
                                      <p:cBhvr>
                                        <p:cTn id="29" dur="500"/>
                                        <p:tgtEl>
                                          <p:spTgt spid="57651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15" grpId="0" build="p"/>
      <p:bldP spid="576519" grpId="0"/>
      <p:bldP spid="2" grpId="0"/>
      <p:bldP spid="3" grpId="0" animBg="1"/>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2"/>
          <p:cNvSpPr>
            <a:spLocks noGrp="1" noChangeArrowheads="1"/>
          </p:cNvSpPr>
          <p:nvPr>
            <p:ph type="ctrTitle"/>
          </p:nvPr>
        </p:nvSpPr>
        <p:spPr>
          <a:xfrm>
            <a:off x="2135561" y="692697"/>
            <a:ext cx="8139113" cy="5903913"/>
          </a:xfrm>
        </p:spPr>
        <p:txBody>
          <a:bodyPr vert="horz" wrap="square" lIns="91440" tIns="45720" rIns="91440" bIns="45720" numCol="1" anchor="ctr" anchorCtr="0" compatLnSpc="1"/>
          <a:lstStyle/>
          <a:p>
            <a:pPr lvl="0" algn="l" eaLnBrk="1" hangingPunct="1">
              <a:defRPr/>
            </a:pPr>
            <a:r>
              <a:rPr lang="zh-CN" altLang="en-US" dirty="0">
                <a:solidFill>
                  <a:schemeClr val="tx1"/>
                </a:solidFill>
                <a:latin typeface="Times New Roman" panose="02020603050405020304" pitchFamily="18" charset="0"/>
              </a:rPr>
              <a:t>			</a:t>
            </a:r>
            <a:r>
              <a:rPr lang="zh-CN" altLang="en-US" b="1" dirty="0">
                <a:solidFill>
                  <a:schemeClr val="tx1"/>
                </a:solidFill>
                <a:effectLst>
                  <a:outerShdw blurRad="38100" dist="38100" dir="2700000" algn="tl">
                    <a:srgbClr val="C0C0C0"/>
                  </a:outerShdw>
                </a:effectLst>
                <a:latin typeface="Times New Roman" panose="02020603050405020304" pitchFamily="18" charset="0"/>
              </a:rPr>
              <a:t>本章内容</a:t>
            </a:r>
            <a:br>
              <a:rPr lang="zh-CN" altLang="en-US" sz="5400" b="1" dirty="0">
                <a:solidFill>
                  <a:schemeClr val="tx1"/>
                </a:solidFill>
                <a:effectLst>
                  <a:outerShdw blurRad="38100" dist="38100" dir="2700000" algn="tl">
                    <a:srgbClr val="C0C0C0"/>
                  </a:outerShdw>
                </a:effectLst>
                <a:latin typeface="Times New Roman" panose="02020603050405020304" pitchFamily="18" charset="0"/>
              </a:rPr>
            </a:b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4.1 </a:t>
            </a:r>
            <a:r>
              <a:rPr lang="zh-CN" altLang="en-US" sz="3200" dirty="0">
                <a:solidFill>
                  <a:schemeClr val="tx1"/>
                </a:solidFill>
                <a:latin typeface="Times New Roman" panose="02020603050405020304" pitchFamily="18" charset="0"/>
                <a:ea typeface="黑体" panose="02010609060101010101" pitchFamily="49" charset="-122"/>
              </a:rPr>
              <a:t>机器学习概论</a:t>
            </a: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4.2 </a:t>
            </a:r>
            <a:r>
              <a:rPr lang="zh-CN" altLang="en-US" sz="3200" dirty="0">
                <a:solidFill>
                  <a:schemeClr val="tx1"/>
                </a:solidFill>
                <a:latin typeface="Times New Roman" panose="02020603050405020304" pitchFamily="18" charset="0"/>
                <a:ea typeface="黑体" panose="02010609060101010101" pitchFamily="49" charset="-122"/>
              </a:rPr>
              <a:t>分类算法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4.2.1</a:t>
            </a:r>
            <a:r>
              <a:rPr lang="zh-CN" altLang="en-US" sz="3200" dirty="0">
                <a:solidFill>
                  <a:schemeClr val="tx1"/>
                </a:solidFill>
                <a:latin typeface="Times New Roman" panose="02020603050405020304" pitchFamily="18" charset="0"/>
                <a:ea typeface="黑体" panose="02010609060101010101" pitchFamily="49" charset="-122"/>
              </a:rPr>
              <a:t>：决策树</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4.2.2</a:t>
            </a:r>
            <a:r>
              <a:rPr lang="zh-CN" altLang="en-US" sz="3200" dirty="0">
                <a:solidFill>
                  <a:schemeClr val="tx1"/>
                </a:solidFill>
                <a:latin typeface="Times New Roman" panose="02020603050405020304" pitchFamily="18" charset="0"/>
                <a:ea typeface="黑体" panose="02010609060101010101" pitchFamily="49" charset="-122"/>
              </a:rPr>
              <a:t>：朴素贝叶斯分类器</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a:t>
            </a:r>
            <a:r>
              <a:rPr lang="en-US" altLang="zh-CN" sz="3200" b="1" dirty="0">
                <a:solidFill>
                  <a:srgbClr val="C00000"/>
                </a:solidFill>
                <a:latin typeface="Times New Roman" panose="02020603050405020304" pitchFamily="18" charset="0"/>
                <a:ea typeface="黑体" panose="02010609060101010101" pitchFamily="49" charset="-122"/>
              </a:rPr>
              <a:t>4.2.3</a:t>
            </a:r>
            <a:r>
              <a:rPr lang="zh-CN" altLang="en-US" sz="3200" b="1" dirty="0">
                <a:solidFill>
                  <a:srgbClr val="C00000"/>
                </a:solidFill>
                <a:latin typeface="Times New Roman" panose="02020603050405020304" pitchFamily="18" charset="0"/>
                <a:ea typeface="黑体" panose="02010609060101010101" pitchFamily="49" charset="-122"/>
              </a:rPr>
              <a:t>：集体学习</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4.2.4</a:t>
            </a:r>
            <a:r>
              <a:rPr lang="zh-CN" altLang="en-US" sz="3200" dirty="0">
                <a:solidFill>
                  <a:schemeClr val="tx1"/>
                </a:solidFill>
                <a:latin typeface="Times New Roman" panose="02020603050405020304" pitchFamily="18" charset="0"/>
                <a:ea typeface="黑体" panose="02010609060101010101" pitchFamily="49" charset="-122"/>
              </a:rPr>
              <a:t>：支持向量机（</a:t>
            </a:r>
            <a:r>
              <a:rPr lang="en-US" altLang="zh-CN" sz="3200" dirty="0" err="1">
                <a:solidFill>
                  <a:schemeClr val="tx1"/>
                </a:solidFill>
                <a:latin typeface="Times New Roman" panose="02020603050405020304" pitchFamily="18" charset="0"/>
                <a:ea typeface="黑体" panose="02010609060101010101" pitchFamily="49" charset="-122"/>
              </a:rPr>
              <a:t>SVM</a:t>
            </a:r>
            <a:r>
              <a:rPr lang="zh-CN" altLang="en-US" sz="3200" dirty="0">
                <a:solidFill>
                  <a:schemeClr val="tx1"/>
                </a:solidFill>
                <a:latin typeface="Times New Roman" panose="02020603050405020304" pitchFamily="18" charset="0"/>
                <a:ea typeface="黑体" panose="02010609060101010101" pitchFamily="49" charset="-122"/>
              </a:rPr>
              <a:t>）</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4.3 </a:t>
            </a:r>
            <a:r>
              <a:rPr lang="zh-CN" altLang="en-US" sz="3200" dirty="0">
                <a:solidFill>
                  <a:schemeClr val="tx1"/>
                </a:solidFill>
                <a:latin typeface="Times New Roman" panose="02020603050405020304" pitchFamily="18" charset="0"/>
                <a:ea typeface="黑体" panose="02010609060101010101" pitchFamily="49" charset="-122"/>
              </a:rPr>
              <a:t>回归算法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4.4 </a:t>
            </a:r>
            <a:r>
              <a:rPr lang="zh-CN" altLang="en-US" sz="3200" dirty="0">
                <a:solidFill>
                  <a:schemeClr val="tx1"/>
                </a:solidFill>
                <a:latin typeface="Times New Roman" panose="02020603050405020304" pitchFamily="18" charset="0"/>
                <a:ea typeface="黑体" panose="02010609060101010101" pitchFamily="49" charset="-122"/>
              </a:rPr>
              <a:t>聚类算法</a:t>
            </a:r>
            <a:br>
              <a:rPr lang="zh-CN" altLang="en-US" sz="3200" dirty="0">
                <a:solidFill>
                  <a:schemeClr val="tx1"/>
                </a:solidFill>
                <a:latin typeface="Times New Roman" panose="02020603050405020304" pitchFamily="18" charset="0"/>
                <a:ea typeface="黑体" panose="02010609060101010101" pitchFamily="49" charset="-122"/>
              </a:rPr>
            </a:br>
            <a:br>
              <a:rPr lang="zh-CN" altLang="en-US" sz="3200" dirty="0">
                <a:solidFill>
                  <a:schemeClr val="tx1"/>
                </a:solidFill>
                <a:latin typeface="Times New Roman" panose="02020603050405020304" pitchFamily="18" charset="0"/>
                <a:ea typeface="黑体" panose="02010609060101010101" pitchFamily="49" charset="-122"/>
              </a:rPr>
            </a:br>
            <a:endParaRPr lang="en-US" altLang="zh-CN" sz="3200" dirty="0">
              <a:solidFill>
                <a:schemeClr val="tx1"/>
              </a:solidFill>
              <a:latin typeface="Times New Roman" panose="02020603050405020304" pitchFamily="18" charset="0"/>
              <a:ea typeface="黑体" panose="02010609060101010101" pitchFamily="49" charset="-122"/>
            </a:endParaRPr>
          </a:p>
        </p:txBody>
      </p:sp>
      <p:sp>
        <p:nvSpPr>
          <p:cNvPr id="7171" name="Text Box 3"/>
          <p:cNvSpPr txBox="1"/>
          <p:nvPr/>
        </p:nvSpPr>
        <p:spPr>
          <a:xfrm>
            <a:off x="1524001" y="404813"/>
            <a:ext cx="29876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50000"/>
              </a:spcBef>
              <a:buNone/>
            </a:pPr>
            <a:r>
              <a:rPr lang="zh-CN" altLang="en-US" sz="2400" dirty="0">
                <a:solidFill>
                  <a:srgbClr val="000000"/>
                </a:solidFill>
                <a:latin typeface="华文行楷" panose="02010800040101010101" pitchFamily="2" charset="-122"/>
                <a:ea typeface="华文行楷" panose="02010800040101010101" pitchFamily="2" charset="-122"/>
              </a:rPr>
              <a:t>第</a:t>
            </a:r>
            <a:r>
              <a:rPr lang="en-US" altLang="zh-CN" sz="2400" dirty="0">
                <a:solidFill>
                  <a:srgbClr val="000000"/>
                </a:solidFill>
                <a:latin typeface="华文行楷" panose="02010800040101010101" pitchFamily="2" charset="-122"/>
                <a:ea typeface="华文行楷" panose="02010800040101010101" pitchFamily="2" charset="-122"/>
              </a:rPr>
              <a:t>4</a:t>
            </a:r>
            <a:r>
              <a:rPr lang="zh-CN" altLang="en-US" sz="2400" dirty="0">
                <a:solidFill>
                  <a:srgbClr val="000000"/>
                </a:solidFill>
                <a:latin typeface="华文行楷" panose="02010800040101010101" pitchFamily="2" charset="-122"/>
                <a:ea typeface="华文行楷" panose="02010800040101010101" pitchFamily="2" charset="-122"/>
              </a:rPr>
              <a:t>章 机器学习</a:t>
            </a:r>
            <a:endParaRPr lang="en-US" altLang="zh-CN" sz="2400" dirty="0">
              <a:solidFill>
                <a:srgbClr val="000000"/>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10449952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a:xfrm>
            <a:off x="2208213" y="161925"/>
            <a:ext cx="7772400" cy="731838"/>
          </a:xfrm>
        </p:spPr>
        <p:txBody>
          <a:bodyPr vert="horz" wrap="square" lIns="91440" tIns="45720" rIns="91440" bIns="45720" numCol="1" anchor="ctr" anchorCtr="0" compatLnSpc="1"/>
          <a:lstStyle/>
          <a:p>
            <a:pPr algn="ctr" eaLnBrk="1" hangingPunct="1">
              <a:defRPr/>
            </a:pPr>
            <a:r>
              <a:rPr lang="zh-CN" altLang="en-US" sz="3200" b="1" dirty="0">
                <a:solidFill>
                  <a:schemeClr val="tx1"/>
                </a:solidFill>
                <a:effectLst>
                  <a:outerShdw blurRad="38100" dist="38100" dir="2700000" algn="tl">
                    <a:srgbClr val="C0C0C0"/>
                  </a:outerShdw>
                </a:effectLst>
              </a:rPr>
              <a:t>集体学习</a:t>
            </a:r>
          </a:p>
        </p:txBody>
      </p:sp>
      <p:sp>
        <p:nvSpPr>
          <p:cNvPr id="411651" name="Rectangle 3"/>
          <p:cNvSpPr>
            <a:spLocks noGrp="1"/>
          </p:cNvSpPr>
          <p:nvPr>
            <p:ph idx="1"/>
          </p:nvPr>
        </p:nvSpPr>
        <p:spPr>
          <a:xfrm>
            <a:off x="2208213" y="893764"/>
            <a:ext cx="7772400" cy="4752975"/>
          </a:xfrm>
          <a:ln/>
        </p:spPr>
        <p:txBody>
          <a:bodyPr vert="horz" wrap="square" lIns="91440" tIns="45720" rIns="91440" bIns="45720" anchor="t" anchorCtr="0"/>
          <a:lstStyle/>
          <a:p>
            <a:pPr eaLnBrk="1" hangingPunct="1">
              <a:lnSpc>
                <a:spcPct val="110000"/>
              </a:lnSpc>
              <a:spcBef>
                <a:spcPct val="30000"/>
              </a:spcBef>
            </a:pPr>
            <a:r>
              <a:rPr lang="zh-CN" altLang="en-US" sz="2400" dirty="0">
                <a:latin typeface="微软雅黑" panose="020B0503020204020204" pitchFamily="34" charset="-122"/>
                <a:ea typeface="微软雅黑" panose="020B0503020204020204" pitchFamily="34" charset="-122"/>
              </a:rPr>
              <a:t>归纳学习通常是从函数空间中选出一个分类函数对新实例进行分类预测</a:t>
            </a:r>
          </a:p>
          <a:p>
            <a:pPr eaLnBrk="1" hangingPunct="1">
              <a:lnSpc>
                <a:spcPct val="110000"/>
              </a:lnSpc>
              <a:spcBef>
                <a:spcPct val="30000"/>
              </a:spcBef>
            </a:pPr>
            <a:r>
              <a:rPr lang="zh-CN" altLang="en-US" sz="2400" dirty="0">
                <a:solidFill>
                  <a:srgbClr val="C00000"/>
                </a:solidFill>
                <a:latin typeface="微软雅黑" panose="020B0503020204020204" pitchFamily="34" charset="-122"/>
                <a:ea typeface="微软雅黑" panose="020B0503020204020204" pitchFamily="34" charset="-122"/>
              </a:rPr>
              <a:t>集体学习是选择多个分类函数，将它们对新实例的分类预测进行合成，然后再输出结果</a:t>
            </a:r>
          </a:p>
          <a:p>
            <a:pPr eaLnBrk="1" hangingPunct="1">
              <a:lnSpc>
                <a:spcPct val="110000"/>
              </a:lnSpc>
              <a:spcBef>
                <a:spcPct val="30000"/>
              </a:spcBef>
            </a:pPr>
            <a:r>
              <a:rPr lang="zh-CN" altLang="en-US" sz="2400" dirty="0">
                <a:latin typeface="微软雅黑" panose="020B0503020204020204" pitchFamily="34" charset="-122"/>
                <a:ea typeface="微软雅黑" panose="020B0503020204020204" pitchFamily="34" charset="-122"/>
              </a:rPr>
              <a:t>动机</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多个分类器出错的概率总会比单个分类器出错的概率要低</a:t>
            </a:r>
            <a:endParaRPr lang="en-US" altLang="zh-CN" sz="2400" dirty="0">
              <a:latin typeface="微软雅黑" panose="020B0503020204020204" pitchFamily="34" charset="-122"/>
              <a:ea typeface="微软雅黑" panose="020B0503020204020204" pitchFamily="34" charset="-122"/>
            </a:endParaRPr>
          </a:p>
        </p:txBody>
      </p:sp>
      <p:sp>
        <p:nvSpPr>
          <p:cNvPr id="66565" name="Rectangle 3"/>
          <p:cNvSpPr txBox="1"/>
          <p:nvPr/>
        </p:nvSpPr>
        <p:spPr>
          <a:xfrm>
            <a:off x="2495600" y="3735455"/>
            <a:ext cx="8064500" cy="3095625"/>
          </a:xfrm>
          <a:prstGeom prst="rect">
            <a:avLst/>
          </a:prstGeom>
          <a:noFill/>
          <a:ln w="9525">
            <a:noFill/>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lvl="1" eaLnBrk="1" hangingPunct="1">
              <a:lnSpc>
                <a:spcPct val="110000"/>
              </a:lnSpc>
            </a:pPr>
            <a:r>
              <a:rPr lang="zh-CN" altLang="en-US" sz="2400" dirty="0">
                <a:latin typeface="Times New Roman" panose="02020603050405020304" pitchFamily="18" charset="0"/>
                <a:ea typeface="微软雅黑" panose="020B0503020204020204" pitchFamily="34" charset="-122"/>
              </a:rPr>
              <a:t>一个简单的计算表明：</a:t>
            </a:r>
            <a:r>
              <a:rPr lang="en-US" altLang="zh-CN" sz="2400" dirty="0">
                <a:latin typeface="Times New Roman" panose="02020603050405020304" pitchFamily="18" charset="0"/>
                <a:ea typeface="微软雅黑" panose="020B0503020204020204" pitchFamily="34" charset="-122"/>
              </a:rPr>
              <a:t>5</a:t>
            </a:r>
            <a:r>
              <a:rPr lang="zh-CN" altLang="en-US" sz="2400" dirty="0">
                <a:latin typeface="Times New Roman" panose="02020603050405020304" pitchFamily="18" charset="0"/>
                <a:ea typeface="微软雅黑" panose="020B0503020204020204" pitchFamily="34" charset="-122"/>
              </a:rPr>
              <a:t>个假设组成的整体将</a:t>
            </a:r>
            <a:r>
              <a:rPr lang="en-US" altLang="zh-CN" sz="2400" dirty="0">
                <a:latin typeface="Times New Roman" panose="02020603050405020304" pitchFamily="18" charset="0"/>
                <a:ea typeface="微软雅黑" panose="020B0503020204020204" pitchFamily="34" charset="-122"/>
              </a:rPr>
              <a:t>1/10</a:t>
            </a:r>
            <a:r>
              <a:rPr lang="zh-CN" altLang="en-US" sz="2400" dirty="0">
                <a:latin typeface="Times New Roman" panose="02020603050405020304" pitchFamily="18" charset="0"/>
                <a:ea typeface="微软雅黑" panose="020B0503020204020204" pitchFamily="34" charset="-122"/>
              </a:rPr>
              <a:t>的错误率减少到小于</a:t>
            </a:r>
            <a:r>
              <a:rPr lang="en-US" altLang="zh-CN" sz="2400" dirty="0">
                <a:latin typeface="Times New Roman" panose="02020603050405020304" pitchFamily="18" charset="0"/>
                <a:ea typeface="微软雅黑" panose="020B0503020204020204" pitchFamily="34" charset="-122"/>
              </a:rPr>
              <a:t>1/100—</a:t>
            </a:r>
            <a:r>
              <a:rPr lang="zh-CN" altLang="en-US" sz="2400" dirty="0">
                <a:latin typeface="Times New Roman" panose="02020603050405020304" pitchFamily="18" charset="0"/>
                <a:ea typeface="微软雅黑" panose="020B0503020204020204" pitchFamily="34" charset="-122"/>
              </a:rPr>
              <a:t>但是需要误差的独立性假设</a:t>
            </a:r>
          </a:p>
          <a:p>
            <a:pPr lvl="1" eaLnBrk="1" hangingPunct="1">
              <a:lnSpc>
                <a:spcPct val="110000"/>
              </a:lnSpc>
            </a:pPr>
            <a:r>
              <a:rPr lang="zh-CN" altLang="en-US" sz="2400" dirty="0">
                <a:latin typeface="Times New Roman" panose="02020603050405020304" pitchFamily="18" charset="0"/>
                <a:ea typeface="微软雅黑" panose="020B0503020204020204" pitchFamily="34" charset="-122"/>
              </a:rPr>
              <a:t>尽管独立性假设不合理，但是如果假设之间有一些不同</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降低了关联性</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，则集体学习就是有用的</a:t>
            </a:r>
            <a:endParaRPr lang="en-US" altLang="zh-CN" sz="2400" dirty="0">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1651">
                                            <p:txEl>
                                              <p:pRg st="0" end="0"/>
                                            </p:txEl>
                                          </p:spTgt>
                                        </p:tgtEl>
                                        <p:attrNameLst>
                                          <p:attrName>style.visibility</p:attrName>
                                        </p:attrNameLst>
                                      </p:cBhvr>
                                      <p:to>
                                        <p:strVal val="visible"/>
                                      </p:to>
                                    </p:set>
                                    <p:animEffect transition="in" filter="blinds(horizontal)">
                                      <p:cBhvr>
                                        <p:cTn id="7" dur="500"/>
                                        <p:tgtEl>
                                          <p:spTgt spid="411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1651">
                                            <p:txEl>
                                              <p:pRg st="1" end="1"/>
                                            </p:txEl>
                                          </p:spTgt>
                                        </p:tgtEl>
                                        <p:attrNameLst>
                                          <p:attrName>style.visibility</p:attrName>
                                        </p:attrNameLst>
                                      </p:cBhvr>
                                      <p:to>
                                        <p:strVal val="visible"/>
                                      </p:to>
                                    </p:set>
                                    <p:animEffect transition="in" filter="blinds(horizontal)">
                                      <p:cBhvr>
                                        <p:cTn id="12" dur="500"/>
                                        <p:tgtEl>
                                          <p:spTgt spid="411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11651">
                                            <p:txEl>
                                              <p:pRg st="2" end="2"/>
                                            </p:txEl>
                                          </p:spTgt>
                                        </p:tgtEl>
                                        <p:attrNameLst>
                                          <p:attrName>style.visibility</p:attrName>
                                        </p:attrNameLst>
                                      </p:cBhvr>
                                      <p:to>
                                        <p:strVal val="visible"/>
                                      </p:to>
                                    </p:set>
                                    <p:animEffect transition="in" filter="blinds(horizontal)">
                                      <p:cBhvr>
                                        <p:cTn id="17" dur="500"/>
                                        <p:tgtEl>
                                          <p:spTgt spid="4116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65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1" grpId="0" build="p"/>
      <p:bldP spid="66565" grpId="0"/>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7292976" y="4568826"/>
            <a:ext cx="2873375" cy="2284413"/>
          </a:xfrm>
          <a:prstGeom prst="rect">
            <a:avLst/>
          </a:prstGeom>
          <a:noFill/>
          <a:ln w="9525">
            <a:noFill/>
          </a:ln>
        </p:spPr>
      </p:pic>
      <p:sp>
        <p:nvSpPr>
          <p:cNvPr id="4" name="矩形 3"/>
          <p:cNvSpPr/>
          <p:nvPr/>
        </p:nvSpPr>
        <p:spPr>
          <a:xfrm>
            <a:off x="1631951" y="736600"/>
            <a:ext cx="8812213" cy="12001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405130" latinLnBrk="0">
              <a:lnSpc>
                <a:spcPct val="150000"/>
              </a:lnSpc>
              <a:spcBef>
                <a:spcPct val="0"/>
              </a:spcBef>
              <a:buNone/>
            </a:pPr>
            <a:r>
              <a:rPr lang="zh-CN" altLang="en-US" sz="2400" b="1" dirty="0">
                <a:latin typeface="微软雅黑" panose="020B0503020204020204" pitchFamily="34" charset="-122"/>
                <a:ea typeface="微软雅黑" panose="020B0503020204020204" pitchFamily="34" charset="-122"/>
                <a:sym typeface="+mn-ea"/>
              </a:rPr>
              <a:t>集体学习</a:t>
            </a:r>
            <a:r>
              <a:rPr lang="zh-CN" altLang="en-US" sz="2400" dirty="0">
                <a:latin typeface="微软雅黑" panose="020B0503020204020204" pitchFamily="34" charset="-122"/>
                <a:ea typeface="微软雅黑" panose="020B0503020204020204" pitchFamily="34" charset="-122"/>
                <a:sym typeface="+mn-ea"/>
              </a:rPr>
              <a:t>通过将多个弱分类器集成在一起，使它们共同完成学习任务，构建一个强分类器。</a:t>
            </a:r>
            <a:endParaRPr lang="en-US" altLang="zh-CN" sz="2400" dirty="0">
              <a:latin typeface="微软雅黑" panose="020B0503020204020204" pitchFamily="34" charset="-122"/>
              <a:ea typeface="微软雅黑" panose="020B0503020204020204" pitchFamily="34" charset="-122"/>
              <a:sym typeface="+mn-ea"/>
            </a:endParaRPr>
          </a:p>
        </p:txBody>
      </p:sp>
      <p:sp>
        <p:nvSpPr>
          <p:cNvPr id="5" name="矩形 4"/>
          <p:cNvSpPr/>
          <p:nvPr/>
        </p:nvSpPr>
        <p:spPr>
          <a:xfrm>
            <a:off x="1847851" y="1954213"/>
            <a:ext cx="4322763" cy="461962"/>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257175" indent="-257175" latinLnBrk="0">
              <a:spcBef>
                <a:spcPct val="0"/>
              </a:spcBef>
              <a:buFont typeface="Wingdings" panose="05000000000000000000" pitchFamily="2" charset="2"/>
              <a:buChar char=""/>
            </a:pPr>
            <a:r>
              <a:rPr lang="zh-CN" altLang="en-US" sz="2400" b="1" dirty="0">
                <a:solidFill>
                  <a:srgbClr val="0070C0"/>
                </a:solidFill>
                <a:latin typeface="微软雅黑" panose="020B0503020204020204" pitchFamily="34" charset="-122"/>
                <a:ea typeface="微软雅黑" panose="020B0503020204020204" pitchFamily="34" charset="-122"/>
                <a:sym typeface="+mn-ea"/>
              </a:rPr>
              <a:t>理论基础   </a:t>
            </a:r>
            <a:endParaRPr lang="zh-CN" altLang="en-US" sz="2000" dirty="0">
              <a:latin typeface="微软雅黑" panose="020B0503020204020204" pitchFamily="34" charset="-122"/>
              <a:ea typeface="微软雅黑" panose="020B0503020204020204" pitchFamily="34" charset="-122"/>
              <a:sym typeface="+mn-ea"/>
            </a:endParaRPr>
          </a:p>
        </p:txBody>
      </p:sp>
      <p:sp>
        <p:nvSpPr>
          <p:cNvPr id="10" name="矩形 9"/>
          <p:cNvSpPr/>
          <p:nvPr/>
        </p:nvSpPr>
        <p:spPr>
          <a:xfrm>
            <a:off x="1919288" y="2349500"/>
            <a:ext cx="8640762" cy="2751138"/>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ct val="120000"/>
              </a:lnSpc>
              <a:spcBef>
                <a:spcPct val="0"/>
              </a:spcBef>
              <a:buNone/>
            </a:pPr>
            <a:r>
              <a:rPr lang="zh-CN" altLang="en-US" sz="2400" b="1" dirty="0">
                <a:latin typeface="微软雅黑" panose="020B0503020204020204" pitchFamily="34" charset="-122"/>
                <a:ea typeface="微软雅黑" panose="020B0503020204020204" pitchFamily="34" charset="-122"/>
                <a:sym typeface="+mn-ea"/>
              </a:rPr>
              <a:t>强可学习：</a:t>
            </a:r>
            <a:r>
              <a:rPr lang="zh-CN" altLang="en-US" sz="2400" dirty="0">
                <a:latin typeface="微软雅黑" panose="020B0503020204020204" pitchFamily="34" charset="-122"/>
                <a:ea typeface="微软雅黑" panose="020B0503020204020204" pitchFamily="34" charset="-122"/>
                <a:sym typeface="+mn-ea"/>
              </a:rPr>
              <a:t>在</a:t>
            </a:r>
            <a:r>
              <a:rPr lang="en-US" altLang="zh-CN" sz="2400" dirty="0">
                <a:latin typeface="微软雅黑" panose="020B0503020204020204" pitchFamily="34" charset="-122"/>
                <a:ea typeface="微软雅黑" panose="020B0503020204020204" pitchFamily="34" charset="-122"/>
                <a:sym typeface="+mn-ea"/>
              </a:rPr>
              <a:t>PAC</a:t>
            </a:r>
            <a:r>
              <a:rPr lang="zh-CN" altLang="en-US" sz="2400" dirty="0">
                <a:latin typeface="微软雅黑" panose="020B0503020204020204" pitchFamily="34" charset="-122"/>
                <a:ea typeface="微软雅黑" panose="020B0503020204020204" pitchFamily="34" charset="-122"/>
                <a:sym typeface="+mn-ea"/>
              </a:rPr>
              <a:t>学习框架中，一个概念，如果存在一个多项式的学习算法能够学习它，并且正确率很高，那么就称这个概念是强可学习的。</a:t>
            </a:r>
            <a:endParaRPr lang="en-US" altLang="zh-CN" sz="2400" dirty="0">
              <a:latin typeface="微软雅黑" panose="020B0503020204020204" pitchFamily="34" charset="-122"/>
              <a:ea typeface="微软雅黑" panose="020B0503020204020204" pitchFamily="34" charset="-122"/>
              <a:sym typeface="+mn-ea"/>
            </a:endParaRPr>
          </a:p>
          <a:p>
            <a:pPr marL="0" indent="0" latinLnBrk="0">
              <a:lnSpc>
                <a:spcPct val="120000"/>
              </a:lnSpc>
              <a:spcBef>
                <a:spcPct val="0"/>
              </a:spcBef>
              <a:buNone/>
            </a:pPr>
            <a:r>
              <a:rPr lang="zh-CN" altLang="en-US" sz="2400" b="1" dirty="0">
                <a:latin typeface="微软雅黑" panose="020B0503020204020204" pitchFamily="34" charset="-122"/>
                <a:ea typeface="微软雅黑" panose="020B0503020204020204" pitchFamily="34" charset="-122"/>
                <a:sym typeface="+mn-ea"/>
              </a:rPr>
              <a:t>弱可学习：</a:t>
            </a:r>
            <a:r>
              <a:rPr lang="zh-CN" altLang="en-US" sz="2400" dirty="0">
                <a:latin typeface="微软雅黑" panose="020B0503020204020204" pitchFamily="34" charset="-122"/>
                <a:ea typeface="微软雅黑" panose="020B0503020204020204" pitchFamily="34" charset="-122"/>
                <a:sym typeface="+mn-ea"/>
              </a:rPr>
              <a:t>如果存在一个多项式的学习算法能够学习它，学习的正确率随机猜测略好，那么就称这个概念是弱可学习的。</a:t>
            </a:r>
            <a:endParaRPr lang="en-US" altLang="zh-CN" sz="2400" dirty="0">
              <a:latin typeface="微软雅黑" panose="020B0503020204020204" pitchFamily="34" charset="-122"/>
              <a:ea typeface="微软雅黑" panose="020B0503020204020204" pitchFamily="34" charset="-122"/>
              <a:sym typeface="+mn-ea"/>
            </a:endParaRPr>
          </a:p>
          <a:p>
            <a:pPr marL="0" indent="0" latinLnBrk="0">
              <a:lnSpc>
                <a:spcPct val="120000"/>
              </a:lnSpc>
              <a:spcBef>
                <a:spcPct val="0"/>
              </a:spcBef>
              <a:buNone/>
            </a:pPr>
            <a:r>
              <a:rPr lang="en-US" altLang="zh-CN" sz="2400" b="1" dirty="0">
                <a:latin typeface="微软雅黑" panose="020B0503020204020204" pitchFamily="34" charset="-122"/>
                <a:ea typeface="微软雅黑" panose="020B0503020204020204" pitchFamily="34" charset="-122"/>
                <a:sym typeface="+mn-ea"/>
              </a:rPr>
              <a:t>      </a:t>
            </a:r>
          </a:p>
        </p:txBody>
      </p:sp>
      <p:sp>
        <p:nvSpPr>
          <p:cNvPr id="11" name="Rectangle 2"/>
          <p:cNvSpPr txBox="1">
            <a:spLocks noChangeArrowheads="1"/>
          </p:cNvSpPr>
          <p:nvPr/>
        </p:nvSpPr>
        <p:spPr>
          <a:xfrm>
            <a:off x="2151063" y="76200"/>
            <a:ext cx="7772400" cy="731838"/>
          </a:xfrm>
          <a:prstGeom prst="rect">
            <a:avLst/>
          </a:prstGeom>
        </p:spPr>
        <p:txBody>
          <a:bodyP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zh-CN" altLang="en-US" sz="3200" b="1" dirty="0">
                <a:solidFill>
                  <a:schemeClr val="tx1"/>
                </a:solidFill>
                <a:effectLst>
                  <a:outerShdw blurRad="38100" dist="38100" dir="2700000" algn="tl">
                    <a:srgbClr val="C0C0C0"/>
                  </a:outerShdw>
                </a:effectLst>
              </a:rPr>
              <a:t>集体学习</a:t>
            </a:r>
          </a:p>
        </p:txBody>
      </p:sp>
      <p:sp>
        <p:nvSpPr>
          <p:cNvPr id="2" name="矩形 1"/>
          <p:cNvSpPr/>
          <p:nvPr/>
        </p:nvSpPr>
        <p:spPr>
          <a:xfrm>
            <a:off x="1676401" y="4740275"/>
            <a:ext cx="5616575" cy="979488"/>
          </a:xfrm>
          <a:prstGeom prst="rect">
            <a:avLst/>
          </a:prstGeom>
          <a:noFill/>
          <a:ln w="9525">
            <a:noFill/>
          </a:ln>
        </p:spPr>
        <p:txBody>
          <a:bodyPr>
            <a:spAutoFit/>
          </a:bodyPr>
          <a:lstStyle/>
          <a:p>
            <a:pPr>
              <a:lnSpc>
                <a:spcPct val="120000"/>
              </a:lnSpc>
              <a:buNone/>
            </a:pPr>
            <a:r>
              <a:rPr lang="en-US" altLang="zh-CN" sz="2400" dirty="0">
                <a:latin typeface="微软雅黑" panose="020B0503020204020204" pitchFamily="34" charset="-122"/>
                <a:ea typeface="微软雅黑" panose="020B0503020204020204" pitchFamily="34" charset="-122"/>
                <a:sym typeface="+mn-ea"/>
              </a:rPr>
              <a:t>1990</a:t>
            </a:r>
            <a:r>
              <a:rPr lang="zh-CN" altLang="en-US" sz="2400" dirty="0">
                <a:latin typeface="微软雅黑" panose="020B0503020204020204" pitchFamily="34" charset="-122"/>
                <a:ea typeface="微软雅黑" panose="020B0503020204020204" pitchFamily="34" charset="-122"/>
                <a:sym typeface="+mn-ea"/>
              </a:rPr>
              <a:t>年</a:t>
            </a:r>
            <a:r>
              <a:rPr lang="en-US" altLang="zh-CN" sz="2400" dirty="0">
                <a:latin typeface="微软雅黑" panose="020B0503020204020204" pitchFamily="34" charset="-122"/>
                <a:ea typeface="微软雅黑" panose="020B0503020204020204" pitchFamily="34" charset="-122"/>
                <a:sym typeface="+mn-ea"/>
              </a:rPr>
              <a:t>Schapire</a:t>
            </a:r>
            <a:r>
              <a:rPr lang="zh-CN" altLang="en-US" sz="2400" dirty="0">
                <a:latin typeface="微软雅黑" panose="020B0503020204020204" pitchFamily="34" charset="-122"/>
                <a:ea typeface="微软雅黑" panose="020B0503020204020204" pitchFamily="34" charset="-122"/>
                <a:sym typeface="+mn-ea"/>
              </a:rPr>
              <a:t>证明 一个概念强可学习的充分必要条件是这个概念弱可学习的</a:t>
            </a:r>
            <a:r>
              <a:rPr lang="en-US" altLang="zh-CN" sz="2400" dirty="0">
                <a:latin typeface="微软雅黑" panose="020B0503020204020204" pitchFamily="34" charset="-122"/>
                <a:ea typeface="微软雅黑" panose="020B0503020204020204" pitchFamily="34" charset="-122"/>
                <a:sym typeface="+mn-ea"/>
              </a:rPr>
              <a:t>     </a:t>
            </a:r>
          </a:p>
        </p:txBody>
      </p:sp>
      <p:sp>
        <p:nvSpPr>
          <p:cNvPr id="7" name="矩形 6"/>
          <p:cNvSpPr/>
          <p:nvPr/>
        </p:nvSpPr>
        <p:spPr>
          <a:xfrm>
            <a:off x="1676401" y="5724526"/>
            <a:ext cx="5019675" cy="830263"/>
          </a:xfrm>
          <a:prstGeom prst="rect">
            <a:avLst/>
          </a:prstGeom>
          <a:noFill/>
          <a:ln w="9525">
            <a:noFill/>
          </a:ln>
        </p:spPr>
        <p:txBody>
          <a:bodyPr>
            <a:spAutoFit/>
          </a:bodyPr>
          <a:lstStyle/>
          <a:p>
            <a:r>
              <a:rPr lang="zh-CN" altLang="en-US" sz="2400" dirty="0">
                <a:solidFill>
                  <a:srgbClr val="FF0000"/>
                </a:solidFill>
                <a:latin typeface="微软雅黑" panose="020B0503020204020204" pitchFamily="34" charset="-122"/>
                <a:ea typeface="微软雅黑" panose="020B0503020204020204" pitchFamily="34" charset="-122"/>
              </a:rPr>
              <a:t>多个弱分类器可以集成为一个强分类器</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 grpId="0"/>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4530" name="Rectangle 2"/>
          <p:cNvSpPr>
            <a:spLocks noGrp="1" noChangeArrowheads="1"/>
          </p:cNvSpPr>
          <p:nvPr>
            <p:ph type="title"/>
          </p:nvPr>
        </p:nvSpPr>
        <p:spPr>
          <a:xfrm>
            <a:off x="2208213" y="549275"/>
            <a:ext cx="7772400" cy="731838"/>
          </a:xfrm>
        </p:spPr>
        <p:txBody>
          <a:bodyPr vert="horz" wrap="square" lIns="91440" tIns="45720" rIns="91440" bIns="45720" numCol="1" anchor="ctr" anchorCtr="0" compatLnSpc="1"/>
          <a:lstStyle/>
          <a:p>
            <a:pPr algn="ctr" eaLnBrk="1" hangingPunct="1">
              <a:defRPr/>
            </a:pPr>
            <a:r>
              <a:rPr lang="zh-CN" altLang="en-US" sz="3600" b="1" dirty="0">
                <a:solidFill>
                  <a:schemeClr val="tx1"/>
                </a:solidFill>
                <a:effectLst>
                  <a:outerShdw blurRad="38100" dist="38100" dir="2700000" algn="tl">
                    <a:srgbClr val="C0C0C0"/>
                  </a:outerShdw>
                </a:effectLst>
              </a:rPr>
              <a:t>集体学习获得更强表示能力</a:t>
            </a:r>
          </a:p>
        </p:txBody>
      </p:sp>
      <p:sp>
        <p:nvSpPr>
          <p:cNvPr id="80899" name="Rectangle 3"/>
          <p:cNvSpPr>
            <a:spLocks noGrp="1"/>
          </p:cNvSpPr>
          <p:nvPr>
            <p:ph idx="1"/>
          </p:nvPr>
        </p:nvSpPr>
        <p:spPr>
          <a:xfrm>
            <a:off x="2206308" y="1196023"/>
            <a:ext cx="7772400" cy="4608512"/>
          </a:xfrm>
          <a:ln/>
        </p:spPr>
        <p:txBody>
          <a:bodyPr vert="horz" wrap="square" lIns="91440" tIns="45720" rIns="91440" bIns="45720" anchor="t" anchorCtr="0"/>
          <a:lstStyle/>
          <a:p>
            <a:pPr eaLnBrk="1" hangingPunct="1">
              <a:lnSpc>
                <a:spcPct val="120000"/>
              </a:lnSpc>
            </a:pPr>
            <a:r>
              <a:rPr lang="zh-CN" altLang="en-US" sz="2400" dirty="0">
                <a:latin typeface="微软雅黑" panose="020B0503020204020204" pitchFamily="34" charset="-122"/>
                <a:ea typeface="微软雅黑" panose="020B0503020204020204" pitchFamily="34" charset="-122"/>
              </a:rPr>
              <a:t>如果原始空间上采用了一个简单有效的学习方法，在不招致更复杂计算条件下学习得到更强的表示能力</a:t>
            </a:r>
          </a:p>
          <a:p>
            <a:pPr lvl="1" eaLnBrk="1" hangingPunct="1">
              <a:lnSpc>
                <a:spcPct val="120000"/>
              </a:lnSpc>
            </a:pPr>
            <a:endParaRPr lang="en-US" altLang="zh-CN" sz="2400" dirty="0">
              <a:latin typeface="微软雅黑" panose="020B0503020204020204" pitchFamily="34" charset="-122"/>
              <a:ea typeface="微软雅黑" panose="020B0503020204020204" pitchFamily="34" charset="-122"/>
            </a:endParaRPr>
          </a:p>
        </p:txBody>
      </p:sp>
      <p:sp>
        <p:nvSpPr>
          <p:cNvPr id="80900" name="Text Box 4"/>
          <p:cNvSpPr txBox="1"/>
          <p:nvPr/>
        </p:nvSpPr>
        <p:spPr>
          <a:xfrm>
            <a:off x="1524001" y="188913"/>
            <a:ext cx="29876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4</a:t>
            </a:r>
            <a:r>
              <a:rPr lang="zh-CN" altLang="en-US" sz="2400" dirty="0">
                <a:latin typeface="华文行楷" panose="02010800040101010101" pitchFamily="2" charset="-122"/>
                <a:ea typeface="华文行楷" panose="02010800040101010101" pitchFamily="2" charset="-122"/>
              </a:rPr>
              <a:t>章 机器学习方法</a:t>
            </a:r>
            <a:endParaRPr lang="en-US" altLang="zh-CN" sz="2400" dirty="0">
              <a:latin typeface="华文行楷" panose="02010800040101010101" pitchFamily="2" charset="-122"/>
              <a:ea typeface="华文行楷" panose="02010800040101010101" pitchFamily="2" charset="-122"/>
            </a:endParaRPr>
          </a:p>
        </p:txBody>
      </p:sp>
      <p:grpSp>
        <p:nvGrpSpPr>
          <p:cNvPr id="80901" name="Group 5"/>
          <p:cNvGrpSpPr/>
          <p:nvPr/>
        </p:nvGrpSpPr>
        <p:grpSpPr>
          <a:xfrm>
            <a:off x="1691640" y="2293303"/>
            <a:ext cx="3657600" cy="3168650"/>
            <a:chOff x="2520" y="8616"/>
            <a:chExt cx="5760" cy="4992"/>
          </a:xfrm>
        </p:grpSpPr>
        <p:sp>
          <p:nvSpPr>
            <p:cNvPr id="80902" name="Line 6"/>
            <p:cNvSpPr/>
            <p:nvPr/>
          </p:nvSpPr>
          <p:spPr>
            <a:xfrm rot="-2228665">
              <a:off x="6660" y="9552"/>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03" name="Line 7"/>
            <p:cNvSpPr/>
            <p:nvPr/>
          </p:nvSpPr>
          <p:spPr>
            <a:xfrm rot="-2228665">
              <a:off x="7020" y="9708"/>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04" name="Line 8"/>
            <p:cNvSpPr/>
            <p:nvPr/>
          </p:nvSpPr>
          <p:spPr>
            <a:xfrm rot="-2228665">
              <a:off x="6840" y="10020"/>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05" name="Line 9"/>
            <p:cNvSpPr/>
            <p:nvPr/>
          </p:nvSpPr>
          <p:spPr>
            <a:xfrm rot="-2228665">
              <a:off x="6840" y="10644"/>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06" name="Line 10"/>
            <p:cNvSpPr/>
            <p:nvPr/>
          </p:nvSpPr>
          <p:spPr>
            <a:xfrm rot="-2228665">
              <a:off x="7380" y="10800"/>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07" name="Line 11"/>
            <p:cNvSpPr/>
            <p:nvPr/>
          </p:nvSpPr>
          <p:spPr>
            <a:xfrm rot="-2228665">
              <a:off x="7740" y="10332"/>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08" name="Line 12"/>
            <p:cNvSpPr/>
            <p:nvPr/>
          </p:nvSpPr>
          <p:spPr>
            <a:xfrm rot="-2228665">
              <a:off x="7380" y="11112"/>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09" name="Line 13"/>
            <p:cNvSpPr/>
            <p:nvPr/>
          </p:nvSpPr>
          <p:spPr>
            <a:xfrm rot="-2228665">
              <a:off x="7920" y="9864"/>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10" name="Line 14"/>
            <p:cNvSpPr/>
            <p:nvPr/>
          </p:nvSpPr>
          <p:spPr>
            <a:xfrm rot="-2228665">
              <a:off x="7380" y="12360"/>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11" name="Line 15"/>
            <p:cNvSpPr/>
            <p:nvPr/>
          </p:nvSpPr>
          <p:spPr>
            <a:xfrm rot="-2228665">
              <a:off x="7920" y="12204"/>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12" name="Line 16"/>
            <p:cNvSpPr/>
            <p:nvPr/>
          </p:nvSpPr>
          <p:spPr>
            <a:xfrm rot="-2228665">
              <a:off x="7740" y="12672"/>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nvGrpSpPr>
            <p:cNvPr id="80913" name="Group 17"/>
            <p:cNvGrpSpPr/>
            <p:nvPr/>
          </p:nvGrpSpPr>
          <p:grpSpPr>
            <a:xfrm>
              <a:off x="2520" y="8616"/>
              <a:ext cx="5760" cy="4992"/>
              <a:chOff x="2520" y="8616"/>
              <a:chExt cx="5760" cy="4992"/>
            </a:xfrm>
          </p:grpSpPr>
          <p:grpSp>
            <p:nvGrpSpPr>
              <p:cNvPr id="80914" name="Group 18"/>
              <p:cNvGrpSpPr/>
              <p:nvPr/>
            </p:nvGrpSpPr>
            <p:grpSpPr>
              <a:xfrm>
                <a:off x="2652" y="8616"/>
                <a:ext cx="5628" cy="4992"/>
                <a:chOff x="2652" y="8460"/>
                <a:chExt cx="5628" cy="4992"/>
              </a:xfrm>
            </p:grpSpPr>
            <p:grpSp>
              <p:nvGrpSpPr>
                <p:cNvPr id="80929" name="Group 19"/>
                <p:cNvGrpSpPr/>
                <p:nvPr/>
              </p:nvGrpSpPr>
              <p:grpSpPr>
                <a:xfrm>
                  <a:off x="2652" y="8460"/>
                  <a:ext cx="5628" cy="4992"/>
                  <a:chOff x="948" y="8928"/>
                  <a:chExt cx="5628" cy="4992"/>
                </a:xfrm>
              </p:grpSpPr>
              <p:grpSp>
                <p:nvGrpSpPr>
                  <p:cNvPr id="80973" name="Group 20"/>
                  <p:cNvGrpSpPr/>
                  <p:nvPr/>
                </p:nvGrpSpPr>
                <p:grpSpPr>
                  <a:xfrm rot="-2775803">
                    <a:off x="2880" y="9816"/>
                    <a:ext cx="2400" cy="4992"/>
                    <a:chOff x="2880" y="10717"/>
                    <a:chExt cx="2400" cy="4992"/>
                  </a:xfrm>
                </p:grpSpPr>
                <p:sp>
                  <p:nvSpPr>
                    <p:cNvPr id="81001" name="Line 21"/>
                    <p:cNvSpPr/>
                    <p:nvPr/>
                  </p:nvSpPr>
                  <p:spPr>
                    <a:xfrm rot="-1564574">
                      <a:off x="3171" y="10717"/>
                      <a:ext cx="1800" cy="4992"/>
                    </a:xfrm>
                    <a:prstGeom prst="line">
                      <a:avLst/>
                    </a:prstGeom>
                    <a:ln w="15875" cap="flat" cmpd="sng">
                      <a:solidFill>
                        <a:srgbClr val="000000"/>
                      </a:solidFill>
                      <a:prstDash val="solid"/>
                      <a:headEnd type="none" w="med" len="med"/>
                      <a:tailEnd type="none" w="med" len="med"/>
                    </a:ln>
                  </p:spPr>
                  <p:txBody>
                    <a:bodyPr/>
                    <a:lstStyle/>
                    <a:p>
                      <a:endParaRPr lang="zh-CN" altLang="en-US"/>
                    </a:p>
                  </p:txBody>
                </p:sp>
                <p:sp>
                  <p:nvSpPr>
                    <p:cNvPr id="81002" name="Line 22"/>
                    <p:cNvSpPr/>
                    <p:nvPr/>
                  </p:nvSpPr>
                  <p:spPr>
                    <a:xfrm>
                      <a:off x="2880" y="1204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03" name="Line 23"/>
                    <p:cNvSpPr/>
                    <p:nvPr/>
                  </p:nvSpPr>
                  <p:spPr>
                    <a:xfrm>
                      <a:off x="3120" y="1228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04" name="Line 24"/>
                    <p:cNvSpPr/>
                    <p:nvPr/>
                  </p:nvSpPr>
                  <p:spPr>
                    <a:xfrm>
                      <a:off x="3360" y="1252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05" name="Line 25"/>
                    <p:cNvSpPr/>
                    <p:nvPr/>
                  </p:nvSpPr>
                  <p:spPr>
                    <a:xfrm>
                      <a:off x="3600" y="1276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06" name="Line 26"/>
                    <p:cNvSpPr/>
                    <p:nvPr/>
                  </p:nvSpPr>
                  <p:spPr>
                    <a:xfrm>
                      <a:off x="3840" y="1300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07" name="Line 27"/>
                    <p:cNvSpPr/>
                    <p:nvPr/>
                  </p:nvSpPr>
                  <p:spPr>
                    <a:xfrm>
                      <a:off x="4080" y="1324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08" name="Line 28"/>
                    <p:cNvSpPr/>
                    <p:nvPr/>
                  </p:nvSpPr>
                  <p:spPr>
                    <a:xfrm>
                      <a:off x="4320" y="1348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09" name="Line 29"/>
                    <p:cNvSpPr/>
                    <p:nvPr/>
                  </p:nvSpPr>
                  <p:spPr>
                    <a:xfrm>
                      <a:off x="4560" y="1372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10" name="Line 30"/>
                    <p:cNvSpPr/>
                    <p:nvPr/>
                  </p:nvSpPr>
                  <p:spPr>
                    <a:xfrm>
                      <a:off x="4800" y="1396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11" name="Line 31"/>
                    <p:cNvSpPr/>
                    <p:nvPr/>
                  </p:nvSpPr>
                  <p:spPr>
                    <a:xfrm>
                      <a:off x="5040" y="1420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12" name="Line 32"/>
                    <p:cNvSpPr/>
                    <p:nvPr/>
                  </p:nvSpPr>
                  <p:spPr>
                    <a:xfrm>
                      <a:off x="5280" y="1444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grpSp>
              <p:grpSp>
                <p:nvGrpSpPr>
                  <p:cNvPr id="80974" name="Group 33"/>
                  <p:cNvGrpSpPr/>
                  <p:nvPr/>
                </p:nvGrpSpPr>
                <p:grpSpPr>
                  <a:xfrm>
                    <a:off x="948" y="8928"/>
                    <a:ext cx="4992" cy="4992"/>
                    <a:chOff x="948" y="8928"/>
                    <a:chExt cx="4992" cy="4992"/>
                  </a:xfrm>
                </p:grpSpPr>
                <p:grpSp>
                  <p:nvGrpSpPr>
                    <p:cNvPr id="80975" name="Group 34"/>
                    <p:cNvGrpSpPr/>
                    <p:nvPr/>
                  </p:nvGrpSpPr>
                  <p:grpSpPr>
                    <a:xfrm rot="5180779">
                      <a:off x="2244" y="8412"/>
                      <a:ext cx="2400" cy="4992"/>
                      <a:chOff x="2880" y="10717"/>
                      <a:chExt cx="2400" cy="4992"/>
                    </a:xfrm>
                  </p:grpSpPr>
                  <p:sp>
                    <p:nvSpPr>
                      <p:cNvPr id="80989" name="Line 35"/>
                      <p:cNvSpPr/>
                      <p:nvPr/>
                    </p:nvSpPr>
                    <p:spPr>
                      <a:xfrm rot="-1564574">
                        <a:off x="3171" y="10717"/>
                        <a:ext cx="1800" cy="4992"/>
                      </a:xfrm>
                      <a:prstGeom prst="line">
                        <a:avLst/>
                      </a:prstGeom>
                      <a:ln w="15875" cap="flat" cmpd="sng">
                        <a:solidFill>
                          <a:srgbClr val="000000"/>
                        </a:solidFill>
                        <a:prstDash val="solid"/>
                        <a:headEnd type="none" w="med" len="med"/>
                        <a:tailEnd type="none" w="med" len="med"/>
                      </a:ln>
                    </p:spPr>
                    <p:txBody>
                      <a:bodyPr/>
                      <a:lstStyle/>
                      <a:p>
                        <a:endParaRPr lang="zh-CN" altLang="en-US"/>
                      </a:p>
                    </p:txBody>
                  </p:sp>
                  <p:sp>
                    <p:nvSpPr>
                      <p:cNvPr id="80990" name="Line 36"/>
                      <p:cNvSpPr/>
                      <p:nvPr/>
                    </p:nvSpPr>
                    <p:spPr>
                      <a:xfrm>
                        <a:off x="2880" y="1204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91" name="Line 37"/>
                      <p:cNvSpPr/>
                      <p:nvPr/>
                    </p:nvSpPr>
                    <p:spPr>
                      <a:xfrm>
                        <a:off x="3120" y="1228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92" name="Line 38"/>
                      <p:cNvSpPr/>
                      <p:nvPr/>
                    </p:nvSpPr>
                    <p:spPr>
                      <a:xfrm>
                        <a:off x="3360" y="1252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93" name="Line 39"/>
                      <p:cNvSpPr/>
                      <p:nvPr/>
                    </p:nvSpPr>
                    <p:spPr>
                      <a:xfrm>
                        <a:off x="3600" y="1276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94" name="Line 40"/>
                      <p:cNvSpPr/>
                      <p:nvPr/>
                    </p:nvSpPr>
                    <p:spPr>
                      <a:xfrm>
                        <a:off x="3840" y="1300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95" name="Line 41"/>
                      <p:cNvSpPr/>
                      <p:nvPr/>
                    </p:nvSpPr>
                    <p:spPr>
                      <a:xfrm>
                        <a:off x="4080" y="1324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96" name="Line 42"/>
                      <p:cNvSpPr/>
                      <p:nvPr/>
                    </p:nvSpPr>
                    <p:spPr>
                      <a:xfrm>
                        <a:off x="4320" y="1348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97" name="Line 43"/>
                      <p:cNvSpPr/>
                      <p:nvPr/>
                    </p:nvSpPr>
                    <p:spPr>
                      <a:xfrm>
                        <a:off x="4560" y="1372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98" name="Line 44"/>
                      <p:cNvSpPr/>
                      <p:nvPr/>
                    </p:nvSpPr>
                    <p:spPr>
                      <a:xfrm>
                        <a:off x="4800" y="1396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99" name="Line 45"/>
                      <p:cNvSpPr/>
                      <p:nvPr/>
                    </p:nvSpPr>
                    <p:spPr>
                      <a:xfrm>
                        <a:off x="5040" y="1420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1000" name="Line 46"/>
                      <p:cNvSpPr/>
                      <p:nvPr/>
                    </p:nvSpPr>
                    <p:spPr>
                      <a:xfrm>
                        <a:off x="5280" y="1444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grpSp>
                <p:grpSp>
                  <p:nvGrpSpPr>
                    <p:cNvPr id="80976" name="Group 47"/>
                    <p:cNvGrpSpPr/>
                    <p:nvPr/>
                  </p:nvGrpSpPr>
                  <p:grpSpPr>
                    <a:xfrm rot="-10049314">
                      <a:off x="3240" y="8928"/>
                      <a:ext cx="2400" cy="4992"/>
                      <a:chOff x="2880" y="10717"/>
                      <a:chExt cx="2400" cy="4992"/>
                    </a:xfrm>
                  </p:grpSpPr>
                  <p:sp>
                    <p:nvSpPr>
                      <p:cNvPr id="80977" name="Line 48"/>
                      <p:cNvSpPr/>
                      <p:nvPr/>
                    </p:nvSpPr>
                    <p:spPr>
                      <a:xfrm rot="-1564574">
                        <a:off x="3171" y="10717"/>
                        <a:ext cx="1800" cy="4992"/>
                      </a:xfrm>
                      <a:prstGeom prst="line">
                        <a:avLst/>
                      </a:prstGeom>
                      <a:ln w="15875" cap="flat" cmpd="sng">
                        <a:solidFill>
                          <a:srgbClr val="000000"/>
                        </a:solidFill>
                        <a:prstDash val="solid"/>
                        <a:headEnd type="none" w="med" len="med"/>
                        <a:tailEnd type="none" w="med" len="med"/>
                      </a:ln>
                    </p:spPr>
                    <p:txBody>
                      <a:bodyPr/>
                      <a:lstStyle/>
                      <a:p>
                        <a:endParaRPr lang="zh-CN" altLang="en-US"/>
                      </a:p>
                    </p:txBody>
                  </p:sp>
                  <p:sp>
                    <p:nvSpPr>
                      <p:cNvPr id="80978" name="Line 49"/>
                      <p:cNvSpPr/>
                      <p:nvPr/>
                    </p:nvSpPr>
                    <p:spPr>
                      <a:xfrm>
                        <a:off x="2880" y="1204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79" name="Line 50"/>
                      <p:cNvSpPr/>
                      <p:nvPr/>
                    </p:nvSpPr>
                    <p:spPr>
                      <a:xfrm>
                        <a:off x="3120" y="1228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80" name="Line 51"/>
                      <p:cNvSpPr/>
                      <p:nvPr/>
                    </p:nvSpPr>
                    <p:spPr>
                      <a:xfrm>
                        <a:off x="3360" y="1252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81" name="Line 52"/>
                      <p:cNvSpPr/>
                      <p:nvPr/>
                    </p:nvSpPr>
                    <p:spPr>
                      <a:xfrm>
                        <a:off x="3600" y="1276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82" name="Line 53"/>
                      <p:cNvSpPr/>
                      <p:nvPr/>
                    </p:nvSpPr>
                    <p:spPr>
                      <a:xfrm>
                        <a:off x="3840" y="1300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83" name="Line 54"/>
                      <p:cNvSpPr/>
                      <p:nvPr/>
                    </p:nvSpPr>
                    <p:spPr>
                      <a:xfrm>
                        <a:off x="4080" y="1324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84" name="Line 55"/>
                      <p:cNvSpPr/>
                      <p:nvPr/>
                    </p:nvSpPr>
                    <p:spPr>
                      <a:xfrm>
                        <a:off x="4320" y="1348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85" name="Line 56"/>
                      <p:cNvSpPr/>
                      <p:nvPr/>
                    </p:nvSpPr>
                    <p:spPr>
                      <a:xfrm>
                        <a:off x="4560" y="1372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86" name="Line 57"/>
                      <p:cNvSpPr/>
                      <p:nvPr/>
                    </p:nvSpPr>
                    <p:spPr>
                      <a:xfrm>
                        <a:off x="4800" y="1396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87" name="Line 58"/>
                      <p:cNvSpPr/>
                      <p:nvPr/>
                    </p:nvSpPr>
                    <p:spPr>
                      <a:xfrm>
                        <a:off x="5040" y="1420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80988" name="Line 59"/>
                      <p:cNvSpPr/>
                      <p:nvPr/>
                    </p:nvSpPr>
                    <p:spPr>
                      <a:xfrm>
                        <a:off x="5280" y="14448"/>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grpSp>
              </p:grpSp>
            </p:grpSp>
            <p:grpSp>
              <p:nvGrpSpPr>
                <p:cNvPr id="80930" name="Group 60"/>
                <p:cNvGrpSpPr/>
                <p:nvPr/>
              </p:nvGrpSpPr>
              <p:grpSpPr>
                <a:xfrm>
                  <a:off x="4320" y="10332"/>
                  <a:ext cx="1980" cy="1446"/>
                  <a:chOff x="4320" y="10332"/>
                  <a:chExt cx="1980" cy="1446"/>
                </a:xfrm>
              </p:grpSpPr>
              <p:grpSp>
                <p:nvGrpSpPr>
                  <p:cNvPr id="80931" name="Group 61"/>
                  <p:cNvGrpSpPr/>
                  <p:nvPr/>
                </p:nvGrpSpPr>
                <p:grpSpPr>
                  <a:xfrm>
                    <a:off x="5400" y="10332"/>
                    <a:ext cx="180" cy="198"/>
                    <a:chOff x="8640" y="9411"/>
                    <a:chExt cx="540" cy="624"/>
                  </a:xfrm>
                </p:grpSpPr>
                <p:sp>
                  <p:nvSpPr>
                    <p:cNvPr id="80971" name="Line 62"/>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72" name="Line 63"/>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32" name="Group 64"/>
                  <p:cNvGrpSpPr/>
                  <p:nvPr/>
                </p:nvGrpSpPr>
                <p:grpSpPr>
                  <a:xfrm>
                    <a:off x="5220" y="10602"/>
                    <a:ext cx="180" cy="198"/>
                    <a:chOff x="8640" y="9411"/>
                    <a:chExt cx="540" cy="624"/>
                  </a:xfrm>
                </p:grpSpPr>
                <p:sp>
                  <p:nvSpPr>
                    <p:cNvPr id="80969" name="Line 65"/>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70" name="Line 66"/>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33" name="Group 67"/>
                  <p:cNvGrpSpPr/>
                  <p:nvPr/>
                </p:nvGrpSpPr>
                <p:grpSpPr>
                  <a:xfrm>
                    <a:off x="4860" y="10956"/>
                    <a:ext cx="180" cy="198"/>
                    <a:chOff x="8640" y="9411"/>
                    <a:chExt cx="540" cy="624"/>
                  </a:xfrm>
                </p:grpSpPr>
                <p:sp>
                  <p:nvSpPr>
                    <p:cNvPr id="80967" name="Line 68"/>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68" name="Line 69"/>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34" name="Group 70"/>
                  <p:cNvGrpSpPr/>
                  <p:nvPr/>
                </p:nvGrpSpPr>
                <p:grpSpPr>
                  <a:xfrm>
                    <a:off x="5760" y="10800"/>
                    <a:ext cx="180" cy="198"/>
                    <a:chOff x="8640" y="9411"/>
                    <a:chExt cx="540" cy="624"/>
                  </a:xfrm>
                </p:grpSpPr>
                <p:sp>
                  <p:nvSpPr>
                    <p:cNvPr id="80965" name="Line 71"/>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66" name="Line 72"/>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35" name="Group 73"/>
                  <p:cNvGrpSpPr/>
                  <p:nvPr/>
                </p:nvGrpSpPr>
                <p:grpSpPr>
                  <a:xfrm>
                    <a:off x="5220" y="10956"/>
                    <a:ext cx="180" cy="198"/>
                    <a:chOff x="8640" y="9411"/>
                    <a:chExt cx="540" cy="624"/>
                  </a:xfrm>
                </p:grpSpPr>
                <p:sp>
                  <p:nvSpPr>
                    <p:cNvPr id="80963" name="Line 74"/>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64" name="Line 75"/>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36" name="Group 76"/>
                  <p:cNvGrpSpPr/>
                  <p:nvPr/>
                </p:nvGrpSpPr>
                <p:grpSpPr>
                  <a:xfrm>
                    <a:off x="5580" y="10956"/>
                    <a:ext cx="180" cy="198"/>
                    <a:chOff x="8640" y="9411"/>
                    <a:chExt cx="540" cy="624"/>
                  </a:xfrm>
                </p:grpSpPr>
                <p:sp>
                  <p:nvSpPr>
                    <p:cNvPr id="80961" name="Line 77"/>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62" name="Line 78"/>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37" name="Group 79"/>
                  <p:cNvGrpSpPr/>
                  <p:nvPr/>
                </p:nvGrpSpPr>
                <p:grpSpPr>
                  <a:xfrm>
                    <a:off x="5940" y="10956"/>
                    <a:ext cx="180" cy="198"/>
                    <a:chOff x="8640" y="9411"/>
                    <a:chExt cx="540" cy="624"/>
                  </a:xfrm>
                </p:grpSpPr>
                <p:sp>
                  <p:nvSpPr>
                    <p:cNvPr id="80959" name="Line 80"/>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60" name="Line 81"/>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38" name="Group 82"/>
                  <p:cNvGrpSpPr/>
                  <p:nvPr/>
                </p:nvGrpSpPr>
                <p:grpSpPr>
                  <a:xfrm>
                    <a:off x="5580" y="11268"/>
                    <a:ext cx="180" cy="198"/>
                    <a:chOff x="8640" y="9411"/>
                    <a:chExt cx="540" cy="624"/>
                  </a:xfrm>
                </p:grpSpPr>
                <p:sp>
                  <p:nvSpPr>
                    <p:cNvPr id="80957" name="Line 83"/>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58" name="Line 84"/>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39" name="Group 85"/>
                  <p:cNvGrpSpPr/>
                  <p:nvPr/>
                </p:nvGrpSpPr>
                <p:grpSpPr>
                  <a:xfrm>
                    <a:off x="6120" y="11424"/>
                    <a:ext cx="180" cy="198"/>
                    <a:chOff x="8640" y="9411"/>
                    <a:chExt cx="540" cy="624"/>
                  </a:xfrm>
                </p:grpSpPr>
                <p:sp>
                  <p:nvSpPr>
                    <p:cNvPr id="80955" name="Line 86"/>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56" name="Line 87"/>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40" name="Group 88"/>
                  <p:cNvGrpSpPr/>
                  <p:nvPr/>
                </p:nvGrpSpPr>
                <p:grpSpPr>
                  <a:xfrm>
                    <a:off x="4860" y="11580"/>
                    <a:ext cx="180" cy="198"/>
                    <a:chOff x="8640" y="9411"/>
                    <a:chExt cx="540" cy="624"/>
                  </a:xfrm>
                </p:grpSpPr>
                <p:sp>
                  <p:nvSpPr>
                    <p:cNvPr id="80953" name="Line 89"/>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54" name="Line 90"/>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41" name="Group 91"/>
                  <p:cNvGrpSpPr/>
                  <p:nvPr/>
                </p:nvGrpSpPr>
                <p:grpSpPr>
                  <a:xfrm>
                    <a:off x="5400" y="11424"/>
                    <a:ext cx="180" cy="198"/>
                    <a:chOff x="8640" y="9411"/>
                    <a:chExt cx="540" cy="624"/>
                  </a:xfrm>
                </p:grpSpPr>
                <p:sp>
                  <p:nvSpPr>
                    <p:cNvPr id="80951" name="Line 92"/>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52" name="Line 93"/>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42" name="Group 94"/>
                  <p:cNvGrpSpPr/>
                  <p:nvPr/>
                </p:nvGrpSpPr>
                <p:grpSpPr>
                  <a:xfrm>
                    <a:off x="4680" y="11268"/>
                    <a:ext cx="180" cy="198"/>
                    <a:chOff x="8640" y="9411"/>
                    <a:chExt cx="540" cy="624"/>
                  </a:xfrm>
                </p:grpSpPr>
                <p:sp>
                  <p:nvSpPr>
                    <p:cNvPr id="80949" name="Line 95"/>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50" name="Line 96"/>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43" name="Group 97"/>
                  <p:cNvGrpSpPr/>
                  <p:nvPr/>
                </p:nvGrpSpPr>
                <p:grpSpPr>
                  <a:xfrm>
                    <a:off x="5760" y="11580"/>
                    <a:ext cx="180" cy="198"/>
                    <a:chOff x="8640" y="9411"/>
                    <a:chExt cx="540" cy="624"/>
                  </a:xfrm>
                </p:grpSpPr>
                <p:sp>
                  <p:nvSpPr>
                    <p:cNvPr id="80947" name="Line 98"/>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48" name="Line 99"/>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nvGrpSpPr>
                  <p:cNvPr id="80944" name="Group 100"/>
                  <p:cNvGrpSpPr/>
                  <p:nvPr/>
                </p:nvGrpSpPr>
                <p:grpSpPr>
                  <a:xfrm>
                    <a:off x="4320" y="11580"/>
                    <a:ext cx="180" cy="198"/>
                    <a:chOff x="8640" y="9411"/>
                    <a:chExt cx="540" cy="624"/>
                  </a:xfrm>
                </p:grpSpPr>
                <p:sp>
                  <p:nvSpPr>
                    <p:cNvPr id="80945" name="Line 101"/>
                    <p:cNvSpPr/>
                    <p:nvPr/>
                  </p:nvSpPr>
                  <p:spPr>
                    <a:xfrm>
                      <a:off x="8640" y="9708"/>
                      <a:ext cx="54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46" name="Line 102"/>
                    <p:cNvSpPr/>
                    <p:nvPr/>
                  </p:nvSpPr>
                  <p:spPr>
                    <a:xfrm>
                      <a:off x="8910" y="9411"/>
                      <a:ext cx="0" cy="624"/>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grpSp>
          <p:sp>
            <p:nvSpPr>
              <p:cNvPr id="80915" name="Line 103"/>
              <p:cNvSpPr/>
              <p:nvPr/>
            </p:nvSpPr>
            <p:spPr>
              <a:xfrm rot="-2228665">
                <a:off x="3448" y="9481"/>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16" name="Line 104"/>
              <p:cNvSpPr/>
              <p:nvPr/>
            </p:nvSpPr>
            <p:spPr>
              <a:xfrm rot="-2228665">
                <a:off x="3688" y="9721"/>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17" name="Line 105"/>
              <p:cNvSpPr/>
              <p:nvPr/>
            </p:nvSpPr>
            <p:spPr>
              <a:xfrm rot="-2228665">
                <a:off x="3060" y="10176"/>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18" name="Line 106"/>
              <p:cNvSpPr/>
              <p:nvPr/>
            </p:nvSpPr>
            <p:spPr>
              <a:xfrm rot="-2228665">
                <a:off x="4680" y="9708"/>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19" name="Line 107"/>
              <p:cNvSpPr/>
              <p:nvPr/>
            </p:nvSpPr>
            <p:spPr>
              <a:xfrm rot="-2228665">
                <a:off x="5400" y="9396"/>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20" name="Line 108"/>
              <p:cNvSpPr/>
              <p:nvPr/>
            </p:nvSpPr>
            <p:spPr>
              <a:xfrm rot="-2228665">
                <a:off x="3960" y="10488"/>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21" name="Line 109"/>
              <p:cNvSpPr/>
              <p:nvPr/>
            </p:nvSpPr>
            <p:spPr>
              <a:xfrm rot="-2228665">
                <a:off x="3420" y="10800"/>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22" name="Line 110"/>
              <p:cNvSpPr/>
              <p:nvPr/>
            </p:nvSpPr>
            <p:spPr>
              <a:xfrm rot="-2228665">
                <a:off x="3060" y="12360"/>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23" name="Line 111"/>
              <p:cNvSpPr/>
              <p:nvPr/>
            </p:nvSpPr>
            <p:spPr>
              <a:xfrm rot="-2228665">
                <a:off x="2700" y="12204"/>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24" name="Line 112"/>
              <p:cNvSpPr/>
              <p:nvPr/>
            </p:nvSpPr>
            <p:spPr>
              <a:xfrm rot="-2228665">
                <a:off x="2520" y="11580"/>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25" name="Line 113"/>
              <p:cNvSpPr/>
              <p:nvPr/>
            </p:nvSpPr>
            <p:spPr>
              <a:xfrm rot="-2228665">
                <a:off x="4408" y="10441"/>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26" name="Line 114"/>
              <p:cNvSpPr/>
              <p:nvPr/>
            </p:nvSpPr>
            <p:spPr>
              <a:xfrm rot="-2228665">
                <a:off x="4648" y="10681"/>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27" name="Line 115"/>
              <p:cNvSpPr/>
              <p:nvPr/>
            </p:nvSpPr>
            <p:spPr>
              <a:xfrm rot="-2228665">
                <a:off x="3928" y="9961"/>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80928" name="Line 116"/>
              <p:cNvSpPr/>
              <p:nvPr/>
            </p:nvSpPr>
            <p:spPr>
              <a:xfrm rot="-2228665">
                <a:off x="4500" y="12204"/>
                <a:ext cx="180" cy="156"/>
              </a:xfrm>
              <a:prstGeom prst="line">
                <a:avLst/>
              </a:prstGeom>
              <a:ln w="22225" cap="flat" cmpd="sng">
                <a:solidFill>
                  <a:srgbClr val="000000"/>
                </a:solidFill>
                <a:prstDash val="solid"/>
                <a:headEnd type="none" w="med" len="med"/>
                <a:tailEnd type="none" w="med" len="med"/>
              </a:ln>
            </p:spPr>
            <p:txBody>
              <a:bodyPr/>
              <a:lstStyle/>
              <a:p>
                <a:endParaRPr lang="zh-CN" altLang="en-US"/>
              </a:p>
            </p:txBody>
          </p:sp>
        </p:grpSp>
      </p:grpSp>
      <p:sp>
        <p:nvSpPr>
          <p:cNvPr id="2" name="矩形 1"/>
          <p:cNvSpPr/>
          <p:nvPr/>
        </p:nvSpPr>
        <p:spPr>
          <a:xfrm>
            <a:off x="1631315" y="5373054"/>
            <a:ext cx="8929688" cy="142049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405130" latinLnBrk="0">
              <a:lnSpc>
                <a:spcPct val="120000"/>
              </a:lnSpc>
              <a:spcBef>
                <a:spcPct val="0"/>
              </a:spcBef>
              <a:buNone/>
            </a:pPr>
            <a:r>
              <a:rPr lang="zh-CN" altLang="en-US" sz="2400" dirty="0">
                <a:latin typeface="微软雅黑" panose="020B0503020204020204" pitchFamily="34" charset="-122"/>
                <a:ea typeface="微软雅黑" panose="020B0503020204020204" pitchFamily="34" charset="-122"/>
              </a:rPr>
              <a:t> 严格意义上来说，这不算是一种机器学习算法，而更像是一种优化手段或者策略，它通常是结合多个简单的弱机器学习算法，去做更可靠的决策。类似于</a:t>
            </a:r>
            <a:r>
              <a:rPr lang="zh-CN" altLang="en-US" sz="2400" b="1" dirty="0">
                <a:solidFill>
                  <a:srgbClr val="FF0000"/>
                </a:solidFill>
                <a:latin typeface="微软雅黑" panose="020B0503020204020204" pitchFamily="34" charset="-122"/>
                <a:ea typeface="微软雅黑" panose="020B0503020204020204" pitchFamily="34" charset="-122"/>
              </a:rPr>
              <a:t>开会做决策</a:t>
            </a:r>
            <a:r>
              <a:rPr lang="zh-CN" altLang="en-US" sz="2400" dirty="0">
                <a:latin typeface="微软雅黑" panose="020B0503020204020204" pitchFamily="34" charset="-122"/>
                <a:ea typeface="微软雅黑" panose="020B0503020204020204" pitchFamily="34" charset="-122"/>
              </a:rPr>
              <a:t>。</a:t>
            </a:r>
          </a:p>
        </p:txBody>
      </p:sp>
      <p:sp>
        <p:nvSpPr>
          <p:cNvPr id="5" name="矩形 4"/>
          <p:cNvSpPr/>
          <p:nvPr/>
        </p:nvSpPr>
        <p:spPr>
          <a:xfrm>
            <a:off x="6024246" y="2348866"/>
            <a:ext cx="4182745" cy="2784475"/>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ct val="125000"/>
              </a:lnSpc>
              <a:spcBef>
                <a:spcPct val="0"/>
              </a:spcBef>
              <a:buNone/>
            </a:pPr>
            <a:r>
              <a:rPr lang="zh-CN" altLang="en-US" sz="2000" b="1" dirty="0">
                <a:solidFill>
                  <a:srgbClr val="0070C0"/>
                </a:solidFill>
                <a:latin typeface="微软雅黑" panose="020B0503020204020204" pitchFamily="34" charset="-122"/>
                <a:ea typeface="微软雅黑" panose="020B0503020204020204" pitchFamily="34" charset="-122"/>
              </a:rPr>
              <a:t>优点：</a:t>
            </a:r>
            <a:endParaRPr lang="en-US" altLang="zh-CN" sz="2000" b="1" dirty="0">
              <a:solidFill>
                <a:srgbClr val="0070C0"/>
              </a:solidFill>
              <a:latin typeface="微软雅黑" panose="020B0503020204020204" pitchFamily="34" charset="-122"/>
              <a:ea typeface="微软雅黑" panose="020B0503020204020204" pitchFamily="34" charset="-122"/>
            </a:endParaRPr>
          </a:p>
          <a:p>
            <a:pPr marL="0" indent="0" latinLnBrk="0">
              <a:lnSpc>
                <a:spcPct val="125000"/>
              </a:lnSpc>
              <a:spcBef>
                <a:spcPct val="0"/>
              </a:spcBef>
              <a:buNone/>
            </a:pPr>
            <a:r>
              <a:rPr lang="en-US" altLang="zh-CN" sz="2000" b="1" dirty="0">
                <a:solidFill>
                  <a:srgbClr val="0070C0"/>
                </a:solidFill>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当先最先进的预测几乎都使用了算法集成。它比使用单个模型预测出来的结果要精确的多，在各大竞赛中得到了普遍应用。</a:t>
            </a:r>
            <a:br>
              <a:rPr lang="zh-CN" altLang="en-US" sz="2000" dirty="0">
                <a:latin typeface="Gulim" panose="020B0600000101010101" pitchFamily="34" charset="-127"/>
                <a:ea typeface="Gulim" panose="020B0600000101010101" pitchFamily="34" charset="-127"/>
              </a:rPr>
            </a:br>
            <a:r>
              <a:rPr lang="zh-CN" altLang="en-US" sz="2000" b="1" dirty="0">
                <a:solidFill>
                  <a:srgbClr val="0070C0"/>
                </a:solidFill>
                <a:latin typeface="微软雅黑" panose="020B0503020204020204" pitchFamily="34" charset="-122"/>
                <a:ea typeface="微软雅黑" panose="020B0503020204020204" pitchFamily="34" charset="-122"/>
              </a:rPr>
              <a:t>缺点：</a:t>
            </a:r>
            <a:endParaRPr lang="en-US" altLang="zh-CN" sz="2000" b="1" dirty="0">
              <a:solidFill>
                <a:srgbClr val="0070C0"/>
              </a:solidFill>
              <a:latin typeface="微软雅黑" panose="020B0503020204020204" pitchFamily="34" charset="-122"/>
              <a:ea typeface="微软雅黑" panose="020B0503020204020204" pitchFamily="34" charset="-122"/>
            </a:endParaRPr>
          </a:p>
          <a:p>
            <a:pPr marL="0" indent="0" latinLnBrk="0">
              <a:lnSpc>
                <a:spcPct val="125000"/>
              </a:lnSpc>
              <a:spcBef>
                <a:spcPct val="0"/>
              </a:spcBef>
              <a:buNone/>
            </a:pPr>
            <a:r>
              <a:rPr lang="en-US" altLang="zh-CN" sz="2000" b="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需要大量的维护工作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https://timgsa.baidu.com/timg?image&amp;quality=80&amp;size=b9999_10000&amp;sec=1543922603332&amp;di=92799a323693dd26d8fa244d958a7316&amp;imgtype=0&amp;src=http%3A%2F%2Fimg3.coin163.com%2F97%2F71%2FmMBv63.png"/>
          <p:cNvPicPr>
            <a:picLocks noChangeAspect="1"/>
          </p:cNvPicPr>
          <p:nvPr/>
        </p:nvPicPr>
        <p:blipFill>
          <a:blip r:embed="rId2"/>
          <a:stretch>
            <a:fillRect/>
          </a:stretch>
        </p:blipFill>
        <p:spPr>
          <a:xfrm>
            <a:off x="6664326" y="1341439"/>
            <a:ext cx="3103563" cy="1952625"/>
          </a:xfrm>
          <a:prstGeom prst="rect">
            <a:avLst/>
          </a:prstGeom>
          <a:noFill/>
          <a:ln w="9525">
            <a:noFill/>
          </a:ln>
        </p:spPr>
      </p:pic>
      <p:sp>
        <p:nvSpPr>
          <p:cNvPr id="2" name="矩形 1"/>
          <p:cNvSpPr/>
          <p:nvPr/>
        </p:nvSpPr>
        <p:spPr>
          <a:xfrm>
            <a:off x="2295526" y="1941514"/>
            <a:ext cx="430213" cy="66357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kumimoji="1" lang="zh-CN" altLang="en-US" sz="2100"/>
          </a:p>
        </p:txBody>
      </p:sp>
      <p:sp>
        <p:nvSpPr>
          <p:cNvPr id="5" name="矩形 4"/>
          <p:cNvSpPr/>
          <p:nvPr/>
        </p:nvSpPr>
        <p:spPr>
          <a:xfrm>
            <a:off x="3094039" y="1495425"/>
            <a:ext cx="430213" cy="4191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kumimoji="1" lang="zh-CN" altLang="en-US" sz="2100"/>
          </a:p>
        </p:txBody>
      </p:sp>
      <p:sp>
        <p:nvSpPr>
          <p:cNvPr id="6" name="矩形 5"/>
          <p:cNvSpPr/>
          <p:nvPr/>
        </p:nvSpPr>
        <p:spPr>
          <a:xfrm>
            <a:off x="3094039" y="2057400"/>
            <a:ext cx="430213" cy="433388"/>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kumimoji="1" lang="zh-CN" altLang="en-US" sz="2100"/>
          </a:p>
        </p:txBody>
      </p:sp>
      <p:sp>
        <p:nvSpPr>
          <p:cNvPr id="7" name="矩形 6"/>
          <p:cNvSpPr/>
          <p:nvPr/>
        </p:nvSpPr>
        <p:spPr>
          <a:xfrm>
            <a:off x="3094039" y="2633664"/>
            <a:ext cx="430213" cy="43497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kumimoji="1" lang="zh-CN" altLang="en-US" sz="2100"/>
          </a:p>
        </p:txBody>
      </p:sp>
      <p:sp>
        <p:nvSpPr>
          <p:cNvPr id="3" name="等腰三角形 2"/>
          <p:cNvSpPr/>
          <p:nvPr/>
        </p:nvSpPr>
        <p:spPr>
          <a:xfrm>
            <a:off x="2387601" y="2057401"/>
            <a:ext cx="68263" cy="85725"/>
          </a:xfrm>
          <a:prstGeom prst="triangl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4" name="矩形 3"/>
          <p:cNvSpPr/>
          <p:nvPr/>
        </p:nvSpPr>
        <p:spPr>
          <a:xfrm>
            <a:off x="3806826" y="1560514"/>
            <a:ext cx="506413" cy="28892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kumimoji="1" lang="zh-CN" altLang="en-US" sz="900" b="1" dirty="0"/>
              <a:t>分类器</a:t>
            </a:r>
          </a:p>
        </p:txBody>
      </p:sp>
      <p:sp>
        <p:nvSpPr>
          <p:cNvPr id="11" name="矩形 10"/>
          <p:cNvSpPr/>
          <p:nvPr/>
        </p:nvSpPr>
        <p:spPr>
          <a:xfrm>
            <a:off x="3806826" y="2127251"/>
            <a:ext cx="506413" cy="28892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kumimoji="1" lang="zh-CN" altLang="en-US" sz="900" b="1" dirty="0"/>
              <a:t>分类器</a:t>
            </a:r>
          </a:p>
        </p:txBody>
      </p:sp>
      <p:sp>
        <p:nvSpPr>
          <p:cNvPr id="12" name="矩形 11"/>
          <p:cNvSpPr/>
          <p:nvPr/>
        </p:nvSpPr>
        <p:spPr>
          <a:xfrm>
            <a:off x="3806826" y="2706689"/>
            <a:ext cx="506413" cy="28892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kumimoji="1" lang="zh-CN" altLang="en-US" sz="900" b="1" dirty="0"/>
              <a:t>分类器</a:t>
            </a:r>
          </a:p>
        </p:txBody>
      </p:sp>
      <p:sp>
        <p:nvSpPr>
          <p:cNvPr id="9" name="椭圆 8"/>
          <p:cNvSpPr/>
          <p:nvPr/>
        </p:nvSpPr>
        <p:spPr>
          <a:xfrm>
            <a:off x="4700589" y="2054225"/>
            <a:ext cx="442913" cy="438150"/>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kumimoji="1" lang="zh-CN" altLang="en-US" sz="2100"/>
          </a:p>
        </p:txBody>
      </p:sp>
      <p:pic>
        <p:nvPicPr>
          <p:cNvPr id="10" name="图片 9"/>
          <p:cNvPicPr>
            <a:picLocks noChangeAspect="1"/>
          </p:cNvPicPr>
          <p:nvPr/>
        </p:nvPicPr>
        <p:blipFill>
          <a:blip r:embed="rId3"/>
          <a:stretch>
            <a:fillRect/>
          </a:stretch>
        </p:blipFill>
        <p:spPr>
          <a:xfrm>
            <a:off x="4794251" y="2106614"/>
            <a:ext cx="257175" cy="314325"/>
          </a:xfrm>
          <a:prstGeom prst="rect">
            <a:avLst/>
          </a:prstGeom>
          <a:noFill/>
          <a:ln w="9525">
            <a:noFill/>
          </a:ln>
        </p:spPr>
      </p:pic>
      <p:cxnSp>
        <p:nvCxnSpPr>
          <p:cNvPr id="14" name="直接箭头连接符 13"/>
          <p:cNvCxnSpPr>
            <a:stCxn id="2" idx="3"/>
            <a:endCxn id="5" idx="1"/>
          </p:cNvCxnSpPr>
          <p:nvPr/>
        </p:nvCxnSpPr>
        <p:spPr>
          <a:xfrm flipV="1">
            <a:off x="2725738" y="1704976"/>
            <a:ext cx="368300" cy="5683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2" idx="3"/>
            <a:endCxn id="6" idx="1"/>
          </p:cNvCxnSpPr>
          <p:nvPr/>
        </p:nvCxnSpPr>
        <p:spPr>
          <a:xfrm>
            <a:off x="2725738" y="2273300"/>
            <a:ext cx="3683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2" idx="3"/>
            <a:endCxn id="7" idx="1"/>
          </p:cNvCxnSpPr>
          <p:nvPr/>
        </p:nvCxnSpPr>
        <p:spPr>
          <a:xfrm>
            <a:off x="2725738" y="2273300"/>
            <a:ext cx="368300" cy="5778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5" idx="3"/>
            <a:endCxn id="4" idx="1"/>
          </p:cNvCxnSpPr>
          <p:nvPr/>
        </p:nvCxnSpPr>
        <p:spPr>
          <a:xfrm flipV="1">
            <a:off x="3524251" y="1704975"/>
            <a:ext cx="2825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6" idx="3"/>
            <a:endCxn id="11" idx="1"/>
          </p:cNvCxnSpPr>
          <p:nvPr/>
        </p:nvCxnSpPr>
        <p:spPr>
          <a:xfrm flipV="1">
            <a:off x="3524251" y="2271713"/>
            <a:ext cx="282575" cy="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7" idx="3"/>
            <a:endCxn id="12" idx="1"/>
          </p:cNvCxnSpPr>
          <p:nvPr/>
        </p:nvCxnSpPr>
        <p:spPr>
          <a:xfrm flipV="1">
            <a:off x="3524251" y="2851150"/>
            <a:ext cx="2825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等腰三角形 31"/>
          <p:cNvSpPr/>
          <p:nvPr/>
        </p:nvSpPr>
        <p:spPr>
          <a:xfrm>
            <a:off x="2501901" y="2171701"/>
            <a:ext cx="68263" cy="85725"/>
          </a:xfrm>
          <a:prstGeom prst="triangl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33" name="等腰三角形 32"/>
          <p:cNvSpPr/>
          <p:nvPr/>
        </p:nvSpPr>
        <p:spPr>
          <a:xfrm>
            <a:off x="2616201" y="2286001"/>
            <a:ext cx="68263" cy="85725"/>
          </a:xfrm>
          <a:prstGeom prst="triangl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34" name="等腰三角形 33"/>
          <p:cNvSpPr/>
          <p:nvPr/>
        </p:nvSpPr>
        <p:spPr>
          <a:xfrm>
            <a:off x="3240089" y="1581151"/>
            <a:ext cx="68263" cy="85725"/>
          </a:xfrm>
          <a:prstGeom prst="triangl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35" name="等腰三角形 34"/>
          <p:cNvSpPr/>
          <p:nvPr/>
        </p:nvSpPr>
        <p:spPr>
          <a:xfrm>
            <a:off x="3200400" y="2146300"/>
            <a:ext cx="69850" cy="84138"/>
          </a:xfrm>
          <a:prstGeom prst="triangl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36" name="等腰三角形 35"/>
          <p:cNvSpPr/>
          <p:nvPr/>
        </p:nvSpPr>
        <p:spPr>
          <a:xfrm>
            <a:off x="3165475" y="2717801"/>
            <a:ext cx="69850" cy="85725"/>
          </a:xfrm>
          <a:prstGeom prst="triangl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37" name="等腰三角形 36"/>
          <p:cNvSpPr/>
          <p:nvPr/>
        </p:nvSpPr>
        <p:spPr>
          <a:xfrm>
            <a:off x="2344739" y="2206626"/>
            <a:ext cx="68263" cy="85725"/>
          </a:xfrm>
          <a:prstGeom prst="triangl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30" name="椭圆 29"/>
          <p:cNvSpPr/>
          <p:nvPr/>
        </p:nvSpPr>
        <p:spPr>
          <a:xfrm>
            <a:off x="2511425" y="2057400"/>
            <a:ext cx="58738" cy="69850"/>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39" name="椭圆 38"/>
          <p:cNvSpPr/>
          <p:nvPr/>
        </p:nvSpPr>
        <p:spPr>
          <a:xfrm>
            <a:off x="2625725" y="2171700"/>
            <a:ext cx="58738" cy="69850"/>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40" name="椭圆 39"/>
          <p:cNvSpPr/>
          <p:nvPr/>
        </p:nvSpPr>
        <p:spPr>
          <a:xfrm>
            <a:off x="3378200" y="1663700"/>
            <a:ext cx="58738" cy="69850"/>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41" name="椭圆 40"/>
          <p:cNvSpPr/>
          <p:nvPr/>
        </p:nvSpPr>
        <p:spPr>
          <a:xfrm>
            <a:off x="3168651" y="1752600"/>
            <a:ext cx="60325" cy="69850"/>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42" name="椭圆 41"/>
          <p:cNvSpPr/>
          <p:nvPr/>
        </p:nvSpPr>
        <p:spPr>
          <a:xfrm>
            <a:off x="3359151" y="2206625"/>
            <a:ext cx="60325" cy="69850"/>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31" name="矩形 30"/>
          <p:cNvSpPr/>
          <p:nvPr/>
        </p:nvSpPr>
        <p:spPr>
          <a:xfrm>
            <a:off x="2378075" y="2371725"/>
            <a:ext cx="77788" cy="6985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44" name="矩形 43"/>
          <p:cNvSpPr/>
          <p:nvPr/>
        </p:nvSpPr>
        <p:spPr>
          <a:xfrm>
            <a:off x="2516188" y="2487613"/>
            <a:ext cx="77788" cy="71438"/>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45" name="矩形 44"/>
          <p:cNvSpPr/>
          <p:nvPr/>
        </p:nvSpPr>
        <p:spPr>
          <a:xfrm>
            <a:off x="2511425" y="2320925"/>
            <a:ext cx="77788" cy="6985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46" name="矩形 45"/>
          <p:cNvSpPr/>
          <p:nvPr/>
        </p:nvSpPr>
        <p:spPr>
          <a:xfrm>
            <a:off x="3195638" y="2855913"/>
            <a:ext cx="77788" cy="6985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47" name="矩形 46"/>
          <p:cNvSpPr/>
          <p:nvPr/>
        </p:nvSpPr>
        <p:spPr>
          <a:xfrm>
            <a:off x="3349625" y="2760663"/>
            <a:ext cx="77788" cy="6985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sp>
        <p:nvSpPr>
          <p:cNvPr id="48" name="矩形 47"/>
          <p:cNvSpPr/>
          <p:nvPr/>
        </p:nvSpPr>
        <p:spPr>
          <a:xfrm>
            <a:off x="3209925" y="2327275"/>
            <a:ext cx="77788" cy="71438"/>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kumimoji="1" lang="zh-CN" altLang="en-US" sz="2100"/>
          </a:p>
        </p:txBody>
      </p:sp>
      <p:cxnSp>
        <p:nvCxnSpPr>
          <p:cNvPr id="49" name="直接箭头连接符 48"/>
          <p:cNvCxnSpPr>
            <a:stCxn id="4" idx="3"/>
            <a:endCxn id="9" idx="1"/>
          </p:cNvCxnSpPr>
          <p:nvPr/>
        </p:nvCxnSpPr>
        <p:spPr>
          <a:xfrm>
            <a:off x="4313238" y="1704975"/>
            <a:ext cx="452438" cy="4127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接箭头连接符 51"/>
          <p:cNvCxnSpPr>
            <a:stCxn id="11" idx="3"/>
            <a:endCxn id="9" idx="2"/>
          </p:cNvCxnSpPr>
          <p:nvPr/>
        </p:nvCxnSpPr>
        <p:spPr>
          <a:xfrm>
            <a:off x="4313238" y="2271713"/>
            <a:ext cx="387350" cy="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直接箭头连接符 55"/>
          <p:cNvCxnSpPr>
            <a:stCxn id="12" idx="3"/>
            <a:endCxn id="9" idx="3"/>
          </p:cNvCxnSpPr>
          <p:nvPr/>
        </p:nvCxnSpPr>
        <p:spPr>
          <a:xfrm flipV="1">
            <a:off x="4313238" y="2427289"/>
            <a:ext cx="452438" cy="4238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2" name="矩形 61"/>
          <p:cNvSpPr/>
          <p:nvPr/>
        </p:nvSpPr>
        <p:spPr>
          <a:xfrm>
            <a:off x="2248294" y="853936"/>
            <a:ext cx="1691489" cy="523220"/>
          </a:xfrm>
          <a:prstGeom prst="rect">
            <a:avLst/>
          </a:prstGeom>
          <a:noFill/>
          <a:ln w="9525">
            <a:noFill/>
          </a:ln>
        </p:spPr>
        <p:txBody>
          <a:bodyPr wrap="none">
            <a:spAutoFit/>
          </a:bodyPr>
          <a:lstStyle/>
          <a:p>
            <a:pPr>
              <a:buNone/>
            </a:pPr>
            <a:r>
              <a:rPr lang="en-US" altLang="zh-CN" b="1" dirty="0">
                <a:solidFill>
                  <a:srgbClr val="0070C0"/>
                </a:solidFill>
                <a:latin typeface="微软雅黑" panose="020B0503020204020204" pitchFamily="34" charset="-122"/>
                <a:ea typeface="微软雅黑" panose="020B0503020204020204" pitchFamily="34" charset="-122"/>
              </a:rPr>
              <a:t>Bagging</a:t>
            </a:r>
            <a:endParaRPr lang="en-US" altLang="zh-CN" sz="3600" dirty="0">
              <a:latin typeface="微软雅黑" panose="020B0503020204020204" pitchFamily="34" charset="-122"/>
              <a:ea typeface="微软雅黑" panose="020B0503020204020204" pitchFamily="34" charset="-122"/>
            </a:endParaRPr>
          </a:p>
        </p:txBody>
      </p:sp>
      <p:sp>
        <p:nvSpPr>
          <p:cNvPr id="63" name="矩形 62"/>
          <p:cNvSpPr/>
          <p:nvPr/>
        </p:nvSpPr>
        <p:spPr>
          <a:xfrm>
            <a:off x="6759575" y="928689"/>
            <a:ext cx="1574470" cy="461665"/>
          </a:xfrm>
          <a:prstGeom prst="rect">
            <a:avLst/>
          </a:prstGeom>
          <a:noFill/>
          <a:ln w="9525">
            <a:noFill/>
          </a:ln>
        </p:spPr>
        <p:txBody>
          <a:bodyPr wrap="none">
            <a:spAutoFit/>
          </a:bodyPr>
          <a:lstStyle/>
          <a:p>
            <a:pPr>
              <a:buNone/>
            </a:pPr>
            <a:r>
              <a:rPr lang="en-US" altLang="zh-CN" sz="2400" b="1" dirty="0">
                <a:solidFill>
                  <a:srgbClr val="0070C0"/>
                </a:solidFill>
                <a:latin typeface="微软雅黑" panose="020B0503020204020204" pitchFamily="34" charset="-122"/>
                <a:ea typeface="微软雅黑" panose="020B0503020204020204" pitchFamily="34" charset="-122"/>
              </a:rPr>
              <a:t>Boosting</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
        <p:nvSpPr>
          <p:cNvPr id="64" name="文本框 63"/>
          <p:cNvSpPr txBox="1"/>
          <p:nvPr/>
        </p:nvSpPr>
        <p:spPr>
          <a:xfrm>
            <a:off x="1703388" y="3263751"/>
            <a:ext cx="4135437" cy="3194721"/>
          </a:xfrm>
          <a:prstGeom prst="rect">
            <a:avLst/>
          </a:prstGeom>
          <a:solidFill>
            <a:schemeClr val="accent5">
              <a:lumMod val="20000"/>
              <a:lumOff val="80000"/>
            </a:schemeClr>
          </a:solidFill>
        </p:spPr>
        <p:txBody>
          <a:bodyPr wrap="square">
            <a:spAutoFit/>
          </a:bodyPr>
          <a:lstStyle/>
          <a:p>
            <a:pPr>
              <a:lnSpc>
                <a:spcPct val="120000"/>
              </a:lnSpc>
              <a:defRPr/>
            </a:pPr>
            <a:r>
              <a:rPr kumimoji="1" lang="en-US" altLang="zh-CN" sz="2100" dirty="0">
                <a:latin typeface="微软雅黑" panose="020B0503020204020204" pitchFamily="34" charset="-122"/>
                <a:ea typeface="微软雅黑" panose="020B0503020204020204" pitchFamily="34" charset="-122"/>
              </a:rPr>
              <a:t>Bagging</a:t>
            </a:r>
            <a:r>
              <a:rPr kumimoji="1" lang="zh-CN" altLang="en-US" sz="2100" dirty="0">
                <a:latin typeface="微软雅黑" panose="020B0503020204020204" pitchFamily="34" charset="-122"/>
                <a:ea typeface="微软雅黑" panose="020B0503020204020204" pitchFamily="34" charset="-122"/>
              </a:rPr>
              <a:t>：基于数据</a:t>
            </a:r>
            <a:r>
              <a:rPr kumimoji="1" lang="zh-CN" altLang="en-US" sz="2100" dirty="0">
                <a:solidFill>
                  <a:srgbClr val="FF0000"/>
                </a:solidFill>
                <a:latin typeface="微软雅黑" panose="020B0503020204020204" pitchFamily="34" charset="-122"/>
                <a:ea typeface="微软雅黑" panose="020B0503020204020204" pitchFamily="34" charset="-122"/>
              </a:rPr>
              <a:t>随机重抽样</a:t>
            </a:r>
            <a:r>
              <a:rPr kumimoji="1" lang="zh-CN" altLang="en-US" sz="2100" dirty="0">
                <a:latin typeface="微软雅黑" panose="020B0503020204020204" pitchFamily="34" charset="-122"/>
                <a:ea typeface="微软雅黑" panose="020B0503020204020204" pitchFamily="34" charset="-122"/>
              </a:rPr>
              <a:t>的分类器构建方法</a:t>
            </a:r>
            <a:endParaRPr kumimoji="1" lang="en-US" altLang="zh-CN" sz="2100" dirty="0">
              <a:latin typeface="微软雅黑" panose="020B0503020204020204" pitchFamily="34" charset="-122"/>
              <a:ea typeface="微软雅黑" panose="020B0503020204020204" pitchFamily="34" charset="-122"/>
            </a:endParaRPr>
          </a:p>
          <a:p>
            <a:pPr marL="214630" indent="-214630">
              <a:lnSpc>
                <a:spcPct val="120000"/>
              </a:lnSpc>
              <a:buFont typeface="Wingdings" panose="05000000000000000000" charset="0"/>
              <a:buChar char=""/>
              <a:defRPr/>
            </a:pPr>
            <a:r>
              <a:rPr kumimoji="1" lang="zh-CN" altLang="en-US" sz="2100" dirty="0">
                <a:latin typeface="微软雅黑" panose="020B0503020204020204" pitchFamily="34" charset="-122"/>
                <a:ea typeface="微软雅黑" panose="020B0503020204020204" pitchFamily="34" charset="-122"/>
              </a:rPr>
              <a:t>利用bootstrap方法从整体数据集中采取有放回抽样得到N个数据集</a:t>
            </a:r>
            <a:endParaRPr kumimoji="1" lang="en-US" altLang="zh-CN" sz="2100" dirty="0">
              <a:latin typeface="微软雅黑" panose="020B0503020204020204" pitchFamily="34" charset="-122"/>
              <a:ea typeface="微软雅黑" panose="020B0503020204020204" pitchFamily="34" charset="-122"/>
            </a:endParaRPr>
          </a:p>
          <a:p>
            <a:pPr marL="214630" indent="-214630">
              <a:lnSpc>
                <a:spcPct val="120000"/>
              </a:lnSpc>
              <a:buFont typeface="Wingdings" panose="05000000000000000000" charset="0"/>
              <a:buChar char=""/>
              <a:defRPr/>
            </a:pPr>
            <a:r>
              <a:rPr kumimoji="1" lang="zh-CN" altLang="en-US" sz="2100" dirty="0">
                <a:latin typeface="微软雅黑" panose="020B0503020204020204" pitchFamily="34" charset="-122"/>
                <a:ea typeface="微软雅黑" panose="020B0503020204020204" pitchFamily="34" charset="-122"/>
              </a:rPr>
              <a:t>在每个数据集上学习出一个模型</a:t>
            </a:r>
            <a:endParaRPr kumimoji="1" lang="en-US" altLang="zh-CN" sz="2100" dirty="0">
              <a:latin typeface="微软雅黑" panose="020B0503020204020204" pitchFamily="34" charset="-122"/>
              <a:ea typeface="微软雅黑" panose="020B0503020204020204" pitchFamily="34" charset="-122"/>
            </a:endParaRPr>
          </a:p>
          <a:p>
            <a:pPr marL="214630" indent="-214630">
              <a:lnSpc>
                <a:spcPct val="120000"/>
              </a:lnSpc>
              <a:buFont typeface="Wingdings" panose="05000000000000000000" charset="0"/>
              <a:buChar char=""/>
              <a:defRPr/>
            </a:pPr>
            <a:r>
              <a:rPr kumimoji="1" lang="zh-CN" altLang="en-US" sz="2100" dirty="0">
                <a:latin typeface="微软雅黑" panose="020B0503020204020204" pitchFamily="34" charset="-122"/>
                <a:ea typeface="微软雅黑" panose="020B0503020204020204" pitchFamily="34" charset="-122"/>
              </a:rPr>
              <a:t>利用N个模型的输出投票得到</a:t>
            </a:r>
            <a:r>
              <a:rPr kumimoji="1" lang="zh-CN" altLang="en-US" sz="2100" dirty="0">
                <a:latin typeface="微软雅黑" panose="020B0503020204020204" pitchFamily="34" charset="-122"/>
                <a:ea typeface="微软雅黑" panose="020B0503020204020204" pitchFamily="34" charset="-122"/>
                <a:sym typeface="+mn-ea"/>
              </a:rPr>
              <a:t>最后的预测结果</a:t>
            </a:r>
          </a:p>
        </p:txBody>
      </p:sp>
      <p:sp>
        <p:nvSpPr>
          <p:cNvPr id="65" name="文本框 64"/>
          <p:cNvSpPr txBox="1"/>
          <p:nvPr/>
        </p:nvSpPr>
        <p:spPr>
          <a:xfrm>
            <a:off x="6168008" y="3268664"/>
            <a:ext cx="4355976" cy="3323987"/>
          </a:xfrm>
          <a:prstGeom prst="rect">
            <a:avLst/>
          </a:prstGeom>
          <a:solidFill>
            <a:schemeClr val="accent5">
              <a:lumMod val="20000"/>
              <a:lumOff val="80000"/>
            </a:schemeClr>
          </a:solidFill>
        </p:spPr>
        <p:txBody>
          <a:bodyPr wrap="square">
            <a:spAutoFit/>
          </a:bodyPr>
          <a:lstStyle/>
          <a:p>
            <a:pPr>
              <a:lnSpc>
                <a:spcPct val="125000"/>
              </a:lnSpc>
              <a:defRPr/>
            </a:pPr>
            <a:r>
              <a:rPr kumimoji="1" lang="en-US" altLang="zh-CN" sz="2100" dirty="0">
                <a:latin typeface="微软雅黑" panose="020B0503020204020204" pitchFamily="34" charset="-122"/>
                <a:ea typeface="微软雅黑" panose="020B0503020204020204" pitchFamily="34" charset="-122"/>
              </a:rPr>
              <a:t>Boosting</a:t>
            </a:r>
            <a:r>
              <a:rPr kumimoji="1" lang="zh-CN" altLang="en-US" sz="2100" dirty="0">
                <a:latin typeface="微软雅黑" panose="020B0503020204020204" pitchFamily="34" charset="-122"/>
                <a:ea typeface="微软雅黑" panose="020B0503020204020204" pitchFamily="34" charset="-122"/>
              </a:rPr>
              <a:t>：基于</a:t>
            </a:r>
            <a:r>
              <a:rPr kumimoji="1" lang="zh-CN" altLang="en-US" sz="2100" dirty="0">
                <a:solidFill>
                  <a:srgbClr val="FF0000"/>
                </a:solidFill>
                <a:latin typeface="微软雅黑" panose="020B0503020204020204" pitchFamily="34" charset="-122"/>
                <a:ea typeface="微软雅黑" panose="020B0503020204020204" pitchFamily="34" charset="-122"/>
              </a:rPr>
              <a:t>错误样本</a:t>
            </a:r>
            <a:r>
              <a:rPr kumimoji="1" lang="zh-CN" altLang="en-US" sz="2100" dirty="0">
                <a:latin typeface="微软雅黑" panose="020B0503020204020204" pitchFamily="34" charset="-122"/>
                <a:ea typeface="微软雅黑" panose="020B0503020204020204" pitchFamily="34" charset="-122"/>
              </a:rPr>
              <a:t>提升分类器性能</a:t>
            </a:r>
            <a:endParaRPr kumimoji="1" lang="en-US" altLang="zh-CN" sz="2100" dirty="0">
              <a:latin typeface="微软雅黑" panose="020B0503020204020204" pitchFamily="34" charset="-122"/>
              <a:ea typeface="微软雅黑" panose="020B0503020204020204" pitchFamily="34" charset="-122"/>
              <a:sym typeface="+mn-ea"/>
            </a:endParaRPr>
          </a:p>
          <a:p>
            <a:pPr marL="214630" indent="-214630">
              <a:lnSpc>
                <a:spcPct val="125000"/>
              </a:lnSpc>
              <a:buFont typeface="Wingdings" panose="05000000000000000000" charset="0"/>
              <a:buChar char=""/>
              <a:defRPr/>
            </a:pPr>
            <a:r>
              <a:rPr kumimoji="1" lang="zh-CN" altLang="en-US" sz="2100" dirty="0">
                <a:latin typeface="微软雅黑" panose="020B0503020204020204" pitchFamily="34" charset="-122"/>
                <a:ea typeface="微软雅黑" panose="020B0503020204020204" pitchFamily="34" charset="-122"/>
                <a:sym typeface="+mn-ea"/>
              </a:rPr>
              <a:t> 每次训练分类器后提高错误样本在训练集中所占权重</a:t>
            </a:r>
            <a:r>
              <a:rPr kumimoji="1" lang="en-US" altLang="zh-CN" sz="2100" dirty="0">
                <a:latin typeface="微软雅黑" panose="020B0503020204020204" pitchFamily="34" charset="-122"/>
                <a:ea typeface="微软雅黑" panose="020B0503020204020204" pitchFamily="34" charset="-122"/>
                <a:sym typeface="+mn-ea"/>
              </a:rPr>
              <a:t>,</a:t>
            </a:r>
            <a:r>
              <a:rPr kumimoji="1" lang="zh-CN" altLang="en-US" sz="2100" dirty="0">
                <a:latin typeface="微软雅黑" panose="020B0503020204020204" pitchFamily="34" charset="-122"/>
                <a:ea typeface="微软雅黑" panose="020B0503020204020204" pitchFamily="34" charset="-122"/>
                <a:sym typeface="+mn-ea"/>
              </a:rPr>
              <a:t>使得下一次循环的基分类器能够集中力量对这些错误样本进行判断。</a:t>
            </a:r>
            <a:endParaRPr kumimoji="1" lang="en-US" altLang="zh-CN" sz="2100" dirty="0">
              <a:latin typeface="微软雅黑" panose="020B0503020204020204" pitchFamily="34" charset="-122"/>
              <a:ea typeface="微软雅黑" panose="020B0503020204020204" pitchFamily="34" charset="-122"/>
              <a:sym typeface="+mn-ea"/>
            </a:endParaRPr>
          </a:p>
          <a:p>
            <a:pPr marL="214630" indent="-214630">
              <a:lnSpc>
                <a:spcPct val="125000"/>
              </a:lnSpc>
              <a:buFont typeface="Wingdings" panose="05000000000000000000" charset="0"/>
              <a:buChar char=""/>
              <a:defRPr/>
            </a:pPr>
            <a:r>
              <a:rPr kumimoji="1" lang="zh-CN" altLang="en-US" sz="2100" dirty="0">
                <a:latin typeface="微软雅黑" panose="020B0503020204020204" pitchFamily="34" charset="-122"/>
                <a:ea typeface="微软雅黑" panose="020B0503020204020204" pitchFamily="34" charset="-122"/>
                <a:sym typeface="+mn-ea"/>
              </a:rPr>
              <a:t>识别率越高的基分类器权重越高</a:t>
            </a:r>
            <a:r>
              <a:rPr kumimoji="1" lang="en-US" altLang="zh-CN" sz="2100" dirty="0">
                <a:latin typeface="微软雅黑" panose="020B0503020204020204" pitchFamily="34" charset="-122"/>
                <a:ea typeface="微软雅黑" panose="020B0503020204020204" pitchFamily="34" charset="-122"/>
                <a:sym typeface="+mn-ea"/>
              </a:rPr>
              <a:t>,</a:t>
            </a:r>
            <a:r>
              <a:rPr kumimoji="1" lang="zh-CN" altLang="en-US" sz="2100" dirty="0">
                <a:latin typeface="微软雅黑" panose="020B0503020204020204" pitchFamily="34" charset="-122"/>
                <a:ea typeface="微软雅黑" panose="020B0503020204020204" pitchFamily="34" charset="-122"/>
                <a:sym typeface="+mn-ea"/>
              </a:rPr>
              <a:t>识别率越低的基分类器权重越低</a:t>
            </a:r>
            <a:endParaRPr kumimoji="1" lang="zh-CN" altLang="en-US" sz="2100" dirty="0"/>
          </a:p>
        </p:txBody>
      </p:sp>
      <p:sp>
        <p:nvSpPr>
          <p:cNvPr id="50" name="Rectangle 2"/>
          <p:cNvSpPr txBox="1">
            <a:spLocks noChangeArrowheads="1"/>
          </p:cNvSpPr>
          <p:nvPr/>
        </p:nvSpPr>
        <p:spPr>
          <a:xfrm>
            <a:off x="1870075" y="214313"/>
            <a:ext cx="7772400" cy="731838"/>
          </a:xfrm>
          <a:prstGeom prst="rect">
            <a:avLst/>
          </a:prstGeom>
        </p:spPr>
        <p:txBody>
          <a:bodyP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zh-CN" altLang="en-US" sz="3200" b="1" dirty="0">
                <a:solidFill>
                  <a:schemeClr val="tx1"/>
                </a:solidFill>
                <a:effectLst>
                  <a:outerShdw blurRad="38100" dist="38100" dir="2700000" algn="tl">
                    <a:srgbClr val="C0C0C0"/>
                  </a:outerShdw>
                </a:effectLst>
              </a:rPr>
              <a:t>集体学习两大算法</a:t>
            </a:r>
          </a:p>
        </p:txBody>
      </p:sp>
      <p:cxnSp>
        <p:nvCxnSpPr>
          <p:cNvPr id="13" name="直接连接符 12">
            <a:extLst>
              <a:ext uri="{FF2B5EF4-FFF2-40B4-BE49-F238E27FC236}">
                <a16:creationId xmlns:a16="http://schemas.microsoft.com/office/drawing/2014/main" id="{F24055E4-6AB1-4065-AF6E-605E68681E19}"/>
              </a:ext>
            </a:extLst>
          </p:cNvPr>
          <p:cNvCxnSpPr/>
          <p:nvPr/>
        </p:nvCxnSpPr>
        <p:spPr bwMode="auto">
          <a:xfrm>
            <a:off x="6023992" y="853937"/>
            <a:ext cx="0" cy="5698383"/>
          </a:xfrm>
          <a:prstGeom prst="line">
            <a:avLst/>
          </a:prstGeom>
          <a:solidFill>
            <a:schemeClr val="accent1"/>
          </a:solidFill>
          <a:ln w="38100" cap="flat" cmpd="sng" algn="ctr">
            <a:solidFill>
              <a:schemeClr val="accent1"/>
            </a:solidFill>
            <a:prstDash val="solid"/>
            <a:round/>
            <a:headEnd type="none" w="med" len="med"/>
            <a:tailEnd type="none" w="med" len="med"/>
          </a:ln>
        </p:spPr>
      </p:cxn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4">
                                            <p:txEl>
                                              <p:pRg st="1" end="1"/>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64">
                                            <p:txEl>
                                              <p:pRg st="3" end="3"/>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02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65">
                                            <p:txEl>
                                              <p:pRg st="1" end="1"/>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6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3" grpId="0" animBg="1"/>
      <p:bldP spid="4" grpId="0" animBg="1"/>
      <p:bldP spid="11" grpId="0" animBg="1"/>
      <p:bldP spid="12" grpId="0" animBg="1"/>
      <p:bldP spid="9" grpId="0" animBg="1"/>
      <p:bldP spid="32" grpId="0" animBg="1"/>
      <p:bldP spid="33" grpId="0" animBg="1"/>
      <p:bldP spid="34" grpId="0" animBg="1"/>
      <p:bldP spid="35" grpId="0" animBg="1"/>
      <p:bldP spid="36" grpId="0" animBg="1"/>
      <p:bldP spid="37" grpId="0" animBg="1"/>
      <p:bldP spid="30" grpId="0" animBg="1"/>
      <p:bldP spid="39" grpId="0" animBg="1"/>
      <p:bldP spid="40" grpId="0" animBg="1"/>
      <p:bldP spid="41" grpId="0" animBg="1"/>
      <p:bldP spid="42" grpId="0" animBg="1"/>
      <p:bldP spid="31" grpId="0" animBg="1"/>
      <p:bldP spid="44" grpId="0" animBg="1"/>
      <p:bldP spid="45" grpId="0" animBg="1"/>
      <p:bldP spid="46" grpId="0" animBg="1"/>
      <p:bldP spid="47" grpId="0" animBg="1"/>
      <p:bldP spid="48" grpId="0" animBg="1"/>
      <p:bldP spid="62" grpId="0"/>
      <p:bldP spid="63" grpId="0"/>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a:off x="1703706" y="1064895"/>
            <a:ext cx="5045075" cy="5110480"/>
          </a:xfrm>
          <a:prstGeom prst="rect">
            <a:avLst/>
          </a:prstGeom>
          <a:solidFill>
            <a:srgbClr val="E1EFFF"/>
          </a:solidFill>
          <a:ln w="28575">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14630" indent="-214630">
              <a:lnSpc>
                <a:spcPct val="120000"/>
              </a:lnSpc>
              <a:buFont typeface="Wingdings" panose="05000000000000000000" charset="0"/>
              <a:buChar char=""/>
              <a:defRPr/>
            </a:pPr>
            <a:r>
              <a:rPr kumimoji="1" lang="zh-CN" altLang="en-US" sz="2400" b="1" dirty="0">
                <a:solidFill>
                  <a:schemeClr val="tx1"/>
                </a:solidFill>
                <a:latin typeface="微软雅黑" panose="020B0503020204020204" pitchFamily="34" charset="-122"/>
                <a:ea typeface="微软雅黑" panose="020B0503020204020204" pitchFamily="34" charset="-122"/>
                <a:sym typeface="+mn-ea"/>
              </a:rPr>
              <a:t>Bagging与Boosting</a:t>
            </a:r>
            <a:endParaRPr kumimoji="1" lang="zh-CN" altLang="en-US" sz="2400" dirty="0">
              <a:solidFill>
                <a:schemeClr val="tx1"/>
              </a:solidFill>
              <a:latin typeface="微软雅黑" panose="020B0503020204020204" pitchFamily="34" charset="-122"/>
              <a:ea typeface="微软雅黑" panose="020B0503020204020204" pitchFamily="34" charset="-122"/>
              <a:sym typeface="+mn-ea"/>
            </a:endParaRPr>
          </a:p>
          <a:p>
            <a:pPr>
              <a:lnSpc>
                <a:spcPct val="120000"/>
              </a:lnSpc>
              <a:defRPr/>
            </a:pPr>
            <a:r>
              <a:rPr kumimoji="1" lang="zh-CN" altLang="en-US" sz="2400" dirty="0">
                <a:solidFill>
                  <a:schemeClr val="tx1"/>
                </a:solidFill>
                <a:latin typeface="微软雅黑" panose="020B0503020204020204" pitchFamily="34" charset="-122"/>
                <a:ea typeface="微软雅黑" panose="020B0503020204020204" pitchFamily="34" charset="-122"/>
                <a:sym typeface="+mn-ea"/>
              </a:rPr>
              <a:t>都采用采样-学习-组合的方式，不同在于：</a:t>
            </a:r>
          </a:p>
          <a:p>
            <a:pPr marL="214630" indent="-214630">
              <a:lnSpc>
                <a:spcPct val="120000"/>
              </a:lnSpc>
              <a:buFont typeface="Wingdings" panose="05000000000000000000" charset="0"/>
              <a:buChar char=""/>
              <a:defRPr/>
            </a:pPr>
            <a:r>
              <a:rPr kumimoji="1" lang="zh-CN" altLang="en-US" sz="2400" dirty="0">
                <a:solidFill>
                  <a:schemeClr val="tx1"/>
                </a:solidFill>
                <a:latin typeface="微软雅黑" panose="020B0503020204020204" pitchFamily="34" charset="-122"/>
                <a:ea typeface="微软雅黑" panose="020B0503020204020204" pitchFamily="34" charset="-122"/>
                <a:sym typeface="+mn-ea"/>
              </a:rPr>
              <a:t>Bagging中每个训练集互不相关，也就是每个基分类器互不相关，而Boosting中训练集要在上一轮的结果上进行调整，也使得其不能并行计算</a:t>
            </a:r>
          </a:p>
          <a:p>
            <a:pPr marL="214630" indent="-214630">
              <a:lnSpc>
                <a:spcPct val="120000"/>
              </a:lnSpc>
              <a:buFont typeface="Wingdings" panose="05000000000000000000" charset="0"/>
              <a:buChar char=""/>
              <a:defRPr/>
            </a:pPr>
            <a:r>
              <a:rPr kumimoji="1" lang="zh-CN" altLang="en-US" sz="2400" dirty="0">
                <a:solidFill>
                  <a:schemeClr val="tx1"/>
                </a:solidFill>
                <a:latin typeface="微软雅黑" panose="020B0503020204020204" pitchFamily="34" charset="-122"/>
                <a:ea typeface="微软雅黑" panose="020B0503020204020204" pitchFamily="34" charset="-122"/>
                <a:sym typeface="+mn-ea"/>
              </a:rPr>
              <a:t>Bagging中预测函数是均匀平等的，但在Boosting中预测函数是加权的</a:t>
            </a:r>
          </a:p>
        </p:txBody>
      </p:sp>
      <p:pic>
        <p:nvPicPr>
          <p:cNvPr id="6" name="图片 5"/>
          <p:cNvPicPr>
            <a:picLocks noChangeAspect="1"/>
          </p:cNvPicPr>
          <p:nvPr/>
        </p:nvPicPr>
        <p:blipFill>
          <a:blip r:embed="rId2"/>
          <a:stretch>
            <a:fillRect/>
          </a:stretch>
        </p:blipFill>
        <p:spPr>
          <a:xfrm>
            <a:off x="7104063" y="2204720"/>
            <a:ext cx="2728912" cy="1670050"/>
          </a:xfrm>
          <a:prstGeom prst="rect">
            <a:avLst/>
          </a:prstGeom>
          <a:noFill/>
          <a:ln w="9525">
            <a:noFill/>
          </a:ln>
        </p:spPr>
      </p:pic>
      <p:pic>
        <p:nvPicPr>
          <p:cNvPr id="7" name="图片 6"/>
          <p:cNvPicPr>
            <a:picLocks noChangeAspect="1"/>
          </p:cNvPicPr>
          <p:nvPr/>
        </p:nvPicPr>
        <p:blipFill>
          <a:blip r:embed="rId3"/>
          <a:stretch>
            <a:fillRect/>
          </a:stretch>
        </p:blipFill>
        <p:spPr>
          <a:xfrm>
            <a:off x="6954839" y="3945890"/>
            <a:ext cx="3836987" cy="2159000"/>
          </a:xfrm>
          <a:prstGeom prst="rect">
            <a:avLst/>
          </a:prstGeom>
          <a:noFill/>
          <a:ln w="9525">
            <a:noFill/>
          </a:ln>
        </p:spPr>
      </p:pic>
      <p:sp>
        <p:nvSpPr>
          <p:cNvPr id="8" name="矩形 7"/>
          <p:cNvSpPr/>
          <p:nvPr/>
        </p:nvSpPr>
        <p:spPr>
          <a:xfrm>
            <a:off x="7392353" y="1484314"/>
            <a:ext cx="1706880" cy="460375"/>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400" b="1" dirty="0">
                <a:solidFill>
                  <a:srgbClr val="0070C0"/>
                </a:solidFill>
                <a:latin typeface="微软雅黑" panose="020B0503020204020204" pitchFamily="34" charset="-122"/>
                <a:ea typeface="微软雅黑" panose="020B0503020204020204" pitchFamily="34" charset="-122"/>
              </a:rPr>
              <a:t>代表算法：</a:t>
            </a:r>
          </a:p>
        </p:txBody>
      </p:sp>
      <p:sp>
        <p:nvSpPr>
          <p:cNvPr id="9" name="矩形 8"/>
          <p:cNvSpPr/>
          <p:nvPr/>
        </p:nvSpPr>
        <p:spPr>
          <a:xfrm>
            <a:off x="9768841" y="2780349"/>
            <a:ext cx="912813" cy="82994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400" b="1" dirty="0">
                <a:latin typeface="微软雅黑" panose="020B0503020204020204" pitchFamily="34" charset="-122"/>
                <a:ea typeface="微软雅黑" panose="020B0503020204020204" pitchFamily="34" charset="-122"/>
              </a:rPr>
              <a:t>随机森林</a:t>
            </a:r>
          </a:p>
        </p:txBody>
      </p:sp>
      <p:sp>
        <p:nvSpPr>
          <p:cNvPr id="10" name="矩形 9"/>
          <p:cNvSpPr/>
          <p:nvPr/>
        </p:nvSpPr>
        <p:spPr>
          <a:xfrm>
            <a:off x="7824789" y="6175376"/>
            <a:ext cx="1688283" cy="461665"/>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en-US" altLang="zh-CN" sz="2400" b="1" dirty="0">
                <a:latin typeface="微软雅黑" panose="020B0503020204020204" pitchFamily="34" charset="-122"/>
                <a:ea typeface="微软雅黑" panose="020B0503020204020204" pitchFamily="34" charset="-122"/>
              </a:rPr>
              <a:t>Adaboost</a:t>
            </a:r>
          </a:p>
        </p:txBody>
      </p:sp>
      <p:sp>
        <p:nvSpPr>
          <p:cNvPr id="11" name="Rectangle 2"/>
          <p:cNvSpPr txBox="1">
            <a:spLocks noChangeArrowheads="1"/>
          </p:cNvSpPr>
          <p:nvPr/>
        </p:nvSpPr>
        <p:spPr>
          <a:xfrm>
            <a:off x="1991678" y="332740"/>
            <a:ext cx="7772400" cy="731838"/>
          </a:xfrm>
          <a:prstGeom prst="rect">
            <a:avLst/>
          </a:prstGeom>
        </p:spPr>
        <p:txBody>
          <a:bodyP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zh-CN" altLang="en-US" sz="3200" b="1" dirty="0">
                <a:solidFill>
                  <a:schemeClr val="tx1"/>
                </a:solidFill>
                <a:effectLst>
                  <a:outerShdw blurRad="38100" dist="38100" dir="2700000" algn="tl">
                    <a:srgbClr val="C0C0C0"/>
                  </a:outerShdw>
                </a:effectLst>
              </a:rPr>
              <a:t>集体学习</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8" grpId="0"/>
      <p:bldP spid="9" grpId="0"/>
      <p:bldP spid="10" grpId="0"/>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Text Box 7"/>
          <p:cNvSpPr txBox="1"/>
          <p:nvPr/>
        </p:nvSpPr>
        <p:spPr>
          <a:xfrm>
            <a:off x="2782888" y="549275"/>
            <a:ext cx="4032250" cy="585788"/>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spcBef>
                <a:spcPct val="50000"/>
              </a:spcBef>
              <a:buNone/>
            </a:pPr>
            <a:r>
              <a:rPr lang="zh-CN" altLang="en-US" dirty="0">
                <a:solidFill>
                  <a:srgbClr val="0D0D0D"/>
                </a:solidFill>
                <a:latin typeface="Times New Roman" panose="02020603050405020304" pitchFamily="18" charset="0"/>
                <a:ea typeface="微软雅黑" panose="020B0503020204020204" pitchFamily="34" charset="-122"/>
              </a:rPr>
              <a:t>集体学习</a:t>
            </a:r>
            <a:r>
              <a:rPr lang="en-US" altLang="zh-CN" dirty="0">
                <a:solidFill>
                  <a:srgbClr val="0D0D0D"/>
                </a:solidFill>
                <a:latin typeface="Times New Roman" panose="02020603050405020304" pitchFamily="18" charset="0"/>
                <a:ea typeface="微软雅黑" panose="020B0503020204020204" pitchFamily="34" charset="-122"/>
              </a:rPr>
              <a:t>--</a:t>
            </a:r>
            <a:r>
              <a:rPr lang="zh-CN" altLang="en-US" dirty="0">
                <a:solidFill>
                  <a:srgbClr val="0D0D0D"/>
                </a:solidFill>
                <a:latin typeface="Times New Roman" panose="02020603050405020304" pitchFamily="18" charset="0"/>
                <a:ea typeface="微软雅黑" panose="020B0503020204020204" pitchFamily="34" charset="-122"/>
              </a:rPr>
              <a:t>随机森林</a:t>
            </a:r>
          </a:p>
        </p:txBody>
      </p:sp>
      <p:sp>
        <p:nvSpPr>
          <p:cNvPr id="83971" name="矩形 3"/>
          <p:cNvSpPr/>
          <p:nvPr/>
        </p:nvSpPr>
        <p:spPr>
          <a:xfrm>
            <a:off x="1919289" y="1628775"/>
            <a:ext cx="8137525" cy="2708434"/>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2800"/>
              </a:lnSpc>
              <a:spcBef>
                <a:spcPct val="0"/>
              </a:spcBef>
              <a:spcAft>
                <a:spcPts val="1200"/>
              </a:spcAft>
              <a:buNone/>
            </a:pPr>
            <a:r>
              <a:rPr lang="zh-CN" altLang="en-US" sz="2200" dirty="0">
                <a:solidFill>
                  <a:srgbClr val="000000"/>
                </a:solidFill>
                <a:latin typeface="微软雅黑" panose="020B0503020204020204" pitchFamily="34" charset="-122"/>
                <a:ea typeface="微软雅黑" panose="020B0503020204020204" pitchFamily="34" charset="-122"/>
              </a:rPr>
              <a:t>随机森林就是通过</a:t>
            </a:r>
            <a:r>
              <a:rPr lang="zh-CN" altLang="en-US" sz="2200" dirty="0">
                <a:solidFill>
                  <a:srgbClr val="FF0000"/>
                </a:solidFill>
                <a:latin typeface="微软雅黑" panose="020B0503020204020204" pitchFamily="34" charset="-122"/>
                <a:ea typeface="微软雅黑" panose="020B0503020204020204" pitchFamily="34" charset="-122"/>
              </a:rPr>
              <a:t>集成学习的思想</a:t>
            </a:r>
            <a:r>
              <a:rPr lang="zh-CN" altLang="en-US" sz="2200" dirty="0">
                <a:latin typeface="微软雅黑" panose="020B0503020204020204" pitchFamily="34" charset="-122"/>
                <a:ea typeface="微软雅黑" panose="020B0503020204020204" pitchFamily="34" charset="-122"/>
              </a:rPr>
              <a:t>将多棵树集成的一种算法，它的基本单元是</a:t>
            </a:r>
            <a:r>
              <a:rPr lang="zh-CN" altLang="en-US" sz="2200" dirty="0">
                <a:solidFill>
                  <a:srgbClr val="FF0000"/>
                </a:solidFill>
                <a:latin typeface="微软雅黑" panose="020B0503020204020204" pitchFamily="34" charset="-122"/>
                <a:ea typeface="微软雅黑" panose="020B0503020204020204" pitchFamily="34" charset="-122"/>
              </a:rPr>
              <a:t>决策树</a:t>
            </a:r>
            <a:r>
              <a:rPr lang="zh-CN" altLang="en-US" sz="2200" dirty="0">
                <a:solidFill>
                  <a:srgbClr val="000000"/>
                </a:solidFill>
                <a:latin typeface="微软雅黑" panose="020B0503020204020204" pitchFamily="34" charset="-122"/>
                <a:ea typeface="微软雅黑" panose="020B0503020204020204" pitchFamily="34" charset="-122"/>
              </a:rPr>
              <a:t>。</a:t>
            </a:r>
            <a:endParaRPr lang="en-US" altLang="zh-CN" sz="2200" dirty="0">
              <a:solidFill>
                <a:srgbClr val="00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zh-CN" altLang="en-US" sz="2200" dirty="0">
                <a:solidFill>
                  <a:srgbClr val="00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森林</a:t>
            </a:r>
            <a:r>
              <a:rPr lang="zh-CN" altLang="en-US" sz="2200" dirty="0">
                <a:solidFill>
                  <a:srgbClr val="000000"/>
                </a:solidFill>
                <a:latin typeface="微软雅黑" panose="020B0503020204020204" pitchFamily="34" charset="-122"/>
                <a:ea typeface="微软雅黑" panose="020B0503020204020204" pitchFamily="34" charset="-122"/>
              </a:rPr>
              <a:t>”</a:t>
            </a:r>
            <a:r>
              <a:rPr lang="en-US" altLang="zh-CN" sz="2200" dirty="0">
                <a:solidFill>
                  <a:srgbClr val="000000"/>
                </a:solidFill>
                <a:latin typeface="微软雅黑" panose="020B0503020204020204" pitchFamily="34" charset="-122"/>
                <a:ea typeface="微软雅黑" panose="020B0503020204020204" pitchFamily="34" charset="-122"/>
              </a:rPr>
              <a:t>: </a:t>
            </a:r>
            <a:r>
              <a:rPr lang="zh-CN" altLang="en-US" sz="2200" dirty="0">
                <a:solidFill>
                  <a:srgbClr val="000000"/>
                </a:solidFill>
                <a:latin typeface="微软雅黑" panose="020B0503020204020204" pitchFamily="34" charset="-122"/>
                <a:ea typeface="微软雅黑" panose="020B0503020204020204" pitchFamily="34" charset="-122"/>
              </a:rPr>
              <a:t>一棵叫做树，那么成百上千棵就可以叫做森林了，其实这也是随机森林的主要思想</a:t>
            </a:r>
            <a:r>
              <a:rPr lang="en-US" altLang="zh-CN" sz="2200" dirty="0">
                <a:solidFill>
                  <a:srgbClr val="000000"/>
                </a:solidFill>
                <a:latin typeface="微软雅黑" panose="020B0503020204020204" pitchFamily="34" charset="-122"/>
                <a:ea typeface="微软雅黑" panose="020B0503020204020204" pitchFamily="34" charset="-122"/>
              </a:rPr>
              <a:t>--</a:t>
            </a:r>
            <a:r>
              <a:rPr lang="zh-CN" altLang="en-US" sz="2200" dirty="0">
                <a:solidFill>
                  <a:srgbClr val="000000"/>
                </a:solidFill>
                <a:latin typeface="微软雅黑" panose="020B0503020204020204" pitchFamily="34" charset="-122"/>
                <a:ea typeface="微软雅黑" panose="020B0503020204020204" pitchFamily="34" charset="-122"/>
              </a:rPr>
              <a:t>集成思想的体现。</a:t>
            </a:r>
            <a:endParaRPr lang="en-US" altLang="zh-CN" sz="2200" dirty="0">
              <a:solidFill>
                <a:srgbClr val="00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zh-CN" altLang="en-US" sz="2200" dirty="0">
                <a:solidFill>
                  <a:srgbClr val="00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随机</a:t>
            </a:r>
            <a:r>
              <a:rPr lang="zh-CN" altLang="en-US" sz="2200" dirty="0">
                <a:solidFill>
                  <a:srgbClr val="000000"/>
                </a:solidFill>
                <a:latin typeface="微软雅黑" panose="020B0503020204020204" pitchFamily="34" charset="-122"/>
                <a:ea typeface="微软雅黑" panose="020B0503020204020204" pitchFamily="34" charset="-122"/>
              </a:rPr>
              <a:t>”的包括</a:t>
            </a:r>
            <a:r>
              <a:rPr lang="zh-CN" altLang="en-US" sz="2200" dirty="0">
                <a:solidFill>
                  <a:srgbClr val="FF0000"/>
                </a:solidFill>
                <a:latin typeface="微软雅黑" panose="020B0503020204020204" pitchFamily="34" charset="-122"/>
                <a:ea typeface="微软雅黑" panose="020B0503020204020204" pitchFamily="34" charset="-122"/>
              </a:rPr>
              <a:t>随机选取训练样本集</a:t>
            </a:r>
            <a:r>
              <a:rPr lang="zh-CN" altLang="en-US" sz="2200" dirty="0">
                <a:solidFill>
                  <a:srgbClr val="000000"/>
                </a:solidFill>
                <a:latin typeface="微软雅黑" panose="020B0503020204020204" pitchFamily="34" charset="-122"/>
                <a:ea typeface="微软雅黑" panose="020B0503020204020204" pitchFamily="34" charset="-122"/>
              </a:rPr>
              <a:t>和</a:t>
            </a:r>
            <a:r>
              <a:rPr lang="zh-CN" altLang="en-US" sz="2200" dirty="0">
                <a:solidFill>
                  <a:srgbClr val="FF0000"/>
                </a:solidFill>
                <a:latin typeface="微软雅黑" panose="020B0503020204020204" pitchFamily="34" charset="-122"/>
                <a:ea typeface="微软雅黑" panose="020B0503020204020204" pitchFamily="34" charset="-122"/>
              </a:rPr>
              <a:t>随机选取分裂属性集</a:t>
            </a:r>
            <a:endParaRPr lang="zh-CN" altLang="en-US" sz="2200" dirty="0">
              <a:solidFill>
                <a:srgbClr val="00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zh-CN" altLang="en-US" sz="2000" dirty="0">
                <a:solidFill>
                  <a:srgbClr val="000000"/>
                </a:solidFill>
                <a:latin typeface="微软雅黑" panose="020B0503020204020204" pitchFamily="34" charset="-122"/>
                <a:ea typeface="微软雅黑" panose="020B0503020204020204" pitchFamily="34" charset="-122"/>
              </a:rPr>
              <a:t>　</a:t>
            </a:r>
            <a:endParaRPr lang="en-US" altLang="zh-CN" sz="2000" dirty="0">
              <a:solidFill>
                <a:srgbClr val="000000"/>
              </a:solidFill>
              <a:latin typeface="微软雅黑" panose="020B0503020204020204" pitchFamily="34" charset="-122"/>
              <a:ea typeface="微软雅黑" panose="020B0503020204020204" pitchFamily="34" charset="-122"/>
            </a:endParaRPr>
          </a:p>
        </p:txBody>
      </p:sp>
      <p:sp>
        <p:nvSpPr>
          <p:cNvPr id="4" name="矩形 3"/>
          <p:cNvSpPr/>
          <p:nvPr/>
        </p:nvSpPr>
        <p:spPr>
          <a:xfrm>
            <a:off x="1943690" y="4149080"/>
            <a:ext cx="7777163" cy="16319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3000"/>
              </a:lnSpc>
              <a:spcBef>
                <a:spcPct val="0"/>
              </a:spcBef>
              <a:spcAft>
                <a:spcPts val="1200"/>
              </a:spcAft>
              <a:buNone/>
            </a:pPr>
            <a:r>
              <a:rPr lang="zh-CN" altLang="en-US" sz="2200" dirty="0">
                <a:solidFill>
                  <a:srgbClr val="000000"/>
                </a:solidFill>
                <a:latin typeface="微软雅黑" panose="020B0503020204020204" pitchFamily="34" charset="-122"/>
                <a:ea typeface="微软雅黑" panose="020B0503020204020204" pitchFamily="34" charset="-122"/>
              </a:rPr>
              <a:t>从直观角度来解释，</a:t>
            </a:r>
            <a:r>
              <a:rPr lang="zh-CN" altLang="en-US" sz="2200" dirty="0">
                <a:solidFill>
                  <a:srgbClr val="FF0000"/>
                </a:solidFill>
                <a:latin typeface="微软雅黑" panose="020B0503020204020204" pitchFamily="34" charset="-122"/>
                <a:ea typeface="微软雅黑" panose="020B0503020204020204" pitchFamily="34" charset="-122"/>
              </a:rPr>
              <a:t>每棵决策树都是一个分类器</a:t>
            </a:r>
            <a:r>
              <a:rPr lang="zh-CN" altLang="en-US" sz="2200" dirty="0">
                <a:solidFill>
                  <a:srgbClr val="000000"/>
                </a:solidFill>
                <a:latin typeface="微软雅黑" panose="020B0503020204020204" pitchFamily="34" charset="-122"/>
                <a:ea typeface="微软雅黑" panose="020B0503020204020204" pitchFamily="34" charset="-122"/>
              </a:rPr>
              <a:t>（假设现在针对的是分类问题），那么对于一个输入样本，</a:t>
            </a:r>
            <a:r>
              <a:rPr lang="en-US" altLang="zh-CN" sz="2200" dirty="0">
                <a:solidFill>
                  <a:srgbClr val="000000"/>
                </a:solidFill>
                <a:latin typeface="微软雅黑" panose="020B0503020204020204" pitchFamily="34" charset="-122"/>
                <a:ea typeface="微软雅黑" panose="020B0503020204020204" pitchFamily="34" charset="-122"/>
              </a:rPr>
              <a:t>N</a:t>
            </a:r>
            <a:r>
              <a:rPr lang="zh-CN" altLang="en-US" sz="2200" dirty="0">
                <a:solidFill>
                  <a:srgbClr val="000000"/>
                </a:solidFill>
                <a:latin typeface="微软雅黑" panose="020B0503020204020204" pitchFamily="34" charset="-122"/>
                <a:ea typeface="微软雅黑" panose="020B0503020204020204" pitchFamily="34" charset="-122"/>
              </a:rPr>
              <a:t>棵树会有</a:t>
            </a:r>
            <a:r>
              <a:rPr lang="en-US" altLang="zh-CN" sz="2200" dirty="0">
                <a:solidFill>
                  <a:srgbClr val="000000"/>
                </a:solidFill>
                <a:latin typeface="微软雅黑" panose="020B0503020204020204" pitchFamily="34" charset="-122"/>
                <a:ea typeface="微软雅黑" panose="020B0503020204020204" pitchFamily="34" charset="-122"/>
              </a:rPr>
              <a:t>N</a:t>
            </a:r>
            <a:r>
              <a:rPr lang="zh-CN" altLang="en-US" sz="2200" dirty="0">
                <a:solidFill>
                  <a:srgbClr val="000000"/>
                </a:solidFill>
                <a:latin typeface="微软雅黑" panose="020B0503020204020204" pitchFamily="34" charset="-122"/>
                <a:ea typeface="微软雅黑" panose="020B0503020204020204" pitchFamily="34" charset="-122"/>
              </a:rPr>
              <a:t>个分类结果。而随机森林集成了</a:t>
            </a:r>
            <a:r>
              <a:rPr lang="zh-CN" altLang="en-US" sz="2200" dirty="0">
                <a:solidFill>
                  <a:srgbClr val="FF0000"/>
                </a:solidFill>
                <a:latin typeface="微软雅黑" panose="020B0503020204020204" pitchFamily="34" charset="-122"/>
                <a:ea typeface="微软雅黑" panose="020B0503020204020204" pitchFamily="34" charset="-122"/>
              </a:rPr>
              <a:t>所有的分类投票结果</a:t>
            </a:r>
            <a:r>
              <a:rPr lang="zh-CN" altLang="en-US" sz="2200" dirty="0">
                <a:solidFill>
                  <a:srgbClr val="000000"/>
                </a:solidFill>
                <a:latin typeface="微软雅黑" panose="020B0503020204020204" pitchFamily="34" charset="-122"/>
                <a:ea typeface="微软雅黑" panose="020B0503020204020204" pitchFamily="34" charset="-122"/>
              </a:rPr>
              <a:t>，将投票次数最多的类别指定为最终的输出。</a:t>
            </a:r>
            <a:endParaRPr lang="en-US" altLang="zh-CN" sz="22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矩形 3"/>
          <p:cNvSpPr/>
          <p:nvPr/>
        </p:nvSpPr>
        <p:spPr>
          <a:xfrm>
            <a:off x="1774826" y="1489076"/>
            <a:ext cx="8209607" cy="2554545"/>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2800"/>
              </a:lnSpc>
              <a:spcBef>
                <a:spcPct val="0"/>
              </a:spcBef>
              <a:spcAft>
                <a:spcPts val="1200"/>
              </a:spcAft>
              <a:buNone/>
            </a:pPr>
            <a:r>
              <a:rPr lang="zh-CN" altLang="en-US" sz="2400" dirty="0">
                <a:solidFill>
                  <a:srgbClr val="FF0000"/>
                </a:solidFill>
                <a:latin typeface="微软雅黑" panose="020B0503020204020204" pitchFamily="34" charset="-122"/>
                <a:ea typeface="微软雅黑" panose="020B0503020204020204" pitchFamily="34" charset="-122"/>
              </a:rPr>
              <a:t>每棵树的按照如下规则生成：</a:t>
            </a:r>
            <a:endParaRPr lang="en-US" altLang="zh-CN" sz="2400" dirty="0">
              <a:solidFill>
                <a:srgbClr val="FF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a.</a:t>
            </a:r>
            <a:r>
              <a:rPr lang="zh-CN" altLang="en-US" sz="2400" dirty="0">
                <a:solidFill>
                  <a:srgbClr val="000000"/>
                </a:solidFill>
                <a:latin typeface="微软雅黑" panose="020B0503020204020204" pitchFamily="34" charset="-122"/>
                <a:ea typeface="微软雅黑" panose="020B0503020204020204" pitchFamily="34" charset="-122"/>
              </a:rPr>
              <a:t> 给定一个训练样本集，数量为</a:t>
            </a:r>
            <a:r>
              <a:rPr lang="en-US" altLang="zh-CN" sz="2400" dirty="0">
                <a:solidFill>
                  <a:srgbClr val="000000"/>
                </a:solidFill>
                <a:latin typeface="微软雅黑" panose="020B0503020204020204" pitchFamily="34" charset="-122"/>
                <a:ea typeface="微软雅黑" panose="020B0503020204020204" pitchFamily="34" charset="-122"/>
              </a:rPr>
              <a:t>N</a:t>
            </a:r>
            <a:r>
              <a:rPr lang="zh-CN" altLang="en-US" sz="2400" dirty="0">
                <a:solidFill>
                  <a:srgbClr val="000000"/>
                </a:solidFill>
                <a:latin typeface="微软雅黑" panose="020B0503020204020204" pitchFamily="34" charset="-122"/>
                <a:ea typeface="微软雅黑" panose="020B0503020204020204" pitchFamily="34" charset="-122"/>
              </a:rPr>
              <a:t>，使用有放回采样到</a:t>
            </a:r>
            <a:r>
              <a:rPr lang="en-US" altLang="zh-CN" sz="2400" dirty="0">
                <a:solidFill>
                  <a:srgbClr val="000000"/>
                </a:solidFill>
                <a:latin typeface="微软雅黑" panose="020B0503020204020204" pitchFamily="34" charset="-122"/>
                <a:ea typeface="微软雅黑" panose="020B0503020204020204" pitchFamily="34" charset="-122"/>
              </a:rPr>
              <a:t>N</a:t>
            </a:r>
            <a:r>
              <a:rPr lang="zh-CN" altLang="en-US" sz="2400" dirty="0">
                <a:solidFill>
                  <a:srgbClr val="000000"/>
                </a:solidFill>
                <a:latin typeface="微软雅黑" panose="020B0503020204020204" pitchFamily="34" charset="-122"/>
                <a:ea typeface="微软雅黑" panose="020B0503020204020204" pitchFamily="34" charset="-122"/>
              </a:rPr>
              <a:t>个样本</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会采样到重复的样本</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构成一个新的训练集</a:t>
            </a:r>
            <a:r>
              <a:rPr lang="zh-CN" altLang="en-US" sz="2400" dirty="0">
                <a:solidFill>
                  <a:srgbClr val="000000"/>
                </a:solidFill>
                <a:latin typeface="微软雅黑" panose="020B0503020204020204" pitchFamily="34" charset="-122"/>
                <a:ea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b. </a:t>
            </a:r>
            <a:r>
              <a:rPr lang="zh-CN" altLang="en-US" sz="2400" dirty="0">
                <a:solidFill>
                  <a:srgbClr val="000000"/>
                </a:solidFill>
                <a:latin typeface="微软雅黑" panose="020B0503020204020204" pitchFamily="34" charset="-122"/>
                <a:ea typeface="微软雅黑" panose="020B0503020204020204" pitchFamily="34" charset="-122"/>
              </a:rPr>
              <a:t>从总量为</a:t>
            </a:r>
            <a:r>
              <a:rPr lang="en-US" altLang="zh-CN" sz="2400" dirty="0">
                <a:solidFill>
                  <a:srgbClr val="000000"/>
                </a:solidFill>
                <a:latin typeface="微软雅黑" panose="020B0503020204020204" pitchFamily="34" charset="-122"/>
                <a:ea typeface="微软雅黑" panose="020B0503020204020204" pitchFamily="34" charset="-122"/>
              </a:rPr>
              <a:t>M</a:t>
            </a:r>
            <a:r>
              <a:rPr lang="zh-CN" altLang="en-US" sz="2400" dirty="0">
                <a:solidFill>
                  <a:srgbClr val="000000"/>
                </a:solidFill>
                <a:latin typeface="微软雅黑" panose="020B0503020204020204" pitchFamily="34" charset="-122"/>
                <a:ea typeface="微软雅黑" panose="020B0503020204020204" pitchFamily="34" charset="-122"/>
              </a:rPr>
              <a:t>的特征向量中，随机选择</a:t>
            </a:r>
            <a:r>
              <a:rPr lang="en-US" altLang="zh-CN" sz="2400" dirty="0">
                <a:solidFill>
                  <a:srgbClr val="000000"/>
                </a:solidFill>
                <a:latin typeface="微软雅黑" panose="020B0503020204020204" pitchFamily="34" charset="-122"/>
                <a:ea typeface="微软雅黑" panose="020B0503020204020204" pitchFamily="34" charset="-122"/>
              </a:rPr>
              <a:t>m</a:t>
            </a:r>
            <a:r>
              <a:rPr lang="zh-CN" altLang="en-US" sz="2400" dirty="0">
                <a:solidFill>
                  <a:srgbClr val="000000"/>
                </a:solidFill>
                <a:latin typeface="微软雅黑" panose="020B0503020204020204" pitchFamily="34" charset="-122"/>
                <a:ea typeface="微软雅黑" panose="020B0503020204020204" pitchFamily="34" charset="-122"/>
              </a:rPr>
              <a:t>个特征（</a:t>
            </a:r>
            <a:r>
              <a:rPr lang="en-US" altLang="zh-CN" sz="2400" dirty="0">
                <a:solidFill>
                  <a:srgbClr val="000000"/>
                </a:solidFill>
                <a:latin typeface="微软雅黑" panose="020B0503020204020204" pitchFamily="34" charset="-122"/>
                <a:ea typeface="微软雅黑" panose="020B0503020204020204" pitchFamily="34" charset="-122"/>
              </a:rPr>
              <a:t>m&lt;M,</a:t>
            </a:r>
            <a:r>
              <a:rPr lang="zh-CN" altLang="en-US" sz="2400" dirty="0">
                <a:solidFill>
                  <a:srgbClr val="FF0000"/>
                </a:solidFill>
                <a:latin typeface="微软雅黑" panose="020B0503020204020204" pitchFamily="34" charset="-122"/>
                <a:ea typeface="微软雅黑" panose="020B0503020204020204" pitchFamily="34" charset="-122"/>
              </a:rPr>
              <a:t>无放回的选择</a:t>
            </a:r>
            <a:r>
              <a:rPr lang="zh-CN" altLang="en-US" sz="2400" dirty="0">
                <a:solidFill>
                  <a:srgbClr val="000000"/>
                </a:solidFill>
                <a:latin typeface="微软雅黑" panose="020B0503020204020204" pitchFamily="34" charset="-122"/>
                <a:ea typeface="微软雅黑" panose="020B0503020204020204" pitchFamily="34" charset="-122"/>
              </a:rPr>
              <a:t>），其中</a:t>
            </a:r>
            <a:r>
              <a:rPr lang="en-US" altLang="zh-CN" sz="2400" dirty="0">
                <a:solidFill>
                  <a:srgbClr val="000000"/>
                </a:solidFill>
                <a:latin typeface="微软雅黑" panose="020B0503020204020204" pitchFamily="34" charset="-122"/>
                <a:ea typeface="微软雅黑" panose="020B0503020204020204" pitchFamily="34" charset="-122"/>
              </a:rPr>
              <a:t>m</a:t>
            </a:r>
            <a:r>
              <a:rPr lang="zh-CN" altLang="en-US" sz="2400" dirty="0">
                <a:solidFill>
                  <a:srgbClr val="000000"/>
                </a:solidFill>
                <a:latin typeface="微软雅黑" panose="020B0503020204020204" pitchFamily="34" charset="-122"/>
                <a:ea typeface="微软雅黑" panose="020B0503020204020204" pitchFamily="34" charset="-122"/>
              </a:rPr>
              <a:t>可以等于  </a:t>
            </a:r>
            <a:r>
              <a:rPr lang="en-US" altLang="zh-CN" sz="2400" i="1" dirty="0">
                <a:solidFill>
                  <a:srgbClr val="000000"/>
                </a:solidFill>
                <a:latin typeface="微软雅黑" panose="020B0503020204020204" pitchFamily="34" charset="-122"/>
                <a:ea typeface="微软雅黑" panose="020B0503020204020204" pitchFamily="34" charset="-122"/>
              </a:rPr>
              <a:t>sqrt</a:t>
            </a:r>
            <a:r>
              <a:rPr lang="en-US" altLang="zh-CN" sz="2400" dirty="0">
                <a:solidFill>
                  <a:srgbClr val="000000"/>
                </a:solidFill>
                <a:latin typeface="微软雅黑" panose="020B0503020204020204" pitchFamily="34" charset="-122"/>
                <a:ea typeface="微软雅黑" panose="020B0503020204020204" pitchFamily="34" charset="-122"/>
              </a:rPr>
              <a:t>(</a:t>
            </a:r>
            <a:r>
              <a:rPr lang="en-US" altLang="zh-CN" sz="2400" i="1" dirty="0">
                <a:solidFill>
                  <a:srgbClr val="000000"/>
                </a:solidFill>
                <a:latin typeface="微软雅黑" panose="020B0503020204020204" pitchFamily="34" charset="-122"/>
                <a:ea typeface="微软雅黑" panose="020B0503020204020204" pitchFamily="34" charset="-122"/>
              </a:rPr>
              <a:t>M</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在整个森林的生长过程中， </a:t>
            </a:r>
            <a:r>
              <a:rPr lang="en-US" altLang="zh-CN" sz="2400" dirty="0">
                <a:solidFill>
                  <a:srgbClr val="FF0000"/>
                </a:solidFill>
                <a:latin typeface="微软雅黑" panose="020B0503020204020204" pitchFamily="34" charset="-122"/>
                <a:ea typeface="微软雅黑" panose="020B0503020204020204" pitchFamily="34" charset="-122"/>
              </a:rPr>
              <a:t>m</a:t>
            </a:r>
            <a:r>
              <a:rPr lang="zh-CN" altLang="en-US" sz="2400" dirty="0">
                <a:solidFill>
                  <a:srgbClr val="FF0000"/>
                </a:solidFill>
                <a:latin typeface="微软雅黑" panose="020B0503020204020204" pitchFamily="34" charset="-122"/>
                <a:ea typeface="微软雅黑" panose="020B0503020204020204" pitchFamily="34" charset="-122"/>
              </a:rPr>
              <a:t>的值一般维持不变</a:t>
            </a:r>
            <a:r>
              <a:rPr lang="zh-CN" altLang="en-US" sz="2400" dirty="0">
                <a:solidFill>
                  <a:srgbClr val="000000"/>
                </a:solidFill>
                <a:latin typeface="微软雅黑" panose="020B0503020204020204" pitchFamily="34" charset="-122"/>
                <a:ea typeface="微软雅黑" panose="020B0503020204020204" pitchFamily="34" charset="-122"/>
              </a:rPr>
              <a:t>）</a:t>
            </a:r>
          </a:p>
        </p:txBody>
      </p:sp>
      <p:sp>
        <p:nvSpPr>
          <p:cNvPr id="92163" name="Text Box 7"/>
          <p:cNvSpPr txBox="1"/>
          <p:nvPr/>
        </p:nvSpPr>
        <p:spPr>
          <a:xfrm>
            <a:off x="2179638" y="474663"/>
            <a:ext cx="4032250" cy="646112"/>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spcBef>
                <a:spcPct val="50000"/>
              </a:spcBef>
              <a:buNone/>
            </a:pPr>
            <a:r>
              <a:rPr lang="zh-CN" altLang="en-US" sz="3600" dirty="0">
                <a:solidFill>
                  <a:srgbClr val="FF0000"/>
                </a:solidFill>
                <a:latin typeface="Times New Roman" panose="02020603050405020304" pitchFamily="18" charset="0"/>
                <a:ea typeface="微软雅黑" panose="020B0503020204020204" pitchFamily="34" charset="-122"/>
              </a:rPr>
              <a:t>  </a:t>
            </a:r>
            <a:r>
              <a:rPr lang="zh-CN" altLang="en-US" dirty="0">
                <a:solidFill>
                  <a:srgbClr val="0D0D0D"/>
                </a:solidFill>
                <a:latin typeface="Times New Roman" panose="02020603050405020304" pitchFamily="18" charset="0"/>
                <a:ea typeface="微软雅黑" panose="020B0503020204020204" pitchFamily="34" charset="-122"/>
              </a:rPr>
              <a:t>随机森林的生成</a:t>
            </a:r>
          </a:p>
        </p:txBody>
      </p:sp>
      <p:sp>
        <p:nvSpPr>
          <p:cNvPr id="92164" name="矩形 3"/>
          <p:cNvSpPr/>
          <p:nvPr/>
        </p:nvSpPr>
        <p:spPr>
          <a:xfrm>
            <a:off x="1774825" y="4221089"/>
            <a:ext cx="7886700" cy="204158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c. </a:t>
            </a:r>
            <a:r>
              <a:rPr lang="zh-CN" altLang="en-US" sz="2400" dirty="0">
                <a:solidFill>
                  <a:srgbClr val="000000"/>
                </a:solidFill>
                <a:latin typeface="微软雅黑" panose="020B0503020204020204" pitchFamily="34" charset="-122"/>
                <a:ea typeface="微软雅黑" panose="020B0503020204020204" pitchFamily="34" charset="-122"/>
              </a:rPr>
              <a:t>有了上面随机产生的样本集，和随机选择特征方法，就可以使用一般决策树的构建方法，</a:t>
            </a:r>
            <a:r>
              <a:rPr lang="zh-CN" altLang="en-US" sz="2400" dirty="0">
                <a:solidFill>
                  <a:srgbClr val="FF0000"/>
                </a:solidFill>
                <a:latin typeface="微软雅黑" panose="020B0503020204020204" pitchFamily="34" charset="-122"/>
                <a:ea typeface="微软雅黑" panose="020B0503020204020204" pitchFamily="34" charset="-122"/>
              </a:rPr>
              <a:t>得到一棵分类（或者预测）的决策树</a:t>
            </a:r>
            <a:r>
              <a:rPr lang="zh-CN" altLang="en-US" sz="2400" dirty="0">
                <a:solidFill>
                  <a:srgbClr val="000000"/>
                </a:solidFill>
                <a:latin typeface="微软雅黑" panose="020B0503020204020204" pitchFamily="34" charset="-122"/>
                <a:ea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d. </a:t>
            </a:r>
            <a:r>
              <a:rPr lang="zh-CN" altLang="en-US" sz="2400" dirty="0">
                <a:solidFill>
                  <a:srgbClr val="FF0000"/>
                </a:solidFill>
                <a:latin typeface="微软雅黑" panose="020B0503020204020204" pitchFamily="34" charset="-122"/>
                <a:ea typeface="微软雅黑" panose="020B0503020204020204" pitchFamily="34" charset="-122"/>
              </a:rPr>
              <a:t>重复这样的过程</a:t>
            </a:r>
            <a:r>
              <a:rPr lang="en-US" altLang="zh-CN" sz="2400" dirty="0">
                <a:solidFill>
                  <a:srgbClr val="FF0000"/>
                </a:solidFill>
                <a:latin typeface="微软雅黑" panose="020B0503020204020204" pitchFamily="34" charset="-122"/>
                <a:ea typeface="微软雅黑" panose="020B0503020204020204" pitchFamily="34" charset="-122"/>
              </a:rPr>
              <a:t>H</a:t>
            </a:r>
            <a:r>
              <a:rPr lang="zh-CN" altLang="en-US" sz="2400" dirty="0">
                <a:solidFill>
                  <a:srgbClr val="FF0000"/>
                </a:solidFill>
                <a:latin typeface="微软雅黑" panose="020B0503020204020204" pitchFamily="34" charset="-122"/>
                <a:ea typeface="微软雅黑" panose="020B0503020204020204" pitchFamily="34" charset="-122"/>
              </a:rPr>
              <a:t>次</a:t>
            </a:r>
            <a:r>
              <a:rPr lang="zh-CN" altLang="en-US"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就得到了</a:t>
            </a:r>
            <a:r>
              <a:rPr lang="en-US" altLang="zh-CN" sz="2400" dirty="0">
                <a:solidFill>
                  <a:srgbClr val="FF0000"/>
                </a:solidFill>
                <a:latin typeface="微软雅黑" panose="020B0503020204020204" pitchFamily="34" charset="-122"/>
                <a:ea typeface="微软雅黑" panose="020B0503020204020204" pitchFamily="34" charset="-122"/>
              </a:rPr>
              <a:t>H</a:t>
            </a:r>
            <a:r>
              <a:rPr lang="zh-CN" altLang="en-US" sz="2400" dirty="0">
                <a:solidFill>
                  <a:srgbClr val="FF0000"/>
                </a:solidFill>
                <a:latin typeface="微软雅黑" panose="020B0503020204020204" pitchFamily="34" charset="-122"/>
                <a:ea typeface="微软雅黑" panose="020B0503020204020204" pitchFamily="34" charset="-122"/>
              </a:rPr>
              <a:t>棵决策树</a:t>
            </a:r>
            <a:r>
              <a:rPr lang="zh-CN" altLang="en-US" sz="2400" dirty="0">
                <a:solidFill>
                  <a:srgbClr val="000000"/>
                </a:solidFill>
                <a:latin typeface="微软雅黑" panose="020B0503020204020204" pitchFamily="34" charset="-122"/>
                <a:ea typeface="微软雅黑" panose="020B0503020204020204" pitchFamily="34" charset="-122"/>
              </a:rPr>
              <a:t>。形成一个随机森林</a:t>
            </a:r>
            <a:endParaRPr lang="en-US" altLang="zh-CN" sz="24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Text Box 7"/>
          <p:cNvSpPr txBox="1"/>
          <p:nvPr/>
        </p:nvSpPr>
        <p:spPr>
          <a:xfrm>
            <a:off x="2173288" y="476251"/>
            <a:ext cx="4032250" cy="646113"/>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spcBef>
                <a:spcPct val="50000"/>
              </a:spcBef>
              <a:buNone/>
            </a:pPr>
            <a:r>
              <a:rPr lang="zh-CN" altLang="en-US" sz="3600" dirty="0">
                <a:solidFill>
                  <a:srgbClr val="FF0000"/>
                </a:solidFill>
                <a:latin typeface="Times New Roman" panose="02020603050405020304" pitchFamily="18" charset="0"/>
                <a:ea typeface="微软雅黑" panose="020B0503020204020204" pitchFamily="34" charset="-122"/>
              </a:rPr>
              <a:t>  </a:t>
            </a:r>
            <a:r>
              <a:rPr lang="zh-CN" altLang="en-US" dirty="0">
                <a:solidFill>
                  <a:srgbClr val="0D0D0D"/>
                </a:solidFill>
                <a:latin typeface="Times New Roman" panose="02020603050405020304" pitchFamily="18" charset="0"/>
                <a:ea typeface="微软雅黑" panose="020B0503020204020204" pitchFamily="34" charset="-122"/>
              </a:rPr>
              <a:t>随机森林的生成</a:t>
            </a:r>
          </a:p>
        </p:txBody>
      </p:sp>
      <p:sp>
        <p:nvSpPr>
          <p:cNvPr id="66563" name="矩形 5"/>
          <p:cNvSpPr/>
          <p:nvPr/>
        </p:nvSpPr>
        <p:spPr>
          <a:xfrm>
            <a:off x="1919289" y="3933056"/>
            <a:ext cx="8237537" cy="2913618"/>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2800"/>
              </a:lnSpc>
              <a:spcBef>
                <a:spcPct val="0"/>
              </a:spcBef>
              <a:spcAft>
                <a:spcPts val="600"/>
              </a:spcAft>
              <a:buNone/>
            </a:pPr>
            <a:r>
              <a:rPr lang="zh-CN" altLang="en-US" sz="2400" dirty="0">
                <a:solidFill>
                  <a:srgbClr val="FF0000"/>
                </a:solidFill>
                <a:latin typeface="微软雅黑" panose="020B0503020204020204" pitchFamily="34" charset="-122"/>
                <a:ea typeface="微软雅黑" panose="020B0503020204020204" pitchFamily="34" charset="-122"/>
              </a:rPr>
              <a:t>随机森林分类效果（错误率）与两个因素有关：</a:t>
            </a:r>
          </a:p>
          <a:p>
            <a:pPr marL="0" indent="0" latinLnBrk="0">
              <a:lnSpc>
                <a:spcPts val="2800"/>
              </a:lnSpc>
              <a:spcBef>
                <a:spcPct val="0"/>
              </a:spcBef>
              <a:spcAft>
                <a:spcPts val="600"/>
              </a:spcAft>
              <a:buNone/>
            </a:pPr>
            <a:r>
              <a:rPr lang="en-US" altLang="zh-CN" sz="2400" dirty="0">
                <a:solidFill>
                  <a:srgbClr val="000000"/>
                </a:solidFill>
                <a:latin typeface="微软雅黑" panose="020B0503020204020204" pitchFamily="34" charset="-122"/>
                <a:ea typeface="微软雅黑" panose="020B0503020204020204" pitchFamily="34" charset="-122"/>
              </a:rPr>
              <a:t>1.</a:t>
            </a:r>
            <a:r>
              <a:rPr lang="zh-CN" altLang="en-US" sz="2400" dirty="0">
                <a:solidFill>
                  <a:srgbClr val="000000"/>
                </a:solidFill>
                <a:latin typeface="微软雅黑" panose="020B0503020204020204" pitchFamily="34" charset="-122"/>
                <a:ea typeface="微软雅黑" panose="020B0503020204020204" pitchFamily="34" charset="-122"/>
              </a:rPr>
              <a:t>森林中任意两棵树的相关性：</a:t>
            </a:r>
            <a:r>
              <a:rPr lang="zh-CN" altLang="en-US" sz="2400" dirty="0">
                <a:solidFill>
                  <a:srgbClr val="FF0000"/>
                </a:solidFill>
                <a:latin typeface="微软雅黑" panose="020B0503020204020204" pitchFamily="34" charset="-122"/>
                <a:ea typeface="微软雅黑" panose="020B0503020204020204" pitchFamily="34" charset="-122"/>
              </a:rPr>
              <a:t>相关性越大，错误率越大；</a:t>
            </a:r>
          </a:p>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2.</a:t>
            </a:r>
            <a:r>
              <a:rPr lang="zh-CN" altLang="en-US" sz="2400" dirty="0">
                <a:solidFill>
                  <a:srgbClr val="000000"/>
                </a:solidFill>
                <a:latin typeface="微软雅黑" panose="020B0503020204020204" pitchFamily="34" charset="-122"/>
                <a:ea typeface="微软雅黑" panose="020B0503020204020204" pitchFamily="34" charset="-122"/>
              </a:rPr>
              <a:t>森林中每棵树的能力：</a:t>
            </a:r>
            <a:r>
              <a:rPr lang="zh-CN" altLang="en-US" sz="2400" dirty="0">
                <a:solidFill>
                  <a:srgbClr val="FF0000"/>
                </a:solidFill>
                <a:latin typeface="微软雅黑" panose="020B0503020204020204" pitchFamily="34" charset="-122"/>
                <a:ea typeface="微软雅黑" panose="020B0503020204020204" pitchFamily="34" charset="-122"/>
              </a:rPr>
              <a:t>每棵树能力越强，整个森林的错误率越低</a:t>
            </a:r>
            <a:endParaRPr lang="en-US" altLang="zh-CN" sz="2400" dirty="0">
              <a:solidFill>
                <a:srgbClr val="FF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zh-CN" altLang="en-US" sz="2400" dirty="0">
                <a:solidFill>
                  <a:srgbClr val="000000"/>
                </a:solidFill>
                <a:latin typeface="微软雅黑" panose="020B0503020204020204" pitchFamily="34" charset="-122"/>
                <a:ea typeface="微软雅黑" panose="020B0503020204020204" pitchFamily="34" charset="-122"/>
              </a:rPr>
              <a:t>减小特征数</a:t>
            </a:r>
            <a:r>
              <a:rPr lang="en-US" altLang="zh-CN" sz="2400" dirty="0">
                <a:solidFill>
                  <a:srgbClr val="000000"/>
                </a:solidFill>
                <a:latin typeface="微软雅黑" panose="020B0503020204020204" pitchFamily="34" charset="-122"/>
                <a:ea typeface="微软雅黑" panose="020B0503020204020204" pitchFamily="34" charset="-122"/>
              </a:rPr>
              <a:t>m</a:t>
            </a:r>
            <a:r>
              <a:rPr lang="zh-CN" altLang="en-US" sz="2400" dirty="0">
                <a:solidFill>
                  <a:srgbClr val="000000"/>
                </a:solidFill>
                <a:latin typeface="微软雅黑" panose="020B0503020204020204" pitchFamily="34" charset="-122"/>
                <a:ea typeface="微软雅黑" panose="020B0503020204020204" pitchFamily="34" charset="-122"/>
              </a:rPr>
              <a:t>，树的相关性和分类能力也会相应的降低；增大</a:t>
            </a:r>
            <a:r>
              <a:rPr lang="en-US" altLang="zh-CN" sz="2400" dirty="0">
                <a:solidFill>
                  <a:srgbClr val="000000"/>
                </a:solidFill>
                <a:latin typeface="微软雅黑" panose="020B0503020204020204" pitchFamily="34" charset="-122"/>
                <a:ea typeface="微软雅黑" panose="020B0503020204020204" pitchFamily="34" charset="-122"/>
              </a:rPr>
              <a:t>m</a:t>
            </a:r>
            <a:r>
              <a:rPr lang="zh-CN" altLang="en-US" sz="2400" dirty="0">
                <a:solidFill>
                  <a:srgbClr val="000000"/>
                </a:solidFill>
                <a:latin typeface="微软雅黑" panose="020B0503020204020204" pitchFamily="34" charset="-122"/>
                <a:ea typeface="微软雅黑" panose="020B0503020204020204" pitchFamily="34" charset="-122"/>
              </a:rPr>
              <a:t>，两者也会随之增大。所以关键问题是如何选择最优的</a:t>
            </a:r>
            <a:r>
              <a:rPr lang="en-US" altLang="zh-CN" sz="2400" dirty="0">
                <a:solidFill>
                  <a:srgbClr val="000000"/>
                </a:solidFill>
                <a:latin typeface="微软雅黑" panose="020B0503020204020204" pitchFamily="34" charset="-122"/>
                <a:ea typeface="微软雅黑" panose="020B0503020204020204" pitchFamily="34" charset="-122"/>
              </a:rPr>
              <a:t>m</a:t>
            </a:r>
            <a:r>
              <a:rPr lang="zh-CN" altLang="en-US" sz="2400" dirty="0">
                <a:solidFill>
                  <a:srgbClr val="000000"/>
                </a:solidFill>
                <a:latin typeface="微软雅黑" panose="020B0503020204020204" pitchFamily="34" charset="-122"/>
                <a:ea typeface="微软雅黑" panose="020B0503020204020204" pitchFamily="34" charset="-122"/>
              </a:rPr>
              <a:t>（或者是范围），这也是随机森林唯一的一个参数。</a:t>
            </a:r>
            <a:endParaRPr lang="en-US" altLang="zh-CN" sz="2400" dirty="0">
              <a:solidFill>
                <a:srgbClr val="000000"/>
              </a:solidFill>
              <a:latin typeface="微软雅黑" panose="020B0503020204020204" pitchFamily="34" charset="-122"/>
              <a:ea typeface="微软雅黑" panose="020B0503020204020204" pitchFamily="34" charset="-122"/>
            </a:endParaRPr>
          </a:p>
        </p:txBody>
      </p:sp>
      <p:sp>
        <p:nvSpPr>
          <p:cNvPr id="94212" name="矩形 5"/>
          <p:cNvSpPr/>
          <p:nvPr/>
        </p:nvSpPr>
        <p:spPr>
          <a:xfrm>
            <a:off x="1951039" y="1308344"/>
            <a:ext cx="8510587" cy="255454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2800"/>
              </a:lnSpc>
              <a:spcBef>
                <a:spcPct val="0"/>
              </a:spcBef>
              <a:spcAft>
                <a:spcPts val="1200"/>
              </a:spcAft>
              <a:buNone/>
            </a:pPr>
            <a:r>
              <a:rPr lang="zh-CN" altLang="en-US" sz="2400" dirty="0">
                <a:solidFill>
                  <a:srgbClr val="FF0000"/>
                </a:solidFill>
                <a:latin typeface="微软雅黑" panose="020B0503020204020204" pitchFamily="34" charset="-122"/>
                <a:ea typeface="微软雅黑" panose="020B0503020204020204" pitchFamily="34" charset="-122"/>
              </a:rPr>
              <a:t>为什么要有放回地抽样？</a:t>
            </a:r>
            <a:endParaRPr lang="en-US" altLang="zh-CN" sz="2400" dirty="0">
              <a:solidFill>
                <a:srgbClr val="FF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zh-CN" altLang="en-US" sz="2400" dirty="0">
                <a:solidFill>
                  <a:srgbClr val="000000"/>
                </a:solidFill>
                <a:latin typeface="微软雅黑" panose="020B0503020204020204" pitchFamily="34" charset="-122"/>
                <a:ea typeface="微软雅黑" panose="020B0503020204020204" pitchFamily="34" charset="-122"/>
              </a:rPr>
              <a:t>如果不是有放回的抽样，</a:t>
            </a:r>
            <a:r>
              <a:rPr lang="zh-CN" altLang="en-US" sz="2400" dirty="0">
                <a:solidFill>
                  <a:srgbClr val="FF0000"/>
                </a:solidFill>
                <a:latin typeface="微软雅黑" panose="020B0503020204020204" pitchFamily="34" charset="-122"/>
                <a:ea typeface="微软雅黑" panose="020B0503020204020204" pitchFamily="34" charset="-122"/>
              </a:rPr>
              <a:t>那么每棵树的训练样本都是不同的</a:t>
            </a:r>
            <a:r>
              <a:rPr lang="zh-CN" altLang="en-US" sz="2400" dirty="0">
                <a:solidFill>
                  <a:srgbClr val="000000"/>
                </a:solidFill>
                <a:latin typeface="微软雅黑" panose="020B0503020204020204" pitchFamily="34" charset="-122"/>
                <a:ea typeface="微软雅黑" panose="020B0503020204020204" pitchFamily="34" charset="-122"/>
              </a:rPr>
              <a:t>，这样每棵树都是</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片面的</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，模型之间有很大的差异；</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zh-CN" altLang="en-US" sz="2400" dirty="0">
                <a:solidFill>
                  <a:srgbClr val="000000"/>
                </a:solidFill>
                <a:latin typeface="微软雅黑" panose="020B0503020204020204" pitchFamily="34" charset="-122"/>
                <a:ea typeface="微软雅黑" panose="020B0503020204020204" pitchFamily="34" charset="-122"/>
              </a:rPr>
              <a:t>而随机森林最后分类</a:t>
            </a:r>
            <a:r>
              <a:rPr lang="zh-CN" altLang="en-US" sz="2400" dirty="0">
                <a:solidFill>
                  <a:srgbClr val="FF0000"/>
                </a:solidFill>
                <a:latin typeface="微软雅黑" panose="020B0503020204020204" pitchFamily="34" charset="-122"/>
                <a:ea typeface="微软雅黑" panose="020B0503020204020204" pitchFamily="34" charset="-122"/>
              </a:rPr>
              <a:t>取决于多棵树（弱分类器）的投票表决</a:t>
            </a:r>
            <a:r>
              <a:rPr lang="zh-CN" altLang="en-US" sz="2400" dirty="0">
                <a:solidFill>
                  <a:srgbClr val="000000"/>
                </a:solidFill>
                <a:latin typeface="微软雅黑" panose="020B0503020204020204" pitchFamily="34" charset="-122"/>
                <a:ea typeface="微软雅黑" panose="020B0503020204020204" pitchFamily="34" charset="-122"/>
              </a:rPr>
              <a:t>，这种表决应该是</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求同</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，因此上述过程得到的多棵树对最终分类结果没有帮助</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58" name="Text Box 7"/>
          <p:cNvSpPr txBox="1"/>
          <p:nvPr/>
        </p:nvSpPr>
        <p:spPr>
          <a:xfrm>
            <a:off x="2232025" y="487363"/>
            <a:ext cx="5111750" cy="646112"/>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spcBef>
                <a:spcPct val="50000"/>
              </a:spcBef>
              <a:buNone/>
            </a:pPr>
            <a:r>
              <a:rPr lang="zh-CN" altLang="en-US" sz="3600" dirty="0">
                <a:solidFill>
                  <a:srgbClr val="FF0000"/>
                </a:solidFill>
                <a:latin typeface="Times New Roman" panose="02020603050405020304" pitchFamily="18" charset="0"/>
                <a:ea typeface="微软雅黑" panose="020B0503020204020204" pitchFamily="34" charset="-122"/>
              </a:rPr>
              <a:t>  </a:t>
            </a:r>
            <a:r>
              <a:rPr lang="zh-CN" altLang="en-US" dirty="0">
                <a:solidFill>
                  <a:srgbClr val="0D0D0D"/>
                </a:solidFill>
                <a:latin typeface="Times New Roman" panose="02020603050405020304" pitchFamily="18" charset="0"/>
                <a:ea typeface="微软雅黑" panose="020B0503020204020204" pitchFamily="34" charset="-122"/>
              </a:rPr>
              <a:t>袋外错误率（</a:t>
            </a:r>
            <a:r>
              <a:rPr lang="en-US" altLang="zh-CN" dirty="0">
                <a:solidFill>
                  <a:srgbClr val="0D0D0D"/>
                </a:solidFill>
                <a:latin typeface="Times New Roman" panose="02020603050405020304" pitchFamily="18" charset="0"/>
                <a:ea typeface="微软雅黑" panose="020B0503020204020204" pitchFamily="34" charset="-122"/>
              </a:rPr>
              <a:t>OOB error</a:t>
            </a:r>
            <a:r>
              <a:rPr lang="zh-CN" altLang="en-US" dirty="0">
                <a:solidFill>
                  <a:srgbClr val="0D0D0D"/>
                </a:solidFill>
                <a:latin typeface="Times New Roman" panose="02020603050405020304" pitchFamily="18" charset="0"/>
                <a:ea typeface="微软雅黑" panose="020B0503020204020204" pitchFamily="34" charset="-122"/>
              </a:rPr>
              <a:t>）</a:t>
            </a:r>
          </a:p>
        </p:txBody>
      </p:sp>
      <p:sp>
        <p:nvSpPr>
          <p:cNvPr id="96259" name="矩形 5"/>
          <p:cNvSpPr/>
          <p:nvPr/>
        </p:nvSpPr>
        <p:spPr>
          <a:xfrm>
            <a:off x="2063750" y="1700213"/>
            <a:ext cx="7886700" cy="4505208"/>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ct val="120000"/>
              </a:lnSpc>
              <a:spcBef>
                <a:spcPct val="0"/>
              </a:spcBef>
              <a:spcAft>
                <a:spcPts val="1200"/>
              </a:spcAft>
              <a:buNone/>
            </a:pPr>
            <a:r>
              <a:rPr lang="zh-CN" altLang="en-US" sz="2400" dirty="0">
                <a:solidFill>
                  <a:srgbClr val="FF0000"/>
                </a:solidFill>
                <a:latin typeface="微软雅黑" panose="020B0503020204020204" pitchFamily="34" charset="-122"/>
                <a:ea typeface="微软雅黑" panose="020B0503020204020204" pitchFamily="34" charset="-122"/>
              </a:rPr>
              <a:t>如何选择最优的</a:t>
            </a:r>
            <a:r>
              <a:rPr lang="en-US" altLang="zh-CN" sz="2400" dirty="0">
                <a:solidFill>
                  <a:srgbClr val="FF0000"/>
                </a:solidFill>
                <a:latin typeface="微软雅黑" panose="020B0503020204020204" pitchFamily="34" charset="-122"/>
                <a:ea typeface="微软雅黑" panose="020B0503020204020204" pitchFamily="34" charset="-122"/>
              </a:rPr>
              <a:t>m——</a:t>
            </a:r>
            <a:r>
              <a:rPr lang="zh-CN" altLang="en-US" sz="2400" dirty="0">
                <a:solidFill>
                  <a:srgbClr val="FF0000"/>
                </a:solidFill>
                <a:latin typeface="微软雅黑" panose="020B0503020204020204" pitchFamily="34" charset="-122"/>
                <a:ea typeface="微软雅黑" panose="020B0503020204020204" pitchFamily="34" charset="-122"/>
              </a:rPr>
              <a:t>计算袋外错误率。</a:t>
            </a:r>
            <a:endParaRPr lang="zh-CN" altLang="en-US" sz="2400" dirty="0">
              <a:solidFill>
                <a:srgbClr val="000000"/>
              </a:solidFill>
              <a:latin typeface="微软雅黑" panose="020B0503020204020204" pitchFamily="34" charset="-122"/>
              <a:ea typeface="微软雅黑" panose="020B0503020204020204" pitchFamily="34" charset="-122"/>
            </a:endParaRPr>
          </a:p>
          <a:p>
            <a:pPr marL="0" indent="0" latinLnBrk="0">
              <a:lnSpc>
                <a:spcPct val="120000"/>
              </a:lnSpc>
              <a:spcBef>
                <a:spcPct val="0"/>
              </a:spcBef>
              <a:spcAft>
                <a:spcPts val="2400"/>
              </a:spcAft>
              <a:buNone/>
            </a:pPr>
            <a:r>
              <a:rPr lang="zh-CN" altLang="en-US" sz="2400" dirty="0">
                <a:solidFill>
                  <a:srgbClr val="000000"/>
                </a:solidFill>
                <a:latin typeface="微软雅黑" panose="020B0503020204020204" pitchFamily="34" charset="-122"/>
                <a:ea typeface="微软雅黑" panose="020B0503020204020204" pitchFamily="34" charset="-122"/>
              </a:rPr>
              <a:t>　　随机森林有一个</a:t>
            </a:r>
            <a:r>
              <a:rPr lang="zh-CN" altLang="en-US" sz="2400" dirty="0">
                <a:solidFill>
                  <a:srgbClr val="FF0000"/>
                </a:solidFill>
                <a:latin typeface="微软雅黑" panose="020B0503020204020204" pitchFamily="34" charset="-122"/>
                <a:ea typeface="微软雅黑" panose="020B0503020204020204" pitchFamily="34" charset="-122"/>
              </a:rPr>
              <a:t>重要的优点</a:t>
            </a:r>
            <a:r>
              <a:rPr lang="zh-CN" altLang="en-US" sz="2400" dirty="0">
                <a:solidFill>
                  <a:srgbClr val="000000"/>
                </a:solidFill>
                <a:latin typeface="微软雅黑" panose="020B0503020204020204" pitchFamily="34" charset="-122"/>
                <a:ea typeface="微软雅黑" panose="020B0503020204020204" pitchFamily="34" charset="-122"/>
              </a:rPr>
              <a:t>就是，</a:t>
            </a:r>
            <a:r>
              <a:rPr lang="zh-CN" altLang="en-US" sz="2400" dirty="0">
                <a:solidFill>
                  <a:srgbClr val="FF0000"/>
                </a:solidFill>
                <a:latin typeface="微软雅黑" panose="020B0503020204020204" pitchFamily="34" charset="-122"/>
                <a:ea typeface="微软雅黑" panose="020B0503020204020204" pitchFamily="34" charset="-122"/>
              </a:rPr>
              <a:t>没有必要对它进行交叉验证或者用一个独立的测试集来获得误差的一个无偏估计</a:t>
            </a:r>
            <a:r>
              <a:rPr lang="zh-CN" altLang="en-US" sz="2400" dirty="0">
                <a:solidFill>
                  <a:srgbClr val="000000"/>
                </a:solidFill>
                <a:latin typeface="微软雅黑" panose="020B0503020204020204" pitchFamily="34" charset="-122"/>
                <a:ea typeface="微软雅黑" panose="020B0503020204020204" pitchFamily="34" charset="-122"/>
              </a:rPr>
              <a:t>。它可以在内部进行评估，也就是说在生成的过程中就可以对误差建立一个无偏估计。</a:t>
            </a:r>
          </a:p>
          <a:p>
            <a:pPr marL="0" indent="0" latinLnBrk="0">
              <a:lnSpc>
                <a:spcPct val="120000"/>
              </a:lnSpc>
              <a:spcBef>
                <a:spcPct val="0"/>
              </a:spcBef>
              <a:spcAft>
                <a:spcPts val="2400"/>
              </a:spcAft>
              <a:buNone/>
            </a:pPr>
            <a:r>
              <a:rPr lang="zh-CN" altLang="en-US" sz="2400" dirty="0">
                <a:solidFill>
                  <a:srgbClr val="000000"/>
                </a:solidFill>
                <a:latin typeface="微软雅黑" panose="020B0503020204020204" pitchFamily="34" charset="-122"/>
                <a:ea typeface="微软雅黑" panose="020B0503020204020204" pitchFamily="34" charset="-122"/>
              </a:rPr>
              <a:t>　　在构建每棵树时采用 </a:t>
            </a:r>
            <a:r>
              <a:rPr lang="en-US" altLang="zh-CN" sz="2400" dirty="0">
                <a:solidFill>
                  <a:srgbClr val="000000"/>
                </a:solidFill>
                <a:latin typeface="微软雅黑" panose="020B0503020204020204" pitchFamily="34" charset="-122"/>
                <a:ea typeface="微软雅黑" panose="020B0503020204020204" pitchFamily="34" charset="-122"/>
              </a:rPr>
              <a:t>bootstrap sample</a:t>
            </a:r>
            <a:r>
              <a:rPr lang="zh-CN" altLang="en-US" sz="2400" dirty="0">
                <a:solidFill>
                  <a:srgbClr val="000000"/>
                </a:solidFill>
                <a:latin typeface="微软雅黑" panose="020B0503020204020204" pitchFamily="34" charset="-122"/>
                <a:ea typeface="微软雅黑" panose="020B0503020204020204" pitchFamily="34" charset="-122"/>
              </a:rPr>
              <a:t>（随机且有放回地抽取）。所以对于第</a:t>
            </a:r>
            <a:r>
              <a:rPr lang="en-US" altLang="zh-CN" sz="2400" dirty="0">
                <a:solidFill>
                  <a:srgbClr val="000000"/>
                </a:solidFill>
                <a:latin typeface="微软雅黑" panose="020B0503020204020204" pitchFamily="34" charset="-122"/>
                <a:ea typeface="微软雅黑" panose="020B0503020204020204" pitchFamily="34" charset="-122"/>
              </a:rPr>
              <a:t>k</a:t>
            </a:r>
            <a:r>
              <a:rPr lang="zh-CN" altLang="en-US" sz="2400" dirty="0">
                <a:solidFill>
                  <a:srgbClr val="000000"/>
                </a:solidFill>
                <a:latin typeface="微软雅黑" panose="020B0503020204020204" pitchFamily="34" charset="-122"/>
                <a:ea typeface="微软雅黑" panose="020B0503020204020204" pitchFamily="34" charset="-122"/>
              </a:rPr>
              <a:t>棵树而言，大约有</a:t>
            </a:r>
            <a:r>
              <a:rPr lang="en-US" altLang="zh-CN" sz="2400" dirty="0">
                <a:solidFill>
                  <a:srgbClr val="000000"/>
                </a:solidFill>
                <a:latin typeface="微软雅黑" panose="020B0503020204020204" pitchFamily="34" charset="-122"/>
                <a:ea typeface="微软雅黑" panose="020B0503020204020204" pitchFamily="34" charset="-122"/>
              </a:rPr>
              <a:t>1/3</a:t>
            </a:r>
            <a:r>
              <a:rPr lang="zh-CN" altLang="en-US" sz="2400" dirty="0">
                <a:solidFill>
                  <a:srgbClr val="000000"/>
                </a:solidFill>
                <a:latin typeface="微软雅黑" panose="020B0503020204020204" pitchFamily="34" charset="-122"/>
                <a:ea typeface="微软雅黑" panose="020B0503020204020204" pitchFamily="34" charset="-122"/>
              </a:rPr>
              <a:t>的训练实例没有参与第</a:t>
            </a:r>
            <a:r>
              <a:rPr lang="en-US" altLang="zh-CN" sz="2400" dirty="0">
                <a:solidFill>
                  <a:srgbClr val="000000"/>
                </a:solidFill>
                <a:latin typeface="微软雅黑" panose="020B0503020204020204" pitchFamily="34" charset="-122"/>
                <a:ea typeface="微软雅黑" panose="020B0503020204020204" pitchFamily="34" charset="-122"/>
              </a:rPr>
              <a:t>k</a:t>
            </a:r>
            <a:r>
              <a:rPr lang="zh-CN" altLang="en-US" sz="2400" dirty="0">
                <a:solidFill>
                  <a:srgbClr val="000000"/>
                </a:solidFill>
                <a:latin typeface="微软雅黑" panose="020B0503020204020204" pitchFamily="34" charset="-122"/>
                <a:ea typeface="微软雅黑" panose="020B0503020204020204" pitchFamily="34" charset="-122"/>
              </a:rPr>
              <a:t>棵树的生成，它们称为第</a:t>
            </a:r>
            <a:r>
              <a:rPr lang="en-US" altLang="zh-CN" sz="2400" dirty="0">
                <a:solidFill>
                  <a:srgbClr val="000000"/>
                </a:solidFill>
                <a:latin typeface="微软雅黑" panose="020B0503020204020204" pitchFamily="34" charset="-122"/>
                <a:ea typeface="微软雅黑" panose="020B0503020204020204" pitchFamily="34" charset="-122"/>
              </a:rPr>
              <a:t>k</a:t>
            </a:r>
            <a:r>
              <a:rPr lang="zh-CN" altLang="en-US" sz="2400" dirty="0">
                <a:solidFill>
                  <a:srgbClr val="000000"/>
                </a:solidFill>
                <a:latin typeface="微软雅黑" panose="020B0503020204020204" pitchFamily="34" charset="-122"/>
                <a:ea typeface="微软雅黑" panose="020B0503020204020204" pitchFamily="34" charset="-122"/>
              </a:rPr>
              <a:t>棵树的袋外样本数据。</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Text Box 7"/>
          <p:cNvSpPr txBox="1"/>
          <p:nvPr/>
        </p:nvSpPr>
        <p:spPr>
          <a:xfrm>
            <a:off x="2424113" y="620713"/>
            <a:ext cx="5111750" cy="646112"/>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spcBef>
                <a:spcPct val="50000"/>
              </a:spcBef>
              <a:buNone/>
            </a:pPr>
            <a:r>
              <a:rPr lang="zh-CN" altLang="en-US" sz="3600" dirty="0">
                <a:solidFill>
                  <a:srgbClr val="FF0000"/>
                </a:solidFill>
                <a:latin typeface="Times New Roman" panose="02020603050405020304" pitchFamily="18" charset="0"/>
                <a:ea typeface="微软雅黑" panose="020B0503020204020204" pitchFamily="34" charset="-122"/>
              </a:rPr>
              <a:t>  </a:t>
            </a:r>
            <a:r>
              <a:rPr lang="zh-CN" altLang="en-US" dirty="0">
                <a:solidFill>
                  <a:srgbClr val="0D0D0D"/>
                </a:solidFill>
                <a:latin typeface="Times New Roman" panose="02020603050405020304" pitchFamily="18" charset="0"/>
                <a:ea typeface="微软雅黑" panose="020B0503020204020204" pitchFamily="34" charset="-122"/>
              </a:rPr>
              <a:t>袋外错误率（</a:t>
            </a:r>
            <a:r>
              <a:rPr lang="en-US" altLang="zh-CN" dirty="0">
                <a:solidFill>
                  <a:srgbClr val="0D0D0D"/>
                </a:solidFill>
                <a:latin typeface="Times New Roman" panose="02020603050405020304" pitchFamily="18" charset="0"/>
                <a:ea typeface="微软雅黑" panose="020B0503020204020204" pitchFamily="34" charset="-122"/>
              </a:rPr>
              <a:t>OOB error</a:t>
            </a:r>
            <a:r>
              <a:rPr lang="zh-CN" altLang="en-US" dirty="0">
                <a:solidFill>
                  <a:srgbClr val="0D0D0D"/>
                </a:solidFill>
                <a:latin typeface="Times New Roman" panose="02020603050405020304" pitchFamily="18" charset="0"/>
                <a:ea typeface="微软雅黑" panose="020B0503020204020204" pitchFamily="34" charset="-122"/>
              </a:rPr>
              <a:t>）</a:t>
            </a:r>
          </a:p>
        </p:txBody>
      </p:sp>
      <p:sp>
        <p:nvSpPr>
          <p:cNvPr id="98307" name="矩形 5"/>
          <p:cNvSpPr/>
          <p:nvPr/>
        </p:nvSpPr>
        <p:spPr>
          <a:xfrm>
            <a:off x="1919288" y="1484313"/>
            <a:ext cx="8497887" cy="2751522"/>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ct val="120000"/>
              </a:lnSpc>
              <a:spcBef>
                <a:spcPct val="0"/>
              </a:spcBef>
              <a:spcAft>
                <a:spcPts val="0"/>
              </a:spcAft>
              <a:buNone/>
            </a:pPr>
            <a:r>
              <a:rPr lang="zh-CN" altLang="en-US" sz="2400" dirty="0">
                <a:solidFill>
                  <a:srgbClr val="000000"/>
                </a:solidFill>
                <a:latin typeface="微软雅黑" panose="020B0503020204020204" pitchFamily="34" charset="-122"/>
                <a:ea typeface="微软雅黑" panose="020B0503020204020204" pitchFamily="34" charset="-122"/>
              </a:rPr>
              <a:t>而这样的采样特点就允许进行袋外估计，它的计算方式如下：</a:t>
            </a:r>
          </a:p>
          <a:p>
            <a:pPr marL="0" indent="0" latinLnBrk="0">
              <a:lnSpc>
                <a:spcPct val="120000"/>
              </a:lnSpc>
              <a:spcBef>
                <a:spcPct val="0"/>
              </a:spcBef>
              <a:spcAft>
                <a:spcPts val="0"/>
              </a:spcAft>
              <a:buNone/>
            </a:pPr>
            <a:r>
              <a:rPr lang="en-US" altLang="zh-CN" sz="2400" dirty="0">
                <a:solidFill>
                  <a:srgbClr val="000000"/>
                </a:solidFill>
                <a:latin typeface="微软雅黑" panose="020B0503020204020204" pitchFamily="34" charset="-122"/>
                <a:ea typeface="微软雅黑" panose="020B0503020204020204" pitchFamily="34" charset="-122"/>
              </a:rPr>
              <a:t>a. </a:t>
            </a:r>
            <a:r>
              <a:rPr lang="zh-CN" altLang="en-US" sz="2400" dirty="0">
                <a:solidFill>
                  <a:srgbClr val="000000"/>
                </a:solidFill>
                <a:latin typeface="微软雅黑" panose="020B0503020204020204" pitchFamily="34" charset="-122"/>
                <a:ea typeface="微软雅黑" panose="020B0503020204020204" pitchFamily="34" charset="-122"/>
              </a:rPr>
              <a:t>对每个样本，计算它作为袋外样本的树对它的分类情况（约</a:t>
            </a:r>
            <a:r>
              <a:rPr lang="en-US" altLang="zh-CN" sz="2400" dirty="0">
                <a:solidFill>
                  <a:srgbClr val="000000"/>
                </a:solidFill>
                <a:latin typeface="微软雅黑" panose="020B0503020204020204" pitchFamily="34" charset="-122"/>
                <a:ea typeface="微软雅黑" panose="020B0503020204020204" pitchFamily="34" charset="-122"/>
              </a:rPr>
              <a:t>1/3</a:t>
            </a:r>
            <a:r>
              <a:rPr lang="zh-CN" altLang="en-US" sz="2400" dirty="0">
                <a:solidFill>
                  <a:srgbClr val="000000"/>
                </a:solidFill>
                <a:latin typeface="微软雅黑" panose="020B0503020204020204" pitchFamily="34" charset="-122"/>
                <a:ea typeface="微软雅黑" panose="020B0503020204020204" pitchFamily="34" charset="-122"/>
              </a:rPr>
              <a:t>的树）；</a:t>
            </a:r>
          </a:p>
          <a:p>
            <a:pPr marL="0" indent="0" latinLnBrk="0">
              <a:lnSpc>
                <a:spcPct val="120000"/>
              </a:lnSpc>
              <a:spcBef>
                <a:spcPct val="0"/>
              </a:spcBef>
              <a:spcAft>
                <a:spcPts val="0"/>
              </a:spcAft>
              <a:buNone/>
            </a:pPr>
            <a:r>
              <a:rPr lang="en-US" altLang="zh-CN" sz="2400" dirty="0">
                <a:solidFill>
                  <a:srgbClr val="000000"/>
                </a:solidFill>
                <a:latin typeface="微软雅黑" panose="020B0503020204020204" pitchFamily="34" charset="-122"/>
                <a:ea typeface="微软雅黑" panose="020B0503020204020204" pitchFamily="34" charset="-122"/>
              </a:rPr>
              <a:t>b. </a:t>
            </a:r>
            <a:r>
              <a:rPr lang="zh-CN" altLang="en-US" sz="2400" dirty="0">
                <a:solidFill>
                  <a:srgbClr val="000000"/>
                </a:solidFill>
                <a:latin typeface="微软雅黑" panose="020B0503020204020204" pitchFamily="34" charset="-122"/>
                <a:ea typeface="微软雅黑" panose="020B0503020204020204" pitchFamily="34" charset="-122"/>
              </a:rPr>
              <a:t>然后</a:t>
            </a:r>
            <a:r>
              <a:rPr lang="zh-CN" altLang="en-US" sz="2400" dirty="0">
                <a:solidFill>
                  <a:srgbClr val="FF0000"/>
                </a:solidFill>
                <a:latin typeface="微软雅黑" panose="020B0503020204020204" pitchFamily="34" charset="-122"/>
                <a:ea typeface="微软雅黑" panose="020B0503020204020204" pitchFamily="34" charset="-122"/>
              </a:rPr>
              <a:t>以简单多数投票作为该样本的分类结果</a:t>
            </a:r>
            <a:r>
              <a:rPr lang="zh-CN" altLang="en-US" sz="2400" dirty="0">
                <a:solidFill>
                  <a:srgbClr val="000000"/>
                </a:solidFill>
                <a:latin typeface="微软雅黑" panose="020B0503020204020204" pitchFamily="34" charset="-122"/>
                <a:ea typeface="微软雅黑" panose="020B0503020204020204" pitchFamily="34" charset="-122"/>
              </a:rPr>
              <a:t>；</a:t>
            </a:r>
          </a:p>
          <a:p>
            <a:pPr marL="0" indent="0" latinLnBrk="0">
              <a:lnSpc>
                <a:spcPct val="120000"/>
              </a:lnSpc>
              <a:spcBef>
                <a:spcPct val="0"/>
              </a:spcBef>
              <a:spcAft>
                <a:spcPts val="0"/>
              </a:spcAft>
              <a:buNone/>
            </a:pPr>
            <a:r>
              <a:rPr lang="en-US" altLang="zh-CN" sz="2400" dirty="0">
                <a:solidFill>
                  <a:srgbClr val="000000"/>
                </a:solidFill>
                <a:latin typeface="微软雅黑" panose="020B0503020204020204" pitchFamily="34" charset="-122"/>
                <a:ea typeface="微软雅黑" panose="020B0503020204020204" pitchFamily="34" charset="-122"/>
              </a:rPr>
              <a:t>c. </a:t>
            </a:r>
            <a:r>
              <a:rPr lang="zh-CN" altLang="en-US" sz="2400" dirty="0">
                <a:solidFill>
                  <a:srgbClr val="000000"/>
                </a:solidFill>
                <a:latin typeface="微软雅黑" panose="020B0503020204020204" pitchFamily="34" charset="-122"/>
                <a:ea typeface="微软雅黑" panose="020B0503020204020204" pitchFamily="34" charset="-122"/>
              </a:rPr>
              <a:t>最后</a:t>
            </a:r>
            <a:r>
              <a:rPr lang="zh-CN" altLang="en-US" sz="2400" dirty="0">
                <a:solidFill>
                  <a:srgbClr val="FF0000"/>
                </a:solidFill>
                <a:latin typeface="微软雅黑" panose="020B0503020204020204" pitchFamily="34" charset="-122"/>
                <a:ea typeface="微软雅黑" panose="020B0503020204020204" pitchFamily="34" charset="-122"/>
              </a:rPr>
              <a:t>用误分个数占样本总数的比率作为随机森林的袋外错误率。</a:t>
            </a:r>
          </a:p>
        </p:txBody>
      </p:sp>
      <p:sp>
        <p:nvSpPr>
          <p:cNvPr id="98308" name="矩形 5"/>
          <p:cNvSpPr/>
          <p:nvPr/>
        </p:nvSpPr>
        <p:spPr>
          <a:xfrm>
            <a:off x="1919288" y="4204816"/>
            <a:ext cx="8209160" cy="1168400"/>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2800"/>
              </a:lnSpc>
              <a:spcBef>
                <a:spcPct val="0"/>
              </a:spcBef>
              <a:spcAft>
                <a:spcPts val="2400"/>
              </a:spcAft>
              <a:buNone/>
            </a:pPr>
            <a:r>
              <a:rPr lang="zh-CN" altLang="en-US" sz="2400" dirty="0">
                <a:solidFill>
                  <a:srgbClr val="FF0000"/>
                </a:solidFill>
                <a:latin typeface="微软雅黑" panose="020B0503020204020204" pitchFamily="34" charset="-122"/>
                <a:ea typeface="微软雅黑" panose="020B0503020204020204" pitchFamily="34" charset="-122"/>
              </a:rPr>
              <a:t>即：</a:t>
            </a:r>
            <a:r>
              <a:rPr lang="zh-CN" altLang="en-US" sz="2400" dirty="0">
                <a:solidFill>
                  <a:srgbClr val="000000"/>
                </a:solidFill>
                <a:latin typeface="微软雅黑" panose="020B0503020204020204" pitchFamily="34" charset="-122"/>
                <a:ea typeface="微软雅黑" panose="020B0503020204020204" pitchFamily="34" charset="-122"/>
              </a:rPr>
              <a:t>对每颗树，利用未被该树选中的训练样本点，统计该树的误分率；将所有树的误分率取平均得到随机森林的袋外错误率。</a:t>
            </a:r>
          </a:p>
        </p:txBody>
      </p:sp>
      <p:sp>
        <p:nvSpPr>
          <p:cNvPr id="98309" name="矩形 1"/>
          <p:cNvSpPr/>
          <p:nvPr/>
        </p:nvSpPr>
        <p:spPr>
          <a:xfrm>
            <a:off x="1919288" y="5499101"/>
            <a:ext cx="8353176" cy="860425"/>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3000"/>
              </a:lnSpc>
              <a:spcBef>
                <a:spcPct val="0"/>
              </a:spcBef>
              <a:buNone/>
            </a:pPr>
            <a:r>
              <a:rPr lang="zh-CN" altLang="en-US" sz="2400" dirty="0">
                <a:solidFill>
                  <a:srgbClr val="FF0000"/>
                </a:solidFill>
                <a:latin typeface="微软雅黑" panose="020B0503020204020204" pitchFamily="34" charset="-122"/>
                <a:ea typeface="微软雅黑" panose="020B0503020204020204" pitchFamily="34" charset="-122"/>
              </a:rPr>
              <a:t>袋外错误率是随机森林泛化误差的一个无偏估计，它的结果近似于需要大量计算的</a:t>
            </a:r>
            <a:r>
              <a:rPr lang="en-US" altLang="zh-CN" sz="2400" dirty="0">
                <a:solidFill>
                  <a:srgbClr val="FF0000"/>
                </a:solidFill>
                <a:latin typeface="微软雅黑" panose="020B0503020204020204" pitchFamily="34" charset="-122"/>
                <a:ea typeface="微软雅黑" panose="020B0503020204020204" pitchFamily="34" charset="-122"/>
              </a:rPr>
              <a:t>k</a:t>
            </a:r>
            <a:r>
              <a:rPr lang="zh-CN" altLang="en-US" sz="2400" dirty="0">
                <a:solidFill>
                  <a:srgbClr val="FF0000"/>
                </a:solidFill>
                <a:latin typeface="微软雅黑" panose="020B0503020204020204" pitchFamily="34" charset="-122"/>
                <a:ea typeface="微软雅黑" panose="020B0503020204020204" pitchFamily="34" charset="-122"/>
              </a:rPr>
              <a:t>折交叉验证。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3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83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p:bldP spid="98309" grpId="0"/>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矩形 3"/>
          <p:cNvSpPr/>
          <p:nvPr/>
        </p:nvSpPr>
        <p:spPr>
          <a:xfrm>
            <a:off x="2135189" y="1559883"/>
            <a:ext cx="7775575" cy="4606389"/>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1.</a:t>
            </a:r>
            <a:r>
              <a:rPr lang="zh-CN" altLang="en-US" sz="2400" dirty="0">
                <a:solidFill>
                  <a:srgbClr val="000000"/>
                </a:solidFill>
                <a:latin typeface="微软雅黑" panose="020B0503020204020204" pitchFamily="34" charset="-122"/>
                <a:ea typeface="微软雅黑" panose="020B0503020204020204" pitchFamily="34" charset="-122"/>
              </a:rPr>
              <a:t>两个随机性的引入，使得随机森林</a:t>
            </a:r>
            <a:r>
              <a:rPr lang="zh-CN" altLang="en-US" sz="2400" dirty="0">
                <a:solidFill>
                  <a:srgbClr val="FF0000"/>
                </a:solidFill>
                <a:latin typeface="微软雅黑" panose="020B0503020204020204" pitchFamily="34" charset="-122"/>
                <a:ea typeface="微软雅黑" panose="020B0503020204020204" pitchFamily="34" charset="-122"/>
              </a:rPr>
              <a:t>不容易陷入过拟合；</a:t>
            </a:r>
          </a:p>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2.</a:t>
            </a:r>
            <a:r>
              <a:rPr lang="zh-CN" altLang="en-US" sz="2400" dirty="0">
                <a:solidFill>
                  <a:srgbClr val="000000"/>
                </a:solidFill>
                <a:latin typeface="微软雅黑" panose="020B0503020204020204" pitchFamily="34" charset="-122"/>
                <a:ea typeface="微软雅黑" panose="020B0503020204020204" pitchFamily="34" charset="-122"/>
              </a:rPr>
              <a:t>两个随机性的引入使得随机森林</a:t>
            </a:r>
            <a:r>
              <a:rPr lang="zh-CN" altLang="en-US" sz="2400" dirty="0">
                <a:solidFill>
                  <a:srgbClr val="FF0000"/>
                </a:solidFill>
                <a:latin typeface="微软雅黑" panose="020B0503020204020204" pitchFamily="34" charset="-122"/>
                <a:ea typeface="微软雅黑" panose="020B0503020204020204" pitchFamily="34" charset="-122"/>
              </a:rPr>
              <a:t>具有很好的抗噪声能力</a:t>
            </a:r>
          </a:p>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3.</a:t>
            </a:r>
            <a:r>
              <a:rPr lang="zh-CN" altLang="en-US" sz="2400" dirty="0">
                <a:solidFill>
                  <a:srgbClr val="000000"/>
                </a:solidFill>
                <a:latin typeface="微软雅黑" panose="020B0503020204020204" pitchFamily="34" charset="-122"/>
                <a:ea typeface="微软雅黑" panose="020B0503020204020204" pitchFamily="34" charset="-122"/>
              </a:rPr>
              <a:t>准确率极高</a:t>
            </a:r>
            <a:endParaRPr lang="en-US" altLang="zh-CN" sz="2400" dirty="0">
              <a:solidFill>
                <a:srgbClr val="FF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4.</a:t>
            </a:r>
            <a:r>
              <a:rPr lang="zh-CN" altLang="en-US" sz="2400" dirty="0">
                <a:solidFill>
                  <a:srgbClr val="000000"/>
                </a:solidFill>
                <a:latin typeface="微软雅黑" panose="020B0503020204020204" pitchFamily="34" charset="-122"/>
                <a:ea typeface="微软雅黑" panose="020B0503020204020204" pitchFamily="34" charset="-122"/>
              </a:rPr>
              <a:t>能够处理具有高维特征的输入样本，而且不需要降维；</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5.</a:t>
            </a:r>
            <a:r>
              <a:rPr lang="zh-CN" altLang="en-US" sz="2400" dirty="0">
                <a:solidFill>
                  <a:srgbClr val="000000"/>
                </a:solidFill>
                <a:latin typeface="微软雅黑" panose="020B0503020204020204" pitchFamily="34" charset="-122"/>
                <a:ea typeface="微软雅黑" panose="020B0503020204020204" pitchFamily="34" charset="-122"/>
              </a:rPr>
              <a:t>在生成过程中，能够获取到内部生成误差的一种无偏估计；</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6.</a:t>
            </a:r>
            <a:r>
              <a:rPr lang="zh-CN" altLang="en-US" sz="2400" dirty="0">
                <a:solidFill>
                  <a:srgbClr val="000000"/>
                </a:solidFill>
                <a:latin typeface="微软雅黑" panose="020B0503020204020204" pitchFamily="34" charset="-122"/>
                <a:ea typeface="微软雅黑" panose="020B0503020204020204" pitchFamily="34" charset="-122"/>
              </a:rPr>
              <a:t>训练可以高度并行化，对于大数据时代的大样本训练速度有优势</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1200"/>
              </a:spcAft>
              <a:buNone/>
            </a:pPr>
            <a:r>
              <a:rPr lang="en-US" altLang="zh-CN" sz="2400" dirty="0">
                <a:solidFill>
                  <a:srgbClr val="000000"/>
                </a:solidFill>
                <a:latin typeface="微软雅黑" panose="020B0503020204020204" pitchFamily="34" charset="-122"/>
                <a:ea typeface="微软雅黑" panose="020B0503020204020204" pitchFamily="34" charset="-122"/>
              </a:rPr>
              <a:t>7.</a:t>
            </a:r>
            <a:r>
              <a:rPr lang="zh-CN" altLang="en-US" sz="2400" dirty="0">
                <a:solidFill>
                  <a:srgbClr val="000000"/>
                </a:solidFill>
                <a:latin typeface="微软雅黑" panose="020B0503020204020204" pitchFamily="34" charset="-122"/>
                <a:ea typeface="微软雅黑" panose="020B0503020204020204" pitchFamily="34" charset="-122"/>
              </a:rPr>
              <a:t>超参数的数量不是很多，并且都能很直观地了解它们多代表的含义</a:t>
            </a:r>
            <a:endParaRPr lang="en-US" altLang="zh-CN" sz="2400" dirty="0">
              <a:solidFill>
                <a:srgbClr val="000000"/>
              </a:solidFill>
              <a:latin typeface="微软雅黑" panose="020B0503020204020204" pitchFamily="34" charset="-122"/>
              <a:ea typeface="微软雅黑" panose="020B0503020204020204" pitchFamily="34" charset="-122"/>
            </a:endParaRPr>
          </a:p>
        </p:txBody>
      </p:sp>
      <p:sp>
        <p:nvSpPr>
          <p:cNvPr id="86019" name="Text Box 7"/>
          <p:cNvSpPr txBox="1"/>
          <p:nvPr/>
        </p:nvSpPr>
        <p:spPr>
          <a:xfrm>
            <a:off x="2263775" y="476251"/>
            <a:ext cx="4032250" cy="646113"/>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spcBef>
                <a:spcPct val="50000"/>
              </a:spcBef>
              <a:buNone/>
            </a:pPr>
            <a:r>
              <a:rPr lang="zh-CN" altLang="en-US" sz="3600" dirty="0">
                <a:solidFill>
                  <a:srgbClr val="FF0000"/>
                </a:solidFill>
                <a:latin typeface="Times New Roman" panose="02020603050405020304" pitchFamily="18" charset="0"/>
                <a:ea typeface="微软雅黑" panose="020B0503020204020204" pitchFamily="34" charset="-122"/>
              </a:rPr>
              <a:t>  </a:t>
            </a:r>
            <a:r>
              <a:rPr lang="zh-CN" altLang="en-US" dirty="0">
                <a:solidFill>
                  <a:srgbClr val="0D0D0D"/>
                </a:solidFill>
                <a:latin typeface="Times New Roman" panose="02020603050405020304" pitchFamily="18" charset="0"/>
                <a:ea typeface="微软雅黑" panose="020B0503020204020204" pitchFamily="34" charset="-122"/>
              </a:rPr>
              <a:t>随机森林的优点</a:t>
            </a:r>
          </a:p>
        </p:txBody>
      </p:sp>
    </p:spTree>
    <p:extLst>
      <p:ext uri="{BB962C8B-B14F-4D97-AF65-F5344CB8AC3E}">
        <p14:creationId xmlns:p14="http://schemas.microsoft.com/office/powerpoint/2010/main" val="267353989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354" name="Text Box 7"/>
          <p:cNvSpPr txBox="1"/>
          <p:nvPr/>
        </p:nvSpPr>
        <p:spPr>
          <a:xfrm>
            <a:off x="2495551" y="501651"/>
            <a:ext cx="5040313" cy="646113"/>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spcBef>
                <a:spcPct val="50000"/>
              </a:spcBef>
              <a:buNone/>
            </a:pPr>
            <a:r>
              <a:rPr lang="zh-CN" altLang="en-US" sz="3600" dirty="0">
                <a:solidFill>
                  <a:srgbClr val="FF0000"/>
                </a:solidFill>
                <a:latin typeface="Times New Roman" panose="02020603050405020304" pitchFamily="18" charset="0"/>
                <a:ea typeface="微软雅黑" panose="020B0503020204020204" pitchFamily="34" charset="-122"/>
              </a:rPr>
              <a:t>  </a:t>
            </a:r>
            <a:r>
              <a:rPr lang="zh-CN" altLang="en-US" dirty="0">
                <a:solidFill>
                  <a:srgbClr val="0D0D0D"/>
                </a:solidFill>
                <a:latin typeface="Times New Roman" panose="02020603050405020304" pitchFamily="18" charset="0"/>
                <a:ea typeface="微软雅黑" panose="020B0503020204020204" pitchFamily="34" charset="-122"/>
              </a:rPr>
              <a:t>随机森林的简单实例分析</a:t>
            </a:r>
          </a:p>
        </p:txBody>
      </p:sp>
      <p:sp>
        <p:nvSpPr>
          <p:cNvPr id="100355" name="矩形 3"/>
          <p:cNvSpPr/>
          <p:nvPr/>
        </p:nvSpPr>
        <p:spPr>
          <a:xfrm>
            <a:off x="2207578" y="1268761"/>
            <a:ext cx="8208962" cy="255333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2800"/>
              </a:lnSpc>
              <a:spcBef>
                <a:spcPct val="0"/>
              </a:spcBef>
              <a:spcAft>
                <a:spcPts val="2400"/>
              </a:spcAft>
              <a:buNone/>
            </a:pPr>
            <a:r>
              <a:rPr lang="zh-CN" altLang="en-US" sz="2800" dirty="0">
                <a:solidFill>
                  <a:srgbClr val="FF0000"/>
                </a:solidFill>
                <a:latin typeface="微软雅黑" panose="020B0503020204020204" pitchFamily="34" charset="-122"/>
                <a:ea typeface="微软雅黑" panose="020B0503020204020204" pitchFamily="34" charset="-122"/>
              </a:rPr>
              <a:t>描述：</a:t>
            </a:r>
            <a:endParaRPr lang="en-US" altLang="zh-CN" sz="2800" dirty="0">
              <a:solidFill>
                <a:srgbClr val="FF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2400"/>
              </a:spcAft>
              <a:buNone/>
            </a:pPr>
            <a:r>
              <a:rPr lang="zh-CN" altLang="en-US" sz="2400" dirty="0">
                <a:solidFill>
                  <a:srgbClr val="FF0000"/>
                </a:solidFill>
                <a:latin typeface="微软雅黑" panose="020B0503020204020204" pitchFamily="34" charset="-122"/>
                <a:ea typeface="微软雅黑" panose="020B0503020204020204" pitchFamily="34" charset="-122"/>
              </a:rPr>
              <a:t>根据已有的训练集已经生成了对应的随机森林</a:t>
            </a:r>
            <a:r>
              <a:rPr lang="zh-CN" altLang="en-US" sz="2400" dirty="0">
                <a:solidFill>
                  <a:srgbClr val="000000"/>
                </a:solidFill>
                <a:latin typeface="微软雅黑" panose="020B0503020204020204" pitchFamily="34" charset="-122"/>
                <a:ea typeface="微软雅黑" panose="020B0503020204020204" pitchFamily="34" charset="-122"/>
              </a:rPr>
              <a:t>，随机森林如何利用某一个人的年龄（</a:t>
            </a:r>
            <a:r>
              <a:rPr lang="en-US" altLang="zh-CN" sz="2400" dirty="0">
                <a:solidFill>
                  <a:srgbClr val="000000"/>
                </a:solidFill>
                <a:latin typeface="微软雅黑" panose="020B0503020204020204" pitchFamily="34" charset="-122"/>
                <a:ea typeface="微软雅黑" panose="020B0503020204020204" pitchFamily="34" charset="-122"/>
              </a:rPr>
              <a:t>Age</a:t>
            </a:r>
            <a:r>
              <a:rPr lang="zh-CN" altLang="en-US" sz="2400" dirty="0">
                <a:solidFill>
                  <a:srgbClr val="000000"/>
                </a:solidFill>
                <a:latin typeface="微软雅黑" panose="020B0503020204020204" pitchFamily="34" charset="-122"/>
                <a:ea typeface="微软雅黑" panose="020B0503020204020204" pitchFamily="34" charset="-122"/>
              </a:rPr>
              <a:t>）、性别（</a:t>
            </a:r>
            <a:r>
              <a:rPr lang="en-US" altLang="zh-CN" sz="2400" dirty="0">
                <a:solidFill>
                  <a:srgbClr val="000000"/>
                </a:solidFill>
                <a:latin typeface="微软雅黑" panose="020B0503020204020204" pitchFamily="34" charset="-122"/>
                <a:ea typeface="微软雅黑" panose="020B0503020204020204" pitchFamily="34" charset="-122"/>
              </a:rPr>
              <a:t>Gender</a:t>
            </a:r>
            <a:r>
              <a:rPr lang="zh-CN" altLang="en-US" sz="2400" dirty="0">
                <a:solidFill>
                  <a:srgbClr val="000000"/>
                </a:solidFill>
                <a:latin typeface="微软雅黑" panose="020B0503020204020204" pitchFamily="34" charset="-122"/>
                <a:ea typeface="微软雅黑" panose="020B0503020204020204" pitchFamily="34" charset="-122"/>
              </a:rPr>
              <a:t>）、教育情况（</a:t>
            </a:r>
            <a:r>
              <a:rPr lang="en-US" altLang="zh-CN" sz="2400" dirty="0">
                <a:solidFill>
                  <a:srgbClr val="000000"/>
                </a:solidFill>
                <a:latin typeface="微软雅黑" panose="020B0503020204020204" pitchFamily="34" charset="-122"/>
                <a:ea typeface="微软雅黑" panose="020B0503020204020204" pitchFamily="34" charset="-122"/>
              </a:rPr>
              <a:t>Highest Educational Qualification</a:t>
            </a:r>
            <a:r>
              <a:rPr lang="zh-CN" altLang="en-US" sz="2400" dirty="0">
                <a:solidFill>
                  <a:srgbClr val="000000"/>
                </a:solidFill>
                <a:latin typeface="微软雅黑" panose="020B0503020204020204" pitchFamily="34" charset="-122"/>
                <a:ea typeface="微软雅黑" panose="020B0503020204020204" pitchFamily="34" charset="-122"/>
              </a:rPr>
              <a:t>）、工作领域（</a:t>
            </a:r>
            <a:r>
              <a:rPr lang="en-US" altLang="zh-CN" sz="2400" dirty="0">
                <a:solidFill>
                  <a:srgbClr val="000000"/>
                </a:solidFill>
                <a:latin typeface="微软雅黑" panose="020B0503020204020204" pitchFamily="34" charset="-122"/>
                <a:ea typeface="微软雅黑" panose="020B0503020204020204" pitchFamily="34" charset="-122"/>
              </a:rPr>
              <a:t>Industry</a:t>
            </a:r>
            <a:r>
              <a:rPr lang="zh-CN" altLang="en-US" sz="2400" dirty="0">
                <a:solidFill>
                  <a:srgbClr val="000000"/>
                </a:solidFill>
                <a:latin typeface="微软雅黑" panose="020B0503020204020204" pitchFamily="34" charset="-122"/>
                <a:ea typeface="微软雅黑" panose="020B0503020204020204" pitchFamily="34" charset="-122"/>
              </a:rPr>
              <a:t>）以及住宅地（</a:t>
            </a:r>
            <a:r>
              <a:rPr lang="en-US" altLang="zh-CN" sz="2400" dirty="0">
                <a:solidFill>
                  <a:srgbClr val="000000"/>
                </a:solidFill>
                <a:latin typeface="微软雅黑" panose="020B0503020204020204" pitchFamily="34" charset="-122"/>
                <a:ea typeface="微软雅黑" panose="020B0503020204020204" pitchFamily="34" charset="-122"/>
              </a:rPr>
              <a:t>Residence</a:t>
            </a:r>
            <a:r>
              <a:rPr lang="zh-CN" altLang="en-US" sz="2400" dirty="0">
                <a:solidFill>
                  <a:srgbClr val="000000"/>
                </a:solidFill>
                <a:latin typeface="微软雅黑" panose="020B0503020204020204" pitchFamily="34" charset="-122"/>
                <a:ea typeface="微软雅黑" panose="020B0503020204020204" pitchFamily="34" charset="-122"/>
              </a:rPr>
              <a:t>）共</a:t>
            </a:r>
            <a:r>
              <a:rPr lang="en-US" altLang="zh-CN" sz="2400" dirty="0">
                <a:solidFill>
                  <a:srgbClr val="000000"/>
                </a:solidFill>
                <a:latin typeface="微软雅黑" panose="020B0503020204020204" pitchFamily="34" charset="-122"/>
                <a:ea typeface="微软雅黑" panose="020B0503020204020204" pitchFamily="34" charset="-122"/>
              </a:rPr>
              <a:t>5</a:t>
            </a:r>
            <a:r>
              <a:rPr lang="zh-CN" altLang="en-US" sz="2400" dirty="0">
                <a:solidFill>
                  <a:srgbClr val="000000"/>
                </a:solidFill>
                <a:latin typeface="微软雅黑" panose="020B0503020204020204" pitchFamily="34" charset="-122"/>
                <a:ea typeface="微软雅黑" panose="020B0503020204020204" pitchFamily="34" charset="-122"/>
              </a:rPr>
              <a:t>个特征来</a:t>
            </a:r>
            <a:r>
              <a:rPr lang="zh-CN" altLang="en-US" sz="2400" dirty="0">
                <a:solidFill>
                  <a:srgbClr val="FF0000"/>
                </a:solidFill>
                <a:latin typeface="微软雅黑" panose="020B0503020204020204" pitchFamily="34" charset="-122"/>
                <a:ea typeface="微软雅黑" panose="020B0503020204020204" pitchFamily="34" charset="-122"/>
              </a:rPr>
              <a:t>预测他的收入层次</a:t>
            </a:r>
            <a:r>
              <a:rPr lang="zh-CN" altLang="en-US" sz="2400" dirty="0">
                <a:solidFill>
                  <a:srgbClr val="000000"/>
                </a:solidFill>
                <a:latin typeface="微软雅黑" panose="020B0503020204020204" pitchFamily="34" charset="-122"/>
                <a:ea typeface="微软雅黑" panose="020B0503020204020204" pitchFamily="34" charset="-122"/>
              </a:rPr>
              <a:t>。</a:t>
            </a:r>
          </a:p>
        </p:txBody>
      </p:sp>
      <p:sp>
        <p:nvSpPr>
          <p:cNvPr id="100356" name="矩形 4"/>
          <p:cNvSpPr/>
          <p:nvPr/>
        </p:nvSpPr>
        <p:spPr>
          <a:xfrm>
            <a:off x="2207578" y="4110990"/>
            <a:ext cx="8208962" cy="24511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2800"/>
              </a:lnSpc>
              <a:spcBef>
                <a:spcPct val="0"/>
              </a:spcBef>
              <a:spcAft>
                <a:spcPts val="2400"/>
              </a:spcAft>
              <a:buNone/>
            </a:pPr>
            <a:r>
              <a:rPr lang="zh-CN" altLang="en-US" sz="2800" dirty="0">
                <a:solidFill>
                  <a:srgbClr val="FF0000"/>
                </a:solidFill>
                <a:latin typeface="微软雅黑" panose="020B0503020204020204" pitchFamily="34" charset="-122"/>
                <a:ea typeface="微软雅黑" panose="020B0503020204020204" pitchFamily="34" charset="-122"/>
              </a:rPr>
              <a:t>收入层次：</a:t>
            </a:r>
            <a:endParaRPr lang="en-US" altLang="zh-CN" sz="2800" dirty="0">
              <a:solidFill>
                <a:srgbClr val="FF0000"/>
              </a:solidFill>
              <a:latin typeface="微软雅黑" panose="020B0503020204020204" pitchFamily="34" charset="-122"/>
              <a:ea typeface="微软雅黑" panose="020B0503020204020204" pitchFamily="34" charset="-122"/>
            </a:endParaRPr>
          </a:p>
          <a:p>
            <a:pPr marL="0" indent="0" latinLnBrk="0">
              <a:lnSpc>
                <a:spcPts val="2800"/>
              </a:lnSpc>
              <a:spcBef>
                <a:spcPct val="0"/>
              </a:spcBef>
              <a:spcAft>
                <a:spcPts val="2400"/>
              </a:spcAft>
              <a:buNone/>
            </a:pPr>
            <a:r>
              <a:rPr lang="en-US" altLang="zh-CN"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000000"/>
                </a:solidFill>
                <a:latin typeface="微软雅黑" panose="020B0503020204020204" pitchFamily="34" charset="-122"/>
                <a:ea typeface="微软雅黑" panose="020B0503020204020204" pitchFamily="34" charset="-122"/>
              </a:rPr>
              <a:t>Band 1 : Below $40,000</a:t>
            </a:r>
          </a:p>
          <a:p>
            <a:pPr marL="0" indent="0" latinLnBrk="0">
              <a:lnSpc>
                <a:spcPts val="2800"/>
              </a:lnSpc>
              <a:spcBef>
                <a:spcPct val="0"/>
              </a:spcBef>
              <a:spcAft>
                <a:spcPts val="2400"/>
              </a:spcAft>
              <a:buNone/>
            </a:pPr>
            <a:r>
              <a:rPr lang="zh-CN" altLang="en-US"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000000"/>
                </a:solidFill>
                <a:latin typeface="微软雅黑" panose="020B0503020204020204" pitchFamily="34" charset="-122"/>
                <a:ea typeface="微软雅黑" panose="020B0503020204020204" pitchFamily="34" charset="-122"/>
              </a:rPr>
              <a:t>Band 2: $40,000 – 150,000</a:t>
            </a:r>
          </a:p>
          <a:p>
            <a:pPr marL="0" indent="0" latinLnBrk="0">
              <a:lnSpc>
                <a:spcPts val="2800"/>
              </a:lnSpc>
              <a:spcBef>
                <a:spcPct val="0"/>
              </a:spcBef>
              <a:spcAft>
                <a:spcPts val="2400"/>
              </a:spcAft>
              <a:buNone/>
            </a:pPr>
            <a:r>
              <a:rPr lang="zh-CN" altLang="en-US"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000000"/>
                </a:solidFill>
                <a:latin typeface="微软雅黑" panose="020B0503020204020204" pitchFamily="34" charset="-122"/>
                <a:ea typeface="微软雅黑" panose="020B0503020204020204" pitchFamily="34" charset="-122"/>
              </a:rPr>
              <a:t>Band 3: More than $150,000</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02" name="Text Box 7"/>
          <p:cNvSpPr txBox="1"/>
          <p:nvPr/>
        </p:nvSpPr>
        <p:spPr>
          <a:xfrm>
            <a:off x="2208213" y="620713"/>
            <a:ext cx="5040312" cy="646112"/>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spcBef>
                <a:spcPct val="50000"/>
              </a:spcBef>
              <a:buNone/>
            </a:pPr>
            <a:r>
              <a:rPr lang="zh-CN" altLang="en-US" sz="3600" dirty="0">
                <a:solidFill>
                  <a:srgbClr val="FF0000"/>
                </a:solidFill>
                <a:latin typeface="Times New Roman" panose="02020603050405020304" pitchFamily="18" charset="0"/>
                <a:ea typeface="微软雅黑" panose="020B0503020204020204" pitchFamily="34" charset="-122"/>
              </a:rPr>
              <a:t>  </a:t>
            </a:r>
            <a:r>
              <a:rPr lang="zh-CN" altLang="en-US" dirty="0">
                <a:solidFill>
                  <a:srgbClr val="0D0D0D"/>
                </a:solidFill>
                <a:latin typeface="Times New Roman" panose="02020603050405020304" pitchFamily="18" charset="0"/>
                <a:ea typeface="微软雅黑" panose="020B0503020204020204" pitchFamily="34" charset="-122"/>
              </a:rPr>
              <a:t>随机森林的简单实例分析</a:t>
            </a:r>
          </a:p>
        </p:txBody>
      </p:sp>
      <p:sp>
        <p:nvSpPr>
          <p:cNvPr id="102403" name="矩形 3"/>
          <p:cNvSpPr/>
          <p:nvPr/>
        </p:nvSpPr>
        <p:spPr>
          <a:xfrm>
            <a:off x="1973263" y="1412559"/>
            <a:ext cx="8126412" cy="201485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3000"/>
              </a:lnSpc>
              <a:spcBef>
                <a:spcPct val="0"/>
              </a:spcBef>
              <a:spcAft>
                <a:spcPts val="2400"/>
              </a:spcAft>
              <a:buNone/>
            </a:pPr>
            <a:r>
              <a:rPr lang="zh-CN" altLang="en-US" sz="2400" dirty="0">
                <a:solidFill>
                  <a:srgbClr val="000000"/>
                </a:solidFill>
                <a:latin typeface="微软雅黑" panose="020B0503020204020204" pitchFamily="34" charset="-122"/>
                <a:ea typeface="微软雅黑" panose="020B0503020204020204" pitchFamily="34" charset="-122"/>
              </a:rPr>
              <a:t>      随机森林中每一棵树都可以看做是一棵</a:t>
            </a:r>
            <a:r>
              <a:rPr lang="en-US" altLang="zh-CN" sz="2400" dirty="0">
                <a:solidFill>
                  <a:srgbClr val="000000"/>
                </a:solidFill>
                <a:latin typeface="微软雅黑" panose="020B0503020204020204" pitchFamily="34" charset="-122"/>
                <a:ea typeface="微软雅黑" panose="020B0503020204020204" pitchFamily="34" charset="-122"/>
              </a:rPr>
              <a:t>CART</a:t>
            </a:r>
            <a:r>
              <a:rPr lang="zh-CN" altLang="en-US" sz="2400" dirty="0">
                <a:solidFill>
                  <a:srgbClr val="000000"/>
                </a:solidFill>
                <a:latin typeface="微软雅黑" panose="020B0503020204020204" pitchFamily="34" charset="-122"/>
                <a:ea typeface="微软雅黑" panose="020B0503020204020204" pitchFamily="34" charset="-122"/>
              </a:rPr>
              <a:t>（分类回归树），这里</a:t>
            </a:r>
            <a:r>
              <a:rPr lang="zh-CN" altLang="en-US" sz="2400" dirty="0">
                <a:solidFill>
                  <a:srgbClr val="FF0000"/>
                </a:solidFill>
                <a:latin typeface="微软雅黑" panose="020B0503020204020204" pitchFamily="34" charset="-122"/>
                <a:ea typeface="微软雅黑" panose="020B0503020204020204" pitchFamily="34" charset="-122"/>
              </a:rPr>
              <a:t>假设森林中有</a:t>
            </a:r>
            <a:r>
              <a:rPr lang="en-US" altLang="zh-CN" sz="2400" dirty="0">
                <a:solidFill>
                  <a:srgbClr val="FF0000"/>
                </a:solidFill>
                <a:latin typeface="微软雅黑" panose="020B0503020204020204" pitchFamily="34" charset="-122"/>
                <a:ea typeface="微软雅黑" panose="020B0503020204020204" pitchFamily="34" charset="-122"/>
              </a:rPr>
              <a:t>5</a:t>
            </a:r>
            <a:r>
              <a:rPr lang="zh-CN" altLang="en-US" sz="2400" dirty="0">
                <a:solidFill>
                  <a:srgbClr val="FF0000"/>
                </a:solidFill>
                <a:latin typeface="微软雅黑" panose="020B0503020204020204" pitchFamily="34" charset="-122"/>
                <a:ea typeface="微软雅黑" panose="020B0503020204020204" pitchFamily="34" charset="-122"/>
              </a:rPr>
              <a:t>棵</a:t>
            </a:r>
            <a:r>
              <a:rPr lang="en-US" altLang="zh-CN" sz="2400" dirty="0">
                <a:solidFill>
                  <a:srgbClr val="FF0000"/>
                </a:solidFill>
                <a:latin typeface="微软雅黑" panose="020B0503020204020204" pitchFamily="34" charset="-122"/>
                <a:ea typeface="微软雅黑" panose="020B0503020204020204" pitchFamily="34" charset="-122"/>
              </a:rPr>
              <a:t>CART</a:t>
            </a:r>
            <a:r>
              <a:rPr lang="zh-CN" altLang="en-US" sz="2400" dirty="0">
                <a:solidFill>
                  <a:srgbClr val="FF0000"/>
                </a:solidFill>
                <a:latin typeface="微软雅黑" panose="020B0503020204020204" pitchFamily="34" charset="-122"/>
                <a:ea typeface="微软雅黑" panose="020B0503020204020204" pitchFamily="34" charset="-122"/>
              </a:rPr>
              <a:t>树</a:t>
            </a:r>
            <a:r>
              <a:rPr lang="zh-CN" altLang="en-US" sz="2400" dirty="0">
                <a:solidFill>
                  <a:srgbClr val="000000"/>
                </a:solidFill>
                <a:latin typeface="微软雅黑" panose="020B0503020204020204" pitchFamily="34" charset="-122"/>
                <a:ea typeface="微软雅黑" panose="020B0503020204020204" pitchFamily="34" charset="-122"/>
              </a:rPr>
              <a:t>，总特征个数</a:t>
            </a:r>
            <a:r>
              <a:rPr lang="en-US" altLang="zh-CN" sz="2400" dirty="0">
                <a:solidFill>
                  <a:srgbClr val="000000"/>
                </a:solidFill>
                <a:latin typeface="微软雅黑" panose="020B0503020204020204" pitchFamily="34" charset="-122"/>
                <a:ea typeface="微软雅黑" panose="020B0503020204020204" pitchFamily="34" charset="-122"/>
              </a:rPr>
              <a:t>N=5</a:t>
            </a:r>
            <a:r>
              <a:rPr lang="zh-CN" altLang="en-US" sz="2400" dirty="0">
                <a:solidFill>
                  <a:srgbClr val="000000"/>
                </a:solidFill>
                <a:latin typeface="微软雅黑" panose="020B0503020204020204" pitchFamily="34" charset="-122"/>
                <a:ea typeface="微软雅黑" panose="020B0503020204020204" pitchFamily="34" charset="-122"/>
              </a:rPr>
              <a:t>，取</a:t>
            </a:r>
            <a:r>
              <a:rPr lang="en-US" altLang="zh-CN" sz="2400" dirty="0">
                <a:solidFill>
                  <a:srgbClr val="000000"/>
                </a:solidFill>
                <a:latin typeface="微软雅黑" panose="020B0503020204020204" pitchFamily="34" charset="-122"/>
                <a:ea typeface="微软雅黑" panose="020B0503020204020204" pitchFamily="34" charset="-122"/>
              </a:rPr>
              <a:t>m=1</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m</a:t>
            </a:r>
            <a:r>
              <a:rPr lang="zh-CN" altLang="en-US" sz="2400" dirty="0">
                <a:solidFill>
                  <a:srgbClr val="000000"/>
                </a:solidFill>
                <a:latin typeface="微软雅黑" panose="020B0503020204020204" pitchFamily="34" charset="-122"/>
                <a:ea typeface="微软雅黑" panose="020B0503020204020204" pitchFamily="34" charset="-122"/>
              </a:rPr>
              <a:t>为建立决策树时，随机选取的特征个数，这里假设每个</a:t>
            </a:r>
            <a:r>
              <a:rPr lang="en-US" altLang="zh-CN" sz="2400" dirty="0">
                <a:solidFill>
                  <a:srgbClr val="000000"/>
                </a:solidFill>
                <a:latin typeface="微软雅黑" panose="020B0503020204020204" pitchFamily="34" charset="-122"/>
                <a:ea typeface="微软雅黑" panose="020B0503020204020204" pitchFamily="34" charset="-122"/>
              </a:rPr>
              <a:t>CART</a:t>
            </a:r>
            <a:r>
              <a:rPr lang="zh-CN" altLang="en-US" sz="2400" dirty="0">
                <a:solidFill>
                  <a:srgbClr val="000000"/>
                </a:solidFill>
                <a:latin typeface="微软雅黑" panose="020B0503020204020204" pitchFamily="34" charset="-122"/>
                <a:ea typeface="微软雅黑" panose="020B0503020204020204" pitchFamily="34" charset="-122"/>
              </a:rPr>
              <a:t>树对应一个不同的特征）。（</a:t>
            </a:r>
            <a:r>
              <a:rPr lang="zh-CN" altLang="en-US" sz="2400" dirty="0">
                <a:solidFill>
                  <a:srgbClr val="FF0000"/>
                </a:solidFill>
                <a:latin typeface="微软雅黑" panose="020B0503020204020204" pitchFamily="34" charset="-122"/>
                <a:ea typeface="微软雅黑" panose="020B0503020204020204" pitchFamily="34" charset="-122"/>
              </a:rPr>
              <a:t>表格中的百分数指的是在不同条件下的数据样本占对应类别的比例</a:t>
            </a:r>
            <a:r>
              <a:rPr lang="zh-CN" altLang="en-US" sz="2400" dirty="0">
                <a:solidFill>
                  <a:srgbClr val="000000"/>
                </a:solidFill>
                <a:latin typeface="微软雅黑" panose="020B0503020204020204" pitchFamily="34" charset="-122"/>
                <a:ea typeface="微软雅黑" panose="020B0503020204020204" pitchFamily="34" charset="-122"/>
              </a:rPr>
              <a:t>）</a:t>
            </a:r>
          </a:p>
        </p:txBody>
      </p:sp>
      <p:pic>
        <p:nvPicPr>
          <p:cNvPr id="102404" name="图片 1"/>
          <p:cNvPicPr>
            <a:picLocks noChangeAspect="1"/>
          </p:cNvPicPr>
          <p:nvPr/>
        </p:nvPicPr>
        <p:blipFill>
          <a:blip r:embed="rId3"/>
          <a:stretch>
            <a:fillRect/>
          </a:stretch>
        </p:blipFill>
        <p:spPr>
          <a:xfrm>
            <a:off x="1973264" y="3573781"/>
            <a:ext cx="3648075" cy="1704975"/>
          </a:xfrm>
          <a:prstGeom prst="rect">
            <a:avLst/>
          </a:prstGeom>
          <a:noFill/>
          <a:ln w="9525">
            <a:noFill/>
          </a:ln>
        </p:spPr>
      </p:pic>
      <p:pic>
        <p:nvPicPr>
          <p:cNvPr id="102405" name="图片 2"/>
          <p:cNvPicPr>
            <a:picLocks noChangeAspect="1"/>
          </p:cNvPicPr>
          <p:nvPr/>
        </p:nvPicPr>
        <p:blipFill>
          <a:blip r:embed="rId4"/>
          <a:stretch>
            <a:fillRect/>
          </a:stretch>
        </p:blipFill>
        <p:spPr>
          <a:xfrm>
            <a:off x="6024245" y="3356611"/>
            <a:ext cx="3867150" cy="1133475"/>
          </a:xfrm>
          <a:prstGeom prst="rect">
            <a:avLst/>
          </a:prstGeom>
          <a:noFill/>
          <a:ln w="9525">
            <a:noFill/>
          </a:ln>
        </p:spPr>
      </p:pic>
      <p:pic>
        <p:nvPicPr>
          <p:cNvPr id="102406" name="图片 6"/>
          <p:cNvPicPr>
            <a:picLocks noChangeAspect="1"/>
          </p:cNvPicPr>
          <p:nvPr/>
        </p:nvPicPr>
        <p:blipFill>
          <a:blip r:embed="rId5"/>
          <a:stretch>
            <a:fillRect/>
          </a:stretch>
        </p:blipFill>
        <p:spPr>
          <a:xfrm>
            <a:off x="6049010" y="4364991"/>
            <a:ext cx="3619500" cy="1457325"/>
          </a:xfrm>
          <a:prstGeom prst="rect">
            <a:avLst/>
          </a:prstGeom>
          <a:noFill/>
          <a:ln w="9525">
            <a:noFill/>
          </a:ln>
        </p:spPr>
      </p:pic>
      <p:pic>
        <p:nvPicPr>
          <p:cNvPr id="102407" name="图片 7"/>
          <p:cNvPicPr>
            <a:picLocks noChangeAspect="1"/>
          </p:cNvPicPr>
          <p:nvPr/>
        </p:nvPicPr>
        <p:blipFill>
          <a:blip r:embed="rId6"/>
          <a:stretch>
            <a:fillRect/>
          </a:stretch>
        </p:blipFill>
        <p:spPr>
          <a:xfrm>
            <a:off x="6091874" y="5733415"/>
            <a:ext cx="3533775" cy="1047750"/>
          </a:xfrm>
          <a:prstGeom prst="rect">
            <a:avLst/>
          </a:prstGeom>
          <a:noFill/>
          <a:ln w="9525">
            <a:noFill/>
          </a:ln>
        </p:spPr>
      </p:pic>
      <p:pic>
        <p:nvPicPr>
          <p:cNvPr id="102408" name="图片 8"/>
          <p:cNvPicPr>
            <a:picLocks noChangeAspect="1"/>
          </p:cNvPicPr>
          <p:nvPr/>
        </p:nvPicPr>
        <p:blipFill>
          <a:blip r:embed="rId7"/>
          <a:stretch>
            <a:fillRect/>
          </a:stretch>
        </p:blipFill>
        <p:spPr>
          <a:xfrm>
            <a:off x="1847533" y="5300663"/>
            <a:ext cx="3962400" cy="1314450"/>
          </a:xfrm>
          <a:prstGeom prst="rect">
            <a:avLst/>
          </a:prstGeom>
          <a:noFill/>
          <a:ln w="9525">
            <a:noFill/>
          </a:ln>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Text Box 7"/>
          <p:cNvSpPr txBox="1"/>
          <p:nvPr/>
        </p:nvSpPr>
        <p:spPr>
          <a:xfrm>
            <a:off x="2640013" y="549276"/>
            <a:ext cx="5040312" cy="646113"/>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spcBef>
                <a:spcPct val="50000"/>
              </a:spcBef>
              <a:buNone/>
            </a:pPr>
            <a:r>
              <a:rPr lang="zh-CN" altLang="en-US" sz="3600" dirty="0">
                <a:solidFill>
                  <a:srgbClr val="FF0000"/>
                </a:solidFill>
                <a:latin typeface="Times New Roman" panose="02020603050405020304" pitchFamily="18" charset="0"/>
                <a:ea typeface="微软雅黑" panose="020B0503020204020204" pitchFamily="34" charset="-122"/>
              </a:rPr>
              <a:t>  </a:t>
            </a:r>
            <a:r>
              <a:rPr lang="zh-CN" altLang="en-US" dirty="0">
                <a:solidFill>
                  <a:srgbClr val="0D0D0D"/>
                </a:solidFill>
                <a:latin typeface="Times New Roman" panose="02020603050405020304" pitchFamily="18" charset="0"/>
                <a:ea typeface="微软雅黑" panose="020B0503020204020204" pitchFamily="34" charset="-122"/>
              </a:rPr>
              <a:t>随机森林的简单实例分析</a:t>
            </a:r>
          </a:p>
        </p:txBody>
      </p:sp>
      <p:sp>
        <p:nvSpPr>
          <p:cNvPr id="104451" name="矩形 9"/>
          <p:cNvSpPr/>
          <p:nvPr/>
        </p:nvSpPr>
        <p:spPr>
          <a:xfrm>
            <a:off x="1808164" y="3681414"/>
            <a:ext cx="2992437" cy="163004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3000"/>
              </a:lnSpc>
              <a:spcBef>
                <a:spcPct val="0"/>
              </a:spcBef>
              <a:spcAft>
                <a:spcPts val="2400"/>
              </a:spcAft>
              <a:buNone/>
            </a:pPr>
            <a:r>
              <a:rPr lang="zh-CN" altLang="en-US" sz="2400" dirty="0">
                <a:solidFill>
                  <a:srgbClr val="000000"/>
                </a:solidFill>
                <a:latin typeface="微软雅黑" panose="020B0503020204020204" pitchFamily="34" charset="-122"/>
                <a:ea typeface="微软雅黑" panose="020B0503020204020204" pitchFamily="34" charset="-122"/>
              </a:rPr>
              <a:t>根据这五棵树的分类结果，可以针对此人的信息建立收入层次的分布情况：</a:t>
            </a:r>
          </a:p>
        </p:txBody>
      </p:sp>
      <p:pic>
        <p:nvPicPr>
          <p:cNvPr id="104452" name="图片 10"/>
          <p:cNvPicPr>
            <a:picLocks noChangeAspect="1"/>
          </p:cNvPicPr>
          <p:nvPr/>
        </p:nvPicPr>
        <p:blipFill>
          <a:blip r:embed="rId3"/>
          <a:stretch>
            <a:fillRect/>
          </a:stretch>
        </p:blipFill>
        <p:spPr>
          <a:xfrm>
            <a:off x="4800600" y="3406776"/>
            <a:ext cx="5087938" cy="2017713"/>
          </a:xfrm>
          <a:prstGeom prst="rect">
            <a:avLst/>
          </a:prstGeom>
          <a:noFill/>
          <a:ln w="9525">
            <a:noFill/>
          </a:ln>
        </p:spPr>
      </p:pic>
      <p:sp>
        <p:nvSpPr>
          <p:cNvPr id="104453" name="矩形 11"/>
          <p:cNvSpPr/>
          <p:nvPr/>
        </p:nvSpPr>
        <p:spPr>
          <a:xfrm>
            <a:off x="1947863" y="5589589"/>
            <a:ext cx="8407400" cy="124523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3000"/>
              </a:lnSpc>
              <a:spcBef>
                <a:spcPct val="0"/>
              </a:spcBef>
              <a:spcAft>
                <a:spcPts val="2400"/>
              </a:spcAft>
              <a:buNone/>
            </a:pPr>
            <a:r>
              <a:rPr lang="zh-CN" altLang="en-US" sz="2400" dirty="0">
                <a:solidFill>
                  <a:srgbClr val="000000"/>
                </a:solidFill>
                <a:latin typeface="微软雅黑" panose="020B0503020204020204" pitchFamily="34" charset="-122"/>
                <a:ea typeface="微软雅黑" panose="020B0503020204020204" pitchFamily="34" charset="-122"/>
              </a:rPr>
              <a:t>　　最后，我们得出结论，这个人的收入层次</a:t>
            </a:r>
            <a:r>
              <a:rPr lang="en-US" altLang="zh-CN" sz="2400" dirty="0">
                <a:solidFill>
                  <a:srgbClr val="000000"/>
                </a:solidFill>
                <a:latin typeface="微软雅黑" panose="020B0503020204020204" pitchFamily="34" charset="-122"/>
                <a:ea typeface="微软雅黑" panose="020B0503020204020204" pitchFamily="34" charset="-122"/>
              </a:rPr>
              <a:t>70%</a:t>
            </a:r>
            <a:r>
              <a:rPr lang="zh-CN" altLang="en-US" sz="2400" dirty="0">
                <a:solidFill>
                  <a:srgbClr val="000000"/>
                </a:solidFill>
                <a:latin typeface="微软雅黑" panose="020B0503020204020204" pitchFamily="34" charset="-122"/>
                <a:ea typeface="微软雅黑" panose="020B0503020204020204" pitchFamily="34" charset="-122"/>
              </a:rPr>
              <a:t>是一等，大约</a:t>
            </a:r>
            <a:r>
              <a:rPr lang="en-US" altLang="zh-CN" sz="2400" dirty="0">
                <a:solidFill>
                  <a:srgbClr val="000000"/>
                </a:solidFill>
                <a:latin typeface="微软雅黑" panose="020B0503020204020204" pitchFamily="34" charset="-122"/>
                <a:ea typeface="微软雅黑" panose="020B0503020204020204" pitchFamily="34" charset="-122"/>
              </a:rPr>
              <a:t>24%</a:t>
            </a:r>
            <a:r>
              <a:rPr lang="zh-CN" altLang="en-US" sz="2400" dirty="0">
                <a:solidFill>
                  <a:srgbClr val="000000"/>
                </a:solidFill>
                <a:latin typeface="微软雅黑" panose="020B0503020204020204" pitchFamily="34" charset="-122"/>
                <a:ea typeface="微软雅黑" panose="020B0503020204020204" pitchFamily="34" charset="-122"/>
              </a:rPr>
              <a:t>为二等，</a:t>
            </a:r>
            <a:r>
              <a:rPr lang="en-US" altLang="zh-CN" sz="2400" dirty="0">
                <a:solidFill>
                  <a:srgbClr val="000000"/>
                </a:solidFill>
                <a:latin typeface="微软雅黑" panose="020B0503020204020204" pitchFamily="34" charset="-122"/>
                <a:ea typeface="微软雅黑" panose="020B0503020204020204" pitchFamily="34" charset="-122"/>
              </a:rPr>
              <a:t>6%</a:t>
            </a:r>
            <a:r>
              <a:rPr lang="zh-CN" altLang="en-US" sz="2400" dirty="0">
                <a:solidFill>
                  <a:srgbClr val="000000"/>
                </a:solidFill>
                <a:latin typeface="微软雅黑" panose="020B0503020204020204" pitchFamily="34" charset="-122"/>
                <a:ea typeface="微软雅黑" panose="020B0503020204020204" pitchFamily="34" charset="-122"/>
              </a:rPr>
              <a:t>为三等，所以最终认定该人属于一等收入层次（小于</a:t>
            </a:r>
            <a:r>
              <a:rPr lang="en-US" altLang="zh-CN" sz="2400" dirty="0">
                <a:solidFill>
                  <a:srgbClr val="000000"/>
                </a:solidFill>
                <a:latin typeface="微软雅黑" panose="020B0503020204020204" pitchFamily="34" charset="-122"/>
                <a:ea typeface="微软雅黑" panose="020B0503020204020204" pitchFamily="34" charset="-122"/>
              </a:rPr>
              <a:t>$40,000</a:t>
            </a:r>
            <a:r>
              <a:rPr lang="zh-CN" altLang="en-US" sz="2400" dirty="0">
                <a:solidFill>
                  <a:srgbClr val="000000"/>
                </a:solidFill>
                <a:latin typeface="微软雅黑" panose="020B0503020204020204" pitchFamily="34" charset="-122"/>
                <a:ea typeface="微软雅黑" panose="020B0503020204020204" pitchFamily="34" charset="-122"/>
              </a:rPr>
              <a:t>）。</a:t>
            </a:r>
          </a:p>
        </p:txBody>
      </p:sp>
      <p:sp>
        <p:nvSpPr>
          <p:cNvPr id="104454" name="矩形 9"/>
          <p:cNvSpPr/>
          <p:nvPr/>
        </p:nvSpPr>
        <p:spPr>
          <a:xfrm>
            <a:off x="2228851" y="1428750"/>
            <a:ext cx="8126413" cy="170688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ts val="3000"/>
              </a:lnSpc>
              <a:spcBef>
                <a:spcPct val="0"/>
              </a:spcBef>
              <a:spcAft>
                <a:spcPts val="600"/>
              </a:spcAft>
              <a:buNone/>
            </a:pPr>
            <a:r>
              <a:rPr lang="zh-CN" altLang="en-US" sz="2400" dirty="0">
                <a:solidFill>
                  <a:srgbClr val="000000"/>
                </a:solidFill>
                <a:latin typeface="微软雅黑" panose="020B0503020204020204" pitchFamily="34" charset="-122"/>
                <a:ea typeface="微软雅黑" panose="020B0503020204020204" pitchFamily="34" charset="-122"/>
              </a:rPr>
              <a:t>假如要预测的某个人的信息如下：</a:t>
            </a:r>
          </a:p>
          <a:p>
            <a:pPr marL="0" indent="0" latinLnBrk="0">
              <a:lnSpc>
                <a:spcPts val="3000"/>
              </a:lnSpc>
              <a:spcBef>
                <a:spcPct val="0"/>
              </a:spcBef>
              <a:spcAft>
                <a:spcPts val="600"/>
              </a:spcAft>
              <a:buNone/>
            </a:pPr>
            <a:r>
              <a:rPr lang="zh-CN" altLang="en-US"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000000"/>
                </a:solidFill>
                <a:latin typeface="微软雅黑" panose="020B0503020204020204" pitchFamily="34" charset="-122"/>
                <a:ea typeface="微软雅黑" panose="020B0503020204020204" pitchFamily="34" charset="-122"/>
              </a:rPr>
              <a:t>1. Age : 35 years ; 2. Gender : Male ; 3. Highest Educational Qualification : Diploma holder; 4. Industry : Manufacturing; 5. Residence : Metro.</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9650" name="Rectangle 2"/>
          <p:cNvSpPr>
            <a:spLocks noGrp="1" noChangeArrowheads="1"/>
          </p:cNvSpPr>
          <p:nvPr>
            <p:ph type="title"/>
          </p:nvPr>
        </p:nvSpPr>
        <p:spPr>
          <a:xfrm>
            <a:off x="2135560" y="260648"/>
            <a:ext cx="7772400" cy="731838"/>
          </a:xfrm>
        </p:spPr>
        <p:txBody>
          <a:bodyPr vert="horz" wrap="square" lIns="91440" tIns="45720" rIns="91440" bIns="45720" numCol="1" anchor="ctr" anchorCtr="0" compatLnSpc="1"/>
          <a:lstStyle/>
          <a:p>
            <a:pPr algn="ctr" eaLnBrk="1" hangingPunct="1">
              <a:defRPr/>
            </a:pPr>
            <a:r>
              <a:rPr lang="zh-CN" altLang="en-US" sz="3200" b="1" dirty="0">
                <a:solidFill>
                  <a:schemeClr val="tx1"/>
                </a:solidFill>
                <a:effectLst>
                  <a:outerShdw blurRad="38100" dist="38100" dir="2700000" algn="tl">
                    <a:srgbClr val="C0C0C0"/>
                  </a:outerShdw>
                </a:effectLst>
              </a:rPr>
              <a:t>集体学习方法</a:t>
            </a:r>
            <a:r>
              <a:rPr lang="en-US" altLang="zh-CN" sz="3200" b="1" dirty="0">
                <a:solidFill>
                  <a:schemeClr val="tx1"/>
                </a:solidFill>
                <a:effectLst>
                  <a:outerShdw blurRad="38100" dist="38100" dir="2700000" algn="tl">
                    <a:srgbClr val="C0C0C0"/>
                  </a:outerShdw>
                </a:effectLst>
              </a:rPr>
              <a:t>—</a:t>
            </a:r>
            <a:r>
              <a:rPr lang="en-US" altLang="zh-CN" sz="3200" b="1" dirty="0" err="1">
                <a:solidFill>
                  <a:schemeClr val="tx1"/>
                </a:solidFill>
                <a:effectLst>
                  <a:outerShdw blurRad="38100" dist="38100" dir="2700000" algn="tl">
                    <a:srgbClr val="C0C0C0"/>
                  </a:outerShdw>
                </a:effectLst>
              </a:rPr>
              <a:t>AdaBoost</a:t>
            </a:r>
            <a:endParaRPr lang="en-US" altLang="zh-CN" sz="3200" b="1" dirty="0">
              <a:solidFill>
                <a:schemeClr val="tx1"/>
              </a:solidFill>
              <a:effectLst>
                <a:outerShdw blurRad="38100" dist="38100" dir="2700000" algn="tl">
                  <a:srgbClr val="C0C0C0"/>
                </a:outerShdw>
              </a:effectLst>
            </a:endParaRPr>
          </a:p>
        </p:txBody>
      </p:sp>
      <p:sp>
        <p:nvSpPr>
          <p:cNvPr id="539651" name="Rectangle 3"/>
          <p:cNvSpPr>
            <a:spLocks noGrp="1" noChangeArrowheads="1"/>
          </p:cNvSpPr>
          <p:nvPr>
            <p:ph idx="1"/>
          </p:nvPr>
        </p:nvSpPr>
        <p:spPr>
          <a:xfrm>
            <a:off x="1991361" y="1196024"/>
            <a:ext cx="8304213" cy="4824413"/>
          </a:xfrm>
        </p:spPr>
        <p:txBody>
          <a:bodyPr vert="horz" wrap="square" lIns="91440" tIns="45720" rIns="91440" bIns="45720" numCol="1" anchor="t" anchorCtr="0" compatLnSpc="1">
            <a:normAutofit lnSpcReduction="10000"/>
          </a:bodyPr>
          <a:lstStyle/>
          <a:p>
            <a:pPr indent="0" eaLnBrk="1" hangingPunct="1">
              <a:lnSpc>
                <a:spcPct val="120000"/>
              </a:lnSpc>
              <a:spcBef>
                <a:spcPts val="0"/>
              </a:spcBef>
              <a:defRPr/>
            </a:pP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AdaBoost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是一种最广泛使用的集体学习方法，其</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核心思想是加权训练</a:t>
            </a:r>
          </a:p>
          <a:p>
            <a:pPr lvl="1" indent="0" eaLnBrk="1" hangingPunct="1">
              <a:lnSpc>
                <a:spcPct val="120000"/>
              </a:lnSpc>
              <a:spcBef>
                <a:spcPts val="0"/>
              </a:spcBef>
              <a:defRPr/>
            </a:pP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算法多次调用弱学习算法，用不同的训练子集</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每个样例赋予不同权值</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每次从被调用算法获得一个弱假设 </a:t>
            </a:r>
            <a:endPar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lvl="1" indent="0" eaLnBrk="1" hangingPunct="1">
              <a:lnSpc>
                <a:spcPct val="120000"/>
              </a:lnSpc>
              <a:spcBef>
                <a:spcPts val="0"/>
              </a:spcBef>
              <a:defRPr/>
            </a:pP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算法最终把上述弱假设组合起来，产生一个更加精确的单一假设，以获得更好的预测结果</a:t>
            </a:r>
            <a:endPar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indent="0" eaLnBrk="1" hangingPunct="1">
              <a:lnSpc>
                <a:spcPct val="120000"/>
              </a:lnSpc>
              <a:spcBef>
                <a:spcPts val="0"/>
              </a:spcBef>
              <a:defRPr/>
            </a:pPr>
            <a:r>
              <a:rPr lang="en-US" altLang="zh-CN" sz="2400" b="1" dirty="0" err="1">
                <a:effectLst>
                  <a:outerShdw blurRad="38100" dist="38100" dir="2700000" algn="tl">
                    <a:srgbClr val="C0C0C0"/>
                  </a:outerShdw>
                </a:effectLst>
              </a:rPr>
              <a:t>AdaBoost</a:t>
            </a:r>
            <a:r>
              <a:rPr lang="zh-CN" altLang="en-US" sz="2400" b="1"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400" b="1"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个基本问题</a:t>
            </a:r>
            <a:endParaRPr lang="en-US" altLang="zh-CN" sz="2400" b="1"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indent="0" eaLnBrk="1" hangingPunct="1">
              <a:lnSpc>
                <a:spcPct val="120000"/>
              </a:lnSpc>
              <a:spcBef>
                <a:spcPts val="0"/>
              </a:spcBef>
              <a:defRPr/>
            </a:pP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每次调用弱学习算法，如何选择训练子集？</a:t>
            </a:r>
          </a:p>
          <a:p>
            <a:pPr marL="0" indent="0" eaLnBrk="1" hangingPunct="1">
              <a:lnSpc>
                <a:spcPct val="120000"/>
              </a:lnSpc>
              <a:spcBef>
                <a:spcPts val="0"/>
              </a:spcBef>
              <a:buNone/>
              <a:defRPr/>
            </a:pP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选择那些被弱学习算法分类错误的实例，增加其权值</a:t>
            </a:r>
          </a:p>
          <a:p>
            <a:pPr indent="0" eaLnBrk="1" hangingPunct="1">
              <a:lnSpc>
                <a:spcPct val="120000"/>
              </a:lnSpc>
              <a:spcBef>
                <a:spcPts val="0"/>
              </a:spcBef>
              <a:defRPr/>
            </a:pP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如何把弱假设组合为一个单一规则？</a:t>
            </a:r>
          </a:p>
          <a:p>
            <a:pPr marL="0" indent="0" eaLnBrk="1" hangingPunct="1">
              <a:lnSpc>
                <a:spcPct val="120000"/>
              </a:lnSpc>
              <a:spcBef>
                <a:spcPts val="0"/>
              </a:spcBef>
              <a:buNone/>
              <a:defRPr/>
            </a:pPr>
            <a:r>
              <a:rPr kumimoji="0"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采用简单多数表决的原则</a:t>
            </a:r>
          </a:p>
          <a:p>
            <a:pPr eaLnBrk="1" hangingPunct="1">
              <a:lnSpc>
                <a:spcPct val="150000"/>
              </a:lnSpc>
              <a:defRPr/>
            </a:pPr>
            <a:endPar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39651">
                                            <p:txEl>
                                              <p:pRg st="1" end="1"/>
                                            </p:txEl>
                                          </p:spTgt>
                                        </p:tgtEl>
                                        <p:attrNameLst>
                                          <p:attrName>style.visibility</p:attrName>
                                        </p:attrNameLst>
                                      </p:cBhvr>
                                      <p:to>
                                        <p:strVal val="visible"/>
                                      </p:to>
                                    </p:set>
                                    <p:animEffect transition="in" filter="blinds(horizontal)">
                                      <p:cBhvr>
                                        <p:cTn id="7" dur="500"/>
                                        <p:tgtEl>
                                          <p:spTgt spid="5396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39651">
                                            <p:txEl>
                                              <p:pRg st="2" end="2"/>
                                            </p:txEl>
                                          </p:spTgt>
                                        </p:tgtEl>
                                        <p:attrNameLst>
                                          <p:attrName>style.visibility</p:attrName>
                                        </p:attrNameLst>
                                      </p:cBhvr>
                                      <p:to>
                                        <p:strVal val="visible"/>
                                      </p:to>
                                    </p:set>
                                    <p:animEffect transition="in" filter="blinds(horizontal)">
                                      <p:cBhvr>
                                        <p:cTn id="12" dur="500"/>
                                        <p:tgtEl>
                                          <p:spTgt spid="5396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39651">
                                            <p:txEl>
                                              <p:pRg st="3" end="3"/>
                                            </p:txEl>
                                          </p:spTgt>
                                        </p:tgtEl>
                                        <p:attrNameLst>
                                          <p:attrName>style.visibility</p:attrName>
                                        </p:attrNameLst>
                                      </p:cBhvr>
                                      <p:to>
                                        <p:strVal val="visible"/>
                                      </p:to>
                                    </p:set>
                                    <p:animEffect transition="in" filter="blinds(horizontal)">
                                      <p:cBhvr>
                                        <p:cTn id="17" dur="500"/>
                                        <p:tgtEl>
                                          <p:spTgt spid="53965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39651">
                                            <p:txEl>
                                              <p:pRg st="4" end="4"/>
                                            </p:txEl>
                                          </p:spTgt>
                                        </p:tgtEl>
                                        <p:attrNameLst>
                                          <p:attrName>style.visibility</p:attrName>
                                        </p:attrNameLst>
                                      </p:cBhvr>
                                      <p:to>
                                        <p:strVal val="visible"/>
                                      </p:to>
                                    </p:set>
                                    <p:animEffect transition="in" filter="blinds(horizontal)">
                                      <p:cBhvr>
                                        <p:cTn id="22" dur="500"/>
                                        <p:tgtEl>
                                          <p:spTgt spid="53965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39651">
                                            <p:txEl>
                                              <p:pRg st="5" end="5"/>
                                            </p:txEl>
                                          </p:spTgt>
                                        </p:tgtEl>
                                        <p:attrNameLst>
                                          <p:attrName>style.visibility</p:attrName>
                                        </p:attrNameLst>
                                      </p:cBhvr>
                                      <p:to>
                                        <p:strVal val="visible"/>
                                      </p:to>
                                    </p:set>
                                    <p:animEffect transition="in" filter="blinds(horizontal)">
                                      <p:cBhvr>
                                        <p:cTn id="27" dur="500"/>
                                        <p:tgtEl>
                                          <p:spTgt spid="53965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39651">
                                            <p:txEl>
                                              <p:pRg st="6" end="6"/>
                                            </p:txEl>
                                          </p:spTgt>
                                        </p:tgtEl>
                                        <p:attrNameLst>
                                          <p:attrName>style.visibility</p:attrName>
                                        </p:attrNameLst>
                                      </p:cBhvr>
                                      <p:to>
                                        <p:strVal val="visible"/>
                                      </p:to>
                                    </p:set>
                                    <p:animEffect transition="in" filter="blinds(horizontal)">
                                      <p:cBhvr>
                                        <p:cTn id="32" dur="500"/>
                                        <p:tgtEl>
                                          <p:spTgt spid="539651">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39651">
                                            <p:txEl>
                                              <p:pRg st="7" end="7"/>
                                            </p:txEl>
                                          </p:spTgt>
                                        </p:tgtEl>
                                        <p:attrNameLst>
                                          <p:attrName>style.visibility</p:attrName>
                                        </p:attrNameLst>
                                      </p:cBhvr>
                                      <p:to>
                                        <p:strVal val="visible"/>
                                      </p:to>
                                    </p:set>
                                    <p:animEffect transition="in" filter="blinds(horizontal)">
                                      <p:cBhvr>
                                        <p:cTn id="37" dur="500"/>
                                        <p:tgtEl>
                                          <p:spTgt spid="53965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a:xfrm>
            <a:off x="2208213" y="549275"/>
            <a:ext cx="7772400" cy="731838"/>
          </a:xfrm>
        </p:spPr>
        <p:txBody>
          <a:bodyPr vert="horz" wrap="square" lIns="91440" tIns="45720" rIns="91440" bIns="45720" numCol="1" anchor="ctr" anchorCtr="0" compatLnSpc="1"/>
          <a:lstStyle/>
          <a:p>
            <a:pPr algn="ctr" eaLnBrk="1" hangingPunct="1">
              <a:defRPr/>
            </a:pPr>
            <a:r>
              <a:rPr lang="en-US" altLang="zh-CN" sz="3600" b="1" dirty="0" err="1">
                <a:solidFill>
                  <a:schemeClr val="tx1"/>
                </a:solidFill>
                <a:effectLst>
                  <a:outerShdw blurRad="38100" dist="38100" dir="2700000" algn="tl">
                    <a:srgbClr val="C0C0C0"/>
                  </a:outerShdw>
                </a:effectLst>
              </a:rPr>
              <a:t>AdaBoost</a:t>
            </a:r>
            <a:r>
              <a:rPr lang="zh-CN" altLang="en-US" sz="3600" b="1" dirty="0">
                <a:solidFill>
                  <a:schemeClr val="tx1"/>
                </a:solidFill>
                <a:effectLst>
                  <a:outerShdw blurRad="38100" dist="38100" dir="2700000" algn="tl">
                    <a:srgbClr val="C0C0C0"/>
                  </a:outerShdw>
                </a:effectLst>
                <a:latin typeface="Times New Roman" panose="02020603050405020304" pitchFamily="18" charset="0"/>
              </a:rPr>
              <a:t>算法工作过程示意</a:t>
            </a:r>
            <a:endParaRPr lang="en-US" altLang="zh-CN" sz="3600" b="1" dirty="0">
              <a:solidFill>
                <a:schemeClr val="tx1"/>
              </a:solidFill>
              <a:effectLst>
                <a:outerShdw blurRad="38100" dist="38100" dir="2700000" algn="tl">
                  <a:srgbClr val="C0C0C0"/>
                </a:outerShdw>
              </a:effectLst>
              <a:latin typeface="Times New Roman" panose="02020603050405020304" pitchFamily="18" charset="0"/>
            </a:endParaRPr>
          </a:p>
        </p:txBody>
      </p:sp>
      <p:grpSp>
        <p:nvGrpSpPr>
          <p:cNvPr id="107524" name="Group 6"/>
          <p:cNvGrpSpPr/>
          <p:nvPr/>
        </p:nvGrpSpPr>
        <p:grpSpPr>
          <a:xfrm>
            <a:off x="2855914" y="1484314"/>
            <a:ext cx="5976937" cy="4537075"/>
            <a:chOff x="2370" y="2380"/>
            <a:chExt cx="6630" cy="5324"/>
          </a:xfrm>
        </p:grpSpPr>
        <p:grpSp>
          <p:nvGrpSpPr>
            <p:cNvPr id="107527" name="Group 7"/>
            <p:cNvGrpSpPr/>
            <p:nvPr/>
          </p:nvGrpSpPr>
          <p:grpSpPr>
            <a:xfrm>
              <a:off x="2370" y="2380"/>
              <a:ext cx="6630" cy="4676"/>
              <a:chOff x="2580" y="1986"/>
              <a:chExt cx="6630" cy="4676"/>
            </a:xfrm>
          </p:grpSpPr>
          <p:grpSp>
            <p:nvGrpSpPr>
              <p:cNvPr id="107534" name="Group 8"/>
              <p:cNvGrpSpPr/>
              <p:nvPr/>
            </p:nvGrpSpPr>
            <p:grpSpPr>
              <a:xfrm>
                <a:off x="2580" y="2064"/>
                <a:ext cx="6630" cy="4598"/>
                <a:chOff x="2580" y="2007"/>
                <a:chExt cx="6630" cy="4598"/>
              </a:xfrm>
            </p:grpSpPr>
            <p:grpSp>
              <p:nvGrpSpPr>
                <p:cNvPr id="107566" name="Group 9"/>
                <p:cNvGrpSpPr/>
                <p:nvPr/>
              </p:nvGrpSpPr>
              <p:grpSpPr>
                <a:xfrm>
                  <a:off x="2817" y="2007"/>
                  <a:ext cx="5463" cy="3645"/>
                  <a:chOff x="2817" y="1752"/>
                  <a:chExt cx="5463" cy="3645"/>
                </a:xfrm>
              </p:grpSpPr>
              <p:grpSp>
                <p:nvGrpSpPr>
                  <p:cNvPr id="107624" name="Group 10"/>
                  <p:cNvGrpSpPr/>
                  <p:nvPr/>
                </p:nvGrpSpPr>
                <p:grpSpPr>
                  <a:xfrm>
                    <a:off x="2880" y="1752"/>
                    <a:ext cx="5400" cy="2964"/>
                    <a:chOff x="2160" y="1752"/>
                    <a:chExt cx="5400" cy="2964"/>
                  </a:xfrm>
                </p:grpSpPr>
                <p:grpSp>
                  <p:nvGrpSpPr>
                    <p:cNvPr id="107630" name="Group 11"/>
                    <p:cNvGrpSpPr/>
                    <p:nvPr/>
                  </p:nvGrpSpPr>
                  <p:grpSpPr>
                    <a:xfrm>
                      <a:off x="2160" y="1752"/>
                      <a:ext cx="360" cy="2964"/>
                      <a:chOff x="2160" y="972"/>
                      <a:chExt cx="360" cy="2964"/>
                    </a:xfrm>
                  </p:grpSpPr>
                  <p:sp>
                    <p:nvSpPr>
                      <p:cNvPr id="107646" name="Rectangle 12"/>
                      <p:cNvSpPr/>
                      <p:nvPr/>
                    </p:nvSpPr>
                    <p:spPr>
                      <a:xfrm>
                        <a:off x="2160" y="972"/>
                        <a:ext cx="360" cy="624"/>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47" name="Rectangle 13"/>
                      <p:cNvSpPr/>
                      <p:nvPr/>
                    </p:nvSpPr>
                    <p:spPr>
                      <a:xfrm>
                        <a:off x="2160" y="1752"/>
                        <a:ext cx="360" cy="624"/>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48" name="Rectangle 14"/>
                      <p:cNvSpPr/>
                      <p:nvPr/>
                    </p:nvSpPr>
                    <p:spPr>
                      <a:xfrm>
                        <a:off x="2160" y="2532"/>
                        <a:ext cx="360" cy="624"/>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49" name="Rectangle 15"/>
                      <p:cNvSpPr/>
                      <p:nvPr/>
                    </p:nvSpPr>
                    <p:spPr>
                      <a:xfrm>
                        <a:off x="2160" y="3312"/>
                        <a:ext cx="360" cy="624"/>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grpSp>
                  <p:nvGrpSpPr>
                    <p:cNvPr id="107631" name="Group 16"/>
                    <p:cNvGrpSpPr/>
                    <p:nvPr/>
                  </p:nvGrpSpPr>
                  <p:grpSpPr>
                    <a:xfrm>
                      <a:off x="3780" y="1761"/>
                      <a:ext cx="360" cy="2919"/>
                      <a:chOff x="2880" y="1767"/>
                      <a:chExt cx="360" cy="2919"/>
                    </a:xfrm>
                  </p:grpSpPr>
                  <p:sp>
                    <p:nvSpPr>
                      <p:cNvPr id="107642" name="Rectangle 17"/>
                      <p:cNvSpPr/>
                      <p:nvPr/>
                    </p:nvSpPr>
                    <p:spPr>
                      <a:xfrm>
                        <a:off x="2880" y="1767"/>
                        <a:ext cx="360" cy="312"/>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43" name="Rectangle 18"/>
                      <p:cNvSpPr/>
                      <p:nvPr/>
                    </p:nvSpPr>
                    <p:spPr>
                      <a:xfrm>
                        <a:off x="2880" y="2205"/>
                        <a:ext cx="360" cy="936"/>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44" name="Rectangle 19"/>
                      <p:cNvSpPr/>
                      <p:nvPr/>
                    </p:nvSpPr>
                    <p:spPr>
                      <a:xfrm>
                        <a:off x="2880" y="3312"/>
                        <a:ext cx="360" cy="936"/>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45" name="Rectangle 20"/>
                      <p:cNvSpPr/>
                      <p:nvPr/>
                    </p:nvSpPr>
                    <p:spPr>
                      <a:xfrm>
                        <a:off x="2880" y="4374"/>
                        <a:ext cx="360" cy="312"/>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grpSp>
                  <p:nvGrpSpPr>
                    <p:cNvPr id="107632" name="Group 21"/>
                    <p:cNvGrpSpPr/>
                    <p:nvPr/>
                  </p:nvGrpSpPr>
                  <p:grpSpPr>
                    <a:xfrm>
                      <a:off x="5490" y="1752"/>
                      <a:ext cx="375" cy="2904"/>
                      <a:chOff x="5190" y="1752"/>
                      <a:chExt cx="375" cy="2904"/>
                    </a:xfrm>
                  </p:grpSpPr>
                  <p:sp>
                    <p:nvSpPr>
                      <p:cNvPr id="107638" name="Rectangle 22"/>
                      <p:cNvSpPr/>
                      <p:nvPr/>
                    </p:nvSpPr>
                    <p:spPr>
                      <a:xfrm>
                        <a:off x="5190" y="2052"/>
                        <a:ext cx="360" cy="780"/>
                      </a:xfrm>
                      <a:prstGeom prst="rect">
                        <a:avLst/>
                      </a:prstGeom>
                      <a:solidFill>
                        <a:srgbClr val="969696"/>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39" name="Rectangle 23"/>
                      <p:cNvSpPr/>
                      <p:nvPr/>
                    </p:nvSpPr>
                    <p:spPr>
                      <a:xfrm>
                        <a:off x="5190" y="2964"/>
                        <a:ext cx="360" cy="780"/>
                      </a:xfrm>
                      <a:prstGeom prst="rect">
                        <a:avLst/>
                      </a:prstGeom>
                      <a:solidFill>
                        <a:srgbClr val="969696"/>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40" name="Rectangle 24"/>
                      <p:cNvSpPr/>
                      <p:nvPr/>
                    </p:nvSpPr>
                    <p:spPr>
                      <a:xfrm>
                        <a:off x="5190" y="3876"/>
                        <a:ext cx="360" cy="780"/>
                      </a:xfrm>
                      <a:prstGeom prst="rect">
                        <a:avLst/>
                      </a:prstGeom>
                      <a:solidFill>
                        <a:srgbClr val="969696"/>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41" name="Rectangle 25"/>
                      <p:cNvSpPr/>
                      <p:nvPr/>
                    </p:nvSpPr>
                    <p:spPr>
                      <a:xfrm>
                        <a:off x="5205" y="1752"/>
                        <a:ext cx="360" cy="156"/>
                      </a:xfrm>
                      <a:prstGeom prst="rect">
                        <a:avLst/>
                      </a:prstGeom>
                      <a:solidFill>
                        <a:srgbClr val="969696"/>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grpSp>
                  <p:nvGrpSpPr>
                    <p:cNvPr id="107633" name="Group 26"/>
                    <p:cNvGrpSpPr/>
                    <p:nvPr/>
                  </p:nvGrpSpPr>
                  <p:grpSpPr>
                    <a:xfrm>
                      <a:off x="7200" y="1752"/>
                      <a:ext cx="360" cy="2964"/>
                      <a:chOff x="7200" y="1752"/>
                      <a:chExt cx="360" cy="2964"/>
                    </a:xfrm>
                  </p:grpSpPr>
                  <p:sp>
                    <p:nvSpPr>
                      <p:cNvPr id="107634" name="Rectangle 27"/>
                      <p:cNvSpPr/>
                      <p:nvPr/>
                    </p:nvSpPr>
                    <p:spPr>
                      <a:xfrm>
                        <a:off x="7200" y="1752"/>
                        <a:ext cx="360" cy="312"/>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35" name="Rectangle 28"/>
                      <p:cNvSpPr/>
                      <p:nvPr/>
                    </p:nvSpPr>
                    <p:spPr>
                      <a:xfrm>
                        <a:off x="7200" y="2220"/>
                        <a:ext cx="360" cy="312"/>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36" name="Rectangle 29"/>
                      <p:cNvSpPr/>
                      <p:nvPr/>
                    </p:nvSpPr>
                    <p:spPr>
                      <a:xfrm>
                        <a:off x="7200" y="4404"/>
                        <a:ext cx="360" cy="312"/>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37" name="Rectangle 30"/>
                      <p:cNvSpPr/>
                      <p:nvPr/>
                    </p:nvSpPr>
                    <p:spPr>
                      <a:xfrm>
                        <a:off x="7200" y="2688"/>
                        <a:ext cx="360" cy="1560"/>
                      </a:xfrm>
                      <a:prstGeom prst="rect">
                        <a:avLst/>
                      </a:prstGeom>
                      <a:solidFill>
                        <a:srgbClr val="C0C0C0"/>
                      </a:solidFill>
                      <a:ln w="9525" cap="flat" cmpd="sng">
                        <a:solidFill>
                          <a:srgbClr val="000000"/>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grpSp>
              <p:grpSp>
                <p:nvGrpSpPr>
                  <p:cNvPr id="107625" name="Group 31"/>
                  <p:cNvGrpSpPr/>
                  <p:nvPr/>
                </p:nvGrpSpPr>
                <p:grpSpPr>
                  <a:xfrm>
                    <a:off x="2817" y="4929"/>
                    <a:ext cx="5403" cy="468"/>
                    <a:chOff x="2877" y="5184"/>
                    <a:chExt cx="5403" cy="468"/>
                  </a:xfrm>
                </p:grpSpPr>
                <p:sp>
                  <p:nvSpPr>
                    <p:cNvPr id="107626" name="AutoShape 32"/>
                    <p:cNvSpPr/>
                    <p:nvPr/>
                  </p:nvSpPr>
                  <p:spPr>
                    <a:xfrm>
                      <a:off x="2877" y="5184"/>
                      <a:ext cx="360" cy="468"/>
                    </a:xfrm>
                    <a:prstGeom prst="downArrow">
                      <a:avLst>
                        <a:gd name="adj1" fmla="val 50000"/>
                        <a:gd name="adj2" fmla="val 32500"/>
                      </a:avLst>
                    </a:prstGeom>
                    <a:solidFill>
                      <a:srgbClr val="003300"/>
                    </a:solidFill>
                    <a:ln w="9525" cap="flat" cmpd="sng">
                      <a:solidFill>
                        <a:srgbClr val="000000"/>
                      </a:solidFill>
                      <a:prstDash val="solid"/>
                      <a:miter/>
                      <a:headEnd type="none" w="med" len="med"/>
                      <a:tailEnd type="none" w="med" len="med"/>
                    </a:ln>
                  </p:spPr>
                  <p:txBody>
                    <a:bodyPr vert="eaVert"/>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27" name="AutoShape 33"/>
                    <p:cNvSpPr/>
                    <p:nvPr/>
                  </p:nvSpPr>
                  <p:spPr>
                    <a:xfrm>
                      <a:off x="4500" y="5184"/>
                      <a:ext cx="360" cy="468"/>
                    </a:xfrm>
                    <a:prstGeom prst="downArrow">
                      <a:avLst>
                        <a:gd name="adj1" fmla="val 50000"/>
                        <a:gd name="adj2" fmla="val 32500"/>
                      </a:avLst>
                    </a:prstGeom>
                    <a:solidFill>
                      <a:srgbClr val="003300"/>
                    </a:solidFill>
                    <a:ln w="9525" cap="flat" cmpd="sng">
                      <a:solidFill>
                        <a:srgbClr val="000000"/>
                      </a:solidFill>
                      <a:prstDash val="solid"/>
                      <a:miter/>
                      <a:headEnd type="none" w="med" len="med"/>
                      <a:tailEnd type="none" w="med" len="med"/>
                    </a:ln>
                  </p:spPr>
                  <p:txBody>
                    <a:bodyPr vert="eaVert"/>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28" name="AutoShape 34"/>
                    <p:cNvSpPr/>
                    <p:nvPr/>
                  </p:nvSpPr>
                  <p:spPr>
                    <a:xfrm>
                      <a:off x="6300" y="5184"/>
                      <a:ext cx="360" cy="468"/>
                    </a:xfrm>
                    <a:prstGeom prst="downArrow">
                      <a:avLst>
                        <a:gd name="adj1" fmla="val 50000"/>
                        <a:gd name="adj2" fmla="val 32500"/>
                      </a:avLst>
                    </a:prstGeom>
                    <a:solidFill>
                      <a:srgbClr val="003300"/>
                    </a:solidFill>
                    <a:ln w="9525" cap="flat" cmpd="sng">
                      <a:solidFill>
                        <a:srgbClr val="000000"/>
                      </a:solidFill>
                      <a:prstDash val="solid"/>
                      <a:miter/>
                      <a:headEnd type="none" w="med" len="med"/>
                      <a:tailEnd type="none" w="med" len="med"/>
                    </a:ln>
                  </p:spPr>
                  <p:txBody>
                    <a:bodyPr vert="eaVert"/>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29" name="AutoShape 35"/>
                    <p:cNvSpPr/>
                    <p:nvPr/>
                  </p:nvSpPr>
                  <p:spPr>
                    <a:xfrm>
                      <a:off x="7920" y="5184"/>
                      <a:ext cx="360" cy="468"/>
                    </a:xfrm>
                    <a:prstGeom prst="downArrow">
                      <a:avLst>
                        <a:gd name="adj1" fmla="val 50000"/>
                        <a:gd name="adj2" fmla="val 32500"/>
                      </a:avLst>
                    </a:prstGeom>
                    <a:solidFill>
                      <a:srgbClr val="003300"/>
                    </a:solidFill>
                    <a:ln w="9525" cap="flat" cmpd="sng">
                      <a:solidFill>
                        <a:srgbClr val="000000"/>
                      </a:solidFill>
                      <a:prstDash val="solid"/>
                      <a:miter/>
                      <a:headEnd type="none" w="med" len="med"/>
                      <a:tailEnd type="none" w="med" len="med"/>
                    </a:ln>
                  </p:spPr>
                  <p:txBody>
                    <a:bodyPr vert="eaVert"/>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grpSp>
            <p:grpSp>
              <p:nvGrpSpPr>
                <p:cNvPr id="107567" name="Group 36"/>
                <p:cNvGrpSpPr/>
                <p:nvPr/>
              </p:nvGrpSpPr>
              <p:grpSpPr>
                <a:xfrm>
                  <a:off x="2580" y="5652"/>
                  <a:ext cx="6630" cy="953"/>
                  <a:chOff x="2640" y="5652"/>
                  <a:chExt cx="6630" cy="953"/>
                </a:xfrm>
              </p:grpSpPr>
              <p:graphicFrame>
                <p:nvGraphicFramePr>
                  <p:cNvPr id="107568" name="Object 37"/>
                  <p:cNvGraphicFramePr>
                    <a:graphicFrameLocks noChangeAspect="1"/>
                  </p:cNvGraphicFramePr>
                  <p:nvPr/>
                </p:nvGraphicFramePr>
                <p:xfrm>
                  <a:off x="2640" y="5931"/>
                  <a:ext cx="460" cy="345"/>
                </p:xfrm>
                <a:graphic>
                  <a:graphicData uri="http://schemas.openxmlformats.org/presentationml/2006/ole">
                    <mc:AlternateContent xmlns:mc="http://schemas.openxmlformats.org/markup-compatibility/2006">
                      <mc:Choice xmlns:v="urn:schemas-microsoft-com:vml" Requires="v">
                        <p:oleObj r:id="rId2" imgW="279400" imgH="215900" progId="Equation.3">
                          <p:embed/>
                        </p:oleObj>
                      </mc:Choice>
                      <mc:Fallback>
                        <p:oleObj r:id="rId2" imgW="279400" imgH="215900" progId="Equation.3">
                          <p:embed/>
                          <p:pic>
                            <p:nvPicPr>
                              <p:cNvPr id="0" name="图片 3091"/>
                              <p:cNvPicPr/>
                              <p:nvPr/>
                            </p:nvPicPr>
                            <p:blipFill>
                              <a:blip r:embed="rId3"/>
                              <a:stretch>
                                <a:fillRect/>
                              </a:stretch>
                            </p:blipFill>
                            <p:spPr>
                              <a:xfrm>
                                <a:off x="2640" y="5931"/>
                                <a:ext cx="460" cy="345"/>
                              </a:xfrm>
                              <a:prstGeom prst="rect">
                                <a:avLst/>
                              </a:prstGeom>
                              <a:noFill/>
                              <a:ln w="38100">
                                <a:noFill/>
                                <a:miter/>
                              </a:ln>
                            </p:spPr>
                          </p:pic>
                        </p:oleObj>
                      </mc:Fallback>
                    </mc:AlternateContent>
                  </a:graphicData>
                </a:graphic>
              </p:graphicFrame>
              <p:graphicFrame>
                <p:nvGraphicFramePr>
                  <p:cNvPr id="107569" name="Object 38"/>
                  <p:cNvGraphicFramePr>
                    <a:graphicFrameLocks noChangeAspect="1"/>
                  </p:cNvGraphicFramePr>
                  <p:nvPr/>
                </p:nvGraphicFramePr>
                <p:xfrm>
                  <a:off x="4361" y="5931"/>
                  <a:ext cx="499" cy="345"/>
                </p:xfrm>
                <a:graphic>
                  <a:graphicData uri="http://schemas.openxmlformats.org/presentationml/2006/ole">
                    <mc:AlternateContent xmlns:mc="http://schemas.openxmlformats.org/markup-compatibility/2006">
                      <mc:Choice xmlns:v="urn:schemas-microsoft-com:vml" Requires="v">
                        <p:oleObj r:id="rId4" imgW="304800" imgH="215900" progId="Equation.3">
                          <p:embed/>
                        </p:oleObj>
                      </mc:Choice>
                      <mc:Fallback>
                        <p:oleObj r:id="rId4" imgW="304800" imgH="215900" progId="Equation.3">
                          <p:embed/>
                          <p:pic>
                            <p:nvPicPr>
                              <p:cNvPr id="0" name="图片 3093"/>
                              <p:cNvPicPr/>
                              <p:nvPr/>
                            </p:nvPicPr>
                            <p:blipFill>
                              <a:blip r:embed="rId5"/>
                              <a:stretch>
                                <a:fillRect/>
                              </a:stretch>
                            </p:blipFill>
                            <p:spPr>
                              <a:xfrm>
                                <a:off x="4361" y="5931"/>
                                <a:ext cx="499" cy="345"/>
                              </a:xfrm>
                              <a:prstGeom prst="rect">
                                <a:avLst/>
                              </a:prstGeom>
                              <a:noFill/>
                              <a:ln w="38100">
                                <a:noFill/>
                                <a:miter/>
                              </a:ln>
                            </p:spPr>
                          </p:pic>
                        </p:oleObj>
                      </mc:Fallback>
                    </mc:AlternateContent>
                  </a:graphicData>
                </a:graphic>
              </p:graphicFrame>
              <p:graphicFrame>
                <p:nvGraphicFramePr>
                  <p:cNvPr id="107570" name="Object 39"/>
                  <p:cNvGraphicFramePr>
                    <a:graphicFrameLocks noChangeAspect="1"/>
                  </p:cNvGraphicFramePr>
                  <p:nvPr/>
                </p:nvGraphicFramePr>
                <p:xfrm>
                  <a:off x="6120" y="5911"/>
                  <a:ext cx="480" cy="365"/>
                </p:xfrm>
                <a:graphic>
                  <a:graphicData uri="http://schemas.openxmlformats.org/presentationml/2006/ole">
                    <mc:AlternateContent xmlns:mc="http://schemas.openxmlformats.org/markup-compatibility/2006">
                      <mc:Choice xmlns:v="urn:schemas-microsoft-com:vml" Requires="v">
                        <p:oleObj r:id="rId6" imgW="292100" imgH="228600" progId="Equation.3">
                          <p:embed/>
                        </p:oleObj>
                      </mc:Choice>
                      <mc:Fallback>
                        <p:oleObj r:id="rId6" imgW="292100" imgH="228600" progId="Equation.3">
                          <p:embed/>
                          <p:pic>
                            <p:nvPicPr>
                              <p:cNvPr id="0" name="图片 3092"/>
                              <p:cNvPicPr/>
                              <p:nvPr/>
                            </p:nvPicPr>
                            <p:blipFill>
                              <a:blip r:embed="rId7"/>
                              <a:stretch>
                                <a:fillRect/>
                              </a:stretch>
                            </p:blipFill>
                            <p:spPr>
                              <a:xfrm>
                                <a:off x="6120" y="5911"/>
                                <a:ext cx="480" cy="365"/>
                              </a:xfrm>
                              <a:prstGeom prst="rect">
                                <a:avLst/>
                              </a:prstGeom>
                              <a:noFill/>
                              <a:ln w="38100">
                                <a:noFill/>
                                <a:miter/>
                              </a:ln>
                            </p:spPr>
                          </p:pic>
                        </p:oleObj>
                      </mc:Fallback>
                    </mc:AlternateContent>
                  </a:graphicData>
                </a:graphic>
              </p:graphicFrame>
              <p:graphicFrame>
                <p:nvGraphicFramePr>
                  <p:cNvPr id="107571" name="Object 40"/>
                  <p:cNvGraphicFramePr>
                    <a:graphicFrameLocks noChangeAspect="1"/>
                  </p:cNvGraphicFramePr>
                  <p:nvPr/>
                </p:nvGraphicFramePr>
                <p:xfrm>
                  <a:off x="7740" y="5931"/>
                  <a:ext cx="499" cy="345"/>
                </p:xfrm>
                <a:graphic>
                  <a:graphicData uri="http://schemas.openxmlformats.org/presentationml/2006/ole">
                    <mc:AlternateContent xmlns:mc="http://schemas.openxmlformats.org/markup-compatibility/2006">
                      <mc:Choice xmlns:v="urn:schemas-microsoft-com:vml" Requires="v">
                        <p:oleObj r:id="rId8" imgW="304800" imgH="215900" progId="Equation.3">
                          <p:embed/>
                        </p:oleObj>
                      </mc:Choice>
                      <mc:Fallback>
                        <p:oleObj r:id="rId8" imgW="304800" imgH="215900" progId="Equation.3">
                          <p:embed/>
                          <p:pic>
                            <p:nvPicPr>
                              <p:cNvPr id="0" name="图片 3094"/>
                              <p:cNvPicPr/>
                              <p:nvPr/>
                            </p:nvPicPr>
                            <p:blipFill>
                              <a:blip r:embed="rId9"/>
                              <a:stretch>
                                <a:fillRect/>
                              </a:stretch>
                            </p:blipFill>
                            <p:spPr>
                              <a:xfrm>
                                <a:off x="7740" y="5931"/>
                                <a:ext cx="499" cy="345"/>
                              </a:xfrm>
                              <a:prstGeom prst="rect">
                                <a:avLst/>
                              </a:prstGeom>
                              <a:noFill/>
                              <a:ln w="38100">
                                <a:noFill/>
                                <a:miter/>
                              </a:ln>
                            </p:spPr>
                          </p:pic>
                        </p:oleObj>
                      </mc:Fallback>
                    </mc:AlternateContent>
                  </a:graphicData>
                </a:graphic>
              </p:graphicFrame>
              <p:grpSp>
                <p:nvGrpSpPr>
                  <p:cNvPr id="107572" name="Group 41"/>
                  <p:cNvGrpSpPr/>
                  <p:nvPr/>
                </p:nvGrpSpPr>
                <p:grpSpPr>
                  <a:xfrm>
                    <a:off x="6660" y="5652"/>
                    <a:ext cx="720" cy="780"/>
                    <a:chOff x="1800" y="7524"/>
                    <a:chExt cx="990" cy="953"/>
                  </a:xfrm>
                </p:grpSpPr>
                <p:grpSp>
                  <p:nvGrpSpPr>
                    <p:cNvPr id="107612" name="Group 42"/>
                    <p:cNvGrpSpPr/>
                    <p:nvPr/>
                  </p:nvGrpSpPr>
                  <p:grpSpPr>
                    <a:xfrm>
                      <a:off x="1800" y="7524"/>
                      <a:ext cx="906" cy="953"/>
                      <a:chOff x="2004" y="7647"/>
                      <a:chExt cx="906" cy="953"/>
                    </a:xfrm>
                  </p:grpSpPr>
                  <p:grpSp>
                    <p:nvGrpSpPr>
                      <p:cNvPr id="107614" name="Group 43"/>
                      <p:cNvGrpSpPr/>
                      <p:nvPr/>
                    </p:nvGrpSpPr>
                    <p:grpSpPr>
                      <a:xfrm rot="-590047">
                        <a:off x="2004" y="7647"/>
                        <a:ext cx="709" cy="953"/>
                        <a:chOff x="2115" y="7821"/>
                        <a:chExt cx="735" cy="870"/>
                      </a:xfrm>
                    </p:grpSpPr>
                    <p:sp>
                      <p:nvSpPr>
                        <p:cNvPr id="107616" name="Oval 44"/>
                        <p:cNvSpPr/>
                        <p:nvPr/>
                      </p:nvSpPr>
                      <p:spPr>
                        <a:xfrm>
                          <a:off x="2655" y="851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nvGrpSpPr>
                        <p:cNvPr id="107617" name="Group 45"/>
                        <p:cNvGrpSpPr/>
                        <p:nvPr/>
                      </p:nvGrpSpPr>
                      <p:grpSpPr>
                        <a:xfrm>
                          <a:off x="2115" y="7821"/>
                          <a:ext cx="735" cy="795"/>
                          <a:chOff x="2145" y="7836"/>
                          <a:chExt cx="735" cy="795"/>
                        </a:xfrm>
                      </p:grpSpPr>
                      <p:grpSp>
                        <p:nvGrpSpPr>
                          <p:cNvPr id="107618" name="Group 46"/>
                          <p:cNvGrpSpPr/>
                          <p:nvPr/>
                        </p:nvGrpSpPr>
                        <p:grpSpPr>
                          <a:xfrm>
                            <a:off x="2145" y="7836"/>
                            <a:ext cx="735" cy="795"/>
                            <a:chOff x="2145" y="7836"/>
                            <a:chExt cx="735" cy="795"/>
                          </a:xfrm>
                        </p:grpSpPr>
                        <p:sp>
                          <p:nvSpPr>
                            <p:cNvPr id="107620" name="Oval 47"/>
                            <p:cNvSpPr/>
                            <p:nvPr/>
                          </p:nvSpPr>
                          <p:spPr>
                            <a:xfrm>
                              <a:off x="2415" y="815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21" name="Oval 48"/>
                            <p:cNvSpPr/>
                            <p:nvPr/>
                          </p:nvSpPr>
                          <p:spPr>
                            <a:xfrm>
                              <a:off x="2145" y="845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22" name="Oval 49"/>
                            <p:cNvSpPr/>
                            <p:nvPr/>
                          </p:nvSpPr>
                          <p:spPr>
                            <a:xfrm>
                              <a:off x="2700" y="7836"/>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23" name="Line 50"/>
                            <p:cNvSpPr/>
                            <p:nvPr/>
                          </p:nvSpPr>
                          <p:spPr>
                            <a:xfrm rot="-487851">
                              <a:off x="2565" y="8268"/>
                              <a:ext cx="180" cy="312"/>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sp>
                        <p:nvSpPr>
                          <p:cNvPr id="107619" name="Line 51"/>
                          <p:cNvSpPr/>
                          <p:nvPr/>
                        </p:nvSpPr>
                        <p:spPr>
                          <a:xfrm flipH="1">
                            <a:off x="2280" y="7920"/>
                            <a:ext cx="540" cy="540"/>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grpSp>
                  <p:sp>
                    <p:nvSpPr>
                      <p:cNvPr id="107615" name="Line 52"/>
                      <p:cNvSpPr/>
                      <p:nvPr/>
                    </p:nvSpPr>
                    <p:spPr>
                      <a:xfrm>
                        <a:off x="2550" y="7728"/>
                        <a:ext cx="360" cy="312"/>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sp>
                  <p:nvSpPr>
                    <p:cNvPr id="107613" name="Oval 53"/>
                    <p:cNvSpPr/>
                    <p:nvPr/>
                  </p:nvSpPr>
                  <p:spPr>
                    <a:xfrm>
                      <a:off x="2610" y="7836"/>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grpSp>
                <p:nvGrpSpPr>
                  <p:cNvPr id="107573" name="Group 54"/>
                  <p:cNvGrpSpPr/>
                  <p:nvPr/>
                </p:nvGrpSpPr>
                <p:grpSpPr>
                  <a:xfrm>
                    <a:off x="4860" y="5652"/>
                    <a:ext cx="990" cy="953"/>
                    <a:chOff x="1800" y="7524"/>
                    <a:chExt cx="990" cy="953"/>
                  </a:xfrm>
                </p:grpSpPr>
                <p:grpSp>
                  <p:nvGrpSpPr>
                    <p:cNvPr id="107600" name="Group 55"/>
                    <p:cNvGrpSpPr/>
                    <p:nvPr/>
                  </p:nvGrpSpPr>
                  <p:grpSpPr>
                    <a:xfrm>
                      <a:off x="1800" y="7524"/>
                      <a:ext cx="906" cy="953"/>
                      <a:chOff x="2004" y="7647"/>
                      <a:chExt cx="906" cy="953"/>
                    </a:xfrm>
                  </p:grpSpPr>
                  <p:grpSp>
                    <p:nvGrpSpPr>
                      <p:cNvPr id="107602" name="Group 56"/>
                      <p:cNvGrpSpPr/>
                      <p:nvPr/>
                    </p:nvGrpSpPr>
                    <p:grpSpPr>
                      <a:xfrm rot="-590047">
                        <a:off x="2004" y="7647"/>
                        <a:ext cx="709" cy="953"/>
                        <a:chOff x="2115" y="7821"/>
                        <a:chExt cx="735" cy="870"/>
                      </a:xfrm>
                    </p:grpSpPr>
                    <p:sp>
                      <p:nvSpPr>
                        <p:cNvPr id="107604" name="Oval 57"/>
                        <p:cNvSpPr/>
                        <p:nvPr/>
                      </p:nvSpPr>
                      <p:spPr>
                        <a:xfrm>
                          <a:off x="2655" y="851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nvGrpSpPr>
                        <p:cNvPr id="107605" name="Group 58"/>
                        <p:cNvGrpSpPr/>
                        <p:nvPr/>
                      </p:nvGrpSpPr>
                      <p:grpSpPr>
                        <a:xfrm>
                          <a:off x="2115" y="7821"/>
                          <a:ext cx="735" cy="795"/>
                          <a:chOff x="2145" y="7836"/>
                          <a:chExt cx="735" cy="795"/>
                        </a:xfrm>
                      </p:grpSpPr>
                      <p:grpSp>
                        <p:nvGrpSpPr>
                          <p:cNvPr id="107606" name="Group 59"/>
                          <p:cNvGrpSpPr/>
                          <p:nvPr/>
                        </p:nvGrpSpPr>
                        <p:grpSpPr>
                          <a:xfrm>
                            <a:off x="2145" y="7836"/>
                            <a:ext cx="735" cy="795"/>
                            <a:chOff x="2145" y="7836"/>
                            <a:chExt cx="735" cy="795"/>
                          </a:xfrm>
                        </p:grpSpPr>
                        <p:sp>
                          <p:nvSpPr>
                            <p:cNvPr id="107608" name="Oval 60"/>
                            <p:cNvSpPr/>
                            <p:nvPr/>
                          </p:nvSpPr>
                          <p:spPr>
                            <a:xfrm>
                              <a:off x="2415" y="815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09" name="Oval 61"/>
                            <p:cNvSpPr/>
                            <p:nvPr/>
                          </p:nvSpPr>
                          <p:spPr>
                            <a:xfrm>
                              <a:off x="2145" y="845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10" name="Oval 62"/>
                            <p:cNvSpPr/>
                            <p:nvPr/>
                          </p:nvSpPr>
                          <p:spPr>
                            <a:xfrm>
                              <a:off x="2700" y="7836"/>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611" name="Line 63"/>
                            <p:cNvSpPr/>
                            <p:nvPr/>
                          </p:nvSpPr>
                          <p:spPr>
                            <a:xfrm rot="-487851">
                              <a:off x="2565" y="8268"/>
                              <a:ext cx="180" cy="312"/>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sp>
                        <p:nvSpPr>
                          <p:cNvPr id="107607" name="Line 64"/>
                          <p:cNvSpPr/>
                          <p:nvPr/>
                        </p:nvSpPr>
                        <p:spPr>
                          <a:xfrm flipH="1">
                            <a:off x="2280" y="7920"/>
                            <a:ext cx="540" cy="540"/>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grpSp>
                  <p:sp>
                    <p:nvSpPr>
                      <p:cNvPr id="107603" name="Line 65"/>
                      <p:cNvSpPr/>
                      <p:nvPr/>
                    </p:nvSpPr>
                    <p:spPr>
                      <a:xfrm>
                        <a:off x="2550" y="7728"/>
                        <a:ext cx="360" cy="312"/>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sp>
                  <p:nvSpPr>
                    <p:cNvPr id="107601" name="Oval 66"/>
                    <p:cNvSpPr/>
                    <p:nvPr/>
                  </p:nvSpPr>
                  <p:spPr>
                    <a:xfrm>
                      <a:off x="2610" y="7836"/>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grpSp>
                <p:nvGrpSpPr>
                  <p:cNvPr id="107574" name="Group 67"/>
                  <p:cNvGrpSpPr/>
                  <p:nvPr/>
                </p:nvGrpSpPr>
                <p:grpSpPr>
                  <a:xfrm>
                    <a:off x="8280" y="5652"/>
                    <a:ext cx="990" cy="953"/>
                    <a:chOff x="1800" y="7524"/>
                    <a:chExt cx="990" cy="953"/>
                  </a:xfrm>
                </p:grpSpPr>
                <p:grpSp>
                  <p:nvGrpSpPr>
                    <p:cNvPr id="107588" name="Group 68"/>
                    <p:cNvGrpSpPr/>
                    <p:nvPr/>
                  </p:nvGrpSpPr>
                  <p:grpSpPr>
                    <a:xfrm>
                      <a:off x="1800" y="7524"/>
                      <a:ext cx="906" cy="953"/>
                      <a:chOff x="2004" y="7647"/>
                      <a:chExt cx="906" cy="953"/>
                    </a:xfrm>
                  </p:grpSpPr>
                  <p:grpSp>
                    <p:nvGrpSpPr>
                      <p:cNvPr id="107590" name="Group 69"/>
                      <p:cNvGrpSpPr/>
                      <p:nvPr/>
                    </p:nvGrpSpPr>
                    <p:grpSpPr>
                      <a:xfrm rot="-590047">
                        <a:off x="2004" y="7647"/>
                        <a:ext cx="709" cy="953"/>
                        <a:chOff x="2115" y="7821"/>
                        <a:chExt cx="735" cy="870"/>
                      </a:xfrm>
                    </p:grpSpPr>
                    <p:sp>
                      <p:nvSpPr>
                        <p:cNvPr id="107592" name="Oval 70"/>
                        <p:cNvSpPr/>
                        <p:nvPr/>
                      </p:nvSpPr>
                      <p:spPr>
                        <a:xfrm>
                          <a:off x="2655" y="851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nvGrpSpPr>
                        <p:cNvPr id="107593" name="Group 71"/>
                        <p:cNvGrpSpPr/>
                        <p:nvPr/>
                      </p:nvGrpSpPr>
                      <p:grpSpPr>
                        <a:xfrm>
                          <a:off x="2115" y="7821"/>
                          <a:ext cx="735" cy="795"/>
                          <a:chOff x="2145" y="7836"/>
                          <a:chExt cx="735" cy="795"/>
                        </a:xfrm>
                      </p:grpSpPr>
                      <p:grpSp>
                        <p:nvGrpSpPr>
                          <p:cNvPr id="107594" name="Group 72"/>
                          <p:cNvGrpSpPr/>
                          <p:nvPr/>
                        </p:nvGrpSpPr>
                        <p:grpSpPr>
                          <a:xfrm>
                            <a:off x="2145" y="7836"/>
                            <a:ext cx="735" cy="795"/>
                            <a:chOff x="2145" y="7836"/>
                            <a:chExt cx="735" cy="795"/>
                          </a:xfrm>
                        </p:grpSpPr>
                        <p:sp>
                          <p:nvSpPr>
                            <p:cNvPr id="107596" name="Oval 73"/>
                            <p:cNvSpPr/>
                            <p:nvPr/>
                          </p:nvSpPr>
                          <p:spPr>
                            <a:xfrm>
                              <a:off x="2415" y="815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597" name="Oval 74"/>
                            <p:cNvSpPr/>
                            <p:nvPr/>
                          </p:nvSpPr>
                          <p:spPr>
                            <a:xfrm>
                              <a:off x="2145" y="845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598" name="Oval 75"/>
                            <p:cNvSpPr/>
                            <p:nvPr/>
                          </p:nvSpPr>
                          <p:spPr>
                            <a:xfrm>
                              <a:off x="2700" y="7836"/>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599" name="Line 76"/>
                            <p:cNvSpPr/>
                            <p:nvPr/>
                          </p:nvSpPr>
                          <p:spPr>
                            <a:xfrm rot="-487851">
                              <a:off x="2565" y="8268"/>
                              <a:ext cx="180" cy="312"/>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sp>
                        <p:nvSpPr>
                          <p:cNvPr id="107595" name="Line 77"/>
                          <p:cNvSpPr/>
                          <p:nvPr/>
                        </p:nvSpPr>
                        <p:spPr>
                          <a:xfrm flipH="1">
                            <a:off x="2280" y="7920"/>
                            <a:ext cx="540" cy="540"/>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grpSp>
                  <p:sp>
                    <p:nvSpPr>
                      <p:cNvPr id="107591" name="Line 78"/>
                      <p:cNvSpPr/>
                      <p:nvPr/>
                    </p:nvSpPr>
                    <p:spPr>
                      <a:xfrm>
                        <a:off x="2550" y="7728"/>
                        <a:ext cx="360" cy="312"/>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sp>
                  <p:nvSpPr>
                    <p:cNvPr id="107589" name="Oval 79"/>
                    <p:cNvSpPr/>
                    <p:nvPr/>
                  </p:nvSpPr>
                  <p:spPr>
                    <a:xfrm>
                      <a:off x="2610" y="7836"/>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grpSp>
                <p:nvGrpSpPr>
                  <p:cNvPr id="107575" name="Group 80"/>
                  <p:cNvGrpSpPr/>
                  <p:nvPr/>
                </p:nvGrpSpPr>
                <p:grpSpPr>
                  <a:xfrm>
                    <a:off x="3240" y="5652"/>
                    <a:ext cx="720" cy="780"/>
                    <a:chOff x="1800" y="7524"/>
                    <a:chExt cx="990" cy="953"/>
                  </a:xfrm>
                </p:grpSpPr>
                <p:grpSp>
                  <p:nvGrpSpPr>
                    <p:cNvPr id="107576" name="Group 81"/>
                    <p:cNvGrpSpPr/>
                    <p:nvPr/>
                  </p:nvGrpSpPr>
                  <p:grpSpPr>
                    <a:xfrm>
                      <a:off x="1800" y="7524"/>
                      <a:ext cx="906" cy="953"/>
                      <a:chOff x="2004" y="7647"/>
                      <a:chExt cx="906" cy="953"/>
                    </a:xfrm>
                  </p:grpSpPr>
                  <p:grpSp>
                    <p:nvGrpSpPr>
                      <p:cNvPr id="107578" name="Group 82"/>
                      <p:cNvGrpSpPr/>
                      <p:nvPr/>
                    </p:nvGrpSpPr>
                    <p:grpSpPr>
                      <a:xfrm rot="-590047">
                        <a:off x="2004" y="7647"/>
                        <a:ext cx="709" cy="953"/>
                        <a:chOff x="2115" y="7821"/>
                        <a:chExt cx="735" cy="870"/>
                      </a:xfrm>
                    </p:grpSpPr>
                    <p:sp>
                      <p:nvSpPr>
                        <p:cNvPr id="107580" name="Oval 83"/>
                        <p:cNvSpPr/>
                        <p:nvPr/>
                      </p:nvSpPr>
                      <p:spPr>
                        <a:xfrm>
                          <a:off x="2655" y="851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nvGrpSpPr>
                        <p:cNvPr id="107581" name="Group 84"/>
                        <p:cNvGrpSpPr/>
                        <p:nvPr/>
                      </p:nvGrpSpPr>
                      <p:grpSpPr>
                        <a:xfrm>
                          <a:off x="2115" y="7821"/>
                          <a:ext cx="735" cy="795"/>
                          <a:chOff x="2145" y="7836"/>
                          <a:chExt cx="735" cy="795"/>
                        </a:xfrm>
                      </p:grpSpPr>
                      <p:grpSp>
                        <p:nvGrpSpPr>
                          <p:cNvPr id="107582" name="Group 85"/>
                          <p:cNvGrpSpPr/>
                          <p:nvPr/>
                        </p:nvGrpSpPr>
                        <p:grpSpPr>
                          <a:xfrm>
                            <a:off x="2145" y="7836"/>
                            <a:ext cx="735" cy="795"/>
                            <a:chOff x="2145" y="7836"/>
                            <a:chExt cx="735" cy="795"/>
                          </a:xfrm>
                        </p:grpSpPr>
                        <p:sp>
                          <p:nvSpPr>
                            <p:cNvPr id="107584" name="Oval 86"/>
                            <p:cNvSpPr/>
                            <p:nvPr/>
                          </p:nvSpPr>
                          <p:spPr>
                            <a:xfrm>
                              <a:off x="2415" y="815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585" name="Oval 87"/>
                            <p:cNvSpPr/>
                            <p:nvPr/>
                          </p:nvSpPr>
                          <p:spPr>
                            <a:xfrm>
                              <a:off x="2145" y="8451"/>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586" name="Oval 88"/>
                            <p:cNvSpPr/>
                            <p:nvPr/>
                          </p:nvSpPr>
                          <p:spPr>
                            <a:xfrm>
                              <a:off x="2700" y="7836"/>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sp>
                          <p:nvSpPr>
                            <p:cNvPr id="107587" name="Line 89"/>
                            <p:cNvSpPr/>
                            <p:nvPr/>
                          </p:nvSpPr>
                          <p:spPr>
                            <a:xfrm rot="-487851">
                              <a:off x="2565" y="8268"/>
                              <a:ext cx="180" cy="312"/>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sp>
                        <p:nvSpPr>
                          <p:cNvPr id="107583" name="Line 90"/>
                          <p:cNvSpPr/>
                          <p:nvPr/>
                        </p:nvSpPr>
                        <p:spPr>
                          <a:xfrm flipH="1">
                            <a:off x="2280" y="7920"/>
                            <a:ext cx="540" cy="540"/>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grpSp>
                  <p:sp>
                    <p:nvSpPr>
                      <p:cNvPr id="107579" name="Line 91"/>
                      <p:cNvSpPr/>
                      <p:nvPr/>
                    </p:nvSpPr>
                    <p:spPr>
                      <a:xfrm>
                        <a:off x="2550" y="7728"/>
                        <a:ext cx="360" cy="312"/>
                      </a:xfrm>
                      <a:prstGeom prst="line">
                        <a:avLst/>
                      </a:prstGeom>
                      <a:ln w="25400" cap="flat" cmpd="sng">
                        <a:solidFill>
                          <a:srgbClr val="000000"/>
                        </a:solidFill>
                        <a:prstDash val="solid"/>
                        <a:headEnd type="none" w="med" len="med"/>
                        <a:tailEnd type="none" w="med" len="med"/>
                      </a:ln>
                    </p:spPr>
                    <p:txBody>
                      <a:bodyPr/>
                      <a:lstStyle/>
                      <a:p>
                        <a:endParaRPr lang="zh-CN" altLang="en-US"/>
                      </a:p>
                    </p:txBody>
                  </p:sp>
                </p:grpSp>
                <p:sp>
                  <p:nvSpPr>
                    <p:cNvPr id="107577" name="Oval 92"/>
                    <p:cNvSpPr/>
                    <p:nvPr/>
                  </p:nvSpPr>
                  <p:spPr>
                    <a:xfrm>
                      <a:off x="2610" y="7836"/>
                      <a:ext cx="180" cy="180"/>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endParaRPr lang="zh-CN" altLang="en-US" sz="2800" dirty="0">
                        <a:latin typeface="Gulim" panose="020B0600000101010101" pitchFamily="34" charset="-127"/>
                        <a:ea typeface="Gulim" panose="020B0600000101010101" pitchFamily="34" charset="-127"/>
                      </a:endParaRPr>
                    </a:p>
                  </p:txBody>
                </p:sp>
              </p:grpSp>
            </p:grpSp>
          </p:grpSp>
          <p:grpSp>
            <p:nvGrpSpPr>
              <p:cNvPr id="107535" name="Group 93"/>
              <p:cNvGrpSpPr/>
              <p:nvPr/>
            </p:nvGrpSpPr>
            <p:grpSpPr>
              <a:xfrm>
                <a:off x="3594" y="1986"/>
                <a:ext cx="5406" cy="3108"/>
                <a:chOff x="3597" y="1986"/>
                <a:chExt cx="5406" cy="3108"/>
              </a:xfrm>
            </p:grpSpPr>
            <p:grpSp>
              <p:nvGrpSpPr>
                <p:cNvPr id="107536" name="Group 94"/>
                <p:cNvGrpSpPr/>
                <p:nvPr/>
              </p:nvGrpSpPr>
              <p:grpSpPr>
                <a:xfrm>
                  <a:off x="3597" y="2064"/>
                  <a:ext cx="3963" cy="3030"/>
                  <a:chOff x="3597" y="2064"/>
                  <a:chExt cx="3963" cy="3030"/>
                </a:xfrm>
              </p:grpSpPr>
              <p:sp>
                <p:nvSpPr>
                  <p:cNvPr id="107542" name="Freeform 95"/>
                  <p:cNvSpPr/>
                  <p:nvPr/>
                </p:nvSpPr>
                <p:spPr>
                  <a:xfrm>
                    <a:off x="3597" y="2064"/>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107543" name="Group 96"/>
                  <p:cNvGrpSpPr/>
                  <p:nvPr/>
                </p:nvGrpSpPr>
                <p:grpSpPr>
                  <a:xfrm>
                    <a:off x="3600" y="3936"/>
                    <a:ext cx="360" cy="468"/>
                    <a:chOff x="900" y="6432"/>
                    <a:chExt cx="360" cy="468"/>
                  </a:xfrm>
                </p:grpSpPr>
                <p:sp>
                  <p:nvSpPr>
                    <p:cNvPr id="107564" name="Line 97"/>
                    <p:cNvSpPr/>
                    <p:nvPr/>
                  </p:nvSpPr>
                  <p:spPr>
                    <a:xfrm>
                      <a:off x="900" y="6432"/>
                      <a:ext cx="360" cy="468"/>
                    </a:xfrm>
                    <a:prstGeom prst="line">
                      <a:avLst/>
                    </a:prstGeom>
                    <a:ln w="28575" cap="flat" cmpd="sng">
                      <a:solidFill>
                        <a:srgbClr val="000000"/>
                      </a:solidFill>
                      <a:prstDash val="solid"/>
                      <a:headEnd type="none" w="med" len="med"/>
                      <a:tailEnd type="none" w="med" len="med"/>
                    </a:ln>
                  </p:spPr>
                  <p:txBody>
                    <a:bodyPr/>
                    <a:lstStyle/>
                    <a:p>
                      <a:endParaRPr lang="zh-CN" altLang="en-US"/>
                    </a:p>
                  </p:txBody>
                </p:sp>
                <p:sp>
                  <p:nvSpPr>
                    <p:cNvPr id="107565" name="Line 98"/>
                    <p:cNvSpPr/>
                    <p:nvPr/>
                  </p:nvSpPr>
                  <p:spPr>
                    <a:xfrm flipH="1">
                      <a:off x="900" y="6432"/>
                      <a:ext cx="360" cy="468"/>
                    </a:xfrm>
                    <a:prstGeom prst="line">
                      <a:avLst/>
                    </a:prstGeom>
                    <a:ln w="28575" cap="flat" cmpd="sng">
                      <a:solidFill>
                        <a:srgbClr val="000000"/>
                      </a:solidFill>
                      <a:prstDash val="solid"/>
                      <a:headEnd type="none" w="med" len="med"/>
                      <a:tailEnd type="none" w="med" len="med"/>
                    </a:ln>
                  </p:spPr>
                  <p:txBody>
                    <a:bodyPr/>
                    <a:lstStyle/>
                    <a:p>
                      <a:endParaRPr lang="zh-CN" altLang="en-US"/>
                    </a:p>
                  </p:txBody>
                </p:sp>
              </p:grpSp>
              <p:sp>
                <p:nvSpPr>
                  <p:cNvPr id="107544" name="Freeform 99"/>
                  <p:cNvSpPr/>
                  <p:nvPr/>
                </p:nvSpPr>
                <p:spPr>
                  <a:xfrm>
                    <a:off x="3600" y="4638"/>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107545" name="Group 100"/>
                  <p:cNvGrpSpPr/>
                  <p:nvPr/>
                </p:nvGrpSpPr>
                <p:grpSpPr>
                  <a:xfrm>
                    <a:off x="3630" y="3000"/>
                    <a:ext cx="360" cy="468"/>
                    <a:chOff x="900" y="6432"/>
                    <a:chExt cx="360" cy="468"/>
                  </a:xfrm>
                </p:grpSpPr>
                <p:sp>
                  <p:nvSpPr>
                    <p:cNvPr id="107562" name="Line 101"/>
                    <p:cNvSpPr/>
                    <p:nvPr/>
                  </p:nvSpPr>
                  <p:spPr>
                    <a:xfrm>
                      <a:off x="900" y="6432"/>
                      <a:ext cx="360" cy="468"/>
                    </a:xfrm>
                    <a:prstGeom prst="line">
                      <a:avLst/>
                    </a:prstGeom>
                    <a:ln w="28575" cap="flat" cmpd="sng">
                      <a:solidFill>
                        <a:srgbClr val="000000"/>
                      </a:solidFill>
                      <a:prstDash val="solid"/>
                      <a:headEnd type="none" w="med" len="med"/>
                      <a:tailEnd type="none" w="med" len="med"/>
                    </a:ln>
                  </p:spPr>
                  <p:txBody>
                    <a:bodyPr/>
                    <a:lstStyle/>
                    <a:p>
                      <a:endParaRPr lang="zh-CN" altLang="en-US"/>
                    </a:p>
                  </p:txBody>
                </p:sp>
                <p:sp>
                  <p:nvSpPr>
                    <p:cNvPr id="107563" name="Line 102"/>
                    <p:cNvSpPr/>
                    <p:nvPr/>
                  </p:nvSpPr>
                  <p:spPr>
                    <a:xfrm flipH="1">
                      <a:off x="900" y="6432"/>
                      <a:ext cx="360" cy="468"/>
                    </a:xfrm>
                    <a:prstGeom prst="line">
                      <a:avLst/>
                    </a:prstGeom>
                    <a:ln w="28575" cap="flat" cmpd="sng">
                      <a:solidFill>
                        <a:srgbClr val="000000"/>
                      </a:solidFill>
                      <a:prstDash val="solid"/>
                      <a:headEnd type="none" w="med" len="med"/>
                      <a:tailEnd type="none" w="med" len="med"/>
                    </a:ln>
                  </p:spPr>
                  <p:txBody>
                    <a:bodyPr/>
                    <a:lstStyle/>
                    <a:p>
                      <a:endParaRPr lang="zh-CN" altLang="en-US"/>
                    </a:p>
                  </p:txBody>
                </p:sp>
              </p:grpSp>
              <p:grpSp>
                <p:nvGrpSpPr>
                  <p:cNvPr id="107546" name="Group 103"/>
                  <p:cNvGrpSpPr/>
                  <p:nvPr/>
                </p:nvGrpSpPr>
                <p:grpSpPr>
                  <a:xfrm>
                    <a:off x="5217" y="2064"/>
                    <a:ext cx="2343" cy="3030"/>
                    <a:chOff x="5217" y="2064"/>
                    <a:chExt cx="2343" cy="3030"/>
                  </a:xfrm>
                </p:grpSpPr>
                <p:sp>
                  <p:nvSpPr>
                    <p:cNvPr id="107547" name="Freeform 104"/>
                    <p:cNvSpPr/>
                    <p:nvPr/>
                  </p:nvSpPr>
                  <p:spPr>
                    <a:xfrm>
                      <a:off x="5217" y="2064"/>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7548" name="Freeform 105"/>
                    <p:cNvSpPr/>
                    <p:nvPr/>
                  </p:nvSpPr>
                  <p:spPr>
                    <a:xfrm>
                      <a:off x="5220" y="3078"/>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7549" name="Freeform 106"/>
                    <p:cNvSpPr/>
                    <p:nvPr/>
                  </p:nvSpPr>
                  <p:spPr>
                    <a:xfrm>
                      <a:off x="5217" y="4014"/>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107550" name="Group 107"/>
                    <p:cNvGrpSpPr/>
                    <p:nvPr/>
                  </p:nvGrpSpPr>
                  <p:grpSpPr>
                    <a:xfrm>
                      <a:off x="5250" y="4626"/>
                      <a:ext cx="360" cy="468"/>
                      <a:chOff x="900" y="6432"/>
                      <a:chExt cx="360" cy="468"/>
                    </a:xfrm>
                  </p:grpSpPr>
                  <p:sp>
                    <p:nvSpPr>
                      <p:cNvPr id="107560" name="Line 108"/>
                      <p:cNvSpPr/>
                      <p:nvPr/>
                    </p:nvSpPr>
                    <p:spPr>
                      <a:xfrm>
                        <a:off x="900" y="6432"/>
                        <a:ext cx="360" cy="468"/>
                      </a:xfrm>
                      <a:prstGeom prst="line">
                        <a:avLst/>
                      </a:prstGeom>
                      <a:ln w="28575" cap="flat" cmpd="sng">
                        <a:solidFill>
                          <a:srgbClr val="000000"/>
                        </a:solidFill>
                        <a:prstDash val="solid"/>
                        <a:headEnd type="none" w="med" len="med"/>
                        <a:tailEnd type="none" w="med" len="med"/>
                      </a:ln>
                    </p:spPr>
                    <p:txBody>
                      <a:bodyPr/>
                      <a:lstStyle/>
                      <a:p>
                        <a:endParaRPr lang="zh-CN" altLang="en-US"/>
                      </a:p>
                    </p:txBody>
                  </p:sp>
                  <p:sp>
                    <p:nvSpPr>
                      <p:cNvPr id="107561" name="Line 109"/>
                      <p:cNvSpPr/>
                      <p:nvPr/>
                    </p:nvSpPr>
                    <p:spPr>
                      <a:xfrm flipH="1">
                        <a:off x="900" y="6432"/>
                        <a:ext cx="360" cy="468"/>
                      </a:xfrm>
                      <a:prstGeom prst="line">
                        <a:avLst/>
                      </a:prstGeom>
                      <a:ln w="28575" cap="flat" cmpd="sng">
                        <a:solidFill>
                          <a:srgbClr val="000000"/>
                        </a:solidFill>
                        <a:prstDash val="solid"/>
                        <a:headEnd type="none" w="med" len="med"/>
                        <a:tailEnd type="none" w="med" len="med"/>
                      </a:ln>
                    </p:spPr>
                    <p:txBody>
                      <a:bodyPr/>
                      <a:lstStyle/>
                      <a:p>
                        <a:endParaRPr lang="zh-CN" altLang="en-US"/>
                      </a:p>
                    </p:txBody>
                  </p:sp>
                </p:grpSp>
                <p:grpSp>
                  <p:nvGrpSpPr>
                    <p:cNvPr id="107551" name="Group 110"/>
                    <p:cNvGrpSpPr/>
                    <p:nvPr/>
                  </p:nvGrpSpPr>
                  <p:grpSpPr>
                    <a:xfrm>
                      <a:off x="7017" y="2064"/>
                      <a:ext cx="543" cy="2808"/>
                      <a:chOff x="7017" y="2064"/>
                      <a:chExt cx="543" cy="2808"/>
                    </a:xfrm>
                  </p:grpSpPr>
                  <p:sp>
                    <p:nvSpPr>
                      <p:cNvPr id="107552" name="Freeform 111"/>
                      <p:cNvSpPr/>
                      <p:nvPr/>
                    </p:nvSpPr>
                    <p:spPr>
                      <a:xfrm>
                        <a:off x="7017" y="4482"/>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7553" name="Freeform 112"/>
                      <p:cNvSpPr/>
                      <p:nvPr/>
                    </p:nvSpPr>
                    <p:spPr>
                      <a:xfrm>
                        <a:off x="7017" y="2766"/>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107554" name="Group 113"/>
                      <p:cNvGrpSpPr/>
                      <p:nvPr/>
                    </p:nvGrpSpPr>
                    <p:grpSpPr>
                      <a:xfrm>
                        <a:off x="7020" y="3624"/>
                        <a:ext cx="360" cy="468"/>
                        <a:chOff x="900" y="6432"/>
                        <a:chExt cx="360" cy="468"/>
                      </a:xfrm>
                    </p:grpSpPr>
                    <p:sp>
                      <p:nvSpPr>
                        <p:cNvPr id="107558" name="Line 114"/>
                        <p:cNvSpPr/>
                        <p:nvPr/>
                      </p:nvSpPr>
                      <p:spPr>
                        <a:xfrm>
                          <a:off x="900" y="6432"/>
                          <a:ext cx="360" cy="468"/>
                        </a:xfrm>
                        <a:prstGeom prst="line">
                          <a:avLst/>
                        </a:prstGeom>
                        <a:ln w="28575" cap="flat" cmpd="sng">
                          <a:solidFill>
                            <a:srgbClr val="000000"/>
                          </a:solidFill>
                          <a:prstDash val="solid"/>
                          <a:headEnd type="none" w="med" len="med"/>
                          <a:tailEnd type="none" w="med" len="med"/>
                        </a:ln>
                      </p:spPr>
                      <p:txBody>
                        <a:bodyPr/>
                        <a:lstStyle/>
                        <a:p>
                          <a:endParaRPr lang="zh-CN" altLang="en-US"/>
                        </a:p>
                      </p:txBody>
                    </p:sp>
                    <p:sp>
                      <p:nvSpPr>
                        <p:cNvPr id="107559" name="Line 115"/>
                        <p:cNvSpPr/>
                        <p:nvPr/>
                      </p:nvSpPr>
                      <p:spPr>
                        <a:xfrm flipH="1">
                          <a:off x="900" y="6432"/>
                          <a:ext cx="360" cy="468"/>
                        </a:xfrm>
                        <a:prstGeom prst="line">
                          <a:avLst/>
                        </a:prstGeom>
                        <a:ln w="28575" cap="flat" cmpd="sng">
                          <a:solidFill>
                            <a:srgbClr val="000000"/>
                          </a:solidFill>
                          <a:prstDash val="solid"/>
                          <a:headEnd type="none" w="med" len="med"/>
                          <a:tailEnd type="none" w="med" len="med"/>
                        </a:ln>
                      </p:spPr>
                      <p:txBody>
                        <a:bodyPr/>
                        <a:lstStyle/>
                        <a:p>
                          <a:endParaRPr lang="zh-CN" altLang="en-US"/>
                        </a:p>
                      </p:txBody>
                    </p:sp>
                  </p:grpSp>
                  <p:grpSp>
                    <p:nvGrpSpPr>
                      <p:cNvPr id="107555" name="Group 116"/>
                      <p:cNvGrpSpPr/>
                      <p:nvPr/>
                    </p:nvGrpSpPr>
                    <p:grpSpPr>
                      <a:xfrm>
                        <a:off x="7020" y="2064"/>
                        <a:ext cx="360" cy="468"/>
                        <a:chOff x="900" y="6432"/>
                        <a:chExt cx="360" cy="468"/>
                      </a:xfrm>
                    </p:grpSpPr>
                    <p:sp>
                      <p:nvSpPr>
                        <p:cNvPr id="107556" name="Line 117"/>
                        <p:cNvSpPr/>
                        <p:nvPr/>
                      </p:nvSpPr>
                      <p:spPr>
                        <a:xfrm>
                          <a:off x="900" y="6432"/>
                          <a:ext cx="360" cy="468"/>
                        </a:xfrm>
                        <a:prstGeom prst="line">
                          <a:avLst/>
                        </a:prstGeom>
                        <a:ln w="28575" cap="flat" cmpd="sng">
                          <a:solidFill>
                            <a:srgbClr val="000000"/>
                          </a:solidFill>
                          <a:prstDash val="solid"/>
                          <a:headEnd type="none" w="med" len="med"/>
                          <a:tailEnd type="none" w="med" len="med"/>
                        </a:ln>
                      </p:spPr>
                      <p:txBody>
                        <a:bodyPr/>
                        <a:lstStyle/>
                        <a:p>
                          <a:endParaRPr lang="zh-CN" altLang="en-US"/>
                        </a:p>
                      </p:txBody>
                    </p:sp>
                    <p:sp>
                      <p:nvSpPr>
                        <p:cNvPr id="107557" name="Line 118"/>
                        <p:cNvSpPr/>
                        <p:nvPr/>
                      </p:nvSpPr>
                      <p:spPr>
                        <a:xfrm flipH="1">
                          <a:off x="900" y="6432"/>
                          <a:ext cx="360" cy="468"/>
                        </a:xfrm>
                        <a:prstGeom prst="line">
                          <a:avLst/>
                        </a:prstGeom>
                        <a:ln w="28575" cap="flat" cmpd="sng">
                          <a:solidFill>
                            <a:srgbClr val="000000"/>
                          </a:solidFill>
                          <a:prstDash val="solid"/>
                          <a:headEnd type="none" w="med" len="med"/>
                          <a:tailEnd type="none" w="med" len="med"/>
                        </a:ln>
                      </p:spPr>
                      <p:txBody>
                        <a:bodyPr/>
                        <a:lstStyle/>
                        <a:p>
                          <a:endParaRPr lang="zh-CN" altLang="en-US"/>
                        </a:p>
                      </p:txBody>
                    </p:sp>
                  </p:grpSp>
                </p:grpSp>
              </p:grpSp>
            </p:grpSp>
            <p:grpSp>
              <p:nvGrpSpPr>
                <p:cNvPr id="107537" name="Group 119"/>
                <p:cNvGrpSpPr/>
                <p:nvPr/>
              </p:nvGrpSpPr>
              <p:grpSpPr>
                <a:xfrm>
                  <a:off x="8457" y="1986"/>
                  <a:ext cx="546" cy="3042"/>
                  <a:chOff x="8457" y="1986"/>
                  <a:chExt cx="546" cy="3042"/>
                </a:xfrm>
              </p:grpSpPr>
              <p:sp>
                <p:nvSpPr>
                  <p:cNvPr id="107538" name="Freeform 120"/>
                  <p:cNvSpPr/>
                  <p:nvPr/>
                </p:nvSpPr>
                <p:spPr>
                  <a:xfrm>
                    <a:off x="8460" y="1986"/>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7539" name="Freeform 121"/>
                  <p:cNvSpPr/>
                  <p:nvPr/>
                </p:nvSpPr>
                <p:spPr>
                  <a:xfrm>
                    <a:off x="8460" y="2532"/>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7540" name="Freeform 122"/>
                  <p:cNvSpPr/>
                  <p:nvPr/>
                </p:nvSpPr>
                <p:spPr>
                  <a:xfrm>
                    <a:off x="8457" y="4638"/>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7541" name="Freeform 123"/>
                  <p:cNvSpPr/>
                  <p:nvPr/>
                </p:nvSpPr>
                <p:spPr>
                  <a:xfrm>
                    <a:off x="8457" y="3726"/>
                    <a:ext cx="543" cy="390"/>
                  </a:xfrm>
                  <a:custGeom>
                    <a:avLst/>
                    <a:gdLst/>
                    <a:ahLst/>
                    <a:cxnLst>
                      <a:cxn ang="0">
                        <a:pos x="0" y="0"/>
                      </a:cxn>
                      <a:cxn ang="0">
                        <a:pos x="1" y="0"/>
                      </a:cxn>
                      <a:cxn ang="0">
                        <a:pos x="3" y="0"/>
                      </a:cxn>
                    </a:cxnLst>
                    <a:rect l="0" t="0" r="0" b="0"/>
                    <a:pathLst>
                      <a:path w="1080" h="858">
                        <a:moveTo>
                          <a:pt x="0" y="468"/>
                        </a:moveTo>
                        <a:cubicBezTo>
                          <a:pt x="0" y="663"/>
                          <a:pt x="0" y="858"/>
                          <a:pt x="180" y="780"/>
                        </a:cubicBezTo>
                        <a:cubicBezTo>
                          <a:pt x="360" y="702"/>
                          <a:pt x="930" y="130"/>
                          <a:pt x="1080" y="0"/>
                        </a:cubicBez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grpSp>
          </p:grpSp>
        </p:grpSp>
        <p:grpSp>
          <p:nvGrpSpPr>
            <p:cNvPr id="107528" name="Group 124"/>
            <p:cNvGrpSpPr/>
            <p:nvPr/>
          </p:nvGrpSpPr>
          <p:grpSpPr>
            <a:xfrm>
              <a:off x="2520" y="7056"/>
              <a:ext cx="5220" cy="648"/>
              <a:chOff x="2700" y="7056"/>
              <a:chExt cx="5220" cy="648"/>
            </a:xfrm>
          </p:grpSpPr>
          <p:sp>
            <p:nvSpPr>
              <p:cNvPr id="107529" name="Line 125"/>
              <p:cNvSpPr/>
              <p:nvPr/>
            </p:nvSpPr>
            <p:spPr>
              <a:xfrm>
                <a:off x="2700" y="7680"/>
                <a:ext cx="5220" cy="0"/>
              </a:xfrm>
              <a:prstGeom prst="line">
                <a:avLst/>
              </a:prstGeom>
              <a:ln w="22225" cap="flat" cmpd="sng">
                <a:solidFill>
                  <a:srgbClr val="000000"/>
                </a:solidFill>
                <a:prstDash val="solid"/>
                <a:headEnd type="none" w="med" len="med"/>
                <a:tailEnd type="none" w="med" len="med"/>
              </a:ln>
            </p:spPr>
            <p:txBody>
              <a:bodyPr/>
              <a:lstStyle/>
              <a:p>
                <a:endParaRPr lang="zh-CN" altLang="en-US"/>
              </a:p>
            </p:txBody>
          </p:sp>
          <p:sp>
            <p:nvSpPr>
              <p:cNvPr id="107530" name="Line 126"/>
              <p:cNvSpPr/>
              <p:nvPr/>
            </p:nvSpPr>
            <p:spPr>
              <a:xfrm>
                <a:off x="2700" y="7056"/>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107531" name="Line 127"/>
              <p:cNvSpPr/>
              <p:nvPr/>
            </p:nvSpPr>
            <p:spPr>
              <a:xfrm>
                <a:off x="4275" y="7056"/>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107532" name="Line 128"/>
              <p:cNvSpPr/>
              <p:nvPr/>
            </p:nvSpPr>
            <p:spPr>
              <a:xfrm>
                <a:off x="6225" y="7056"/>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sp>
            <p:nvSpPr>
              <p:cNvPr id="107533" name="Line 129"/>
              <p:cNvSpPr/>
              <p:nvPr/>
            </p:nvSpPr>
            <p:spPr>
              <a:xfrm>
                <a:off x="7920" y="7080"/>
                <a:ext cx="0" cy="624"/>
              </a:xfrm>
              <a:prstGeom prst="line">
                <a:avLst/>
              </a:prstGeom>
              <a:ln w="9525" cap="flat" cmpd="sng">
                <a:solidFill>
                  <a:srgbClr val="000000"/>
                </a:solidFill>
                <a:prstDash val="solid"/>
                <a:headEnd type="none" w="med" len="med"/>
                <a:tailEnd type="none" w="med" len="med"/>
              </a:ln>
            </p:spPr>
            <p:txBody>
              <a:bodyPr/>
              <a:lstStyle/>
              <a:p>
                <a:endParaRPr lang="zh-CN" altLang="en-US"/>
              </a:p>
            </p:txBody>
          </p:sp>
        </p:grpSp>
      </p:grpSp>
      <p:sp>
        <p:nvSpPr>
          <p:cNvPr id="107525" name="Line 130"/>
          <p:cNvSpPr/>
          <p:nvPr/>
        </p:nvSpPr>
        <p:spPr>
          <a:xfrm>
            <a:off x="5303838" y="6021389"/>
            <a:ext cx="0" cy="287337"/>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107526" name="Text Box 131"/>
          <p:cNvSpPr txBox="1"/>
          <p:nvPr/>
        </p:nvSpPr>
        <p:spPr>
          <a:xfrm>
            <a:off x="5303838" y="5949951"/>
            <a:ext cx="431800" cy="519113"/>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50000"/>
              </a:spcBef>
              <a:buNone/>
            </a:pPr>
            <a:r>
              <a:rPr lang="en-US" altLang="zh-CN" sz="2800" dirty="0">
                <a:latin typeface="Gulim" panose="020B0600000101010101" pitchFamily="34" charset="-127"/>
                <a:ea typeface="宋体" panose="02010600030101010101" pitchFamily="2" charset="-122"/>
              </a:rPr>
              <a:t>h</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a:xfrm>
            <a:off x="2208213" y="549275"/>
            <a:ext cx="7772400" cy="731838"/>
          </a:xfrm>
        </p:spPr>
        <p:txBody>
          <a:bodyPr vert="horz" wrap="square" lIns="91440" tIns="45720" rIns="91440" bIns="45720" numCol="1" anchor="ctr" anchorCtr="0" compatLnSpc="1"/>
          <a:lstStyle/>
          <a:p>
            <a:pPr algn="ctr" eaLnBrk="1" hangingPunct="1">
              <a:defRPr/>
            </a:pPr>
            <a:r>
              <a:rPr lang="en-US" altLang="zh-CN" b="1">
                <a:solidFill>
                  <a:schemeClr val="tx1"/>
                </a:solidFill>
                <a:effectLst>
                  <a:outerShdw blurRad="38100" dist="38100" dir="2700000" algn="tl">
                    <a:srgbClr val="C0C0C0"/>
                  </a:outerShdw>
                </a:effectLst>
              </a:rPr>
              <a:t>AdaBoost</a:t>
            </a:r>
            <a:r>
              <a:rPr lang="zh-CN" altLang="en-US" b="1">
                <a:solidFill>
                  <a:schemeClr val="tx1"/>
                </a:solidFill>
                <a:effectLst>
                  <a:outerShdw blurRad="38100" dist="38100" dir="2700000" algn="tl">
                    <a:srgbClr val="C0C0C0"/>
                  </a:outerShdw>
                </a:effectLst>
              </a:rPr>
              <a:t>算法的输出</a:t>
            </a:r>
            <a:endParaRPr lang="en-US" altLang="zh-CN" b="1">
              <a:solidFill>
                <a:schemeClr val="tx1"/>
              </a:solidFill>
              <a:effectLst>
                <a:outerShdw blurRad="38100" dist="38100" dir="2700000" algn="tl">
                  <a:srgbClr val="C0C0C0"/>
                </a:outerShdw>
              </a:effectLst>
            </a:endParaRPr>
          </a:p>
        </p:txBody>
      </p:sp>
      <p:sp>
        <p:nvSpPr>
          <p:cNvPr id="109571" name="Rectangle 3"/>
          <p:cNvSpPr>
            <a:spLocks noGrp="1"/>
          </p:cNvSpPr>
          <p:nvPr>
            <p:ph idx="1"/>
          </p:nvPr>
        </p:nvSpPr>
        <p:spPr>
          <a:xfrm>
            <a:off x="2208213" y="1412876"/>
            <a:ext cx="7848600" cy="4752975"/>
          </a:xfrm>
          <a:ln/>
        </p:spPr>
        <p:txBody>
          <a:bodyPr vert="horz" wrap="square" lIns="91440" tIns="45720" rIns="91440" bIns="45720" anchor="t" anchorCtr="0"/>
          <a:lstStyle/>
          <a:p>
            <a:pPr eaLnBrk="1" hangingPunct="1">
              <a:lnSpc>
                <a:spcPct val="120000"/>
              </a:lnSpc>
            </a:pPr>
            <a:r>
              <a:rPr lang="zh-CN" altLang="en-US" sz="2400" dirty="0">
                <a:latin typeface="Times New Roman" panose="02020603050405020304" pitchFamily="18" charset="0"/>
                <a:ea typeface="微软雅黑" panose="020B0503020204020204" pitchFamily="34" charset="-122"/>
              </a:rPr>
              <a:t>如何理解最后的输出结果？</a:t>
            </a:r>
          </a:p>
          <a:p>
            <a:pPr lvl="1" eaLnBrk="1" latinLnBrk="0" hangingPunct="1">
              <a:lnSpc>
                <a:spcPct val="120000"/>
              </a:lnSpc>
            </a:pPr>
            <a:endParaRPr lang="en-US" altLang="zh-CN" sz="2400" dirty="0">
              <a:latin typeface="Times New Roman" panose="02020603050405020304" pitchFamily="18" charset="0"/>
              <a:ea typeface="微软雅黑" panose="020B0503020204020204" pitchFamily="34" charset="-122"/>
            </a:endParaRPr>
          </a:p>
          <a:p>
            <a:pPr lvl="1" eaLnBrk="1" latinLnBrk="0" hangingPunct="1">
              <a:lnSpc>
                <a:spcPct val="120000"/>
              </a:lnSpc>
            </a:pPr>
            <a:endParaRPr lang="en-US" altLang="zh-CN" sz="2400" dirty="0">
              <a:latin typeface="Times New Roman" panose="02020603050405020304" pitchFamily="18" charset="0"/>
              <a:ea typeface="微软雅黑" panose="020B0503020204020204" pitchFamily="34" charset="-122"/>
            </a:endParaRPr>
          </a:p>
          <a:p>
            <a:pPr marL="457200" lvl="1" indent="0" eaLnBrk="1" latinLnBrk="0" hangingPunct="1">
              <a:lnSpc>
                <a:spcPct val="120000"/>
              </a:lnSpc>
              <a:buNone/>
            </a:pPr>
            <a:r>
              <a:rPr lang="zh-CN" altLang="en-US" sz="2400" dirty="0">
                <a:latin typeface="Times New Roman" panose="02020603050405020304" pitchFamily="18" charset="0"/>
                <a:ea typeface="微软雅黑" panose="020B0503020204020204" pitchFamily="34" charset="-122"/>
              </a:rPr>
              <a:t>对于输入实例 </a:t>
            </a:r>
            <a:r>
              <a:rPr lang="en-US" altLang="zh-CN" sz="2400" i="1" dirty="0">
                <a:latin typeface="Times New Roman" panose="02020603050405020304" pitchFamily="18" charset="0"/>
                <a:ea typeface="微软雅黑" panose="020B0503020204020204" pitchFamily="34" charset="-122"/>
              </a:rPr>
              <a:t>x</a:t>
            </a:r>
            <a:r>
              <a:rPr lang="en-US" altLang="zh-CN" sz="2400" i="1" baseline="-25000" dirty="0">
                <a:latin typeface="Times New Roman" panose="02020603050405020304" pitchFamily="18" charset="0"/>
                <a:ea typeface="微软雅黑" panose="020B0503020204020204" pitchFamily="34" charset="-122"/>
              </a:rPr>
              <a:t>i</a:t>
            </a:r>
            <a:r>
              <a:rPr lang="zh-CN" altLang="en-US" sz="2400" dirty="0">
                <a:latin typeface="Times New Roman" panose="02020603050405020304" pitchFamily="18" charset="0"/>
                <a:ea typeface="微软雅黑" panose="020B0503020204020204" pitchFamily="34" charset="-122"/>
              </a:rPr>
              <a:t>，被第</a:t>
            </a:r>
            <a:r>
              <a:rPr lang="en-US" altLang="zh-CN" sz="2400" i="1" dirty="0">
                <a:latin typeface="Times New Roman" panose="02020603050405020304" pitchFamily="18" charset="0"/>
                <a:ea typeface="微软雅黑" panose="020B0503020204020204" pitchFamily="34" charset="-122"/>
              </a:rPr>
              <a:t>t</a:t>
            </a:r>
            <a:r>
              <a:rPr lang="zh-CN" altLang="en-US" sz="2400" dirty="0">
                <a:latin typeface="Times New Roman" panose="02020603050405020304" pitchFamily="18" charset="0"/>
                <a:ea typeface="微软雅黑" panose="020B0503020204020204" pitchFamily="34" charset="-122"/>
              </a:rPr>
              <a:t>个弱分类器</a:t>
            </a:r>
            <a:r>
              <a:rPr lang="en-US" altLang="zh-CN" sz="2400" i="1" dirty="0" err="1">
                <a:latin typeface="Times New Roman" panose="02020603050405020304" pitchFamily="18" charset="0"/>
                <a:ea typeface="微软雅黑" panose="020B0503020204020204" pitchFamily="34" charset="-122"/>
              </a:rPr>
              <a:t>h</a:t>
            </a:r>
            <a:r>
              <a:rPr lang="en-US" altLang="zh-CN" sz="2400" i="1" baseline="-25000" dirty="0" err="1">
                <a:latin typeface="Times New Roman" panose="02020603050405020304" pitchFamily="18" charset="0"/>
                <a:ea typeface="微软雅黑" panose="020B0503020204020204" pitchFamily="34" charset="-122"/>
              </a:rPr>
              <a:t>t</a:t>
            </a:r>
            <a:r>
              <a:rPr lang="en-US" altLang="zh-CN" sz="2400" i="1" baseline="-250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分类为 </a:t>
            </a:r>
            <a:r>
              <a:rPr lang="en-US" altLang="zh-CN" sz="2400" i="1" dirty="0">
                <a:latin typeface="Times New Roman" panose="02020603050405020304" pitchFamily="18" charset="0"/>
                <a:ea typeface="微软雅黑" panose="020B0503020204020204" pitchFamily="34" charset="-122"/>
              </a:rPr>
              <a:t>d</a:t>
            </a:r>
            <a:r>
              <a:rPr lang="zh-CN" altLang="en-US" sz="2400" dirty="0">
                <a:latin typeface="Times New Roman" panose="02020603050405020304" pitchFamily="18" charset="0"/>
                <a:ea typeface="微软雅黑" panose="020B0503020204020204" pitchFamily="34" charset="-122"/>
              </a:rPr>
              <a:t>，该分类器的权值为</a:t>
            </a:r>
            <a:r>
              <a:rPr lang="en-US" altLang="zh-CN" sz="2400" dirty="0">
                <a:latin typeface="Times New Roman" panose="02020603050405020304" pitchFamily="18" charset="0"/>
                <a:ea typeface="微软雅黑" panose="020B0503020204020204" pitchFamily="34" charset="-122"/>
              </a:rPr>
              <a:t>log(1/</a:t>
            </a:r>
            <a:r>
              <a:rPr lang="en-US" altLang="zh-CN" sz="2400" i="1"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i="1" baseline="-25000" dirty="0">
                <a:latin typeface="Times New Roman" panose="02020603050405020304" pitchFamily="18" charset="0"/>
                <a:ea typeface="微软雅黑" panose="020B0503020204020204" pitchFamily="34" charset="-122"/>
                <a:sym typeface="Symbol" panose="05050102010706020507" pitchFamily="18" charset="2"/>
              </a:rPr>
              <a:t>t</a:t>
            </a:r>
            <a:r>
              <a:rPr lang="en-US" altLang="zh-CN" sz="2400" dirty="0">
                <a:latin typeface="Times New Roman" panose="02020603050405020304" pitchFamily="18" charset="0"/>
                <a:ea typeface="微软雅黑" panose="020B0503020204020204" pitchFamily="34" charset="-122"/>
              </a:rPr>
              <a:t>)</a:t>
            </a:r>
          </a:p>
          <a:p>
            <a:pPr marL="457200" lvl="1" indent="0" eaLnBrk="1" latinLnBrk="0" hangingPunct="1">
              <a:lnSpc>
                <a:spcPct val="120000"/>
              </a:lnSpc>
              <a:buNone/>
            </a:pPr>
            <a:r>
              <a:rPr lang="zh-CN" altLang="en-US" sz="2400" dirty="0">
                <a:latin typeface="Times New Roman" panose="02020603050405020304" pitchFamily="18" charset="0"/>
                <a:ea typeface="微软雅黑" panose="020B0503020204020204" pitchFamily="34" charset="-122"/>
              </a:rPr>
              <a:t>如果有 </a:t>
            </a:r>
            <a:r>
              <a:rPr lang="en-US" altLang="zh-CN" sz="2400" i="1" dirty="0">
                <a:latin typeface="Times New Roman" panose="02020603050405020304" pitchFamily="18" charset="0"/>
                <a:ea typeface="微软雅黑" panose="020B0503020204020204" pitchFamily="34" charset="-122"/>
              </a:rPr>
              <a:t>k </a:t>
            </a:r>
            <a:r>
              <a:rPr lang="zh-CN" altLang="en-US" sz="2400" dirty="0">
                <a:latin typeface="Times New Roman" panose="02020603050405020304" pitchFamily="18" charset="0"/>
                <a:ea typeface="微软雅黑" panose="020B0503020204020204" pitchFamily="34" charset="-122"/>
              </a:rPr>
              <a:t>个分类器对 </a:t>
            </a:r>
            <a:r>
              <a:rPr lang="en-US" altLang="zh-CN" sz="2400" i="1" dirty="0">
                <a:latin typeface="Times New Roman" panose="02020603050405020304" pitchFamily="18" charset="0"/>
                <a:ea typeface="微软雅黑" panose="020B0503020204020204" pitchFamily="34" charset="-122"/>
              </a:rPr>
              <a:t>x</a:t>
            </a:r>
            <a:r>
              <a:rPr lang="en-US" altLang="zh-CN" sz="2400" i="1" baseline="-25000" dirty="0">
                <a:latin typeface="Times New Roman" panose="02020603050405020304" pitchFamily="18" charset="0"/>
                <a:ea typeface="微软雅黑" panose="020B0503020204020204" pitchFamily="34" charset="-122"/>
              </a:rPr>
              <a:t>i </a:t>
            </a:r>
            <a:r>
              <a:rPr lang="zh-CN" altLang="en-US" sz="2400" dirty="0">
                <a:latin typeface="Times New Roman" panose="02020603050405020304" pitchFamily="18" charset="0"/>
                <a:ea typeface="微软雅黑" panose="020B0503020204020204" pitchFamily="34" charset="-122"/>
              </a:rPr>
              <a:t>有相同的分类</a:t>
            </a:r>
            <a:r>
              <a:rPr lang="en-US" altLang="zh-CN" sz="2400" i="1" dirty="0">
                <a:latin typeface="Times New Roman" panose="02020603050405020304" pitchFamily="18" charset="0"/>
                <a:ea typeface="微软雅黑" panose="020B0503020204020204" pitchFamily="34" charset="-122"/>
              </a:rPr>
              <a:t>d</a:t>
            </a:r>
            <a:r>
              <a:rPr lang="zh-CN" altLang="en-US" sz="2400" dirty="0">
                <a:latin typeface="Times New Roman" panose="02020603050405020304" pitchFamily="18" charset="0"/>
                <a:ea typeface="微软雅黑" panose="020B0503020204020204" pitchFamily="34" charset="-122"/>
              </a:rPr>
              <a:t>，则该实例被分类为</a:t>
            </a:r>
            <a:r>
              <a:rPr lang="en-US" altLang="zh-CN" sz="2400" i="1" dirty="0">
                <a:latin typeface="Times New Roman" panose="02020603050405020304" pitchFamily="18" charset="0"/>
                <a:ea typeface="微软雅黑" panose="020B0503020204020204" pitchFamily="34" charset="-122"/>
              </a:rPr>
              <a:t>d</a:t>
            </a:r>
            <a:r>
              <a:rPr lang="zh-CN" altLang="en-US" sz="2400" dirty="0">
                <a:latin typeface="Times New Roman" panose="02020603050405020304" pitchFamily="18" charset="0"/>
                <a:ea typeface="微软雅黑" panose="020B0503020204020204" pitchFamily="34" charset="-122"/>
              </a:rPr>
              <a:t>的可能性为</a:t>
            </a:r>
            <a:r>
              <a:rPr lang="en-US" altLang="zh-CN" sz="2400" i="1" dirty="0">
                <a:latin typeface="Times New Roman" panose="02020603050405020304" pitchFamily="18" charset="0"/>
                <a:ea typeface="微软雅黑" panose="020B0503020204020204" pitchFamily="34" charset="-122"/>
              </a:rPr>
              <a:t>k</a:t>
            </a:r>
            <a:r>
              <a:rPr lang="zh-CN" altLang="en-US" sz="2400" dirty="0">
                <a:latin typeface="Times New Roman" panose="02020603050405020304" pitchFamily="18" charset="0"/>
                <a:ea typeface="微软雅黑" panose="020B0503020204020204" pitchFamily="34" charset="-122"/>
              </a:rPr>
              <a:t>个分类器的权值和。显然 </a:t>
            </a:r>
            <a:r>
              <a:rPr lang="en-US" altLang="zh-CN" sz="2400" i="1" dirty="0">
                <a:latin typeface="Times New Roman" panose="02020603050405020304" pitchFamily="18" charset="0"/>
                <a:ea typeface="微软雅黑" panose="020B0503020204020204" pitchFamily="34" charset="-122"/>
              </a:rPr>
              <a:t>k </a:t>
            </a:r>
            <a:r>
              <a:rPr lang="zh-CN" altLang="en-US" sz="2400" dirty="0">
                <a:latin typeface="Times New Roman" panose="02020603050405020304" pitchFamily="18" charset="0"/>
                <a:ea typeface="微软雅黑" panose="020B0503020204020204" pitchFamily="34" charset="-122"/>
              </a:rPr>
              <a:t>越大，权值越高，和就会越大，自然就会选择相应的类别，此即简单多数的含义</a:t>
            </a:r>
          </a:p>
        </p:txBody>
      </p:sp>
      <p:graphicFrame>
        <p:nvGraphicFramePr>
          <p:cNvPr id="109573" name="Object 5"/>
          <p:cNvGraphicFramePr>
            <a:graphicFrameLocks noChangeAspect="1"/>
          </p:cNvGraphicFramePr>
          <p:nvPr/>
        </p:nvGraphicFramePr>
        <p:xfrm>
          <a:off x="4008438" y="2060576"/>
          <a:ext cx="3752850" cy="893763"/>
        </p:xfrm>
        <a:graphic>
          <a:graphicData uri="http://schemas.openxmlformats.org/presentationml/2006/ole">
            <mc:AlternateContent xmlns:mc="http://schemas.openxmlformats.org/markup-compatibility/2006">
              <mc:Choice xmlns:v="urn:schemas-microsoft-com:vml" Requires="v">
                <p:oleObj r:id="rId2" imgW="1866265" imgH="444500" progId="Equation.3">
                  <p:embed/>
                </p:oleObj>
              </mc:Choice>
              <mc:Fallback>
                <p:oleObj r:id="rId2" imgW="1866265" imgH="444500" progId="Equation.3">
                  <p:embed/>
                  <p:pic>
                    <p:nvPicPr>
                      <p:cNvPr id="0" name="图片 3098"/>
                      <p:cNvPicPr/>
                      <p:nvPr/>
                    </p:nvPicPr>
                    <p:blipFill>
                      <a:blip r:embed="rId3"/>
                      <a:stretch>
                        <a:fillRect/>
                      </a:stretch>
                    </p:blipFill>
                    <p:spPr>
                      <a:xfrm>
                        <a:off x="4008438" y="2060576"/>
                        <a:ext cx="3752850" cy="893763"/>
                      </a:xfrm>
                      <a:prstGeom prst="rect">
                        <a:avLst/>
                      </a:prstGeom>
                      <a:noFill/>
                      <a:ln w="38100">
                        <a:noFill/>
                        <a:miter/>
                      </a:ln>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2"/>
          <p:cNvSpPr>
            <a:spLocks noGrp="1" noChangeArrowheads="1"/>
          </p:cNvSpPr>
          <p:nvPr>
            <p:ph type="ctrTitle"/>
          </p:nvPr>
        </p:nvSpPr>
        <p:spPr>
          <a:xfrm>
            <a:off x="2135561" y="692697"/>
            <a:ext cx="8139113" cy="5903913"/>
          </a:xfrm>
        </p:spPr>
        <p:txBody>
          <a:bodyPr vert="horz" wrap="square" lIns="91440" tIns="45720" rIns="91440" bIns="45720" numCol="1" anchor="ctr" anchorCtr="0" compatLnSpc="1"/>
          <a:lstStyle/>
          <a:p>
            <a:pPr lvl="0" algn="l" eaLnBrk="1" hangingPunct="1">
              <a:defRPr/>
            </a:pPr>
            <a:r>
              <a:rPr lang="zh-CN" altLang="en-US" dirty="0">
                <a:solidFill>
                  <a:schemeClr val="tx1"/>
                </a:solidFill>
                <a:latin typeface="Times New Roman" panose="02020603050405020304" pitchFamily="18" charset="0"/>
              </a:rPr>
              <a:t>			</a:t>
            </a:r>
            <a:r>
              <a:rPr lang="zh-CN" altLang="en-US" b="1" dirty="0">
                <a:solidFill>
                  <a:schemeClr val="tx1"/>
                </a:solidFill>
                <a:effectLst>
                  <a:outerShdw blurRad="38100" dist="38100" dir="2700000" algn="tl">
                    <a:srgbClr val="C0C0C0"/>
                  </a:outerShdw>
                </a:effectLst>
                <a:latin typeface="Times New Roman" panose="02020603050405020304" pitchFamily="18" charset="0"/>
              </a:rPr>
              <a:t>本章内容</a:t>
            </a:r>
            <a:br>
              <a:rPr lang="zh-CN" altLang="en-US" sz="5400" b="1" dirty="0">
                <a:solidFill>
                  <a:schemeClr val="tx1"/>
                </a:solidFill>
                <a:effectLst>
                  <a:outerShdw blurRad="38100" dist="38100" dir="2700000" algn="tl">
                    <a:srgbClr val="C0C0C0"/>
                  </a:outerShdw>
                </a:effectLst>
                <a:latin typeface="Times New Roman" panose="02020603050405020304" pitchFamily="18" charset="0"/>
              </a:rPr>
            </a:b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4.1 </a:t>
            </a:r>
            <a:r>
              <a:rPr lang="zh-CN" altLang="en-US" sz="3200" dirty="0">
                <a:solidFill>
                  <a:schemeClr val="tx1"/>
                </a:solidFill>
                <a:latin typeface="Times New Roman" panose="02020603050405020304" pitchFamily="18" charset="0"/>
                <a:ea typeface="黑体" panose="02010609060101010101" pitchFamily="49" charset="-122"/>
              </a:rPr>
              <a:t>机器学习概论</a:t>
            </a: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4.2 </a:t>
            </a:r>
            <a:r>
              <a:rPr lang="zh-CN" altLang="en-US" sz="3200" dirty="0">
                <a:solidFill>
                  <a:schemeClr val="tx1"/>
                </a:solidFill>
                <a:latin typeface="Times New Roman" panose="02020603050405020304" pitchFamily="18" charset="0"/>
                <a:ea typeface="黑体" panose="02010609060101010101" pitchFamily="49" charset="-122"/>
              </a:rPr>
              <a:t>分类算法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4.2.1</a:t>
            </a:r>
            <a:r>
              <a:rPr lang="zh-CN" altLang="en-US" sz="3200" dirty="0">
                <a:solidFill>
                  <a:schemeClr val="tx1"/>
                </a:solidFill>
                <a:latin typeface="Times New Roman" panose="02020603050405020304" pitchFamily="18" charset="0"/>
                <a:ea typeface="黑体" panose="02010609060101010101" pitchFamily="49" charset="-122"/>
              </a:rPr>
              <a:t>：决策树</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4.2.2</a:t>
            </a:r>
            <a:r>
              <a:rPr lang="zh-CN" altLang="en-US" sz="3200" dirty="0">
                <a:solidFill>
                  <a:schemeClr val="tx1"/>
                </a:solidFill>
                <a:latin typeface="Times New Roman" panose="02020603050405020304" pitchFamily="18" charset="0"/>
                <a:ea typeface="黑体" panose="02010609060101010101" pitchFamily="49" charset="-122"/>
              </a:rPr>
              <a:t>：朴素贝叶斯分类器</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4.2.3</a:t>
            </a:r>
            <a:r>
              <a:rPr lang="zh-CN" altLang="en-US" sz="3200" dirty="0">
                <a:solidFill>
                  <a:schemeClr val="tx1"/>
                </a:solidFill>
                <a:latin typeface="Times New Roman" panose="02020603050405020304" pitchFamily="18" charset="0"/>
                <a:ea typeface="黑体" panose="02010609060101010101" pitchFamily="49" charset="-122"/>
              </a:rPr>
              <a:t>：集体学习</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a:t>
            </a:r>
            <a:r>
              <a:rPr lang="en-US" altLang="zh-CN" sz="3200" b="1" dirty="0">
                <a:solidFill>
                  <a:srgbClr val="C00000"/>
                </a:solidFill>
                <a:latin typeface="Times New Roman" panose="02020603050405020304" pitchFamily="18" charset="0"/>
                <a:ea typeface="黑体" panose="02010609060101010101" pitchFamily="49" charset="-122"/>
              </a:rPr>
              <a:t>4.2.4</a:t>
            </a:r>
            <a:r>
              <a:rPr lang="zh-CN" altLang="en-US" sz="3200" b="1" dirty="0">
                <a:solidFill>
                  <a:srgbClr val="C00000"/>
                </a:solidFill>
                <a:latin typeface="Times New Roman" panose="02020603050405020304" pitchFamily="18" charset="0"/>
                <a:ea typeface="黑体" panose="02010609060101010101" pitchFamily="49" charset="-122"/>
              </a:rPr>
              <a:t>：支持向量机（</a:t>
            </a:r>
            <a:r>
              <a:rPr lang="en-US" altLang="zh-CN" sz="3200" b="1" dirty="0" err="1">
                <a:solidFill>
                  <a:srgbClr val="C00000"/>
                </a:solidFill>
                <a:latin typeface="Times New Roman" panose="02020603050405020304" pitchFamily="18" charset="0"/>
                <a:ea typeface="黑体" panose="02010609060101010101" pitchFamily="49" charset="-122"/>
              </a:rPr>
              <a:t>SVM</a:t>
            </a:r>
            <a:r>
              <a:rPr lang="zh-CN" altLang="en-US" sz="3200" b="1" dirty="0">
                <a:solidFill>
                  <a:srgbClr val="C00000"/>
                </a:solidFill>
                <a:latin typeface="Times New Roman" panose="02020603050405020304" pitchFamily="18" charset="0"/>
                <a:ea typeface="黑体" panose="02010609060101010101" pitchFamily="49" charset="-122"/>
              </a:rPr>
              <a:t>）</a:t>
            </a:r>
            <a:br>
              <a:rPr lang="en-US" altLang="zh-CN" sz="3200" b="1" dirty="0">
                <a:solidFill>
                  <a:srgbClr val="C00000"/>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4.3 </a:t>
            </a:r>
            <a:r>
              <a:rPr lang="zh-CN" altLang="en-US" sz="3200" dirty="0">
                <a:solidFill>
                  <a:schemeClr val="tx1"/>
                </a:solidFill>
                <a:latin typeface="Times New Roman" panose="02020603050405020304" pitchFamily="18" charset="0"/>
                <a:ea typeface="黑体" panose="02010609060101010101" pitchFamily="49" charset="-122"/>
              </a:rPr>
              <a:t>回归算法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4.4 </a:t>
            </a:r>
            <a:r>
              <a:rPr lang="zh-CN" altLang="en-US" sz="3200" dirty="0">
                <a:solidFill>
                  <a:schemeClr val="tx1"/>
                </a:solidFill>
                <a:latin typeface="Times New Roman" panose="02020603050405020304" pitchFamily="18" charset="0"/>
                <a:ea typeface="黑体" panose="02010609060101010101" pitchFamily="49" charset="-122"/>
              </a:rPr>
              <a:t>聚类算法</a:t>
            </a:r>
            <a:br>
              <a:rPr lang="zh-CN" altLang="en-US" sz="3200" dirty="0">
                <a:solidFill>
                  <a:schemeClr val="tx1"/>
                </a:solidFill>
                <a:latin typeface="Times New Roman" panose="02020603050405020304" pitchFamily="18" charset="0"/>
                <a:ea typeface="黑体" panose="02010609060101010101" pitchFamily="49" charset="-122"/>
              </a:rPr>
            </a:br>
            <a:br>
              <a:rPr lang="zh-CN" altLang="en-US" sz="3200" dirty="0">
                <a:solidFill>
                  <a:schemeClr val="tx1"/>
                </a:solidFill>
                <a:latin typeface="Times New Roman" panose="02020603050405020304" pitchFamily="18" charset="0"/>
                <a:ea typeface="黑体" panose="02010609060101010101" pitchFamily="49" charset="-122"/>
              </a:rPr>
            </a:br>
            <a:endParaRPr lang="en-US" altLang="zh-CN" sz="3200" dirty="0">
              <a:solidFill>
                <a:schemeClr val="tx1"/>
              </a:solidFill>
              <a:latin typeface="Times New Roman" panose="02020603050405020304" pitchFamily="18" charset="0"/>
              <a:ea typeface="黑体" panose="02010609060101010101" pitchFamily="49" charset="-122"/>
            </a:endParaRPr>
          </a:p>
        </p:txBody>
      </p:sp>
      <p:sp>
        <p:nvSpPr>
          <p:cNvPr id="7171" name="Text Box 3"/>
          <p:cNvSpPr txBox="1"/>
          <p:nvPr/>
        </p:nvSpPr>
        <p:spPr>
          <a:xfrm>
            <a:off x="1524001" y="404813"/>
            <a:ext cx="29876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50000"/>
              </a:spcBef>
              <a:buNone/>
            </a:pPr>
            <a:r>
              <a:rPr lang="zh-CN" altLang="en-US" sz="2400" dirty="0">
                <a:solidFill>
                  <a:srgbClr val="000000"/>
                </a:solidFill>
                <a:latin typeface="华文行楷" panose="02010800040101010101" pitchFamily="2" charset="-122"/>
                <a:ea typeface="华文行楷" panose="02010800040101010101" pitchFamily="2" charset="-122"/>
              </a:rPr>
              <a:t>第</a:t>
            </a:r>
            <a:r>
              <a:rPr lang="en-US" altLang="zh-CN" sz="2400" dirty="0">
                <a:solidFill>
                  <a:srgbClr val="000000"/>
                </a:solidFill>
                <a:latin typeface="华文行楷" panose="02010800040101010101" pitchFamily="2" charset="-122"/>
                <a:ea typeface="华文行楷" panose="02010800040101010101" pitchFamily="2" charset="-122"/>
              </a:rPr>
              <a:t>4</a:t>
            </a:r>
            <a:r>
              <a:rPr lang="zh-CN" altLang="en-US" sz="2400" dirty="0">
                <a:solidFill>
                  <a:srgbClr val="000000"/>
                </a:solidFill>
                <a:latin typeface="华文行楷" panose="02010800040101010101" pitchFamily="2" charset="-122"/>
                <a:ea typeface="华文行楷" panose="02010800040101010101" pitchFamily="2" charset="-122"/>
              </a:rPr>
              <a:t>章 机器学习</a:t>
            </a:r>
            <a:endParaRPr lang="en-US" altLang="zh-CN" sz="2400" dirty="0">
              <a:solidFill>
                <a:srgbClr val="000000"/>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3654971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2034" name="Rectangle 2"/>
          <p:cNvSpPr>
            <a:spLocks noGrp="1" noChangeArrowheads="1"/>
          </p:cNvSpPr>
          <p:nvPr>
            <p:ph type="title"/>
          </p:nvPr>
        </p:nvSpPr>
        <p:spPr>
          <a:xfrm>
            <a:off x="1985963" y="549275"/>
            <a:ext cx="7772400" cy="731838"/>
          </a:xfrm>
        </p:spPr>
        <p:txBody>
          <a:bodyPr vert="horz" wrap="square" lIns="91440" tIns="45720" rIns="91440" bIns="45720" numCol="1" anchor="ctr" anchorCtr="0" compatLnSpc="1"/>
          <a:lstStyle/>
          <a:p>
            <a:pPr algn="ctr" eaLnBrk="1" hangingPunct="1">
              <a:defRPr/>
            </a:pPr>
            <a:r>
              <a:rPr lang="en-US" altLang="zh-CN" sz="3200" b="1" dirty="0" err="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SVM</a:t>
            </a:r>
            <a:r>
              <a:rPr lang="en-US" altLang="zh-CN"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结构风险最小化</a:t>
            </a:r>
          </a:p>
        </p:txBody>
      </p:sp>
      <p:sp>
        <p:nvSpPr>
          <p:cNvPr id="812035" name="Rectangle 3"/>
          <p:cNvSpPr>
            <a:spLocks noGrp="1"/>
          </p:cNvSpPr>
          <p:nvPr>
            <p:ph idx="1"/>
          </p:nvPr>
        </p:nvSpPr>
        <p:spPr>
          <a:xfrm>
            <a:off x="1985963" y="1773238"/>
            <a:ext cx="8216900" cy="5256212"/>
          </a:xfrm>
          <a:ln/>
        </p:spPr>
        <p:txBody>
          <a:bodyPr vert="horz" wrap="square" lIns="91440" tIns="45720" rIns="91440" bIns="45720" anchor="t" anchorCtr="0"/>
          <a:lstStyle/>
          <a:p>
            <a:pPr eaLnBrk="1" hangingPunct="1">
              <a:lnSpc>
                <a:spcPct val="120000"/>
              </a:lnSpc>
            </a:pPr>
            <a:r>
              <a:rPr lang="zh-CN" altLang="en-US" sz="2400" dirty="0">
                <a:latin typeface="Times New Roman" panose="02020603050405020304" pitchFamily="18" charset="0"/>
                <a:ea typeface="微软雅黑" panose="020B0503020204020204" pitchFamily="34" charset="-122"/>
              </a:rPr>
              <a:t>传统机器学习方法中普遍采用的经验风险最小化原则在样本数目有限时是不合理的，因此，需要同时最小化经验风险和置信范围。</a:t>
            </a:r>
          </a:p>
          <a:p>
            <a:pPr eaLnBrk="1" hangingPunct="1">
              <a:lnSpc>
                <a:spcPct val="120000"/>
              </a:lnSpc>
            </a:pPr>
            <a:r>
              <a:rPr lang="zh-CN" altLang="en-US" sz="2400" dirty="0">
                <a:latin typeface="Times New Roman" panose="02020603050405020304" pitchFamily="18" charset="0"/>
                <a:ea typeface="微软雅黑" panose="020B0503020204020204" pitchFamily="34" charset="-122"/>
              </a:rPr>
              <a:t>统计学习理论提出了一种新的策略，即把函数集构造为一个函数子集序列，使各个子集按照</a:t>
            </a:r>
            <a:r>
              <a:rPr lang="en-US" altLang="zh-CN" sz="2400" dirty="0">
                <a:latin typeface="Times New Roman" panose="02020603050405020304" pitchFamily="18" charset="0"/>
                <a:ea typeface="微软雅黑" panose="020B0503020204020204" pitchFamily="34" charset="-122"/>
              </a:rPr>
              <a:t>VC</a:t>
            </a:r>
            <a:r>
              <a:rPr lang="zh-CN" altLang="en-US" sz="2400" dirty="0">
                <a:latin typeface="Times New Roman" panose="02020603050405020304" pitchFamily="18" charset="0"/>
                <a:ea typeface="微软雅黑" panose="020B0503020204020204" pitchFamily="34" charset="-122"/>
              </a:rPr>
              <a:t>维的大小排列；</a:t>
            </a:r>
          </a:p>
          <a:p>
            <a:pPr lvl="1" eaLnBrk="1" hangingPunct="1">
              <a:lnSpc>
                <a:spcPct val="120000"/>
              </a:lnSpc>
            </a:pPr>
            <a:r>
              <a:rPr lang="zh-CN" altLang="en-US" sz="2400" dirty="0">
                <a:latin typeface="Times New Roman" panose="02020603050405020304" pitchFamily="18" charset="0"/>
                <a:ea typeface="微软雅黑" panose="020B0503020204020204" pitchFamily="34" charset="-122"/>
              </a:rPr>
              <a:t>在每个子集中寻找最小经验风险，</a:t>
            </a:r>
          </a:p>
          <a:p>
            <a:pPr lvl="1" eaLnBrk="1" hangingPunct="1">
              <a:lnSpc>
                <a:spcPct val="120000"/>
              </a:lnSpc>
            </a:pPr>
            <a:r>
              <a:rPr lang="zh-CN" altLang="en-US" sz="2400" dirty="0">
                <a:latin typeface="Times New Roman" panose="02020603050405020304" pitchFamily="18" charset="0"/>
                <a:ea typeface="微软雅黑" panose="020B0503020204020204" pitchFamily="34" charset="-122"/>
              </a:rPr>
              <a:t>在子集间折衷考虑经验风险和置信范围</a:t>
            </a:r>
          </a:p>
          <a:p>
            <a:pPr eaLnBrk="1" hangingPunct="1">
              <a:lnSpc>
                <a:spcPct val="120000"/>
              </a:lnSpc>
            </a:pPr>
            <a:r>
              <a:rPr lang="zh-CN" altLang="en-US" sz="2400" dirty="0">
                <a:latin typeface="Times New Roman" panose="02020603050405020304" pitchFamily="18" charset="0"/>
                <a:ea typeface="微软雅黑" panose="020B0503020204020204" pitchFamily="34" charset="-122"/>
              </a:rPr>
              <a:t>取得实际风险的最小。这种思想称作</a:t>
            </a:r>
            <a:r>
              <a:rPr lang="zh-CN" altLang="en-US" sz="2400" dirty="0">
                <a:solidFill>
                  <a:srgbClr val="0000FF"/>
                </a:solidFill>
                <a:latin typeface="Times New Roman" panose="02020603050405020304" pitchFamily="18" charset="0"/>
                <a:ea typeface="微软雅黑" panose="020B0503020204020204" pitchFamily="34" charset="-122"/>
              </a:rPr>
              <a:t>结构风险最小化</a:t>
            </a:r>
            <a:r>
              <a:rPr lang="en-US" altLang="zh-CN" sz="2400" dirty="0">
                <a:latin typeface="Times New Roman" panose="02020603050405020304" pitchFamily="18" charset="0"/>
                <a:ea typeface="微软雅黑" panose="020B0503020204020204" pitchFamily="34" charset="-122"/>
              </a:rPr>
              <a:t>(Structural Risk Minimization)</a:t>
            </a:r>
            <a:r>
              <a:rPr lang="zh-CN" altLang="en-US" sz="2400" dirty="0">
                <a:latin typeface="Times New Roman" panose="02020603050405020304" pitchFamily="18" charset="0"/>
                <a:ea typeface="微软雅黑" panose="020B0503020204020204" pitchFamily="34" charset="-122"/>
              </a:rPr>
              <a:t>，即</a:t>
            </a:r>
            <a:r>
              <a:rPr lang="en-US" altLang="zh-CN" sz="2400" dirty="0">
                <a:latin typeface="Times New Roman" panose="02020603050405020304" pitchFamily="18" charset="0"/>
                <a:ea typeface="微软雅黑" panose="020B0503020204020204" pitchFamily="34" charset="-122"/>
              </a:rPr>
              <a:t>SRM</a:t>
            </a:r>
            <a:r>
              <a:rPr lang="zh-CN" altLang="en-US" sz="2400" dirty="0">
                <a:latin typeface="Times New Roman" panose="02020603050405020304" pitchFamily="18" charset="0"/>
                <a:ea typeface="微软雅黑" panose="020B0503020204020204" pitchFamily="34" charset="-122"/>
              </a:rPr>
              <a:t>准则。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2035">
                                            <p:txEl>
                                              <p:pRg st="0" end="0"/>
                                            </p:txEl>
                                          </p:spTgt>
                                        </p:tgtEl>
                                        <p:attrNameLst>
                                          <p:attrName>style.visibility</p:attrName>
                                        </p:attrNameLst>
                                      </p:cBhvr>
                                      <p:to>
                                        <p:strVal val="visible"/>
                                      </p:to>
                                    </p:set>
                                    <p:animEffect transition="in" filter="blinds(horizontal)">
                                      <p:cBhvr>
                                        <p:cTn id="7" dur="500"/>
                                        <p:tgtEl>
                                          <p:spTgt spid="812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2035">
                                            <p:txEl>
                                              <p:pRg st="1" end="1"/>
                                            </p:txEl>
                                          </p:spTgt>
                                        </p:tgtEl>
                                        <p:attrNameLst>
                                          <p:attrName>style.visibility</p:attrName>
                                        </p:attrNameLst>
                                      </p:cBhvr>
                                      <p:to>
                                        <p:strVal val="visible"/>
                                      </p:to>
                                    </p:set>
                                    <p:animEffect transition="in" filter="blinds(horizontal)">
                                      <p:cBhvr>
                                        <p:cTn id="12" dur="500"/>
                                        <p:tgtEl>
                                          <p:spTgt spid="812035">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12035">
                                            <p:txEl>
                                              <p:pRg st="2" end="2"/>
                                            </p:txEl>
                                          </p:spTgt>
                                        </p:tgtEl>
                                        <p:attrNameLst>
                                          <p:attrName>style.visibility</p:attrName>
                                        </p:attrNameLst>
                                      </p:cBhvr>
                                      <p:to>
                                        <p:strVal val="visible"/>
                                      </p:to>
                                    </p:set>
                                    <p:animEffect transition="in" filter="blinds(horizontal)">
                                      <p:cBhvr>
                                        <p:cTn id="15" dur="500"/>
                                        <p:tgtEl>
                                          <p:spTgt spid="812035">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12035">
                                            <p:txEl>
                                              <p:pRg st="3" end="3"/>
                                            </p:txEl>
                                          </p:spTgt>
                                        </p:tgtEl>
                                        <p:attrNameLst>
                                          <p:attrName>style.visibility</p:attrName>
                                        </p:attrNameLst>
                                      </p:cBhvr>
                                      <p:to>
                                        <p:strVal val="visible"/>
                                      </p:to>
                                    </p:set>
                                    <p:animEffect transition="in" filter="blinds(horizontal)">
                                      <p:cBhvr>
                                        <p:cTn id="18" dur="500"/>
                                        <p:tgtEl>
                                          <p:spTgt spid="81203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12035">
                                            <p:txEl>
                                              <p:pRg st="4" end="4"/>
                                            </p:txEl>
                                          </p:spTgt>
                                        </p:tgtEl>
                                        <p:attrNameLst>
                                          <p:attrName>style.visibility</p:attrName>
                                        </p:attrNameLst>
                                      </p:cBhvr>
                                      <p:to>
                                        <p:strVal val="visible"/>
                                      </p:to>
                                    </p:set>
                                    <p:animEffect transition="in" filter="blinds(horizontal)">
                                      <p:cBhvr>
                                        <p:cTn id="23" dur="500"/>
                                        <p:tgtEl>
                                          <p:spTgt spid="8120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2035" grpId="0" build="p"/>
    </p:bld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标题 1"/>
          <p:cNvSpPr>
            <a:spLocks noGrp="1"/>
          </p:cNvSpPr>
          <p:nvPr>
            <p:ph type="title"/>
          </p:nvPr>
        </p:nvSpPr>
        <p:spPr>
          <a:ln/>
        </p:spPr>
        <p:txBody>
          <a:bodyPr vert="horz" wrap="square" lIns="91440" tIns="45720" rIns="91440" bIns="45720" anchor="ctr" anchorCtr="0"/>
          <a:lstStyle/>
          <a:p>
            <a:endParaRPr lang="zh-CN" altLang="en-US" dirty="0"/>
          </a:p>
        </p:txBody>
      </p:sp>
      <p:pic>
        <p:nvPicPr>
          <p:cNvPr id="19459" name="内容占位符 4"/>
          <p:cNvPicPr>
            <a:picLocks noGrp="1" noChangeAspect="1"/>
          </p:cNvPicPr>
          <p:nvPr>
            <p:ph idx="1"/>
          </p:nvPr>
        </p:nvPicPr>
        <p:blipFill>
          <a:blip r:embed="rId2"/>
          <a:srcRect/>
          <a:stretch>
            <a:fillRect/>
          </a:stretch>
        </p:blipFill>
        <p:spPr>
          <a:xfrm>
            <a:off x="1487488" y="620713"/>
            <a:ext cx="9199562" cy="5033962"/>
          </a:xfrm>
          <a:ln/>
        </p:spPr>
      </p:pic>
      <p:sp>
        <p:nvSpPr>
          <p:cNvPr id="19460" name="灯片编号占位符 3"/>
          <p:cNvSpPr txBox="1">
            <a:spLocks noGrp="1"/>
          </p:cNvSpPr>
          <p:nvPr>
            <p:ph type="sldNum" sz="quarter" idx="12"/>
          </p:nvPr>
        </p:nvSpPr>
        <p:spPr>
          <a:ln/>
        </p:spPr>
        <p:txBody>
          <a:bodyPr/>
          <a:lstStyle/>
          <a:p>
            <a:fld id="{9A0DB2DC-4C9A-4742-B13C-FB6460FD3503}" type="slidenum">
              <a:rPr lang="zh-CN" altLang="en-US" dirty="0"/>
              <a:pPr/>
              <a:t>75</a:t>
            </a:fld>
            <a:endParaRPr lang="zh-CN" altLang="en-US" dirty="0"/>
          </a:p>
        </p:txBody>
      </p:sp>
    </p:spTree>
    <p:extLst>
      <p:ext uri="{BB962C8B-B14F-4D97-AF65-F5344CB8AC3E}">
        <p14:creationId xmlns:p14="http://schemas.microsoft.com/office/powerpoint/2010/main" val="12923487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标题 1"/>
          <p:cNvSpPr>
            <a:spLocks noGrp="1"/>
          </p:cNvSpPr>
          <p:nvPr>
            <p:ph type="title"/>
          </p:nvPr>
        </p:nvSpPr>
        <p:spPr>
          <a:ln/>
        </p:spPr>
        <p:txBody>
          <a:bodyPr vert="horz" wrap="square" lIns="91440" tIns="45720" rIns="91440" bIns="45720" anchor="ctr" anchorCtr="0"/>
          <a:lstStyle/>
          <a:p>
            <a:endParaRPr lang="zh-CN" altLang="en-US" dirty="0"/>
          </a:p>
        </p:txBody>
      </p:sp>
      <p:pic>
        <p:nvPicPr>
          <p:cNvPr id="21507" name="内容占位符 4"/>
          <p:cNvPicPr>
            <a:picLocks noGrp="1" noChangeAspect="1"/>
          </p:cNvPicPr>
          <p:nvPr>
            <p:ph idx="1"/>
          </p:nvPr>
        </p:nvPicPr>
        <p:blipFill>
          <a:blip r:embed="rId2"/>
          <a:srcRect/>
          <a:stretch>
            <a:fillRect/>
          </a:stretch>
        </p:blipFill>
        <p:spPr>
          <a:xfrm>
            <a:off x="1487488" y="620714"/>
            <a:ext cx="9218612" cy="4537075"/>
          </a:xfrm>
          <a:ln/>
        </p:spPr>
      </p:pic>
      <p:sp>
        <p:nvSpPr>
          <p:cNvPr id="21508" name="灯片编号占位符 3"/>
          <p:cNvSpPr txBox="1">
            <a:spLocks noGrp="1"/>
          </p:cNvSpPr>
          <p:nvPr>
            <p:ph type="sldNum" sz="quarter" idx="12"/>
          </p:nvPr>
        </p:nvSpPr>
        <p:spPr>
          <a:ln/>
        </p:spPr>
        <p:txBody>
          <a:bodyPr/>
          <a:lstStyle/>
          <a:p>
            <a:fld id="{9A0DB2DC-4C9A-4742-B13C-FB6460FD3503}" type="slidenum">
              <a:rPr lang="zh-CN" altLang="en-US" dirty="0"/>
              <a:pPr/>
              <a:t>76</a:t>
            </a:fld>
            <a:endParaRPr lang="zh-CN" altLang="en-US" dirty="0"/>
          </a:p>
        </p:txBody>
      </p:sp>
    </p:spTree>
    <p:extLst>
      <p:ext uri="{BB962C8B-B14F-4D97-AF65-F5344CB8AC3E}">
        <p14:creationId xmlns:p14="http://schemas.microsoft.com/office/powerpoint/2010/main" val="12959147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标题 1"/>
          <p:cNvSpPr>
            <a:spLocks noGrp="1"/>
          </p:cNvSpPr>
          <p:nvPr>
            <p:ph type="title"/>
          </p:nvPr>
        </p:nvSpPr>
        <p:spPr>
          <a:ln/>
        </p:spPr>
        <p:txBody>
          <a:bodyPr vert="horz" wrap="square" lIns="91440" tIns="45720" rIns="91440" bIns="45720" anchor="ctr" anchorCtr="0"/>
          <a:lstStyle/>
          <a:p>
            <a:endParaRPr lang="zh-CN" altLang="en-US" dirty="0"/>
          </a:p>
        </p:txBody>
      </p:sp>
      <p:pic>
        <p:nvPicPr>
          <p:cNvPr id="22531" name="内容占位符 4"/>
          <p:cNvPicPr>
            <a:picLocks noGrp="1" noChangeAspect="1"/>
          </p:cNvPicPr>
          <p:nvPr>
            <p:ph idx="1"/>
          </p:nvPr>
        </p:nvPicPr>
        <p:blipFill>
          <a:blip r:embed="rId2"/>
          <a:srcRect/>
          <a:stretch>
            <a:fillRect/>
          </a:stretch>
        </p:blipFill>
        <p:spPr>
          <a:xfrm>
            <a:off x="1524001" y="609601"/>
            <a:ext cx="9110663" cy="5127625"/>
          </a:xfrm>
          <a:ln/>
        </p:spPr>
      </p:pic>
      <p:sp>
        <p:nvSpPr>
          <p:cNvPr id="22532" name="灯片编号占位符 3"/>
          <p:cNvSpPr txBox="1">
            <a:spLocks noGrp="1"/>
          </p:cNvSpPr>
          <p:nvPr>
            <p:ph type="sldNum" sz="quarter" idx="12"/>
          </p:nvPr>
        </p:nvSpPr>
        <p:spPr>
          <a:ln/>
        </p:spPr>
        <p:txBody>
          <a:bodyPr/>
          <a:lstStyle/>
          <a:p>
            <a:fld id="{9A0DB2DC-4C9A-4742-B13C-FB6460FD3503}" type="slidenum">
              <a:rPr lang="zh-CN" altLang="en-US" dirty="0"/>
              <a:pPr/>
              <a:t>77</a:t>
            </a:fld>
            <a:endParaRPr lang="zh-CN" altLang="en-US" dirty="0"/>
          </a:p>
        </p:txBody>
      </p:sp>
    </p:spTree>
    <p:extLst>
      <p:ext uri="{BB962C8B-B14F-4D97-AF65-F5344CB8AC3E}">
        <p14:creationId xmlns:p14="http://schemas.microsoft.com/office/powerpoint/2010/main" val="24201511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标题 1"/>
          <p:cNvSpPr>
            <a:spLocks noGrp="1"/>
          </p:cNvSpPr>
          <p:nvPr>
            <p:ph type="title"/>
          </p:nvPr>
        </p:nvSpPr>
        <p:spPr>
          <a:ln/>
        </p:spPr>
        <p:txBody>
          <a:bodyPr vert="horz" wrap="square" lIns="91440" tIns="45720" rIns="91440" bIns="45720" anchor="ctr" anchorCtr="0"/>
          <a:lstStyle/>
          <a:p>
            <a:endParaRPr lang="zh-CN" altLang="en-US" dirty="0"/>
          </a:p>
        </p:txBody>
      </p:sp>
      <p:pic>
        <p:nvPicPr>
          <p:cNvPr id="24579" name="内容占位符 4"/>
          <p:cNvPicPr>
            <a:picLocks noGrp="1" noChangeAspect="1"/>
          </p:cNvPicPr>
          <p:nvPr>
            <p:ph idx="1"/>
          </p:nvPr>
        </p:nvPicPr>
        <p:blipFill>
          <a:blip r:embed="rId2"/>
          <a:srcRect/>
          <a:stretch>
            <a:fillRect/>
          </a:stretch>
        </p:blipFill>
        <p:spPr>
          <a:xfrm>
            <a:off x="1530351" y="609600"/>
            <a:ext cx="9032875" cy="4732338"/>
          </a:xfrm>
          <a:ln/>
        </p:spPr>
      </p:pic>
      <p:sp>
        <p:nvSpPr>
          <p:cNvPr id="24580" name="灯片编号占位符 3"/>
          <p:cNvSpPr txBox="1">
            <a:spLocks noGrp="1"/>
          </p:cNvSpPr>
          <p:nvPr>
            <p:ph type="sldNum" sz="quarter" idx="12"/>
          </p:nvPr>
        </p:nvSpPr>
        <p:spPr>
          <a:ln/>
        </p:spPr>
        <p:txBody>
          <a:bodyPr/>
          <a:lstStyle/>
          <a:p>
            <a:fld id="{9A0DB2DC-4C9A-4742-B13C-FB6460FD3503}" type="slidenum">
              <a:rPr lang="zh-CN" altLang="en-US" dirty="0"/>
              <a:pPr/>
              <a:t>78</a:t>
            </a:fld>
            <a:endParaRPr lang="zh-CN" altLang="en-US" dirty="0"/>
          </a:p>
        </p:txBody>
      </p:sp>
    </p:spTree>
    <p:extLst>
      <p:ext uri="{BB962C8B-B14F-4D97-AF65-F5344CB8AC3E}">
        <p14:creationId xmlns:p14="http://schemas.microsoft.com/office/powerpoint/2010/main" val="15932995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2642" name="Picture 3"/>
          <p:cNvPicPr>
            <a:picLocks noGrp="1" noChangeAspect="1"/>
          </p:cNvPicPr>
          <p:nvPr>
            <p:ph idx="1"/>
          </p:nvPr>
        </p:nvPicPr>
        <p:blipFill>
          <a:blip r:embed="rId2"/>
          <a:stretch>
            <a:fillRect/>
          </a:stretch>
        </p:blipFill>
        <p:spPr>
          <a:xfrm>
            <a:off x="3215680" y="1008939"/>
            <a:ext cx="5420606" cy="4990742"/>
          </a:xfrm>
          <a:ln/>
        </p:spPr>
      </p:pic>
      <p:sp>
        <p:nvSpPr>
          <p:cNvPr id="4" name="Rectangle 2"/>
          <p:cNvSpPr txBox="1">
            <a:spLocks noChangeArrowheads="1"/>
          </p:cNvSpPr>
          <p:nvPr/>
        </p:nvSpPr>
        <p:spPr bwMode="auto">
          <a:xfrm>
            <a:off x="2208213" y="260350"/>
            <a:ext cx="77724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en-US" altLang="zh-CN" sz="3200" b="1" dirty="0" err="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SVM</a:t>
            </a:r>
            <a:r>
              <a:rPr lang="en-US" altLang="zh-CN"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结构风险最小化</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2208213" y="260350"/>
            <a:ext cx="7772400" cy="731838"/>
          </a:xfrm>
        </p:spPr>
        <p:txBody>
          <a:bodyPr vert="horz" wrap="square" lIns="91440" tIns="45720" rIns="91440" bIns="45720" numCol="1" anchor="ctr" anchorCtr="0" compatLnSpc="1"/>
          <a:lstStyle/>
          <a:p>
            <a:pPr algn="ctr" eaLnBrk="1" hangingPunct="1">
              <a:defRPr/>
            </a:pPr>
            <a:r>
              <a:rPr lang="en-US" altLang="zh-CN" sz="3200" b="1" dirty="0" err="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SVM</a:t>
            </a:r>
            <a:r>
              <a:rPr lang="en-US" altLang="zh-CN"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支持向量机理论</a:t>
            </a:r>
          </a:p>
        </p:txBody>
      </p:sp>
      <p:sp>
        <p:nvSpPr>
          <p:cNvPr id="113666" name="Rectangle 3"/>
          <p:cNvSpPr>
            <a:spLocks noGrp="1"/>
          </p:cNvSpPr>
          <p:nvPr>
            <p:ph type="body" sz="half" idx="1"/>
          </p:nvPr>
        </p:nvSpPr>
        <p:spPr>
          <a:xfrm>
            <a:off x="1955800" y="1668463"/>
            <a:ext cx="8567738" cy="4608512"/>
          </a:xfrm>
          <a:ln/>
        </p:spPr>
        <p:txBody>
          <a:bodyPr vert="horz" wrap="square" lIns="91440" tIns="45720" rIns="91440" bIns="45720" anchor="t" anchorCtr="0"/>
          <a:lstStyle/>
          <a:p>
            <a:pPr eaLnBrk="1" hangingPunct="1">
              <a:lnSpc>
                <a:spcPct val="90000"/>
              </a:lnSpc>
              <a:buClrTx/>
              <a:buSzTx/>
              <a:buFontTx/>
            </a:pPr>
            <a:r>
              <a:rPr lang="en-US" altLang="zh-CN" sz="2900" b="1" dirty="0">
                <a:latin typeface="Times New Roman" panose="02020603050405020304" pitchFamily="18" charset="0"/>
              </a:rPr>
              <a:t>SVM</a:t>
            </a:r>
            <a:r>
              <a:rPr lang="zh-CN" altLang="en-US" sz="2900" b="1" dirty="0">
                <a:latin typeface="Times New Roman" panose="02020603050405020304" pitchFamily="18" charset="0"/>
              </a:rPr>
              <a:t>从线性可分情况下的最优分类面发展而来。</a:t>
            </a:r>
            <a:endParaRPr lang="en-US" altLang="zh-CN" sz="2900" b="1" dirty="0">
              <a:latin typeface="Times New Roman" panose="02020603050405020304" pitchFamily="18" charset="0"/>
            </a:endParaRPr>
          </a:p>
        </p:txBody>
      </p:sp>
      <p:pic>
        <p:nvPicPr>
          <p:cNvPr id="113667" name="Picture 4"/>
          <p:cNvPicPr>
            <a:picLocks noChangeAspect="1"/>
          </p:cNvPicPr>
          <p:nvPr/>
        </p:nvPicPr>
        <p:blipFill>
          <a:blip r:embed="rId2"/>
          <a:stretch>
            <a:fillRect/>
          </a:stretch>
        </p:blipFill>
        <p:spPr>
          <a:xfrm>
            <a:off x="4719638" y="2381250"/>
            <a:ext cx="5948362" cy="4432300"/>
          </a:xfrm>
          <a:prstGeom prst="rect">
            <a:avLst/>
          </a:prstGeom>
          <a:noFill/>
          <a:ln w="9525">
            <a:noFill/>
          </a:ln>
        </p:spPr>
      </p:pic>
      <p:sp>
        <p:nvSpPr>
          <p:cNvPr id="113668" name="矩形 1"/>
          <p:cNvSpPr/>
          <p:nvPr/>
        </p:nvSpPr>
        <p:spPr>
          <a:xfrm>
            <a:off x="1955801" y="2741613"/>
            <a:ext cx="2765425" cy="3065462"/>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lnSpc>
                <a:spcPct val="90000"/>
              </a:lnSpc>
              <a:spcBef>
                <a:spcPct val="0"/>
              </a:spcBef>
              <a:buNone/>
            </a:pPr>
            <a:r>
              <a:rPr lang="zh-CN" altLang="en-US" sz="2800" b="1" dirty="0">
                <a:latin typeface="微软雅黑" panose="020B0503020204020204" pitchFamily="34" charset="-122"/>
                <a:ea typeface="微软雅黑" panose="020B0503020204020204" pitchFamily="34" charset="-122"/>
              </a:rPr>
              <a:t>问题：</a:t>
            </a:r>
          </a:p>
          <a:p>
            <a:pPr marL="0" indent="0" eaLnBrk="1" hangingPunct="1">
              <a:spcBef>
                <a:spcPct val="0"/>
              </a:spcBef>
              <a:buNone/>
            </a:pPr>
            <a:r>
              <a:rPr lang="zh-CN" altLang="en-US" sz="2800" b="1" dirty="0">
                <a:latin typeface="微软雅黑" panose="020B0503020204020204" pitchFamily="34" charset="-122"/>
                <a:ea typeface="微软雅黑" panose="020B0503020204020204" pitchFamily="34" charset="-122"/>
              </a:rPr>
              <a:t>如果存在多个使经验风险最小的解（比如线性可分情况），哪一个使期望风险最小？</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矩形 1"/>
          <p:cNvSpPr/>
          <p:nvPr/>
        </p:nvSpPr>
        <p:spPr>
          <a:xfrm>
            <a:off x="3791745" y="188640"/>
            <a:ext cx="5661025" cy="5080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en-US" altLang="zh-CN" sz="2700" b="1" dirty="0">
                <a:latin typeface="微软雅黑" panose="020B0503020204020204" pitchFamily="34" charset="-122"/>
                <a:ea typeface="微软雅黑" panose="020B0503020204020204" pitchFamily="34" charset="-122"/>
              </a:rPr>
              <a:t>SVM</a:t>
            </a:r>
            <a:r>
              <a:rPr lang="zh-CN" altLang="en-US" sz="2700" b="1" dirty="0">
                <a:latin typeface="微软雅黑" panose="020B0503020204020204" pitchFamily="34" charset="-122"/>
                <a:ea typeface="微软雅黑" panose="020B0503020204020204" pitchFamily="34" charset="-122"/>
              </a:rPr>
              <a:t>（支持向量机）</a:t>
            </a:r>
          </a:p>
        </p:txBody>
      </p:sp>
      <p:sp>
        <p:nvSpPr>
          <p:cNvPr id="3" name="矩形 2"/>
          <p:cNvSpPr/>
          <p:nvPr/>
        </p:nvSpPr>
        <p:spPr>
          <a:xfrm>
            <a:off x="1631505" y="805866"/>
            <a:ext cx="8353425" cy="830997"/>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342900" latinLnBrk="0">
              <a:spcBef>
                <a:spcPct val="0"/>
              </a:spcBef>
              <a:buNone/>
            </a:pPr>
            <a:r>
              <a:rPr lang="zh-CN" altLang="en-US" sz="2400" dirty="0">
                <a:latin typeface="微软雅黑" panose="020B0503020204020204" pitchFamily="34" charset="-122"/>
                <a:ea typeface="微软雅黑" panose="020B0503020204020204" pitchFamily="34" charset="-122"/>
                <a:sym typeface="+mn-ea"/>
              </a:rPr>
              <a:t>在很久以前的情人节，大侠要去救他的爱人，但魔鬼和他玩了一个游戏。</a:t>
            </a:r>
          </a:p>
        </p:txBody>
      </p:sp>
      <p:sp>
        <p:nvSpPr>
          <p:cNvPr id="25" name="文本框 24"/>
          <p:cNvSpPr txBox="1"/>
          <p:nvPr/>
        </p:nvSpPr>
        <p:spPr>
          <a:xfrm>
            <a:off x="1847850" y="5341939"/>
            <a:ext cx="8496300" cy="124649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ct val="125000"/>
              </a:lnSpc>
              <a:spcBef>
                <a:spcPct val="0"/>
              </a:spcBef>
              <a:buNone/>
            </a:pPr>
            <a:r>
              <a:rPr lang="zh-CN" altLang="en-US" sz="2000" dirty="0">
                <a:solidFill>
                  <a:srgbClr val="0432FF"/>
                </a:solidFill>
                <a:latin typeface="微软雅黑" panose="020B0503020204020204" pitchFamily="34" charset="-122"/>
                <a:ea typeface="微软雅黑" panose="020B0503020204020204" pitchFamily="34" charset="-122"/>
                <a:sym typeface="+mn-ea"/>
              </a:rPr>
              <a:t>再之后，人们把这些球叫做 </a:t>
            </a:r>
            <a:r>
              <a:rPr lang="zh-CN" altLang="en-US" sz="2000" b="1" dirty="0">
                <a:solidFill>
                  <a:srgbClr val="0432FF"/>
                </a:solidFill>
                <a:latin typeface="微软雅黑" panose="020B0503020204020204" pitchFamily="34" charset="-122"/>
                <a:ea typeface="微软雅黑" panose="020B0503020204020204" pitchFamily="34" charset="-122"/>
                <a:sym typeface="+mn-ea"/>
              </a:rPr>
              <a:t>「data」</a:t>
            </a:r>
            <a:r>
              <a:rPr lang="zh-CN" altLang="en-US" sz="2000" dirty="0">
                <a:solidFill>
                  <a:srgbClr val="0432FF"/>
                </a:solidFill>
                <a:latin typeface="微软雅黑" panose="020B0503020204020204" pitchFamily="34" charset="-122"/>
                <a:ea typeface="微软雅黑" panose="020B0503020204020204" pitchFamily="34" charset="-122"/>
                <a:sym typeface="+mn-ea"/>
              </a:rPr>
              <a:t>，把棍子叫做 </a:t>
            </a:r>
            <a:r>
              <a:rPr lang="zh-CN" altLang="en-US" sz="2000" b="1" dirty="0">
                <a:solidFill>
                  <a:srgbClr val="0432FF"/>
                </a:solidFill>
                <a:latin typeface="微软雅黑" panose="020B0503020204020204" pitchFamily="34" charset="-122"/>
                <a:ea typeface="微软雅黑" panose="020B0503020204020204" pitchFamily="34" charset="-122"/>
                <a:sym typeface="+mn-ea"/>
              </a:rPr>
              <a:t>「classifier」</a:t>
            </a:r>
            <a:r>
              <a:rPr lang="zh-CN" altLang="en-US" sz="2000" dirty="0">
                <a:solidFill>
                  <a:srgbClr val="0432FF"/>
                </a:solidFill>
                <a:latin typeface="微软雅黑" panose="020B0503020204020204" pitchFamily="34" charset="-122"/>
                <a:ea typeface="微软雅黑" panose="020B0503020204020204" pitchFamily="34" charset="-122"/>
                <a:sym typeface="+mn-ea"/>
              </a:rPr>
              <a:t>, 最大间隙trick 叫做</a:t>
            </a:r>
            <a:r>
              <a:rPr lang="zh-CN" altLang="en-US" sz="2000" b="1" dirty="0">
                <a:solidFill>
                  <a:srgbClr val="0432FF"/>
                </a:solidFill>
                <a:latin typeface="微软雅黑" panose="020B0503020204020204" pitchFamily="34" charset="-122"/>
                <a:ea typeface="微软雅黑" panose="020B0503020204020204" pitchFamily="34" charset="-122"/>
                <a:sym typeface="+mn-ea"/>
              </a:rPr>
              <a:t>「optimization」</a:t>
            </a:r>
            <a:r>
              <a:rPr lang="zh-CN" altLang="en-US" sz="2000" dirty="0">
                <a:solidFill>
                  <a:srgbClr val="0432FF"/>
                </a:solidFill>
                <a:latin typeface="微软雅黑" panose="020B0503020204020204" pitchFamily="34" charset="-122"/>
                <a:ea typeface="微软雅黑" panose="020B0503020204020204" pitchFamily="34" charset="-122"/>
                <a:sym typeface="+mn-ea"/>
              </a:rPr>
              <a:t>， 拍桌子叫做</a:t>
            </a:r>
            <a:r>
              <a:rPr lang="zh-CN" altLang="en-US" sz="2000" b="1" dirty="0">
                <a:solidFill>
                  <a:srgbClr val="0432FF"/>
                </a:solidFill>
                <a:latin typeface="微软雅黑" panose="020B0503020204020204" pitchFamily="34" charset="-122"/>
                <a:ea typeface="微软雅黑" panose="020B0503020204020204" pitchFamily="34" charset="-122"/>
                <a:sym typeface="+mn-ea"/>
              </a:rPr>
              <a:t>「kernelling」</a:t>
            </a:r>
            <a:r>
              <a:rPr lang="zh-CN" altLang="en-US" sz="2000" dirty="0">
                <a:solidFill>
                  <a:srgbClr val="0432FF"/>
                </a:solidFill>
                <a:latin typeface="微软雅黑" panose="020B0503020204020204" pitchFamily="34" charset="-122"/>
                <a:ea typeface="微软雅黑" panose="020B0503020204020204" pitchFamily="34" charset="-122"/>
                <a:sym typeface="+mn-ea"/>
              </a:rPr>
              <a:t>, 那张纸叫做</a:t>
            </a:r>
            <a:r>
              <a:rPr lang="zh-CN" altLang="en-US" sz="2000" b="1" dirty="0">
                <a:solidFill>
                  <a:srgbClr val="0432FF"/>
                </a:solidFill>
                <a:latin typeface="微软雅黑" panose="020B0503020204020204" pitchFamily="34" charset="-122"/>
                <a:ea typeface="微软雅黑" panose="020B0503020204020204" pitchFamily="34" charset="-122"/>
                <a:sym typeface="+mn-ea"/>
              </a:rPr>
              <a:t>「hyperplane」</a:t>
            </a:r>
            <a:r>
              <a:rPr lang="zh-CN" altLang="en-US" sz="2000" dirty="0">
                <a:solidFill>
                  <a:srgbClr val="0432FF"/>
                </a:solidFill>
                <a:latin typeface="微软雅黑" panose="020B0503020204020204" pitchFamily="34" charset="-122"/>
                <a:ea typeface="微软雅黑" panose="020B0503020204020204" pitchFamily="34" charset="-122"/>
                <a:sym typeface="+mn-ea"/>
              </a:rPr>
              <a:t>。</a:t>
            </a:r>
          </a:p>
        </p:txBody>
      </p:sp>
      <p:pic>
        <p:nvPicPr>
          <p:cNvPr id="114693" name="图片 3"/>
          <p:cNvPicPr>
            <a:picLocks noChangeAspect="1"/>
          </p:cNvPicPr>
          <p:nvPr/>
        </p:nvPicPr>
        <p:blipFill>
          <a:blip r:embed="rId2"/>
          <a:stretch>
            <a:fillRect/>
          </a:stretch>
        </p:blipFill>
        <p:spPr>
          <a:xfrm>
            <a:off x="1538690" y="1746088"/>
            <a:ext cx="9144000" cy="3438525"/>
          </a:xfrm>
          <a:prstGeom prst="rect">
            <a:avLst/>
          </a:prstGeom>
          <a:noFill/>
          <a:ln w="9525">
            <a:noFill/>
          </a:ln>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6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714" name="矩形 1"/>
          <p:cNvSpPr/>
          <p:nvPr/>
        </p:nvSpPr>
        <p:spPr>
          <a:xfrm>
            <a:off x="2549526" y="804863"/>
            <a:ext cx="5661025" cy="5080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en-US" altLang="zh-CN" sz="2700" b="1" dirty="0">
                <a:latin typeface="微软雅黑" panose="020B0503020204020204" pitchFamily="34" charset="-122"/>
                <a:ea typeface="微软雅黑" panose="020B0503020204020204" pitchFamily="34" charset="-122"/>
              </a:rPr>
              <a:t>SVM</a:t>
            </a:r>
            <a:r>
              <a:rPr lang="zh-CN" altLang="en-US" sz="2700" b="1" dirty="0">
                <a:latin typeface="微软雅黑" panose="020B0503020204020204" pitchFamily="34" charset="-122"/>
                <a:ea typeface="微软雅黑" panose="020B0503020204020204" pitchFamily="34" charset="-122"/>
              </a:rPr>
              <a:t>（支持向量机）</a:t>
            </a:r>
          </a:p>
        </p:txBody>
      </p:sp>
      <p:pic>
        <p:nvPicPr>
          <p:cNvPr id="3" name="图片 2"/>
          <p:cNvPicPr>
            <a:picLocks noChangeAspect="1"/>
          </p:cNvPicPr>
          <p:nvPr/>
        </p:nvPicPr>
        <p:blipFill>
          <a:blip r:embed="rId2"/>
          <a:stretch>
            <a:fillRect/>
          </a:stretch>
        </p:blipFill>
        <p:spPr>
          <a:xfrm>
            <a:off x="2135188" y="3573146"/>
            <a:ext cx="3162300" cy="2733675"/>
          </a:xfrm>
          <a:prstGeom prst="rect">
            <a:avLst/>
          </a:prstGeom>
          <a:noFill/>
          <a:ln w="9525">
            <a:noFill/>
          </a:ln>
        </p:spPr>
      </p:pic>
      <p:pic>
        <p:nvPicPr>
          <p:cNvPr id="4" name="图片 3"/>
          <p:cNvPicPr>
            <a:picLocks noChangeAspect="1"/>
          </p:cNvPicPr>
          <p:nvPr/>
        </p:nvPicPr>
        <p:blipFill>
          <a:blip r:embed="rId3"/>
          <a:stretch>
            <a:fillRect/>
          </a:stretch>
        </p:blipFill>
        <p:spPr>
          <a:xfrm>
            <a:off x="6380163" y="3356293"/>
            <a:ext cx="3586162" cy="2495550"/>
          </a:xfrm>
          <a:prstGeom prst="rect">
            <a:avLst/>
          </a:prstGeom>
          <a:noFill/>
          <a:ln w="9525">
            <a:noFill/>
          </a:ln>
        </p:spPr>
      </p:pic>
      <p:sp>
        <p:nvSpPr>
          <p:cNvPr id="5" name="矩形 4"/>
          <p:cNvSpPr/>
          <p:nvPr/>
        </p:nvSpPr>
        <p:spPr>
          <a:xfrm>
            <a:off x="1689736" y="1528763"/>
            <a:ext cx="4194175" cy="1568450"/>
          </a:xfrm>
          <a:prstGeom prst="rect">
            <a:avLst/>
          </a:prstGeom>
        </p:spPr>
        <p:txBody>
          <a:bodyPr>
            <a:spAutoFit/>
          </a:bodyPr>
          <a:lstStyle/>
          <a:p>
            <a:pPr indent="405130">
              <a:defRPr/>
            </a:pPr>
            <a:r>
              <a:rPr kumimoji="1" lang="zh-CN" altLang="en-US" sz="2000" b="1" dirty="0">
                <a:latin typeface="微软雅黑" panose="020B0503020204020204" pitchFamily="34" charset="-122"/>
                <a:ea typeface="微软雅黑" panose="020B0503020204020204" pitchFamily="34" charset="-122"/>
                <a:sym typeface="+mn-ea"/>
              </a:rPr>
              <a:t>直观理解：</a:t>
            </a:r>
            <a:r>
              <a:rPr kumimoji="1" lang="zh-CN" altLang="en-US" sz="2400" dirty="0">
                <a:latin typeface="微软雅黑" panose="020B0503020204020204" pitchFamily="34" charset="-122"/>
                <a:ea typeface="微软雅黑" panose="020B0503020204020204" pitchFamily="34" charset="-122"/>
              </a:rPr>
              <a:t>对一个数据点进行分类，当超平面离数据点的“间隔”越大，分类的确信度（</a:t>
            </a:r>
            <a:r>
              <a:rPr kumimoji="1" lang="en-US" altLang="zh-CN" sz="2400" dirty="0">
                <a:latin typeface="微软雅黑" panose="020B0503020204020204" pitchFamily="34" charset="-122"/>
                <a:ea typeface="微软雅黑" panose="020B0503020204020204" pitchFamily="34" charset="-122"/>
              </a:rPr>
              <a:t>confidence</a:t>
            </a:r>
            <a:r>
              <a:rPr kumimoji="1" lang="zh-CN" altLang="en-US" sz="2400" dirty="0">
                <a:latin typeface="微软雅黑" panose="020B0503020204020204" pitchFamily="34" charset="-122"/>
                <a:ea typeface="微软雅黑" panose="020B0503020204020204" pitchFamily="34" charset="-122"/>
              </a:rPr>
              <a:t>）也越大。</a:t>
            </a:r>
            <a:endParaRPr kumimoji="1" lang="zh-CN" altLang="en-US" sz="2400" dirty="0">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3503296" y="3152141"/>
            <a:ext cx="2271713" cy="41592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algn="ctr" latinLnBrk="0">
              <a:spcBef>
                <a:spcPct val="0"/>
              </a:spcBef>
              <a:buNone/>
            </a:pPr>
            <a:r>
              <a:rPr lang="zh-CN" altLang="en-US" sz="2100" b="1" dirty="0">
                <a:solidFill>
                  <a:srgbClr val="FF0000"/>
                </a:solidFill>
                <a:latin typeface="微软雅黑" panose="020B0503020204020204" pitchFamily="34" charset="-122"/>
                <a:ea typeface="微软雅黑" panose="020B0503020204020204" pitchFamily="34" charset="-122"/>
              </a:rPr>
              <a:t>间隔</a:t>
            </a:r>
            <a:r>
              <a:rPr lang="zh-CN" altLang="en-US" sz="2100" dirty="0">
                <a:solidFill>
                  <a:srgbClr val="FF0000"/>
                </a:solidFill>
                <a:latin typeface="Gulim" panose="020B0600000101010101" pitchFamily="34" charset="-127"/>
                <a:ea typeface="Gulim" panose="020B0600000101010101" pitchFamily="34" charset="-127"/>
              </a:rPr>
              <a:t>（</a:t>
            </a:r>
            <a:r>
              <a:rPr lang="en-US" altLang="zh-CN" sz="2100" dirty="0">
                <a:solidFill>
                  <a:srgbClr val="FF0000"/>
                </a:solidFill>
                <a:latin typeface="Gulim" panose="020B0600000101010101" pitchFamily="34" charset="-127"/>
                <a:ea typeface="Gulim" panose="020B0600000101010101" pitchFamily="34" charset="-127"/>
              </a:rPr>
              <a:t>Margin</a:t>
            </a:r>
            <a:r>
              <a:rPr lang="zh-CN" altLang="en-US" sz="2100" dirty="0">
                <a:solidFill>
                  <a:srgbClr val="FF0000"/>
                </a:solidFill>
                <a:latin typeface="Gulim" panose="020B0600000101010101" pitchFamily="34" charset="-127"/>
                <a:ea typeface="Gulim" panose="020B0600000101010101" pitchFamily="34" charset="-127"/>
              </a:rPr>
              <a:t>）</a:t>
            </a:r>
          </a:p>
        </p:txBody>
      </p:sp>
      <p:cxnSp>
        <p:nvCxnSpPr>
          <p:cNvPr id="8" name="直接连接符 7"/>
          <p:cNvCxnSpPr/>
          <p:nvPr/>
        </p:nvCxnSpPr>
        <p:spPr>
          <a:xfrm flipH="1">
            <a:off x="3543301" y="3290889"/>
            <a:ext cx="487363" cy="51117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3716339" y="3290889"/>
            <a:ext cx="314325" cy="115887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030663" y="3290889"/>
            <a:ext cx="0" cy="123666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6051550" y="1484313"/>
            <a:ext cx="4243388" cy="1568450"/>
          </a:xfrm>
          <a:prstGeom prst="rect">
            <a:avLst/>
          </a:prstGeom>
        </p:spPr>
        <p:txBody>
          <a:bodyPr>
            <a:spAutoFit/>
          </a:bodyPr>
          <a:lstStyle/>
          <a:p>
            <a:pPr indent="405130">
              <a:defRPr/>
            </a:pPr>
            <a:r>
              <a:rPr kumimoji="1" lang="zh-CN" altLang="en-US" sz="2000" b="1" dirty="0">
                <a:latin typeface="微软雅黑" panose="020B0503020204020204" pitchFamily="34" charset="-122"/>
                <a:ea typeface="微软雅黑" panose="020B0503020204020204" pitchFamily="34" charset="-122"/>
              </a:rPr>
              <a:t>支持向量机：</a:t>
            </a:r>
            <a:r>
              <a:rPr kumimoji="1" lang="zh-CN" altLang="en-US" sz="2400" dirty="0">
                <a:latin typeface="微软雅黑" panose="020B0503020204020204" pitchFamily="34" charset="-122"/>
                <a:ea typeface="微软雅黑" panose="020B0503020204020204" pitchFamily="34" charset="-122"/>
              </a:rPr>
              <a:t>中间直线就是分类超平面，不难发现，用来确定这条直线其实只需要两条虚线上的五个点就够了。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8" grpId="0"/>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6738" name="矩形 2"/>
          <p:cNvSpPr/>
          <p:nvPr/>
        </p:nvSpPr>
        <p:spPr>
          <a:xfrm>
            <a:off x="2330451" y="693738"/>
            <a:ext cx="5662613" cy="5080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en-US" altLang="zh-CN" sz="2700" b="1" dirty="0">
                <a:latin typeface="微软雅黑" panose="020B0503020204020204" pitchFamily="34" charset="-122"/>
                <a:ea typeface="微软雅黑" panose="020B0503020204020204" pitchFamily="34" charset="-122"/>
              </a:rPr>
              <a:t>SVM</a:t>
            </a:r>
            <a:r>
              <a:rPr lang="zh-CN" altLang="en-US" sz="2700" b="1" dirty="0">
                <a:latin typeface="微软雅黑" panose="020B0503020204020204" pitchFamily="34" charset="-122"/>
                <a:ea typeface="微软雅黑" panose="020B0503020204020204" pitchFamily="34" charset="-122"/>
              </a:rPr>
              <a:t>（支持向量机）</a:t>
            </a:r>
          </a:p>
        </p:txBody>
      </p:sp>
      <p:pic>
        <p:nvPicPr>
          <p:cNvPr id="2" name="图片 1"/>
          <p:cNvPicPr>
            <a:picLocks noChangeAspect="1"/>
          </p:cNvPicPr>
          <p:nvPr/>
        </p:nvPicPr>
        <p:blipFill>
          <a:blip r:embed="rId3"/>
          <a:stretch>
            <a:fillRect/>
          </a:stretch>
        </p:blipFill>
        <p:spPr>
          <a:xfrm>
            <a:off x="6164412" y="3322984"/>
            <a:ext cx="2955925" cy="2554288"/>
          </a:xfrm>
          <a:prstGeom prst="rect">
            <a:avLst/>
          </a:prstGeom>
          <a:noFill/>
          <a:ln w="9525">
            <a:noFill/>
          </a:ln>
        </p:spPr>
      </p:pic>
      <p:cxnSp>
        <p:nvCxnSpPr>
          <p:cNvPr id="5" name="直接连接符 4"/>
          <p:cNvCxnSpPr/>
          <p:nvPr/>
        </p:nvCxnSpPr>
        <p:spPr>
          <a:xfrm>
            <a:off x="6916738" y="4384676"/>
            <a:ext cx="2287588" cy="346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6534151" y="4730750"/>
            <a:ext cx="2670175" cy="571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7869238" y="4730751"/>
            <a:ext cx="1335088" cy="231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a:cxnSpLocks/>
          </p:cNvCxnSpPr>
          <p:nvPr/>
        </p:nvCxnSpPr>
        <p:spPr>
          <a:xfrm flipV="1">
            <a:off x="7821106" y="4730753"/>
            <a:ext cx="1383221" cy="576539"/>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9039225" y="4546600"/>
            <a:ext cx="1517650" cy="1062038"/>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algn="ctr" latinLnBrk="0">
              <a:spcBef>
                <a:spcPct val="0"/>
              </a:spcBef>
              <a:buNone/>
            </a:pPr>
            <a:r>
              <a:rPr lang="zh-CN" altLang="en-US" sz="2100" b="1" dirty="0">
                <a:latin typeface="微软雅黑" panose="020B0503020204020204" pitchFamily="34" charset="-122"/>
                <a:ea typeface="微软雅黑" panose="020B0503020204020204" pitchFamily="34" charset="-122"/>
              </a:rPr>
              <a:t>支持向量</a:t>
            </a:r>
            <a:endParaRPr lang="en-US" altLang="zh-CN" sz="2100" b="1" dirty="0">
              <a:latin typeface="微软雅黑" panose="020B0503020204020204" pitchFamily="34" charset="-122"/>
              <a:ea typeface="微软雅黑" panose="020B0503020204020204" pitchFamily="34" charset="-122"/>
            </a:endParaRPr>
          </a:p>
          <a:p>
            <a:pPr marL="0" indent="0" algn="ctr" latinLnBrk="0">
              <a:spcBef>
                <a:spcPct val="0"/>
              </a:spcBef>
              <a:buNone/>
            </a:pPr>
            <a:r>
              <a:rPr lang="zh-CN" altLang="en-US" sz="2100" dirty="0">
                <a:latin typeface="Gulim" panose="020B0600000101010101" pitchFamily="34" charset="-127"/>
                <a:ea typeface="Gulim" panose="020B0600000101010101" pitchFamily="34" charset="-127"/>
              </a:rPr>
              <a:t>（</a:t>
            </a:r>
            <a:r>
              <a:rPr lang="en-US" altLang="zh-CN" sz="2100" dirty="0">
                <a:latin typeface="Gulim" panose="020B0600000101010101" pitchFamily="34" charset="-127"/>
                <a:ea typeface="Gulim" panose="020B0600000101010101" pitchFamily="34" charset="-127"/>
              </a:rPr>
              <a:t>support vector</a:t>
            </a:r>
            <a:r>
              <a:rPr lang="zh-CN" altLang="en-US" sz="2100" dirty="0">
                <a:latin typeface="Gulim" panose="020B0600000101010101" pitchFamily="34" charset="-127"/>
                <a:ea typeface="Gulim" panose="020B0600000101010101" pitchFamily="34" charset="-127"/>
              </a:rPr>
              <a:t>）</a:t>
            </a:r>
          </a:p>
        </p:txBody>
      </p:sp>
      <p:cxnSp>
        <p:nvCxnSpPr>
          <p:cNvPr id="24" name="直接连接符 23"/>
          <p:cNvCxnSpPr>
            <a:cxnSpLocks/>
          </p:cNvCxnSpPr>
          <p:nvPr/>
        </p:nvCxnSpPr>
        <p:spPr>
          <a:xfrm flipV="1">
            <a:off x="8403432" y="3532189"/>
            <a:ext cx="800894" cy="191292"/>
          </a:xfrm>
          <a:prstGeom prst="line">
            <a:avLst/>
          </a:prstGeom>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8904289" y="3354389"/>
            <a:ext cx="1652587" cy="738187"/>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algn="ctr" latinLnBrk="0">
              <a:spcBef>
                <a:spcPct val="0"/>
              </a:spcBef>
              <a:buNone/>
            </a:pPr>
            <a:r>
              <a:rPr lang="zh-CN" altLang="en-US" sz="2100" b="1" dirty="0">
                <a:latin typeface="微软雅黑" panose="020B0503020204020204" pitchFamily="34" charset="-122"/>
                <a:ea typeface="微软雅黑" panose="020B0503020204020204" pitchFamily="34" charset="-122"/>
              </a:rPr>
              <a:t>函数间隔</a:t>
            </a:r>
            <a:endParaRPr lang="en-US" altLang="zh-CN" sz="2100" b="1" dirty="0">
              <a:latin typeface="微软雅黑" panose="020B0503020204020204" pitchFamily="34" charset="-122"/>
              <a:ea typeface="微软雅黑" panose="020B0503020204020204" pitchFamily="34" charset="-122"/>
            </a:endParaRPr>
          </a:p>
          <a:p>
            <a:pPr marL="0" indent="0" algn="ctr" latinLnBrk="0">
              <a:spcBef>
                <a:spcPct val="0"/>
              </a:spcBef>
              <a:buNone/>
            </a:pPr>
            <a:r>
              <a:rPr lang="zh-CN" altLang="en-US" sz="2100" dirty="0">
                <a:latin typeface="Gulim" panose="020B0600000101010101" pitchFamily="34" charset="-127"/>
                <a:ea typeface="Gulim" panose="020B0600000101010101" pitchFamily="34" charset="-127"/>
              </a:rPr>
              <a:t>（</a:t>
            </a:r>
            <a:r>
              <a:rPr lang="en-US" altLang="zh-CN" sz="2100" dirty="0">
                <a:latin typeface="Gulim" panose="020B0600000101010101" pitchFamily="34" charset="-127"/>
                <a:ea typeface="Gulim" panose="020B0600000101010101" pitchFamily="34" charset="-127"/>
              </a:rPr>
              <a:t>Margin</a:t>
            </a:r>
            <a:r>
              <a:rPr lang="zh-CN" altLang="en-US" sz="2100" dirty="0">
                <a:latin typeface="Gulim" panose="020B0600000101010101" pitchFamily="34" charset="-127"/>
                <a:ea typeface="Gulim" panose="020B0600000101010101" pitchFamily="34" charset="-127"/>
              </a:rPr>
              <a:t>）</a:t>
            </a:r>
          </a:p>
        </p:txBody>
      </p:sp>
      <p:pic>
        <p:nvPicPr>
          <p:cNvPr id="28" name="图片 27"/>
          <p:cNvPicPr>
            <a:picLocks noChangeAspect="1"/>
          </p:cNvPicPr>
          <p:nvPr/>
        </p:nvPicPr>
        <p:blipFill>
          <a:blip r:embed="rId4"/>
          <a:stretch>
            <a:fillRect/>
          </a:stretch>
        </p:blipFill>
        <p:spPr>
          <a:xfrm>
            <a:off x="6096000" y="1003376"/>
            <a:ext cx="4534654" cy="2065585"/>
          </a:xfrm>
          <a:prstGeom prst="rect">
            <a:avLst/>
          </a:prstGeom>
          <a:noFill/>
          <a:ln w="9525">
            <a:noFill/>
          </a:ln>
        </p:spPr>
      </p:pic>
      <p:sp>
        <p:nvSpPr>
          <p:cNvPr id="32" name="矩形 31"/>
          <p:cNvSpPr/>
          <p:nvPr/>
        </p:nvSpPr>
        <p:spPr>
          <a:xfrm>
            <a:off x="1661479" y="1391286"/>
            <a:ext cx="4502933" cy="1323439"/>
          </a:xfrm>
          <a:prstGeom prst="rect">
            <a:avLst/>
          </a:prstGeom>
        </p:spPr>
        <p:txBody>
          <a:bodyPr wrap="square">
            <a:spAutoFit/>
          </a:bodyPr>
          <a:lstStyle/>
          <a:p>
            <a:pPr indent="342900">
              <a:defRPr/>
            </a:pPr>
            <a:r>
              <a:rPr kumimoji="1" lang="zh-CN" altLang="en-US" sz="2000" b="1" dirty="0">
                <a:latin typeface="微软雅黑" panose="020B0503020204020204" pitchFamily="34" charset="-122"/>
                <a:ea typeface="微软雅黑" panose="020B0503020204020204" pitchFamily="34" charset="-122"/>
                <a:sym typeface="+mn-ea"/>
              </a:rPr>
              <a:t>支持向量机（Support Vector Machine ）</a:t>
            </a:r>
            <a:r>
              <a:rPr kumimoji="1" lang="zh-CN" altLang="en-US" sz="2000" dirty="0">
                <a:latin typeface="微软雅黑" panose="020B0503020204020204" pitchFamily="34" charset="-122"/>
                <a:ea typeface="微软雅黑" panose="020B0503020204020204" pitchFamily="34" charset="-122"/>
                <a:sym typeface="+mn-ea"/>
              </a:rPr>
              <a:t>是一种有监督学习方法，它尝试寻找一个最优决策边界，使距离两个类别最近的样本最远。</a:t>
            </a:r>
          </a:p>
        </p:txBody>
      </p:sp>
      <p:sp>
        <p:nvSpPr>
          <p:cNvPr id="33" name="矩形 32"/>
          <p:cNvSpPr/>
          <p:nvPr/>
        </p:nvSpPr>
        <p:spPr>
          <a:xfrm>
            <a:off x="1870075" y="2994267"/>
            <a:ext cx="1458317" cy="830997"/>
          </a:xfrm>
          <a:prstGeom prst="rect">
            <a:avLst/>
          </a:prstGeom>
        </p:spPr>
        <p:txBody>
          <a:bodyPr wrap="square">
            <a:spAutoFit/>
          </a:bodyPr>
          <a:lstStyle/>
          <a:p>
            <a:pPr fontAlgn="auto">
              <a:defRPr/>
            </a:pPr>
            <a:r>
              <a:rPr kumimoji="1" lang="zh-CN" altLang="en-US" sz="2400" b="1" dirty="0">
                <a:solidFill>
                  <a:srgbClr val="0070C0"/>
                </a:solidFill>
                <a:latin typeface="微软雅黑" panose="020B0503020204020204" pitchFamily="34" charset="-122"/>
                <a:ea typeface="微软雅黑" panose="020B0503020204020204" pitchFamily="34" charset="-122"/>
                <a:sym typeface="+mn-ea"/>
              </a:rPr>
              <a:t>硬间隔支持向量机</a:t>
            </a:r>
            <a:endParaRPr kumimoji="1" lang="zh-CN" altLang="en-US" sz="2400" dirty="0">
              <a:latin typeface="微软雅黑" panose="020B0503020204020204" pitchFamily="34" charset="-122"/>
              <a:ea typeface="微软雅黑" panose="020B0503020204020204" pitchFamily="34" charset="-122"/>
              <a:sym typeface="+mn-ea"/>
            </a:endParaRPr>
          </a:p>
        </p:txBody>
      </p:sp>
      <p:pic>
        <p:nvPicPr>
          <p:cNvPr id="36" name="图片 35"/>
          <p:cNvPicPr>
            <a:picLocks noChangeAspect="1"/>
          </p:cNvPicPr>
          <p:nvPr/>
        </p:nvPicPr>
        <p:blipFill>
          <a:blip r:embed="rId5"/>
          <a:stretch>
            <a:fillRect/>
          </a:stretch>
        </p:blipFill>
        <p:spPr>
          <a:xfrm>
            <a:off x="3431704" y="2852936"/>
            <a:ext cx="1687512" cy="1269340"/>
          </a:xfrm>
          <a:prstGeom prst="rect">
            <a:avLst/>
          </a:prstGeom>
          <a:noFill/>
          <a:ln w="9525">
            <a:noFill/>
          </a:ln>
        </p:spPr>
      </p:pic>
      <p:grpSp>
        <p:nvGrpSpPr>
          <p:cNvPr id="40" name="组合 39"/>
          <p:cNvGrpSpPr/>
          <p:nvPr/>
        </p:nvGrpSpPr>
        <p:grpSpPr>
          <a:xfrm>
            <a:off x="1870075" y="4077072"/>
            <a:ext cx="4379915" cy="2087190"/>
            <a:chOff x="2456342" y="2798657"/>
            <a:chExt cx="2819400" cy="1409700"/>
          </a:xfrm>
        </p:grpSpPr>
        <p:pic>
          <p:nvPicPr>
            <p:cNvPr id="116761" name="图片 36"/>
            <p:cNvPicPr>
              <a:picLocks noChangeAspect="1"/>
            </p:cNvPicPr>
            <p:nvPr/>
          </p:nvPicPr>
          <p:blipFill>
            <a:blip r:embed="rId6"/>
            <a:stretch>
              <a:fillRect/>
            </a:stretch>
          </p:blipFill>
          <p:spPr>
            <a:xfrm>
              <a:off x="2456342" y="2798657"/>
              <a:ext cx="2819400" cy="1409700"/>
            </a:xfrm>
            <a:prstGeom prst="rect">
              <a:avLst/>
            </a:prstGeom>
            <a:noFill/>
            <a:ln w="9525">
              <a:noFill/>
            </a:ln>
          </p:spPr>
        </p:pic>
        <p:pic>
          <p:nvPicPr>
            <p:cNvPr id="116762" name="图片 37"/>
            <p:cNvPicPr>
              <a:picLocks noChangeAspect="1"/>
            </p:cNvPicPr>
            <p:nvPr/>
          </p:nvPicPr>
          <p:blipFill>
            <a:blip r:embed="rId7"/>
            <a:stretch>
              <a:fillRect/>
            </a:stretch>
          </p:blipFill>
          <p:spPr>
            <a:xfrm>
              <a:off x="3909854" y="2897402"/>
              <a:ext cx="375078" cy="598338"/>
            </a:xfrm>
            <a:prstGeom prst="rect">
              <a:avLst/>
            </a:prstGeom>
            <a:noFill/>
            <a:ln w="9525">
              <a:noFill/>
            </a:ln>
          </p:spPr>
        </p:pic>
        <p:pic>
          <p:nvPicPr>
            <p:cNvPr id="116763" name="图片 38"/>
            <p:cNvPicPr>
              <a:picLocks noChangeAspect="1"/>
            </p:cNvPicPr>
            <p:nvPr/>
          </p:nvPicPr>
          <p:blipFill>
            <a:blip r:embed="rId7"/>
            <a:stretch>
              <a:fillRect/>
            </a:stretch>
          </p:blipFill>
          <p:spPr>
            <a:xfrm>
              <a:off x="3917879" y="3521437"/>
              <a:ext cx="375078" cy="598338"/>
            </a:xfrm>
            <a:prstGeom prst="rect">
              <a:avLst/>
            </a:prstGeom>
            <a:noFill/>
            <a:ln w="9525">
              <a:noFill/>
            </a:ln>
          </p:spPr>
        </p:pic>
      </p:grpSp>
      <p:pic>
        <p:nvPicPr>
          <p:cNvPr id="45" name="图片 44"/>
          <p:cNvPicPr>
            <a:picLocks noChangeAspect="1"/>
          </p:cNvPicPr>
          <p:nvPr/>
        </p:nvPicPr>
        <p:blipFill>
          <a:blip r:embed="rId8"/>
          <a:stretch>
            <a:fillRect/>
          </a:stretch>
        </p:blipFill>
        <p:spPr>
          <a:xfrm>
            <a:off x="1489076" y="3972422"/>
            <a:ext cx="428625" cy="320675"/>
          </a:xfrm>
          <a:prstGeom prst="rect">
            <a:avLst/>
          </a:prstGeom>
          <a:noFill/>
          <a:ln w="9525">
            <a:noFill/>
          </a:ln>
        </p:spPr>
      </p:pic>
      <p:pic>
        <p:nvPicPr>
          <p:cNvPr id="116760" name="图片 51"/>
          <p:cNvPicPr>
            <a:picLocks noChangeAspect="1"/>
          </p:cNvPicPr>
          <p:nvPr/>
        </p:nvPicPr>
        <p:blipFill>
          <a:blip r:embed="rId9"/>
          <a:stretch>
            <a:fillRect/>
          </a:stretch>
        </p:blipFill>
        <p:spPr>
          <a:xfrm>
            <a:off x="8197850" y="2468563"/>
            <a:ext cx="171450" cy="1571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p:bldP spid="32" grpId="0"/>
      <p:bldP spid="33" grpId="0"/>
    </p:bld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3298" name="Rectangle 2"/>
          <p:cNvSpPr>
            <a:spLocks noGrp="1" noChangeArrowheads="1"/>
          </p:cNvSpPr>
          <p:nvPr>
            <p:ph type="title"/>
          </p:nvPr>
        </p:nvSpPr>
        <p:spPr>
          <a:xfrm>
            <a:off x="2135188" y="1065214"/>
            <a:ext cx="7772400" cy="587375"/>
          </a:xfrm>
        </p:spPr>
        <p:txBody>
          <a:bodyPr vert="horz" wrap="square" lIns="91440" tIns="45720" rIns="91440" bIns="45720" numCol="1" anchor="ctr" anchorCtr="0" compatLnSpc="1"/>
          <a:lstStyle/>
          <a:p>
            <a:pPr eaLnBrk="1" hangingPunct="1">
              <a:defRPr/>
            </a:pPr>
            <a:r>
              <a:rPr lang="zh-CN" altLang="en-US" sz="280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广义最优分类面</a:t>
            </a:r>
          </a:p>
        </p:txBody>
      </p:sp>
      <p:sp>
        <p:nvSpPr>
          <p:cNvPr id="118787" name="Rectangle 3"/>
          <p:cNvSpPr>
            <a:spLocks noGrp="1"/>
          </p:cNvSpPr>
          <p:nvPr>
            <p:ph idx="1"/>
          </p:nvPr>
        </p:nvSpPr>
        <p:spPr>
          <a:ln/>
        </p:spPr>
        <p:txBody>
          <a:bodyPr vert="horz" wrap="square" lIns="91440" tIns="45720" rIns="91440" bIns="45720" anchor="t" anchorCtr="0"/>
          <a:lstStyle/>
          <a:p>
            <a:pPr eaLnBrk="1" hangingPunct="1">
              <a:lnSpc>
                <a:spcPct val="90000"/>
              </a:lnSpc>
            </a:pPr>
            <a:r>
              <a:rPr lang="zh-CN" altLang="en-US" sz="2800" b="1" dirty="0">
                <a:latin typeface="Times New Roman" panose="02020603050405020304" pitchFamily="18" charset="0"/>
              </a:rPr>
              <a:t>最优分类面问题可以表示成约束优化问题</a:t>
            </a:r>
          </a:p>
          <a:p>
            <a:pPr eaLnBrk="1" hangingPunct="1">
              <a:lnSpc>
                <a:spcPct val="90000"/>
              </a:lnSpc>
            </a:pPr>
            <a:endParaRPr lang="ko-KR" altLang="en-US" sz="2800" b="1" dirty="0">
              <a:latin typeface="Times New Roman" panose="02020603050405020304" pitchFamily="18" charset="0"/>
            </a:endParaRPr>
          </a:p>
          <a:p>
            <a:pPr lvl="1" eaLnBrk="1" hangingPunct="1">
              <a:lnSpc>
                <a:spcPct val="90000"/>
              </a:lnSpc>
            </a:pPr>
            <a:r>
              <a:rPr lang="en-US" altLang="ko-KR" sz="2400" b="1" dirty="0">
                <a:latin typeface="Times New Roman" panose="02020603050405020304" pitchFamily="18" charset="0"/>
                <a:ea typeface="黑体" panose="02010609060101010101" pitchFamily="49" charset="-122"/>
              </a:rPr>
              <a:t>Minimize</a:t>
            </a:r>
          </a:p>
          <a:p>
            <a:pPr lvl="1" eaLnBrk="1" hangingPunct="1">
              <a:lnSpc>
                <a:spcPct val="90000"/>
              </a:lnSpc>
            </a:pPr>
            <a:endParaRPr lang="en-US" altLang="ko-KR" sz="2400" b="1" dirty="0">
              <a:latin typeface="Times New Roman" panose="02020603050405020304" pitchFamily="18" charset="0"/>
              <a:ea typeface="黑体" panose="02010609060101010101" pitchFamily="49" charset="-122"/>
            </a:endParaRPr>
          </a:p>
          <a:p>
            <a:pPr lvl="1" eaLnBrk="1" hangingPunct="1">
              <a:lnSpc>
                <a:spcPct val="90000"/>
              </a:lnSpc>
            </a:pPr>
            <a:r>
              <a:rPr lang="en-US" altLang="ko-KR" sz="2400" b="1" dirty="0">
                <a:latin typeface="Times New Roman" panose="02020603050405020304" pitchFamily="18" charset="0"/>
                <a:ea typeface="黑体" panose="02010609060101010101" pitchFamily="49" charset="-122"/>
              </a:rPr>
              <a:t>Subject to</a:t>
            </a:r>
          </a:p>
          <a:p>
            <a:pPr lvl="1" eaLnBrk="1" hangingPunct="1">
              <a:lnSpc>
                <a:spcPct val="90000"/>
              </a:lnSpc>
            </a:pPr>
            <a:endParaRPr lang="en-US" altLang="ko-KR" sz="2400" b="1" dirty="0">
              <a:latin typeface="Times New Roman" panose="02020603050405020304" pitchFamily="18" charset="0"/>
              <a:ea typeface="黑体" panose="02010609060101010101" pitchFamily="49" charset="-122"/>
            </a:endParaRPr>
          </a:p>
          <a:p>
            <a:pPr eaLnBrk="1" hangingPunct="1">
              <a:lnSpc>
                <a:spcPct val="90000"/>
              </a:lnSpc>
            </a:pPr>
            <a:r>
              <a:rPr lang="zh-CN" altLang="en-US" sz="2800" b="1" dirty="0">
                <a:latin typeface="Times New Roman" panose="02020603050405020304" pitchFamily="18" charset="0"/>
              </a:rPr>
              <a:t>采用</a:t>
            </a:r>
            <a:r>
              <a:rPr lang="en-US" altLang="zh-CN" sz="2800" b="1" dirty="0">
                <a:latin typeface="Times New Roman" panose="02020603050405020304" pitchFamily="18" charset="0"/>
              </a:rPr>
              <a:t>Lagrange</a:t>
            </a:r>
            <a:r>
              <a:rPr lang="zh-CN" altLang="en-US" sz="2800" b="1" dirty="0">
                <a:latin typeface="Times New Roman" panose="02020603050405020304" pitchFamily="18" charset="0"/>
              </a:rPr>
              <a:t>方法，问题成为</a:t>
            </a:r>
          </a:p>
          <a:p>
            <a:pPr eaLnBrk="1" hangingPunct="1">
              <a:lnSpc>
                <a:spcPct val="90000"/>
              </a:lnSpc>
              <a:buNone/>
            </a:pPr>
            <a:endParaRPr lang="en-US" altLang="zh-CN" sz="2800" b="1" dirty="0">
              <a:latin typeface="Times New Roman" panose="02020603050405020304" pitchFamily="18" charset="0"/>
            </a:endParaRPr>
          </a:p>
          <a:p>
            <a:pPr eaLnBrk="1" hangingPunct="1">
              <a:lnSpc>
                <a:spcPct val="90000"/>
              </a:lnSpc>
              <a:buNone/>
            </a:pPr>
            <a:r>
              <a:rPr lang="ko-KR" altLang="en-US" sz="2800" b="1" dirty="0">
                <a:latin typeface="Times New Roman" panose="02020603050405020304" pitchFamily="18" charset="0"/>
              </a:rPr>
              <a:t>	</a:t>
            </a:r>
            <a:endParaRPr lang="ko-KR" altLang="zh-CN" sz="2800" b="1" dirty="0">
              <a:latin typeface="Times New Roman" panose="02020603050405020304" pitchFamily="18" charset="0"/>
            </a:endParaRPr>
          </a:p>
          <a:p>
            <a:pPr eaLnBrk="1" hangingPunct="1">
              <a:lnSpc>
                <a:spcPct val="90000"/>
              </a:lnSpc>
              <a:buNone/>
            </a:pPr>
            <a:endParaRPr lang="en-US" altLang="ko-KR" sz="2800" b="1" dirty="0">
              <a:latin typeface="Times New Roman" panose="02020603050405020304" pitchFamily="18" charset="0"/>
            </a:endParaRPr>
          </a:p>
        </p:txBody>
      </p:sp>
      <p:graphicFrame>
        <p:nvGraphicFramePr>
          <p:cNvPr id="118788" name="Object 4"/>
          <p:cNvGraphicFramePr>
            <a:graphicFrameLocks noChangeAspect="1"/>
          </p:cNvGraphicFramePr>
          <p:nvPr/>
        </p:nvGraphicFramePr>
        <p:xfrm>
          <a:off x="5159375" y="2624139"/>
          <a:ext cx="3168650" cy="1309687"/>
        </p:xfrm>
        <a:graphic>
          <a:graphicData uri="http://schemas.openxmlformats.org/presentationml/2006/ole">
            <mc:AlternateContent xmlns:mc="http://schemas.openxmlformats.org/markup-compatibility/2006">
              <mc:Choice xmlns:v="urn:schemas-microsoft-com:vml" Requires="v">
                <p:oleObj r:id="rId2" imgW="1663700" imgH="635000" progId="Equation.DSMT4">
                  <p:embed/>
                </p:oleObj>
              </mc:Choice>
              <mc:Fallback>
                <p:oleObj r:id="rId2" imgW="1663700" imgH="635000" progId="Equation.DSMT4">
                  <p:embed/>
                  <p:pic>
                    <p:nvPicPr>
                      <p:cNvPr id="0" name="图片 3100"/>
                      <p:cNvPicPr/>
                      <p:nvPr/>
                    </p:nvPicPr>
                    <p:blipFill>
                      <a:blip r:embed="rId3"/>
                      <a:stretch>
                        <a:fillRect/>
                      </a:stretch>
                    </p:blipFill>
                    <p:spPr>
                      <a:xfrm>
                        <a:off x="5159375" y="2624139"/>
                        <a:ext cx="3168650" cy="1309687"/>
                      </a:xfrm>
                      <a:prstGeom prst="rect">
                        <a:avLst/>
                      </a:prstGeom>
                      <a:noFill/>
                      <a:ln w="38100">
                        <a:noFill/>
                        <a:miter/>
                      </a:ln>
                    </p:spPr>
                  </p:pic>
                </p:oleObj>
              </mc:Fallback>
            </mc:AlternateContent>
          </a:graphicData>
        </a:graphic>
      </p:graphicFrame>
      <p:graphicFrame>
        <p:nvGraphicFramePr>
          <p:cNvPr id="118789" name="Object 5"/>
          <p:cNvGraphicFramePr>
            <a:graphicFrameLocks noChangeAspect="1"/>
          </p:cNvGraphicFramePr>
          <p:nvPr/>
        </p:nvGraphicFramePr>
        <p:xfrm>
          <a:off x="3179764" y="4941889"/>
          <a:ext cx="5832475" cy="720725"/>
        </p:xfrm>
        <a:graphic>
          <a:graphicData uri="http://schemas.openxmlformats.org/presentationml/2006/ole">
            <mc:AlternateContent xmlns:mc="http://schemas.openxmlformats.org/markup-compatibility/2006">
              <mc:Choice xmlns:v="urn:schemas-microsoft-com:vml" Requires="v">
                <p:oleObj r:id="rId4" imgW="5321300" imgH="660400" progId="Equation.DSMT4">
                  <p:embed/>
                </p:oleObj>
              </mc:Choice>
              <mc:Fallback>
                <p:oleObj r:id="rId4" imgW="5321300" imgH="660400" progId="Equation.DSMT4">
                  <p:embed/>
                  <p:pic>
                    <p:nvPicPr>
                      <p:cNvPr id="0" name="图片 3099"/>
                      <p:cNvPicPr/>
                      <p:nvPr/>
                    </p:nvPicPr>
                    <p:blipFill>
                      <a:blip r:embed="rId5"/>
                      <a:stretch>
                        <a:fillRect/>
                      </a:stretch>
                    </p:blipFill>
                    <p:spPr>
                      <a:xfrm>
                        <a:off x="3179764" y="4941889"/>
                        <a:ext cx="5832475" cy="720725"/>
                      </a:xfrm>
                      <a:prstGeom prst="rect">
                        <a:avLst/>
                      </a:prstGeom>
                      <a:noFill/>
                      <a:ln w="38100">
                        <a:noFill/>
                        <a:miter/>
                      </a:ln>
                    </p:spPr>
                  </p:pic>
                </p:oleObj>
              </mc:Fallback>
            </mc:AlternateContent>
          </a:graphicData>
        </a:graphic>
      </p:graphicFrame>
      <p:sp>
        <p:nvSpPr>
          <p:cNvPr id="118790" name="文本框 1"/>
          <p:cNvSpPr txBox="1"/>
          <p:nvPr/>
        </p:nvSpPr>
        <p:spPr>
          <a:xfrm>
            <a:off x="2790825" y="5846764"/>
            <a:ext cx="5543550" cy="52387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0"/>
              </a:spcBef>
              <a:buNone/>
            </a:pPr>
            <a:r>
              <a:rPr lang="zh-CN" altLang="en-US" sz="2800" dirty="0">
                <a:latin typeface="Times New Roman" panose="02020603050405020304" pitchFamily="18" charset="0"/>
                <a:ea typeface="微软雅黑" panose="020B0503020204020204" pitchFamily="34" charset="-122"/>
              </a:rPr>
              <a:t>经过一系列推导。。。。。。</a:t>
            </a:r>
          </a:p>
        </p:txBody>
      </p:sp>
      <p:sp>
        <p:nvSpPr>
          <p:cNvPr id="7" name="Rectangle 2"/>
          <p:cNvSpPr txBox="1">
            <a:spLocks noChangeArrowheads="1"/>
          </p:cNvSpPr>
          <p:nvPr/>
        </p:nvSpPr>
        <p:spPr bwMode="auto">
          <a:xfrm>
            <a:off x="2208213" y="198438"/>
            <a:ext cx="77724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en-US" altLang="zh-CN" sz="3200" b="1" dirty="0" err="1">
                <a:solidFill>
                  <a:schemeClr val="tx1"/>
                </a:solidFill>
                <a:effectLst>
                  <a:outerShdw blurRad="38100" dist="38100" dir="2700000" algn="tl">
                    <a:srgbClr val="C0C0C0"/>
                  </a:outerShdw>
                </a:effectLst>
              </a:rPr>
              <a:t>SVM</a:t>
            </a:r>
            <a:r>
              <a:rPr lang="en-US" altLang="zh-CN" sz="3200" b="1" dirty="0">
                <a:solidFill>
                  <a:schemeClr val="tx1"/>
                </a:solidFill>
                <a:effectLst>
                  <a:outerShdw blurRad="38100" dist="38100" dir="2700000" algn="tl">
                    <a:srgbClr val="C0C0C0"/>
                  </a:outerShdw>
                </a:effectLst>
              </a:rPr>
              <a:t> ---</a:t>
            </a:r>
            <a:r>
              <a:rPr lang="zh-CN" altLang="en-US" sz="3200" b="1" dirty="0">
                <a:solidFill>
                  <a:schemeClr val="tx1"/>
                </a:solidFill>
                <a:effectLst>
                  <a:outerShdw blurRad="38100" dist="38100" dir="2700000" algn="tl">
                    <a:srgbClr val="C0C0C0"/>
                  </a:outerShdw>
                </a:effectLst>
              </a:rPr>
              <a:t>支持向量机理论</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9810" name="Picture 5"/>
          <p:cNvPicPr>
            <a:picLocks noChangeAspect="1"/>
          </p:cNvPicPr>
          <p:nvPr/>
        </p:nvPicPr>
        <p:blipFill>
          <a:blip r:embed="rId3"/>
          <a:stretch>
            <a:fillRect/>
          </a:stretch>
        </p:blipFill>
        <p:spPr>
          <a:xfrm>
            <a:off x="1919288" y="115888"/>
            <a:ext cx="8494712" cy="4184650"/>
          </a:xfrm>
          <a:prstGeom prst="rect">
            <a:avLst/>
          </a:prstGeom>
          <a:noFill/>
          <a:ln w="9525">
            <a:noFill/>
          </a:ln>
        </p:spPr>
      </p:pic>
      <p:pic>
        <p:nvPicPr>
          <p:cNvPr id="3" name="Picture 3" descr="2006-11-06 05;19;491"/>
          <p:cNvPicPr>
            <a:picLocks noChangeAspect="1"/>
          </p:cNvPicPr>
          <p:nvPr/>
        </p:nvPicPr>
        <p:blipFill>
          <a:blip r:embed="rId4"/>
          <a:stretch>
            <a:fillRect/>
          </a:stretch>
        </p:blipFill>
        <p:spPr>
          <a:xfrm>
            <a:off x="2135189" y="4005264"/>
            <a:ext cx="2566987" cy="3000375"/>
          </a:xfrm>
          <a:prstGeom prst="rect">
            <a:avLst/>
          </a:prstGeom>
          <a:noFill/>
          <a:ln w="9525">
            <a:noFill/>
          </a:ln>
        </p:spPr>
      </p:pic>
      <p:grpSp>
        <p:nvGrpSpPr>
          <p:cNvPr id="16" name="组合 15"/>
          <p:cNvGrpSpPr/>
          <p:nvPr/>
        </p:nvGrpSpPr>
        <p:grpSpPr>
          <a:xfrm>
            <a:off x="2427289" y="3898900"/>
            <a:ext cx="3381375" cy="1574800"/>
            <a:chOff x="902699" y="3898258"/>
            <a:chExt cx="3381269" cy="1575082"/>
          </a:xfrm>
        </p:grpSpPr>
        <p:sp>
          <p:nvSpPr>
            <p:cNvPr id="2" name="文本框 1"/>
            <p:cNvSpPr txBox="1"/>
            <p:nvPr/>
          </p:nvSpPr>
          <p:spPr>
            <a:xfrm>
              <a:off x="3060043" y="3898258"/>
              <a:ext cx="1223925" cy="400122"/>
            </a:xfrm>
            <a:prstGeom prst="rect">
              <a:avLst/>
            </a:prstGeom>
            <a:solidFill>
              <a:schemeClr val="accent5">
                <a:lumMod val="60000"/>
                <a:lumOff val="40000"/>
              </a:schemeClr>
            </a:solidFill>
          </p:spPr>
          <p:txBody>
            <a:bodyPr>
              <a:spAutoFit/>
            </a:bodyPr>
            <a:lstStyle/>
            <a:p>
              <a:pPr>
                <a:defRPr/>
              </a:pPr>
              <a:r>
                <a:rPr kumimoji="1" lang="zh-CN" altLang="en-US" sz="2000" dirty="0">
                  <a:latin typeface="微软雅黑" panose="020B0503020204020204" pitchFamily="34" charset="-122"/>
                  <a:ea typeface="微软雅黑" panose="020B0503020204020204" pitchFamily="34" charset="-122"/>
                </a:rPr>
                <a:t>支持向量</a:t>
              </a:r>
            </a:p>
          </p:txBody>
        </p:sp>
        <p:cxnSp>
          <p:nvCxnSpPr>
            <p:cNvPr id="119815" name="直接箭头连接符 4"/>
            <p:cNvCxnSpPr/>
            <p:nvPr/>
          </p:nvCxnSpPr>
          <p:spPr>
            <a:xfrm flipV="1">
              <a:off x="1547664" y="4077072"/>
              <a:ext cx="1512168" cy="360040"/>
            </a:xfrm>
            <a:prstGeom prst="straightConnector1">
              <a:avLst/>
            </a:prstGeom>
            <a:ln w="9525" cap="flat" cmpd="sng">
              <a:solidFill>
                <a:schemeClr val="accent1"/>
              </a:solidFill>
              <a:prstDash val="solid"/>
              <a:headEnd type="none" w="med" len="med"/>
              <a:tailEnd type="triangle" w="med" len="med"/>
            </a:ln>
          </p:spPr>
        </p:cxnSp>
        <p:cxnSp>
          <p:nvCxnSpPr>
            <p:cNvPr id="119816" name="直接箭头连接符 6"/>
            <p:cNvCxnSpPr/>
            <p:nvPr/>
          </p:nvCxnSpPr>
          <p:spPr>
            <a:xfrm flipV="1">
              <a:off x="2026885" y="4085357"/>
              <a:ext cx="1032947" cy="811900"/>
            </a:xfrm>
            <a:prstGeom prst="straightConnector1">
              <a:avLst/>
            </a:prstGeom>
            <a:ln w="9525" cap="flat" cmpd="sng">
              <a:solidFill>
                <a:schemeClr val="accent1"/>
              </a:solidFill>
              <a:prstDash val="solid"/>
              <a:headEnd type="none" w="med" len="med"/>
              <a:tailEnd type="triangle" w="med" len="med"/>
            </a:ln>
          </p:spPr>
        </p:cxnSp>
        <p:cxnSp>
          <p:nvCxnSpPr>
            <p:cNvPr id="119817" name="直接箭头连接符 7"/>
            <p:cNvCxnSpPr/>
            <p:nvPr/>
          </p:nvCxnSpPr>
          <p:spPr>
            <a:xfrm flipV="1">
              <a:off x="902699" y="4098313"/>
              <a:ext cx="2157133" cy="925128"/>
            </a:xfrm>
            <a:prstGeom prst="straightConnector1">
              <a:avLst/>
            </a:prstGeom>
            <a:ln w="9525" cap="flat" cmpd="sng">
              <a:solidFill>
                <a:schemeClr val="accent1"/>
              </a:solidFill>
              <a:prstDash val="solid"/>
              <a:headEnd type="none" w="med" len="med"/>
              <a:tailEnd type="triangle" w="med" len="med"/>
            </a:ln>
          </p:spPr>
        </p:cxnSp>
        <p:cxnSp>
          <p:nvCxnSpPr>
            <p:cNvPr id="119818" name="直接箭头连接符 8"/>
            <p:cNvCxnSpPr/>
            <p:nvPr/>
          </p:nvCxnSpPr>
          <p:spPr>
            <a:xfrm flipV="1">
              <a:off x="1403648" y="4121999"/>
              <a:ext cx="1656184" cy="1351341"/>
            </a:xfrm>
            <a:prstGeom prst="straightConnector1">
              <a:avLst/>
            </a:prstGeom>
            <a:ln w="9525" cap="flat" cmpd="sng">
              <a:solidFill>
                <a:schemeClr val="accent1"/>
              </a:solidFill>
              <a:prstDash val="solid"/>
              <a:headEnd type="none" w="med" len="med"/>
              <a:tailEnd type="triangle" w="med" len="med"/>
            </a:ln>
          </p:spPr>
        </p:cxnSp>
        <p:cxnSp>
          <p:nvCxnSpPr>
            <p:cNvPr id="119819" name="直接箭头连接符 9"/>
            <p:cNvCxnSpPr/>
            <p:nvPr/>
          </p:nvCxnSpPr>
          <p:spPr>
            <a:xfrm flipV="1">
              <a:off x="2517292" y="4119805"/>
              <a:ext cx="542540" cy="1253558"/>
            </a:xfrm>
            <a:prstGeom prst="straightConnector1">
              <a:avLst/>
            </a:prstGeom>
            <a:ln w="9525" cap="flat" cmpd="sng">
              <a:solidFill>
                <a:schemeClr val="accent1"/>
              </a:solidFill>
              <a:prstDash val="solid"/>
              <a:headEnd type="none" w="med" len="med"/>
              <a:tailEnd type="triangle" w="med" len="med"/>
            </a:ln>
          </p:spPr>
        </p:cxnSp>
      </p:grpSp>
      <p:sp>
        <p:nvSpPr>
          <p:cNvPr id="15" name="文本框 14"/>
          <p:cNvSpPr txBox="1"/>
          <p:nvPr/>
        </p:nvSpPr>
        <p:spPr>
          <a:xfrm>
            <a:off x="6096001" y="3994150"/>
            <a:ext cx="4175125" cy="1754188"/>
          </a:xfrm>
          <a:prstGeom prst="rect">
            <a:avLst/>
          </a:prstGeom>
          <a:solidFill>
            <a:schemeClr val="accent5">
              <a:lumMod val="60000"/>
              <a:lumOff val="40000"/>
            </a:schemeClr>
          </a:solidFill>
        </p:spPr>
        <p:txBody>
          <a:bodyPr>
            <a:spAutoFit/>
          </a:bodyPr>
          <a:lstStyle/>
          <a:p>
            <a:pPr marL="457200" indent="-457200">
              <a:lnSpc>
                <a:spcPct val="120000"/>
              </a:lnSpc>
              <a:buFontTx/>
              <a:buAutoNum type="arabicPeriod"/>
              <a:defRPr/>
            </a:pPr>
            <a:r>
              <a:rPr kumimoji="1" lang="zh-CN" altLang="en-US" sz="1800" dirty="0">
                <a:latin typeface="微软雅黑" panose="020B0503020204020204" pitchFamily="34" charset="-122"/>
                <a:ea typeface="微软雅黑" panose="020B0503020204020204" pitchFamily="34" charset="-122"/>
              </a:rPr>
              <a:t>距离对方类别最近的样本为支持向量，这些向量决定了最优分类面</a:t>
            </a:r>
            <a:r>
              <a:rPr kumimoji="1" lang="en-US" altLang="zh-CN" sz="1800" dirty="0" err="1">
                <a:latin typeface="微软雅黑" panose="020B0503020204020204" pitchFamily="34" charset="-122"/>
                <a:ea typeface="微软雅黑" panose="020B0503020204020204" pitchFamily="34" charset="-122"/>
              </a:rPr>
              <a:t>H</a:t>
            </a:r>
            <a:r>
              <a:rPr kumimoji="1" lang="en-US" altLang="zh-CN" sz="1800" baseline="-25000" dirty="0" err="1">
                <a:latin typeface="微软雅黑" panose="020B0503020204020204" pitchFamily="34" charset="-122"/>
                <a:ea typeface="微软雅黑" panose="020B0503020204020204" pitchFamily="34" charset="-122"/>
              </a:rPr>
              <a:t>0</a:t>
            </a:r>
            <a:endParaRPr kumimoji="1" lang="en-US" altLang="zh-CN" sz="1800" baseline="-25000" dirty="0">
              <a:latin typeface="微软雅黑" panose="020B0503020204020204" pitchFamily="34" charset="-122"/>
              <a:ea typeface="微软雅黑" panose="020B0503020204020204" pitchFamily="34" charset="-122"/>
            </a:endParaRPr>
          </a:p>
          <a:p>
            <a:pPr marL="457200" indent="-457200">
              <a:lnSpc>
                <a:spcPct val="120000"/>
              </a:lnSpc>
              <a:buFontTx/>
              <a:buAutoNum type="arabicPeriod"/>
              <a:defRPr/>
            </a:pPr>
            <a:r>
              <a:rPr kumimoji="1" lang="zh-CN" altLang="en-US" sz="1800" dirty="0">
                <a:latin typeface="微软雅黑" panose="020B0503020204020204" pitchFamily="34" charset="-122"/>
                <a:ea typeface="微软雅黑" panose="020B0503020204020204" pitchFamily="34" charset="-122"/>
              </a:rPr>
              <a:t>距离分类面较远的样本对模型训练没有贡献，因此获得足够的支持向量即可（小样本学习）</a:t>
            </a:r>
            <a:endParaRPr kumimoji="1" lang="en-US" altLang="zh-CN"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0834" name="Rectangle 3"/>
          <p:cNvSpPr>
            <a:spLocks noGrp="1"/>
          </p:cNvSpPr>
          <p:nvPr>
            <p:ph idx="1"/>
          </p:nvPr>
        </p:nvSpPr>
        <p:spPr>
          <a:ln/>
        </p:spPr>
        <p:txBody>
          <a:bodyPr vert="horz" wrap="square" lIns="91440" tIns="45720" rIns="91440" bIns="45720" anchor="t" anchorCtr="0"/>
          <a:lstStyle/>
          <a:p>
            <a:pPr algn="ctr" eaLnBrk="1" hangingPunct="1">
              <a:buNone/>
            </a:pPr>
            <a:r>
              <a:rPr lang="en-US" altLang="zh-CN" sz="6600" dirty="0">
                <a:latin typeface="Times New Roman" panose="02020603050405020304" pitchFamily="18" charset="0"/>
              </a:rPr>
              <a:t>Everything ok now?</a:t>
            </a:r>
            <a:endParaRPr lang="zh-CN" altLang="en-US" sz="6600" dirty="0">
              <a:latin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2208213" y="198438"/>
            <a:ext cx="7772400" cy="731838"/>
          </a:xfrm>
        </p:spPr>
        <p:txBody>
          <a:bodyPr vert="horz" wrap="square" lIns="91440" tIns="45720" rIns="91440" bIns="45720" numCol="1" anchor="ctr" anchorCtr="0" compatLnSpc="1"/>
          <a:lstStyle/>
          <a:p>
            <a:pPr algn="ctr" eaLnBrk="1" hangingPunct="1">
              <a:defRPr/>
            </a:pPr>
            <a:r>
              <a:rPr lang="en-US" altLang="zh-CN" sz="3200" b="1" dirty="0" err="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SVM</a:t>
            </a:r>
            <a:r>
              <a:rPr lang="en-US" altLang="zh-CN"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支持向量机理论</a:t>
            </a:r>
          </a:p>
        </p:txBody>
      </p:sp>
      <p:sp>
        <p:nvSpPr>
          <p:cNvPr id="827395" name="Rectangle 3"/>
          <p:cNvSpPr>
            <a:spLocks noGrp="1"/>
          </p:cNvSpPr>
          <p:nvPr>
            <p:ph idx="1"/>
          </p:nvPr>
        </p:nvSpPr>
        <p:spPr>
          <a:xfrm>
            <a:off x="1774826" y="1563688"/>
            <a:ext cx="3889375" cy="4305300"/>
          </a:xfrm>
          <a:ln/>
        </p:spPr>
        <p:txBody>
          <a:bodyPr vert="horz" wrap="square" lIns="91440" tIns="45720" rIns="91440" bIns="45720" anchor="t" anchorCtr="0">
            <a:normAutofit fontScale="92500" lnSpcReduction="10000"/>
          </a:bodyPr>
          <a:lstStyle/>
          <a:p>
            <a:pPr eaLnBrk="1" hangingPunct="1">
              <a:lnSpc>
                <a:spcPct val="110000"/>
              </a:lnSpc>
            </a:pPr>
            <a:r>
              <a:rPr lang="zh-CN" altLang="en-US" sz="2400" dirty="0">
                <a:solidFill>
                  <a:srgbClr val="FF3300"/>
                </a:solidFill>
                <a:latin typeface="微软雅黑" panose="020B0503020204020204" pitchFamily="34" charset="-122"/>
                <a:ea typeface="微软雅黑" panose="020B0503020204020204" pitchFamily="34" charset="-122"/>
              </a:rPr>
              <a:t>非线性问题</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通过非线性变换将它转化为某个高维空间中的线性问题</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在这个高维空间中寻找最优分类面</a:t>
            </a:r>
            <a:r>
              <a:rPr lang="en-US" altLang="zh-CN" sz="2400" dirty="0">
                <a:latin typeface="微软雅黑" panose="020B0503020204020204" pitchFamily="34" charset="-122"/>
                <a:ea typeface="微软雅黑" panose="020B0503020204020204" pitchFamily="34" charset="-122"/>
              </a:rPr>
              <a:t>。</a:t>
            </a:r>
          </a:p>
          <a:p>
            <a:pPr eaLnBrk="1" hangingPunct="1">
              <a:lnSpc>
                <a:spcPct val="110000"/>
              </a:lnSpc>
            </a:pPr>
            <a:endParaRPr lang="en-US" altLang="zh-CN" sz="2400" dirty="0">
              <a:solidFill>
                <a:srgbClr val="FF3300"/>
              </a:solidFill>
              <a:latin typeface="微软雅黑" panose="020B0503020204020204" pitchFamily="34" charset="-122"/>
              <a:ea typeface="微软雅黑" panose="020B0503020204020204" pitchFamily="34" charset="-122"/>
            </a:endParaRPr>
          </a:p>
          <a:p>
            <a:pPr eaLnBrk="1" hangingPunct="1">
              <a:lnSpc>
                <a:spcPct val="110000"/>
              </a:lnSpc>
            </a:pPr>
            <a:r>
              <a:rPr lang="zh-CN" altLang="en-US" sz="2400" dirty="0">
                <a:solidFill>
                  <a:srgbClr val="FF3300"/>
                </a:solidFill>
                <a:latin typeface="微软雅黑" panose="020B0503020204020204" pitchFamily="34" charset="-122"/>
                <a:ea typeface="微软雅黑" panose="020B0503020204020204" pitchFamily="34" charset="-122"/>
              </a:rPr>
              <a:t>离群点问题</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训练数据集存在噪声的情况下，离群点会导致错误的最优分类面</a:t>
            </a:r>
            <a:r>
              <a:rPr lang="en-US" altLang="zh-CN" sz="2400" dirty="0">
                <a:latin typeface="微软雅黑" panose="020B0503020204020204" pitchFamily="34" charset="-122"/>
                <a:ea typeface="微软雅黑" panose="020B0503020204020204" pitchFamily="34" charset="-122"/>
              </a:rPr>
              <a:t>，Vapnik</a:t>
            </a:r>
            <a:r>
              <a:rPr lang="zh-CN" altLang="en-US" sz="2400" dirty="0">
                <a:latin typeface="微软雅黑" panose="020B0503020204020204" pitchFamily="34" charset="-122"/>
                <a:ea typeface="微软雅黑" panose="020B0503020204020204" pitchFamily="34" charset="-122"/>
              </a:rPr>
              <a:t>等人提出了用广义分类面</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松弛子</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来解决这一问题</a:t>
            </a:r>
            <a:r>
              <a:rPr lang="en-US" altLang="zh-CN" sz="2400" dirty="0">
                <a:latin typeface="微软雅黑" panose="020B0503020204020204" pitchFamily="34" charset="-122"/>
                <a:ea typeface="微软雅黑" panose="020B0503020204020204" pitchFamily="34" charset="-122"/>
              </a:rPr>
              <a:t>。</a:t>
            </a:r>
          </a:p>
        </p:txBody>
      </p:sp>
      <p:pic>
        <p:nvPicPr>
          <p:cNvPr id="121859" name="Picture 4"/>
          <p:cNvPicPr>
            <a:picLocks noChangeAspect="1"/>
          </p:cNvPicPr>
          <p:nvPr/>
        </p:nvPicPr>
        <p:blipFill>
          <a:blip r:embed="rId2"/>
          <a:stretch>
            <a:fillRect/>
          </a:stretch>
        </p:blipFill>
        <p:spPr>
          <a:xfrm>
            <a:off x="6361114" y="1312864"/>
            <a:ext cx="2663825" cy="2035175"/>
          </a:xfrm>
          <a:prstGeom prst="rect">
            <a:avLst/>
          </a:prstGeom>
          <a:noFill/>
          <a:ln w="9525">
            <a:noFill/>
          </a:ln>
        </p:spPr>
      </p:pic>
      <p:pic>
        <p:nvPicPr>
          <p:cNvPr id="121860" name="Picture 4"/>
          <p:cNvPicPr>
            <a:picLocks noChangeAspect="1"/>
          </p:cNvPicPr>
          <p:nvPr/>
        </p:nvPicPr>
        <p:blipFill>
          <a:blip r:embed="rId3"/>
          <a:stretch>
            <a:fillRect/>
          </a:stretch>
        </p:blipFill>
        <p:spPr>
          <a:xfrm>
            <a:off x="6359525" y="3716339"/>
            <a:ext cx="3568700" cy="22574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7395">
                                            <p:txEl>
                                              <p:pRg st="0" end="0"/>
                                            </p:txEl>
                                          </p:spTgt>
                                        </p:tgtEl>
                                        <p:attrNameLst>
                                          <p:attrName>style.visibility</p:attrName>
                                        </p:attrNameLst>
                                      </p:cBhvr>
                                      <p:to>
                                        <p:strVal val="visible"/>
                                      </p:to>
                                    </p:set>
                                    <p:animEffect transition="in" filter="blinds(horizontal)">
                                      <p:cBhvr>
                                        <p:cTn id="7" dur="500"/>
                                        <p:tgtEl>
                                          <p:spTgt spid="8273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27395">
                                            <p:txEl>
                                              <p:pRg st="2" end="2"/>
                                            </p:txEl>
                                          </p:spTgt>
                                        </p:tgtEl>
                                        <p:attrNameLst>
                                          <p:attrName>style.visibility</p:attrName>
                                        </p:attrNameLst>
                                      </p:cBhvr>
                                      <p:to>
                                        <p:strVal val="visible"/>
                                      </p:to>
                                    </p:set>
                                    <p:animEffect transition="in" filter="blinds(horizontal)">
                                      <p:cBhvr>
                                        <p:cTn id="12" dur="500"/>
                                        <p:tgtEl>
                                          <p:spTgt spid="8273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395" grpId="0" build="p"/>
    </p:bld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2208213" y="198438"/>
            <a:ext cx="7772400" cy="731838"/>
          </a:xfrm>
        </p:spPr>
        <p:txBody>
          <a:bodyPr vert="horz" wrap="square" lIns="91440" tIns="45720" rIns="91440" bIns="45720" numCol="1" anchor="ctr" anchorCtr="0" compatLnSpc="1"/>
          <a:lstStyle/>
          <a:p>
            <a:pPr algn="ctr" eaLnBrk="1" hangingPunct="1">
              <a:defRPr/>
            </a:pPr>
            <a:r>
              <a:rPr lang="en-US" altLang="zh-CN" sz="3200" b="1" dirty="0" err="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SVM</a:t>
            </a:r>
            <a:r>
              <a:rPr lang="en-US" altLang="zh-CN"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非线性问题</a:t>
            </a:r>
          </a:p>
        </p:txBody>
      </p:sp>
      <p:sp>
        <p:nvSpPr>
          <p:cNvPr id="860163" name="Rectangle 3"/>
          <p:cNvSpPr>
            <a:spLocks noGrp="1"/>
          </p:cNvSpPr>
          <p:nvPr>
            <p:ph idx="1"/>
          </p:nvPr>
        </p:nvSpPr>
        <p:spPr>
          <a:xfrm>
            <a:off x="1774826" y="1700213"/>
            <a:ext cx="3960813" cy="5416550"/>
          </a:xfrm>
          <a:ln/>
        </p:spPr>
        <p:txBody>
          <a:bodyPr vert="horz" wrap="square" lIns="91440" tIns="45720" rIns="91440" bIns="45720" anchor="t" anchorCtr="0"/>
          <a:lstStyle/>
          <a:p>
            <a:pPr eaLnBrk="1" hangingPunct="1"/>
            <a:r>
              <a:rPr lang="en-US" altLang="zh-CN" sz="2800" b="1" i="1" dirty="0">
                <a:latin typeface="Times New Roman" panose="02020603050405020304" pitchFamily="18" charset="0"/>
              </a:rPr>
              <a:t>a b</a:t>
            </a:r>
            <a:r>
              <a:rPr lang="zh-CN" altLang="en-US" sz="2800" b="1" dirty="0"/>
              <a:t>之间的区域是正例，无法采用任何线性分类面</a:t>
            </a:r>
          </a:p>
          <a:p>
            <a:pPr eaLnBrk="1" hangingPunct="1"/>
            <a:endParaRPr lang="zh-CN" altLang="en-US" sz="2800" b="1" dirty="0"/>
          </a:p>
          <a:p>
            <a:pPr eaLnBrk="1" hangingPunct="1"/>
            <a:r>
              <a:rPr lang="zh-CN" altLang="en-US" sz="2800" b="1" dirty="0"/>
              <a:t>这样可以</a:t>
            </a:r>
          </a:p>
          <a:p>
            <a:pPr algn="ctr" eaLnBrk="1" hangingPunct="1">
              <a:buNone/>
            </a:pPr>
            <a:r>
              <a:rPr lang="en-US" altLang="zh-CN" sz="2800" b="1" i="1" dirty="0">
                <a:latin typeface="Times New Roman" panose="02020603050405020304" pitchFamily="18" charset="0"/>
              </a:rPr>
              <a:t>g</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x</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=c</a:t>
            </a:r>
            <a:r>
              <a:rPr lang="en-US" altLang="zh-CN" sz="2800" b="1" i="1" baseline="-25000" dirty="0">
                <a:latin typeface="Times New Roman" panose="02020603050405020304" pitchFamily="18" charset="0"/>
              </a:rPr>
              <a:t>0</a:t>
            </a:r>
            <a:r>
              <a:rPr lang="en-US" altLang="zh-CN" sz="2800" b="1" i="1" dirty="0">
                <a:latin typeface="Times New Roman" panose="02020603050405020304" pitchFamily="18" charset="0"/>
              </a:rPr>
              <a:t>+c</a:t>
            </a:r>
            <a:r>
              <a:rPr lang="en-US" altLang="zh-CN" sz="2800" b="1" i="1" baseline="-25000" dirty="0">
                <a:latin typeface="Times New Roman" panose="02020603050405020304" pitchFamily="18" charset="0"/>
              </a:rPr>
              <a:t>1</a:t>
            </a:r>
            <a:r>
              <a:rPr lang="en-US" altLang="zh-CN" sz="2800" b="1" i="1" dirty="0">
                <a:latin typeface="Times New Roman" panose="02020603050405020304" pitchFamily="18" charset="0"/>
              </a:rPr>
              <a:t>x+c</a:t>
            </a:r>
            <a:r>
              <a:rPr lang="en-US" altLang="zh-CN" sz="2800" b="1" i="1" baseline="-25000" dirty="0">
                <a:latin typeface="Times New Roman" panose="02020603050405020304" pitchFamily="18" charset="0"/>
              </a:rPr>
              <a:t>2</a:t>
            </a:r>
            <a:r>
              <a:rPr lang="en-US" altLang="zh-CN" sz="2800" b="1" i="1" dirty="0">
                <a:latin typeface="Times New Roman" panose="02020603050405020304" pitchFamily="18" charset="0"/>
              </a:rPr>
              <a:t>x</a:t>
            </a:r>
            <a:r>
              <a:rPr lang="en-US" altLang="zh-CN" sz="2800" b="1" i="1" baseline="30000" dirty="0">
                <a:latin typeface="Times New Roman" panose="02020603050405020304" pitchFamily="18" charset="0"/>
              </a:rPr>
              <a:t>2</a:t>
            </a:r>
          </a:p>
          <a:p>
            <a:pPr eaLnBrk="1" hangingPunct="1"/>
            <a:endParaRPr lang="zh-CN" altLang="en-US" sz="2800" b="1" dirty="0">
              <a:latin typeface="Times New Roman" panose="02020603050405020304" pitchFamily="18" charset="0"/>
            </a:endParaRPr>
          </a:p>
          <a:p>
            <a:pPr eaLnBrk="1" hangingPunct="1"/>
            <a:endParaRPr lang="zh-CN" altLang="en-US" sz="2800" b="1" dirty="0">
              <a:latin typeface="Times New Roman" panose="02020603050405020304" pitchFamily="18" charset="0"/>
            </a:endParaRPr>
          </a:p>
          <a:p>
            <a:pPr eaLnBrk="1" hangingPunct="1"/>
            <a:r>
              <a:rPr lang="zh-CN" altLang="en-US" sz="2800" b="1" dirty="0">
                <a:latin typeface="Times New Roman" panose="02020603050405020304" pitchFamily="18" charset="0"/>
              </a:rPr>
              <a:t>新建一个向量</a:t>
            </a:r>
            <a:r>
              <a:rPr lang="en-US" altLang="zh-CN" sz="2800" b="1" i="1" dirty="0">
                <a:latin typeface="Times New Roman" panose="02020603050405020304" pitchFamily="18" charset="0"/>
              </a:rPr>
              <a:t>y</a:t>
            </a:r>
            <a:r>
              <a:rPr lang="zh-CN" altLang="en-US" sz="2800" b="1" dirty="0">
                <a:latin typeface="Times New Roman" panose="02020603050405020304" pitchFamily="18" charset="0"/>
              </a:rPr>
              <a:t>和</a:t>
            </a:r>
            <a:r>
              <a:rPr lang="en-US" altLang="zh-CN" sz="2800" b="1" dirty="0">
                <a:latin typeface="Times New Roman" panose="02020603050405020304" pitchFamily="18" charset="0"/>
              </a:rPr>
              <a:t>a</a:t>
            </a:r>
            <a:r>
              <a:rPr lang="zh-CN" altLang="en-US" sz="2800" b="1" dirty="0">
                <a:latin typeface="Times New Roman" panose="02020603050405020304" pitchFamily="18" charset="0"/>
              </a:rPr>
              <a:t>： </a:t>
            </a:r>
            <a:endParaRPr lang="en-US" altLang="zh-CN" sz="2800" b="1" dirty="0">
              <a:latin typeface="Times New Roman" panose="02020603050405020304" pitchFamily="18" charset="0"/>
            </a:endParaRPr>
          </a:p>
        </p:txBody>
      </p:sp>
      <p:pic>
        <p:nvPicPr>
          <p:cNvPr id="860164" name="Picture 4" descr="clip_image001_2"/>
          <p:cNvPicPr>
            <a:picLocks noChangeAspect="1"/>
          </p:cNvPicPr>
          <p:nvPr/>
        </p:nvPicPr>
        <p:blipFill>
          <a:blip r:embed="rId2"/>
          <a:stretch>
            <a:fillRect/>
          </a:stretch>
        </p:blipFill>
        <p:spPr>
          <a:xfrm>
            <a:off x="5965825" y="1125539"/>
            <a:ext cx="3790950" cy="2428875"/>
          </a:xfrm>
          <a:prstGeom prst="rect">
            <a:avLst/>
          </a:prstGeom>
          <a:noFill/>
          <a:ln w="9525">
            <a:noFill/>
          </a:ln>
        </p:spPr>
      </p:pic>
      <p:pic>
        <p:nvPicPr>
          <p:cNvPr id="860165" name="Picture 5" descr="clip_image002_2"/>
          <p:cNvPicPr>
            <a:picLocks noChangeAspect="1"/>
          </p:cNvPicPr>
          <p:nvPr/>
        </p:nvPicPr>
        <p:blipFill>
          <a:blip r:embed="rId3"/>
          <a:stretch>
            <a:fillRect/>
          </a:stretch>
        </p:blipFill>
        <p:spPr>
          <a:xfrm>
            <a:off x="6024564" y="3011489"/>
            <a:ext cx="2981325" cy="2276475"/>
          </a:xfrm>
          <a:prstGeom prst="rect">
            <a:avLst/>
          </a:prstGeom>
          <a:noFill/>
          <a:ln w="9525">
            <a:noFill/>
          </a:ln>
        </p:spPr>
      </p:pic>
      <p:pic>
        <p:nvPicPr>
          <p:cNvPr id="860169" name="Picture 9" descr="clip_image002[7]">
            <a:hlinkClick r:id="rId4"/>
          </p:cNvPr>
          <p:cNvPicPr>
            <a:picLocks noChangeAspect="1"/>
          </p:cNvPicPr>
          <p:nvPr/>
        </p:nvPicPr>
        <p:blipFill>
          <a:blip r:embed="rId5"/>
          <a:stretch>
            <a:fillRect/>
          </a:stretch>
        </p:blipFill>
        <p:spPr>
          <a:xfrm>
            <a:off x="5808664" y="5133976"/>
            <a:ext cx="4105275" cy="15224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60163">
                                            <p:txEl>
                                              <p:pRg st="0" end="0"/>
                                            </p:txEl>
                                          </p:spTgt>
                                        </p:tgtEl>
                                        <p:attrNameLst>
                                          <p:attrName>style.visibility</p:attrName>
                                        </p:attrNameLst>
                                      </p:cBhvr>
                                      <p:to>
                                        <p:strVal val="visible"/>
                                      </p:to>
                                    </p:set>
                                    <p:animEffect transition="in" filter="blinds(horizontal)">
                                      <p:cBhvr>
                                        <p:cTn id="7" dur="500"/>
                                        <p:tgtEl>
                                          <p:spTgt spid="8601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60164"/>
                                        </p:tgtEl>
                                        <p:attrNameLst>
                                          <p:attrName>style.visibility</p:attrName>
                                        </p:attrNameLst>
                                      </p:cBhvr>
                                      <p:to>
                                        <p:strVal val="visible"/>
                                      </p:to>
                                    </p:set>
                                    <p:animEffect transition="in" filter="blinds(horizontal)">
                                      <p:cBhvr>
                                        <p:cTn id="12" dur="500"/>
                                        <p:tgtEl>
                                          <p:spTgt spid="86016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60163">
                                            <p:txEl>
                                              <p:pRg st="2" end="2"/>
                                            </p:txEl>
                                          </p:spTgt>
                                        </p:tgtEl>
                                        <p:attrNameLst>
                                          <p:attrName>style.visibility</p:attrName>
                                        </p:attrNameLst>
                                      </p:cBhvr>
                                      <p:to>
                                        <p:strVal val="visible"/>
                                      </p:to>
                                    </p:set>
                                    <p:animEffect transition="in" filter="blinds(horizontal)">
                                      <p:cBhvr>
                                        <p:cTn id="17" dur="500"/>
                                        <p:tgtEl>
                                          <p:spTgt spid="8601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60165"/>
                                        </p:tgtEl>
                                        <p:attrNameLst>
                                          <p:attrName>style.visibility</p:attrName>
                                        </p:attrNameLst>
                                      </p:cBhvr>
                                      <p:to>
                                        <p:strVal val="visible"/>
                                      </p:to>
                                    </p:set>
                                    <p:animEffect transition="in" filter="blinds(horizontal)">
                                      <p:cBhvr>
                                        <p:cTn id="22" dur="500"/>
                                        <p:tgtEl>
                                          <p:spTgt spid="860165"/>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860163">
                                            <p:txEl>
                                              <p:pRg st="3" end="3"/>
                                            </p:txEl>
                                          </p:spTgt>
                                        </p:tgtEl>
                                        <p:attrNameLst>
                                          <p:attrName>style.visibility</p:attrName>
                                        </p:attrNameLst>
                                      </p:cBhvr>
                                      <p:to>
                                        <p:strVal val="visible"/>
                                      </p:to>
                                    </p:set>
                                    <p:animEffect transition="in" filter="blinds(horizontal)">
                                      <p:cBhvr>
                                        <p:cTn id="25" dur="500"/>
                                        <p:tgtEl>
                                          <p:spTgt spid="86016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860163">
                                            <p:txEl>
                                              <p:pRg st="6" end="6"/>
                                            </p:txEl>
                                          </p:spTgt>
                                        </p:tgtEl>
                                        <p:attrNameLst>
                                          <p:attrName>style.visibility</p:attrName>
                                        </p:attrNameLst>
                                      </p:cBhvr>
                                      <p:to>
                                        <p:strVal val="visible"/>
                                      </p:to>
                                    </p:set>
                                    <p:animEffect transition="in" filter="blinds(horizontal)">
                                      <p:cBhvr>
                                        <p:cTn id="30" dur="500"/>
                                        <p:tgtEl>
                                          <p:spTgt spid="86016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860169"/>
                                        </p:tgtEl>
                                        <p:attrNameLst>
                                          <p:attrName>style.visibility</p:attrName>
                                        </p:attrNameLst>
                                      </p:cBhvr>
                                      <p:to>
                                        <p:strVal val="visible"/>
                                      </p:to>
                                    </p:set>
                                    <p:animEffect transition="in" filter="blinds(horizontal)">
                                      <p:cBhvr>
                                        <p:cTn id="35" dur="500"/>
                                        <p:tgtEl>
                                          <p:spTgt spid="860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63" grpId="0" build="p"/>
    </p:bld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2208213" y="198438"/>
            <a:ext cx="7772400" cy="731838"/>
          </a:xfrm>
        </p:spPr>
        <p:txBody>
          <a:bodyPr vert="horz" wrap="square" lIns="91440" tIns="45720" rIns="91440" bIns="45720" numCol="1" anchor="ctr" anchorCtr="0" compatLnSpc="1"/>
          <a:lstStyle/>
          <a:p>
            <a:pPr algn="ctr" eaLnBrk="1" hangingPunct="1">
              <a:defRPr/>
            </a:pPr>
            <a:r>
              <a:rPr lang="en-US" altLang="zh-CN" sz="3200" b="1" dirty="0" err="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SVM</a:t>
            </a:r>
            <a:r>
              <a:rPr lang="en-US" altLang="zh-CN"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 ---</a:t>
            </a:r>
            <a:r>
              <a:rPr lang="zh-CN" altLang="en-US"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非线性问题</a:t>
            </a:r>
          </a:p>
        </p:txBody>
      </p:sp>
      <p:sp>
        <p:nvSpPr>
          <p:cNvPr id="877571" name="Rectangle 3"/>
          <p:cNvSpPr>
            <a:spLocks noGrp="1"/>
          </p:cNvSpPr>
          <p:nvPr>
            <p:ph idx="1"/>
          </p:nvPr>
        </p:nvSpPr>
        <p:spPr>
          <a:xfrm>
            <a:off x="2063116" y="980441"/>
            <a:ext cx="8194675" cy="2402205"/>
          </a:xfrm>
          <a:ln/>
        </p:spPr>
        <p:txBody>
          <a:bodyPr vert="horz" wrap="square" lIns="91440" tIns="45720" rIns="91440" bIns="45720" anchor="t" anchorCtr="0"/>
          <a:lstStyle/>
          <a:p>
            <a:pPr eaLnBrk="1" hangingPunct="1">
              <a:lnSpc>
                <a:spcPct val="110000"/>
              </a:lnSpc>
            </a:pPr>
            <a:r>
              <a:rPr lang="zh-CN" altLang="en-US" sz="2400" dirty="0">
                <a:latin typeface="Times New Roman" panose="02020603050405020304" pitchFamily="18" charset="0"/>
                <a:ea typeface="微软雅黑" panose="020B0503020204020204" pitchFamily="34" charset="-122"/>
              </a:rPr>
              <a:t>这样</a:t>
            </a:r>
            <a:r>
              <a:rPr lang="en-US" altLang="zh-CN" sz="2400" dirty="0">
                <a:latin typeface="Times New Roman" panose="02020603050405020304" pitchFamily="18" charset="0"/>
                <a:ea typeface="微软雅黑" panose="020B0503020204020204" pitchFamily="34" charset="-122"/>
              </a:rPr>
              <a:t>g(x)</a:t>
            </a:r>
            <a:r>
              <a:rPr lang="zh-CN" altLang="en-US" sz="2400" dirty="0">
                <a:latin typeface="Times New Roman" panose="02020603050405020304" pitchFamily="18" charset="0"/>
                <a:ea typeface="微软雅黑" panose="020B0503020204020204" pitchFamily="34" charset="-122"/>
              </a:rPr>
              <a:t>就可以转化为          </a:t>
            </a:r>
            <a:r>
              <a:rPr lang="zh-CN" altLang="en-US" sz="2400" i="1" dirty="0">
                <a:latin typeface="Times New Roman" panose="02020603050405020304" pitchFamily="18" charset="0"/>
                <a:ea typeface="微软雅黑" panose="020B0503020204020204" pitchFamily="34" charset="-122"/>
              </a:rPr>
              <a:t> </a:t>
            </a:r>
            <a:r>
              <a:rPr lang="en-US" altLang="zh-CN" sz="2400" i="1" dirty="0">
                <a:latin typeface="Times New Roman" panose="02020603050405020304" pitchFamily="18" charset="0"/>
                <a:ea typeface="微软雅黑" panose="020B0503020204020204" pitchFamily="34" charset="-122"/>
              </a:rPr>
              <a:t>f(y)=a·y </a:t>
            </a:r>
            <a:r>
              <a:rPr lang="zh-CN" altLang="en-US" sz="2400" i="1"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  </a:t>
            </a:r>
          </a:p>
          <a:p>
            <a:pPr eaLnBrk="1" hangingPunct="1">
              <a:lnSpc>
                <a:spcPct val="110000"/>
              </a:lnSpc>
            </a:pPr>
            <a:r>
              <a:rPr lang="zh-CN" altLang="en-US" sz="2400" dirty="0">
                <a:latin typeface="Times New Roman" panose="02020603050405020304" pitchFamily="18" charset="0"/>
                <a:ea typeface="微软雅黑" panose="020B0503020204020204" pitchFamily="34" charset="-122"/>
              </a:rPr>
              <a:t>原来在二维空间中一个线性不可分的问题，映射到四维空间后，变成了线性可分的！</a:t>
            </a:r>
            <a:endParaRPr lang="en-US" altLang="zh-CN" sz="2400" dirty="0">
              <a:latin typeface="Times New Roman" panose="02020603050405020304" pitchFamily="18" charset="0"/>
              <a:ea typeface="微软雅黑" panose="020B0503020204020204" pitchFamily="34" charset="-122"/>
            </a:endParaRPr>
          </a:p>
          <a:p>
            <a:pPr eaLnBrk="1" hangingPunct="1">
              <a:lnSpc>
                <a:spcPct val="110000"/>
              </a:lnSpc>
            </a:pPr>
            <a:r>
              <a:rPr lang="zh-CN" altLang="en-US" sz="2400" dirty="0">
                <a:latin typeface="Times New Roman" panose="02020603050405020304" pitchFamily="18" charset="0"/>
                <a:ea typeface="微软雅黑" panose="020B0503020204020204" pitchFamily="34" charset="-122"/>
              </a:rPr>
              <a:t>因此这也形成了解决线性不可分问题的基本思路</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向高维空间转化，使其变得线性可分。 </a:t>
            </a:r>
          </a:p>
          <a:p>
            <a:pPr eaLnBrk="1" hangingPunct="1">
              <a:lnSpc>
                <a:spcPct val="110000"/>
              </a:lnSpc>
            </a:pPr>
            <a:endParaRPr lang="zh-CN" altLang="en-US" sz="2400" dirty="0">
              <a:latin typeface="Times New Roman" panose="02020603050405020304" pitchFamily="18" charset="0"/>
              <a:ea typeface="微软雅黑" panose="020B0503020204020204" pitchFamily="34" charset="-122"/>
            </a:endParaRPr>
          </a:p>
          <a:p>
            <a:pPr eaLnBrk="1" hangingPunct="1"/>
            <a:endParaRPr lang="zh-CN" altLang="en-US" sz="2400" dirty="0">
              <a:latin typeface="Times New Roman" panose="02020603050405020304" pitchFamily="18" charset="0"/>
              <a:ea typeface="微软雅黑" panose="020B0503020204020204" pitchFamily="34" charset="-122"/>
            </a:endParaRPr>
          </a:p>
        </p:txBody>
      </p:sp>
      <p:sp>
        <p:nvSpPr>
          <p:cNvPr id="4" name="Rectangle 3"/>
          <p:cNvSpPr txBox="1"/>
          <p:nvPr/>
        </p:nvSpPr>
        <p:spPr>
          <a:xfrm>
            <a:off x="2062799" y="3140394"/>
            <a:ext cx="8429625" cy="3024187"/>
          </a:xfrm>
          <a:prstGeom prst="rect">
            <a:avLst/>
          </a:prstGeom>
          <a:noFill/>
          <a:ln w="9525">
            <a:noFill/>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eaLnBrk="1" hangingPunct="1">
              <a:lnSpc>
                <a:spcPct val="120000"/>
              </a:lnSpc>
            </a:pPr>
            <a:r>
              <a:rPr lang="zh-CN" altLang="en-US" sz="2400" dirty="0">
                <a:latin typeface="Times New Roman" panose="02020603050405020304" pitchFamily="18" charset="0"/>
                <a:ea typeface="微软雅黑" panose="020B0503020204020204" pitchFamily="34" charset="-122"/>
              </a:rPr>
              <a:t>两个问题：</a:t>
            </a:r>
          </a:p>
          <a:p>
            <a:pPr eaLnBrk="1" hangingPunct="1">
              <a:lnSpc>
                <a:spcPct val="120000"/>
              </a:lnSpc>
              <a:buNone/>
            </a:pPr>
            <a:r>
              <a:rPr lang="en-US" altLang="zh-CN" sz="2400" dirty="0">
                <a:latin typeface="Times New Roman" panose="02020603050405020304" pitchFamily="18" charset="0"/>
                <a:ea typeface="微软雅黑" panose="020B0503020204020204" pitchFamily="34" charset="-122"/>
              </a:rPr>
              <a:t> (1) </a:t>
            </a:r>
            <a:r>
              <a:rPr lang="zh-CN" altLang="en-US" sz="2400" dirty="0">
                <a:latin typeface="Times New Roman" panose="02020603050405020304" pitchFamily="18" charset="0"/>
                <a:ea typeface="微软雅黑" panose="020B0503020204020204" pitchFamily="34" charset="-122"/>
              </a:rPr>
              <a:t>怎样找到一个推广性好的分类超平面？（概念上的问题）                </a:t>
            </a:r>
          </a:p>
          <a:p>
            <a:pPr eaLnBrk="1" hangingPunct="1">
              <a:lnSpc>
                <a:spcPct val="120000"/>
              </a:lnSpc>
              <a:buNone/>
            </a:pPr>
            <a:r>
              <a:rPr lang="zh-CN" altLang="en-US" sz="2400" dirty="0">
                <a:latin typeface="Times New Roman" panose="02020603050405020304" pitchFamily="18" charset="0"/>
                <a:ea typeface="微软雅黑" panose="020B0503020204020204" pitchFamily="34" charset="-122"/>
              </a:rPr>
              <a:t>   特征空间的维数将会很高，将训练数据分开的一个超平面不一定能够很好地推广。</a:t>
            </a:r>
          </a:p>
          <a:p>
            <a:pPr eaLnBrk="1" hangingPunct="1">
              <a:lnSpc>
                <a:spcPct val="120000"/>
              </a:lnSpc>
              <a:buNone/>
            </a:pPr>
            <a:r>
              <a:rPr lang="en-US" altLang="zh-CN" sz="2400" dirty="0">
                <a:latin typeface="Times New Roman" panose="02020603050405020304" pitchFamily="18" charset="0"/>
                <a:ea typeface="微软雅黑" panose="020B0503020204020204" pitchFamily="34" charset="-122"/>
              </a:rPr>
              <a:t> (2)</a:t>
            </a:r>
            <a:r>
              <a:rPr lang="zh-CN" altLang="en-US" sz="2400" dirty="0">
                <a:latin typeface="Times New Roman" panose="02020603050405020304" pitchFamily="18" charset="0"/>
                <a:ea typeface="微软雅黑" panose="020B0503020204020204" pitchFamily="34" charset="-122"/>
              </a:rPr>
              <a:t>怎样在计算上处理在如此高维的空间？ （技术上的问题）</a:t>
            </a:r>
          </a:p>
          <a:p>
            <a:pPr eaLnBrk="1" hangingPunct="1">
              <a:lnSpc>
                <a:spcPct val="120000"/>
              </a:lnSpc>
              <a:buNone/>
            </a:pPr>
            <a:r>
              <a:rPr lang="zh-CN" altLang="en-US" sz="2400" dirty="0">
                <a:latin typeface="Times New Roman" panose="02020603050405020304" pitchFamily="18" charset="0"/>
                <a:ea typeface="微软雅黑" panose="020B0503020204020204" pitchFamily="34" charset="-122"/>
              </a:rPr>
              <a:t>    要在一个</a:t>
            </a:r>
            <a:r>
              <a:rPr lang="en-US" altLang="zh-CN" sz="2400" dirty="0">
                <a:latin typeface="Times New Roman" panose="02020603050405020304" pitchFamily="18" charset="0"/>
                <a:ea typeface="微软雅黑" panose="020B0503020204020204" pitchFamily="34" charset="-122"/>
              </a:rPr>
              <a:t>200</a:t>
            </a:r>
            <a:r>
              <a:rPr lang="zh-CN" altLang="en-US" sz="2400" dirty="0">
                <a:latin typeface="Times New Roman" panose="02020603050405020304" pitchFamily="18" charset="0"/>
                <a:ea typeface="微软雅黑" panose="020B0503020204020204" pitchFamily="34" charset="-122"/>
              </a:rPr>
              <a:t>维空间中构造一个</a:t>
            </a:r>
            <a:r>
              <a:rPr lang="en-US" altLang="zh-CN" sz="2400" dirty="0">
                <a:latin typeface="Times New Roman" panose="02020603050405020304" pitchFamily="18" charset="0"/>
                <a:ea typeface="微软雅黑" panose="020B0503020204020204" pitchFamily="34" charset="-122"/>
              </a:rPr>
              <a:t>4</a:t>
            </a:r>
            <a:r>
              <a:rPr lang="zh-CN" altLang="en-US" sz="2400" dirty="0">
                <a:latin typeface="Times New Roman" panose="02020603050405020304" pitchFamily="18" charset="0"/>
                <a:ea typeface="微软雅黑" panose="020B0503020204020204" pitchFamily="34" charset="-122"/>
              </a:rPr>
              <a:t>或</a:t>
            </a:r>
            <a:r>
              <a:rPr lang="en-US" altLang="zh-CN" sz="2400" dirty="0">
                <a:latin typeface="Times New Roman" panose="02020603050405020304" pitchFamily="18" charset="0"/>
                <a:ea typeface="微软雅黑" panose="020B0503020204020204" pitchFamily="34" charset="-122"/>
              </a:rPr>
              <a:t>5</a:t>
            </a:r>
            <a:r>
              <a:rPr lang="zh-CN" altLang="en-US" sz="2400" dirty="0">
                <a:latin typeface="Times New Roman" panose="02020603050405020304" pitchFamily="18" charset="0"/>
                <a:ea typeface="微软雅黑" panose="020B0503020204020204" pitchFamily="34" charset="-122"/>
              </a:rPr>
              <a:t>阶的多项式，需要构造一个上十亿维的特征空间。如何克服这种“</a:t>
            </a:r>
            <a:r>
              <a:rPr lang="zh-CN" altLang="en-US" sz="2400" dirty="0">
                <a:solidFill>
                  <a:srgbClr val="FF0000"/>
                </a:solidFill>
                <a:latin typeface="Times New Roman" panose="02020603050405020304" pitchFamily="18" charset="0"/>
                <a:ea typeface="微软雅黑" panose="020B0503020204020204" pitchFamily="34" charset="-122"/>
              </a:rPr>
              <a:t>维数灾难</a:t>
            </a:r>
            <a:r>
              <a:rPr lang="zh-CN" altLang="en-US" sz="2400" dirty="0">
                <a:latin typeface="Times New Roman" panose="02020603050405020304" pitchFamily="18" charset="0"/>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7571">
                                            <p:txEl>
                                              <p:pRg st="0" end="0"/>
                                            </p:txEl>
                                          </p:spTgt>
                                        </p:tgtEl>
                                        <p:attrNameLst>
                                          <p:attrName>style.visibility</p:attrName>
                                        </p:attrNameLst>
                                      </p:cBhvr>
                                      <p:to>
                                        <p:strVal val="visible"/>
                                      </p:to>
                                    </p:set>
                                    <p:animEffect transition="in" filter="blinds(horizontal)">
                                      <p:cBhvr>
                                        <p:cTn id="7" dur="500"/>
                                        <p:tgtEl>
                                          <p:spTgt spid="877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77571">
                                            <p:txEl>
                                              <p:pRg st="1" end="1"/>
                                            </p:txEl>
                                          </p:spTgt>
                                        </p:tgtEl>
                                        <p:attrNameLst>
                                          <p:attrName>style.visibility</p:attrName>
                                        </p:attrNameLst>
                                      </p:cBhvr>
                                      <p:to>
                                        <p:strVal val="visible"/>
                                      </p:to>
                                    </p:set>
                                    <p:animEffect transition="in" filter="blinds(horizontal)">
                                      <p:cBhvr>
                                        <p:cTn id="12" dur="500"/>
                                        <p:tgtEl>
                                          <p:spTgt spid="8775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77571">
                                            <p:txEl>
                                              <p:pRg st="2" end="2"/>
                                            </p:txEl>
                                          </p:spTgt>
                                        </p:tgtEl>
                                        <p:attrNameLst>
                                          <p:attrName>style.visibility</p:attrName>
                                        </p:attrNameLst>
                                      </p:cBhvr>
                                      <p:to>
                                        <p:strVal val="visible"/>
                                      </p:to>
                                    </p:set>
                                    <p:animEffect transition="in" filter="blinds(horizontal)">
                                      <p:cBhvr>
                                        <p:cTn id="17" dur="500"/>
                                        <p:tgtEl>
                                          <p:spTgt spid="8775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7571" grpId="0" build="p"/>
      <p:bldP spid="4" grpId="0"/>
    </p:bld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8418" name="Rectangle 2"/>
          <p:cNvSpPr>
            <a:spLocks noGrp="1" noChangeArrowheads="1"/>
          </p:cNvSpPr>
          <p:nvPr>
            <p:ph type="title"/>
          </p:nvPr>
        </p:nvSpPr>
        <p:spPr>
          <a:xfrm>
            <a:off x="2246314" y="1270000"/>
            <a:ext cx="7694613" cy="547688"/>
          </a:xfrm>
        </p:spPr>
        <p:txBody>
          <a:bodyPr vert="horz" wrap="square" lIns="91440" tIns="45720" rIns="91440" bIns="45720" numCol="1" anchor="ctr" anchorCtr="0" compatLnSpc="1"/>
          <a:lstStyle/>
          <a:p>
            <a:pPr eaLnBrk="1" hangingPunct="1">
              <a:defRPr/>
            </a:pPr>
            <a:r>
              <a:rPr lang="zh-CN" altLang="en-US" sz="240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高维空间中的最优分类面</a:t>
            </a:r>
          </a:p>
        </p:txBody>
      </p:sp>
      <p:sp>
        <p:nvSpPr>
          <p:cNvPr id="828419" name="Rectangle 3"/>
          <p:cNvSpPr>
            <a:spLocks noGrp="1"/>
          </p:cNvSpPr>
          <p:nvPr>
            <p:ph idx="1"/>
          </p:nvPr>
        </p:nvSpPr>
        <p:spPr>
          <a:xfrm>
            <a:off x="1872616" y="2060575"/>
            <a:ext cx="8471535" cy="4177030"/>
          </a:xfrm>
          <a:ln/>
        </p:spPr>
        <p:txBody>
          <a:bodyPr vert="horz" wrap="square" lIns="91440" tIns="45720" rIns="91440" bIns="45720" anchor="t" anchorCtr="0">
            <a:normAutofit lnSpcReduction="10000"/>
          </a:bodyPr>
          <a:lstStyle/>
          <a:p>
            <a:pPr eaLnBrk="1" hangingPunct="1">
              <a:lnSpc>
                <a:spcPct val="120000"/>
              </a:lnSpc>
            </a:pPr>
            <a:endParaRPr lang="zh-CN" altLang="en-US" sz="3600" b="1" dirty="0">
              <a:latin typeface="Times New Roman" panose="02020603050405020304" pitchFamily="18" charset="0"/>
            </a:endParaRPr>
          </a:p>
          <a:p>
            <a:pPr eaLnBrk="1" hangingPunct="1">
              <a:lnSpc>
                <a:spcPct val="120000"/>
              </a:lnSpc>
            </a:pPr>
            <a:r>
              <a:rPr lang="zh-CN" altLang="en-US" sz="2400" dirty="0">
                <a:latin typeface="Times New Roman" panose="02020603050405020304" pitchFamily="18" charset="0"/>
                <a:ea typeface="微软雅黑" panose="020B0503020204020204" pitchFamily="34" charset="-122"/>
              </a:rPr>
              <a:t>分类函数只涉及到训练样本之间的内积运算 </a:t>
            </a:r>
            <a:r>
              <a:rPr lang="en-US" altLang="zh-CN" sz="2400" dirty="0">
                <a:latin typeface="Times New Roman" panose="02020603050405020304" pitchFamily="18" charset="0"/>
                <a:ea typeface="微软雅黑" panose="020B0503020204020204" pitchFamily="34" charset="-122"/>
              </a:rPr>
              <a:t>&lt;</a:t>
            </a:r>
            <a:r>
              <a:rPr lang="en-US" altLang="zh-CN" sz="2400" i="1" dirty="0" err="1">
                <a:latin typeface="Times New Roman" panose="02020603050405020304" pitchFamily="18" charset="0"/>
                <a:ea typeface="微软雅黑" panose="020B0503020204020204" pitchFamily="34" charset="-122"/>
              </a:rPr>
              <a:t>x</a:t>
            </a:r>
            <a:r>
              <a:rPr lang="en-US" altLang="zh-CN" sz="2400" i="1" baseline="-25000" dirty="0" err="1">
                <a:latin typeface="Times New Roman" panose="02020603050405020304" pitchFamily="18" charset="0"/>
                <a:ea typeface="微软雅黑" panose="020B0503020204020204" pitchFamily="34" charset="-122"/>
              </a:rPr>
              <a:t>i</a:t>
            </a:r>
            <a:r>
              <a:rPr lang="en-US" altLang="zh-CN" sz="2400" dirty="0" err="1">
                <a:latin typeface="Times New Roman" panose="02020603050405020304" pitchFamily="18" charset="0"/>
                <a:ea typeface="微软雅黑" panose="020B0503020204020204" pitchFamily="34" charset="-122"/>
              </a:rPr>
              <a:t>·</a:t>
            </a:r>
            <a:r>
              <a:rPr lang="en-US" altLang="zh-CN" sz="2400" i="1" dirty="0" err="1">
                <a:latin typeface="Times New Roman" panose="02020603050405020304" pitchFamily="18" charset="0"/>
                <a:ea typeface="微软雅黑" panose="020B0503020204020204" pitchFamily="34" charset="-122"/>
              </a:rPr>
              <a:t>x</a:t>
            </a:r>
            <a:r>
              <a:rPr lang="en-US" altLang="zh-CN" sz="2400" i="1" dirty="0">
                <a:latin typeface="Times New Roman" panose="02020603050405020304" pitchFamily="18" charset="0"/>
                <a:ea typeface="微软雅黑" panose="020B0503020204020204" pitchFamily="34" charset="-122"/>
              </a:rPr>
              <a:t>&gt;</a:t>
            </a:r>
            <a:r>
              <a:rPr lang="zh-CN" altLang="en-US" sz="2400" dirty="0">
                <a:latin typeface="Times New Roman" panose="02020603050405020304" pitchFamily="18" charset="0"/>
                <a:ea typeface="微软雅黑" panose="020B0503020204020204" pitchFamily="34" charset="-122"/>
              </a:rPr>
              <a:t>，因此，在高维空间中需进行内积运算 </a:t>
            </a:r>
            <a:r>
              <a:rPr lang="en-US" altLang="zh-CN" sz="2400" dirty="0">
                <a:latin typeface="Times New Roman" panose="02020603050405020304" pitchFamily="18" charset="0"/>
                <a:ea typeface="微软雅黑" panose="020B0503020204020204" pitchFamily="34" charset="-122"/>
              </a:rPr>
              <a:t>&lt;</a:t>
            </a:r>
            <a:r>
              <a:rPr lang="el-GR" altLang="zh-CN" sz="2400" dirty="0">
                <a:latin typeface="Times New Roman" panose="02020603050405020304" pitchFamily="18" charset="0"/>
                <a:ea typeface="微软雅黑" panose="020B0503020204020204" pitchFamily="34" charset="-122"/>
              </a:rPr>
              <a:t>Φ</a:t>
            </a:r>
            <a:r>
              <a:rPr lang="en-US" altLang="zh-CN" sz="2400" dirty="0">
                <a:latin typeface="Times New Roman" panose="02020603050405020304" pitchFamily="18" charset="0"/>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rPr>
              <a:t>x</a:t>
            </a:r>
            <a:r>
              <a:rPr lang="en-US" altLang="zh-CN" sz="2400" i="1" baseline="-25000" dirty="0">
                <a:latin typeface="Times New Roman" panose="02020603050405020304" pitchFamily="18" charset="0"/>
                <a:ea typeface="微软雅黑" panose="020B0503020204020204" pitchFamily="34" charset="-122"/>
              </a:rPr>
              <a:t>i</a:t>
            </a:r>
            <a:r>
              <a:rPr lang="en-US" altLang="zh-CN" sz="2400" dirty="0">
                <a:latin typeface="Times New Roman" panose="02020603050405020304" pitchFamily="18" charset="0"/>
                <a:ea typeface="微软雅黑" panose="020B0503020204020204" pitchFamily="34" charset="-122"/>
              </a:rPr>
              <a:t>) ·</a:t>
            </a:r>
            <a:r>
              <a:rPr lang="el-GR" altLang="zh-CN" sz="2400" dirty="0">
                <a:latin typeface="Times New Roman" panose="02020603050405020304" pitchFamily="18" charset="0"/>
                <a:ea typeface="微软雅黑" panose="020B0503020204020204" pitchFamily="34" charset="-122"/>
              </a:rPr>
              <a:t> Φ</a:t>
            </a:r>
            <a:r>
              <a:rPr lang="en-US" altLang="zh-CN" sz="2400" dirty="0">
                <a:latin typeface="Times New Roman" panose="02020603050405020304" pitchFamily="18" charset="0"/>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rPr>
              <a:t>x</a:t>
            </a:r>
            <a:r>
              <a:rPr lang="en-US" altLang="zh-CN" sz="2400" dirty="0">
                <a:latin typeface="Times New Roman" panose="02020603050405020304" pitchFamily="18" charset="0"/>
                <a:ea typeface="微软雅黑" panose="020B0503020204020204" pitchFamily="34" charset="-122"/>
              </a:rPr>
              <a:t>)&gt;</a:t>
            </a:r>
            <a:endParaRPr lang="zh-CN" altLang="en-US" sz="2400" dirty="0">
              <a:latin typeface="Times New Roman" panose="02020603050405020304" pitchFamily="18" charset="0"/>
              <a:ea typeface="微软雅黑" panose="020B0503020204020204" pitchFamily="34" charset="-122"/>
            </a:endParaRPr>
          </a:p>
          <a:p>
            <a:pPr eaLnBrk="1" hangingPunct="1">
              <a:lnSpc>
                <a:spcPct val="120000"/>
              </a:lnSpc>
            </a:pPr>
            <a:r>
              <a:rPr lang="zh-CN" altLang="en-US" sz="2400" dirty="0">
                <a:latin typeface="Times New Roman" panose="02020603050405020304" pitchFamily="18" charset="0"/>
                <a:ea typeface="微软雅黑" panose="020B0503020204020204" pitchFamily="34" charset="-122"/>
              </a:rPr>
              <a:t>否能有这样一种函数</a:t>
            </a:r>
            <a:r>
              <a:rPr lang="en-US" altLang="zh-CN" sz="2400" dirty="0">
                <a:latin typeface="Times New Roman" panose="02020603050405020304" pitchFamily="18" charset="0"/>
                <a:ea typeface="微软雅黑" panose="020B0503020204020204" pitchFamily="34" charset="-122"/>
              </a:rPr>
              <a:t>K(</a:t>
            </a:r>
            <a:r>
              <a:rPr lang="en-US" altLang="zh-CN" sz="2400" i="1" dirty="0" err="1">
                <a:latin typeface="Times New Roman" panose="02020603050405020304" pitchFamily="18" charset="0"/>
                <a:ea typeface="微软雅黑" panose="020B0503020204020204" pitchFamily="34" charset="-122"/>
              </a:rPr>
              <a:t>x</a:t>
            </a:r>
            <a:r>
              <a:rPr lang="en-US" altLang="zh-CN" sz="2400" i="1" baseline="-25000" dirty="0" err="1">
                <a:latin typeface="Times New Roman" panose="02020603050405020304" pitchFamily="18" charset="0"/>
                <a:ea typeface="微软雅黑" panose="020B0503020204020204" pitchFamily="34" charset="-122"/>
              </a:rPr>
              <a:t>i</a:t>
            </a:r>
            <a:r>
              <a:rPr lang="en-US" altLang="zh-CN" sz="2400" dirty="0" err="1">
                <a:latin typeface="Times New Roman" panose="02020603050405020304" pitchFamily="18" charset="0"/>
                <a:ea typeface="微软雅黑" panose="020B0503020204020204" pitchFamily="34" charset="-122"/>
              </a:rPr>
              <a:t>,x</a:t>
            </a:r>
            <a:r>
              <a:rPr lang="en-US" altLang="zh-CN" sz="2400" dirty="0">
                <a:latin typeface="Times New Roman" panose="02020603050405020304" pitchFamily="18" charset="0"/>
                <a:ea typeface="微软雅黑" panose="020B0503020204020204" pitchFamily="34" charset="-122"/>
              </a:rPr>
              <a:t>)</a:t>
            </a:r>
            <a:r>
              <a:rPr lang="zh-CN" altLang="en-US" sz="2400" dirty="0">
                <a:latin typeface="Times New Roman" panose="02020603050405020304" pitchFamily="18" charset="0"/>
                <a:ea typeface="微软雅黑" panose="020B0503020204020204" pitchFamily="34" charset="-122"/>
              </a:rPr>
              <a:t>，使得</a:t>
            </a:r>
          </a:p>
          <a:p>
            <a:pPr algn="ctr" eaLnBrk="1" hangingPunct="1">
              <a:lnSpc>
                <a:spcPct val="120000"/>
              </a:lnSpc>
              <a:buNone/>
            </a:pPr>
            <a:r>
              <a:rPr lang="en-US" altLang="zh-CN" sz="2400" dirty="0">
                <a:latin typeface="Times New Roman" panose="02020603050405020304" pitchFamily="18" charset="0"/>
                <a:ea typeface="微软雅黑" panose="020B0503020204020204" pitchFamily="34" charset="-122"/>
              </a:rPr>
              <a:t>K(</a:t>
            </a:r>
            <a:r>
              <a:rPr lang="en-US" altLang="zh-CN" sz="2400" i="1" dirty="0" err="1">
                <a:latin typeface="Times New Roman" panose="02020603050405020304" pitchFamily="18" charset="0"/>
                <a:ea typeface="微软雅黑" panose="020B0503020204020204" pitchFamily="34" charset="-122"/>
              </a:rPr>
              <a:t>x</a:t>
            </a:r>
            <a:r>
              <a:rPr lang="en-US" altLang="zh-CN" sz="2400" i="1" baseline="-25000" dirty="0" err="1">
                <a:latin typeface="Times New Roman" panose="02020603050405020304" pitchFamily="18" charset="0"/>
                <a:ea typeface="微软雅黑" panose="020B0503020204020204" pitchFamily="34" charset="-122"/>
              </a:rPr>
              <a:t>i</a:t>
            </a:r>
            <a:r>
              <a:rPr lang="en-US" altLang="zh-CN" sz="2400" dirty="0" err="1">
                <a:latin typeface="Times New Roman" panose="02020603050405020304" pitchFamily="18" charset="0"/>
                <a:ea typeface="微软雅黑" panose="020B0503020204020204" pitchFamily="34" charset="-122"/>
              </a:rPr>
              <a:t>,x</a:t>
            </a:r>
            <a:r>
              <a:rPr lang="en-US" altLang="zh-CN"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sym typeface="Wingdings" panose="05000000000000000000" pitchFamily="2" charset="2"/>
              </a:rPr>
              <a:t></a:t>
            </a:r>
            <a:r>
              <a:rPr lang="en-US" altLang="zh-CN" sz="2400" dirty="0">
                <a:latin typeface="Times New Roman" panose="02020603050405020304" pitchFamily="18" charset="0"/>
                <a:ea typeface="微软雅黑" panose="020B0503020204020204" pitchFamily="34" charset="-122"/>
              </a:rPr>
              <a:t> &lt;</a:t>
            </a:r>
            <a:r>
              <a:rPr lang="el-GR" altLang="zh-CN" sz="2400" dirty="0">
                <a:latin typeface="Times New Roman" panose="02020603050405020304" pitchFamily="18" charset="0"/>
                <a:ea typeface="微软雅黑" panose="020B0503020204020204" pitchFamily="34" charset="-122"/>
              </a:rPr>
              <a:t>Φ</a:t>
            </a:r>
            <a:r>
              <a:rPr lang="en-US" altLang="zh-CN" sz="2400" dirty="0">
                <a:latin typeface="Times New Roman" panose="02020603050405020304" pitchFamily="18" charset="0"/>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rPr>
              <a:t>x</a:t>
            </a:r>
            <a:r>
              <a:rPr lang="en-US" altLang="zh-CN" sz="2400" i="1" baseline="-25000" dirty="0">
                <a:latin typeface="Times New Roman" panose="02020603050405020304" pitchFamily="18" charset="0"/>
                <a:ea typeface="微软雅黑" panose="020B0503020204020204" pitchFamily="34" charset="-122"/>
              </a:rPr>
              <a:t>i</a:t>
            </a:r>
            <a:r>
              <a:rPr lang="en-US" altLang="zh-CN" sz="2400" dirty="0">
                <a:latin typeface="Times New Roman" panose="02020603050405020304" pitchFamily="18" charset="0"/>
                <a:ea typeface="微软雅黑" panose="020B0503020204020204" pitchFamily="34" charset="-122"/>
              </a:rPr>
              <a:t>) ·</a:t>
            </a:r>
            <a:r>
              <a:rPr lang="el-GR" altLang="zh-CN" sz="2400" dirty="0">
                <a:latin typeface="Times New Roman" panose="02020603050405020304" pitchFamily="18" charset="0"/>
                <a:ea typeface="微软雅黑" panose="020B0503020204020204" pitchFamily="34" charset="-122"/>
              </a:rPr>
              <a:t> Φ</a:t>
            </a:r>
            <a:r>
              <a:rPr lang="en-US" altLang="zh-CN" sz="2400" dirty="0">
                <a:latin typeface="Times New Roman" panose="02020603050405020304" pitchFamily="18" charset="0"/>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rPr>
              <a:t>x</a:t>
            </a:r>
            <a:r>
              <a:rPr lang="en-US" altLang="zh-CN" sz="2400" dirty="0">
                <a:latin typeface="Times New Roman" panose="02020603050405020304" pitchFamily="18" charset="0"/>
                <a:ea typeface="微软雅黑" panose="020B0503020204020204" pitchFamily="34" charset="-122"/>
              </a:rPr>
              <a:t>)&gt;</a:t>
            </a:r>
            <a:endParaRPr lang="zh-CN" altLang="en-US" sz="2400" dirty="0">
              <a:latin typeface="Times New Roman" panose="02020603050405020304" pitchFamily="18" charset="0"/>
              <a:ea typeface="微软雅黑" panose="020B0503020204020204" pitchFamily="34" charset="-122"/>
            </a:endParaRPr>
          </a:p>
          <a:p>
            <a:pPr eaLnBrk="1" hangingPunct="1">
              <a:lnSpc>
                <a:spcPct val="120000"/>
              </a:lnSpc>
            </a:pPr>
            <a:r>
              <a:rPr lang="zh-CN" altLang="en-US" sz="2400" dirty="0">
                <a:latin typeface="Times New Roman" panose="02020603050405020304" pitchFamily="18" charset="0"/>
                <a:ea typeface="微软雅黑" panose="020B0503020204020204" pitchFamily="34" charset="-122"/>
              </a:rPr>
              <a:t>万幸的是，这种函数存在，我们称之为</a:t>
            </a:r>
            <a:r>
              <a:rPr lang="zh-CN" altLang="en-US" sz="2400" u="sng" dirty="0">
                <a:solidFill>
                  <a:srgbClr val="FF3300"/>
                </a:solidFill>
                <a:latin typeface="Times New Roman" panose="02020603050405020304" pitchFamily="18" charset="0"/>
                <a:ea typeface="微软雅黑" panose="020B0503020204020204" pitchFamily="34" charset="-122"/>
              </a:rPr>
              <a:t>核函数</a:t>
            </a:r>
          </a:p>
          <a:p>
            <a:pPr eaLnBrk="1" hangingPunct="1">
              <a:lnSpc>
                <a:spcPct val="120000"/>
              </a:lnSpc>
            </a:pPr>
            <a:r>
              <a:rPr lang="en-US" altLang="zh-CN" sz="2400" dirty="0">
                <a:latin typeface="Times New Roman" panose="02020603050405020304" pitchFamily="18" charset="0"/>
                <a:ea typeface="微软雅黑" panose="020B0503020204020204" pitchFamily="34" charset="-122"/>
              </a:rPr>
              <a:t>SLT</a:t>
            </a:r>
            <a:r>
              <a:rPr lang="zh-CN" altLang="en-US" sz="2400" dirty="0">
                <a:latin typeface="Times New Roman" panose="02020603050405020304" pitchFamily="18" charset="0"/>
                <a:ea typeface="微软雅黑" panose="020B0503020204020204" pitchFamily="34" charset="-122"/>
              </a:rPr>
              <a:t>指出，根据</a:t>
            </a:r>
            <a:r>
              <a:rPr lang="en-US" altLang="zh-CN" sz="2400" dirty="0">
                <a:latin typeface="Times New Roman" panose="02020603050405020304" pitchFamily="18" charset="0"/>
                <a:ea typeface="微软雅黑" panose="020B0503020204020204" pitchFamily="34" charset="-122"/>
              </a:rPr>
              <a:t>Hibert-Schmidt</a:t>
            </a:r>
            <a:r>
              <a:rPr lang="zh-CN" altLang="en-US" sz="2400" dirty="0">
                <a:latin typeface="Times New Roman" panose="02020603050405020304" pitchFamily="18" charset="0"/>
                <a:ea typeface="微软雅黑" panose="020B0503020204020204" pitchFamily="34" charset="-122"/>
              </a:rPr>
              <a:t>原理，满足</a:t>
            </a:r>
            <a:r>
              <a:rPr lang="en-US" altLang="zh-CN" sz="2400" dirty="0">
                <a:latin typeface="Times New Roman" panose="02020603050405020304" pitchFamily="18" charset="0"/>
                <a:ea typeface="微软雅黑" panose="020B0503020204020204" pitchFamily="34" charset="-122"/>
              </a:rPr>
              <a:t>Mercer</a:t>
            </a:r>
            <a:r>
              <a:rPr lang="zh-CN" altLang="en-US" sz="2400" dirty="0">
                <a:latin typeface="Times New Roman" panose="02020603050405020304" pitchFamily="18" charset="0"/>
                <a:ea typeface="微软雅黑" panose="020B0503020204020204" pitchFamily="34" charset="-122"/>
              </a:rPr>
              <a:t>条件（对称半正定）的函数都可以作为核函数，甚至不必知道变换。</a:t>
            </a:r>
          </a:p>
        </p:txBody>
      </p:sp>
      <p:pic>
        <p:nvPicPr>
          <p:cNvPr id="124932" name="Picture 4"/>
          <p:cNvPicPr>
            <a:picLocks noChangeAspect="1"/>
          </p:cNvPicPr>
          <p:nvPr/>
        </p:nvPicPr>
        <p:blipFill>
          <a:blip r:embed="rId2"/>
          <a:stretch>
            <a:fillRect/>
          </a:stretch>
        </p:blipFill>
        <p:spPr>
          <a:xfrm>
            <a:off x="3214689" y="1898650"/>
            <a:ext cx="6408737" cy="800100"/>
          </a:xfrm>
          <a:prstGeom prst="rect">
            <a:avLst/>
          </a:prstGeom>
          <a:noFill/>
          <a:ln w="9525">
            <a:noFill/>
          </a:ln>
        </p:spPr>
      </p:pic>
      <p:sp>
        <p:nvSpPr>
          <p:cNvPr id="5" name="Rectangle 2"/>
          <p:cNvSpPr txBox="1">
            <a:spLocks noChangeArrowheads="1"/>
          </p:cNvSpPr>
          <p:nvPr/>
        </p:nvSpPr>
        <p:spPr bwMode="auto">
          <a:xfrm>
            <a:off x="2208213" y="198438"/>
            <a:ext cx="77724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eaLnBrk="1" latinLnBrk="1" hangingPunct="1">
              <a:defRPr sz="3200" b="1">
                <a:effectLst>
                  <a:outerShdw blurRad="38100" dist="38100" dir="2700000" algn="tl">
                    <a:srgbClr val="C0C0C0"/>
                  </a:outerShdw>
                </a:effectLst>
                <a:latin typeface="微软雅黑" panose="020B0503020204020204" pitchFamily="34" charset="-122"/>
                <a:ea typeface="微软雅黑" panose="020B0503020204020204" pitchFamily="34" charset="-122"/>
                <a:cs typeface="+mj-cs"/>
              </a:defRPr>
            </a:lvl1pPr>
            <a:lvl2pPr latinLnBrk="1">
              <a:defRPr sz="4000">
                <a:solidFill>
                  <a:srgbClr val="0033CC"/>
                </a:solidFill>
                <a:latin typeface="宋体" panose="02010600030101010101" pitchFamily="2" charset="-122"/>
                <a:ea typeface="宋体" panose="02010600030101010101" pitchFamily="2" charset="-122"/>
              </a:defRPr>
            </a:lvl2pPr>
            <a:lvl3pPr latinLnBrk="1">
              <a:defRPr sz="4000">
                <a:solidFill>
                  <a:srgbClr val="0033CC"/>
                </a:solidFill>
                <a:latin typeface="宋体" panose="02010600030101010101" pitchFamily="2" charset="-122"/>
                <a:ea typeface="宋体" panose="02010600030101010101" pitchFamily="2" charset="-122"/>
              </a:defRPr>
            </a:lvl3pPr>
            <a:lvl4pPr latinLnBrk="1">
              <a:defRPr sz="4000">
                <a:solidFill>
                  <a:srgbClr val="0033CC"/>
                </a:solidFill>
                <a:latin typeface="宋体" panose="02010600030101010101" pitchFamily="2" charset="-122"/>
                <a:ea typeface="宋体" panose="02010600030101010101" pitchFamily="2" charset="-122"/>
              </a:defRPr>
            </a:lvl4pPr>
            <a:lvl5pPr latinLnBrk="1">
              <a:defRPr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sz="4000">
                <a:solidFill>
                  <a:srgbClr val="0033CC"/>
                </a:solidFill>
                <a:latin typeface="宋体" panose="02010600030101010101" pitchFamily="2" charset="-122"/>
                <a:ea typeface="宋体" panose="02010600030101010101" pitchFamily="2" charset="-122"/>
              </a:defRPr>
            </a:lvl9pPr>
          </a:lstStyle>
          <a:p>
            <a:pPr>
              <a:defRPr/>
            </a:pPr>
            <a:r>
              <a:rPr kumimoji="1" lang="en-US" altLang="zh-CN" dirty="0" err="1"/>
              <a:t>SVM</a:t>
            </a:r>
            <a:r>
              <a:rPr kumimoji="1" lang="en-US" altLang="zh-CN" dirty="0"/>
              <a:t> ---</a:t>
            </a:r>
            <a:r>
              <a:rPr kumimoji="1" lang="zh-CN" altLang="en-US" dirty="0"/>
              <a:t>非线性问题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8419">
                                            <p:txEl>
                                              <p:pRg st="2" end="2"/>
                                            </p:txEl>
                                          </p:spTgt>
                                        </p:tgtEl>
                                        <p:attrNameLst>
                                          <p:attrName>style.visibility</p:attrName>
                                        </p:attrNameLst>
                                      </p:cBhvr>
                                      <p:to>
                                        <p:strVal val="visible"/>
                                      </p:to>
                                    </p:set>
                                    <p:animEffect transition="in" filter="blinds(horizontal)">
                                      <p:cBhvr>
                                        <p:cTn id="7" dur="500"/>
                                        <p:tgtEl>
                                          <p:spTgt spid="82841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28419">
                                            <p:txEl>
                                              <p:pRg st="3" end="3"/>
                                            </p:txEl>
                                          </p:spTgt>
                                        </p:tgtEl>
                                        <p:attrNameLst>
                                          <p:attrName>style.visibility</p:attrName>
                                        </p:attrNameLst>
                                      </p:cBhvr>
                                      <p:to>
                                        <p:strVal val="visible"/>
                                      </p:to>
                                    </p:set>
                                    <p:animEffect transition="in" filter="blinds(horizontal)">
                                      <p:cBhvr>
                                        <p:cTn id="10" dur="500"/>
                                        <p:tgtEl>
                                          <p:spTgt spid="828419">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828419">
                                            <p:txEl>
                                              <p:pRg st="4" end="4"/>
                                            </p:txEl>
                                          </p:spTgt>
                                        </p:tgtEl>
                                        <p:attrNameLst>
                                          <p:attrName>style.visibility</p:attrName>
                                        </p:attrNameLst>
                                      </p:cBhvr>
                                      <p:to>
                                        <p:strVal val="visible"/>
                                      </p:to>
                                    </p:set>
                                    <p:animEffect transition="in" filter="blinds(horizontal)">
                                      <p:cBhvr>
                                        <p:cTn id="15" dur="500"/>
                                        <p:tgtEl>
                                          <p:spTgt spid="828419">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828419">
                                            <p:txEl>
                                              <p:pRg st="5" end="5"/>
                                            </p:txEl>
                                          </p:spTgt>
                                        </p:tgtEl>
                                        <p:attrNameLst>
                                          <p:attrName>style.visibility</p:attrName>
                                        </p:attrNameLst>
                                      </p:cBhvr>
                                      <p:to>
                                        <p:strVal val="visible"/>
                                      </p:to>
                                    </p:set>
                                    <p:animEffect transition="in" filter="blinds(horizontal)">
                                      <p:cBhvr>
                                        <p:cTn id="20" dur="500"/>
                                        <p:tgtEl>
                                          <p:spTgt spid="828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0466" name="Rectangle 2"/>
          <p:cNvSpPr>
            <a:spLocks noGrp="1" noChangeArrowheads="1"/>
          </p:cNvSpPr>
          <p:nvPr>
            <p:ph type="title"/>
          </p:nvPr>
        </p:nvSpPr>
        <p:spPr>
          <a:xfrm>
            <a:off x="2196306" y="188640"/>
            <a:ext cx="7772400" cy="731838"/>
          </a:xfrm>
        </p:spPr>
        <p:txBody>
          <a:bodyPr vert="horz" wrap="square" lIns="91440" tIns="45720" rIns="91440" bIns="45720" numCol="1" anchor="ctr" anchorCtr="0" compatLnSpc="1"/>
          <a:lstStyle/>
          <a:p>
            <a:pPr algn="ctr" eaLnBrk="1" hangingPunct="1">
              <a:defRPr/>
            </a:pPr>
            <a:r>
              <a:rPr lang="zh-CN" altLang="en-US"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支持向量机</a:t>
            </a:r>
          </a:p>
        </p:txBody>
      </p:sp>
      <p:sp>
        <p:nvSpPr>
          <p:cNvPr id="125955" name="Rectangle 3"/>
          <p:cNvSpPr>
            <a:spLocks noGrp="1"/>
          </p:cNvSpPr>
          <p:nvPr>
            <p:ph type="body" sz="half" idx="1"/>
          </p:nvPr>
        </p:nvSpPr>
        <p:spPr>
          <a:xfrm>
            <a:off x="2072340" y="1052736"/>
            <a:ext cx="7600950" cy="4303712"/>
          </a:xfrm>
          <a:ln/>
        </p:spPr>
        <p:txBody>
          <a:bodyPr vert="horz" wrap="square" lIns="91440" tIns="45720" rIns="91440" bIns="45720" anchor="t" anchorCtr="0"/>
          <a:lstStyle/>
          <a:p>
            <a:pPr eaLnBrk="1" hangingPunct="1">
              <a:buClrTx/>
              <a:buSzTx/>
              <a:buFontTx/>
            </a:pPr>
            <a:r>
              <a:rPr lang="zh-CN" altLang="en-US" sz="2400" dirty="0">
                <a:latin typeface="微软雅黑" panose="020B0503020204020204" pitchFamily="34" charset="-122"/>
                <a:ea typeface="微软雅黑" panose="020B0503020204020204" pitchFamily="34" charset="-122"/>
              </a:rPr>
              <a:t>在最优分类面中采用适当的</a:t>
            </a:r>
            <a:r>
              <a:rPr lang="zh-CN" altLang="en-US" sz="2400" dirty="0">
                <a:solidFill>
                  <a:srgbClr val="FF3300"/>
                </a:solidFill>
                <a:latin typeface="微软雅黑" panose="020B0503020204020204" pitchFamily="34" charset="-122"/>
                <a:ea typeface="微软雅黑" panose="020B0503020204020204" pitchFamily="34" charset="-122"/>
              </a:rPr>
              <a:t>内积函数</a:t>
            </a:r>
            <a:r>
              <a:rPr lang="zh-CN" altLang="en-US" sz="2400" dirty="0">
                <a:latin typeface="微软雅黑" panose="020B0503020204020204" pitchFamily="34" charset="-122"/>
                <a:ea typeface="微软雅黑" panose="020B0503020204020204" pitchFamily="34" charset="-122"/>
              </a:rPr>
              <a:t>就可以实现某一非线性变换后的线性分类</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而计算复杂度却没有增加。</a:t>
            </a:r>
          </a:p>
          <a:p>
            <a:pPr eaLnBrk="1" hangingPunct="1">
              <a:buClrTx/>
              <a:buSzTx/>
              <a:buFontTx/>
            </a:pPr>
            <a:endParaRPr lang="en-US" altLang="zh-CN" sz="2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3184772" y="1844825"/>
                <a:ext cx="5435399" cy="1176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r>
                        <a:rPr lang="en-US" altLang="zh-CN" i="1">
                          <a:latin typeface="Cambria Math" panose="02040503050406030204" pitchFamily="18" charset="0"/>
                        </a:rPr>
                        <m:t>𝑠𝑔𝑛</m:t>
                      </m:r>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𝑛</m:t>
                          </m:r>
                        </m:sup>
                        <m:e>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𝛼</m:t>
                              </m:r>
                            </m:e>
                            <m:sub>
                              <m:r>
                                <a:rPr lang="en-US" altLang="zh-CN" i="1">
                                  <a:latin typeface="Cambria Math" panose="02040503050406030204" pitchFamily="18" charset="0"/>
                                </a:rPr>
                                <m:t>𝑖</m:t>
                              </m:r>
                            </m:sub>
                            <m:sup>
                              <m:r>
                                <a:rPr lang="en-US" altLang="zh-CN" i="1">
                                  <a:latin typeface="Cambria Math" panose="02040503050406030204" pitchFamily="18" charset="0"/>
                                </a:rPr>
                                <m:t>∗</m:t>
                              </m:r>
                            </m:sup>
                          </m:sSubSup>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i="1">
                              <a:latin typeface="Cambria Math" panose="02040503050406030204" pitchFamily="18" charset="0"/>
                            </a:rPr>
                            <m:t>𝐾</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𝑥</m:t>
                              </m: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𝑏</m:t>
                              </m:r>
                            </m:e>
                            <m:sup>
                              <m:r>
                                <a:rPr lang="en-US" altLang="zh-CN" i="1">
                                  <a:latin typeface="Cambria Math" panose="02040503050406030204" pitchFamily="18" charset="0"/>
                                </a:rPr>
                                <m:t>∗</m:t>
                              </m:r>
                            </m:sup>
                          </m:sSup>
                          <m:r>
                            <a:rPr lang="en-US" altLang="zh-CN" i="1">
                              <a:latin typeface="Cambria Math" panose="02040503050406030204" pitchFamily="18" charset="0"/>
                            </a:rPr>
                            <m:t>)</m:t>
                          </m:r>
                        </m:e>
                      </m:nary>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1660771" y="1844824"/>
                <a:ext cx="5376087" cy="1176219"/>
              </a:xfrm>
              <a:prstGeom prst="rect">
                <a:avLst/>
              </a:prstGeom>
              <a:blipFill rotWithShape="0">
                <a:blip r:embed="rId3"/>
                <a:stretch>
                  <a:fillRect/>
                </a:stretch>
              </a:blipFill>
            </p:spPr>
            <p:txBody>
              <a:bodyPr/>
              <a:lstStyle/>
              <a:p>
                <a:r>
                  <a:rPr lang="zh-CN" altLang="en-US">
                    <a:noFill/>
                  </a:rPr>
                  <a:t> </a:t>
                </a:r>
              </a:p>
            </p:txBody>
          </p:sp>
        </mc:Fallback>
      </mc:AlternateContent>
      <p:sp>
        <p:nvSpPr>
          <p:cNvPr id="7" name="Rectangle 3"/>
          <p:cNvSpPr/>
          <p:nvPr/>
        </p:nvSpPr>
        <p:spPr>
          <a:xfrm>
            <a:off x="2229867" y="3606861"/>
            <a:ext cx="7561262" cy="2803901"/>
          </a:xfrm>
          <a:prstGeom prst="rect">
            <a:avLst/>
          </a:prstGeom>
          <a:noFill/>
          <a:ln w="9525">
            <a:noFill/>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eaLnBrk="1" hangingPunct="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多项式内核</a:t>
            </a:r>
          </a:p>
          <a:p>
            <a:pPr eaLnBrk="1" hangingPunct="1"/>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径向基函数内核</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RBF</a:t>
            </a:r>
          </a:p>
          <a:p>
            <a:pPr eaLnBrk="1" hangingPunct="1"/>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endParaRPr lang="en-US" altLang="zh-CN" sz="1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rPr>
              <a:t>Sigmoind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内核</a:t>
            </a:r>
          </a:p>
        </p:txBody>
      </p:sp>
      <p:sp>
        <p:nvSpPr>
          <p:cNvPr id="8" name="Text Box 7"/>
          <p:cNvSpPr txBox="1"/>
          <p:nvPr/>
        </p:nvSpPr>
        <p:spPr>
          <a:xfrm>
            <a:off x="2445751" y="3048220"/>
            <a:ext cx="8027988" cy="461645"/>
          </a:xfrm>
          <a:prstGeom prst="rect">
            <a:avLst/>
          </a:prstGeom>
          <a:noFill/>
          <a:ln w="9525">
            <a:noFill/>
          </a:ln>
        </p:spPr>
        <p:txBody>
          <a:bodyPr lIns="90000" tIns="46800" rIns="90000" bIns="46800">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latinLnBrk="0" hangingPunct="1">
              <a:spcBef>
                <a:spcPct val="50000"/>
              </a:spcBef>
              <a:buNone/>
            </a:pPr>
            <a:r>
              <a:rPr lang="zh-CN" altLang="en-US" sz="2400" dirty="0">
                <a:latin typeface="微软雅黑" panose="020B0503020204020204" pitchFamily="34" charset="-122"/>
                <a:ea typeface="微软雅黑" panose="020B0503020204020204" pitchFamily="34" charset="-122"/>
              </a:rPr>
              <a:t>目前研究最多的核函数主要有三类：</a:t>
            </a:r>
          </a:p>
        </p:txBody>
      </p:sp>
      <p:graphicFrame>
        <p:nvGraphicFramePr>
          <p:cNvPr id="9" name="Object 4"/>
          <p:cNvGraphicFramePr>
            <a:graphicFrameLocks noChangeAspect="1"/>
          </p:cNvGraphicFramePr>
          <p:nvPr>
            <p:extLst>
              <p:ext uri="{D42A27DB-BD31-4B8C-83A1-F6EECF244321}">
                <p14:modId xmlns:p14="http://schemas.microsoft.com/office/powerpoint/2010/main" val="1779625876"/>
              </p:ext>
            </p:extLst>
          </p:nvPr>
        </p:nvGraphicFramePr>
        <p:xfrm>
          <a:off x="5547902" y="3606860"/>
          <a:ext cx="2841625" cy="487362"/>
        </p:xfrm>
        <a:graphic>
          <a:graphicData uri="http://schemas.openxmlformats.org/presentationml/2006/ole">
            <mc:AlternateContent xmlns:mc="http://schemas.openxmlformats.org/markup-compatibility/2006">
              <mc:Choice xmlns:v="urn:schemas-microsoft-com:vml" Requires="v">
                <p:oleObj r:id="rId4" imgW="1397000" imgH="241300" progId="Equation.DSMT4">
                  <p:embed/>
                </p:oleObj>
              </mc:Choice>
              <mc:Fallback>
                <p:oleObj r:id="rId4" imgW="1397000" imgH="241300" progId="Equation.DSMT4">
                  <p:embed/>
                  <p:pic>
                    <p:nvPicPr>
                      <p:cNvPr id="0" name=""/>
                      <p:cNvPicPr/>
                      <p:nvPr/>
                    </p:nvPicPr>
                    <p:blipFill>
                      <a:blip r:embed="rId5"/>
                      <a:stretch>
                        <a:fillRect/>
                      </a:stretch>
                    </p:blipFill>
                    <p:spPr>
                      <a:xfrm>
                        <a:off x="5547902" y="3606860"/>
                        <a:ext cx="2841625" cy="487362"/>
                      </a:xfrm>
                      <a:prstGeom prst="rect">
                        <a:avLst/>
                      </a:prstGeom>
                      <a:noFill/>
                      <a:ln w="38100">
                        <a:noFill/>
                        <a:miter/>
                      </a:ln>
                    </p:spPr>
                  </p:pic>
                </p:oleObj>
              </mc:Fallback>
            </mc:AlternateContent>
          </a:graphicData>
        </a:graphic>
      </p:graphicFrame>
      <p:graphicFrame>
        <p:nvGraphicFramePr>
          <p:cNvPr id="10" name="Object 5"/>
          <p:cNvGraphicFramePr>
            <a:graphicFrameLocks noChangeAspect="1"/>
          </p:cNvGraphicFramePr>
          <p:nvPr>
            <p:extLst>
              <p:ext uri="{D42A27DB-BD31-4B8C-83A1-F6EECF244321}">
                <p14:modId xmlns:p14="http://schemas.microsoft.com/office/powerpoint/2010/main" val="4171906092"/>
              </p:ext>
            </p:extLst>
          </p:nvPr>
        </p:nvGraphicFramePr>
        <p:xfrm>
          <a:off x="5771738" y="4267099"/>
          <a:ext cx="3232150" cy="825500"/>
        </p:xfrm>
        <a:graphic>
          <a:graphicData uri="http://schemas.openxmlformats.org/presentationml/2006/ole">
            <mc:AlternateContent xmlns:mc="http://schemas.openxmlformats.org/markup-compatibility/2006">
              <mc:Choice xmlns:v="urn:schemas-microsoft-com:vml" Requires="v">
                <p:oleObj r:id="rId6" imgW="1638300" imgH="419100" progId="Equation.DSMT4">
                  <p:embed/>
                </p:oleObj>
              </mc:Choice>
              <mc:Fallback>
                <p:oleObj r:id="rId6" imgW="1638300" imgH="419100" progId="Equation.DSMT4">
                  <p:embed/>
                  <p:pic>
                    <p:nvPicPr>
                      <p:cNvPr id="0" name=""/>
                      <p:cNvPicPr/>
                      <p:nvPr/>
                    </p:nvPicPr>
                    <p:blipFill>
                      <a:blip r:embed="rId7"/>
                      <a:stretch>
                        <a:fillRect/>
                      </a:stretch>
                    </p:blipFill>
                    <p:spPr>
                      <a:xfrm>
                        <a:off x="5771738" y="4267099"/>
                        <a:ext cx="3232150" cy="825500"/>
                      </a:xfrm>
                      <a:prstGeom prst="rect">
                        <a:avLst/>
                      </a:prstGeom>
                      <a:noFill/>
                      <a:ln w="38100">
                        <a:noFill/>
                        <a:miter/>
                      </a:ln>
                    </p:spPr>
                  </p:pic>
                </p:oleObj>
              </mc:Fallback>
            </mc:AlternateContent>
          </a:graphicData>
        </a:graphic>
      </p:graphicFrame>
      <p:graphicFrame>
        <p:nvGraphicFramePr>
          <p:cNvPr id="11" name="Object 6"/>
          <p:cNvGraphicFramePr>
            <a:graphicFrameLocks noChangeAspect="1"/>
          </p:cNvGraphicFramePr>
          <p:nvPr>
            <p:extLst>
              <p:ext uri="{D42A27DB-BD31-4B8C-83A1-F6EECF244321}">
                <p14:modId xmlns:p14="http://schemas.microsoft.com/office/powerpoint/2010/main" val="701859354"/>
              </p:ext>
            </p:extLst>
          </p:nvPr>
        </p:nvGraphicFramePr>
        <p:xfrm>
          <a:off x="5389802" y="5598362"/>
          <a:ext cx="3600450" cy="479425"/>
        </p:xfrm>
        <a:graphic>
          <a:graphicData uri="http://schemas.openxmlformats.org/presentationml/2006/ole">
            <mc:AlternateContent xmlns:mc="http://schemas.openxmlformats.org/markup-compatibility/2006">
              <mc:Choice xmlns:v="urn:schemas-microsoft-com:vml" Requires="v">
                <p:oleObj r:id="rId8" imgW="1714500" imgH="228600" progId="Equation.DSMT4">
                  <p:embed/>
                </p:oleObj>
              </mc:Choice>
              <mc:Fallback>
                <p:oleObj r:id="rId8" imgW="1714500" imgH="228600" progId="Equation.DSMT4">
                  <p:embed/>
                  <p:pic>
                    <p:nvPicPr>
                      <p:cNvPr id="0" name=""/>
                      <p:cNvPicPr/>
                      <p:nvPr/>
                    </p:nvPicPr>
                    <p:blipFill>
                      <a:blip r:embed="rId9"/>
                      <a:stretch>
                        <a:fillRect/>
                      </a:stretch>
                    </p:blipFill>
                    <p:spPr>
                      <a:xfrm>
                        <a:off x="5389802" y="5598362"/>
                        <a:ext cx="3600450" cy="479425"/>
                      </a:xfrm>
                      <a:prstGeom prst="rect">
                        <a:avLst/>
                      </a:prstGeom>
                      <a:noFill/>
                      <a:ln w="38100">
                        <a:noFill/>
                        <a:miter/>
                      </a:ln>
                    </p:spPr>
                  </p:pic>
                </p:oleObj>
              </mc:Fallback>
            </mc:AlternateContent>
          </a:graphicData>
        </a:graphic>
      </p:graphicFrame>
      <p:sp>
        <p:nvSpPr>
          <p:cNvPr id="4" name="矩形 3"/>
          <p:cNvSpPr/>
          <p:nvPr/>
        </p:nvSpPr>
        <p:spPr bwMode="auto">
          <a:xfrm>
            <a:off x="6320641" y="2097433"/>
            <a:ext cx="1296144" cy="648072"/>
          </a:xfrm>
          <a:prstGeom prst="rect">
            <a:avLst/>
          </a:prstGeom>
          <a:noFill/>
          <a:ln w="38100" cap="flat" cmpd="sng" algn="ctr">
            <a:solidFill>
              <a:schemeClr val="accent1"/>
            </a:solidFill>
            <a:prstDash val="solid"/>
            <a:round/>
            <a:headEnd type="none" w="med" len="med"/>
            <a:tailEnd type="none" w="med" len="med"/>
          </a:ln>
        </p:spPr>
        <p:txBody>
          <a:bodyPr vert="horz" wrap="square" lIns="91440" tIns="45720" rIns="91440" bIns="45720" numCol="1" rtlCol="0" anchor="t" anchorCtr="0" compatLnSpc="1"/>
          <a:lstStyle/>
          <a:p>
            <a:pPr eaLnBrk="1" latinLnBrk="1" hangingPunct="1"/>
            <a:endParaRPr kumimoji="1"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3234" name="Rectangle 2"/>
          <p:cNvSpPr>
            <a:spLocks noGrp="1" noChangeArrowheads="1"/>
          </p:cNvSpPr>
          <p:nvPr>
            <p:ph type="title"/>
          </p:nvPr>
        </p:nvSpPr>
        <p:spPr>
          <a:xfrm>
            <a:off x="2022475" y="427038"/>
            <a:ext cx="7772400" cy="731838"/>
          </a:xfrm>
        </p:spPr>
        <p:txBody>
          <a:bodyPr vert="horz" wrap="square" lIns="91440" tIns="45720" rIns="91440" bIns="45720" numCol="1" anchor="ctr" anchorCtr="0" compatLnSpc="1"/>
          <a:lstStyle/>
          <a:p>
            <a:pPr algn="ctr" eaLnBrk="1" hangingPunct="1">
              <a:defRPr/>
            </a:pPr>
            <a:r>
              <a:rPr lang="zh-CN" altLang="en-US"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解决离群点问题</a:t>
            </a:r>
            <a:r>
              <a:rPr lang="en-US" altLang="zh-CN"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zh-CN" altLang="en-US"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松弛因子</a:t>
            </a:r>
            <a:endParaRPr lang="en-US" altLang="zh-CN" sz="3200" b="1"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5" name="Rectangle 3"/>
          <p:cNvSpPr txBox="1"/>
          <p:nvPr/>
        </p:nvSpPr>
        <p:spPr>
          <a:xfrm>
            <a:off x="1774825" y="1498601"/>
            <a:ext cx="7772400" cy="4303713"/>
          </a:xfrm>
          <a:prstGeom prst="rect">
            <a:avLst/>
          </a:prstGeom>
          <a:noFill/>
          <a:ln w="9525">
            <a:noFill/>
          </a:ln>
        </p:spPr>
        <p:txBody>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eaLnBrk="1" hangingPunct="1"/>
            <a:r>
              <a:rPr lang="zh-CN" altLang="en-US" sz="2400" dirty="0">
                <a:latin typeface="微软雅黑" panose="020B0503020204020204" pitchFamily="34" charset="-122"/>
                <a:ea typeface="微软雅黑" panose="020B0503020204020204" pitchFamily="34" charset="-122"/>
              </a:rPr>
              <a:t>我们原先对样本点的要求是：</a:t>
            </a:r>
          </a:p>
          <a:p>
            <a:pPr eaLnBrk="1" hangingPunct="1"/>
            <a:endParaRPr lang="zh-CN" altLang="en-US" sz="2400" dirty="0">
              <a:latin typeface="微软雅黑" panose="020B0503020204020204" pitchFamily="34" charset="-122"/>
              <a:ea typeface="微软雅黑" panose="020B0503020204020204" pitchFamily="34" charset="-122"/>
            </a:endParaRPr>
          </a:p>
          <a:p>
            <a:pPr eaLnBrk="1" hangingPunct="1"/>
            <a:endParaRPr lang="zh-CN" altLang="en-US" sz="2400" dirty="0">
              <a:latin typeface="微软雅黑" panose="020B0503020204020204" pitchFamily="34" charset="-122"/>
              <a:ea typeface="微软雅黑" panose="020B0503020204020204" pitchFamily="34" charset="-122"/>
            </a:endParaRPr>
          </a:p>
          <a:p>
            <a:pPr eaLnBrk="1" hangingPunct="1"/>
            <a:r>
              <a:rPr lang="zh-CN" altLang="en-US" sz="2400" dirty="0">
                <a:latin typeface="微软雅黑" panose="020B0503020204020204" pitchFamily="34" charset="-122"/>
                <a:ea typeface="微软雅黑" panose="020B0503020204020204" pitchFamily="34" charset="-122"/>
              </a:rPr>
              <a:t>如果要引入容错性，就给</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这个硬性的阈值加一个松弛变量，即允许  </a:t>
            </a:r>
          </a:p>
        </p:txBody>
      </p:sp>
      <p:pic>
        <p:nvPicPr>
          <p:cNvPr id="129029" name="Picture 5" descr="clip_image002_2"/>
          <p:cNvPicPr>
            <a:picLocks noChangeAspect="1"/>
          </p:cNvPicPr>
          <p:nvPr/>
        </p:nvPicPr>
        <p:blipFill>
          <a:blip r:embed="rId2"/>
          <a:stretch>
            <a:fillRect/>
          </a:stretch>
        </p:blipFill>
        <p:spPr>
          <a:xfrm>
            <a:off x="2399036" y="2042717"/>
            <a:ext cx="6480175" cy="558800"/>
          </a:xfrm>
          <a:prstGeom prst="rect">
            <a:avLst/>
          </a:prstGeom>
          <a:noFill/>
          <a:ln w="9525">
            <a:noFill/>
          </a:ln>
        </p:spPr>
      </p:pic>
      <p:pic>
        <p:nvPicPr>
          <p:cNvPr id="7" name="Picture 7" descr="clip_image002[5]">
            <a:hlinkClick r:id="rId3"/>
          </p:cNvPr>
          <p:cNvPicPr>
            <a:picLocks noChangeAspect="1"/>
          </p:cNvPicPr>
          <p:nvPr/>
        </p:nvPicPr>
        <p:blipFill>
          <a:blip r:embed="rId4"/>
          <a:stretch>
            <a:fillRect/>
          </a:stretch>
        </p:blipFill>
        <p:spPr>
          <a:xfrm>
            <a:off x="2207568" y="3704433"/>
            <a:ext cx="6286500" cy="982662"/>
          </a:xfrm>
          <a:prstGeom prst="rect">
            <a:avLst/>
          </a:prstGeom>
          <a:noFill/>
          <a:ln w="9525">
            <a:noFill/>
          </a:ln>
        </p:spPr>
      </p:pic>
      <p:pic>
        <p:nvPicPr>
          <p:cNvPr id="8" name="Picture 4"/>
          <p:cNvPicPr>
            <a:picLocks noChangeAspect="1"/>
          </p:cNvPicPr>
          <p:nvPr/>
        </p:nvPicPr>
        <p:blipFill>
          <a:blip r:embed="rId5"/>
          <a:stretch>
            <a:fillRect/>
          </a:stretch>
        </p:blipFill>
        <p:spPr>
          <a:xfrm>
            <a:off x="6600056" y="4365105"/>
            <a:ext cx="3568700" cy="22574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blinds(horizontal)">
                                      <p:cBhvr>
                                        <p:cTn id="7" dur="5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5282" name="Rectangle 2"/>
          <p:cNvSpPr>
            <a:spLocks noGrp="1" noChangeArrowheads="1"/>
          </p:cNvSpPr>
          <p:nvPr>
            <p:ph type="title"/>
          </p:nvPr>
        </p:nvSpPr>
        <p:spPr/>
        <p:txBody>
          <a:bodyPr vert="horz" wrap="square" lIns="91440" tIns="45720" rIns="91440" bIns="45720" numCol="1" anchor="ctr" anchorCtr="0" compatLnSpc="1"/>
          <a:lstStyle/>
          <a:p>
            <a:pPr algn="ctr" eaLnBrk="1" hangingPunct="1">
              <a:defRPr/>
            </a:pPr>
            <a:r>
              <a:rPr lang="zh-CN" altLang="en-US" sz="3200" b="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松弛因子（续）</a:t>
            </a:r>
            <a:endParaRPr lang="en-US" altLang="zh-CN" sz="3200" b="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30051" name="Rectangle 3"/>
          <p:cNvSpPr>
            <a:spLocks noGrp="1"/>
          </p:cNvSpPr>
          <p:nvPr>
            <p:ph idx="1"/>
          </p:nvPr>
        </p:nvSpPr>
        <p:spPr>
          <a:xfrm>
            <a:off x="2222500" y="1660526"/>
            <a:ext cx="7772400" cy="4303713"/>
          </a:xfrm>
          <a:ln/>
        </p:spPr>
        <p:txBody>
          <a:bodyPr vert="horz" wrap="square" lIns="91440" tIns="45720" rIns="91440" bIns="45720" anchor="t" anchorCtr="0"/>
          <a:lstStyle/>
          <a:p>
            <a:pPr eaLnBrk="1" hangingPunct="1"/>
            <a:r>
              <a:rPr lang="zh-CN" altLang="en-US" sz="2400" dirty="0">
                <a:latin typeface="微软雅黑" panose="020B0503020204020204" pitchFamily="34" charset="-122"/>
                <a:ea typeface="微软雅黑" panose="020B0503020204020204" pitchFamily="34" charset="-122"/>
              </a:rPr>
              <a:t>把损失加入到目标函数里的时候，就需要一个惩罚因子（</a:t>
            </a:r>
            <a:r>
              <a:rPr lang="en-US" altLang="zh-CN" sz="2400" dirty="0">
                <a:latin typeface="微软雅黑" panose="020B0503020204020204" pitchFamily="34" charset="-122"/>
                <a:ea typeface="微软雅黑" panose="020B0503020204020204" pitchFamily="34" charset="-122"/>
              </a:rPr>
              <a:t>cost</a:t>
            </a:r>
            <a:r>
              <a:rPr lang="zh-CN" altLang="en-US" sz="2400" dirty="0">
                <a:latin typeface="微软雅黑" panose="020B0503020204020204" pitchFamily="34" charset="-122"/>
                <a:ea typeface="微软雅黑" panose="020B0503020204020204" pitchFamily="34" charset="-122"/>
              </a:rPr>
              <a:t>，也就是</a:t>
            </a:r>
            <a:r>
              <a:rPr lang="en-US" altLang="zh-CN" sz="2400" dirty="0">
                <a:latin typeface="微软雅黑" panose="020B0503020204020204" pitchFamily="34" charset="-122"/>
                <a:ea typeface="微软雅黑" panose="020B0503020204020204" pitchFamily="34" charset="-122"/>
              </a:rPr>
              <a:t>libSVM</a:t>
            </a:r>
            <a:r>
              <a:rPr lang="zh-CN" altLang="en-US" sz="2400" dirty="0">
                <a:latin typeface="微软雅黑" panose="020B0503020204020204" pitchFamily="34" charset="-122"/>
                <a:ea typeface="微软雅黑" panose="020B0503020204020204" pitchFamily="34" charset="-122"/>
              </a:rPr>
              <a:t>的诸多参数中的</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），原来的优化问题就变成了下面这样： </a:t>
            </a:r>
          </a:p>
        </p:txBody>
      </p:sp>
      <p:pic>
        <p:nvPicPr>
          <p:cNvPr id="130052" name="Picture 5" descr="clip_image002%5B13%5D"/>
          <p:cNvPicPr>
            <a:picLocks noChangeAspect="1"/>
          </p:cNvPicPr>
          <p:nvPr/>
        </p:nvPicPr>
        <p:blipFill>
          <a:blip r:embed="rId2"/>
          <a:stretch>
            <a:fillRect/>
          </a:stretch>
        </p:blipFill>
        <p:spPr>
          <a:xfrm>
            <a:off x="2135188" y="3573463"/>
            <a:ext cx="8208962" cy="1820862"/>
          </a:xfrm>
          <a:prstGeom prst="rect">
            <a:avLst/>
          </a:prstGeom>
          <a:noFill/>
          <a:ln w="9525">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2450" name="Rectangle 2"/>
          <p:cNvSpPr>
            <a:spLocks noGrp="1" noChangeArrowheads="1"/>
          </p:cNvSpPr>
          <p:nvPr>
            <p:ph type="title"/>
          </p:nvPr>
        </p:nvSpPr>
        <p:spPr/>
        <p:txBody>
          <a:bodyPr vert="horz" wrap="square" lIns="91440" tIns="45720" rIns="91440" bIns="45720" numCol="1" anchor="ctr" anchorCtr="0" compatLnSpc="1"/>
          <a:lstStyle/>
          <a:p>
            <a:pPr algn="ctr" eaLnBrk="1" hangingPunct="1">
              <a:defRPr/>
            </a:pPr>
            <a:r>
              <a:rPr lang="zh-CN" altLang="en-US" sz="3200" b="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注意事项：</a:t>
            </a:r>
            <a:endParaRPr lang="en-US" altLang="zh-CN" sz="3200" b="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872451" name="Rectangle 3"/>
          <p:cNvSpPr>
            <a:spLocks noGrp="1"/>
          </p:cNvSpPr>
          <p:nvPr>
            <p:ph idx="1"/>
          </p:nvPr>
        </p:nvSpPr>
        <p:spPr>
          <a:xfrm>
            <a:off x="2063750" y="1628776"/>
            <a:ext cx="7772400" cy="4303713"/>
          </a:xfrm>
          <a:ln/>
        </p:spPr>
        <p:txBody>
          <a:bodyPr vert="horz" wrap="square" lIns="91440" tIns="45720" rIns="91440" bIns="45720" anchor="t" anchorCtr="0"/>
          <a:lstStyle/>
          <a:p>
            <a:pPr marL="381000" indent="-381000" eaLnBrk="1" hangingPunct="1">
              <a:lnSpc>
                <a:spcPct val="105000"/>
              </a:lnSpc>
              <a:buFontTx/>
              <a:buAutoNum type="arabicPeriod"/>
            </a:pPr>
            <a:r>
              <a:rPr lang="zh-CN" altLang="en-US" sz="2400" dirty="0">
                <a:latin typeface="微软雅黑" panose="020B0503020204020204" pitchFamily="34" charset="-122"/>
                <a:ea typeface="微软雅黑" panose="020B0503020204020204" pitchFamily="34" charset="-122"/>
              </a:rPr>
              <a:t>并非所有的样本点都有一个松弛变量与其对应。实际上只有“离群点”才有。 </a:t>
            </a:r>
          </a:p>
          <a:p>
            <a:pPr marL="381000" indent="-381000" eaLnBrk="1" hangingPunct="1">
              <a:lnSpc>
                <a:spcPct val="105000"/>
              </a:lnSpc>
              <a:buFontTx/>
              <a:buAutoNum type="arabicPeriod"/>
            </a:pPr>
            <a:r>
              <a:rPr lang="zh-CN" altLang="en-US" sz="2400" dirty="0">
                <a:latin typeface="微软雅黑" panose="020B0503020204020204" pitchFamily="34" charset="-122"/>
                <a:ea typeface="微软雅黑" panose="020B0503020204020204" pitchFamily="34" charset="-122"/>
              </a:rPr>
              <a:t>松弛变量的值实际上标示出了对应的点离群距离，值越大，点就越远。 </a:t>
            </a:r>
          </a:p>
          <a:p>
            <a:pPr marL="381000" indent="-381000" eaLnBrk="1" hangingPunct="1">
              <a:lnSpc>
                <a:spcPct val="105000"/>
              </a:lnSpc>
              <a:buFontTx/>
              <a:buAutoNum type="arabicPeriod"/>
            </a:pPr>
            <a:r>
              <a:rPr lang="zh-CN" altLang="en-US" sz="2400" dirty="0">
                <a:latin typeface="微软雅黑" panose="020B0503020204020204" pitchFamily="34" charset="-122"/>
                <a:ea typeface="微软雅黑" panose="020B0503020204020204" pitchFamily="34" charset="-122"/>
              </a:rPr>
              <a:t>惩罚因子</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决定了对离群点带来的损失的重视程度，显然</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越大，表明非常不愿意放弃这些离群点，最极端的情况是</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定为无限大，这就退化成了硬间隔问题。 </a:t>
            </a:r>
          </a:p>
          <a:p>
            <a:pPr marL="381000" indent="-381000" eaLnBrk="1" hangingPunct="1">
              <a:lnSpc>
                <a:spcPct val="105000"/>
              </a:lnSpc>
              <a:buFontTx/>
              <a:buAutoNum type="arabicPeriod"/>
            </a:pPr>
            <a:r>
              <a:rPr lang="zh-CN" altLang="en-US" sz="2400" dirty="0">
                <a:latin typeface="微软雅黑" panose="020B0503020204020204" pitchFamily="34" charset="-122"/>
                <a:ea typeface="微软雅黑" panose="020B0503020204020204" pitchFamily="34" charset="-122"/>
              </a:rPr>
              <a:t>惩罚因子</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必须事先指定，而不是一个变量，通常来说手工调整获得“最优”分类器。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2451">
                                            <p:txEl>
                                              <p:pRg st="0" end="0"/>
                                            </p:txEl>
                                          </p:spTgt>
                                        </p:tgtEl>
                                        <p:attrNameLst>
                                          <p:attrName>style.visibility</p:attrName>
                                        </p:attrNameLst>
                                      </p:cBhvr>
                                      <p:to>
                                        <p:strVal val="visible"/>
                                      </p:to>
                                    </p:set>
                                    <p:animEffect transition="in" filter="blinds(horizontal)">
                                      <p:cBhvr>
                                        <p:cTn id="7" dur="500"/>
                                        <p:tgtEl>
                                          <p:spTgt spid="8724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72451">
                                            <p:txEl>
                                              <p:pRg st="1" end="1"/>
                                            </p:txEl>
                                          </p:spTgt>
                                        </p:tgtEl>
                                        <p:attrNameLst>
                                          <p:attrName>style.visibility</p:attrName>
                                        </p:attrNameLst>
                                      </p:cBhvr>
                                      <p:to>
                                        <p:strVal val="visible"/>
                                      </p:to>
                                    </p:set>
                                    <p:animEffect transition="in" filter="blinds(horizontal)">
                                      <p:cBhvr>
                                        <p:cTn id="12" dur="500"/>
                                        <p:tgtEl>
                                          <p:spTgt spid="8724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72451">
                                            <p:txEl>
                                              <p:pRg st="2" end="2"/>
                                            </p:txEl>
                                          </p:spTgt>
                                        </p:tgtEl>
                                        <p:attrNameLst>
                                          <p:attrName>style.visibility</p:attrName>
                                        </p:attrNameLst>
                                      </p:cBhvr>
                                      <p:to>
                                        <p:strVal val="visible"/>
                                      </p:to>
                                    </p:set>
                                    <p:animEffect transition="in" filter="blinds(horizontal)">
                                      <p:cBhvr>
                                        <p:cTn id="17" dur="500"/>
                                        <p:tgtEl>
                                          <p:spTgt spid="8724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72451">
                                            <p:txEl>
                                              <p:pRg st="3" end="3"/>
                                            </p:txEl>
                                          </p:spTgt>
                                        </p:tgtEl>
                                        <p:attrNameLst>
                                          <p:attrName>style.visibility</p:attrName>
                                        </p:attrNameLst>
                                      </p:cBhvr>
                                      <p:to>
                                        <p:strVal val="visible"/>
                                      </p:to>
                                    </p:set>
                                    <p:animEffect transition="in" filter="blinds(horizontal)">
                                      <p:cBhvr>
                                        <p:cTn id="22" dur="500"/>
                                        <p:tgtEl>
                                          <p:spTgt spid="8724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build="p"/>
    </p:bld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2098" name="矩形 1"/>
          <p:cNvSpPr/>
          <p:nvPr/>
        </p:nvSpPr>
        <p:spPr>
          <a:xfrm>
            <a:off x="4151314" y="311150"/>
            <a:ext cx="3227387" cy="5080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700" b="1" dirty="0">
                <a:latin typeface="微软雅黑" panose="020B0503020204020204" pitchFamily="34" charset="-122"/>
                <a:ea typeface="微软雅黑" panose="020B0503020204020204" pitchFamily="34" charset="-122"/>
              </a:rPr>
              <a:t>多分类</a:t>
            </a:r>
            <a:r>
              <a:rPr lang="en-US" altLang="zh-CN" sz="2700" b="1" dirty="0">
                <a:latin typeface="微软雅黑" panose="020B0503020204020204" pitchFamily="34" charset="-122"/>
                <a:ea typeface="微软雅黑" panose="020B0503020204020204" pitchFamily="34" charset="-122"/>
              </a:rPr>
              <a:t>SVM</a:t>
            </a:r>
            <a:endParaRPr lang="zh-CN" altLang="en-US" sz="2700" b="1" dirty="0">
              <a:latin typeface="微软雅黑" panose="020B0503020204020204" pitchFamily="34" charset="-122"/>
              <a:ea typeface="微软雅黑" panose="020B0503020204020204" pitchFamily="34" charset="-122"/>
            </a:endParaRPr>
          </a:p>
        </p:txBody>
      </p:sp>
      <p:sp>
        <p:nvSpPr>
          <p:cNvPr id="3" name="矩形 2"/>
          <p:cNvSpPr/>
          <p:nvPr/>
        </p:nvSpPr>
        <p:spPr>
          <a:xfrm>
            <a:off x="1873250" y="998539"/>
            <a:ext cx="5157788" cy="369887"/>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1800" b="1" dirty="0">
                <a:solidFill>
                  <a:srgbClr val="0070C0"/>
                </a:solidFill>
                <a:latin typeface="微软雅黑" panose="020B0503020204020204" pitchFamily="34" charset="-122"/>
                <a:ea typeface="微软雅黑" panose="020B0503020204020204" pitchFamily="34" charset="-122"/>
              </a:rPr>
              <a:t>一对多法（</a:t>
            </a:r>
            <a:r>
              <a:rPr lang="en-US" altLang="zh-CN" sz="1800" b="1" dirty="0">
                <a:solidFill>
                  <a:srgbClr val="0070C0"/>
                </a:solidFill>
                <a:latin typeface="微软雅黑" panose="020B0503020204020204" pitchFamily="34" charset="-122"/>
                <a:ea typeface="微软雅黑" panose="020B0503020204020204" pitchFamily="34" charset="-122"/>
              </a:rPr>
              <a:t>one-versus-rest,</a:t>
            </a:r>
            <a:r>
              <a:rPr lang="zh-CN" altLang="en-US" sz="1800" b="1" dirty="0">
                <a:solidFill>
                  <a:srgbClr val="0070C0"/>
                </a:solidFill>
                <a:latin typeface="微软雅黑" panose="020B0503020204020204" pitchFamily="34" charset="-122"/>
                <a:ea typeface="微软雅黑" panose="020B0503020204020204" pitchFamily="34" charset="-122"/>
              </a:rPr>
              <a:t>简称</a:t>
            </a:r>
            <a:r>
              <a:rPr lang="en-US" altLang="zh-CN" sz="1800" b="1" dirty="0">
                <a:solidFill>
                  <a:srgbClr val="0070C0"/>
                </a:solidFill>
                <a:latin typeface="微软雅黑" panose="020B0503020204020204" pitchFamily="34" charset="-122"/>
                <a:ea typeface="微软雅黑" panose="020B0503020204020204" pitchFamily="34" charset="-122"/>
              </a:rPr>
              <a:t>OVR SVMs</a:t>
            </a:r>
            <a:r>
              <a:rPr lang="zh-CN" altLang="en-US" sz="1800" b="1" dirty="0">
                <a:solidFill>
                  <a:srgbClr val="0070C0"/>
                </a:solidFill>
                <a:latin typeface="微软雅黑" panose="020B0503020204020204" pitchFamily="34" charset="-122"/>
                <a:ea typeface="微软雅黑" panose="020B0503020204020204" pitchFamily="34" charset="-122"/>
              </a:rPr>
              <a:t>）</a:t>
            </a:r>
          </a:p>
        </p:txBody>
      </p:sp>
      <p:sp>
        <p:nvSpPr>
          <p:cNvPr id="4" name="矩形 3"/>
          <p:cNvSpPr/>
          <p:nvPr/>
        </p:nvSpPr>
        <p:spPr>
          <a:xfrm>
            <a:off x="1665288" y="2913064"/>
            <a:ext cx="6615112" cy="369887"/>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1800" b="1" dirty="0">
                <a:solidFill>
                  <a:srgbClr val="0070C0"/>
                </a:solidFill>
                <a:latin typeface="微软雅黑" panose="020B0503020204020204" pitchFamily="34" charset="-122"/>
                <a:ea typeface="微软雅黑" panose="020B0503020204020204" pitchFamily="34" charset="-122"/>
              </a:rPr>
              <a:t>一对一法（</a:t>
            </a:r>
            <a:r>
              <a:rPr lang="en-US" altLang="zh-CN" sz="1800" b="1" dirty="0">
                <a:solidFill>
                  <a:srgbClr val="0070C0"/>
                </a:solidFill>
                <a:latin typeface="微软雅黑" panose="020B0503020204020204" pitchFamily="34" charset="-122"/>
                <a:ea typeface="微软雅黑" panose="020B0503020204020204" pitchFamily="34" charset="-122"/>
              </a:rPr>
              <a:t>one-versus-one,</a:t>
            </a:r>
            <a:r>
              <a:rPr lang="zh-CN" altLang="en-US" sz="1800" b="1" dirty="0">
                <a:solidFill>
                  <a:srgbClr val="0070C0"/>
                </a:solidFill>
                <a:latin typeface="微软雅黑" panose="020B0503020204020204" pitchFamily="34" charset="-122"/>
                <a:ea typeface="微软雅黑" panose="020B0503020204020204" pitchFamily="34" charset="-122"/>
              </a:rPr>
              <a:t>简称</a:t>
            </a:r>
            <a:r>
              <a:rPr lang="en-US" altLang="zh-CN" sz="1800" b="1" dirty="0">
                <a:solidFill>
                  <a:srgbClr val="0070C0"/>
                </a:solidFill>
                <a:latin typeface="微软雅黑" panose="020B0503020204020204" pitchFamily="34" charset="-122"/>
                <a:ea typeface="微软雅黑" panose="020B0503020204020204" pitchFamily="34" charset="-122"/>
              </a:rPr>
              <a:t>OVO SVMs</a:t>
            </a:r>
            <a:r>
              <a:rPr lang="zh-CN" altLang="en-US" sz="1800" b="1" dirty="0">
                <a:solidFill>
                  <a:srgbClr val="0070C0"/>
                </a:solidFill>
                <a:latin typeface="微软雅黑" panose="020B0503020204020204" pitchFamily="34" charset="-122"/>
                <a:ea typeface="微软雅黑" panose="020B0503020204020204" pitchFamily="34" charset="-122"/>
              </a:rPr>
              <a:t>或者</a:t>
            </a:r>
            <a:r>
              <a:rPr lang="en-US" altLang="zh-CN" sz="1800" b="1" dirty="0">
                <a:solidFill>
                  <a:srgbClr val="0070C0"/>
                </a:solidFill>
                <a:latin typeface="微软雅黑" panose="020B0503020204020204" pitchFamily="34" charset="-122"/>
                <a:ea typeface="微软雅黑" panose="020B0503020204020204" pitchFamily="34" charset="-122"/>
              </a:rPr>
              <a:t>pairwise</a:t>
            </a:r>
            <a:r>
              <a:rPr lang="zh-CN" altLang="en-US" sz="1800" b="1" dirty="0">
                <a:solidFill>
                  <a:srgbClr val="0070C0"/>
                </a:solidFill>
                <a:latin typeface="微软雅黑" panose="020B0503020204020204" pitchFamily="34" charset="-122"/>
                <a:ea typeface="微软雅黑" panose="020B0503020204020204" pitchFamily="34" charset="-122"/>
              </a:rPr>
              <a:t>）</a:t>
            </a:r>
          </a:p>
        </p:txBody>
      </p:sp>
      <p:sp>
        <p:nvSpPr>
          <p:cNvPr id="5" name="矩形 4"/>
          <p:cNvSpPr/>
          <p:nvPr/>
        </p:nvSpPr>
        <p:spPr>
          <a:xfrm>
            <a:off x="1892301" y="5162550"/>
            <a:ext cx="1979613" cy="400050"/>
          </a:xfrm>
          <a:prstGeom prst="rect">
            <a:avLst/>
          </a:prstGeom>
          <a:noFill/>
          <a:ln w="9525">
            <a:noFill/>
          </a:ln>
        </p:spPr>
        <p:txBody>
          <a:bodyPr wrap="none">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spcBef>
                <a:spcPct val="0"/>
              </a:spcBef>
              <a:buNone/>
            </a:pPr>
            <a:r>
              <a:rPr lang="zh-CN" altLang="en-US" sz="2000" b="1" dirty="0">
                <a:solidFill>
                  <a:srgbClr val="0070C0"/>
                </a:solidFill>
                <a:latin typeface="微软雅黑" panose="020B0503020204020204" pitchFamily="34" charset="-122"/>
                <a:ea typeface="微软雅黑" panose="020B0503020204020204" pitchFamily="34" charset="-122"/>
              </a:rPr>
              <a:t>层次支持向量机</a:t>
            </a:r>
          </a:p>
        </p:txBody>
      </p:sp>
      <p:pic>
        <p:nvPicPr>
          <p:cNvPr id="6" name="图片 5"/>
          <p:cNvPicPr>
            <a:picLocks noChangeAspect="1"/>
          </p:cNvPicPr>
          <p:nvPr/>
        </p:nvPicPr>
        <p:blipFill>
          <a:blip r:embed="rId2"/>
          <a:stretch>
            <a:fillRect/>
          </a:stretch>
        </p:blipFill>
        <p:spPr>
          <a:xfrm>
            <a:off x="8040689" y="1387476"/>
            <a:ext cx="2052637" cy="1292225"/>
          </a:xfrm>
          <a:prstGeom prst="rect">
            <a:avLst/>
          </a:prstGeom>
          <a:noFill/>
          <a:ln w="9525">
            <a:noFill/>
          </a:ln>
        </p:spPr>
      </p:pic>
      <p:pic>
        <p:nvPicPr>
          <p:cNvPr id="7" name="图片 6"/>
          <p:cNvPicPr>
            <a:picLocks noChangeAspect="1"/>
          </p:cNvPicPr>
          <p:nvPr/>
        </p:nvPicPr>
        <p:blipFill>
          <a:blip r:embed="rId3"/>
          <a:stretch>
            <a:fillRect/>
          </a:stretch>
        </p:blipFill>
        <p:spPr>
          <a:xfrm>
            <a:off x="8040689" y="3411538"/>
            <a:ext cx="2052637" cy="1282700"/>
          </a:xfrm>
          <a:prstGeom prst="rect">
            <a:avLst/>
          </a:prstGeom>
          <a:noFill/>
          <a:ln w="9525">
            <a:noFill/>
          </a:ln>
        </p:spPr>
      </p:pic>
      <p:sp>
        <p:nvSpPr>
          <p:cNvPr id="8" name="矩形 7"/>
          <p:cNvSpPr/>
          <p:nvPr/>
        </p:nvSpPr>
        <p:spPr>
          <a:xfrm>
            <a:off x="1812926" y="1344613"/>
            <a:ext cx="5783263" cy="1338262"/>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ct val="150000"/>
              </a:lnSpc>
              <a:spcBef>
                <a:spcPct val="0"/>
              </a:spcBef>
              <a:buNone/>
            </a:pPr>
            <a:r>
              <a:rPr lang="zh-CN" altLang="en-US" sz="1800" dirty="0">
                <a:latin typeface="微软雅黑" panose="020B0503020204020204" pitchFamily="34" charset="-122"/>
                <a:ea typeface="微软雅黑" panose="020B0503020204020204" pitchFamily="34" charset="-122"/>
              </a:rPr>
              <a:t>训练时依次把某个类别的样本归为一类</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其他剩余的样本归为另一类，这样</a:t>
            </a:r>
            <a:r>
              <a:rPr lang="en-US" altLang="zh-CN" sz="1800"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个类别的样本就构造出了</a:t>
            </a:r>
            <a:r>
              <a:rPr lang="en-US" altLang="zh-CN" sz="1800"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个</a:t>
            </a:r>
            <a:r>
              <a:rPr lang="en-US" altLang="zh-CN" sz="1800" dirty="0">
                <a:latin typeface="微软雅黑" panose="020B0503020204020204" pitchFamily="34" charset="-122"/>
                <a:ea typeface="微软雅黑" panose="020B0503020204020204" pitchFamily="34" charset="-122"/>
              </a:rPr>
              <a:t>SVM</a:t>
            </a:r>
            <a:r>
              <a:rPr lang="zh-CN" altLang="en-US" sz="1800" dirty="0">
                <a:latin typeface="微软雅黑" panose="020B0503020204020204" pitchFamily="34" charset="-122"/>
                <a:ea typeface="微软雅黑" panose="020B0503020204020204" pitchFamily="34" charset="-122"/>
              </a:rPr>
              <a:t>。分类时将未知样本分类为具有最大分类函数值的那类。</a:t>
            </a:r>
          </a:p>
        </p:txBody>
      </p:sp>
      <p:sp>
        <p:nvSpPr>
          <p:cNvPr id="9" name="矩形 8"/>
          <p:cNvSpPr/>
          <p:nvPr/>
        </p:nvSpPr>
        <p:spPr>
          <a:xfrm>
            <a:off x="1854200" y="3327400"/>
            <a:ext cx="5822950" cy="1754188"/>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ct val="150000"/>
              </a:lnSpc>
              <a:spcBef>
                <a:spcPct val="0"/>
              </a:spcBef>
              <a:buNone/>
            </a:pPr>
            <a:r>
              <a:rPr lang="zh-CN" altLang="en-US" sz="1800" dirty="0">
                <a:latin typeface="微软雅黑" panose="020B0503020204020204" pitchFamily="34" charset="-122"/>
                <a:ea typeface="微软雅黑" panose="020B0503020204020204" pitchFamily="34" charset="-122"/>
              </a:rPr>
              <a:t>其做法是在任意两类样本之间设计一个</a:t>
            </a:r>
            <a:r>
              <a:rPr lang="en-US" altLang="zh-CN" sz="1800" dirty="0">
                <a:latin typeface="微软雅黑" panose="020B0503020204020204" pitchFamily="34" charset="-122"/>
                <a:ea typeface="微软雅黑" panose="020B0503020204020204" pitchFamily="34" charset="-122"/>
              </a:rPr>
              <a:t>SVM</a:t>
            </a:r>
            <a:r>
              <a:rPr lang="zh-CN" altLang="en-US" sz="1800" dirty="0">
                <a:latin typeface="微软雅黑" panose="020B0503020204020204" pitchFamily="34" charset="-122"/>
                <a:ea typeface="微软雅黑" panose="020B0503020204020204" pitchFamily="34" charset="-122"/>
              </a:rPr>
              <a:t>，因此</a:t>
            </a:r>
            <a:r>
              <a:rPr lang="en-US" altLang="zh-CN" sz="1800"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个类别的样本就需要设计</a:t>
            </a:r>
            <a:r>
              <a:rPr lang="en-US" altLang="zh-CN" sz="1800" dirty="0">
                <a:latin typeface="微软雅黑" panose="020B0503020204020204" pitchFamily="34" charset="-122"/>
                <a:ea typeface="微软雅黑" panose="020B0503020204020204" pitchFamily="34" charset="-122"/>
              </a:rPr>
              <a:t>k(k-1)/2</a:t>
            </a:r>
            <a:r>
              <a:rPr lang="zh-CN" altLang="en-US" sz="1800" dirty="0">
                <a:latin typeface="微软雅黑" panose="020B0503020204020204" pitchFamily="34" charset="-122"/>
                <a:ea typeface="微软雅黑" panose="020B0503020204020204" pitchFamily="34" charset="-122"/>
              </a:rPr>
              <a:t>个</a:t>
            </a:r>
            <a:r>
              <a:rPr lang="en-US" altLang="zh-CN" sz="1800" dirty="0">
                <a:latin typeface="微软雅黑" panose="020B0503020204020204" pitchFamily="34" charset="-122"/>
                <a:ea typeface="微软雅黑" panose="020B0503020204020204" pitchFamily="34" charset="-122"/>
              </a:rPr>
              <a:t>SVM</a:t>
            </a:r>
            <a:r>
              <a:rPr lang="zh-CN" altLang="en-US" sz="1800" dirty="0">
                <a:latin typeface="微软雅黑" panose="020B0503020204020204" pitchFamily="34" charset="-122"/>
                <a:ea typeface="微软雅黑" panose="020B0503020204020204" pitchFamily="34" charset="-122"/>
              </a:rPr>
              <a:t>。</a:t>
            </a:r>
          </a:p>
          <a:p>
            <a:pPr marL="0" indent="0" latinLnBrk="0">
              <a:lnSpc>
                <a:spcPct val="150000"/>
              </a:lnSpc>
              <a:spcBef>
                <a:spcPct val="0"/>
              </a:spcBef>
              <a:buNone/>
            </a:pPr>
            <a:r>
              <a:rPr lang="zh-CN" altLang="en-US" sz="1800" dirty="0">
                <a:latin typeface="微软雅黑" panose="020B0503020204020204" pitchFamily="34" charset="-122"/>
                <a:ea typeface="微软雅黑" panose="020B0503020204020204" pitchFamily="34" charset="-122"/>
              </a:rPr>
              <a:t>当对一个未知样本进行分类时，最后得票最多的类别即为该未知样本的类别。</a:t>
            </a:r>
          </a:p>
        </p:txBody>
      </p:sp>
      <p:sp>
        <p:nvSpPr>
          <p:cNvPr id="10" name="矩形 9"/>
          <p:cNvSpPr/>
          <p:nvPr/>
        </p:nvSpPr>
        <p:spPr>
          <a:xfrm>
            <a:off x="1873250" y="5589589"/>
            <a:ext cx="8108950" cy="92392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latinLnBrk="0">
              <a:lnSpc>
                <a:spcPct val="150000"/>
              </a:lnSpc>
              <a:spcBef>
                <a:spcPct val="0"/>
              </a:spcBef>
              <a:buNone/>
            </a:pPr>
            <a:r>
              <a:rPr lang="zh-CN" altLang="en-US" sz="1800" dirty="0">
                <a:latin typeface="微软雅黑" panose="020B0503020204020204" pitchFamily="34" charset="-122"/>
                <a:ea typeface="微软雅黑" panose="020B0503020204020204" pitchFamily="34" charset="-122"/>
              </a:rPr>
              <a:t>层次分类法首先将所有类别分成两个子类，再将子类进一步划分成两个次级子类，如此循环，直到得到一个单独的类别为止。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8" grpId="0"/>
      <p:bldP spid="9" grpId="0"/>
      <p:bldP spid="10" grpId="0"/>
    </p:bld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2"/>
          <p:cNvSpPr>
            <a:spLocks noGrp="1" noChangeArrowheads="1"/>
          </p:cNvSpPr>
          <p:nvPr>
            <p:ph type="ctrTitle"/>
          </p:nvPr>
        </p:nvSpPr>
        <p:spPr>
          <a:xfrm>
            <a:off x="2135561" y="692697"/>
            <a:ext cx="8139113" cy="5903913"/>
          </a:xfrm>
        </p:spPr>
        <p:txBody>
          <a:bodyPr vert="horz" wrap="square" lIns="91440" tIns="45720" rIns="91440" bIns="45720" numCol="1" anchor="ctr" anchorCtr="0" compatLnSpc="1"/>
          <a:lstStyle/>
          <a:p>
            <a:pPr lvl="0" algn="l" eaLnBrk="1" hangingPunct="1">
              <a:defRPr/>
            </a:pPr>
            <a:r>
              <a:rPr lang="zh-CN" altLang="en-US" dirty="0">
                <a:solidFill>
                  <a:schemeClr val="tx1"/>
                </a:solidFill>
                <a:latin typeface="Times New Roman" panose="02020603050405020304" pitchFamily="18" charset="0"/>
              </a:rPr>
              <a:t>			</a:t>
            </a:r>
            <a:r>
              <a:rPr lang="zh-CN" altLang="en-US" b="1" dirty="0">
                <a:solidFill>
                  <a:schemeClr val="tx1"/>
                </a:solidFill>
                <a:effectLst>
                  <a:outerShdw blurRad="38100" dist="38100" dir="2700000" algn="tl">
                    <a:srgbClr val="C0C0C0"/>
                  </a:outerShdw>
                </a:effectLst>
                <a:latin typeface="Times New Roman" panose="02020603050405020304" pitchFamily="18" charset="0"/>
              </a:rPr>
              <a:t>本章内容</a:t>
            </a:r>
            <a:br>
              <a:rPr lang="zh-CN" altLang="en-US" sz="5400" b="1" dirty="0">
                <a:solidFill>
                  <a:schemeClr val="tx1"/>
                </a:solidFill>
                <a:effectLst>
                  <a:outerShdw blurRad="38100" dist="38100" dir="2700000" algn="tl">
                    <a:srgbClr val="C0C0C0"/>
                  </a:outerShdw>
                </a:effectLst>
                <a:latin typeface="Times New Roman" panose="02020603050405020304" pitchFamily="18" charset="0"/>
              </a:rPr>
            </a:b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4.1 </a:t>
            </a:r>
            <a:r>
              <a:rPr lang="zh-CN" altLang="en-US" sz="3200" dirty="0">
                <a:solidFill>
                  <a:schemeClr val="tx1"/>
                </a:solidFill>
                <a:latin typeface="Times New Roman" panose="02020603050405020304" pitchFamily="18" charset="0"/>
                <a:ea typeface="黑体" panose="02010609060101010101" pitchFamily="49" charset="-122"/>
              </a:rPr>
              <a:t>机器学习概论</a:t>
            </a: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4.2 </a:t>
            </a:r>
            <a:r>
              <a:rPr lang="zh-CN" altLang="en-US" sz="3200" dirty="0">
                <a:solidFill>
                  <a:schemeClr val="tx1"/>
                </a:solidFill>
                <a:latin typeface="Times New Roman" panose="02020603050405020304" pitchFamily="18" charset="0"/>
                <a:ea typeface="黑体" panose="02010609060101010101" pitchFamily="49" charset="-122"/>
              </a:rPr>
              <a:t>分类算法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4.2.1</a:t>
            </a:r>
            <a:r>
              <a:rPr lang="zh-CN" altLang="en-US" sz="3200" dirty="0">
                <a:solidFill>
                  <a:schemeClr val="tx1"/>
                </a:solidFill>
                <a:latin typeface="Times New Roman" panose="02020603050405020304" pitchFamily="18" charset="0"/>
                <a:ea typeface="黑体" panose="02010609060101010101" pitchFamily="49" charset="-122"/>
              </a:rPr>
              <a:t>：决策树</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4.2.2</a:t>
            </a:r>
            <a:r>
              <a:rPr lang="zh-CN" altLang="en-US" sz="3200" dirty="0">
                <a:solidFill>
                  <a:schemeClr val="tx1"/>
                </a:solidFill>
                <a:latin typeface="Times New Roman" panose="02020603050405020304" pitchFamily="18" charset="0"/>
                <a:ea typeface="黑体" panose="02010609060101010101" pitchFamily="49" charset="-122"/>
              </a:rPr>
              <a:t>：朴素贝叶斯分类器</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4.2.3</a:t>
            </a:r>
            <a:r>
              <a:rPr lang="zh-CN" altLang="en-US" sz="3200" dirty="0">
                <a:solidFill>
                  <a:schemeClr val="tx1"/>
                </a:solidFill>
                <a:latin typeface="Times New Roman" panose="02020603050405020304" pitchFamily="18" charset="0"/>
                <a:ea typeface="黑体" panose="02010609060101010101" pitchFamily="49" charset="-122"/>
              </a:rPr>
              <a:t>：集体学习</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4.2.4</a:t>
            </a:r>
            <a:r>
              <a:rPr lang="zh-CN" altLang="en-US" sz="3200" dirty="0">
                <a:solidFill>
                  <a:schemeClr val="tx1"/>
                </a:solidFill>
                <a:latin typeface="Times New Roman" panose="02020603050405020304" pitchFamily="18" charset="0"/>
                <a:ea typeface="黑体" panose="02010609060101010101" pitchFamily="49" charset="-122"/>
              </a:rPr>
              <a:t>：支持向量机（</a:t>
            </a:r>
            <a:r>
              <a:rPr lang="en-US" altLang="zh-CN" sz="3200" dirty="0" err="1">
                <a:solidFill>
                  <a:schemeClr val="tx1"/>
                </a:solidFill>
                <a:latin typeface="Times New Roman" panose="02020603050405020304" pitchFamily="18" charset="0"/>
                <a:ea typeface="黑体" panose="02010609060101010101" pitchFamily="49" charset="-122"/>
              </a:rPr>
              <a:t>SVM</a:t>
            </a:r>
            <a:r>
              <a:rPr lang="zh-CN" altLang="en-US" sz="3200" dirty="0">
                <a:solidFill>
                  <a:schemeClr val="tx1"/>
                </a:solidFill>
                <a:latin typeface="Times New Roman" panose="02020603050405020304" pitchFamily="18" charset="0"/>
                <a:ea typeface="黑体" panose="02010609060101010101" pitchFamily="49" charset="-122"/>
              </a:rPr>
              <a:t>）</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a:t>
            </a:r>
            <a:r>
              <a:rPr lang="en-US" altLang="zh-CN" sz="3200" b="1" dirty="0">
                <a:solidFill>
                  <a:srgbClr val="C00000"/>
                </a:solidFill>
                <a:latin typeface="Times New Roman" panose="02020603050405020304" pitchFamily="18" charset="0"/>
                <a:ea typeface="黑体" panose="02010609060101010101" pitchFamily="49" charset="-122"/>
              </a:rPr>
              <a:t>4.3 </a:t>
            </a:r>
            <a:r>
              <a:rPr lang="zh-CN" altLang="en-US" sz="3200" b="1" dirty="0">
                <a:solidFill>
                  <a:srgbClr val="C00000"/>
                </a:solidFill>
                <a:latin typeface="Times New Roman" panose="02020603050405020304" pitchFamily="18" charset="0"/>
                <a:ea typeface="黑体" panose="02010609060101010101" pitchFamily="49" charset="-122"/>
              </a:rPr>
              <a:t>回归算法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4.4 </a:t>
            </a:r>
            <a:r>
              <a:rPr lang="zh-CN" altLang="en-US" sz="3200" dirty="0">
                <a:solidFill>
                  <a:schemeClr val="tx1"/>
                </a:solidFill>
                <a:latin typeface="Times New Roman" panose="02020603050405020304" pitchFamily="18" charset="0"/>
                <a:ea typeface="黑体" panose="02010609060101010101" pitchFamily="49" charset="-122"/>
              </a:rPr>
              <a:t>聚类算法</a:t>
            </a:r>
            <a:br>
              <a:rPr lang="zh-CN" altLang="en-US" sz="3200" dirty="0">
                <a:solidFill>
                  <a:schemeClr val="tx1"/>
                </a:solidFill>
                <a:latin typeface="Times New Roman" panose="02020603050405020304" pitchFamily="18" charset="0"/>
                <a:ea typeface="黑体" panose="02010609060101010101" pitchFamily="49" charset="-122"/>
              </a:rPr>
            </a:br>
            <a:br>
              <a:rPr lang="zh-CN" altLang="en-US" sz="3200" dirty="0">
                <a:solidFill>
                  <a:schemeClr val="tx1"/>
                </a:solidFill>
                <a:latin typeface="Times New Roman" panose="02020603050405020304" pitchFamily="18" charset="0"/>
                <a:ea typeface="黑体" panose="02010609060101010101" pitchFamily="49" charset="-122"/>
              </a:rPr>
            </a:br>
            <a:endParaRPr lang="en-US" altLang="zh-CN" sz="3200" dirty="0">
              <a:solidFill>
                <a:schemeClr val="tx1"/>
              </a:solidFill>
              <a:latin typeface="Times New Roman" panose="02020603050405020304" pitchFamily="18" charset="0"/>
              <a:ea typeface="黑体" panose="02010609060101010101" pitchFamily="49" charset="-122"/>
            </a:endParaRPr>
          </a:p>
        </p:txBody>
      </p:sp>
      <p:sp>
        <p:nvSpPr>
          <p:cNvPr id="7171" name="Text Box 3"/>
          <p:cNvSpPr txBox="1"/>
          <p:nvPr/>
        </p:nvSpPr>
        <p:spPr>
          <a:xfrm>
            <a:off x="1524001" y="404813"/>
            <a:ext cx="29876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4</a:t>
            </a:r>
            <a:r>
              <a:rPr lang="zh-CN" altLang="en-US" sz="2400" dirty="0">
                <a:latin typeface="华文行楷" panose="02010800040101010101" pitchFamily="2" charset="-122"/>
                <a:ea typeface="华文行楷" panose="02010800040101010101" pitchFamily="2" charset="-122"/>
              </a:rPr>
              <a:t>章 机器学习</a:t>
            </a:r>
            <a:endParaRPr lang="en-US" altLang="zh-CN" sz="2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6735822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内容占位符 2"/>
          <p:cNvSpPr>
            <a:spLocks noGrp="1" noChangeArrowheads="1"/>
          </p:cNvSpPr>
          <p:nvPr>
            <p:ph idx="1"/>
          </p:nvPr>
        </p:nvSpPr>
        <p:spPr>
          <a:xfrm>
            <a:off x="1840065" y="1268760"/>
            <a:ext cx="8209359" cy="3227784"/>
          </a:xfrm>
        </p:spPr>
        <p:txBody>
          <a:bodyPr>
            <a:normAutofit fontScale="77500" lnSpcReduction="20000"/>
          </a:bodyPr>
          <a:lstStyle/>
          <a:p>
            <a:pPr eaLnBrk="1" hangingPunct="1">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在现实生活中，往往需要分析若干变量之间的关系，如碳排放量与气候变暖之间的关系、某一商品广告投入量与该商品销售量之间的关系等</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这种分析不同变量之间存在关系的研究叫</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回归分析</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，刻画不同变量之间关系的模型被称为回归模型。如果这个模型是线性的，则称为线性回归模型。 </a:t>
            </a:r>
          </a:p>
          <a:p>
            <a:pPr eaLnBrk="1" hangingPunct="1">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一旦确定了回归模型，就可以进行预测等分析工作，如从碳排放量预测气候变化程度、从广告投入量预测商品销售量等。 </a:t>
            </a:r>
          </a:p>
          <a:p>
            <a:pPr eaLnBrk="1" hangingPunct="1">
              <a:lnSpc>
                <a:spcPct val="150000"/>
              </a:lnSpc>
            </a:pP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555"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4FCB9DF6-5B33-4D0E-9C14-1DEC40D5C25F}" type="slidenum">
              <a:rPr lang="zh-CN" altLang="en-US" sz="1050">
                <a:latin typeface="Gulim" panose="02010600030101010101" charset="-122"/>
                <a:ea typeface="Gulim" panose="02010600030101010101" charset="-122"/>
              </a:rPr>
              <a:pPr latinLnBrk="1">
                <a:lnSpc>
                  <a:spcPct val="100000"/>
                </a:lnSpc>
                <a:spcBef>
                  <a:spcPct val="0"/>
                </a:spcBef>
                <a:buFontTx/>
                <a:buNone/>
              </a:pPr>
              <a:t>97</a:t>
            </a:fld>
            <a:endParaRPr lang="en-US" altLang="zh-CN" sz="1050">
              <a:latin typeface="Gulim" panose="02010600030101010101" charset="-122"/>
              <a:ea typeface="Gulim" panose="02010600030101010101" charset="-122"/>
            </a:endParaRPr>
          </a:p>
        </p:txBody>
      </p:sp>
      <p:sp>
        <p:nvSpPr>
          <p:cNvPr id="5" name="Rectangle 2"/>
          <p:cNvSpPr txBox="1">
            <a:spLocks noChangeArrowheads="1"/>
          </p:cNvSpPr>
          <p:nvPr/>
        </p:nvSpPr>
        <p:spPr bwMode="auto">
          <a:xfrm>
            <a:off x="2855640" y="332657"/>
            <a:ext cx="5829300" cy="548879"/>
          </a:xfrm>
          <a:prstGeom prst="rect">
            <a:avLst/>
          </a:prstGeom>
          <a:noFill/>
          <a:ln>
            <a:noFill/>
          </a:ln>
          <a:effectLst/>
        </p:spPr>
        <p:txBody>
          <a:bodyPr anchor="ct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en-US" altLang="zh-CN" sz="3000" b="1" dirty="0">
                <a:solidFill>
                  <a:schemeClr val="tx1"/>
                </a:solidFill>
                <a:effectLst>
                  <a:outerShdw blurRad="38100" dist="38100" dir="2700000" algn="tl">
                    <a:srgbClr val="C0C0C0"/>
                  </a:outerShdw>
                </a:effectLst>
              </a:rPr>
              <a:t>4.3 </a:t>
            </a:r>
            <a:r>
              <a:rPr lang="zh-CN" altLang="en-US" sz="3000" b="1" dirty="0">
                <a:solidFill>
                  <a:schemeClr val="tx1"/>
                </a:solidFill>
                <a:effectLst>
                  <a:outerShdw blurRad="38100" dist="38100" dir="2700000" algn="tl">
                    <a:srgbClr val="C0C0C0"/>
                  </a:outerShdw>
                </a:effectLst>
              </a:rPr>
              <a:t>线性回归</a:t>
            </a:r>
            <a:endParaRPr lang="en-US" altLang="zh-CN" sz="3000" b="1" dirty="0">
              <a:solidFill>
                <a:schemeClr val="tx1"/>
              </a:solidFill>
              <a:effectLst>
                <a:outerShdw blurRad="38100" dist="38100" dir="2700000" algn="tl">
                  <a:srgbClr val="C0C0C0"/>
                </a:outerShdw>
              </a:effectLst>
            </a:endParaRPr>
          </a:p>
        </p:txBody>
      </p:sp>
    </p:spTree>
    <p:extLst>
      <p:ext uri="{BB962C8B-B14F-4D97-AF65-F5344CB8AC3E}">
        <p14:creationId xmlns:p14="http://schemas.microsoft.com/office/powerpoint/2010/main" val="20435229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595CC498-BCCC-4FD4-861D-7D6E93E74236}" type="slidenum">
              <a:rPr lang="zh-CN" altLang="en-US" sz="1050">
                <a:latin typeface="Gulim" panose="02010600030101010101" charset="-122"/>
                <a:ea typeface="Gulim" panose="02010600030101010101" charset="-122"/>
              </a:rPr>
              <a:pPr latinLnBrk="1">
                <a:lnSpc>
                  <a:spcPct val="100000"/>
                </a:lnSpc>
                <a:spcBef>
                  <a:spcPct val="0"/>
                </a:spcBef>
                <a:buFontTx/>
                <a:buNone/>
              </a:pPr>
              <a:t>98</a:t>
            </a:fld>
            <a:endParaRPr lang="en-US" altLang="zh-CN" sz="1050">
              <a:latin typeface="Gulim" panose="02010600030101010101" charset="-122"/>
              <a:ea typeface="Gulim" panose="02010600030101010101" charset="-122"/>
            </a:endParaRPr>
          </a:p>
        </p:txBody>
      </p:sp>
      <p:sp>
        <p:nvSpPr>
          <p:cNvPr id="5" name="Rectangle 2"/>
          <p:cNvSpPr txBox="1">
            <a:spLocks noChangeArrowheads="1"/>
          </p:cNvSpPr>
          <p:nvPr/>
        </p:nvSpPr>
        <p:spPr bwMode="auto">
          <a:xfrm>
            <a:off x="3180160" y="1269207"/>
            <a:ext cx="5829300" cy="548879"/>
          </a:xfrm>
          <a:prstGeom prst="rect">
            <a:avLst/>
          </a:prstGeom>
          <a:noFill/>
          <a:ln>
            <a:noFill/>
          </a:ln>
          <a:effectLst/>
        </p:spPr>
        <p:txBody>
          <a:bodyPr anchor="ct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en-US" altLang="zh-CN" sz="3000" b="1" dirty="0">
                <a:solidFill>
                  <a:schemeClr val="tx1"/>
                </a:solidFill>
                <a:effectLst>
                  <a:outerShdw blurRad="38100" dist="38100" dir="2700000" algn="tl">
                    <a:srgbClr val="C0C0C0"/>
                  </a:outerShdw>
                </a:effectLst>
              </a:rPr>
              <a:t>7.5 </a:t>
            </a:r>
            <a:r>
              <a:rPr lang="zh-CN" altLang="en-US" sz="3000" b="1" dirty="0">
                <a:solidFill>
                  <a:schemeClr val="tx1"/>
                </a:solidFill>
                <a:effectLst>
                  <a:outerShdw blurRad="38100" dist="38100" dir="2700000" algn="tl">
                    <a:srgbClr val="C0C0C0"/>
                  </a:outerShdw>
                </a:effectLst>
              </a:rPr>
              <a:t>线性回归</a:t>
            </a:r>
            <a:endParaRPr lang="en-US" altLang="zh-CN" sz="3000" b="1" dirty="0">
              <a:solidFill>
                <a:schemeClr val="tx1"/>
              </a:solidFill>
              <a:effectLst>
                <a:outerShdw blurRad="38100" dist="38100" dir="2700000" algn="tl">
                  <a:srgbClr val="C0C0C0"/>
                </a:outerShdw>
              </a:effectLst>
            </a:endParaRPr>
          </a:p>
        </p:txBody>
      </p:sp>
      <p:pic>
        <p:nvPicPr>
          <p:cNvPr id="24580"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13377" y="734488"/>
            <a:ext cx="9154623" cy="516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4201581" y="1437829"/>
            <a:ext cx="3312816" cy="461665"/>
          </a:xfrm>
          <a:prstGeom prst="rect">
            <a:avLst/>
          </a:prstGeom>
          <a:solidFill>
            <a:schemeClr val="accent6">
              <a:lumMod val="20000"/>
              <a:lumOff val="80000"/>
            </a:schemeClr>
          </a:solidFill>
        </p:spPr>
        <p:txBody>
          <a:bodyPr wrap="square">
            <a:spAutoFit/>
          </a:bodyPr>
          <a:lstStyle/>
          <a:p>
            <a:pPr>
              <a:defRPr/>
            </a:pPr>
            <a:r>
              <a:rPr lang="zh-CN" altLang="en-US" sz="2400" dirty="0">
                <a:latin typeface="微软雅黑" panose="020B0503020204020204" pitchFamily="34" charset="-122"/>
                <a:ea typeface="微软雅黑" panose="020B0503020204020204" pitchFamily="34" charset="-122"/>
              </a:rPr>
              <a:t>回归模型的两个参数</a:t>
            </a:r>
          </a:p>
        </p:txBody>
      </p:sp>
      <p:cxnSp>
        <p:nvCxnSpPr>
          <p:cNvPr id="11" name="直接箭头连接符 10"/>
          <p:cNvCxnSpPr>
            <a:cxnSpLocks noChangeShapeType="1"/>
            <a:stCxn id="9" idx="2"/>
          </p:cNvCxnSpPr>
          <p:nvPr/>
        </p:nvCxnSpPr>
        <p:spPr bwMode="auto">
          <a:xfrm flipH="1">
            <a:off x="3935761" y="1899494"/>
            <a:ext cx="1922229" cy="453311"/>
          </a:xfrm>
          <a:prstGeom prst="straightConnector1">
            <a:avLst/>
          </a:prstGeom>
          <a:noFill/>
          <a:ln w="28575" algn="ctr">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箭头连接符 12"/>
          <p:cNvCxnSpPr>
            <a:cxnSpLocks noChangeShapeType="1"/>
            <a:stCxn id="9" idx="2"/>
          </p:cNvCxnSpPr>
          <p:nvPr/>
        </p:nvCxnSpPr>
        <p:spPr bwMode="auto">
          <a:xfrm>
            <a:off x="5857990" y="1899494"/>
            <a:ext cx="238011" cy="507803"/>
          </a:xfrm>
          <a:prstGeom prst="straightConnector1">
            <a:avLst/>
          </a:prstGeom>
          <a:noFill/>
          <a:ln w="28575" algn="ctr">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a:xfrm>
            <a:off x="8472265" y="699993"/>
            <a:ext cx="2080405" cy="1200329"/>
          </a:xfrm>
          <a:prstGeom prst="rect">
            <a:avLst/>
          </a:prstGeom>
          <a:solidFill>
            <a:schemeClr val="accent6">
              <a:lumMod val="20000"/>
              <a:lumOff val="80000"/>
            </a:schemeClr>
          </a:solidFill>
        </p:spPr>
        <p:txBody>
          <a:bodyPr wrap="square">
            <a:spAutoFit/>
          </a:bodyPr>
          <a:lstStyle/>
          <a:p>
            <a:pPr>
              <a:defRPr/>
            </a:pPr>
            <a:r>
              <a:rPr lang="zh-CN" altLang="en-US" sz="2400" dirty="0">
                <a:latin typeface="黑体" panose="02010609060101010101" pitchFamily="49" charset="-122"/>
                <a:ea typeface="黑体" panose="02010609060101010101" pitchFamily="49" charset="-122"/>
              </a:rPr>
              <a:t>需要从标注数据中学习得到</a:t>
            </a:r>
          </a:p>
          <a:p>
            <a:pPr>
              <a:defRPr/>
            </a:pP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监督学习</a:t>
            </a:r>
            <a:r>
              <a:rPr lang="en-US" altLang="zh-CN" sz="2400" dirty="0">
                <a:latin typeface="黑体" panose="02010609060101010101" pitchFamily="49" charset="-122"/>
                <a:ea typeface="黑体" panose="02010609060101010101" pitchFamily="49" charset="-122"/>
              </a:rPr>
              <a:t>) </a:t>
            </a:r>
            <a:endParaRPr lang="zh-CN" altLang="en-US" sz="2400" dirty="0"/>
          </a:p>
        </p:txBody>
      </p:sp>
      <p:cxnSp>
        <p:nvCxnSpPr>
          <p:cNvPr id="16" name="直接箭头连接符 15"/>
          <p:cNvCxnSpPr>
            <a:cxnSpLocks noChangeShapeType="1"/>
          </p:cNvCxnSpPr>
          <p:nvPr/>
        </p:nvCxnSpPr>
        <p:spPr bwMode="auto">
          <a:xfrm flipH="1">
            <a:off x="7514397" y="1269206"/>
            <a:ext cx="957868" cy="359594"/>
          </a:xfrm>
          <a:prstGeom prst="straightConnector1">
            <a:avLst/>
          </a:prstGeom>
          <a:noFill/>
          <a:ln w="28575" algn="ctr">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0839593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8290CEA9-5614-4121-99D5-59BC54A5C4DA}" type="slidenum">
              <a:rPr lang="zh-CN" altLang="en-US" sz="1050">
                <a:latin typeface="Gulim" panose="02010600030101010101" charset="-122"/>
                <a:ea typeface="Gulim" panose="02010600030101010101" charset="-122"/>
              </a:rPr>
              <a:pPr latinLnBrk="1">
                <a:lnSpc>
                  <a:spcPct val="100000"/>
                </a:lnSpc>
                <a:spcBef>
                  <a:spcPct val="0"/>
                </a:spcBef>
                <a:buFontTx/>
                <a:buNone/>
              </a:pPr>
              <a:t>99</a:t>
            </a:fld>
            <a:endParaRPr lang="en-US" altLang="zh-CN" sz="1050">
              <a:latin typeface="Gulim" panose="02010600030101010101" charset="-122"/>
              <a:ea typeface="Gulim" panose="02010600030101010101" charset="-122"/>
            </a:endParaRPr>
          </a:p>
        </p:txBody>
      </p:sp>
      <p:pic>
        <p:nvPicPr>
          <p:cNvPr id="26627" name="图片 1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9992" y="1431133"/>
            <a:ext cx="8642747" cy="3945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78052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5B047592-CE27-4ABB-BE4C-6EA90B953CCF}" type="slidenum">
              <a:rPr lang="zh-CN" altLang="en-US" sz="1050">
                <a:latin typeface="Gulim" panose="02010600030101010101" charset="-122"/>
                <a:ea typeface="Gulim" panose="02010600030101010101" charset="-122"/>
              </a:rPr>
              <a:pPr latinLnBrk="1">
                <a:lnSpc>
                  <a:spcPct val="100000"/>
                </a:lnSpc>
                <a:spcBef>
                  <a:spcPct val="0"/>
                </a:spcBef>
                <a:buFontTx/>
                <a:buNone/>
              </a:pPr>
              <a:t>100</a:t>
            </a:fld>
            <a:endParaRPr lang="en-US" altLang="zh-CN" sz="1050">
              <a:latin typeface="Gulim" panose="02010600030101010101" charset="-122"/>
              <a:ea typeface="Gulim" panose="02010600030101010101" charset="-122"/>
            </a:endParaRPr>
          </a:p>
        </p:txBody>
      </p:sp>
      <p:pic>
        <p:nvPicPr>
          <p:cNvPr id="27651" name="图片 1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21644" y="1045369"/>
            <a:ext cx="8640366" cy="4716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96209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65A20DDE-28D1-407D-93FA-0AAF59758BA6}" type="slidenum">
              <a:rPr lang="zh-CN" altLang="en-US" sz="1050">
                <a:latin typeface="Gulim" panose="02010600030101010101" charset="-122"/>
                <a:ea typeface="Gulim" panose="02010600030101010101" charset="-122"/>
              </a:rPr>
              <a:pPr latinLnBrk="1">
                <a:lnSpc>
                  <a:spcPct val="100000"/>
                </a:lnSpc>
                <a:spcBef>
                  <a:spcPct val="0"/>
                </a:spcBef>
                <a:buFontTx/>
                <a:buNone/>
              </a:pPr>
              <a:t>101</a:t>
            </a:fld>
            <a:endParaRPr lang="en-US" altLang="zh-CN" sz="1050">
              <a:latin typeface="Gulim" panose="02010600030101010101" charset="-122"/>
              <a:ea typeface="Gulim" panose="02010600030101010101" charset="-122"/>
            </a:endParaRPr>
          </a:p>
        </p:txBody>
      </p:sp>
      <p:pic>
        <p:nvPicPr>
          <p:cNvPr id="28675"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21644" y="929880"/>
            <a:ext cx="8533210" cy="4855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45615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9698" name="内容占位符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21645" y="1148955"/>
            <a:ext cx="8539163" cy="4612481"/>
          </a:xfrm>
        </p:spPr>
      </p:pic>
      <p:sp>
        <p:nvSpPr>
          <p:cNvPr id="29699"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C315962B-3B04-4252-A14C-014AE4F865D1}" type="slidenum">
              <a:rPr lang="zh-CN" altLang="en-US" sz="1050">
                <a:latin typeface="Gulim" panose="02010600030101010101" charset="-122"/>
                <a:ea typeface="Gulim" panose="02010600030101010101" charset="-122"/>
              </a:rPr>
              <a:pPr latinLnBrk="1">
                <a:lnSpc>
                  <a:spcPct val="100000"/>
                </a:lnSpc>
                <a:spcBef>
                  <a:spcPct val="0"/>
                </a:spcBef>
                <a:buFontTx/>
                <a:buNone/>
              </a:pPr>
              <a:t>102</a:t>
            </a:fld>
            <a:endParaRPr lang="en-US" altLang="zh-CN" sz="1050">
              <a:latin typeface="Gulim" panose="02010600030101010101" charset="-122"/>
              <a:ea typeface="Gulim" panose="02010600030101010101" charset="-122"/>
            </a:endParaRPr>
          </a:p>
        </p:txBody>
      </p:sp>
    </p:spTree>
    <p:extLst>
      <p:ext uri="{BB962C8B-B14F-4D97-AF65-F5344CB8AC3E}">
        <p14:creationId xmlns:p14="http://schemas.microsoft.com/office/powerpoint/2010/main" val="238540265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722" name="内容占位符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37149" y="1131095"/>
            <a:ext cx="8479631" cy="4493419"/>
          </a:xfrm>
        </p:spPr>
      </p:pic>
      <p:sp>
        <p:nvSpPr>
          <p:cNvPr id="30723"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50F83F7A-AFC7-4EF8-B348-03180C48A532}" type="slidenum">
              <a:rPr lang="zh-CN" altLang="en-US" sz="1050">
                <a:latin typeface="Gulim" panose="02010600030101010101" charset="-122"/>
                <a:ea typeface="Gulim" panose="02010600030101010101" charset="-122"/>
              </a:rPr>
              <a:pPr latinLnBrk="1">
                <a:lnSpc>
                  <a:spcPct val="100000"/>
                </a:lnSpc>
                <a:spcBef>
                  <a:spcPct val="0"/>
                </a:spcBef>
                <a:buFontTx/>
                <a:buNone/>
              </a:pPr>
              <a:t>103</a:t>
            </a:fld>
            <a:endParaRPr lang="en-US" altLang="zh-CN" sz="1050">
              <a:latin typeface="Gulim" panose="02010600030101010101" charset="-122"/>
              <a:ea typeface="Gulim" panose="02010600030101010101" charset="-122"/>
            </a:endParaRPr>
          </a:p>
        </p:txBody>
      </p:sp>
    </p:spTree>
    <p:extLst>
      <p:ext uri="{BB962C8B-B14F-4D97-AF65-F5344CB8AC3E}">
        <p14:creationId xmlns:p14="http://schemas.microsoft.com/office/powerpoint/2010/main" val="36401506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矩形 1"/>
          <p:cNvSpPr>
            <a:spLocks noChangeArrowheads="1"/>
          </p:cNvSpPr>
          <p:nvPr/>
        </p:nvSpPr>
        <p:spPr bwMode="auto">
          <a:xfrm>
            <a:off x="4302441" y="311140"/>
            <a:ext cx="32277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zh-CN" altLang="en-US" sz="2400" b="1" dirty="0">
                <a:latin typeface="微软雅黑" panose="020B0503020204020204" pitchFamily="34" charset="-122"/>
                <a:ea typeface="微软雅黑" panose="020B0503020204020204" pitchFamily="34" charset="-122"/>
              </a:rPr>
              <a:t>总结：线性回归流程</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82691" y="2834879"/>
            <a:ext cx="2308622" cy="1626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31520" y="4461274"/>
            <a:ext cx="2333625" cy="1072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a:spLocks noChangeArrowheads="1"/>
          </p:cNvSpPr>
          <p:nvPr/>
        </p:nvSpPr>
        <p:spPr bwMode="auto">
          <a:xfrm>
            <a:off x="1843089" y="2733676"/>
            <a:ext cx="2115741"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x</a:t>
            </a:r>
            <a:r>
              <a:rPr lang="en-US" altLang="zh-CN" sz="1800" baseline="-250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x</a:t>
            </a:r>
            <a:r>
              <a:rPr lang="en-US" altLang="zh-CN" sz="1800" baseline="-25000" dirty="0">
                <a:latin typeface="微软雅黑" panose="020B0503020204020204" pitchFamily="34" charset="-122"/>
                <a:ea typeface="微软雅黑" panose="020B0503020204020204" pitchFamily="34" charset="-122"/>
              </a:rPr>
              <a:t>2</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x</a:t>
            </a:r>
            <a:r>
              <a:rPr lang="en-US" altLang="zh-CN" sz="1800" baseline="-25000" dirty="0" err="1">
                <a:latin typeface="微软雅黑" panose="020B0503020204020204" pitchFamily="34" charset="-122"/>
                <a:ea typeface="微软雅黑" panose="020B0503020204020204" pitchFamily="34" charset="-122"/>
              </a:rPr>
              <a:t>n</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去描述特征里面的分量，比如</a:t>
            </a:r>
            <a:r>
              <a:rPr lang="en-US" altLang="zh-CN" sz="1800" dirty="0">
                <a:latin typeface="微软雅黑" panose="020B0503020204020204" pitchFamily="34" charset="-122"/>
                <a:ea typeface="微软雅黑" panose="020B0503020204020204" pitchFamily="34" charset="-122"/>
              </a:rPr>
              <a:t>x</a:t>
            </a:r>
            <a:r>
              <a:rPr lang="en-US" altLang="zh-CN" sz="1800" baseline="-25000" dirty="0">
                <a:latin typeface="微软雅黑" panose="020B0503020204020204" pitchFamily="34" charset="-122"/>
                <a:ea typeface="微软雅黑" panose="020B0503020204020204" pitchFamily="34" charset="-122"/>
              </a:rPr>
              <a:t>1</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房间的面积，</a:t>
            </a:r>
            <a:r>
              <a:rPr lang="en-US" altLang="zh-CN" sz="1800" dirty="0">
                <a:latin typeface="微软雅黑" panose="020B0503020204020204" pitchFamily="34" charset="-122"/>
                <a:ea typeface="微软雅黑" panose="020B0503020204020204" pitchFamily="34" charset="-122"/>
              </a:rPr>
              <a:t>x</a:t>
            </a:r>
            <a:r>
              <a:rPr lang="en-US" altLang="zh-CN" sz="1800" baseline="-25000" dirty="0">
                <a:latin typeface="微软雅黑" panose="020B0503020204020204" pitchFamily="34" charset="-122"/>
                <a:ea typeface="微软雅黑" panose="020B0503020204020204" pitchFamily="34" charset="-122"/>
              </a:rPr>
              <a:t>2</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房间的朝向，等等，我们可以做出一个估计函数</a:t>
            </a:r>
            <a:endParaRPr lang="zh-CN" altLang="en-US" sz="1800" dirty="0">
              <a:latin typeface="Times New Roman" panose="02020603050405020304" pitchFamily="18" charset="0"/>
              <a:ea typeface="Gulim" panose="02010600030101010101" charset="-122"/>
            </a:endParaRPr>
          </a:p>
        </p:txBody>
      </p:sp>
      <p:sp>
        <p:nvSpPr>
          <p:cNvPr id="8" name="矩形 7"/>
          <p:cNvSpPr>
            <a:spLocks noChangeArrowheads="1"/>
          </p:cNvSpPr>
          <p:nvPr/>
        </p:nvSpPr>
        <p:spPr bwMode="auto">
          <a:xfrm>
            <a:off x="2049067" y="1712119"/>
            <a:ext cx="9453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zh-CN" altLang="en-US" sz="1800" b="1" dirty="0">
                <a:solidFill>
                  <a:srgbClr val="0070C0"/>
                </a:solidFill>
                <a:latin typeface="微软雅黑" panose="020B0503020204020204" pitchFamily="34" charset="-122"/>
                <a:ea typeface="微软雅黑" panose="020B0503020204020204" pitchFamily="34" charset="-122"/>
                <a:sym typeface="+mn-ea"/>
              </a:rPr>
              <a:t>模型：</a:t>
            </a:r>
            <a:endParaRPr lang="zh-CN" altLang="en-US" sz="1500" dirty="0">
              <a:latin typeface="微软雅黑" panose="020B0503020204020204" pitchFamily="34" charset="-122"/>
              <a:ea typeface="微软雅黑" panose="020B0503020204020204" pitchFamily="34" charset="-122"/>
              <a:sym typeface="+mn-ea"/>
            </a:endParaRPr>
          </a:p>
        </p:txBody>
      </p:sp>
      <p:sp>
        <p:nvSpPr>
          <p:cNvPr id="9" name="矩形 8"/>
          <p:cNvSpPr>
            <a:spLocks noChangeArrowheads="1"/>
          </p:cNvSpPr>
          <p:nvPr/>
        </p:nvSpPr>
        <p:spPr bwMode="auto">
          <a:xfrm>
            <a:off x="4692254" y="1708547"/>
            <a:ext cx="1035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zh-CN" altLang="en-US" sz="1800" b="1" dirty="0">
                <a:solidFill>
                  <a:srgbClr val="0070C0"/>
                </a:solidFill>
                <a:latin typeface="微软雅黑" panose="020B0503020204020204" pitchFamily="34" charset="-122"/>
                <a:ea typeface="微软雅黑" panose="020B0503020204020204" pitchFamily="34" charset="-122"/>
                <a:sym typeface="+mn-ea"/>
              </a:rPr>
              <a:t>策略：</a:t>
            </a:r>
            <a:endParaRPr lang="zh-CN" altLang="en-US" sz="1500" dirty="0">
              <a:latin typeface="微软雅黑" panose="020B0503020204020204" pitchFamily="34" charset="-122"/>
              <a:ea typeface="微软雅黑" panose="020B0503020204020204" pitchFamily="34" charset="-122"/>
              <a:sym typeface="+mn-ea"/>
            </a:endParaRPr>
          </a:p>
        </p:txBody>
      </p:sp>
      <p:sp>
        <p:nvSpPr>
          <p:cNvPr id="10" name="矩形 9"/>
          <p:cNvSpPr>
            <a:spLocks noChangeArrowheads="1"/>
          </p:cNvSpPr>
          <p:nvPr/>
        </p:nvSpPr>
        <p:spPr bwMode="auto">
          <a:xfrm>
            <a:off x="7424739" y="1708547"/>
            <a:ext cx="20204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zh-CN" altLang="en-US" sz="1800" b="1" dirty="0">
                <a:solidFill>
                  <a:srgbClr val="0070C0"/>
                </a:solidFill>
                <a:latin typeface="微软雅黑" panose="020B0503020204020204" pitchFamily="34" charset="-122"/>
                <a:ea typeface="微软雅黑" panose="020B0503020204020204" pitchFamily="34" charset="-122"/>
                <a:sym typeface="+mn-ea"/>
              </a:rPr>
              <a:t>算法：梯度下降</a:t>
            </a:r>
            <a:endParaRPr lang="zh-CN" altLang="en-US" sz="1500" dirty="0">
              <a:latin typeface="微软雅黑" panose="020B0503020204020204" pitchFamily="34" charset="-122"/>
              <a:ea typeface="微软雅黑" panose="020B0503020204020204" pitchFamily="34" charset="-122"/>
              <a:sym typeface="+mn-ea"/>
            </a:endParaRPr>
          </a:p>
        </p:txBody>
      </p:sp>
      <p:sp>
        <p:nvSpPr>
          <p:cNvPr id="11" name="矩形 10"/>
          <p:cNvSpPr>
            <a:spLocks noChangeArrowheads="1"/>
          </p:cNvSpPr>
          <p:nvPr/>
        </p:nvSpPr>
        <p:spPr bwMode="auto">
          <a:xfrm>
            <a:off x="1714500" y="2322910"/>
            <a:ext cx="2377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 typeface="宋体" panose="02010600030101010101" pitchFamily="2" charset="-122"/>
              <a:buAutoNum type="circleNumDbPlain"/>
            </a:pPr>
            <a:r>
              <a:rPr lang="zh-CN" altLang="en-US" sz="1800" dirty="0">
                <a:latin typeface="微软雅黑" panose="020B0503020204020204" pitchFamily="34" charset="-122"/>
                <a:ea typeface="微软雅黑" panose="020B0503020204020204" pitchFamily="34" charset="-122"/>
              </a:rPr>
              <a:t>选择拟合函数形式</a:t>
            </a:r>
            <a:endParaRPr lang="en-US" altLang="zh-CN" sz="1800" dirty="0">
              <a:latin typeface="微软雅黑" panose="020B0503020204020204" pitchFamily="34" charset="-122"/>
              <a:ea typeface="微软雅黑" panose="020B0503020204020204" pitchFamily="34" charset="-122"/>
            </a:endParaRPr>
          </a:p>
        </p:txBody>
      </p:sp>
      <p:sp>
        <p:nvSpPr>
          <p:cNvPr id="13" name="矩形 12"/>
          <p:cNvSpPr>
            <a:spLocks noChangeArrowheads="1"/>
          </p:cNvSpPr>
          <p:nvPr/>
        </p:nvSpPr>
        <p:spPr bwMode="auto">
          <a:xfrm>
            <a:off x="4499372" y="2322910"/>
            <a:ext cx="2377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 typeface="宋体" panose="02010600030101010101" pitchFamily="2" charset="-122"/>
              <a:buAutoNum type="circleNumDbPlain" startAt="2"/>
            </a:pPr>
            <a:r>
              <a:rPr lang="zh-CN" altLang="en-US" sz="1800">
                <a:latin typeface="微软雅黑" panose="020B0503020204020204" pitchFamily="34" charset="-122"/>
                <a:ea typeface="微软雅黑" panose="020B0503020204020204" pitchFamily="34" charset="-122"/>
              </a:rPr>
              <a:t>确定损失函数形式</a:t>
            </a:r>
            <a:endParaRPr lang="en-US" altLang="zh-CN" sz="1800">
              <a:latin typeface="微软雅黑" panose="020B0503020204020204" pitchFamily="34" charset="-122"/>
              <a:ea typeface="微软雅黑" panose="020B0503020204020204" pitchFamily="34" charset="-122"/>
            </a:endParaRPr>
          </a:p>
        </p:txBody>
      </p:sp>
      <p:sp>
        <p:nvSpPr>
          <p:cNvPr id="14" name="矩形 13"/>
          <p:cNvSpPr>
            <a:spLocks noChangeArrowheads="1"/>
          </p:cNvSpPr>
          <p:nvPr/>
        </p:nvSpPr>
        <p:spPr bwMode="auto">
          <a:xfrm>
            <a:off x="6865145" y="2311004"/>
            <a:ext cx="3640931"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）首先对</a:t>
            </a:r>
            <a:r>
              <a:rPr lang="en-US" altLang="zh-CN" sz="1800" dirty="0" err="1">
                <a:latin typeface="微软雅黑" panose="020B0503020204020204" pitchFamily="34" charset="-122"/>
                <a:ea typeface="微软雅黑" panose="020B0503020204020204" pitchFamily="34" charset="-122"/>
              </a:rPr>
              <a:t>θ</a:t>
            </a:r>
            <a:r>
              <a:rPr lang="zh-CN" altLang="en-US" sz="1800" dirty="0">
                <a:latin typeface="微软雅黑" panose="020B0503020204020204" pitchFamily="34" charset="-122"/>
                <a:ea typeface="微软雅黑" panose="020B0503020204020204" pitchFamily="34" charset="-122"/>
              </a:rPr>
              <a:t>赋值，这个值可以是随机的，也可以让</a:t>
            </a:r>
            <a:r>
              <a:rPr lang="en-US" altLang="zh-CN" sz="1800" dirty="0" err="1">
                <a:latin typeface="微软雅黑" panose="020B0503020204020204" pitchFamily="34" charset="-122"/>
                <a:ea typeface="微软雅黑" panose="020B0503020204020204" pitchFamily="34" charset="-122"/>
              </a:rPr>
              <a:t>θ</a:t>
            </a:r>
            <a:r>
              <a:rPr lang="zh-CN" altLang="en-US" sz="1800" dirty="0">
                <a:latin typeface="微软雅黑" panose="020B0503020204020204" pitchFamily="34" charset="-122"/>
                <a:ea typeface="微软雅黑" panose="020B0503020204020204" pitchFamily="34" charset="-122"/>
              </a:rPr>
              <a:t>是一个全零的向量。</a:t>
            </a:r>
            <a:br>
              <a:rPr lang="zh-CN" altLang="en-US" sz="1800" dirty="0">
                <a:latin typeface="微软雅黑" panose="020B0503020204020204" pitchFamily="34" charset="-122"/>
                <a:ea typeface="微软雅黑" panose="020B0503020204020204" pitchFamily="34" charset="-122"/>
              </a:rPr>
            </a:b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）改变</a:t>
            </a:r>
            <a:r>
              <a:rPr lang="en-US" altLang="zh-CN" sz="1800" dirty="0" err="1">
                <a:latin typeface="微软雅黑" panose="020B0503020204020204" pitchFamily="34" charset="-122"/>
                <a:ea typeface="微软雅黑" panose="020B0503020204020204" pitchFamily="34" charset="-122"/>
              </a:rPr>
              <a:t>θ</a:t>
            </a:r>
            <a:r>
              <a:rPr lang="zh-CN" altLang="en-US" sz="1800" dirty="0">
                <a:latin typeface="微软雅黑" panose="020B0503020204020204" pitchFamily="34" charset="-122"/>
                <a:ea typeface="微软雅黑" panose="020B0503020204020204" pitchFamily="34" charset="-122"/>
              </a:rPr>
              <a:t>的值，使得</a:t>
            </a:r>
            <a:r>
              <a:rPr lang="en-US" altLang="zh-CN" sz="1800" dirty="0">
                <a:latin typeface="微软雅黑" panose="020B0503020204020204" pitchFamily="34" charset="-122"/>
                <a:ea typeface="微软雅黑" panose="020B0503020204020204" pitchFamily="34" charset="-122"/>
              </a:rPr>
              <a:t>J(</a:t>
            </a:r>
            <a:r>
              <a:rPr lang="en-US" altLang="zh-CN" sz="1800" dirty="0" err="1">
                <a:latin typeface="微软雅黑" panose="020B0503020204020204" pitchFamily="34" charset="-122"/>
                <a:ea typeface="微软雅黑" panose="020B0503020204020204" pitchFamily="34" charset="-122"/>
              </a:rPr>
              <a:t>θ</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按梯度下降的方向进行减少，算法的结束将是在</a:t>
            </a:r>
            <a:r>
              <a:rPr lang="en-US" altLang="zh-CN" sz="1800" dirty="0" err="1">
                <a:latin typeface="微软雅黑" panose="020B0503020204020204" pitchFamily="34" charset="-122"/>
                <a:ea typeface="微软雅黑" panose="020B0503020204020204" pitchFamily="34" charset="-122"/>
              </a:rPr>
              <a:t>θ</a:t>
            </a:r>
            <a:r>
              <a:rPr lang="zh-CN" altLang="en-US" sz="1800" dirty="0">
                <a:latin typeface="微软雅黑" panose="020B0503020204020204" pitchFamily="34" charset="-122"/>
                <a:ea typeface="微软雅黑" panose="020B0503020204020204" pitchFamily="34" charset="-122"/>
              </a:rPr>
              <a:t>下降到无法继续下降为止。</a:t>
            </a:r>
            <a:br>
              <a:rPr lang="zh-CN" altLang="en-US" sz="1800" dirty="0">
                <a:latin typeface="Times New Roman" panose="02020603050405020304" pitchFamily="18" charset="0"/>
                <a:ea typeface="Gulim" panose="02010600030101010101" charset="-122"/>
              </a:rPr>
            </a:br>
            <a:endParaRPr lang="zh-CN" altLang="en-US" sz="1800" dirty="0">
              <a:latin typeface="Times New Roman" panose="02020603050405020304" pitchFamily="18" charset="0"/>
              <a:ea typeface="Gulim" panose="02010600030101010101" charset="-122"/>
            </a:endParaRPr>
          </a:p>
        </p:txBody>
      </p:sp>
      <p:pic>
        <p:nvPicPr>
          <p:cNvPr id="16" name="图片 1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96138" y="5163741"/>
            <a:ext cx="2156222"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1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275911" y="5534025"/>
            <a:ext cx="1902619"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17"/>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55707" y="4056460"/>
            <a:ext cx="1808560" cy="1154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p:cNvSpPr>
            <a:spLocks noChangeArrowheads="1"/>
          </p:cNvSpPr>
          <p:nvPr/>
        </p:nvSpPr>
        <p:spPr bwMode="auto">
          <a:xfrm>
            <a:off x="1700213" y="4719638"/>
            <a:ext cx="2452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en-US" altLang="zh-CN" sz="1800" i="1">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a:latin typeface="Times New Roman" panose="02020603050405020304" pitchFamily="18" charset="0"/>
                <a:ea typeface="微软雅黑" panose="020B0503020204020204" pitchFamily="34" charset="-122"/>
                <a:cs typeface="Times New Roman" panose="02020603050405020304" pitchFamily="18" charset="0"/>
              </a:rPr>
              <a:t>h</a:t>
            </a:r>
            <a:r>
              <a:rPr lang="el-GR" altLang="zh-CN" sz="1800" baseline="-25000">
                <a:latin typeface="Times New Roman" panose="02020603050405020304" pitchFamily="18" charset="0"/>
                <a:ea typeface="微软雅黑" panose="020B0503020204020204" pitchFamily="34" charset="-122"/>
                <a:cs typeface="Times New Roman" panose="02020603050405020304" pitchFamily="18" charset="0"/>
              </a:rPr>
              <a:t>θ</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1800" i="1">
                <a:latin typeface="Times New Roman" panose="02020603050405020304" pitchFamily="18" charset="0"/>
                <a:ea typeface="微软雅黑" panose="020B0503020204020204" pitchFamily="34" charset="-122"/>
                <a:cs typeface="Times New Roman" panose="02020603050405020304" pitchFamily="18" charset="0"/>
              </a:rPr>
              <a:t>θ</a:t>
            </a:r>
            <a:r>
              <a:rPr lang="en-US" altLang="zh-CN" sz="1800" baseline="-2500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1800" i="1">
                <a:latin typeface="Times New Roman" panose="02020603050405020304" pitchFamily="18" charset="0"/>
                <a:ea typeface="微软雅黑" panose="020B0503020204020204" pitchFamily="34" charset="-122"/>
                <a:cs typeface="Times New Roman" panose="02020603050405020304" pitchFamily="18" charset="0"/>
              </a:rPr>
              <a:t>θ</a:t>
            </a:r>
            <a:r>
              <a:rPr lang="en-US" altLang="zh-CN" sz="1800" baseline="-2500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800" baseline="-2500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1800" i="1">
                <a:latin typeface="Times New Roman" panose="02020603050405020304" pitchFamily="18" charset="0"/>
                <a:ea typeface="微软雅黑" panose="020B0503020204020204" pitchFamily="34" charset="-122"/>
                <a:cs typeface="Times New Roman" panose="02020603050405020304" pitchFamily="18" charset="0"/>
              </a:rPr>
              <a:t>θ</a:t>
            </a:r>
            <a:r>
              <a:rPr lang="en-US" altLang="zh-CN" sz="1800" baseline="-2500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800" i="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800" baseline="-25000">
                <a:latin typeface="Times New Roman" panose="02020603050405020304" pitchFamily="18" charset="0"/>
                <a:ea typeface="微软雅黑" panose="020B0503020204020204" pitchFamily="34" charset="-122"/>
                <a:cs typeface="Times New Roman" panose="02020603050405020304" pitchFamily="18" charset="0"/>
              </a:rPr>
              <a:t>2</a:t>
            </a:r>
          </a:p>
        </p:txBody>
      </p:sp>
    </p:spTree>
    <p:extLst>
      <p:ext uri="{BB962C8B-B14F-4D97-AF65-F5344CB8AC3E}">
        <p14:creationId xmlns:p14="http://schemas.microsoft.com/office/powerpoint/2010/main" val="2822875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3" grpId="0"/>
      <p:bldP spid="14" grpId="0"/>
      <p:bldP spid="19" grpId="0"/>
    </p:bld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32770" name="矩形 1"/>
          <p:cNvSpPr>
            <a:spLocks noChangeArrowheads="1"/>
          </p:cNvSpPr>
          <p:nvPr/>
        </p:nvSpPr>
        <p:spPr bwMode="auto">
          <a:xfrm>
            <a:off x="2855641" y="996555"/>
            <a:ext cx="2672432" cy="461665"/>
          </a:xfrm>
          <a:prstGeom prst="rect">
            <a:avLst/>
          </a:prstGeom>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zh-CN" altLang="en-US" sz="2400" b="1" dirty="0">
                <a:latin typeface="微软雅黑" panose="020B0503020204020204" pitchFamily="34" charset="-122"/>
                <a:ea typeface="微软雅黑" panose="020B0503020204020204" pitchFamily="34" charset="-122"/>
              </a:rPr>
              <a:t>线性回归扩展</a:t>
            </a:r>
          </a:p>
        </p:txBody>
      </p:sp>
      <p:sp>
        <p:nvSpPr>
          <p:cNvPr id="3" name="矩形 2"/>
          <p:cNvSpPr>
            <a:spLocks noChangeArrowheads="1"/>
          </p:cNvSpPr>
          <p:nvPr/>
        </p:nvSpPr>
        <p:spPr bwMode="auto">
          <a:xfrm>
            <a:off x="1785938" y="1552575"/>
            <a:ext cx="857607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048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50000"/>
              </a:lnSpc>
              <a:spcBef>
                <a:spcPct val="0"/>
              </a:spcBef>
              <a:buFontTx/>
              <a:buNone/>
            </a:pPr>
            <a:r>
              <a:rPr lang="zh-CN" altLang="en-US" sz="1800" b="1" dirty="0">
                <a:latin typeface="微软雅黑" panose="020B0503020204020204" pitchFamily="34" charset="-122"/>
                <a:ea typeface="微软雅黑" panose="020B0503020204020204" pitchFamily="34" charset="-122"/>
              </a:rPr>
              <a:t>线性回归扩展算法</a:t>
            </a:r>
            <a:r>
              <a:rPr lang="zh-CN" altLang="en-US" sz="1800" dirty="0">
                <a:latin typeface="微软雅黑" panose="020B0503020204020204" pitchFamily="34" charset="-122"/>
                <a:ea typeface="微软雅黑" panose="020B0503020204020204" pitchFamily="34" charset="-122"/>
              </a:rPr>
              <a:t>用简单的基函数</a:t>
            </a:r>
            <a:r>
              <a:rPr lang="el-GR" altLang="zh-CN" sz="1800" dirty="0">
                <a:latin typeface="微软雅黑" panose="020B0503020204020204" pitchFamily="34" charset="-122"/>
                <a:ea typeface="微软雅黑" panose="020B0503020204020204" pitchFamily="34" charset="-122"/>
              </a:rPr>
              <a:t>Φ</a:t>
            </a:r>
            <a:r>
              <a:rPr lang="en-US" altLang="zh-CN" sz="1800" dirty="0">
                <a:latin typeface="微软雅黑" panose="020B0503020204020204" pitchFamily="34" charset="-122"/>
                <a:ea typeface="微软雅黑" panose="020B0503020204020204" pitchFamily="34" charset="-122"/>
              </a:rPr>
              <a:t>(x)</a:t>
            </a:r>
            <a:r>
              <a:rPr lang="zh-CN" altLang="en-US" sz="1800" dirty="0">
                <a:latin typeface="微软雅黑" panose="020B0503020204020204" pitchFamily="34" charset="-122"/>
                <a:ea typeface="微软雅黑" panose="020B0503020204020204" pitchFamily="34" charset="-122"/>
              </a:rPr>
              <a:t>替换输入变量</a:t>
            </a:r>
            <a:r>
              <a:rPr lang="en-US" altLang="zh-CN" sz="1800" dirty="0">
                <a:latin typeface="微软雅黑" panose="020B0503020204020204" pitchFamily="34" charset="-122"/>
                <a:ea typeface="微软雅黑" panose="020B0503020204020204" pitchFamily="34" charset="-122"/>
              </a:rPr>
              <a:t>x</a:t>
            </a:r>
            <a:r>
              <a:rPr lang="zh-CN" altLang="en-US" sz="1800" dirty="0">
                <a:latin typeface="微软雅黑" panose="020B0503020204020204" pitchFamily="34" charset="-122"/>
                <a:ea typeface="微软雅黑" panose="020B0503020204020204" pitchFamily="34" charset="-122"/>
              </a:rPr>
              <a:t>。这样我们就把线性拟合形式扩展到了固定非线性函数的线性组合。 </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2048" y="2955131"/>
            <a:ext cx="264914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79997" y="4311253"/>
            <a:ext cx="4552950" cy="613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25292" y="4849417"/>
            <a:ext cx="2697956"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a:spLocks noChangeArrowheads="1"/>
          </p:cNvSpPr>
          <p:nvPr/>
        </p:nvSpPr>
        <p:spPr bwMode="auto">
          <a:xfrm>
            <a:off x="1879999" y="3794522"/>
            <a:ext cx="17620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zh-CN" altLang="en-US" sz="1800" b="1">
                <a:solidFill>
                  <a:srgbClr val="0070C0"/>
                </a:solidFill>
                <a:latin typeface="微软雅黑" panose="020B0503020204020204" pitchFamily="34" charset="-122"/>
                <a:ea typeface="微软雅黑" panose="020B0503020204020204" pitchFamily="34" charset="-122"/>
              </a:rPr>
              <a:t>多项式拟合：</a:t>
            </a:r>
            <a:r>
              <a:rPr lang="zh-CN" altLang="en-US" sz="1500">
                <a:latin typeface="微软雅黑" panose="020B0503020204020204" pitchFamily="34" charset="-122"/>
                <a:ea typeface="微软雅黑" panose="020B0503020204020204" pitchFamily="34" charset="-122"/>
              </a:rPr>
              <a:t>取</a:t>
            </a:r>
          </a:p>
        </p:txBody>
      </p:sp>
      <p:pic>
        <p:nvPicPr>
          <p:cNvPr id="10" name="图片 9"/>
          <p:cNvPicPr>
            <a:picLocks noChangeAspect="1"/>
          </p:cNvPicPr>
          <p:nvPr/>
        </p:nvPicPr>
        <p:blipFill>
          <a:blip r:embed="rId5">
            <a:extLst>
              <a:ext uri="{28A0092B-C50C-407E-A947-70E740481C1C}">
                <a14:useLocalDpi xmlns:a14="http://schemas.microsoft.com/office/drawing/2010/main" val="0"/>
              </a:ext>
            </a:extLst>
          </a:blip>
          <a:srcRect t="37805"/>
          <a:stretch>
            <a:fillRect/>
          </a:stretch>
        </p:blipFill>
        <p:spPr bwMode="auto">
          <a:xfrm>
            <a:off x="2153842" y="2577704"/>
            <a:ext cx="4143375" cy="3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27772" y="2952751"/>
            <a:ext cx="2789634" cy="706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p:cNvPicPr>
            <a:picLocks noChangeAspect="1"/>
          </p:cNvPicPr>
          <p:nvPr/>
        </p:nvPicPr>
        <p:blipFill>
          <a:blip r:embed="rId7">
            <a:extLst>
              <a:ext uri="{28A0092B-C50C-407E-A947-70E740481C1C}">
                <a14:useLocalDpi xmlns:a14="http://schemas.microsoft.com/office/drawing/2010/main" val="0"/>
              </a:ext>
            </a:extLst>
          </a:blip>
          <a:srcRect t="11562"/>
          <a:stretch>
            <a:fillRect/>
          </a:stretch>
        </p:blipFill>
        <p:spPr bwMode="auto">
          <a:xfrm>
            <a:off x="3580211" y="3818336"/>
            <a:ext cx="1153715" cy="298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圆角右箭头 12"/>
          <p:cNvSpPr/>
          <p:nvPr/>
        </p:nvSpPr>
        <p:spPr>
          <a:xfrm rot="10800000" flipH="1">
            <a:off x="2692005" y="2938463"/>
            <a:ext cx="296465" cy="346472"/>
          </a:xfrm>
          <a:prstGeom prst="bentArrow">
            <a:avLst>
              <a:gd name="adj1" fmla="val 25000"/>
              <a:gd name="adj2" fmla="val 27054"/>
              <a:gd name="adj3" fmla="val 35271"/>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75">
              <a:solidFill>
                <a:schemeClr val="tx1"/>
              </a:solidFill>
            </a:endParaRPr>
          </a:p>
        </p:txBody>
      </p:sp>
      <p:sp>
        <p:nvSpPr>
          <p:cNvPr id="14" name="矩形 13"/>
          <p:cNvSpPr/>
          <p:nvPr/>
        </p:nvSpPr>
        <p:spPr>
          <a:xfrm>
            <a:off x="9660731" y="4936331"/>
            <a:ext cx="660758" cy="282834"/>
          </a:xfrm>
          <a:prstGeom prst="rect">
            <a:avLst/>
          </a:prstGeom>
        </p:spPr>
        <p:txBody>
          <a:bodyPr wrap="none">
            <a:spAutoFit/>
          </a:bodyPr>
          <a:lstStyle/>
          <a:p>
            <a:pPr>
              <a:defRPr/>
            </a:pPr>
            <a:r>
              <a:rPr lang="zh-CN" altLang="en-US" sz="1238" b="1" dirty="0">
                <a:solidFill>
                  <a:srgbClr val="0070C0"/>
                </a:solidFill>
                <a:latin typeface="微软雅黑" panose="020B0503020204020204" pitchFamily="34" charset="-122"/>
                <a:ea typeface="微软雅黑" panose="020B0503020204020204" pitchFamily="34" charset="-122"/>
              </a:rPr>
              <a:t>过拟合</a:t>
            </a:r>
            <a:endParaRPr lang="zh-CN" altLang="en-US" sz="1125" dirty="0">
              <a:latin typeface="微软雅黑" panose="020B0503020204020204" pitchFamily="34" charset="-122"/>
              <a:ea typeface="微软雅黑" panose="020B0503020204020204" pitchFamily="34" charset="-122"/>
            </a:endParaRPr>
          </a:p>
        </p:txBody>
      </p:sp>
      <p:sp>
        <p:nvSpPr>
          <p:cNvPr id="4" name="文本框 3"/>
          <p:cNvSpPr txBox="1">
            <a:spLocks noRot="1" noChangeAspect="1" noMove="1" noResize="1" noEditPoints="1" noAdjustHandles="1" noChangeArrowheads="1" noChangeShapeType="1" noTextEdit="1"/>
          </p:cNvSpPr>
          <p:nvPr/>
        </p:nvSpPr>
        <p:spPr>
          <a:xfrm>
            <a:off x="8094223" y="2652604"/>
            <a:ext cx="998111" cy="242374"/>
          </a:xfrm>
          <a:prstGeom prst="rect">
            <a:avLst/>
          </a:prstGeom>
          <a:blipFill rotWithShape="0">
            <a:blip r:embed="rId8"/>
            <a:stretch>
              <a:fillRect l="-4128" r="-1835" b="-24528"/>
            </a:stretch>
          </a:blipFill>
        </p:spPr>
        <p:txBody>
          <a:bodyPr/>
          <a:lstStyle/>
          <a:p>
            <a:pPr>
              <a:defRPr/>
            </a:pPr>
            <a:r>
              <a:rPr lang="zh-CN" altLang="en-US" sz="2100">
                <a:noFill/>
              </a:rPr>
              <a:t> </a:t>
            </a:r>
          </a:p>
        </p:txBody>
      </p:sp>
      <p:sp>
        <p:nvSpPr>
          <p:cNvPr id="15" name="文本框 14"/>
          <p:cNvSpPr txBox="1">
            <a:spLocks noRot="1" noChangeAspect="1" noMove="1" noResize="1" noEditPoints="1" noAdjustHandles="1" noChangeArrowheads="1" noChangeShapeType="1" noTextEdit="1"/>
          </p:cNvSpPr>
          <p:nvPr/>
        </p:nvSpPr>
        <p:spPr>
          <a:xfrm>
            <a:off x="7197192" y="2667985"/>
            <a:ext cx="534377" cy="242374"/>
          </a:xfrm>
          <a:prstGeom prst="rect">
            <a:avLst/>
          </a:prstGeom>
          <a:blipFill rotWithShape="0">
            <a:blip r:embed="rId9"/>
            <a:stretch>
              <a:fillRect l="-8547" r="-3419" b="-26415"/>
            </a:stretch>
          </a:blipFill>
        </p:spPr>
        <p:txBody>
          <a:bodyPr/>
          <a:lstStyle/>
          <a:p>
            <a:pPr>
              <a:defRPr/>
            </a:pPr>
            <a:r>
              <a:rPr lang="zh-CN" altLang="en-US" sz="2100">
                <a:noFill/>
              </a:rPr>
              <a:t> </a:t>
            </a:r>
          </a:p>
        </p:txBody>
      </p:sp>
      <p:sp>
        <p:nvSpPr>
          <p:cNvPr id="9" name="文本框 8"/>
          <p:cNvSpPr txBox="1">
            <a:spLocks noRot="1" noChangeAspect="1" noMove="1" noResize="1" noEditPoints="1" noAdjustHandles="1" noChangeArrowheads="1" noChangeShapeType="1" noTextEdit="1"/>
          </p:cNvSpPr>
          <p:nvPr/>
        </p:nvSpPr>
        <p:spPr>
          <a:xfrm>
            <a:off x="6608321" y="5054988"/>
            <a:ext cx="2124140" cy="242374"/>
          </a:xfrm>
          <a:prstGeom prst="rect">
            <a:avLst/>
          </a:prstGeom>
          <a:blipFill rotWithShape="0">
            <a:blip r:embed="rId10"/>
            <a:stretch>
              <a:fillRect l="-1505" r="-1505" b="-26415"/>
            </a:stretch>
          </a:blipFill>
        </p:spPr>
        <p:txBody>
          <a:bodyPr/>
          <a:lstStyle/>
          <a:p>
            <a:pPr>
              <a:defRPr/>
            </a:pPr>
            <a:r>
              <a:rPr lang="zh-CN" altLang="en-US" sz="2100">
                <a:noFill/>
              </a:rPr>
              <a:t> </a:t>
            </a:r>
          </a:p>
        </p:txBody>
      </p:sp>
    </p:spTree>
    <p:extLst>
      <p:ext uri="{BB962C8B-B14F-4D97-AF65-F5344CB8AC3E}">
        <p14:creationId xmlns:p14="http://schemas.microsoft.com/office/powerpoint/2010/main" val="41233416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4" grpId="0"/>
    </p:bld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2"/>
          <p:cNvSpPr>
            <a:spLocks noGrp="1" noChangeArrowheads="1"/>
          </p:cNvSpPr>
          <p:nvPr>
            <p:ph type="ctrTitle"/>
          </p:nvPr>
        </p:nvSpPr>
        <p:spPr>
          <a:xfrm>
            <a:off x="2135561" y="692697"/>
            <a:ext cx="8139113" cy="5903913"/>
          </a:xfrm>
        </p:spPr>
        <p:txBody>
          <a:bodyPr vert="horz" wrap="square" lIns="91440" tIns="45720" rIns="91440" bIns="45720" numCol="1" anchor="ctr" anchorCtr="0" compatLnSpc="1"/>
          <a:lstStyle/>
          <a:p>
            <a:pPr lvl="0" algn="l" eaLnBrk="1" hangingPunct="1">
              <a:defRPr/>
            </a:pPr>
            <a:r>
              <a:rPr lang="zh-CN" altLang="en-US" dirty="0">
                <a:solidFill>
                  <a:schemeClr val="tx1"/>
                </a:solidFill>
                <a:latin typeface="Times New Roman" panose="02020603050405020304" pitchFamily="18" charset="0"/>
              </a:rPr>
              <a:t>			</a:t>
            </a:r>
            <a:r>
              <a:rPr lang="zh-CN" altLang="en-US" b="1" dirty="0">
                <a:solidFill>
                  <a:schemeClr val="tx1"/>
                </a:solidFill>
                <a:effectLst>
                  <a:outerShdw blurRad="38100" dist="38100" dir="2700000" algn="tl">
                    <a:srgbClr val="C0C0C0"/>
                  </a:outerShdw>
                </a:effectLst>
                <a:latin typeface="Times New Roman" panose="02020603050405020304" pitchFamily="18" charset="0"/>
              </a:rPr>
              <a:t>本章内容</a:t>
            </a:r>
            <a:br>
              <a:rPr lang="zh-CN" altLang="en-US" sz="5400" b="1" dirty="0">
                <a:solidFill>
                  <a:schemeClr val="tx1"/>
                </a:solidFill>
                <a:effectLst>
                  <a:outerShdw blurRad="38100" dist="38100" dir="2700000" algn="tl">
                    <a:srgbClr val="C0C0C0"/>
                  </a:outerShdw>
                </a:effectLst>
                <a:latin typeface="Times New Roman" panose="02020603050405020304" pitchFamily="18" charset="0"/>
              </a:rPr>
            </a:b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4.1 </a:t>
            </a:r>
            <a:r>
              <a:rPr lang="zh-CN" altLang="en-US" sz="3200" dirty="0">
                <a:solidFill>
                  <a:schemeClr val="tx1"/>
                </a:solidFill>
                <a:latin typeface="Times New Roman" panose="02020603050405020304" pitchFamily="18" charset="0"/>
                <a:ea typeface="黑体" panose="02010609060101010101" pitchFamily="49" charset="-122"/>
              </a:rPr>
              <a:t>机器学习概论</a:t>
            </a:r>
            <a:br>
              <a:rPr lang="zh-CN" altLang="en-US" sz="3200" dirty="0">
                <a:solidFill>
                  <a:schemeClr val="tx1"/>
                </a:solidFill>
                <a:latin typeface="Times New Roman" panose="02020603050405020304" pitchFamily="18" charset="0"/>
                <a:ea typeface="黑体" panose="02010609060101010101" pitchFamily="49" charset="-122"/>
              </a:rPr>
            </a:br>
            <a:r>
              <a:rPr lang="zh-CN" altLang="en-US" sz="3200" dirty="0">
                <a:solidFill>
                  <a:schemeClr val="tx1"/>
                </a:solidFill>
                <a:latin typeface="Times New Roman" panose="02020603050405020304" pitchFamily="18" charset="0"/>
                <a:ea typeface="黑体" panose="02010609060101010101" pitchFamily="49" charset="-122"/>
              </a:rPr>
              <a:t>	</a:t>
            </a:r>
            <a:r>
              <a:rPr lang="en-US" altLang="zh-CN" sz="3200" dirty="0">
                <a:solidFill>
                  <a:schemeClr val="tx1"/>
                </a:solidFill>
                <a:latin typeface="Times New Roman" panose="02020603050405020304" pitchFamily="18" charset="0"/>
                <a:ea typeface="黑体" panose="02010609060101010101" pitchFamily="49" charset="-122"/>
              </a:rPr>
              <a:t>4.2 </a:t>
            </a:r>
            <a:r>
              <a:rPr lang="zh-CN" altLang="en-US" sz="3200" dirty="0">
                <a:solidFill>
                  <a:schemeClr val="tx1"/>
                </a:solidFill>
                <a:latin typeface="Times New Roman" panose="02020603050405020304" pitchFamily="18" charset="0"/>
                <a:ea typeface="黑体" panose="02010609060101010101" pitchFamily="49" charset="-122"/>
              </a:rPr>
              <a:t>分类算法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4.2.1</a:t>
            </a:r>
            <a:r>
              <a:rPr lang="zh-CN" altLang="en-US" sz="3200" dirty="0">
                <a:solidFill>
                  <a:schemeClr val="tx1"/>
                </a:solidFill>
                <a:latin typeface="Times New Roman" panose="02020603050405020304" pitchFamily="18" charset="0"/>
                <a:ea typeface="黑体" panose="02010609060101010101" pitchFamily="49" charset="-122"/>
              </a:rPr>
              <a:t>：决策树</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4.2.2</a:t>
            </a:r>
            <a:r>
              <a:rPr lang="zh-CN" altLang="en-US" sz="3200" dirty="0">
                <a:solidFill>
                  <a:schemeClr val="tx1"/>
                </a:solidFill>
                <a:latin typeface="Times New Roman" panose="02020603050405020304" pitchFamily="18" charset="0"/>
                <a:ea typeface="黑体" panose="02010609060101010101" pitchFamily="49" charset="-122"/>
              </a:rPr>
              <a:t>：朴素贝叶斯分类器</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4.2.3</a:t>
            </a:r>
            <a:r>
              <a:rPr lang="zh-CN" altLang="en-US" sz="3200" dirty="0">
                <a:solidFill>
                  <a:schemeClr val="tx1"/>
                </a:solidFill>
                <a:latin typeface="Times New Roman" panose="02020603050405020304" pitchFamily="18" charset="0"/>
                <a:ea typeface="黑体" panose="02010609060101010101" pitchFamily="49" charset="-122"/>
              </a:rPr>
              <a:t>：集体学习</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4.2.4</a:t>
            </a:r>
            <a:r>
              <a:rPr lang="zh-CN" altLang="en-US" sz="3200" dirty="0">
                <a:solidFill>
                  <a:schemeClr val="tx1"/>
                </a:solidFill>
                <a:latin typeface="Times New Roman" panose="02020603050405020304" pitchFamily="18" charset="0"/>
                <a:ea typeface="黑体" panose="02010609060101010101" pitchFamily="49" charset="-122"/>
              </a:rPr>
              <a:t>：支持向量机（</a:t>
            </a:r>
            <a:r>
              <a:rPr lang="en-US" altLang="zh-CN" sz="3200" dirty="0" err="1">
                <a:solidFill>
                  <a:schemeClr val="tx1"/>
                </a:solidFill>
                <a:latin typeface="Times New Roman" panose="02020603050405020304" pitchFamily="18" charset="0"/>
                <a:ea typeface="黑体" panose="02010609060101010101" pitchFamily="49" charset="-122"/>
              </a:rPr>
              <a:t>SVM</a:t>
            </a:r>
            <a:r>
              <a:rPr lang="zh-CN" altLang="en-US" sz="3200" dirty="0">
                <a:solidFill>
                  <a:schemeClr val="tx1"/>
                </a:solidFill>
                <a:latin typeface="Times New Roman" panose="02020603050405020304" pitchFamily="18" charset="0"/>
                <a:ea typeface="黑体" panose="02010609060101010101" pitchFamily="49" charset="-122"/>
              </a:rPr>
              <a:t>）</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4.3 </a:t>
            </a:r>
            <a:r>
              <a:rPr lang="zh-CN" altLang="en-US" sz="3200" dirty="0">
                <a:solidFill>
                  <a:schemeClr val="tx1"/>
                </a:solidFill>
                <a:latin typeface="Times New Roman" panose="02020603050405020304" pitchFamily="18" charset="0"/>
                <a:ea typeface="黑体" panose="02010609060101010101" pitchFamily="49" charset="-122"/>
              </a:rPr>
              <a:t>回归算法</a:t>
            </a:r>
            <a:br>
              <a:rPr lang="en-US" altLang="zh-CN" sz="3200" dirty="0">
                <a:solidFill>
                  <a:schemeClr val="tx1"/>
                </a:solidFill>
                <a:latin typeface="Times New Roman" panose="02020603050405020304" pitchFamily="18" charset="0"/>
                <a:ea typeface="黑体" panose="02010609060101010101" pitchFamily="49" charset="-122"/>
              </a:rPr>
            </a:br>
            <a:r>
              <a:rPr lang="en-US" altLang="zh-CN" sz="3200" dirty="0">
                <a:solidFill>
                  <a:schemeClr val="tx1"/>
                </a:solidFill>
                <a:latin typeface="Times New Roman" panose="02020603050405020304" pitchFamily="18" charset="0"/>
                <a:ea typeface="黑体" panose="02010609060101010101" pitchFamily="49" charset="-122"/>
              </a:rPr>
              <a:t>	</a:t>
            </a:r>
            <a:r>
              <a:rPr lang="en-US" altLang="zh-CN" sz="3200" b="1" dirty="0">
                <a:solidFill>
                  <a:srgbClr val="C00000"/>
                </a:solidFill>
                <a:latin typeface="Times New Roman" panose="02020603050405020304" pitchFamily="18" charset="0"/>
                <a:ea typeface="黑体" panose="02010609060101010101" pitchFamily="49" charset="-122"/>
              </a:rPr>
              <a:t>4.4 </a:t>
            </a:r>
            <a:r>
              <a:rPr lang="zh-CN" altLang="en-US" sz="3200" b="1" dirty="0">
                <a:solidFill>
                  <a:srgbClr val="C00000"/>
                </a:solidFill>
                <a:latin typeface="Times New Roman" panose="02020603050405020304" pitchFamily="18" charset="0"/>
                <a:ea typeface="黑体" panose="02010609060101010101" pitchFamily="49" charset="-122"/>
              </a:rPr>
              <a:t>聚类算法</a:t>
            </a:r>
            <a:br>
              <a:rPr lang="zh-CN" altLang="en-US" sz="3200" dirty="0">
                <a:solidFill>
                  <a:schemeClr val="tx1"/>
                </a:solidFill>
                <a:latin typeface="Times New Roman" panose="02020603050405020304" pitchFamily="18" charset="0"/>
                <a:ea typeface="黑体" panose="02010609060101010101" pitchFamily="49" charset="-122"/>
              </a:rPr>
            </a:br>
            <a:br>
              <a:rPr lang="zh-CN" altLang="en-US" sz="3200" dirty="0">
                <a:solidFill>
                  <a:schemeClr val="tx1"/>
                </a:solidFill>
                <a:latin typeface="Times New Roman" panose="02020603050405020304" pitchFamily="18" charset="0"/>
                <a:ea typeface="黑体" panose="02010609060101010101" pitchFamily="49" charset="-122"/>
              </a:rPr>
            </a:br>
            <a:endParaRPr lang="en-US" altLang="zh-CN" sz="3200" dirty="0">
              <a:solidFill>
                <a:schemeClr val="tx1"/>
              </a:solidFill>
              <a:latin typeface="Times New Roman" panose="02020603050405020304" pitchFamily="18" charset="0"/>
              <a:ea typeface="黑体" panose="02010609060101010101" pitchFamily="49" charset="-122"/>
            </a:endParaRPr>
          </a:p>
        </p:txBody>
      </p:sp>
      <p:sp>
        <p:nvSpPr>
          <p:cNvPr id="7171" name="Text Box 3"/>
          <p:cNvSpPr txBox="1"/>
          <p:nvPr/>
        </p:nvSpPr>
        <p:spPr>
          <a:xfrm>
            <a:off x="1524001" y="404813"/>
            <a:ext cx="29876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itchFamily="18" charset="-127"/>
                <a:ea typeface="-윤체M"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itchFamily="18" charset="-127"/>
                <a:ea typeface="-윤체M"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itchFamily="18" charset="-127"/>
                <a:ea typeface="-윤체M"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itchFamily="18" charset="-127"/>
                <a:ea typeface="-윤체M" pitchFamily="18" charset="-127"/>
                <a:cs typeface="+mn-cs"/>
              </a:defRPr>
            </a:lvl5pPr>
          </a:lstStyle>
          <a:p>
            <a:pPr marL="0" indent="0" eaLnBrk="1" hangingPunct="1">
              <a:spcBef>
                <a:spcPct val="50000"/>
              </a:spcBef>
              <a:buNone/>
            </a:pPr>
            <a:r>
              <a:rPr lang="zh-CN" altLang="en-US" sz="2400" dirty="0">
                <a:solidFill>
                  <a:srgbClr val="000000"/>
                </a:solidFill>
                <a:latin typeface="华文行楷" panose="02010800040101010101" pitchFamily="2" charset="-122"/>
                <a:ea typeface="华文行楷" panose="02010800040101010101" pitchFamily="2" charset="-122"/>
              </a:rPr>
              <a:t>第</a:t>
            </a:r>
            <a:r>
              <a:rPr lang="en-US" altLang="zh-CN" sz="2400" dirty="0">
                <a:solidFill>
                  <a:srgbClr val="000000"/>
                </a:solidFill>
                <a:latin typeface="华文行楷" panose="02010800040101010101" pitchFamily="2" charset="-122"/>
                <a:ea typeface="华文行楷" panose="02010800040101010101" pitchFamily="2" charset="-122"/>
              </a:rPr>
              <a:t>4</a:t>
            </a:r>
            <a:r>
              <a:rPr lang="zh-CN" altLang="en-US" sz="2400" dirty="0">
                <a:solidFill>
                  <a:srgbClr val="000000"/>
                </a:solidFill>
                <a:latin typeface="华文行楷" panose="02010800040101010101" pitchFamily="2" charset="-122"/>
                <a:ea typeface="华文行楷" panose="02010800040101010101" pitchFamily="2" charset="-122"/>
              </a:rPr>
              <a:t>章 机器学习</a:t>
            </a:r>
            <a:endParaRPr lang="en-US" altLang="zh-CN" sz="2400" dirty="0">
              <a:solidFill>
                <a:srgbClr val="000000"/>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157384024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8408194" y="4704160"/>
            <a:ext cx="436960" cy="1785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75"/>
          </a:p>
        </p:txBody>
      </p:sp>
      <p:sp>
        <p:nvSpPr>
          <p:cNvPr id="3" name="矩形 2"/>
          <p:cNvSpPr/>
          <p:nvPr/>
        </p:nvSpPr>
        <p:spPr>
          <a:xfrm>
            <a:off x="8493919" y="4789885"/>
            <a:ext cx="436960" cy="1785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75"/>
          </a:p>
        </p:txBody>
      </p:sp>
      <p:sp>
        <p:nvSpPr>
          <p:cNvPr id="4" name="矩形 3"/>
          <p:cNvSpPr/>
          <p:nvPr/>
        </p:nvSpPr>
        <p:spPr>
          <a:xfrm>
            <a:off x="8579644" y="4875610"/>
            <a:ext cx="436960" cy="1785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75"/>
          </a:p>
        </p:txBody>
      </p:sp>
      <p:sp>
        <p:nvSpPr>
          <p:cNvPr id="35845" name="矩形 4"/>
          <p:cNvSpPr>
            <a:spLocks noChangeArrowheads="1"/>
          </p:cNvSpPr>
          <p:nvPr/>
        </p:nvSpPr>
        <p:spPr bwMode="auto">
          <a:xfrm>
            <a:off x="4727848" y="230553"/>
            <a:ext cx="30963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en-US" altLang="zh-CN" sz="3200" b="1" dirty="0">
                <a:latin typeface="微软雅黑" panose="020B0503020204020204" pitchFamily="34" charset="-122"/>
                <a:ea typeface="微软雅黑" panose="020B0503020204020204" pitchFamily="34" charset="-122"/>
              </a:rPr>
              <a:t>4.4 </a:t>
            </a:r>
            <a:r>
              <a:rPr lang="zh-CN" altLang="en-US" sz="3200" b="1" dirty="0">
                <a:latin typeface="微软雅黑" panose="020B0503020204020204" pitchFamily="34" charset="-122"/>
                <a:ea typeface="微软雅黑" panose="020B0503020204020204" pitchFamily="34" charset="-122"/>
              </a:rPr>
              <a:t>聚类问题</a:t>
            </a:r>
          </a:p>
        </p:txBody>
      </p:sp>
      <p:sp>
        <p:nvSpPr>
          <p:cNvPr id="6" name="矩形 5"/>
          <p:cNvSpPr>
            <a:spLocks noChangeArrowheads="1"/>
          </p:cNvSpPr>
          <p:nvPr/>
        </p:nvSpPr>
        <p:spPr bwMode="auto">
          <a:xfrm>
            <a:off x="1832373" y="951362"/>
            <a:ext cx="8417719"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048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50000"/>
              </a:lnSpc>
              <a:spcBef>
                <a:spcPct val="0"/>
              </a:spcBef>
              <a:buFontTx/>
              <a:buNone/>
            </a:pPr>
            <a:r>
              <a:rPr lang="zh-CN" altLang="en-US" sz="2400" b="1" dirty="0">
                <a:solidFill>
                  <a:srgbClr val="0070C0"/>
                </a:solidFill>
                <a:latin typeface="微软雅黑" panose="020B0503020204020204" pitchFamily="34" charset="-122"/>
                <a:ea typeface="微软雅黑" panose="020B0503020204020204" pitchFamily="34" charset="-122"/>
              </a:rPr>
              <a:t>聚类问题</a:t>
            </a:r>
            <a:r>
              <a:rPr lang="zh-CN" altLang="en-US" sz="2400" dirty="0">
                <a:latin typeface="微软雅黑" panose="020B0503020204020204" pitchFamily="34" charset="-122"/>
                <a:ea typeface="微软雅黑" panose="020B0503020204020204" pitchFamily="34" charset="-122"/>
              </a:rPr>
              <a:t>是无监督学习的问题，算法的思想就是“物以类聚，人以群分”。聚类算法感知样本间的相似度，进行类别归纳，对新的输入进行输出预测，输出变量取有限个离散值。</a:t>
            </a:r>
          </a:p>
        </p:txBody>
      </p:sp>
      <p:sp>
        <p:nvSpPr>
          <p:cNvPr id="7" name="矩形 6"/>
          <p:cNvSpPr>
            <a:spLocks noChangeArrowheads="1"/>
          </p:cNvSpPr>
          <p:nvPr/>
        </p:nvSpPr>
        <p:spPr bwMode="auto">
          <a:xfrm>
            <a:off x="2279576" y="4882755"/>
            <a:ext cx="813690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57175" indent="-257175">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50000"/>
              </a:lnSpc>
              <a:spcBef>
                <a:spcPct val="0"/>
              </a:spcBef>
              <a:buFont typeface="Wingdings" panose="05000000000000000000" pitchFamily="2" charset="2"/>
              <a:buChar char=""/>
            </a:pPr>
            <a:r>
              <a:rPr lang="zh-CN" altLang="en-US" sz="2400" dirty="0">
                <a:latin typeface="微软雅黑" panose="020B0503020204020204" pitchFamily="34" charset="-122"/>
                <a:ea typeface="微软雅黑" panose="020B0503020204020204" pitchFamily="34" charset="-122"/>
              </a:rPr>
              <a:t>可以</a:t>
            </a:r>
            <a:r>
              <a:rPr lang="zh-CN" altLang="zh-CN" sz="2400" dirty="0">
                <a:latin typeface="微软雅黑" panose="020B0503020204020204" pitchFamily="34" charset="-122"/>
                <a:ea typeface="微软雅黑" panose="020B0503020204020204" pitchFamily="34" charset="-122"/>
              </a:rPr>
              <a:t>作为一个单独过程，用于寻找数据内在的分布结构</a:t>
            </a:r>
          </a:p>
          <a:p>
            <a:pPr>
              <a:lnSpc>
                <a:spcPct val="150000"/>
              </a:lnSpc>
              <a:spcBef>
                <a:spcPct val="0"/>
              </a:spcBef>
              <a:buFont typeface="Wingdings" panose="05000000000000000000" pitchFamily="2" charset="2"/>
              <a:buChar char=""/>
            </a:pPr>
            <a:r>
              <a:rPr lang="zh-CN" altLang="zh-CN" sz="2400" dirty="0">
                <a:latin typeface="微软雅黑" panose="020B0503020204020204" pitchFamily="34" charset="-122"/>
                <a:ea typeface="微软雅黑" panose="020B0503020204020204" pitchFamily="34" charset="-122"/>
              </a:rPr>
              <a:t>可以作为分类、稀疏表示等其他学习任务的前驱过程</a:t>
            </a:r>
            <a:endParaRPr lang="en-US" altLang="zh-CN" sz="24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47107" y="2997695"/>
            <a:ext cx="6168288" cy="1792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7176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280DDBB9-4CAE-48DC-881B-2FE315164D52}" type="slidenum">
              <a:rPr lang="zh-CN" altLang="en-US" sz="1050">
                <a:latin typeface="Gulim" panose="02010600030101010101" charset="-122"/>
                <a:ea typeface="Gulim" panose="02010600030101010101" charset="-122"/>
              </a:rPr>
              <a:pPr latinLnBrk="1">
                <a:lnSpc>
                  <a:spcPct val="100000"/>
                </a:lnSpc>
                <a:spcBef>
                  <a:spcPct val="0"/>
                </a:spcBef>
                <a:buFontTx/>
                <a:buNone/>
              </a:pPr>
              <a:t>108</a:t>
            </a:fld>
            <a:endParaRPr lang="en-US" altLang="zh-CN" sz="1050">
              <a:latin typeface="Gulim" panose="02010600030101010101" charset="-122"/>
              <a:ea typeface="Gulim" panose="02010600030101010101" charset="-122"/>
            </a:endParaRPr>
          </a:p>
        </p:txBody>
      </p:sp>
      <p:pic>
        <p:nvPicPr>
          <p:cNvPr id="36867"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9616" y="1187055"/>
            <a:ext cx="6804422"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33539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E6B6F7B0-4F0F-4AC9-BC74-F6AC3506751C}" type="slidenum">
              <a:rPr lang="zh-CN" altLang="en-US" sz="1050">
                <a:latin typeface="Gulim" panose="02010600030101010101" charset="-122"/>
                <a:ea typeface="Gulim" panose="02010600030101010101" charset="-122"/>
              </a:rPr>
              <a:pPr latinLnBrk="1">
                <a:lnSpc>
                  <a:spcPct val="100000"/>
                </a:lnSpc>
                <a:spcBef>
                  <a:spcPct val="0"/>
                </a:spcBef>
                <a:buFontTx/>
                <a:buNone/>
              </a:pPr>
              <a:t>109</a:t>
            </a:fld>
            <a:endParaRPr lang="en-US" altLang="zh-CN" sz="1050">
              <a:latin typeface="Gulim" panose="02010600030101010101" charset="-122"/>
              <a:ea typeface="Gulim" panose="02010600030101010101" charset="-122"/>
            </a:endParaRPr>
          </a:p>
        </p:txBody>
      </p:sp>
      <p:pic>
        <p:nvPicPr>
          <p:cNvPr id="37891"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3512" y="548680"/>
            <a:ext cx="8974230" cy="5486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05680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243636A5-CF10-4E25-B106-7F6992635BDC}" type="slidenum">
              <a:rPr lang="zh-CN" altLang="en-US" sz="1050">
                <a:latin typeface="Gulim" panose="02010600030101010101" charset="-122"/>
                <a:ea typeface="Gulim" panose="02010600030101010101" charset="-122"/>
              </a:rPr>
              <a:pPr latinLnBrk="1">
                <a:lnSpc>
                  <a:spcPct val="100000"/>
                </a:lnSpc>
                <a:spcBef>
                  <a:spcPct val="0"/>
                </a:spcBef>
                <a:buFontTx/>
                <a:buNone/>
              </a:pPr>
              <a:t>110</a:t>
            </a:fld>
            <a:endParaRPr lang="en-US" altLang="zh-CN" sz="1050">
              <a:latin typeface="Gulim" panose="02010600030101010101" charset="-122"/>
              <a:ea typeface="Gulim" panose="02010600030101010101" charset="-122"/>
            </a:endParaRPr>
          </a:p>
        </p:txBody>
      </p:sp>
      <p:pic>
        <p:nvPicPr>
          <p:cNvPr id="38915"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1259" y="627832"/>
            <a:ext cx="8797229" cy="5537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9778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a:spLocks noChangeArrowheads="1"/>
          </p:cNvSpPr>
          <p:nvPr/>
        </p:nvSpPr>
        <p:spPr bwMode="auto">
          <a:xfrm>
            <a:off x="1777248" y="865763"/>
            <a:ext cx="878443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latinLnBrk="0">
              <a:spcBef>
                <a:spcPct val="0"/>
              </a:spcBef>
              <a:buFontTx/>
              <a:buNone/>
              <a:defRPr/>
            </a:pPr>
            <a:r>
              <a:rPr lang="zh-CN" altLang="zh-CN" sz="2400" b="1" dirty="0">
                <a:solidFill>
                  <a:schemeClr val="accent2">
                    <a:lumMod val="75000"/>
                  </a:schemeClr>
                </a:solidFill>
                <a:latin typeface="微软雅黑" panose="020B0503020204020204" pitchFamily="34" charset="-122"/>
                <a:ea typeface="微软雅黑" panose="020B0503020204020204" pitchFamily="34" charset="-122"/>
              </a:rPr>
              <a:t>算法思想</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首先随机确定k个中心点作为聚类中心，然后把</a:t>
            </a:r>
            <a:r>
              <a:rPr lang="zh-CN" altLang="en-US" sz="2400" dirty="0">
                <a:latin typeface="微软雅黑" panose="020B0503020204020204" pitchFamily="34" charset="-122"/>
                <a:ea typeface="微软雅黑" panose="020B0503020204020204" pitchFamily="34" charset="-122"/>
              </a:rPr>
              <a:t>每个</a:t>
            </a:r>
            <a:r>
              <a:rPr lang="zh-CN" altLang="zh-CN" sz="2400" dirty="0">
                <a:latin typeface="微软雅黑" panose="020B0503020204020204" pitchFamily="34" charset="-122"/>
                <a:ea typeface="微软雅黑" panose="020B0503020204020204" pitchFamily="34" charset="-122"/>
              </a:rPr>
              <a:t>数据点分配给最邻近的中心点，分配完成后</a:t>
            </a:r>
            <a:r>
              <a:rPr lang="zh-CN" altLang="en-US" sz="2400" dirty="0">
                <a:latin typeface="微软雅黑" panose="020B0503020204020204" pitchFamily="34" charset="-122"/>
                <a:ea typeface="微软雅黑" panose="020B0503020204020204" pitchFamily="34" charset="-122"/>
              </a:rPr>
              <a:t>形成</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个聚类，计算各个聚</a:t>
            </a:r>
            <a:r>
              <a:rPr lang="zh-CN" altLang="zh-CN" sz="2400" dirty="0">
                <a:latin typeface="微软雅黑" panose="020B0503020204020204" pitchFamily="34" charset="-122"/>
                <a:ea typeface="微软雅黑" panose="020B0503020204020204" pitchFamily="34" charset="-122"/>
              </a:rPr>
              <a:t>类的平均中心</a:t>
            </a:r>
            <a:r>
              <a:rPr lang="zh-CN" altLang="en-US" sz="2400" dirty="0">
                <a:latin typeface="微软雅黑" panose="020B0503020204020204" pitchFamily="34" charset="-122"/>
                <a:ea typeface="微软雅黑" panose="020B0503020204020204" pitchFamily="34" charset="-122"/>
              </a:rPr>
              <a:t>点，将其作为该聚类新的类中心点</a:t>
            </a:r>
            <a:r>
              <a:rPr lang="zh-CN" altLang="zh-CN" sz="2400" dirty="0">
                <a:latin typeface="微软雅黑" panose="020B0503020204020204" pitchFamily="34" charset="-122"/>
                <a:ea typeface="微软雅黑" panose="020B0503020204020204" pitchFamily="34" charset="-122"/>
              </a:rPr>
              <a:t>，然后重复迭代上述步骤直到分配过程不再产生变化。</a:t>
            </a:r>
            <a:r>
              <a:rPr lang="zh-CN" altLang="en-US" sz="2400" dirty="0">
                <a:latin typeface="微软雅黑" panose="020B0503020204020204" pitchFamily="34" charset="-122"/>
                <a:ea typeface="微软雅黑" panose="020B0503020204020204" pitchFamily="34" charset="-122"/>
              </a:rPr>
              <a:t> </a:t>
            </a:r>
          </a:p>
        </p:txBody>
      </p:sp>
      <p:grpSp>
        <p:nvGrpSpPr>
          <p:cNvPr id="6" name="组合 5"/>
          <p:cNvGrpSpPr>
            <a:grpSpLocks/>
          </p:cNvGrpSpPr>
          <p:nvPr/>
        </p:nvGrpSpPr>
        <p:grpSpPr bwMode="auto">
          <a:xfrm>
            <a:off x="6528196" y="2672648"/>
            <a:ext cx="4139804" cy="2532764"/>
            <a:chOff x="3939" y="2130"/>
            <a:chExt cx="8975" cy="5502"/>
          </a:xfrm>
        </p:grpSpPr>
        <p:pic>
          <p:nvPicPr>
            <p:cNvPr id="39946" name="图片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39" y="2130"/>
              <a:ext cx="8975" cy="5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7" name="文本框 4"/>
            <p:cNvSpPr txBox="1">
              <a:spLocks noChangeArrowheads="1"/>
            </p:cNvSpPr>
            <p:nvPr/>
          </p:nvSpPr>
          <p:spPr bwMode="auto">
            <a:xfrm>
              <a:off x="11310" y="6905"/>
              <a:ext cx="1516" cy="7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endParaRPr lang="zh-CN" altLang="en-US" sz="1575">
                <a:latin typeface="Times New Roman" panose="02020603050405020304" pitchFamily="18" charset="0"/>
                <a:ea typeface="Gulim" panose="02010600030101010101" charset="-122"/>
              </a:endParaRPr>
            </a:p>
          </p:txBody>
        </p:sp>
      </p:grpSp>
      <p:sp>
        <p:nvSpPr>
          <p:cNvPr id="7" name="文本框 6"/>
          <p:cNvSpPr txBox="1">
            <a:spLocks noChangeArrowheads="1"/>
          </p:cNvSpPr>
          <p:nvPr/>
        </p:nvSpPr>
        <p:spPr bwMode="auto">
          <a:xfrm>
            <a:off x="1593003" y="3075981"/>
            <a:ext cx="5007054"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20000"/>
              </a:lnSpc>
              <a:spcBef>
                <a:spcPct val="0"/>
              </a:spcBef>
              <a:buFont typeface="宋体" panose="02010600030101010101" pitchFamily="2" charset="-122"/>
              <a:buAutoNum type="circleNumDbPlain"/>
            </a:pPr>
            <a:r>
              <a:rPr lang="zh-CN" altLang="zh-CN" sz="2000" dirty="0">
                <a:latin typeface="微软雅黑" panose="020B0503020204020204" pitchFamily="34" charset="-122"/>
                <a:ea typeface="微软雅黑" panose="020B0503020204020204" pitchFamily="34" charset="-122"/>
              </a:rPr>
              <a:t>随机选择K个随机的点（称为聚类中心）</a:t>
            </a:r>
          </a:p>
          <a:p>
            <a:pPr>
              <a:lnSpc>
                <a:spcPct val="120000"/>
              </a:lnSpc>
              <a:spcBef>
                <a:spcPct val="0"/>
              </a:spcBef>
              <a:buFont typeface="宋体" panose="02010600030101010101" pitchFamily="2" charset="-122"/>
              <a:buAutoNum type="circleNumDbPlain"/>
            </a:pPr>
            <a:r>
              <a:rPr lang="zh-CN" altLang="zh-CN" sz="2000" dirty="0">
                <a:latin typeface="微软雅黑" panose="020B0503020204020204" pitchFamily="34" charset="-122"/>
                <a:ea typeface="微软雅黑" panose="020B0503020204020204" pitchFamily="34" charset="-122"/>
              </a:rPr>
              <a:t>对与数据集中的每个数据点，按照距离K个中心点的距离，将其与距离最近的中心点关联起来，与同一中心点关联的所有点聚成一类；</a:t>
            </a:r>
          </a:p>
          <a:p>
            <a:pPr>
              <a:lnSpc>
                <a:spcPct val="120000"/>
              </a:lnSpc>
              <a:spcBef>
                <a:spcPct val="0"/>
              </a:spcBef>
              <a:buFont typeface="宋体" panose="02010600030101010101" pitchFamily="2" charset="-122"/>
              <a:buAutoNum type="circleNumDbPlain"/>
            </a:pPr>
            <a:r>
              <a:rPr lang="zh-CN" altLang="zh-CN" sz="2000" dirty="0">
                <a:latin typeface="微软雅黑" panose="020B0503020204020204" pitchFamily="34" charset="-122"/>
                <a:ea typeface="微软雅黑" panose="020B0503020204020204" pitchFamily="34" charset="-122"/>
              </a:rPr>
              <a:t>计算每一组的均值，将该组所关联的中心点移动到平均值的位置；</a:t>
            </a:r>
          </a:p>
          <a:p>
            <a:pPr>
              <a:lnSpc>
                <a:spcPct val="120000"/>
              </a:lnSpc>
              <a:spcBef>
                <a:spcPct val="0"/>
              </a:spcBef>
              <a:buFont typeface="宋体" panose="02010600030101010101" pitchFamily="2" charset="-122"/>
              <a:buAutoNum type="circleNumDbPlain"/>
            </a:pPr>
            <a:r>
              <a:rPr lang="zh-CN" altLang="zh-CN" sz="2000" dirty="0">
                <a:latin typeface="微软雅黑" panose="020B0503020204020204" pitchFamily="34" charset="-122"/>
                <a:ea typeface="微软雅黑" panose="020B0503020204020204" pitchFamily="34" charset="-122"/>
              </a:rPr>
              <a:t>重复执行2-3步，直至中心点不再变化</a:t>
            </a:r>
            <a:r>
              <a:rPr lang="zh-CN" altLang="en-US" sz="2000" dirty="0">
                <a:latin typeface="微软雅黑" panose="020B0503020204020204" pitchFamily="34" charset="-122"/>
                <a:ea typeface="微软雅黑" panose="020B0503020204020204" pitchFamily="34" charset="-122"/>
              </a:rPr>
              <a:t>；</a:t>
            </a:r>
          </a:p>
        </p:txBody>
      </p:sp>
      <p:sp>
        <p:nvSpPr>
          <p:cNvPr id="12" name="圆角矩形 11"/>
          <p:cNvSpPr/>
          <p:nvPr/>
        </p:nvSpPr>
        <p:spPr>
          <a:xfrm>
            <a:off x="1613298" y="2694386"/>
            <a:ext cx="4986758" cy="3686943"/>
          </a:xfrm>
          <a:prstGeom prst="roundRect">
            <a:avLst/>
          </a:prstGeom>
          <a:noFill/>
          <a:ln w="19050">
            <a:solidFill>
              <a:srgbClr val="7030A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sz="1575"/>
          </a:p>
        </p:txBody>
      </p:sp>
      <p:sp>
        <p:nvSpPr>
          <p:cNvPr id="13" name="矩形 12"/>
          <p:cNvSpPr/>
          <p:nvPr/>
        </p:nvSpPr>
        <p:spPr>
          <a:xfrm>
            <a:off x="2460252" y="2505926"/>
            <a:ext cx="2754212" cy="381596"/>
          </a:xfrm>
          <a:prstGeom prst="rect">
            <a:avLst/>
          </a:prstGeom>
          <a:solidFill>
            <a:schemeClr val="accent4">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b="1" dirty="0">
                <a:solidFill>
                  <a:schemeClr val="accent2">
                    <a:lumMod val="75000"/>
                  </a:schemeClr>
                </a:solidFill>
                <a:latin typeface="微软雅黑" panose="020B0503020204020204" pitchFamily="34" charset="-122"/>
                <a:ea typeface="微软雅黑" panose="020B0503020204020204" pitchFamily="34" charset="-122"/>
              </a:rPr>
              <a:t>K-means</a:t>
            </a: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算法流程</a:t>
            </a:r>
          </a:p>
        </p:txBody>
      </p:sp>
      <p:sp>
        <p:nvSpPr>
          <p:cNvPr id="14" name="Rectangle 2"/>
          <p:cNvSpPr txBox="1">
            <a:spLocks noChangeArrowheads="1"/>
          </p:cNvSpPr>
          <p:nvPr/>
        </p:nvSpPr>
        <p:spPr bwMode="auto">
          <a:xfrm>
            <a:off x="3019425" y="231160"/>
            <a:ext cx="5829300" cy="548878"/>
          </a:xfrm>
          <a:prstGeom prst="rect">
            <a:avLst/>
          </a:prstGeom>
          <a:noFill/>
          <a:ln>
            <a:noFill/>
          </a:ln>
          <a:effectLst/>
        </p:spPr>
        <p:txBody>
          <a:bodyPr anchor="ct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en-US" altLang="zh-CN" sz="3000" b="1" dirty="0">
                <a:solidFill>
                  <a:schemeClr val="tx1"/>
                </a:solidFill>
                <a:effectLst>
                  <a:outerShdw blurRad="38100" dist="38100" dir="2700000" algn="tl">
                    <a:srgbClr val="C0C0C0"/>
                  </a:outerShdw>
                </a:effectLst>
              </a:rPr>
              <a:t> K</a:t>
            </a:r>
            <a:r>
              <a:rPr lang="zh-CN" altLang="en-US" sz="3000" b="1" dirty="0">
                <a:solidFill>
                  <a:schemeClr val="tx1"/>
                </a:solidFill>
                <a:effectLst>
                  <a:outerShdw blurRad="38100" dist="38100" dir="2700000" algn="tl">
                    <a:srgbClr val="C0C0C0"/>
                  </a:outerShdw>
                </a:effectLst>
              </a:rPr>
              <a:t>均值聚类</a:t>
            </a:r>
            <a:endParaRPr lang="en-US" altLang="zh-CN" sz="3000" b="1" dirty="0">
              <a:solidFill>
                <a:schemeClr val="tx1"/>
              </a:solidFill>
              <a:effectLst>
                <a:outerShdw blurRad="38100" dist="38100" dir="2700000" algn="tl">
                  <a:srgbClr val="C0C0C0"/>
                </a:outerShdw>
              </a:effectLs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98470" y="4953001"/>
            <a:ext cx="172759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箭头连接符 10"/>
          <p:cNvCxnSpPr>
            <a:cxnSpLocks noChangeShapeType="1"/>
            <a:stCxn id="15" idx="1"/>
          </p:cNvCxnSpPr>
          <p:nvPr/>
        </p:nvCxnSpPr>
        <p:spPr bwMode="auto">
          <a:xfrm flipH="1" flipV="1">
            <a:off x="5934075" y="4972051"/>
            <a:ext cx="864394" cy="233363"/>
          </a:xfrm>
          <a:prstGeom prst="straightConnector1">
            <a:avLst/>
          </a:prstGeom>
          <a:noFill/>
          <a:ln w="2857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7942174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 grpId="0" animBg="1"/>
    </p:bld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灯片编号占位符 3"/>
          <p:cNvSpPr>
            <a:spLocks noGrp="1"/>
          </p:cNvSpPr>
          <p:nvPr>
            <p:ph type="sldNum" sz="quarter" idx="12"/>
          </p:nvPr>
        </p:nvSpPr>
        <p:spPr bwMode="auto">
          <a:xfrm>
            <a:off x="7981950" y="5624513"/>
            <a:ext cx="2057400" cy="2738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Malgun Gothic" panose="020B0503020000020004" pitchFamily="34" charset="-127"/>
              </a:defRPr>
            </a:lvl1pPr>
            <a:lvl2pPr marL="557213" indent="-214313">
              <a:lnSpc>
                <a:spcPct val="90000"/>
              </a:lnSpc>
              <a:spcBef>
                <a:spcPts val="375"/>
              </a:spcBef>
              <a:buFont typeface="Arial" panose="020B0604020202020204" pitchFamily="34" charset="0"/>
              <a:buChar char="•"/>
              <a:defRPr sz="1800">
                <a:solidFill>
                  <a:schemeClr val="tx1"/>
                </a:solidFill>
                <a:latin typeface="Calibri" panose="020F0502020204030204" pitchFamily="34" charset="0"/>
                <a:ea typeface="Malgun Gothic" panose="020B0503020000020004" pitchFamily="34" charset="-127"/>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Malgun Gothic" panose="020B0503020000020004" pitchFamily="34" charset="-127"/>
              </a:defRPr>
            </a:lvl3pPr>
            <a:lvl4pPr marL="12001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1543050" indent="-1714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18859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2288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25717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2914650" indent="-171450" eaLnBrk="0" fontAlgn="base" hangingPunct="0">
              <a:lnSpc>
                <a:spcPct val="90000"/>
              </a:lnSpc>
              <a:spcBef>
                <a:spcPts val="375"/>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latinLnBrk="1">
              <a:lnSpc>
                <a:spcPct val="100000"/>
              </a:lnSpc>
              <a:spcBef>
                <a:spcPct val="0"/>
              </a:spcBef>
              <a:buFontTx/>
              <a:buNone/>
            </a:pPr>
            <a:fld id="{4173C921-411E-4F03-8DB4-D1F9466835B1}" type="slidenum">
              <a:rPr lang="zh-CN" altLang="en-US" sz="1050">
                <a:latin typeface="Gulim" panose="02010600030101010101" charset="-122"/>
                <a:ea typeface="Gulim" panose="02010600030101010101" charset="-122"/>
              </a:rPr>
              <a:pPr latinLnBrk="1">
                <a:lnSpc>
                  <a:spcPct val="100000"/>
                </a:lnSpc>
                <a:spcBef>
                  <a:spcPct val="0"/>
                </a:spcBef>
                <a:buFontTx/>
                <a:buNone/>
              </a:pPr>
              <a:t>112</a:t>
            </a:fld>
            <a:endParaRPr lang="en-US" altLang="zh-CN" sz="1050">
              <a:latin typeface="Gulim" panose="02010600030101010101" charset="-122"/>
              <a:ea typeface="Gulim" panose="02010600030101010101" charset="-122"/>
            </a:endParaRPr>
          </a:p>
        </p:txBody>
      </p:sp>
      <p:sp>
        <p:nvSpPr>
          <p:cNvPr id="8" name="Rectangle 2"/>
          <p:cNvSpPr txBox="1">
            <a:spLocks noChangeArrowheads="1"/>
          </p:cNvSpPr>
          <p:nvPr/>
        </p:nvSpPr>
        <p:spPr bwMode="auto">
          <a:xfrm>
            <a:off x="3156708" y="476673"/>
            <a:ext cx="5829300" cy="548879"/>
          </a:xfrm>
          <a:prstGeom prst="rect">
            <a:avLst/>
          </a:prstGeom>
          <a:noFill/>
          <a:ln>
            <a:noFill/>
          </a:ln>
          <a:effectLst/>
        </p:spPr>
        <p:txBody>
          <a:bodyPr anchor="ctr"/>
          <a:lst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hangingPunct="1">
              <a:defRPr/>
            </a:pPr>
            <a:r>
              <a:rPr lang="en-US" altLang="zh-CN" sz="3000" b="1" dirty="0">
                <a:solidFill>
                  <a:schemeClr val="tx1"/>
                </a:solidFill>
                <a:effectLst>
                  <a:outerShdw blurRad="38100" dist="38100" dir="2700000" algn="tl">
                    <a:srgbClr val="C0C0C0"/>
                  </a:outerShdw>
                </a:effectLst>
              </a:rPr>
              <a:t>K</a:t>
            </a:r>
            <a:r>
              <a:rPr lang="zh-CN" altLang="en-US" sz="3000" b="1" dirty="0">
                <a:solidFill>
                  <a:schemeClr val="tx1"/>
                </a:solidFill>
                <a:effectLst>
                  <a:outerShdw blurRad="38100" dist="38100" dir="2700000" algn="tl">
                    <a:srgbClr val="C0C0C0"/>
                  </a:outerShdw>
                </a:effectLst>
              </a:rPr>
              <a:t>均值聚类</a:t>
            </a:r>
            <a:endParaRPr lang="en-US" altLang="zh-CN" sz="3000" b="1" dirty="0">
              <a:solidFill>
                <a:schemeClr val="tx1"/>
              </a:solidFill>
              <a:effectLst>
                <a:outerShdw blurRad="38100" dist="38100" dir="2700000" algn="tl">
                  <a:srgbClr val="C0C0C0"/>
                </a:outerShdw>
              </a:effectLst>
            </a:endParaRPr>
          </a:p>
        </p:txBody>
      </p:sp>
      <p:sp>
        <p:nvSpPr>
          <p:cNvPr id="6" name="矩形 5"/>
          <p:cNvSpPr/>
          <p:nvPr/>
        </p:nvSpPr>
        <p:spPr>
          <a:xfrm>
            <a:off x="1829991" y="1863330"/>
            <a:ext cx="3671888" cy="3194721"/>
          </a:xfrm>
          <a:prstGeom prst="rect">
            <a:avLst/>
          </a:prstGeom>
          <a:solidFill>
            <a:srgbClr val="F0FEE5">
              <a:alpha val="41961"/>
            </a:srgbClr>
          </a:solidFill>
          <a:ln>
            <a:solidFill>
              <a:srgbClr val="009900"/>
            </a:solidFill>
            <a:prstDash val="sysDash"/>
          </a:ln>
        </p:spPr>
        <p:txBody>
          <a:bodyPr>
            <a:spAutoFit/>
          </a:bodyPr>
          <a:lstStyle/>
          <a:p>
            <a:pPr fontAlgn="auto">
              <a:lnSpc>
                <a:spcPct val="120000"/>
              </a:lnSpc>
              <a:spcBef>
                <a:spcPts val="0"/>
              </a:spcBef>
              <a:defRPr/>
            </a:pPr>
            <a:r>
              <a:rPr lang="zh-CN" altLang="en-US" sz="2400" dirty="0">
                <a:latin typeface="微软雅黑" panose="020B0503020204020204" pitchFamily="34" charset="-122"/>
                <a:ea typeface="微软雅黑" panose="020B0503020204020204" pitchFamily="34" charset="-122"/>
                <a:sym typeface="+mn-ea"/>
              </a:rPr>
              <a:t>K-Means的主要</a:t>
            </a:r>
            <a:r>
              <a:rPr lang="zh-CN" altLang="en-US" sz="2400" b="1" dirty="0">
                <a:solidFill>
                  <a:srgbClr val="0070C0"/>
                </a:solidFill>
                <a:latin typeface="微软雅黑" panose="020B0503020204020204" pitchFamily="34" charset="-122"/>
                <a:ea typeface="微软雅黑" panose="020B0503020204020204" pitchFamily="34" charset="-122"/>
                <a:sym typeface="+mn-ea"/>
              </a:rPr>
              <a:t>优点</a:t>
            </a:r>
            <a:r>
              <a:rPr lang="zh-CN" altLang="en-US" sz="2400" dirty="0">
                <a:latin typeface="微软雅黑" panose="020B0503020204020204" pitchFamily="34" charset="-122"/>
                <a:ea typeface="微软雅黑" panose="020B0503020204020204" pitchFamily="34" charset="-122"/>
                <a:sym typeface="+mn-ea"/>
              </a:rPr>
              <a:t>：</a:t>
            </a:r>
          </a:p>
          <a:p>
            <a:pPr marL="160735" indent="-160735" fontAlgn="auto">
              <a:lnSpc>
                <a:spcPct val="120000"/>
              </a:lnSpc>
              <a:spcBef>
                <a:spcPts val="0"/>
              </a:spcBef>
              <a:buFont typeface="Wingdings" panose="05000000000000000000" charset="0"/>
              <a:buChar char=""/>
              <a:defRPr/>
            </a:pPr>
            <a:r>
              <a:rPr lang="zh-CN" altLang="en-US" sz="2400" dirty="0">
                <a:latin typeface="微软雅黑" panose="020B0503020204020204" pitchFamily="34" charset="-122"/>
                <a:ea typeface="微软雅黑" panose="020B0503020204020204" pitchFamily="34" charset="-122"/>
                <a:sym typeface="+mn-ea"/>
              </a:rPr>
              <a:t>原理比较简单，实现也是很容易，收敛速度快</a:t>
            </a:r>
          </a:p>
          <a:p>
            <a:pPr marL="160735" indent="-160735" fontAlgn="auto">
              <a:lnSpc>
                <a:spcPct val="120000"/>
              </a:lnSpc>
              <a:spcBef>
                <a:spcPts val="0"/>
              </a:spcBef>
              <a:buFont typeface="Wingdings" panose="05000000000000000000" charset="0"/>
              <a:buChar char=""/>
              <a:defRPr/>
            </a:pPr>
            <a:r>
              <a:rPr lang="zh-CN" altLang="en-US" sz="2400" dirty="0">
                <a:latin typeface="微软雅黑" panose="020B0503020204020204" pitchFamily="34" charset="-122"/>
                <a:ea typeface="微软雅黑" panose="020B0503020204020204" pitchFamily="34" charset="-122"/>
                <a:sym typeface="+mn-ea"/>
              </a:rPr>
              <a:t>聚类效果较优</a:t>
            </a:r>
          </a:p>
          <a:p>
            <a:pPr marL="160735" indent="-160735" fontAlgn="auto">
              <a:lnSpc>
                <a:spcPct val="120000"/>
              </a:lnSpc>
              <a:spcBef>
                <a:spcPts val="0"/>
              </a:spcBef>
              <a:buFont typeface="Wingdings" panose="05000000000000000000" charset="0"/>
              <a:buChar char=""/>
              <a:defRPr/>
            </a:pPr>
            <a:r>
              <a:rPr lang="zh-CN" altLang="en-US" sz="2400" dirty="0">
                <a:latin typeface="微软雅黑" panose="020B0503020204020204" pitchFamily="34" charset="-122"/>
                <a:ea typeface="微软雅黑" panose="020B0503020204020204" pitchFamily="34" charset="-122"/>
                <a:sym typeface="+mn-ea"/>
              </a:rPr>
              <a:t>算法的可解释度比较强</a:t>
            </a:r>
          </a:p>
          <a:p>
            <a:pPr marL="160735" indent="-160735" fontAlgn="auto">
              <a:lnSpc>
                <a:spcPct val="120000"/>
              </a:lnSpc>
              <a:spcBef>
                <a:spcPts val="0"/>
              </a:spcBef>
              <a:buFont typeface="Wingdings" panose="05000000000000000000" charset="0"/>
              <a:buChar char=""/>
              <a:defRPr/>
            </a:pPr>
            <a:r>
              <a:rPr lang="zh-CN" altLang="en-US" sz="2400" dirty="0">
                <a:latin typeface="微软雅黑" panose="020B0503020204020204" pitchFamily="34" charset="-122"/>
                <a:ea typeface="微软雅黑" panose="020B0503020204020204" pitchFamily="34" charset="-122"/>
                <a:sym typeface="+mn-ea"/>
              </a:rPr>
              <a:t>主要需要调参的参数仅仅是簇数k</a:t>
            </a:r>
          </a:p>
        </p:txBody>
      </p:sp>
      <p:sp>
        <p:nvSpPr>
          <p:cNvPr id="7" name="矩形 6"/>
          <p:cNvSpPr/>
          <p:nvPr/>
        </p:nvSpPr>
        <p:spPr>
          <a:xfrm>
            <a:off x="5772152" y="1863330"/>
            <a:ext cx="3888581" cy="4043543"/>
          </a:xfrm>
          <a:prstGeom prst="rect">
            <a:avLst/>
          </a:prstGeom>
          <a:solidFill>
            <a:srgbClr val="F0FEE5">
              <a:alpha val="41961"/>
            </a:srgbClr>
          </a:solidFill>
          <a:ln>
            <a:solidFill>
              <a:srgbClr val="009900"/>
            </a:solidFill>
            <a:prstDash val="sysDash"/>
          </a:ln>
        </p:spPr>
        <p:txBody>
          <a:bodyPr>
            <a:spAutoFit/>
          </a:bodyPr>
          <a:lstStyle/>
          <a:p>
            <a:pPr fontAlgn="auto">
              <a:lnSpc>
                <a:spcPct val="120000"/>
              </a:lnSpc>
              <a:spcBef>
                <a:spcPts val="0"/>
              </a:spcBef>
              <a:defRPr/>
            </a:pPr>
            <a:r>
              <a:rPr lang="zh-CN" altLang="en-US" sz="2400" dirty="0">
                <a:latin typeface="微软雅黑" panose="020B0503020204020204" pitchFamily="34" charset="-122"/>
                <a:ea typeface="微软雅黑" panose="020B0503020204020204" pitchFamily="34" charset="-122"/>
                <a:sym typeface="+mn-ea"/>
              </a:rPr>
              <a:t>K-Means的主要</a:t>
            </a:r>
            <a:r>
              <a:rPr lang="zh-CN" altLang="en-US" sz="2400" b="1" dirty="0">
                <a:solidFill>
                  <a:srgbClr val="0070C0"/>
                </a:solidFill>
                <a:latin typeface="微软雅黑" panose="020B0503020204020204" pitchFamily="34" charset="-122"/>
                <a:ea typeface="微软雅黑" panose="020B0503020204020204" pitchFamily="34" charset="-122"/>
                <a:sym typeface="+mn-ea"/>
              </a:rPr>
              <a:t>缺点</a:t>
            </a:r>
            <a:r>
              <a:rPr lang="zh-CN" altLang="en-US" sz="2400" dirty="0">
                <a:latin typeface="微软雅黑" panose="020B0503020204020204" pitchFamily="34" charset="-122"/>
                <a:ea typeface="微软雅黑" panose="020B0503020204020204" pitchFamily="34" charset="-122"/>
                <a:sym typeface="+mn-ea"/>
              </a:rPr>
              <a:t>：</a:t>
            </a:r>
          </a:p>
          <a:p>
            <a:pPr marL="160735" indent="-160735" fontAlgn="auto">
              <a:lnSpc>
                <a:spcPct val="120000"/>
              </a:lnSpc>
              <a:spcBef>
                <a:spcPts val="0"/>
              </a:spcBef>
              <a:buFont typeface="Wingdings" panose="05000000000000000000" charset="0"/>
              <a:buChar char=""/>
              <a:defRPr/>
            </a:pPr>
            <a:r>
              <a:rPr lang="zh-CN" altLang="en-US" sz="2400" dirty="0">
                <a:latin typeface="微软雅黑" panose="020B0503020204020204" pitchFamily="34" charset="-122"/>
                <a:ea typeface="微软雅黑" panose="020B0503020204020204" pitchFamily="34" charset="-122"/>
                <a:sym typeface="+mn-ea"/>
              </a:rPr>
              <a:t>K值的选取不好把握</a:t>
            </a:r>
          </a:p>
          <a:p>
            <a:pPr marL="160735" indent="-160735" fontAlgn="auto">
              <a:lnSpc>
                <a:spcPct val="120000"/>
              </a:lnSpc>
              <a:spcBef>
                <a:spcPts val="0"/>
              </a:spcBef>
              <a:buFont typeface="Wingdings" panose="05000000000000000000" charset="0"/>
              <a:buChar char=""/>
              <a:defRPr/>
            </a:pPr>
            <a:r>
              <a:rPr lang="zh-CN" altLang="en-US" sz="2400" dirty="0">
                <a:latin typeface="微软雅黑" panose="020B0503020204020204" pitchFamily="34" charset="-122"/>
                <a:ea typeface="微软雅黑" panose="020B0503020204020204" pitchFamily="34" charset="-122"/>
                <a:sym typeface="+mn-ea"/>
              </a:rPr>
              <a:t>不平衡数据集的聚类效果不佳</a:t>
            </a:r>
          </a:p>
          <a:p>
            <a:pPr marL="160735" indent="-160735" fontAlgn="auto">
              <a:lnSpc>
                <a:spcPct val="120000"/>
              </a:lnSpc>
              <a:spcBef>
                <a:spcPts val="0"/>
              </a:spcBef>
              <a:buFont typeface="Wingdings" panose="05000000000000000000" charset="0"/>
              <a:buChar char=""/>
              <a:defRPr/>
            </a:pPr>
            <a:r>
              <a:rPr lang="zh-CN" altLang="en-US" sz="2400" dirty="0">
                <a:latin typeface="微软雅黑" panose="020B0503020204020204" pitchFamily="34" charset="-122"/>
                <a:ea typeface="微软雅黑" panose="020B0503020204020204" pitchFamily="34" charset="-122"/>
                <a:sym typeface="+mn-ea"/>
              </a:rPr>
              <a:t>采用迭代方法，得到的结果只是局部最优，而且</a:t>
            </a:r>
            <a:r>
              <a:rPr lang="zh-CN" altLang="en-US" sz="2400" dirty="0">
                <a:ea typeface="微软雅黑" panose="020B0503020204020204" pitchFamily="34" charset="-122"/>
                <a:cs typeface="Times New Roman" panose="02020603050405020304" pitchFamily="18" charset="0"/>
              </a:rPr>
              <a:t>时间开销非常大 </a:t>
            </a:r>
            <a:endParaRPr lang="zh-CN" altLang="en-US" sz="2400" dirty="0">
              <a:latin typeface="微软雅黑" panose="020B0503020204020204" pitchFamily="34" charset="-122"/>
              <a:ea typeface="微软雅黑" panose="020B0503020204020204" pitchFamily="34" charset="-122"/>
              <a:sym typeface="+mn-ea"/>
            </a:endParaRPr>
          </a:p>
          <a:p>
            <a:pPr marL="160735" indent="-160735" fontAlgn="auto">
              <a:lnSpc>
                <a:spcPct val="120000"/>
              </a:lnSpc>
              <a:spcBef>
                <a:spcPts val="0"/>
              </a:spcBef>
              <a:buFont typeface="Wingdings" panose="05000000000000000000" charset="0"/>
              <a:buChar char=""/>
              <a:defRPr/>
            </a:pPr>
            <a:r>
              <a:rPr lang="zh-CN" altLang="en-US" sz="2400" dirty="0">
                <a:latin typeface="微软雅黑" panose="020B0503020204020204" pitchFamily="34" charset="-122"/>
                <a:ea typeface="微软雅黑" panose="020B0503020204020204" pitchFamily="34" charset="-122"/>
                <a:sym typeface="+mn-ea"/>
              </a:rPr>
              <a:t>对噪音和异常点比较的敏感。</a:t>
            </a:r>
          </a:p>
        </p:txBody>
      </p:sp>
    </p:spTree>
    <p:extLst>
      <p:ext uri="{BB962C8B-B14F-4D97-AF65-F5344CB8AC3E}">
        <p14:creationId xmlns:p14="http://schemas.microsoft.com/office/powerpoint/2010/main" val="25496656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矩形 1"/>
          <p:cNvSpPr>
            <a:spLocks noChangeArrowheads="1"/>
          </p:cNvSpPr>
          <p:nvPr/>
        </p:nvSpPr>
        <p:spPr bwMode="auto">
          <a:xfrm>
            <a:off x="5058967" y="260648"/>
            <a:ext cx="18573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zh-CN" altLang="en-US" b="1" dirty="0">
                <a:latin typeface="微软雅黑" panose="020B0503020204020204" pitchFamily="34" charset="-122"/>
                <a:ea typeface="微软雅黑" panose="020B0503020204020204" pitchFamily="34" charset="-122"/>
              </a:rPr>
              <a:t>密度聚类</a:t>
            </a:r>
          </a:p>
        </p:txBody>
      </p:sp>
      <p:sp>
        <p:nvSpPr>
          <p:cNvPr id="3" name="矩形 2"/>
          <p:cNvSpPr>
            <a:spLocks noChangeArrowheads="1"/>
          </p:cNvSpPr>
          <p:nvPr/>
        </p:nvSpPr>
        <p:spPr bwMode="auto">
          <a:xfrm>
            <a:off x="1733550" y="875729"/>
            <a:ext cx="8508206"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25000"/>
              </a:lnSpc>
              <a:spcBef>
                <a:spcPct val="0"/>
              </a:spcBef>
              <a:buFontTx/>
              <a:buNone/>
            </a:pPr>
            <a:r>
              <a:rPr lang="zh-CN" altLang="zh-CN" sz="2000" b="1" dirty="0">
                <a:latin typeface="微软雅黑" panose="020B0503020204020204" pitchFamily="34" charset="-122"/>
                <a:ea typeface="微软雅黑" panose="020B0503020204020204" pitchFamily="34" charset="-122"/>
              </a:rPr>
              <a:t>密度聚类</a:t>
            </a:r>
            <a:r>
              <a:rPr lang="zh-CN" altLang="en-US" sz="2000" b="1" dirty="0">
                <a:latin typeface="微软雅黑" panose="020B0503020204020204" pitchFamily="34" charset="-122"/>
                <a:ea typeface="微软雅黑" panose="020B0503020204020204" pitchFamily="34" charset="-122"/>
              </a:rPr>
              <a:t>算法</a:t>
            </a:r>
            <a:r>
              <a:rPr lang="zh-CN" altLang="zh-CN" sz="2000" dirty="0">
                <a:latin typeface="微软雅黑" panose="020B0503020204020204" pitchFamily="34" charset="-122"/>
                <a:ea typeface="微软雅黑" panose="020B0503020204020204" pitchFamily="34" charset="-122"/>
              </a:rPr>
              <a:t>假设聚类结构能通过样本分布的紧密程度确定，算法从样本密度的角度来考察样本之间的可连接性，并基于可连接样本不断扩展聚类簇以获得最终的聚类结果。</a:t>
            </a:r>
            <a:r>
              <a:rPr lang="zh-CN" altLang="en-US" sz="2000" dirty="0">
                <a:latin typeface="微软雅黑" panose="020B0503020204020204" pitchFamily="34" charset="-122"/>
                <a:ea typeface="微软雅黑" panose="020B0503020204020204" pitchFamily="34" charset="-122"/>
              </a:rPr>
              <a:t> </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rcRect l="764" t="-2179" r="-764" b="10947"/>
          <a:stretch>
            <a:fillRect/>
          </a:stretch>
        </p:blipFill>
        <p:spPr bwMode="auto">
          <a:xfrm>
            <a:off x="7037785" y="2293145"/>
            <a:ext cx="1440656" cy="877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85599" y="2344342"/>
            <a:ext cx="1439465" cy="877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组合 21"/>
          <p:cNvGrpSpPr>
            <a:grpSpLocks/>
          </p:cNvGrpSpPr>
          <p:nvPr/>
        </p:nvGrpSpPr>
        <p:grpSpPr bwMode="auto">
          <a:xfrm>
            <a:off x="6632973" y="3221832"/>
            <a:ext cx="3904059" cy="2760258"/>
            <a:chOff x="3812" y="4305"/>
            <a:chExt cx="5573" cy="4126"/>
          </a:xfrm>
        </p:grpSpPr>
        <p:pic>
          <p:nvPicPr>
            <p:cNvPr id="43018" name="图片 1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12" y="4305"/>
              <a:ext cx="5504" cy="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9" name="文本框 18"/>
            <p:cNvSpPr txBox="1">
              <a:spLocks noChangeArrowheads="1"/>
            </p:cNvSpPr>
            <p:nvPr/>
          </p:nvSpPr>
          <p:spPr bwMode="auto">
            <a:xfrm>
              <a:off x="8268" y="7931"/>
              <a:ext cx="1117" cy="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endParaRPr lang="zh-CN" altLang="en-US" sz="1575">
                <a:solidFill>
                  <a:schemeClr val="bg1"/>
                </a:solidFill>
                <a:latin typeface="Times New Roman" panose="02020603050405020304" pitchFamily="18" charset="0"/>
                <a:ea typeface="Gulim" panose="02010600030101010101" charset="-122"/>
              </a:endParaRPr>
            </a:p>
          </p:txBody>
        </p:sp>
        <p:sp>
          <p:nvSpPr>
            <p:cNvPr id="43020" name="文本框 20"/>
            <p:cNvSpPr txBox="1">
              <a:spLocks noChangeArrowheads="1"/>
            </p:cNvSpPr>
            <p:nvPr/>
          </p:nvSpPr>
          <p:spPr bwMode="auto">
            <a:xfrm>
              <a:off x="9105" y="4921"/>
              <a:ext cx="211" cy="23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zh-CN" altLang="en-US" sz="1575" dirty="0">
                  <a:solidFill>
                    <a:schemeClr val="bg1"/>
                  </a:solidFill>
                  <a:latin typeface="Times New Roman" panose="02020603050405020304" pitchFamily="18" charset="0"/>
                  <a:ea typeface="Gulim" panose="02010600030101010101" charset="-122"/>
                </a:rPr>
                <a:t>大</a:t>
              </a:r>
            </a:p>
            <a:p>
              <a:pPr>
                <a:lnSpc>
                  <a:spcPct val="100000"/>
                </a:lnSpc>
                <a:spcBef>
                  <a:spcPct val="0"/>
                </a:spcBef>
                <a:buFontTx/>
                <a:buNone/>
              </a:pPr>
              <a:endParaRPr lang="zh-CN" altLang="en-US" sz="1575" dirty="0">
                <a:solidFill>
                  <a:schemeClr val="bg1"/>
                </a:solidFill>
                <a:latin typeface="Times New Roman" panose="02020603050405020304" pitchFamily="18" charset="0"/>
                <a:ea typeface="Gulim" panose="02010600030101010101" charset="-122"/>
              </a:endParaRPr>
            </a:p>
            <a:p>
              <a:pPr>
                <a:lnSpc>
                  <a:spcPct val="100000"/>
                </a:lnSpc>
                <a:spcBef>
                  <a:spcPct val="0"/>
                </a:spcBef>
                <a:buFontTx/>
                <a:buNone/>
              </a:pPr>
              <a:endParaRPr lang="zh-CN" altLang="en-US" sz="1575" dirty="0">
                <a:solidFill>
                  <a:schemeClr val="bg1"/>
                </a:solidFill>
                <a:latin typeface="Times New Roman" panose="02020603050405020304" pitchFamily="18" charset="0"/>
                <a:ea typeface="Gulim" panose="02010600030101010101" charset="-122"/>
              </a:endParaRPr>
            </a:p>
            <a:p>
              <a:pPr>
                <a:lnSpc>
                  <a:spcPct val="100000"/>
                </a:lnSpc>
                <a:spcBef>
                  <a:spcPct val="0"/>
                </a:spcBef>
                <a:buFontTx/>
                <a:buNone/>
              </a:pPr>
              <a:endParaRPr lang="zh-CN" altLang="en-US" sz="1575" dirty="0">
                <a:solidFill>
                  <a:schemeClr val="bg1"/>
                </a:solidFill>
                <a:latin typeface="Times New Roman" panose="02020603050405020304" pitchFamily="18" charset="0"/>
                <a:ea typeface="Gulim" panose="02010600030101010101" charset="-122"/>
              </a:endParaRPr>
            </a:p>
            <a:p>
              <a:pPr>
                <a:lnSpc>
                  <a:spcPct val="100000"/>
                </a:lnSpc>
                <a:spcBef>
                  <a:spcPct val="0"/>
                </a:spcBef>
                <a:buFontTx/>
                <a:buNone/>
              </a:pPr>
              <a:endParaRPr lang="zh-CN" altLang="en-US" sz="1575" dirty="0">
                <a:solidFill>
                  <a:schemeClr val="bg1"/>
                </a:solidFill>
                <a:latin typeface="Times New Roman" panose="02020603050405020304" pitchFamily="18" charset="0"/>
                <a:ea typeface="Gulim" panose="02010600030101010101" charset="-122"/>
              </a:endParaRPr>
            </a:p>
            <a:p>
              <a:pPr>
                <a:lnSpc>
                  <a:spcPct val="100000"/>
                </a:lnSpc>
                <a:spcBef>
                  <a:spcPct val="0"/>
                </a:spcBef>
                <a:buFontTx/>
                <a:buNone/>
              </a:pPr>
              <a:endParaRPr lang="zh-CN" altLang="en-US" sz="1575" dirty="0">
                <a:solidFill>
                  <a:schemeClr val="bg1"/>
                </a:solidFill>
                <a:latin typeface="Times New Roman" panose="02020603050405020304" pitchFamily="18" charset="0"/>
                <a:ea typeface="Gulim" panose="02010600030101010101" charset="-122"/>
              </a:endParaRPr>
            </a:p>
          </p:txBody>
        </p:sp>
      </p:grpSp>
      <p:sp>
        <p:nvSpPr>
          <p:cNvPr id="23" name="文本框 22"/>
          <p:cNvSpPr txBox="1">
            <a:spLocks noChangeArrowheads="1"/>
          </p:cNvSpPr>
          <p:nvPr/>
        </p:nvSpPr>
        <p:spPr bwMode="auto">
          <a:xfrm>
            <a:off x="1856184" y="2750075"/>
            <a:ext cx="4050506" cy="34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10000"/>
              </a:lnSpc>
              <a:spcBef>
                <a:spcPct val="0"/>
              </a:spcBef>
              <a:buFont typeface="宋体" panose="02010600030101010101" pitchFamily="2" charset="-122"/>
              <a:buAutoNum type="circleNumDbPlain"/>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通过检查数据集中每个点的</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Eps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邻域来搜索簇，如果点</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Eps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邻域包含的点多于</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MinPts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个，则创建一个以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为核心对象的簇</a:t>
            </a:r>
          </a:p>
          <a:p>
            <a:pPr>
              <a:lnSpc>
                <a:spcPct val="110000"/>
              </a:lnSpc>
              <a:spcBef>
                <a:spcPct val="0"/>
              </a:spcBef>
              <a:buFont typeface="宋体" panose="02010600030101010101" pitchFamily="2" charset="-122"/>
              <a:buAutoNum type="circleNumDbPlain"/>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迭代地聚集从这些核心对象直接密度可达的对象，这个过程可能涉及一些密度可达簇的合并；</a:t>
            </a:r>
          </a:p>
          <a:p>
            <a:pPr>
              <a:lnSpc>
                <a:spcPct val="110000"/>
              </a:lnSpc>
              <a:spcBef>
                <a:spcPct val="0"/>
              </a:spcBef>
              <a:buFont typeface="宋体" panose="02010600030101010101" pitchFamily="2" charset="-122"/>
              <a:buAutoNum type="circleNumDbPlain"/>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当没有新的点添加到任何簇时，该过程结束</a:t>
            </a:r>
          </a:p>
        </p:txBody>
      </p:sp>
      <p:sp>
        <p:nvSpPr>
          <p:cNvPr id="24" name="圆角矩形 23"/>
          <p:cNvSpPr/>
          <p:nvPr/>
        </p:nvSpPr>
        <p:spPr>
          <a:xfrm>
            <a:off x="1775223" y="2492896"/>
            <a:ext cx="4212431" cy="3744416"/>
          </a:xfrm>
          <a:prstGeom prst="roundRect">
            <a:avLst/>
          </a:prstGeom>
          <a:noFill/>
          <a:ln w="19050">
            <a:solidFill>
              <a:srgbClr val="7030A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sz="2000"/>
          </a:p>
        </p:txBody>
      </p:sp>
      <p:sp>
        <p:nvSpPr>
          <p:cNvPr id="30" name="矩形 29"/>
          <p:cNvSpPr/>
          <p:nvPr/>
        </p:nvSpPr>
        <p:spPr>
          <a:xfrm>
            <a:off x="2641943" y="2382304"/>
            <a:ext cx="2591991" cy="246460"/>
          </a:xfrm>
          <a:prstGeom prst="rect">
            <a:avLst/>
          </a:prstGeom>
          <a:solidFill>
            <a:schemeClr val="accent4">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b="1" dirty="0">
                <a:solidFill>
                  <a:schemeClr val="accent2">
                    <a:lumMod val="75000"/>
                  </a:schemeClr>
                </a:solidFill>
                <a:latin typeface="微软雅黑" panose="020B0503020204020204" pitchFamily="34" charset="-122"/>
                <a:ea typeface="微软雅黑" panose="020B0503020204020204" pitchFamily="34" charset="-122"/>
              </a:rPr>
              <a:t>DBSCAN</a:t>
            </a: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算法流程</a:t>
            </a:r>
          </a:p>
        </p:txBody>
      </p:sp>
    </p:spTree>
    <p:extLst>
      <p:ext uri="{BB962C8B-B14F-4D97-AF65-F5344CB8AC3E}">
        <p14:creationId xmlns:p14="http://schemas.microsoft.com/office/powerpoint/2010/main" val="338279718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4" grpId="0" animBg="1"/>
      <p:bldP spid="30" grpId="0" animBg="1"/>
    </p:bld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矩形 1"/>
          <p:cNvSpPr>
            <a:spLocks noChangeArrowheads="1"/>
          </p:cNvSpPr>
          <p:nvPr/>
        </p:nvSpPr>
        <p:spPr bwMode="auto">
          <a:xfrm>
            <a:off x="2855641" y="317796"/>
            <a:ext cx="622796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zh-CN" altLang="en-US" b="1" dirty="0">
                <a:latin typeface="微软雅黑" panose="020B0503020204020204" pitchFamily="34" charset="-122"/>
                <a:ea typeface="微软雅黑" panose="020B0503020204020204" pitchFamily="34" charset="-122"/>
              </a:rPr>
              <a:t>层次聚类   </a:t>
            </a:r>
            <a:r>
              <a:rPr lang="en-US" altLang="zh-CN" sz="2000" dirty="0">
                <a:latin typeface="微软雅黑" panose="020B0503020204020204" pitchFamily="34" charset="-122"/>
                <a:ea typeface="微软雅黑" panose="020B0503020204020204" pitchFamily="34" charset="-122"/>
              </a:rPr>
              <a:t>AGNES</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Agglomerative </a:t>
            </a:r>
            <a:r>
              <a:rPr lang="en-US" altLang="zh-CN" sz="2000" dirty="0" err="1">
                <a:latin typeface="微软雅黑" panose="020B0503020204020204" pitchFamily="34" charset="-122"/>
                <a:ea typeface="微软雅黑" panose="020B0503020204020204" pitchFamily="34" charset="-122"/>
              </a:rPr>
              <a:t>NESting</a:t>
            </a:r>
            <a:r>
              <a:rPr lang="zh-CN" altLang="en-US" sz="2000"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31769" y="2088356"/>
            <a:ext cx="325636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4430" y="4644629"/>
            <a:ext cx="2863453" cy="107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a:spLocks noChangeArrowheads="1"/>
          </p:cNvSpPr>
          <p:nvPr/>
        </p:nvSpPr>
        <p:spPr bwMode="auto">
          <a:xfrm>
            <a:off x="1561926" y="931998"/>
            <a:ext cx="8815388"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25000"/>
              </a:lnSpc>
              <a:spcBef>
                <a:spcPct val="0"/>
              </a:spcBef>
              <a:buFontTx/>
              <a:buNone/>
            </a:pPr>
            <a:r>
              <a:rPr lang="zh-CN" altLang="en-US" sz="2000" b="1" dirty="0">
                <a:latin typeface="微软雅黑" panose="020B0503020204020204" pitchFamily="34" charset="-122"/>
                <a:ea typeface="微软雅黑" panose="020B0503020204020204" pitchFamily="34" charset="-122"/>
              </a:rPr>
              <a:t>层次</a:t>
            </a:r>
            <a:r>
              <a:rPr lang="zh-CN" altLang="zh-CN" sz="2000" b="1" dirty="0">
                <a:latin typeface="微软雅黑" panose="020B0503020204020204" pitchFamily="34" charset="-122"/>
                <a:ea typeface="微软雅黑" panose="020B0503020204020204" pitchFamily="34" charset="-122"/>
              </a:rPr>
              <a:t>聚类</a:t>
            </a:r>
            <a:r>
              <a:rPr lang="zh-CN" altLang="en-US" sz="2000" b="1" dirty="0">
                <a:latin typeface="微软雅黑" panose="020B0503020204020204" pitchFamily="34" charset="-122"/>
                <a:ea typeface="微软雅黑" panose="020B0503020204020204" pitchFamily="34" charset="-122"/>
              </a:rPr>
              <a:t>算法</a:t>
            </a:r>
            <a:r>
              <a:rPr lang="zh-CN" altLang="en-US" sz="2000" dirty="0">
                <a:latin typeface="微软雅黑" panose="020B0503020204020204" pitchFamily="34" charset="-122"/>
                <a:ea typeface="微软雅黑" panose="020B0503020204020204" pitchFamily="34" charset="-122"/>
              </a:rPr>
              <a:t>试图在不同层次对数据集进行划分，从而形成树形的聚类结构。数据集的划分可采用“自底向上”的聚合策略，也可采用“自顶向下”的分拆策略。</a:t>
            </a:r>
          </a:p>
        </p:txBody>
      </p:sp>
      <p:cxnSp>
        <p:nvCxnSpPr>
          <p:cNvPr id="7" name="直接连接符 6"/>
          <p:cNvCxnSpPr/>
          <p:nvPr/>
        </p:nvCxnSpPr>
        <p:spPr>
          <a:xfrm>
            <a:off x="7025880" y="3590925"/>
            <a:ext cx="241815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9" name="直接连接符 8"/>
          <p:cNvCxnSpPr/>
          <p:nvPr/>
        </p:nvCxnSpPr>
        <p:spPr>
          <a:xfrm>
            <a:off x="7230666" y="3429000"/>
            <a:ext cx="2213372"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直接连接符 9"/>
          <p:cNvCxnSpPr/>
          <p:nvPr/>
        </p:nvCxnSpPr>
        <p:spPr>
          <a:xfrm>
            <a:off x="7337822" y="2847975"/>
            <a:ext cx="2213372" cy="0"/>
          </a:xfrm>
          <a:prstGeom prst="line">
            <a:avLst/>
          </a:prstGeom>
        </p:spPr>
        <p:style>
          <a:lnRef idx="3">
            <a:schemeClr val="accent1"/>
          </a:lnRef>
          <a:fillRef idx="0">
            <a:schemeClr val="accent1"/>
          </a:fillRef>
          <a:effectRef idx="2">
            <a:schemeClr val="accent1"/>
          </a:effectRef>
          <a:fontRef idx="minor">
            <a:schemeClr val="tx1"/>
          </a:fontRef>
        </p:style>
      </p:cxnSp>
      <p:sp>
        <p:nvSpPr>
          <p:cNvPr id="11" name="矩形 10"/>
          <p:cNvSpPr>
            <a:spLocks noChangeArrowheads="1"/>
          </p:cNvSpPr>
          <p:nvPr/>
        </p:nvSpPr>
        <p:spPr bwMode="auto">
          <a:xfrm>
            <a:off x="9567863" y="3498058"/>
            <a:ext cx="580608" cy="334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en-US" altLang="zh-CN" sz="1575">
                <a:latin typeface="微软雅黑" panose="020B0503020204020204" pitchFamily="34" charset="-122"/>
                <a:ea typeface="微软雅黑" panose="020B0503020204020204" pitchFamily="34" charset="-122"/>
              </a:rPr>
              <a:t>K=5</a:t>
            </a:r>
            <a:endParaRPr lang="zh-CN" altLang="en-US" sz="1575">
              <a:latin typeface="Times New Roman" panose="02020603050405020304" pitchFamily="18" charset="0"/>
              <a:ea typeface="Gulim" panose="02010600030101010101" charset="-122"/>
            </a:endParaRPr>
          </a:p>
        </p:txBody>
      </p:sp>
      <p:sp>
        <p:nvSpPr>
          <p:cNvPr id="12" name="矩形 11"/>
          <p:cNvSpPr>
            <a:spLocks noChangeArrowheads="1"/>
          </p:cNvSpPr>
          <p:nvPr/>
        </p:nvSpPr>
        <p:spPr bwMode="auto">
          <a:xfrm>
            <a:off x="9572625" y="3212308"/>
            <a:ext cx="580608" cy="334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en-US" altLang="zh-CN" sz="1575">
                <a:latin typeface="微软雅黑" panose="020B0503020204020204" pitchFamily="34" charset="-122"/>
                <a:ea typeface="微软雅黑" panose="020B0503020204020204" pitchFamily="34" charset="-122"/>
              </a:rPr>
              <a:t>K=4</a:t>
            </a:r>
            <a:endParaRPr lang="zh-CN" altLang="en-US" sz="1575">
              <a:latin typeface="Times New Roman" panose="02020603050405020304" pitchFamily="18" charset="0"/>
              <a:ea typeface="Gulim" panose="02010600030101010101" charset="-122"/>
            </a:endParaRPr>
          </a:p>
        </p:txBody>
      </p:sp>
      <p:sp>
        <p:nvSpPr>
          <p:cNvPr id="13" name="矩形 12"/>
          <p:cNvSpPr>
            <a:spLocks noChangeArrowheads="1"/>
          </p:cNvSpPr>
          <p:nvPr/>
        </p:nvSpPr>
        <p:spPr bwMode="auto">
          <a:xfrm>
            <a:off x="9565481" y="2701530"/>
            <a:ext cx="580608" cy="334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00000"/>
              </a:lnSpc>
              <a:spcBef>
                <a:spcPct val="0"/>
              </a:spcBef>
              <a:buFontTx/>
              <a:buNone/>
            </a:pPr>
            <a:r>
              <a:rPr lang="en-US" altLang="zh-CN" sz="1575">
                <a:latin typeface="微软雅黑" panose="020B0503020204020204" pitchFamily="34" charset="-122"/>
                <a:ea typeface="微软雅黑" panose="020B0503020204020204" pitchFamily="34" charset="-122"/>
              </a:rPr>
              <a:t>K=2</a:t>
            </a:r>
            <a:endParaRPr lang="zh-CN" altLang="en-US" sz="1575">
              <a:latin typeface="Times New Roman" panose="02020603050405020304" pitchFamily="18" charset="0"/>
              <a:ea typeface="Gulim" panose="02010600030101010101" charset="-122"/>
            </a:endParaRPr>
          </a:p>
        </p:txBody>
      </p:sp>
      <p:sp>
        <p:nvSpPr>
          <p:cNvPr id="14" name="文本框 13"/>
          <p:cNvSpPr txBox="1">
            <a:spLocks noChangeArrowheads="1"/>
          </p:cNvSpPr>
          <p:nvPr/>
        </p:nvSpPr>
        <p:spPr bwMode="auto">
          <a:xfrm>
            <a:off x="1860947" y="2786064"/>
            <a:ext cx="4670822"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algun Gothic" panose="020B0503020000020004" pitchFamily="34" charset="-127"/>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algun Gothic" panose="020B0503020000020004" pitchFamily="34" charset="-127"/>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algun Gothic" panose="020B0503020000020004" pitchFamily="34" charset="-127"/>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algun Gothic" panose="020B0503020000020004" pitchFamily="34" charset="-127"/>
              </a:defRPr>
            </a:lvl9pPr>
          </a:lstStyle>
          <a:p>
            <a:pPr>
              <a:lnSpc>
                <a:spcPct val="110000"/>
              </a:lnSpc>
              <a:spcBef>
                <a:spcPct val="0"/>
              </a:spcBef>
              <a:buFont typeface="宋体" panose="02010600030101010101" pitchFamily="2" charset="-122"/>
              <a:buAutoNum type="circleNumDbPlain"/>
            </a:pPr>
            <a:r>
              <a:rPr lang="zh-CN" altLang="en-US" sz="2000" dirty="0">
                <a:latin typeface="微软雅黑" panose="020B0503020204020204" pitchFamily="34" charset="-122"/>
                <a:ea typeface="微软雅黑" panose="020B0503020204020204" pitchFamily="34" charset="-122"/>
              </a:rPr>
              <a:t>算法最初将每个对象做为一个簇，然后这些簇根据某些准则被一步步的合并，使用单链接方法；</a:t>
            </a:r>
          </a:p>
          <a:p>
            <a:pPr>
              <a:lnSpc>
                <a:spcPct val="110000"/>
              </a:lnSpc>
              <a:spcBef>
                <a:spcPct val="0"/>
              </a:spcBef>
              <a:buFont typeface="宋体" panose="02010600030101010101" pitchFamily="2" charset="-122"/>
              <a:buAutoNum type="circleNumDbPlain"/>
            </a:pPr>
            <a:r>
              <a:rPr lang="zh-CN" altLang="en-US" sz="2000" dirty="0">
                <a:latin typeface="微软雅黑" panose="020B0503020204020204" pitchFamily="34" charset="-122"/>
                <a:ea typeface="微软雅黑" panose="020B0503020204020204" pitchFamily="34" charset="-122"/>
              </a:rPr>
              <a:t>两个簇间的相似度由这两个不同簇中距离最近的数据点对的相似度来确定。此外当两个簇最近距离超过用户给定的阈值时聚类过程就会终止；</a:t>
            </a:r>
          </a:p>
          <a:p>
            <a:pPr>
              <a:lnSpc>
                <a:spcPct val="110000"/>
              </a:lnSpc>
              <a:spcBef>
                <a:spcPct val="0"/>
              </a:spcBef>
              <a:buFont typeface="宋体" panose="02010600030101010101" pitchFamily="2" charset="-122"/>
              <a:buAutoNum type="circleNumDbPlain"/>
            </a:pPr>
            <a:r>
              <a:rPr lang="zh-CN" altLang="en-US" sz="2000" dirty="0">
                <a:latin typeface="微软雅黑" panose="020B0503020204020204" pitchFamily="34" charset="-122"/>
                <a:ea typeface="微软雅黑" panose="020B0503020204020204" pitchFamily="34" charset="-122"/>
              </a:rPr>
              <a:t>聚类的合并过程反复进行直到所有的对象最终满足簇数据。</a:t>
            </a:r>
          </a:p>
        </p:txBody>
      </p:sp>
      <p:sp>
        <p:nvSpPr>
          <p:cNvPr id="15" name="圆角矩形 14"/>
          <p:cNvSpPr/>
          <p:nvPr/>
        </p:nvSpPr>
        <p:spPr>
          <a:xfrm>
            <a:off x="1678781" y="2540794"/>
            <a:ext cx="4852988" cy="3624510"/>
          </a:xfrm>
          <a:prstGeom prst="roundRect">
            <a:avLst/>
          </a:prstGeom>
          <a:noFill/>
          <a:ln w="19050">
            <a:solidFill>
              <a:srgbClr val="7030A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sz="2000"/>
          </a:p>
        </p:txBody>
      </p:sp>
      <p:sp>
        <p:nvSpPr>
          <p:cNvPr id="16" name="矩形 15"/>
          <p:cNvSpPr/>
          <p:nvPr/>
        </p:nvSpPr>
        <p:spPr>
          <a:xfrm>
            <a:off x="2593183" y="2418161"/>
            <a:ext cx="3126581" cy="245269"/>
          </a:xfrm>
          <a:prstGeom prst="rect">
            <a:avLst/>
          </a:prstGeom>
          <a:solidFill>
            <a:schemeClr val="accent4">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b="1" dirty="0">
                <a:solidFill>
                  <a:schemeClr val="accent2">
                    <a:lumMod val="75000"/>
                  </a:schemeClr>
                </a:solidFill>
                <a:latin typeface="微软雅黑" panose="020B0503020204020204" pitchFamily="34" charset="-122"/>
                <a:ea typeface="微软雅黑" panose="020B0503020204020204" pitchFamily="34" charset="-122"/>
              </a:rPr>
              <a:t>AGNES</a:t>
            </a: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算法流程</a:t>
            </a:r>
          </a:p>
        </p:txBody>
      </p:sp>
    </p:spTree>
    <p:extLst>
      <p:ext uri="{BB962C8B-B14F-4D97-AF65-F5344CB8AC3E}">
        <p14:creationId xmlns:p14="http://schemas.microsoft.com/office/powerpoint/2010/main" val="162007171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2" grpId="0"/>
      <p:bldP spid="13" grpId="0"/>
      <p:bldP spid="15" grpId="0" animBg="1"/>
      <p:bldP spid="16" grpId="0" animBg="1"/>
    </p:bldLst>
  </p:timing>
</p:sld>
</file>

<file path=ppt/theme/theme1.xml><?xml version="1.0" encoding="utf-8"?>
<a:theme xmlns:a="http://schemas.openxmlformats.org/drawingml/2006/main" name="B139">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xuzm">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C:\coolpt\TempSlide\B139.POT</Template>
  <TotalTime>5521</TotalTime>
  <Words>9369</Words>
  <Application>Microsoft Macintosh PowerPoint</Application>
  <PresentationFormat>宽屏</PresentationFormat>
  <Paragraphs>882</Paragraphs>
  <Slides>114</Slides>
  <Notes>35</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2</vt:i4>
      </vt:variant>
      <vt:variant>
        <vt:lpstr>幻灯片标题</vt:lpstr>
      </vt:variant>
      <vt:variant>
        <vt:i4>114</vt:i4>
      </vt:variant>
    </vt:vector>
  </HeadingPairs>
  <TitlesOfParts>
    <vt:vector size="132" baseType="lpstr">
      <vt:lpstr>PingFang SC</vt:lpstr>
      <vt:lpstr>Calibri</vt:lpstr>
      <vt:lpstr>微软雅黑</vt:lpstr>
      <vt:lpstr>宋体</vt:lpstr>
      <vt:lpstr>Wingdings</vt:lpstr>
      <vt:lpstr>华文行楷</vt:lpstr>
      <vt:lpstr>Arial</vt:lpstr>
      <vt:lpstr>Gulim</vt:lpstr>
      <vt:lpstr>Times New Roman</vt:lpstr>
      <vt:lpstr>Tahoma</vt:lpstr>
      <vt:lpstr>微软雅黑</vt:lpstr>
      <vt:lpstr>Calibri Light</vt:lpstr>
      <vt:lpstr>Cambria Math</vt:lpstr>
      <vt:lpstr>黑体</vt:lpstr>
      <vt:lpstr>B139</vt:lpstr>
      <vt:lpstr>xuzm</vt:lpstr>
      <vt:lpstr>Equation.3</vt:lpstr>
      <vt:lpstr>Equation.DSMT4</vt:lpstr>
      <vt:lpstr>人工智能导论  第4章 机器学习</vt:lpstr>
      <vt:lpstr>   本章内容   4.1 机器学习概论  4.2 分类算法   4.2.1：决策树   4.2.2：朴素贝叶斯分类器   4.2.3：集体学习   4.2.4：支持向量机（SVM）  4.3 回归算法  4.4 聚类算法  </vt:lpstr>
      <vt:lpstr>PowerPoint 演示文稿</vt:lpstr>
      <vt:lpstr>PowerPoint 演示文稿</vt:lpstr>
      <vt:lpstr>机器学习的任务</vt:lpstr>
      <vt:lpstr>PowerPoint 演示文稿</vt:lpstr>
      <vt:lpstr>学习的三种主要类型</vt:lpstr>
      <vt:lpstr>机器学习方法（1）</vt:lpstr>
      <vt:lpstr>监督学习：分类问题</vt:lpstr>
      <vt:lpstr>PowerPoint 演示文稿</vt:lpstr>
      <vt:lpstr>PowerPoint 演示文稿</vt:lpstr>
      <vt:lpstr>PowerPoint 演示文稿</vt:lpstr>
      <vt:lpstr>PowerPoint 演示文稿</vt:lpstr>
      <vt:lpstr>机器如何学习</vt:lpstr>
      <vt:lpstr>PowerPoint 演示文稿</vt:lpstr>
      <vt:lpstr>1. 数据清洗</vt:lpstr>
      <vt:lpstr>2. 数据采样</vt:lpstr>
      <vt:lpstr>数据拆分</vt:lpstr>
      <vt:lpstr>PowerPoint 演示文稿</vt:lpstr>
      <vt:lpstr>特征编码</vt:lpstr>
      <vt:lpstr>特征选择</vt:lpstr>
      <vt:lpstr>特征降维</vt:lpstr>
      <vt:lpstr>PowerPoint 演示文稿</vt:lpstr>
      <vt:lpstr>PowerPoint 演示文稿</vt:lpstr>
      <vt:lpstr>回归问题</vt:lpstr>
      <vt:lpstr>分类问题</vt:lpstr>
      <vt:lpstr>聚类问题</vt:lpstr>
      <vt:lpstr>PowerPoint 演示文稿</vt:lpstr>
      <vt:lpstr>PowerPoint 演示文稿</vt:lpstr>
      <vt:lpstr>性能评价指标（以分类为例）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本章内容   4.1 机器学习概论  4.2 分类算法   4.2.1：决策树   4.2.2：朴素贝叶斯分类器   4.2.3：集体学习   4.2.4：支持向量机（SVM）  4.3 回归算法  4.4 聚类算法  </vt:lpstr>
      <vt:lpstr>决策树</vt:lpstr>
      <vt:lpstr>PowerPoint 演示文稿</vt:lpstr>
      <vt:lpstr>PowerPoint 演示文稿</vt:lpstr>
      <vt:lpstr>PowerPoint 演示文稿</vt:lpstr>
      <vt:lpstr>PowerPoint 演示文稿</vt:lpstr>
      <vt:lpstr>PowerPoint 演示文稿</vt:lpstr>
      <vt:lpstr>   本章内容   4.1 机器学习概论  4.2 分类算法   4.2.1：决策树   4.2.2：朴素贝叶斯分类器   4.2.3：集体学习   4.2.4：支持向量机（SVM）  4.3 回归算法  4.4 聚类算法  </vt:lpstr>
      <vt:lpstr>PowerPoint 演示文稿</vt:lpstr>
      <vt:lpstr>PowerPoint 演示文稿</vt:lpstr>
      <vt:lpstr>朴素贝叶斯分类器假设</vt:lpstr>
      <vt:lpstr>最大似然估计MLE</vt:lpstr>
      <vt:lpstr>最大似然估计MLE</vt:lpstr>
      <vt:lpstr>例子—预测糖果口味比例</vt:lpstr>
      <vt:lpstr>极大似然估计例子—预测糖果口味比例（续）</vt:lpstr>
      <vt:lpstr>PowerPoint 演示文稿</vt:lpstr>
      <vt:lpstr>纠正过低估计—数据平滑技术：m估计</vt:lpstr>
      <vt:lpstr>   本章内容   4.1 机器学习概论  4.2 分类算法   4.2.1：决策树   4.2.2：朴素贝叶斯分类器   4.2.3：集体学习   4.2.4：支持向量机（SVM）  4.3 回归算法  4.4 聚类算法  </vt:lpstr>
      <vt:lpstr>集体学习</vt:lpstr>
      <vt:lpstr>PowerPoint 演示文稿</vt:lpstr>
      <vt:lpstr>集体学习获得更强表示能力</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集体学习方法—AdaBoost</vt:lpstr>
      <vt:lpstr>AdaBoost算法工作过程示意</vt:lpstr>
      <vt:lpstr>AdaBoost算法的输出</vt:lpstr>
      <vt:lpstr>   本章内容   4.1 机器学习概论  4.2 分类算法   4.2.1：决策树   4.2.2：朴素贝叶斯分类器   4.2.3：集体学习   4.2.4：支持向量机（SVM）  4.3 回归算法  4.4 聚类算法  </vt:lpstr>
      <vt:lpstr>SVM ---结构风险最小化</vt:lpstr>
      <vt:lpstr>PowerPoint 演示文稿</vt:lpstr>
      <vt:lpstr>PowerPoint 演示文稿</vt:lpstr>
      <vt:lpstr>PowerPoint 演示文稿</vt:lpstr>
      <vt:lpstr>PowerPoint 演示文稿</vt:lpstr>
      <vt:lpstr>PowerPoint 演示文稿</vt:lpstr>
      <vt:lpstr>SVM ---支持向量机理论</vt:lpstr>
      <vt:lpstr>PowerPoint 演示文稿</vt:lpstr>
      <vt:lpstr>PowerPoint 演示文稿</vt:lpstr>
      <vt:lpstr>PowerPoint 演示文稿</vt:lpstr>
      <vt:lpstr>广义最优分类面</vt:lpstr>
      <vt:lpstr>PowerPoint 演示文稿</vt:lpstr>
      <vt:lpstr>PowerPoint 演示文稿</vt:lpstr>
      <vt:lpstr>SVM ---支持向量机理论</vt:lpstr>
      <vt:lpstr>SVM ---非线性问题</vt:lpstr>
      <vt:lpstr>SVM ---非线性问题</vt:lpstr>
      <vt:lpstr>高维空间中的最优分类面</vt:lpstr>
      <vt:lpstr>支持向量机</vt:lpstr>
      <vt:lpstr>解决离群点问题——松弛因子</vt:lpstr>
      <vt:lpstr>松弛因子（续）</vt:lpstr>
      <vt:lpstr>注意事项：</vt:lpstr>
      <vt:lpstr>PowerPoint 演示文稿</vt:lpstr>
      <vt:lpstr>   本章内容   4.1 机器学习概论  4.2 分类算法   4.2.1：决策树   4.2.2：朴素贝叶斯分类器   4.2.3：集体学习   4.2.4：支持向量机（SVM）  4.3 回归算法  4.4 聚类算法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本章内容   4.1 机器学习概论  4.2 分类算法   4.2.1：决策树   4.2.2：朴素贝叶斯分类器   4.2.3：集体学习   4.2.4：支持向量机（SVM）  4.3 回归算法  4.4 聚类算法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人工智能原理  第4章 知识表示 </dc:title>
  <dc:creator/>
  <cp:lastModifiedBy>宗霖 李</cp:lastModifiedBy>
  <cp:revision>431</cp:revision>
  <dcterms:created xsi:type="dcterms:W3CDTF">2001-07-18T23:57:34Z</dcterms:created>
  <dcterms:modified xsi:type="dcterms:W3CDTF">2026-03-24T14:48:53Z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3DBB7D4F49F7454D990E4472DE031E68</vt:lpwstr>
  </property>
  <property fmtid="{D5CDD505-2E9C-101B-9397-08002B2CF9AE}" pid="3" name="KSOProductBuildVer">
    <vt:lpwstr>2052-11.1.0.10938</vt:lpwstr>
  </property>
</Properties>
</file>