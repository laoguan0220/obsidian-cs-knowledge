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9"/>
  </p:notesMasterIdLst>
  <p:sldIdLst>
    <p:sldId id="714" r:id="rId2"/>
    <p:sldId id="706" r:id="rId3"/>
    <p:sldId id="707" r:id="rId4"/>
    <p:sldId id="427" r:id="rId5"/>
    <p:sldId id="430" r:id="rId6"/>
    <p:sldId id="433" r:id="rId7"/>
    <p:sldId id="712" r:id="rId8"/>
    <p:sldId id="713" r:id="rId9"/>
    <p:sldId id="708" r:id="rId10"/>
    <p:sldId id="432" r:id="rId11"/>
    <p:sldId id="415" r:id="rId12"/>
    <p:sldId id="531" r:id="rId13"/>
    <p:sldId id="437" r:id="rId14"/>
    <p:sldId id="439" r:id="rId15"/>
    <p:sldId id="709" r:id="rId16"/>
    <p:sldId id="553" r:id="rId17"/>
    <p:sldId id="407" r:id="rId18"/>
    <p:sldId id="440" r:id="rId19"/>
    <p:sldId id="554" r:id="rId20"/>
    <p:sldId id="443" r:id="rId21"/>
    <p:sldId id="538" r:id="rId22"/>
    <p:sldId id="448" r:id="rId23"/>
    <p:sldId id="558" r:id="rId24"/>
    <p:sldId id="745" r:id="rId25"/>
    <p:sldId id="746" r:id="rId26"/>
    <p:sldId id="747" r:id="rId27"/>
    <p:sldId id="743" r:id="rId28"/>
    <p:sldId id="744" r:id="rId29"/>
    <p:sldId id="560" r:id="rId30"/>
    <p:sldId id="559" r:id="rId31"/>
    <p:sldId id="539" r:id="rId32"/>
    <p:sldId id="457" r:id="rId33"/>
    <p:sldId id="748" r:id="rId34"/>
    <p:sldId id="753" r:id="rId35"/>
    <p:sldId id="752" r:id="rId36"/>
    <p:sldId id="754" r:id="rId37"/>
    <p:sldId id="540" r:id="rId38"/>
    <p:sldId id="561" r:id="rId39"/>
    <p:sldId id="461" r:id="rId40"/>
    <p:sldId id="463" r:id="rId41"/>
    <p:sldId id="465" r:id="rId42"/>
    <p:sldId id="467" r:id="rId43"/>
    <p:sldId id="468" r:id="rId44"/>
    <p:sldId id="542" r:id="rId45"/>
    <p:sldId id="469" r:id="rId46"/>
    <p:sldId id="477" r:id="rId47"/>
    <p:sldId id="473" r:id="rId48"/>
    <p:sldId id="478" r:id="rId49"/>
    <p:sldId id="479" r:id="rId50"/>
    <p:sldId id="480" r:id="rId51"/>
    <p:sldId id="481" r:id="rId52"/>
    <p:sldId id="482" r:id="rId53"/>
    <p:sldId id="483" r:id="rId54"/>
    <p:sldId id="749" r:id="rId55"/>
    <p:sldId id="750" r:id="rId56"/>
    <p:sldId id="751" r:id="rId57"/>
    <p:sldId id="756" r:id="rId58"/>
    <p:sldId id="757" r:id="rId59"/>
    <p:sldId id="710" r:id="rId60"/>
    <p:sldId id="564" r:id="rId61"/>
    <p:sldId id="565" r:id="rId62"/>
    <p:sldId id="637" r:id="rId63"/>
    <p:sldId id="575" r:id="rId64"/>
    <p:sldId id="572" r:id="rId65"/>
    <p:sldId id="569" r:id="rId66"/>
    <p:sldId id="677" r:id="rId67"/>
    <p:sldId id="663" r:id="rId68"/>
    <p:sldId id="662" r:id="rId69"/>
    <p:sldId id="589" r:id="rId70"/>
    <p:sldId id="645" r:id="rId71"/>
    <p:sldId id="585" r:id="rId72"/>
    <p:sldId id="644" r:id="rId73"/>
    <p:sldId id="689" r:id="rId74"/>
    <p:sldId id="671" r:id="rId75"/>
    <p:sldId id="661" r:id="rId76"/>
    <p:sldId id="592" r:id="rId77"/>
    <p:sldId id="594" r:id="rId78"/>
    <p:sldId id="595" r:id="rId79"/>
    <p:sldId id="596" r:id="rId80"/>
    <p:sldId id="600" r:id="rId81"/>
    <p:sldId id="602" r:id="rId82"/>
    <p:sldId id="601" r:id="rId83"/>
    <p:sldId id="704" r:id="rId84"/>
    <p:sldId id="603" r:id="rId85"/>
    <p:sldId id="606" r:id="rId86"/>
    <p:sldId id="607" r:id="rId87"/>
    <p:sldId id="605" r:id="rId88"/>
    <p:sldId id="609" r:id="rId89"/>
    <p:sldId id="611" r:id="rId90"/>
    <p:sldId id="758" r:id="rId91"/>
    <p:sldId id="613" r:id="rId92"/>
    <p:sldId id="614" r:id="rId93"/>
    <p:sldId id="646" r:id="rId94"/>
    <p:sldId id="652" r:id="rId95"/>
    <p:sldId id="651" r:id="rId96"/>
    <p:sldId id="654" r:id="rId97"/>
    <p:sldId id="655" r:id="rId98"/>
    <p:sldId id="656" r:id="rId99"/>
    <p:sldId id="657" r:id="rId100"/>
    <p:sldId id="658" r:id="rId101"/>
    <p:sldId id="705" r:id="rId102"/>
    <p:sldId id="659" r:id="rId103"/>
    <p:sldId id="619" r:id="rId104"/>
    <p:sldId id="703" r:id="rId105"/>
    <p:sldId id="622" r:id="rId106"/>
    <p:sldId id="620" r:id="rId107"/>
    <p:sldId id="621" r:id="rId108"/>
    <p:sldId id="641" r:id="rId109"/>
    <p:sldId id="624" r:id="rId110"/>
    <p:sldId id="690" r:id="rId111"/>
    <p:sldId id="649" r:id="rId112"/>
    <p:sldId id="691" r:id="rId113"/>
    <p:sldId id="692" r:id="rId114"/>
    <p:sldId id="693" r:id="rId115"/>
    <p:sldId id="715" r:id="rId116"/>
    <p:sldId id="741" r:id="rId117"/>
    <p:sldId id="717" r:id="rId118"/>
    <p:sldId id="722" r:id="rId119"/>
    <p:sldId id="723" r:id="rId120"/>
    <p:sldId id="724" r:id="rId121"/>
    <p:sldId id="725" r:id="rId122"/>
    <p:sldId id="726" r:id="rId123"/>
    <p:sldId id="727" r:id="rId124"/>
    <p:sldId id="728" r:id="rId125"/>
    <p:sldId id="729" r:id="rId126"/>
    <p:sldId id="730" r:id="rId127"/>
    <p:sldId id="731" r:id="rId128"/>
    <p:sldId id="732" r:id="rId129"/>
    <p:sldId id="733" r:id="rId130"/>
    <p:sldId id="734" r:id="rId131"/>
    <p:sldId id="735" r:id="rId132"/>
    <p:sldId id="736" r:id="rId133"/>
    <p:sldId id="737" r:id="rId134"/>
    <p:sldId id="738" r:id="rId135"/>
    <p:sldId id="739" r:id="rId136"/>
    <p:sldId id="740" r:id="rId137"/>
    <p:sldId id="496" r:id="rId1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27">
          <p15:clr>
            <a:srgbClr val="A4A3A4"/>
          </p15:clr>
        </p15:guide>
        <p15:guide id="2" orient="horz" pos="40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B8E98"/>
    <a:srgbClr val="FF40FF"/>
    <a:srgbClr val="6EBF96"/>
    <a:srgbClr val="FFCCFF"/>
    <a:srgbClr val="D883FF"/>
    <a:srgbClr val="F6B89D"/>
    <a:srgbClr val="9437FF"/>
    <a:srgbClr val="B0E8B9"/>
    <a:srgbClr val="517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8858" autoAdjust="0"/>
  </p:normalViewPr>
  <p:slideViewPr>
    <p:cSldViewPr snapToGrid="0">
      <p:cViewPr varScale="1">
        <p:scale>
          <a:sx n="112" d="100"/>
          <a:sy n="112" d="100"/>
        </p:scale>
        <p:origin x="1160" y="184"/>
      </p:cViewPr>
      <p:guideLst>
        <p:guide pos="1527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6C451-E700-5D48-8882-DCC6276494CF}" type="datetimeFigureOut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05039-6962-D646-9A2B-17047581DB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267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639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0155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615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989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4140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968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81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6505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69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546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676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065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6542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3385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806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2274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546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79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1050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7914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3225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7709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6091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594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9073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89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0447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0049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输出太简单，函数空间过小，传统全连接增加神经元个数也没有用，因为权值共享，这里的方法是增加卷积核个数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91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920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96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5521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99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663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3256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4752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6460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4377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5411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109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42951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2840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3661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22569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5110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05554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 </a:t>
            </a:r>
            <a:r>
              <a:rPr lang="en-US" altLang="zh-CN" dirty="0" err="1"/>
              <a:t>AlexNet</a:t>
            </a:r>
            <a:r>
              <a:rPr lang="en-US" altLang="zh-CN" dirty="0"/>
              <a:t> CNN </a:t>
            </a:r>
            <a:r>
              <a:rPr lang="zh-CN" altLang="en-US" dirty="0"/>
              <a:t>图像处理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821B8-7B93-46C7-9E71-811D3A3B94CC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2850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 </a:t>
            </a:r>
            <a:r>
              <a:rPr lang="en-US" altLang="zh-CN" dirty="0" err="1"/>
              <a:t>AlexNet</a:t>
            </a:r>
            <a:r>
              <a:rPr lang="en-US" altLang="zh-CN" dirty="0"/>
              <a:t> CNN </a:t>
            </a:r>
            <a:r>
              <a:rPr lang="zh-CN" altLang="en-US" dirty="0"/>
              <a:t>图像处理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821B8-7B93-46C7-9E71-811D3A3B94CC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5304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Googlenet</a:t>
            </a:r>
            <a:r>
              <a:rPr lang="zh-CN" altLang="en-US" dirty="0"/>
              <a:t>就是在全连接层做了改进，大大降低了参数量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94955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69697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80320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31987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32875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79663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5442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7085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40822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13255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2843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处理后的任意一个特征在数据集中所有样本上的均值为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、标准差为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61351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12610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57852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65459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70963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05039-6962-D646-9A2B-17047581DB25}" type="slidenum">
              <a:rPr kumimoji="1" lang="zh-CN" altLang="en-US" smtClean="0"/>
              <a:t>137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540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0171" y="376027"/>
            <a:ext cx="938202" cy="4829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7FAA2-0FD1-4CA9-9E3C-4FCDD169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5.wmf"/><Relationship Id="rId7" Type="http://schemas.openxmlformats.org/officeDocument/2006/relationships/oleObject" Target="../embeddings/oleObject5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wmf"/><Relationship Id="rId10" Type="http://schemas.openxmlformats.org/officeDocument/2006/relationships/image" Target="../media/image29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30.wmf"/><Relationship Id="rId7" Type="http://schemas.openxmlformats.org/officeDocument/2006/relationships/oleObject" Target="../embeddings/oleObject8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5.wmf"/><Relationship Id="rId4" Type="http://schemas.openxmlformats.org/officeDocument/2006/relationships/image" Target="../media/image31.png"/><Relationship Id="rId9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49.wmf"/><Relationship Id="rId26" Type="http://schemas.openxmlformats.org/officeDocument/2006/relationships/image" Target="../media/image54.png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17.bin"/><Relationship Id="rId2" Type="http://schemas.openxmlformats.org/officeDocument/2006/relationships/image" Target="../media/image37.png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61.wmf"/><Relationship Id="rId26" Type="http://schemas.openxmlformats.org/officeDocument/2006/relationships/image" Target="../media/image65.wmf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image" Target="../media/image37.png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3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64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66.w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66.png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59.wmf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67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5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3.jpeg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5.png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81.wmf"/><Relationship Id="rId7" Type="http://schemas.openxmlformats.org/officeDocument/2006/relationships/image" Target="../media/image86.png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37.png"/><Relationship Id="rId9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88.png"/><Relationship Id="rId7" Type="http://schemas.openxmlformats.org/officeDocument/2006/relationships/image" Target="../media/image11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89.png"/><Relationship Id="rId9" Type="http://schemas.openxmlformats.org/officeDocument/2006/relationships/image" Target="../media/image83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2.png"/><Relationship Id="rId11" Type="http://schemas.openxmlformats.org/officeDocument/2006/relationships/image" Target="../media/image37.png"/><Relationship Id="rId5" Type="http://schemas.openxmlformats.org/officeDocument/2006/relationships/image" Target="../media/image131.png"/><Relationship Id="rId10" Type="http://schemas.openxmlformats.org/officeDocument/2006/relationships/image" Target="../media/image127.png"/><Relationship Id="rId4" Type="http://schemas.openxmlformats.org/officeDocument/2006/relationships/image" Target="../media/image130.png"/><Relationship Id="rId9" Type="http://schemas.openxmlformats.org/officeDocument/2006/relationships/image" Target="../media/image13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12" Type="http://schemas.openxmlformats.org/officeDocument/2006/relationships/image" Target="../media/image3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27.png"/><Relationship Id="rId5" Type="http://schemas.openxmlformats.org/officeDocument/2006/relationships/image" Target="../media/image137.png"/><Relationship Id="rId10" Type="http://schemas.openxmlformats.org/officeDocument/2006/relationships/image" Target="../media/image140.png"/><Relationship Id="rId4" Type="http://schemas.openxmlformats.org/officeDocument/2006/relationships/image" Target="../media/image136.png"/><Relationship Id="rId9" Type="http://schemas.openxmlformats.org/officeDocument/2006/relationships/image" Target="../media/image13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35.png"/><Relationship Id="rId7" Type="http://schemas.openxmlformats.org/officeDocument/2006/relationships/image" Target="../media/image143.png"/><Relationship Id="rId12" Type="http://schemas.openxmlformats.org/officeDocument/2006/relationships/image" Target="../media/image37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2.png"/><Relationship Id="rId11" Type="http://schemas.openxmlformats.org/officeDocument/2006/relationships/image" Target="../media/image127.png"/><Relationship Id="rId5" Type="http://schemas.openxmlformats.org/officeDocument/2006/relationships/image" Target="../media/image137.png"/><Relationship Id="rId10" Type="http://schemas.openxmlformats.org/officeDocument/2006/relationships/image" Target="../media/image140.png"/><Relationship Id="rId4" Type="http://schemas.openxmlformats.org/officeDocument/2006/relationships/image" Target="../media/image136.png"/><Relationship Id="rId9" Type="http://schemas.openxmlformats.org/officeDocument/2006/relationships/image" Target="../media/image14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22.png"/><Relationship Id="rId7" Type="http://schemas.openxmlformats.org/officeDocument/2006/relationships/image" Target="../media/image138.png"/><Relationship Id="rId12" Type="http://schemas.openxmlformats.org/officeDocument/2006/relationships/image" Target="../media/image3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27.png"/><Relationship Id="rId5" Type="http://schemas.openxmlformats.org/officeDocument/2006/relationships/image" Target="../media/image124.png"/><Relationship Id="rId10" Type="http://schemas.openxmlformats.org/officeDocument/2006/relationships/image" Target="../media/image140.png"/><Relationship Id="rId4" Type="http://schemas.openxmlformats.org/officeDocument/2006/relationships/image" Target="../media/image123.png"/><Relationship Id="rId9" Type="http://schemas.openxmlformats.org/officeDocument/2006/relationships/image" Target="../media/image14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22.png"/><Relationship Id="rId7" Type="http://schemas.openxmlformats.org/officeDocument/2006/relationships/image" Target="../media/image138.png"/><Relationship Id="rId12" Type="http://schemas.openxmlformats.org/officeDocument/2006/relationships/image" Target="../media/image3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27.png"/><Relationship Id="rId5" Type="http://schemas.openxmlformats.org/officeDocument/2006/relationships/image" Target="../media/image124.png"/><Relationship Id="rId10" Type="http://schemas.openxmlformats.org/officeDocument/2006/relationships/image" Target="../media/image140.png"/><Relationship Id="rId4" Type="http://schemas.openxmlformats.org/officeDocument/2006/relationships/image" Target="../media/image123.png"/><Relationship Id="rId9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9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12" Type="http://schemas.openxmlformats.org/officeDocument/2006/relationships/image" Target="../media/image148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7.png"/><Relationship Id="rId11" Type="http://schemas.openxmlformats.org/officeDocument/2006/relationships/image" Target="../media/image140.png"/><Relationship Id="rId5" Type="http://schemas.openxmlformats.org/officeDocument/2006/relationships/image" Target="../media/image124.png"/><Relationship Id="rId15" Type="http://schemas.openxmlformats.org/officeDocument/2006/relationships/image" Target="../media/image37.png"/><Relationship Id="rId10" Type="http://schemas.openxmlformats.org/officeDocument/2006/relationships/image" Target="../media/image147.png"/><Relationship Id="rId4" Type="http://schemas.openxmlformats.org/officeDocument/2006/relationships/image" Target="../media/image123.png"/><Relationship Id="rId9" Type="http://schemas.openxmlformats.org/officeDocument/2006/relationships/image" Target="../media/image91.png"/><Relationship Id="rId14" Type="http://schemas.openxmlformats.org/officeDocument/2006/relationships/image" Target="../media/image15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52.png"/><Relationship Id="rId18" Type="http://schemas.openxmlformats.org/officeDocument/2006/relationships/image" Target="../media/image155.png"/><Relationship Id="rId3" Type="http://schemas.openxmlformats.org/officeDocument/2006/relationships/image" Target="../media/image122.png"/><Relationship Id="rId7" Type="http://schemas.openxmlformats.org/officeDocument/2006/relationships/image" Target="../media/image138.png"/><Relationship Id="rId12" Type="http://schemas.openxmlformats.org/officeDocument/2006/relationships/image" Target="../media/image149.png"/><Relationship Id="rId17" Type="http://schemas.openxmlformats.org/officeDocument/2006/relationships/image" Target="../media/image127.png"/><Relationship Id="rId2" Type="http://schemas.openxmlformats.org/officeDocument/2006/relationships/image" Target="../media/image121.png"/><Relationship Id="rId16" Type="http://schemas.openxmlformats.org/officeDocument/2006/relationships/image" Target="../media/image150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48.png"/><Relationship Id="rId5" Type="http://schemas.openxmlformats.org/officeDocument/2006/relationships/image" Target="../media/image124.png"/><Relationship Id="rId15" Type="http://schemas.openxmlformats.org/officeDocument/2006/relationships/image" Target="../media/image154.png"/><Relationship Id="rId10" Type="http://schemas.openxmlformats.org/officeDocument/2006/relationships/image" Target="../media/image140.png"/><Relationship Id="rId19" Type="http://schemas.openxmlformats.org/officeDocument/2006/relationships/image" Target="../media/image156.png"/><Relationship Id="rId4" Type="http://schemas.openxmlformats.org/officeDocument/2006/relationships/image" Target="../media/image123.png"/><Relationship Id="rId9" Type="http://schemas.openxmlformats.org/officeDocument/2006/relationships/image" Target="../media/image151.png"/><Relationship Id="rId14" Type="http://schemas.openxmlformats.org/officeDocument/2006/relationships/image" Target="../media/image1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5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9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8.tiff"/><Relationship Id="rId4" Type="http://schemas.openxmlformats.org/officeDocument/2006/relationships/image" Target="../media/image97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0.emf"/><Relationship Id="rId4" Type="http://schemas.openxmlformats.org/officeDocument/2006/relationships/image" Target="../media/image99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oleObject" Target="../embeddings/oleObject500.bin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11" Type="http://schemas.openxmlformats.org/officeDocument/2006/relationships/oleObject" Target="../embeddings/oleObject510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13" Type="http://schemas.openxmlformats.org/officeDocument/2006/relationships/image" Target="../media/image173.png"/><Relationship Id="rId3" Type="http://schemas.openxmlformats.org/officeDocument/2006/relationships/image" Target="../media/image101.png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3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11" Type="http://schemas.openxmlformats.org/officeDocument/2006/relationships/oleObject" Target="../embeddings/oleObject520.bin"/><Relationship Id="rId5" Type="http://schemas.openxmlformats.org/officeDocument/2006/relationships/image" Target="../media/image112.png"/><Relationship Id="rId15" Type="http://schemas.openxmlformats.org/officeDocument/2006/relationships/image" Target="../media/image175.png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40.bin"/><Relationship Id="rId4" Type="http://schemas.openxmlformats.org/officeDocument/2006/relationships/image" Target="../media/image111.png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7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5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5" Type="http://schemas.openxmlformats.org/officeDocument/2006/relationships/image" Target="../media/image188.png"/><Relationship Id="rId10" Type="http://schemas.openxmlformats.org/officeDocument/2006/relationships/image" Target="../media/image193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1.png"/><Relationship Id="rId3" Type="http://schemas.openxmlformats.org/officeDocument/2006/relationships/image" Target="../media/image193.png"/><Relationship Id="rId7" Type="http://schemas.openxmlformats.org/officeDocument/2006/relationships/image" Target="../media/image187.png"/><Relationship Id="rId12" Type="http://schemas.openxmlformats.org/officeDocument/2006/relationships/image" Target="../media/image198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6.png"/><Relationship Id="rId11" Type="http://schemas.openxmlformats.org/officeDocument/2006/relationships/image" Target="../media/image197.png"/><Relationship Id="rId5" Type="http://schemas.openxmlformats.org/officeDocument/2006/relationships/image" Target="../media/image195.png"/><Relationship Id="rId10" Type="http://schemas.openxmlformats.org/officeDocument/2006/relationships/image" Target="../media/image190.png"/><Relationship Id="rId4" Type="http://schemas.openxmlformats.org/officeDocument/2006/relationships/image" Target="../media/image194.png"/><Relationship Id="rId9" Type="http://schemas.openxmlformats.org/officeDocument/2006/relationships/image" Target="../media/image189.png"/><Relationship Id="rId14" Type="http://schemas.openxmlformats.org/officeDocument/2006/relationships/image" Target="../media/image19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01.png"/><Relationship Id="rId3" Type="http://schemas.openxmlformats.org/officeDocument/2006/relationships/image" Target="../media/image186.png"/><Relationship Id="rId7" Type="http://schemas.openxmlformats.org/officeDocument/2006/relationships/image" Target="../media/image189.png"/><Relationship Id="rId12" Type="http://schemas.openxmlformats.org/officeDocument/2006/relationships/image" Target="../media/image2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199.png"/><Relationship Id="rId9" Type="http://schemas.openxmlformats.org/officeDocument/2006/relationships/image" Target="../media/image191.png"/><Relationship Id="rId14" Type="http://schemas.openxmlformats.org/officeDocument/2006/relationships/image" Target="../media/image20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205.png"/><Relationship Id="rId3" Type="http://schemas.openxmlformats.org/officeDocument/2006/relationships/image" Target="../media/image203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9.png"/><Relationship Id="rId11" Type="http://schemas.openxmlformats.org/officeDocument/2006/relationships/image" Target="../media/image204.png"/><Relationship Id="rId5" Type="http://schemas.openxmlformats.org/officeDocument/2006/relationships/image" Target="../media/image188.png"/><Relationship Id="rId10" Type="http://schemas.openxmlformats.org/officeDocument/2006/relationships/image" Target="../media/image193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203.png"/><Relationship Id="rId7" Type="http://schemas.openxmlformats.org/officeDocument/2006/relationships/image" Target="../media/image190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6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203.png"/><Relationship Id="rId9" Type="http://schemas.openxmlformats.org/officeDocument/2006/relationships/image" Target="../media/image19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6.png"/><Relationship Id="rId5" Type="http://schemas.openxmlformats.org/officeDocument/2006/relationships/image" Target="../media/image127.jpeg"/><Relationship Id="rId4" Type="http://schemas.openxmlformats.org/officeDocument/2006/relationships/image" Target="../media/image12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6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83.jpeg"/><Relationship Id="rId10" Type="http://schemas.openxmlformats.org/officeDocument/2006/relationships/image" Target="../media/image191.png"/><Relationship Id="rId4" Type="http://schemas.openxmlformats.org/officeDocument/2006/relationships/image" Target="../media/image203.png"/><Relationship Id="rId9" Type="http://schemas.openxmlformats.org/officeDocument/2006/relationships/image" Target="../media/image190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3" Type="http://schemas.openxmlformats.org/officeDocument/2006/relationships/image" Target="../media/image207.png"/><Relationship Id="rId21" Type="http://schemas.openxmlformats.org/officeDocument/2006/relationships/image" Target="../media/image192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" Type="http://schemas.openxmlformats.org/officeDocument/2006/relationships/image" Target="../media/image206.png"/><Relationship Id="rId16" Type="http://schemas.openxmlformats.org/officeDocument/2006/relationships/image" Target="../media/image220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9.png"/><Relationship Id="rId15" Type="http://schemas.openxmlformats.org/officeDocument/2006/relationships/image" Target="../media/image219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192.png"/><Relationship Id="rId18" Type="http://schemas.openxmlformats.org/officeDocument/2006/relationships/image" Target="../media/image220.png"/><Relationship Id="rId3" Type="http://schemas.openxmlformats.org/officeDocument/2006/relationships/image" Target="../media/image207.png"/><Relationship Id="rId21" Type="http://schemas.openxmlformats.org/officeDocument/2006/relationships/image" Target="../media/image223.png"/><Relationship Id="rId7" Type="http://schemas.openxmlformats.org/officeDocument/2006/relationships/image" Target="../media/image211.png"/><Relationship Id="rId12" Type="http://schemas.openxmlformats.org/officeDocument/2006/relationships/image" Target="../media/image191.png"/><Relationship Id="rId17" Type="http://schemas.openxmlformats.org/officeDocument/2006/relationships/image" Target="../media/image219.png"/><Relationship Id="rId2" Type="http://schemas.openxmlformats.org/officeDocument/2006/relationships/image" Target="../media/image206.png"/><Relationship Id="rId16" Type="http://schemas.openxmlformats.org/officeDocument/2006/relationships/image" Target="../media/image218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9.png"/><Relationship Id="rId15" Type="http://schemas.openxmlformats.org/officeDocument/2006/relationships/image" Target="../media/image217.png"/><Relationship Id="rId10" Type="http://schemas.openxmlformats.org/officeDocument/2006/relationships/image" Target="../media/image214.png"/><Relationship Id="rId19" Type="http://schemas.openxmlformats.org/officeDocument/2006/relationships/image" Target="../media/image221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6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3" Type="http://schemas.openxmlformats.org/officeDocument/2006/relationships/image" Target="../media/image234.png"/><Relationship Id="rId7" Type="http://schemas.openxmlformats.org/officeDocument/2006/relationships/image" Target="../media/image224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7.png"/><Relationship Id="rId11" Type="http://schemas.openxmlformats.org/officeDocument/2006/relationships/image" Target="../media/image230.png"/><Relationship Id="rId5" Type="http://schemas.openxmlformats.org/officeDocument/2006/relationships/image" Target="../media/image236.png"/><Relationship Id="rId10" Type="http://schemas.openxmlformats.org/officeDocument/2006/relationships/image" Target="../media/image238.png"/><Relationship Id="rId4" Type="http://schemas.openxmlformats.org/officeDocument/2006/relationships/image" Target="../media/image235.png"/><Relationship Id="rId9" Type="http://schemas.openxmlformats.org/officeDocument/2006/relationships/image" Target="../media/image233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240.png"/><Relationship Id="rId7" Type="http://schemas.openxmlformats.org/officeDocument/2006/relationships/image" Target="../media/image227.png"/><Relationship Id="rId12" Type="http://schemas.openxmlformats.org/officeDocument/2006/relationships/image" Target="../media/image243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4.png"/><Relationship Id="rId11" Type="http://schemas.openxmlformats.org/officeDocument/2006/relationships/image" Target="../media/image232.png"/><Relationship Id="rId5" Type="http://schemas.openxmlformats.org/officeDocument/2006/relationships/image" Target="../media/image242.png"/><Relationship Id="rId10" Type="http://schemas.openxmlformats.org/officeDocument/2006/relationships/image" Target="../media/image231.png"/><Relationship Id="rId4" Type="http://schemas.openxmlformats.org/officeDocument/2006/relationships/image" Target="../media/image241.png"/><Relationship Id="rId9" Type="http://schemas.openxmlformats.org/officeDocument/2006/relationships/image" Target="../media/image230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245.png"/><Relationship Id="rId7" Type="http://schemas.openxmlformats.org/officeDocument/2006/relationships/image" Target="../media/image227.png"/><Relationship Id="rId12" Type="http://schemas.openxmlformats.org/officeDocument/2006/relationships/image" Target="../media/image248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4.png"/><Relationship Id="rId11" Type="http://schemas.openxmlformats.org/officeDocument/2006/relationships/image" Target="../media/image232.png"/><Relationship Id="rId5" Type="http://schemas.openxmlformats.org/officeDocument/2006/relationships/image" Target="../media/image247.png"/><Relationship Id="rId10" Type="http://schemas.openxmlformats.org/officeDocument/2006/relationships/image" Target="../media/image231.png"/><Relationship Id="rId4" Type="http://schemas.openxmlformats.org/officeDocument/2006/relationships/image" Target="../media/image246.png"/><Relationship Id="rId9" Type="http://schemas.openxmlformats.org/officeDocument/2006/relationships/image" Target="../media/image23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53.png"/><Relationship Id="rId3" Type="http://schemas.openxmlformats.org/officeDocument/2006/relationships/image" Target="../media/image249.png"/><Relationship Id="rId7" Type="http://schemas.openxmlformats.org/officeDocument/2006/relationships/image" Target="../media/image224.png"/><Relationship Id="rId12" Type="http://schemas.openxmlformats.org/officeDocument/2006/relationships/image" Target="../media/image2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2.png"/><Relationship Id="rId11" Type="http://schemas.openxmlformats.org/officeDocument/2006/relationships/image" Target="../media/image231.png"/><Relationship Id="rId5" Type="http://schemas.openxmlformats.org/officeDocument/2006/relationships/image" Target="../media/image251.png"/><Relationship Id="rId10" Type="http://schemas.openxmlformats.org/officeDocument/2006/relationships/image" Target="../media/image230.png"/><Relationship Id="rId4" Type="http://schemas.openxmlformats.org/officeDocument/2006/relationships/image" Target="../media/image250.png"/><Relationship Id="rId9" Type="http://schemas.openxmlformats.org/officeDocument/2006/relationships/image" Target="../media/image233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3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9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3.png"/><Relationship Id="rId5" Type="http://schemas.openxmlformats.org/officeDocument/2006/relationships/image" Target="../media/image1640.png"/><Relationship Id="rId4" Type="http://schemas.openxmlformats.org/officeDocument/2006/relationships/image" Target="../media/image162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9" Type="http://schemas.openxmlformats.org/officeDocument/2006/relationships/hyperlink" Target="https://github.com/aleju/imgaug" TargetMode="Externa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4.jpeg"/><Relationship Id="rId4" Type="http://schemas.openxmlformats.org/officeDocument/2006/relationships/image" Target="../media/image263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46391"/>
            <a:ext cx="9144000" cy="23876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人工智能导论第五章</a:t>
            </a:r>
            <a:b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深度学习</a:t>
            </a: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  <a:t>-CNN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4" name="Picture 4" descr="index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34" y="198058"/>
            <a:ext cx="223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副标题 3">
            <a:extLst>
              <a:ext uri="{FF2B5EF4-FFF2-40B4-BE49-F238E27FC236}">
                <a16:creationId xmlns:a16="http://schemas.microsoft.com/office/drawing/2014/main" id="{BDB74A3D-E3FD-8285-98C7-87EB26D9C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68428" y="1614715"/>
            <a:ext cx="4732472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2119306" y="1561341"/>
            <a:ext cx="830580" cy="82308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1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468428" y="2703287"/>
            <a:ext cx="4732472" cy="76971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1" name="椭圆 10"/>
          <p:cNvSpPr/>
          <p:nvPr/>
        </p:nvSpPr>
        <p:spPr>
          <a:xfrm>
            <a:off x="2119306" y="2649913"/>
            <a:ext cx="830580" cy="82308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2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468428" y="3845233"/>
            <a:ext cx="4732472" cy="7697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3" name="椭圆 12"/>
          <p:cNvSpPr/>
          <p:nvPr/>
        </p:nvSpPr>
        <p:spPr>
          <a:xfrm>
            <a:off x="2119306" y="3791859"/>
            <a:ext cx="830580" cy="82308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3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39363" y="397213"/>
            <a:ext cx="1159885" cy="652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19855" y="1788217"/>
            <a:ext cx="357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发展历程、领域应用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50022" y="2764976"/>
            <a:ext cx="4091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从图像识别说起：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50022" y="3880235"/>
            <a:ext cx="412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68428" y="1614715"/>
            <a:ext cx="4732472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2119306" y="1561341"/>
            <a:ext cx="830580" cy="82308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1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468428" y="2703287"/>
            <a:ext cx="4732472" cy="76971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1" name="椭圆 10"/>
          <p:cNvSpPr/>
          <p:nvPr/>
        </p:nvSpPr>
        <p:spPr>
          <a:xfrm>
            <a:off x="2119306" y="2649913"/>
            <a:ext cx="830580" cy="82308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2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468428" y="3845233"/>
            <a:ext cx="4732472" cy="7697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3" name="椭圆 12"/>
          <p:cNvSpPr/>
          <p:nvPr/>
        </p:nvSpPr>
        <p:spPr>
          <a:xfrm>
            <a:off x="2119306" y="3791859"/>
            <a:ext cx="830580" cy="82308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3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39363" y="397213"/>
            <a:ext cx="1159885" cy="652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50022" y="1742050"/>
            <a:ext cx="357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发展历程、领域应用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50022" y="2764976"/>
            <a:ext cx="4091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从图像识别说起：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50022" y="3845233"/>
            <a:ext cx="4121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卷积神经网络，循环神经网络，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9" y="419365"/>
            <a:ext cx="4662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深度学习概述</a:t>
            </a:r>
          </a:p>
        </p:txBody>
      </p:sp>
      <p:sp>
        <p:nvSpPr>
          <p:cNvPr id="47" name="矩形 46"/>
          <p:cNvSpPr/>
          <p:nvPr/>
        </p:nvSpPr>
        <p:spPr>
          <a:xfrm>
            <a:off x="6809511" y="5731480"/>
            <a:ext cx="9429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Constantia" panose="02030602050306030303" pitchFamily="18" charset="0"/>
              </a:rPr>
              <a:t>Contextual Visual Word</a:t>
            </a:r>
          </a:p>
        </p:txBody>
      </p:sp>
      <p:sp>
        <p:nvSpPr>
          <p:cNvPr id="7" name="矩形 6"/>
          <p:cNvSpPr/>
          <p:nvPr/>
        </p:nvSpPr>
        <p:spPr>
          <a:xfrm>
            <a:off x="924778" y="1434070"/>
            <a:ext cx="7538913" cy="58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深度学习起源与发展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5705" y="1488177"/>
            <a:ext cx="528435" cy="5284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209" y="2016612"/>
            <a:ext cx="7624483" cy="3938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9" y="419365"/>
            <a:ext cx="4662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深度学习概述</a:t>
            </a:r>
          </a:p>
        </p:txBody>
      </p:sp>
      <p:sp>
        <p:nvSpPr>
          <p:cNvPr id="47" name="矩形 46"/>
          <p:cNvSpPr/>
          <p:nvPr/>
        </p:nvSpPr>
        <p:spPr>
          <a:xfrm>
            <a:off x="6809511" y="5731480"/>
            <a:ext cx="9429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Constantia" panose="02030602050306030303" pitchFamily="18" charset="0"/>
              </a:rPr>
              <a:t>Contextual Visual Word</a:t>
            </a:r>
          </a:p>
        </p:txBody>
      </p:sp>
      <p:sp>
        <p:nvSpPr>
          <p:cNvPr id="7" name="矩形 6"/>
          <p:cNvSpPr/>
          <p:nvPr/>
        </p:nvSpPr>
        <p:spPr>
          <a:xfrm>
            <a:off x="770036" y="1428856"/>
            <a:ext cx="7538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深度学习在图像领域的应用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0963" y="1482963"/>
            <a:ext cx="528435" cy="528435"/>
          </a:xfrm>
          <a:prstGeom prst="rect">
            <a:avLst/>
          </a:prstGeom>
        </p:spPr>
      </p:pic>
      <p:pic>
        <p:nvPicPr>
          <p:cNvPr id="10" name="Picture 4" descr="http://upload-images.jianshu.io/upload_images/1667471-2028e8ac84a2358b.png?imageMogr2/auto-orient/strip%7CimageView2/2/w/12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79" y="1945877"/>
            <a:ext cx="5294213" cy="254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upload-images.jianshu.io/upload_images/1667471-e77dca27635ff2bd.png?imageMogr2/auto-orient/strip%7CimageView2/2/w/12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76" y="2911590"/>
            <a:ext cx="6024303" cy="274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770036" y="4700575"/>
            <a:ext cx="5889991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图片检索</a:t>
            </a:r>
          </a:p>
        </p:txBody>
      </p:sp>
      <p:sp>
        <p:nvSpPr>
          <p:cNvPr id="13" name="矩形 12"/>
          <p:cNvSpPr/>
          <p:nvPr/>
        </p:nvSpPr>
        <p:spPr>
          <a:xfrm>
            <a:off x="7546554" y="4487099"/>
            <a:ext cx="44693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识别异常的肿瘤或者癌细胞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9" y="419365"/>
            <a:ext cx="4662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深度学习概述</a:t>
            </a:r>
          </a:p>
        </p:txBody>
      </p:sp>
      <p:sp>
        <p:nvSpPr>
          <p:cNvPr id="47" name="矩形 46"/>
          <p:cNvSpPr/>
          <p:nvPr/>
        </p:nvSpPr>
        <p:spPr>
          <a:xfrm>
            <a:off x="6809511" y="5731480"/>
            <a:ext cx="9429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Constantia" panose="02030602050306030303" pitchFamily="18" charset="0"/>
              </a:rPr>
              <a:t>Contextual Visual Word</a:t>
            </a:r>
          </a:p>
        </p:txBody>
      </p:sp>
      <p:sp>
        <p:nvSpPr>
          <p:cNvPr id="7" name="矩形 6"/>
          <p:cNvSpPr/>
          <p:nvPr/>
        </p:nvSpPr>
        <p:spPr>
          <a:xfrm>
            <a:off x="846895" y="1462817"/>
            <a:ext cx="7538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深度学习在图像领域的应用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7822" y="1516924"/>
            <a:ext cx="528435" cy="52843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670971" y="4599391"/>
            <a:ext cx="3394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图片着色</a:t>
            </a:r>
          </a:p>
        </p:txBody>
      </p:sp>
      <p:pic>
        <p:nvPicPr>
          <p:cNvPr id="9" name="Picture 2" descr="http://img.mp.itc.cn/upload/20170416/67a4bcbedbee43ba8653e8963b1fabbc_th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727" y="1434070"/>
            <a:ext cx="4722829" cy="305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img.mp.itc.cn/upload/20170416/05e70b8cbb474f8fa62d5f8651456b92_th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37722"/>
          <a:stretch>
            <a:fillRect/>
          </a:stretch>
        </p:blipFill>
        <p:spPr bwMode="auto">
          <a:xfrm>
            <a:off x="377822" y="2291576"/>
            <a:ext cx="6628905" cy="36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>
          <a:xfrm>
            <a:off x="1775111" y="5952005"/>
            <a:ext cx="3394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图片描述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9" y="419365"/>
            <a:ext cx="4662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深度学习概述</a:t>
            </a:r>
          </a:p>
        </p:txBody>
      </p:sp>
      <p:sp>
        <p:nvSpPr>
          <p:cNvPr id="7" name="矩形 6"/>
          <p:cNvSpPr/>
          <p:nvPr/>
        </p:nvSpPr>
        <p:spPr>
          <a:xfrm>
            <a:off x="859465" y="1415668"/>
            <a:ext cx="7538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深度学习在自然语言处理领域的应用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392" y="1469775"/>
            <a:ext cx="528435" cy="52843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752461" y="5385231"/>
            <a:ext cx="3394340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手写数字识别</a:t>
            </a:r>
          </a:p>
        </p:txBody>
      </p:sp>
      <p:sp>
        <p:nvSpPr>
          <p:cNvPr id="15" name="矩形 14"/>
          <p:cNvSpPr/>
          <p:nvPr/>
        </p:nvSpPr>
        <p:spPr>
          <a:xfrm>
            <a:off x="2516412" y="5731480"/>
            <a:ext cx="3394340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自动文摘</a:t>
            </a:r>
          </a:p>
        </p:txBody>
      </p:sp>
      <p:pic>
        <p:nvPicPr>
          <p:cNvPr id="13" name="Picture 4" descr="http://thumbs.dreamstime.com/z/%E6%9F%A5-%E6%A6%82%E5%BF%B5%E7%9A%84%E5%95%86%E4%BA%BA%E5%A4%A7%E6%95%B0%E6%8D%AE%E7%AE%A1%E7%90%86-50764844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86"/>
          <a:stretch>
            <a:fillRect/>
          </a:stretch>
        </p:blipFill>
        <p:spPr bwMode="auto">
          <a:xfrm>
            <a:off x="8225447" y="1313905"/>
            <a:ext cx="2572167" cy="190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s://timgsa.baidu.com/timg?image&amp;quality=80&amp;size=b9999_10000&amp;sec=1537352447398&amp;di=c8cc376ec5d9d8b9057d07e51ed5dc00&amp;imgtype=0&amp;src=http%3A%2F%2Fs1.sinaimg.cn%2Fmw690%2F003wp1j3gy6RuvlU8aA60%2669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4" t="7963" r="5626" b="6077"/>
          <a:stretch>
            <a:fillRect/>
          </a:stretch>
        </p:blipFill>
        <p:spPr bwMode="auto">
          <a:xfrm>
            <a:off x="8225448" y="3194136"/>
            <a:ext cx="2518993" cy="198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1351843" y="2264779"/>
            <a:ext cx="4994986" cy="3289861"/>
            <a:chOff x="5255471" y="3923048"/>
            <a:chExt cx="3070667" cy="2102018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5471" y="3923048"/>
              <a:ext cx="3024438" cy="1903250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6215739" y="5754223"/>
              <a:ext cx="2110399" cy="2708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基于图模型的方法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9" y="419365"/>
            <a:ext cx="4662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深度学习概述</a:t>
            </a:r>
          </a:p>
        </p:txBody>
      </p:sp>
      <p:sp>
        <p:nvSpPr>
          <p:cNvPr id="7" name="矩形 6"/>
          <p:cNvSpPr/>
          <p:nvPr/>
        </p:nvSpPr>
        <p:spPr>
          <a:xfrm>
            <a:off x="762959" y="1434070"/>
            <a:ext cx="7538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深度学习在自然语言处理领域的应用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3886" y="1488177"/>
            <a:ext cx="528435" cy="52843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670971" y="5364531"/>
            <a:ext cx="3394340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机器翻译</a:t>
            </a:r>
          </a:p>
        </p:txBody>
      </p:sp>
      <p:sp>
        <p:nvSpPr>
          <p:cNvPr id="15" name="矩形 14"/>
          <p:cNvSpPr/>
          <p:nvPr/>
        </p:nvSpPr>
        <p:spPr>
          <a:xfrm>
            <a:off x="2591539" y="5918529"/>
            <a:ext cx="3394340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自动问答</a:t>
            </a:r>
          </a:p>
        </p:txBody>
      </p:sp>
      <p:pic>
        <p:nvPicPr>
          <p:cNvPr id="9" name="Picture 2" descr="https://pic4.zhimg.com/80/v2-95e633d34999168cd5601a4926d3c950_h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350" y="2510642"/>
            <a:ext cx="5506532" cy="322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7250110" y="2299741"/>
            <a:ext cx="4236061" cy="2830061"/>
            <a:chOff x="4510988" y="4030128"/>
            <a:chExt cx="3748626" cy="2606803"/>
          </a:xfrm>
        </p:grpSpPr>
        <p:pic>
          <p:nvPicPr>
            <p:cNvPr id="11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0988" y="4030128"/>
              <a:ext cx="3748626" cy="22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12"/>
            <p:cNvSpPr/>
            <p:nvPr/>
          </p:nvSpPr>
          <p:spPr>
            <a:xfrm>
              <a:off x="5441726" y="6329154"/>
              <a:ext cx="232257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基于神经网络模型的方法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68428" y="1614715"/>
            <a:ext cx="4732472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2119306" y="1561341"/>
            <a:ext cx="830580" cy="82308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1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468428" y="2703287"/>
            <a:ext cx="4732472" cy="76971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1" name="椭圆 10"/>
          <p:cNvSpPr/>
          <p:nvPr/>
        </p:nvSpPr>
        <p:spPr>
          <a:xfrm>
            <a:off x="2119306" y="2649913"/>
            <a:ext cx="830580" cy="82308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2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468428" y="3845233"/>
            <a:ext cx="4732472" cy="7697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3" name="椭圆 12"/>
          <p:cNvSpPr/>
          <p:nvPr/>
        </p:nvSpPr>
        <p:spPr>
          <a:xfrm>
            <a:off x="2119306" y="3791859"/>
            <a:ext cx="830580" cy="82308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3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39363" y="397213"/>
            <a:ext cx="1159885" cy="652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19855" y="1788217"/>
            <a:ext cx="357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发展历程、领域应用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50022" y="2764976"/>
            <a:ext cx="4091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从图像识别说起：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50022" y="3880235"/>
            <a:ext cx="4121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8" y="419365"/>
            <a:ext cx="64139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图像识别为什么使用深度学习</a:t>
            </a:r>
          </a:p>
        </p:txBody>
      </p:sp>
      <p:sp>
        <p:nvSpPr>
          <p:cNvPr id="47" name="矩形 46"/>
          <p:cNvSpPr/>
          <p:nvPr/>
        </p:nvSpPr>
        <p:spPr>
          <a:xfrm>
            <a:off x="6352311" y="5684531"/>
            <a:ext cx="9429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defRPr/>
            </a:pPr>
            <a:r>
              <a:rPr lang="en-US" altLang="zh-CN" sz="1050" dirty="0">
                <a:solidFill>
                  <a:schemeClr val="bg1"/>
                </a:solidFill>
                <a:latin typeface="Constantia" panose="02030602050306030303" pitchFamily="18" charset="0"/>
              </a:rPr>
              <a:t>Contextual Visual Word</a:t>
            </a:r>
          </a:p>
        </p:txBody>
      </p:sp>
      <p:pic>
        <p:nvPicPr>
          <p:cNvPr id="10" name="Picture 4" descr="​大牛的《深度学习》笔记，Deep Learning速成教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28" y="2690404"/>
            <a:ext cx="6120743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​大牛的《深度学习》笔记，Deep Learning速成教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874" y="4132067"/>
            <a:ext cx="626745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4126507" y="4054403"/>
            <a:ext cx="2447365" cy="11028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十字形 12"/>
          <p:cNvSpPr/>
          <p:nvPr/>
        </p:nvSpPr>
        <p:spPr>
          <a:xfrm rot="2773343">
            <a:off x="5040157" y="4327797"/>
            <a:ext cx="618564" cy="589614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Line 34"/>
          <p:cNvSpPr>
            <a:spLocks noChangeShapeType="1"/>
          </p:cNvSpPr>
          <p:nvPr/>
        </p:nvSpPr>
        <p:spPr bwMode="auto">
          <a:xfrm>
            <a:off x="3598051" y="1522048"/>
            <a:ext cx="669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5"/>
          <p:cNvSpPr>
            <a:spLocks noChangeShapeType="1"/>
          </p:cNvSpPr>
          <p:nvPr/>
        </p:nvSpPr>
        <p:spPr bwMode="auto">
          <a:xfrm>
            <a:off x="5961774" y="1518406"/>
            <a:ext cx="8620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右大括号 16"/>
          <p:cNvSpPr/>
          <p:nvPr/>
        </p:nvSpPr>
        <p:spPr>
          <a:xfrm rot="5400000">
            <a:off x="5119907" y="1244492"/>
            <a:ext cx="240967" cy="112794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52072" y="192787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核心任务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25757" y="2576532"/>
            <a:ext cx="2447365" cy="11028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1914213" y="1250449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测量空间</a:t>
            </a:r>
          </a:p>
        </p:txBody>
      </p:sp>
      <p:sp>
        <p:nvSpPr>
          <p:cNvPr id="23" name="Text Box 32"/>
          <p:cNvSpPr txBox="1">
            <a:spLocks noChangeArrowheads="1"/>
          </p:cNvSpPr>
          <p:nvPr/>
        </p:nvSpPr>
        <p:spPr bwMode="auto">
          <a:xfrm>
            <a:off x="4426552" y="1258328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特征空间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6783316" y="1242375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类别空间</a:t>
            </a:r>
          </a:p>
        </p:txBody>
      </p:sp>
      <p:sp>
        <p:nvSpPr>
          <p:cNvPr id="25" name="矩形 24"/>
          <p:cNvSpPr/>
          <p:nvPr/>
        </p:nvSpPr>
        <p:spPr>
          <a:xfrm>
            <a:off x="906962" y="1827502"/>
            <a:ext cx="753891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传统方法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人工特征提取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分类器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1063" y="1827502"/>
            <a:ext cx="528435" cy="52843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6962" y="5004667"/>
            <a:ext cx="107189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手工地选取特征是一件非常费力、启发式（需要专业知识）的方法，能不能选取好很大程度上靠经验和运气，而且它的调节需要大量的时间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1063" y="5037325"/>
            <a:ext cx="528435" cy="528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8" y="419365"/>
            <a:ext cx="5796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图像识别为什么用深度学习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9464" y="1383549"/>
            <a:ext cx="7538913" cy="58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人脑视觉机理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391" y="1437656"/>
            <a:ext cx="528435" cy="5284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923" y="2429834"/>
            <a:ext cx="2581543" cy="1854302"/>
          </a:xfrm>
          <a:prstGeom prst="rect">
            <a:avLst/>
          </a:prstGeom>
        </p:spPr>
      </p:pic>
      <p:pic>
        <p:nvPicPr>
          <p:cNvPr id="12" name="Picture 4" descr="https://ss0.bdstatic.com/70cFuHSh_Q1YnxGkpoWK1HF6hhy/it/u=2100435611,706118021&amp;fm=27&amp;gp=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0"/>
          <a:stretch>
            <a:fillRect/>
          </a:stretch>
        </p:blipFill>
        <p:spPr bwMode="auto">
          <a:xfrm flipH="1">
            <a:off x="3496627" y="5061148"/>
            <a:ext cx="3711680" cy="138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线形标注 1 7"/>
          <p:cNvSpPr/>
          <p:nvPr/>
        </p:nvSpPr>
        <p:spPr>
          <a:xfrm>
            <a:off x="7870376" y="6092470"/>
            <a:ext cx="1516435" cy="390131"/>
          </a:xfrm>
          <a:prstGeom prst="borderCallout1">
            <a:avLst>
              <a:gd name="adj1" fmla="val 15663"/>
              <a:gd name="adj2" fmla="val -774"/>
              <a:gd name="adj3" fmla="val -121694"/>
              <a:gd name="adj4" fmla="val -54484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</a:rPr>
              <a:t>视觉影像</a:t>
            </a:r>
          </a:p>
        </p:txBody>
      </p:sp>
      <p:sp>
        <p:nvSpPr>
          <p:cNvPr id="14" name="线形标注 1 10"/>
          <p:cNvSpPr/>
          <p:nvPr/>
        </p:nvSpPr>
        <p:spPr>
          <a:xfrm>
            <a:off x="1949795" y="4972014"/>
            <a:ext cx="1387313" cy="329091"/>
          </a:xfrm>
          <a:prstGeom prst="borderCallout1">
            <a:avLst>
              <a:gd name="adj1" fmla="val 58678"/>
              <a:gd name="adj2" fmla="val 99478"/>
              <a:gd name="adj3" fmla="val 177023"/>
              <a:gd name="adj4" fmla="val 170525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</a:rPr>
              <a:t>反射光线</a:t>
            </a:r>
          </a:p>
        </p:txBody>
      </p:sp>
      <p:sp>
        <p:nvSpPr>
          <p:cNvPr id="16" name="矩形 15"/>
          <p:cNvSpPr/>
          <p:nvPr/>
        </p:nvSpPr>
        <p:spPr>
          <a:xfrm rot="3685906">
            <a:off x="5931205" y="4281851"/>
            <a:ext cx="1107996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 dirty="0"/>
              <a:t>神经</a:t>
            </a:r>
            <a:r>
              <a:rPr lang="zh-CN" altLang="en-US" dirty="0"/>
              <a:t>脉冲</a:t>
            </a:r>
            <a:endParaRPr lang="zh-CN" altLang="en-US" sz="1800" dirty="0"/>
          </a:p>
        </p:txBody>
      </p:sp>
      <p:sp>
        <p:nvSpPr>
          <p:cNvPr id="19" name="线形标注 1(带强调线) 18"/>
          <p:cNvSpPr/>
          <p:nvPr/>
        </p:nvSpPr>
        <p:spPr>
          <a:xfrm>
            <a:off x="8017782" y="5078151"/>
            <a:ext cx="1369029" cy="222953"/>
          </a:xfrm>
          <a:prstGeom prst="accentCallout1">
            <a:avLst>
              <a:gd name="adj1" fmla="val 48706"/>
              <a:gd name="adj2" fmla="val 10461"/>
              <a:gd name="adj3" fmla="val 184393"/>
              <a:gd name="adj4" fmla="val -60997"/>
            </a:avLst>
          </a:prstGeom>
          <a:noFill/>
          <a:ln>
            <a:solidFill>
              <a:srgbClr val="39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双极细胞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0237" y="2083329"/>
            <a:ext cx="36583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400" dirty="0" err="1">
                <a:solidFill>
                  <a:srgbClr val="CC0099"/>
                </a:solidFill>
              </a:rPr>
              <a:t>i</a:t>
            </a:r>
            <a:r>
              <a:rPr lang="en-US" altLang="zh-CN" sz="2400" dirty="0">
                <a:solidFill>
                  <a:srgbClr val="CC0099"/>
                </a:solidFill>
              </a:rPr>
              <a:t>.</a:t>
            </a:r>
            <a:r>
              <a:rPr lang="zh-CN" altLang="en-US" sz="2400" dirty="0">
                <a:solidFill>
                  <a:srgbClr val="CC0099"/>
                </a:solidFill>
              </a:rPr>
              <a:t>视感觉阶段</a:t>
            </a:r>
            <a:r>
              <a:rPr lang="en-US" altLang="zh-CN" sz="2400" dirty="0">
                <a:solidFill>
                  <a:srgbClr val="CC0099"/>
                </a:solidFill>
              </a:rPr>
              <a:t>-</a:t>
            </a:r>
            <a:r>
              <a:rPr lang="zh-CN" altLang="en-US" sz="2400" dirty="0">
                <a:solidFill>
                  <a:srgbClr val="CC0099"/>
                </a:solidFill>
              </a:rPr>
              <a:t>信息采集</a:t>
            </a:r>
          </a:p>
        </p:txBody>
      </p:sp>
      <p:sp>
        <p:nvSpPr>
          <p:cNvPr id="22" name="线形标注 1(带强调线) 28"/>
          <p:cNvSpPr/>
          <p:nvPr/>
        </p:nvSpPr>
        <p:spPr>
          <a:xfrm>
            <a:off x="7017768" y="2908125"/>
            <a:ext cx="1851384" cy="263391"/>
          </a:xfrm>
          <a:prstGeom prst="accentCallout1">
            <a:avLst>
              <a:gd name="adj1" fmla="val 48706"/>
              <a:gd name="adj2" fmla="val 12672"/>
              <a:gd name="adj3" fmla="val 166419"/>
              <a:gd name="adj4" fmla="val -5989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纹状皮层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13100" y="3225056"/>
            <a:ext cx="1838236" cy="4476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</a:rPr>
              <a:t>初级视觉信息</a:t>
            </a:r>
            <a:endParaRPr lang="zh-CN" altLang="en-US" sz="2000" dirty="0"/>
          </a:p>
        </p:txBody>
      </p:sp>
      <p:sp>
        <p:nvSpPr>
          <p:cNvPr id="24" name="左箭头 23"/>
          <p:cNvSpPr/>
          <p:nvPr/>
        </p:nvSpPr>
        <p:spPr>
          <a:xfrm rot="3724615">
            <a:off x="5604454" y="4224201"/>
            <a:ext cx="1203843" cy="484632"/>
          </a:xfrm>
          <a:prstGeom prst="leftArrow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输入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8" y="419365"/>
            <a:ext cx="5796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图像识别为什么用深度学习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75249" y="1432148"/>
            <a:ext cx="7538913" cy="58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人脑视觉机理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176" y="1486255"/>
            <a:ext cx="528435" cy="52843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0237" y="2083329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400" dirty="0">
                <a:solidFill>
                  <a:srgbClr val="CC0099"/>
                </a:solidFill>
              </a:rPr>
              <a:t>ii.</a:t>
            </a:r>
            <a:r>
              <a:rPr lang="zh-CN" altLang="en-US" sz="2400" dirty="0">
                <a:solidFill>
                  <a:srgbClr val="CC0099"/>
                </a:solidFill>
              </a:rPr>
              <a:t>视知觉阶段</a:t>
            </a:r>
            <a:r>
              <a:rPr lang="en-US" altLang="zh-CN" sz="2400" dirty="0">
                <a:solidFill>
                  <a:srgbClr val="CC0099"/>
                </a:solidFill>
              </a:rPr>
              <a:t>-</a:t>
            </a:r>
            <a:r>
              <a:rPr lang="zh-CN" altLang="en-US" sz="2400" dirty="0">
                <a:solidFill>
                  <a:srgbClr val="CC0099"/>
                </a:solidFill>
              </a:rPr>
              <a:t>信息认知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806042" y="1652429"/>
            <a:ext cx="7346356" cy="4151917"/>
            <a:chOff x="1004770" y="2365481"/>
            <a:chExt cx="7093666" cy="3613219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770" y="3225356"/>
              <a:ext cx="4298077" cy="2753344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4716016" y="4217339"/>
              <a:ext cx="3303063" cy="939853"/>
              <a:chOff x="4716016" y="4217339"/>
              <a:chExt cx="3303063" cy="939853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4716016" y="4293096"/>
                <a:ext cx="504056" cy="864096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36" name="线形标注 1(带强调线) 28"/>
              <p:cNvSpPr/>
              <p:nvPr/>
            </p:nvSpPr>
            <p:spPr>
              <a:xfrm>
                <a:off x="6231376" y="4217339"/>
                <a:ext cx="1787703" cy="229217"/>
              </a:xfrm>
              <a:prstGeom prst="accentCallout1">
                <a:avLst>
                  <a:gd name="adj1" fmla="val 48706"/>
                  <a:gd name="adj2" fmla="val 12672"/>
                  <a:gd name="adj3" fmla="val 166419"/>
                  <a:gd name="adj4" fmla="val -59892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</a:rPr>
                  <a:t>纹状皮层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531358" y="3234346"/>
              <a:ext cx="4154138" cy="1478715"/>
              <a:chOff x="3531358" y="3234346"/>
              <a:chExt cx="4154138" cy="1478715"/>
            </a:xfrm>
          </p:grpSpPr>
          <p:sp>
            <p:nvSpPr>
              <p:cNvPr id="33" name="椭圆 32"/>
              <p:cNvSpPr/>
              <p:nvPr/>
            </p:nvSpPr>
            <p:spPr>
              <a:xfrm rot="2917584">
                <a:off x="3826680" y="3518009"/>
                <a:ext cx="899730" cy="1490374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34" name="线形标注 1(带强调线) 26"/>
              <p:cNvSpPr/>
              <p:nvPr/>
            </p:nvSpPr>
            <p:spPr>
              <a:xfrm>
                <a:off x="5832941" y="3234346"/>
                <a:ext cx="1852555" cy="332400"/>
              </a:xfrm>
              <a:prstGeom prst="accentCallout1">
                <a:avLst>
                  <a:gd name="adj1" fmla="val 55583"/>
                  <a:gd name="adj2" fmla="val 2889"/>
                  <a:gd name="adj3" fmla="val 172338"/>
                  <a:gd name="adj4" fmla="val -54675"/>
                </a:avLst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</a:rPr>
                  <a:t>纹外视觉皮层</a:t>
                </a: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6323429" y="4493149"/>
              <a:ext cx="1775007" cy="389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宋体" panose="02010600030101010101" pitchFamily="2" charset="-122"/>
                </a:rPr>
                <a:t>初级视觉信息</a:t>
              </a:r>
              <a:endParaRPr lang="zh-CN" altLang="en-US" sz="2000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5910489" y="2365481"/>
              <a:ext cx="1775007" cy="389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宋体" panose="02010600030101010101" pitchFamily="2" charset="-122"/>
                </a:rPr>
                <a:t>中级视觉信息</a:t>
              </a:r>
              <a:endParaRPr lang="zh-CN" altLang="en-US" sz="2000" dirty="0"/>
            </a:p>
          </p:txBody>
        </p:sp>
        <p:sp>
          <p:nvSpPr>
            <p:cNvPr id="32" name="下箭头 24"/>
            <p:cNvSpPr/>
            <p:nvPr/>
          </p:nvSpPr>
          <p:spPr>
            <a:xfrm flipV="1">
              <a:off x="6657215" y="2733825"/>
              <a:ext cx="144017" cy="541076"/>
            </a:xfrm>
            <a:prstGeom prst="down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22" name="椭圆 21"/>
          <p:cNvSpPr/>
          <p:nvPr/>
        </p:nvSpPr>
        <p:spPr bwMode="auto">
          <a:xfrm rot="19459578">
            <a:off x="3886297" y="4729922"/>
            <a:ext cx="2139863" cy="260874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线形标注 1(带强调线) 22"/>
          <p:cNvSpPr/>
          <p:nvPr/>
        </p:nvSpPr>
        <p:spPr>
          <a:xfrm>
            <a:off x="6458191" y="5422388"/>
            <a:ext cx="1173051" cy="381958"/>
          </a:xfrm>
          <a:prstGeom prst="accentCallout1">
            <a:avLst>
              <a:gd name="adj1" fmla="val 55583"/>
              <a:gd name="adj2" fmla="val 2889"/>
              <a:gd name="adj3" fmla="val -96078"/>
              <a:gd name="adj4" fmla="val -129936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海马体</a:t>
            </a:r>
          </a:p>
        </p:txBody>
      </p:sp>
      <p:sp>
        <p:nvSpPr>
          <p:cNvPr id="24" name="矩形 23"/>
          <p:cNvSpPr/>
          <p:nvPr/>
        </p:nvSpPr>
        <p:spPr>
          <a:xfrm>
            <a:off x="6054701" y="618983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</a:rPr>
              <a:t>长短时记忆信息</a:t>
            </a:r>
            <a:endParaRPr lang="zh-CN" altLang="en-US" sz="2000" dirty="0"/>
          </a:p>
        </p:txBody>
      </p:sp>
      <p:sp>
        <p:nvSpPr>
          <p:cNvPr id="25" name="下箭头 23"/>
          <p:cNvSpPr/>
          <p:nvPr/>
        </p:nvSpPr>
        <p:spPr>
          <a:xfrm>
            <a:off x="6919107" y="5804346"/>
            <a:ext cx="196055" cy="396429"/>
          </a:xfrm>
          <a:prstGeom prst="down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矩形 36"/>
          <p:cNvSpPr/>
          <p:nvPr/>
        </p:nvSpPr>
        <p:spPr>
          <a:xfrm>
            <a:off x="10258199" y="3584719"/>
            <a:ext cx="1107996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 dirty="0"/>
              <a:t>神经</a:t>
            </a:r>
            <a:r>
              <a:rPr lang="zh-CN" altLang="en-US" dirty="0"/>
              <a:t>脉冲</a:t>
            </a:r>
            <a:endParaRPr lang="zh-CN" altLang="en-US" sz="1800" dirty="0"/>
          </a:p>
        </p:txBody>
      </p:sp>
      <p:sp>
        <p:nvSpPr>
          <p:cNvPr id="39" name="左箭头 38"/>
          <p:cNvSpPr/>
          <p:nvPr/>
        </p:nvSpPr>
        <p:spPr>
          <a:xfrm>
            <a:off x="10070455" y="3769385"/>
            <a:ext cx="1203843" cy="484632"/>
          </a:xfrm>
          <a:prstGeom prst="leftArrow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输入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20879" y="1879391"/>
            <a:ext cx="45735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从原始信号摄入（瞳孔摄入像素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Pixels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初步处理（发现边缘和方向）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抽象（大脑判定，眼前的物体的形状，是圆形的）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进一步抽象（大脑进一步判定该物体是人脸）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从原始信号，做低级抽象，逐渐向高级抽象迭代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8208" y="419365"/>
            <a:ext cx="5796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图像识别为什么用深度学习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5757" y="1319543"/>
            <a:ext cx="7538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人脑视觉机理：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6684" y="1373650"/>
            <a:ext cx="528435" cy="528435"/>
          </a:xfrm>
          <a:prstGeom prst="rect">
            <a:avLst/>
          </a:prstGeom>
        </p:spPr>
      </p:pic>
      <p:pic>
        <p:nvPicPr>
          <p:cNvPr id="10" name="Picture 6" descr="​大牛的《深度学习》笔记，Deep Learning速成教程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900"/>
          <a:stretch>
            <a:fillRect/>
          </a:stretch>
        </p:blipFill>
        <p:spPr bwMode="auto">
          <a:xfrm>
            <a:off x="4813506" y="1211241"/>
            <a:ext cx="7493997" cy="528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1634288" y="6089217"/>
            <a:ext cx="3095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测量空间（表象）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1518208" y="5044411"/>
            <a:ext cx="3055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特征空间（概念）</a:t>
            </a:r>
          </a:p>
        </p:txBody>
      </p:sp>
      <p:sp>
        <p:nvSpPr>
          <p:cNvPr id="13" name="右箭头 12"/>
          <p:cNvSpPr/>
          <p:nvPr/>
        </p:nvSpPr>
        <p:spPr>
          <a:xfrm rot="16200000">
            <a:off x="2889280" y="5529216"/>
            <a:ext cx="303268" cy="52564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18208" y="419365"/>
            <a:ext cx="5796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图像识别为什么用深度学习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4150" y="1345448"/>
            <a:ext cx="7538913" cy="58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深度学习模仿人类的视觉系统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5077" y="1399555"/>
            <a:ext cx="528435" cy="528435"/>
          </a:xfrm>
          <a:prstGeom prst="rect">
            <a:avLst/>
          </a:prstGeom>
        </p:spPr>
      </p:pic>
      <p:pic>
        <p:nvPicPr>
          <p:cNvPr id="9" name="Picture 4" descr="http://img.blog.csdn.net/201607041214451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3" y="2088682"/>
            <a:ext cx="12177637" cy="425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68428" y="1614715"/>
            <a:ext cx="4732472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2119306" y="1561341"/>
            <a:ext cx="830580" cy="82308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1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468428" y="2703287"/>
            <a:ext cx="4732472" cy="76971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1" name="椭圆 10"/>
          <p:cNvSpPr/>
          <p:nvPr/>
        </p:nvSpPr>
        <p:spPr>
          <a:xfrm>
            <a:off x="2119306" y="2649913"/>
            <a:ext cx="830580" cy="82308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2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468428" y="3845233"/>
            <a:ext cx="4732472" cy="7697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3" name="椭圆 12"/>
          <p:cNvSpPr/>
          <p:nvPr/>
        </p:nvSpPr>
        <p:spPr>
          <a:xfrm>
            <a:off x="2119306" y="3791859"/>
            <a:ext cx="830580" cy="82308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3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39363" y="397213"/>
            <a:ext cx="1159885" cy="652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19855" y="1788217"/>
            <a:ext cx="357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发展历程、领域应用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50022" y="2764976"/>
            <a:ext cx="4091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从图像识别说起：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为什么使用深度学习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50022" y="3880235"/>
            <a:ext cx="412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716971" y="2462053"/>
            <a:ext cx="5030967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287" y="350223"/>
            <a:ext cx="4682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716971" y="3624867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590562" y="333215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如何使用深度学习框架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5729" y="1474928"/>
            <a:ext cx="947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使用机器学习（深度学习）的目的：寻找一个合适的函数</a:t>
            </a:r>
          </a:p>
        </p:txBody>
      </p:sp>
      <p:sp>
        <p:nvSpPr>
          <p:cNvPr id="5" name="內容版面配置區 2"/>
          <p:cNvSpPr txBox="1"/>
          <p:nvPr/>
        </p:nvSpPr>
        <p:spPr>
          <a:xfrm>
            <a:off x="952397" y="2136090"/>
            <a:ext cx="8882357" cy="44838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数字识别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CN" altLang="en-US" dirty="0"/>
              <a:t>机器翻译</a:t>
            </a: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/>
          </a:p>
          <a:p>
            <a:r>
              <a:rPr lang="zh-CN" altLang="en-US" dirty="0"/>
              <a:t>自动问答</a:t>
            </a:r>
            <a:endParaRPr lang="zh-TW" altLang="en-US" dirty="0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2620009" y="4294438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2976800" imgH="5181600" progId="Equation.3">
                  <p:embed/>
                </p:oleObj>
              </mc:Choice>
              <mc:Fallback>
                <p:oleObj name="方程式" r:id="rId2" imgW="4297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009" y="4294438"/>
                        <a:ext cx="3822700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2667149" y="2703481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2976800" imgH="5181600" progId="Equation.3">
                  <p:embed/>
                </p:oleObj>
              </mc:Choice>
              <mc:Fallback>
                <p:oleObj name="方程式" r:id="rId2" imgW="4297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149" y="2703481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2620009" y="5768950"/>
          <a:ext cx="3578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0233600" imgH="5181600" progId="Equation.3">
                  <p:embed/>
                </p:oleObj>
              </mc:Choice>
              <mc:Fallback>
                <p:oleObj name="方程式" r:id="rId4" imgW="40233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009" y="5768950"/>
                        <a:ext cx="357822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字方塊 7"/>
          <p:cNvSpPr txBox="1"/>
          <p:nvPr/>
        </p:nvSpPr>
        <p:spPr>
          <a:xfrm>
            <a:off x="6487573" y="2692212"/>
            <a:ext cx="1495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“3”</a:t>
            </a:r>
            <a:endParaRPr lang="zh-TW" altLang="en-US" sz="2800" dirty="0"/>
          </a:p>
        </p:txBody>
      </p:sp>
      <p:sp>
        <p:nvSpPr>
          <p:cNvPr id="12" name="文字方塊 8"/>
          <p:cNvSpPr txBox="1"/>
          <p:nvPr/>
        </p:nvSpPr>
        <p:spPr>
          <a:xfrm>
            <a:off x="6770086" y="4230581"/>
            <a:ext cx="2163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“</a:t>
            </a:r>
            <a:r>
              <a:rPr lang="zh-CN" altLang="en-US" sz="2800" dirty="0"/>
              <a:t>倾盆大雨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  <p:sp>
        <p:nvSpPr>
          <p:cNvPr id="14" name="文字方塊 10"/>
          <p:cNvSpPr txBox="1"/>
          <p:nvPr/>
        </p:nvSpPr>
        <p:spPr>
          <a:xfrm>
            <a:off x="6610857" y="5706105"/>
            <a:ext cx="1809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“</a:t>
            </a:r>
            <a:r>
              <a:rPr lang="zh-CN" altLang="en-US" sz="2800" dirty="0"/>
              <a:t>上海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  <p:pic>
        <p:nvPicPr>
          <p:cNvPr id="23" name="圖片 1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218499" y="2676651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5" name="文字方塊 8"/>
          <p:cNvSpPr txBox="1"/>
          <p:nvPr/>
        </p:nvSpPr>
        <p:spPr>
          <a:xfrm>
            <a:off x="2999543" y="4225919"/>
            <a:ext cx="3063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“</a:t>
            </a:r>
            <a:r>
              <a:rPr lang="en-US" altLang="zh-CN" sz="2800" dirty="0"/>
              <a:t>Rain</a:t>
            </a:r>
            <a:r>
              <a:rPr lang="zh-CN" altLang="en-US" sz="2800" dirty="0"/>
              <a:t> </a:t>
            </a:r>
            <a:r>
              <a:rPr lang="en-US" altLang="zh-CN" sz="2800" dirty="0"/>
              <a:t>cats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/>
              <a:t>dogs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  <p:sp>
        <p:nvSpPr>
          <p:cNvPr id="16" name="文字方塊 8"/>
          <p:cNvSpPr txBox="1"/>
          <p:nvPr/>
        </p:nvSpPr>
        <p:spPr>
          <a:xfrm>
            <a:off x="2877305" y="5706105"/>
            <a:ext cx="3063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“</a:t>
            </a:r>
            <a:r>
              <a:rPr lang="zh-CN" altLang="en-US" sz="2800" dirty="0"/>
              <a:t>姚明是哪里人？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build="allAtOnce"/>
      <p:bldP spid="10" grpId="0" uiExpand="1"/>
      <p:bldP spid="12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2958" y="1459665"/>
            <a:ext cx="7693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</a:t>
            </a: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153751"/>
              </p:ext>
            </p:extLst>
          </p:nvPr>
        </p:nvGraphicFramePr>
        <p:xfrm>
          <a:off x="7568794" y="2038660"/>
          <a:ext cx="2280034" cy="66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849600" imgH="4572000" progId="Equation.3">
                  <p:embed/>
                </p:oleObj>
              </mc:Choice>
              <mc:Fallback>
                <p:oleObj name="公式" r:id="rId2" imgW="15849600" imgH="4572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794" y="2038660"/>
                        <a:ext cx="2280034" cy="6613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1592183" y="3496808"/>
          <a:ext cx="24923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041600" imgH="5486400" progId="Equation.3">
                  <p:embed/>
                </p:oleObj>
              </mc:Choice>
              <mc:Fallback>
                <p:oleObj name="公式" r:id="rId4" imgW="280416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183" y="3496808"/>
                        <a:ext cx="249237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字方塊 60"/>
          <p:cNvSpPr txBox="1"/>
          <p:nvPr/>
        </p:nvSpPr>
        <p:spPr>
          <a:xfrm>
            <a:off x="4009764" y="3457799"/>
            <a:ext cx="2152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烫烫烫烫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圖片 9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427391" y="336082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6699069" y="3457799"/>
          <a:ext cx="24653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7736800" imgH="5486400" progId="Equation.3">
                  <p:embed/>
                </p:oleObj>
              </mc:Choice>
              <mc:Fallback>
                <p:oleObj name="公式" r:id="rId7" imgW="277368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069" y="3457799"/>
                        <a:ext cx="2465388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字方塊 60"/>
          <p:cNvSpPr txBox="1"/>
          <p:nvPr/>
        </p:nvSpPr>
        <p:spPr>
          <a:xfrm>
            <a:off x="9096475" y="3437445"/>
            <a:ext cx="91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“8”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圖片 9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514100" y="334046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aphicFrame>
        <p:nvGraphicFramePr>
          <p:cNvPr id="45" name="Object 12"/>
          <p:cNvGraphicFramePr>
            <a:graphicFrameLocks noChangeAspect="1"/>
          </p:cNvGraphicFramePr>
          <p:nvPr/>
        </p:nvGraphicFramePr>
        <p:xfrm>
          <a:off x="4149515" y="4891716"/>
          <a:ext cx="24653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7736800" imgH="5486400" progId="Equation.3">
                  <p:embed/>
                </p:oleObj>
              </mc:Choice>
              <mc:Fallback>
                <p:oleObj name="公式" r:id="rId9" imgW="277368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515" y="4891716"/>
                        <a:ext cx="246538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字方塊 60"/>
          <p:cNvSpPr txBox="1"/>
          <p:nvPr/>
        </p:nvSpPr>
        <p:spPr>
          <a:xfrm>
            <a:off x="6546920" y="4870666"/>
            <a:ext cx="91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“2”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圖片 9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964545" y="477369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1088233" y="2146253"/>
            <a:ext cx="6421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学习任务</a:t>
            </a:r>
            <a:r>
              <a:rPr lang="en-US" altLang="zh-TW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寻找手写识别函数，候选函数集合为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17343" y="4491487"/>
            <a:ext cx="3962400" cy="1242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0562" y="333215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如何使用深度学习框架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3" grpId="0"/>
      <p:bldP spid="46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 42"/>
          <p:cNvSpPr/>
          <p:nvPr/>
        </p:nvSpPr>
        <p:spPr>
          <a:xfrm>
            <a:off x="1222744" y="3372476"/>
            <a:ext cx="1718161" cy="9767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1416621" y="4342219"/>
          <a:ext cx="110966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2496800" imgH="5181600" progId="Equation.3">
                  <p:embed/>
                </p:oleObj>
              </mc:Choice>
              <mc:Fallback>
                <p:oleObj name="方程式" r:id="rId2" imgW="1249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621" y="4342219"/>
                        <a:ext cx="110966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圓角矩形 26"/>
          <p:cNvSpPr/>
          <p:nvPr/>
        </p:nvSpPr>
        <p:spPr>
          <a:xfrm>
            <a:off x="4130651" y="3369061"/>
            <a:ext cx="1692380" cy="9801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  <a:endParaRPr lang="en-US" altLang="zh-TW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97080" y="2861271"/>
            <a:ext cx="16080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“0”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圖片 3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917" y="2086055"/>
            <a:ext cx="720000" cy="720000"/>
          </a:xfrm>
          <a:prstGeom prst="rect">
            <a:avLst/>
          </a:prstGeom>
        </p:spPr>
      </p:pic>
      <p:pic>
        <p:nvPicPr>
          <p:cNvPr id="11" name="圖片 31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49" y="2082975"/>
            <a:ext cx="720000" cy="720000"/>
          </a:xfrm>
          <a:prstGeom prst="rect">
            <a:avLst/>
          </a:prstGeom>
        </p:spPr>
      </p:pic>
      <p:sp>
        <p:nvSpPr>
          <p:cNvPr id="12" name="文字方塊 32"/>
          <p:cNvSpPr txBox="1"/>
          <p:nvPr/>
        </p:nvSpPr>
        <p:spPr>
          <a:xfrm>
            <a:off x="7272379" y="2893249"/>
            <a:ext cx="89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“2”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33"/>
          <p:cNvSpPr txBox="1"/>
          <p:nvPr/>
        </p:nvSpPr>
        <p:spPr>
          <a:xfrm>
            <a:off x="8462861" y="2878351"/>
            <a:ext cx="1016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“5”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圖片 34"/>
          <p:cNvPicPr preferRelativeResize="0"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542" y="2091641"/>
            <a:ext cx="720000" cy="720000"/>
          </a:xfrm>
          <a:prstGeom prst="rect">
            <a:avLst/>
          </a:prstGeom>
        </p:spPr>
      </p:pic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7877828" y="4410094"/>
          <a:ext cx="4333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876800" imgH="5486400" progId="Equation.3">
                  <p:embed/>
                </p:oleObj>
              </mc:Choice>
              <mc:Fallback>
                <p:oleObj name="方程式" r:id="rId7" imgW="48768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828" y="4410094"/>
                        <a:ext cx="433387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字方塊 24"/>
          <p:cNvSpPr txBox="1"/>
          <p:nvPr/>
        </p:nvSpPr>
        <p:spPr>
          <a:xfrm>
            <a:off x="7161350" y="3696556"/>
            <a:ext cx="1262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参数学习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圓角矩形 37"/>
          <p:cNvSpPr/>
          <p:nvPr/>
        </p:nvSpPr>
        <p:spPr>
          <a:xfrm>
            <a:off x="6962970" y="5096605"/>
            <a:ext cx="1700794" cy="9618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Using</a:t>
            </a:r>
          </a:p>
        </p:txBody>
      </p:sp>
      <p:cxnSp>
        <p:nvCxnSpPr>
          <p:cNvPr id="19" name="直線單箭頭接點 40"/>
          <p:cNvCxnSpPr/>
          <p:nvPr/>
        </p:nvCxnSpPr>
        <p:spPr>
          <a:xfrm flipV="1">
            <a:off x="5930584" y="5516966"/>
            <a:ext cx="837957" cy="2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41"/>
          <p:cNvCxnSpPr/>
          <p:nvPr/>
        </p:nvCxnSpPr>
        <p:spPr>
          <a:xfrm flipV="1">
            <a:off x="8821227" y="5523157"/>
            <a:ext cx="74130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8124526" y="5297707"/>
          <a:ext cx="4333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4876800" imgH="5486400" progId="Equation.3">
                  <p:embed/>
                </p:oleObj>
              </mc:Choice>
              <mc:Fallback>
                <p:oleObj name="方程式" r:id="rId9" imgW="48768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4526" y="5297707"/>
                        <a:ext cx="4333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12"/>
          <p:cNvPicPr preferRelativeResize="0"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3838" y="5157589"/>
            <a:ext cx="806819" cy="71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字方塊 45"/>
          <p:cNvSpPr txBox="1"/>
          <p:nvPr/>
        </p:nvSpPr>
        <p:spPr>
          <a:xfrm>
            <a:off x="9270542" y="5332586"/>
            <a:ext cx="1944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罗红霉素</a:t>
            </a:r>
            <a:r>
              <a:rPr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字方塊 47"/>
          <p:cNvSpPr txBox="1"/>
          <p:nvPr/>
        </p:nvSpPr>
        <p:spPr>
          <a:xfrm>
            <a:off x="1222744" y="2318077"/>
            <a:ext cx="1429050" cy="461665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Training 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字方塊 48"/>
          <p:cNvSpPr txBox="1"/>
          <p:nvPr/>
        </p:nvSpPr>
        <p:spPr>
          <a:xfrm>
            <a:off x="1260333" y="5272265"/>
            <a:ext cx="1422237" cy="461665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Testing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字方塊 81"/>
          <p:cNvSpPr txBox="1"/>
          <p:nvPr/>
        </p:nvSpPr>
        <p:spPr>
          <a:xfrm>
            <a:off x="6942329" y="1369205"/>
            <a:ext cx="408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监督学习任务</a:t>
            </a:r>
            <a:r>
              <a:rPr lang="en-US" altLang="zh-TW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手写识别</a:t>
            </a:r>
            <a:endParaRPr lang="zh-TW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流程图: 数据 40"/>
          <p:cNvSpPr/>
          <p:nvPr/>
        </p:nvSpPr>
        <p:spPr>
          <a:xfrm>
            <a:off x="4123142" y="2059742"/>
            <a:ext cx="1916151" cy="7685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训练数据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01355" y="1376022"/>
            <a:ext cx="7693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图像识别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6942329" y="3379134"/>
            <a:ext cx="1749978" cy="96451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下箭头 45"/>
          <p:cNvSpPr/>
          <p:nvPr/>
        </p:nvSpPr>
        <p:spPr>
          <a:xfrm>
            <a:off x="7685288" y="4415263"/>
            <a:ext cx="192540" cy="65877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2997090" y="3827541"/>
            <a:ext cx="1025978" cy="18280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590562" y="333215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如何使用深度学习框架</a:t>
            </a:r>
          </a:p>
        </p:txBody>
      </p:sp>
      <p:sp>
        <p:nvSpPr>
          <p:cNvPr id="40" name="右箭头 39"/>
          <p:cNvSpPr/>
          <p:nvPr/>
        </p:nvSpPr>
        <p:spPr>
          <a:xfrm>
            <a:off x="5838310" y="3820830"/>
            <a:ext cx="1025978" cy="18280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99195" y="4837629"/>
            <a:ext cx="9814117" cy="158443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99194" y="1910888"/>
            <a:ext cx="9814118" cy="29041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78811" y="5893273"/>
            <a:ext cx="15604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测试数据</a:t>
            </a:r>
          </a:p>
        </p:txBody>
      </p:sp>
      <p:cxnSp>
        <p:nvCxnSpPr>
          <p:cNvPr id="49" name="直線單箭頭接點 40"/>
          <p:cNvCxnSpPr/>
          <p:nvPr/>
        </p:nvCxnSpPr>
        <p:spPr>
          <a:xfrm>
            <a:off x="4917596" y="2901064"/>
            <a:ext cx="13007" cy="4453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1163097" y="3289725"/>
            <a:ext cx="1849937" cy="11007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字方塊 52"/>
          <p:cNvSpPr txBox="1"/>
          <p:nvPr/>
        </p:nvSpPr>
        <p:spPr>
          <a:xfrm>
            <a:off x="2116158" y="4149494"/>
            <a:ext cx="1457812" cy="523220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1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47912" y="3289725"/>
            <a:ext cx="1849937" cy="11007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字方塊 52"/>
          <p:cNvSpPr txBox="1"/>
          <p:nvPr/>
        </p:nvSpPr>
        <p:spPr>
          <a:xfrm>
            <a:off x="4891751" y="4175996"/>
            <a:ext cx="1457812" cy="523220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921064" y="3289725"/>
            <a:ext cx="1849937" cy="11203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8424181" y="4175996"/>
            <a:ext cx="1457812" cy="523220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23" grpId="0"/>
      <p:bldP spid="26" grpId="0" animBg="1"/>
      <p:bldP spid="27" grpId="0" animBg="1"/>
      <p:bldP spid="44" grpId="0" animBg="1"/>
      <p:bldP spid="46" grpId="0" animBg="1"/>
      <p:bldP spid="40" grpId="0" animBg="1"/>
      <p:bldP spid="45" grpId="0" animBg="1"/>
      <p:bldP spid="48" grpId="0" animBg="1"/>
      <p:bldP spid="17" grpId="0"/>
      <p:bldP spid="54" grpId="0" animBg="1"/>
      <p:bldP spid="51" grpId="0" animBg="1"/>
      <p:bldP spid="55" grpId="0" animBg="1"/>
      <p:bldP spid="52" grpId="0" animBg="1"/>
      <p:bldP spid="56" grpId="0" animBg="1"/>
      <p:bldP spid="5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49360" y="1395893"/>
            <a:ext cx="51144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2861" y="1957842"/>
            <a:ext cx="964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选择什么样的网络结构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选择多少层数，每层选择多少神经元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9360" y="3076373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72861" y="3636496"/>
            <a:ext cx="9647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选择常用损失函数，平方误差，交叉熵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5" y="3092896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402314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6" y="4523598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31378" y="4547439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72861" y="5038080"/>
            <a:ext cx="96472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反向传播算法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5371" y="1428514"/>
            <a:ext cx="51144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575" y="1957842"/>
            <a:ext cx="964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选择什么样的网络结构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选择多少层数，每层选择多少神经元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8092" y="3124689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9575" y="3636496"/>
            <a:ext cx="9647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选择常用损失函数，平方误差，交叉熵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9" y="3092896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8" y="1402314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0" y="4523598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68092" y="4547439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9575" y="5038080"/>
            <a:ext cx="96472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反向传播算法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63"/>
          <p:cNvSpPr txBox="1"/>
          <p:nvPr/>
        </p:nvSpPr>
        <p:spPr>
          <a:xfrm>
            <a:off x="7773978" y="5660575"/>
            <a:ext cx="130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输出层</a:t>
            </a:r>
            <a:endParaRPr lang="zh-TW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字方塊 64"/>
          <p:cNvSpPr txBox="1"/>
          <p:nvPr/>
        </p:nvSpPr>
        <p:spPr>
          <a:xfrm>
            <a:off x="4361267" y="5660575"/>
            <a:ext cx="2164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隐藏层</a:t>
            </a:r>
            <a:endParaRPr lang="zh-TW" altLang="en-US" sz="2400" b="1" i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右大括弧 65"/>
          <p:cNvSpPr/>
          <p:nvPr/>
        </p:nvSpPr>
        <p:spPr>
          <a:xfrm rot="5400000">
            <a:off x="5376963" y="4100210"/>
            <a:ext cx="134500" cy="3045219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字方塊 59"/>
          <p:cNvSpPr txBox="1"/>
          <p:nvPr/>
        </p:nvSpPr>
        <p:spPr>
          <a:xfrm>
            <a:off x="2173062" y="5660575"/>
            <a:ext cx="1162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endParaRPr lang="zh-TW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字方塊 67"/>
          <p:cNvSpPr txBox="1"/>
          <p:nvPr/>
        </p:nvSpPr>
        <p:spPr>
          <a:xfrm>
            <a:off x="3594029" y="1400362"/>
            <a:ext cx="3932335" cy="400110"/>
          </a:xfrm>
          <a:prstGeom prst="rect">
            <a:avLst/>
          </a:prstGeom>
          <a:solidFill>
            <a:srgbClr val="EDF7D8"/>
          </a:solidFill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隐藏层数很多意味着网络越深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字方塊 2"/>
          <p:cNvSpPr txBox="1"/>
          <p:nvPr/>
        </p:nvSpPr>
        <p:spPr>
          <a:xfrm>
            <a:off x="7870406" y="1394451"/>
            <a:ext cx="1078964" cy="400110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神经元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cxnSp>
        <p:nvCxnSpPr>
          <p:cNvPr id="13" name="直線單箭頭接點 10"/>
          <p:cNvCxnSpPr/>
          <p:nvPr/>
        </p:nvCxnSpPr>
        <p:spPr>
          <a:xfrm>
            <a:off x="8424402" y="3501898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1"/>
          <p:cNvCxnSpPr/>
          <p:nvPr/>
        </p:nvCxnSpPr>
        <p:spPr>
          <a:xfrm>
            <a:off x="8533718" y="4747788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2"/>
          <p:cNvCxnSpPr/>
          <p:nvPr/>
        </p:nvCxnSpPr>
        <p:spPr>
          <a:xfrm>
            <a:off x="8400518" y="2723095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284605" y="2383236"/>
            <a:ext cx="746342" cy="27268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7"/>
          <p:cNvSpPr/>
          <p:nvPr/>
        </p:nvSpPr>
        <p:spPr>
          <a:xfrm>
            <a:off x="2381715" y="2464480"/>
            <a:ext cx="574158" cy="574158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8"/>
          <p:cNvSpPr/>
          <p:nvPr/>
        </p:nvSpPr>
        <p:spPr>
          <a:xfrm>
            <a:off x="2384057" y="3243050"/>
            <a:ext cx="574158" cy="574158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橢圓 19"/>
          <p:cNvSpPr/>
          <p:nvPr/>
        </p:nvSpPr>
        <p:spPr>
          <a:xfrm>
            <a:off x="2372424" y="4471062"/>
            <a:ext cx="574158" cy="574158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字方塊 20"/>
          <p:cNvSpPr txBox="1"/>
          <p:nvPr/>
        </p:nvSpPr>
        <p:spPr>
          <a:xfrm rot="5400000">
            <a:off x="2369677" y="389335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01591" y="1852294"/>
            <a:ext cx="746342" cy="3523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橢圓 24"/>
          <p:cNvSpPr/>
          <p:nvPr/>
        </p:nvSpPr>
        <p:spPr>
          <a:xfrm>
            <a:off x="3988677" y="2725733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25"/>
          <p:cNvSpPr/>
          <p:nvPr/>
        </p:nvSpPr>
        <p:spPr>
          <a:xfrm>
            <a:off x="3991019" y="3504303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26"/>
          <p:cNvSpPr/>
          <p:nvPr/>
        </p:nvSpPr>
        <p:spPr>
          <a:xfrm>
            <a:off x="3979386" y="4732315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字方塊 27"/>
          <p:cNvSpPr txBox="1"/>
          <p:nvPr/>
        </p:nvSpPr>
        <p:spPr>
          <a:xfrm rot="5400000">
            <a:off x="3976639" y="4154608"/>
            <a:ext cx="76925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037595" y="2383235"/>
            <a:ext cx="746342" cy="2746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28"/>
          <p:cNvSpPr/>
          <p:nvPr/>
        </p:nvSpPr>
        <p:spPr>
          <a:xfrm>
            <a:off x="8113439" y="2445372"/>
            <a:ext cx="574158" cy="574158"/>
          </a:xfrm>
          <a:prstGeom prst="ellipse">
            <a:avLst/>
          </a:prstGeom>
          <a:solidFill>
            <a:srgbClr val="51756B"/>
          </a:solidFill>
          <a:ln>
            <a:solidFill>
              <a:srgbClr val="B0E8B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29"/>
          <p:cNvSpPr/>
          <p:nvPr/>
        </p:nvSpPr>
        <p:spPr>
          <a:xfrm>
            <a:off x="8115781" y="3205281"/>
            <a:ext cx="574158" cy="574158"/>
          </a:xfrm>
          <a:prstGeom prst="ellipse">
            <a:avLst/>
          </a:prstGeom>
          <a:solidFill>
            <a:srgbClr val="51756B"/>
          </a:solidFill>
          <a:ln>
            <a:solidFill>
              <a:srgbClr val="B0E8B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橢圓 30"/>
          <p:cNvSpPr/>
          <p:nvPr/>
        </p:nvSpPr>
        <p:spPr>
          <a:xfrm>
            <a:off x="8122809" y="4451954"/>
            <a:ext cx="574158" cy="574158"/>
          </a:xfrm>
          <a:prstGeom prst="ellipse">
            <a:avLst/>
          </a:prstGeom>
          <a:solidFill>
            <a:srgbClr val="51756B"/>
          </a:solidFill>
          <a:ln>
            <a:solidFill>
              <a:srgbClr val="B0E8B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字方塊 31"/>
          <p:cNvSpPr txBox="1"/>
          <p:nvPr/>
        </p:nvSpPr>
        <p:spPr>
          <a:xfrm rot="5400000">
            <a:off x="8120062" y="38710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字方塊 32"/>
          <p:cNvSpPr txBox="1"/>
          <p:nvPr/>
        </p:nvSpPr>
        <p:spPr>
          <a:xfrm>
            <a:off x="6238035" y="19129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字方塊 33"/>
          <p:cNvSpPr txBox="1"/>
          <p:nvPr/>
        </p:nvSpPr>
        <p:spPr>
          <a:xfrm>
            <a:off x="6237085" y="266940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字方塊 34"/>
          <p:cNvSpPr txBox="1"/>
          <p:nvPr/>
        </p:nvSpPr>
        <p:spPr>
          <a:xfrm>
            <a:off x="6265083" y="467180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字方塊 53"/>
          <p:cNvSpPr txBox="1"/>
          <p:nvPr/>
        </p:nvSpPr>
        <p:spPr>
          <a:xfrm rot="5400000">
            <a:off x="9393080" y="390205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字方塊 54"/>
          <p:cNvSpPr txBox="1"/>
          <p:nvPr/>
        </p:nvSpPr>
        <p:spPr>
          <a:xfrm>
            <a:off x="9462173" y="2383235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字方塊 55"/>
          <p:cNvSpPr txBox="1"/>
          <p:nvPr/>
        </p:nvSpPr>
        <p:spPr>
          <a:xfrm>
            <a:off x="9450890" y="3181455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字方塊 56"/>
          <p:cNvSpPr txBox="1"/>
          <p:nvPr/>
        </p:nvSpPr>
        <p:spPr>
          <a:xfrm>
            <a:off x="9450890" y="444768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橢圓 24"/>
          <p:cNvSpPr/>
          <p:nvPr/>
        </p:nvSpPr>
        <p:spPr>
          <a:xfrm>
            <a:off x="3988677" y="1947020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線單箭頭接點 35"/>
          <p:cNvCxnSpPr>
            <a:endCxn id="24" idx="2"/>
          </p:cNvCxnSpPr>
          <p:nvPr/>
        </p:nvCxnSpPr>
        <p:spPr>
          <a:xfrm>
            <a:off x="1815151" y="2751559"/>
            <a:ext cx="56656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35"/>
          <p:cNvCxnSpPr/>
          <p:nvPr/>
        </p:nvCxnSpPr>
        <p:spPr>
          <a:xfrm>
            <a:off x="1805860" y="3530129"/>
            <a:ext cx="56656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35"/>
          <p:cNvCxnSpPr/>
          <p:nvPr/>
        </p:nvCxnSpPr>
        <p:spPr>
          <a:xfrm>
            <a:off x="1805860" y="4762973"/>
            <a:ext cx="56656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54"/>
          <p:cNvSpPr txBox="1"/>
          <p:nvPr/>
        </p:nvSpPr>
        <p:spPr>
          <a:xfrm>
            <a:off x="1799464" y="2219156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字方塊 54"/>
          <p:cNvSpPr txBox="1"/>
          <p:nvPr/>
        </p:nvSpPr>
        <p:spPr>
          <a:xfrm>
            <a:off x="1782898" y="299310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字方塊 54"/>
          <p:cNvSpPr txBox="1"/>
          <p:nvPr/>
        </p:nvSpPr>
        <p:spPr>
          <a:xfrm>
            <a:off x="1794623" y="428096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36690" y="2234099"/>
            <a:ext cx="1051987" cy="2765941"/>
            <a:chOff x="2936690" y="2234099"/>
            <a:chExt cx="1051987" cy="2765941"/>
          </a:xfrm>
        </p:grpSpPr>
        <p:cxnSp>
          <p:nvCxnSpPr>
            <p:cNvPr id="49" name="直線單箭頭接點 35"/>
            <p:cNvCxnSpPr>
              <a:stCxn id="24" idx="6"/>
              <a:endCxn id="34" idx="2"/>
            </p:cNvCxnSpPr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38"/>
            <p:cNvCxnSpPr>
              <a:stCxn id="25" idx="6"/>
              <a:endCxn id="34" idx="2"/>
            </p:cNvCxnSpPr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39"/>
            <p:cNvCxnSpPr>
              <a:stCxn id="24" idx="6"/>
              <a:endCxn id="35" idx="2"/>
            </p:cNvCxnSpPr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40"/>
            <p:cNvCxnSpPr>
              <a:stCxn id="24" idx="6"/>
              <a:endCxn id="36" idx="2"/>
            </p:cNvCxnSpPr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41"/>
            <p:cNvCxnSpPr>
              <a:stCxn id="25" idx="6"/>
              <a:endCxn id="36" idx="2"/>
            </p:cNvCxnSpPr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42"/>
            <p:cNvCxnSpPr>
              <a:stCxn id="26" idx="6"/>
              <a:endCxn id="34" idx="2"/>
            </p:cNvCxnSpPr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43"/>
            <p:cNvCxnSpPr>
              <a:stCxn id="26" idx="6"/>
              <a:endCxn id="35" idx="2"/>
            </p:cNvCxnSpPr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35"/>
            <p:cNvCxnSpPr>
              <a:endCxn id="87" idx="2"/>
            </p:cNvCxnSpPr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單箭頭接點 38"/>
            <p:cNvCxnSpPr>
              <a:stCxn id="26" idx="6"/>
            </p:cNvCxnSpPr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矩形 118"/>
          <p:cNvSpPr/>
          <p:nvPr/>
        </p:nvSpPr>
        <p:spPr>
          <a:xfrm>
            <a:off x="5500947" y="1853968"/>
            <a:ext cx="746342" cy="3523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橢圓 24"/>
          <p:cNvSpPr/>
          <p:nvPr/>
        </p:nvSpPr>
        <p:spPr>
          <a:xfrm>
            <a:off x="5588033" y="2727407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B0E8B9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橢圓 25"/>
          <p:cNvSpPr/>
          <p:nvPr/>
        </p:nvSpPr>
        <p:spPr>
          <a:xfrm>
            <a:off x="5590375" y="3505977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B0E8B9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橢圓 26"/>
          <p:cNvSpPr/>
          <p:nvPr/>
        </p:nvSpPr>
        <p:spPr>
          <a:xfrm>
            <a:off x="5578742" y="4733989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B0E8B9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文字方塊 27"/>
          <p:cNvSpPr txBox="1"/>
          <p:nvPr/>
        </p:nvSpPr>
        <p:spPr>
          <a:xfrm rot="5400000">
            <a:off x="5575995" y="4156282"/>
            <a:ext cx="76925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橢圓 24"/>
          <p:cNvSpPr/>
          <p:nvPr/>
        </p:nvSpPr>
        <p:spPr>
          <a:xfrm>
            <a:off x="5588033" y="1948694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B0E8B9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4553544" y="2234099"/>
            <a:ext cx="1036831" cy="2792013"/>
            <a:chOff x="4553544" y="2234099"/>
            <a:chExt cx="1036831" cy="2792013"/>
          </a:xfrm>
        </p:grpSpPr>
        <p:cxnSp>
          <p:nvCxnSpPr>
            <p:cNvPr id="125" name="直線單箭頭接點 35"/>
            <p:cNvCxnSpPr>
              <a:stCxn id="87" idx="6"/>
              <a:endCxn id="124" idx="2"/>
            </p:cNvCxnSpPr>
            <p:nvPr/>
          </p:nvCxnSpPr>
          <p:spPr>
            <a:xfrm>
              <a:off x="4562835" y="2234099"/>
              <a:ext cx="1025198" cy="16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35"/>
            <p:cNvCxnSpPr>
              <a:stCxn id="87" idx="6"/>
              <a:endCxn id="120" idx="2"/>
            </p:cNvCxnSpPr>
            <p:nvPr/>
          </p:nvCxnSpPr>
          <p:spPr>
            <a:xfrm>
              <a:off x="4562835" y="2234099"/>
              <a:ext cx="1025198" cy="7803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線單箭頭接點 35"/>
            <p:cNvCxnSpPr>
              <a:stCxn id="87" idx="6"/>
              <a:endCxn id="121" idx="2"/>
            </p:cNvCxnSpPr>
            <p:nvPr/>
          </p:nvCxnSpPr>
          <p:spPr>
            <a:xfrm>
              <a:off x="4562835" y="2234099"/>
              <a:ext cx="1027540" cy="1558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單箭頭接點 35"/>
            <p:cNvCxnSpPr>
              <a:endCxn id="122" idx="2"/>
            </p:cNvCxnSpPr>
            <p:nvPr/>
          </p:nvCxnSpPr>
          <p:spPr>
            <a:xfrm>
              <a:off x="4589452" y="2287149"/>
              <a:ext cx="989290" cy="27339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單箭頭接點 35"/>
            <p:cNvCxnSpPr>
              <a:stCxn id="34" idx="6"/>
              <a:endCxn id="124" idx="2"/>
            </p:cNvCxnSpPr>
            <p:nvPr/>
          </p:nvCxnSpPr>
          <p:spPr>
            <a:xfrm flipV="1">
              <a:off x="4562835" y="2235773"/>
              <a:ext cx="1025198" cy="7770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35"/>
            <p:cNvCxnSpPr>
              <a:stCxn id="34" idx="6"/>
              <a:endCxn id="120" idx="2"/>
            </p:cNvCxnSpPr>
            <p:nvPr/>
          </p:nvCxnSpPr>
          <p:spPr>
            <a:xfrm>
              <a:off x="4562835" y="3012812"/>
              <a:ext cx="1025198" cy="16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單箭頭接點 35"/>
            <p:cNvCxnSpPr>
              <a:endCxn id="121" idx="2"/>
            </p:cNvCxnSpPr>
            <p:nvPr/>
          </p:nvCxnSpPr>
          <p:spPr>
            <a:xfrm>
              <a:off x="4598743" y="3012812"/>
              <a:ext cx="991632" cy="7802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35"/>
            <p:cNvCxnSpPr>
              <a:stCxn id="34" idx="6"/>
              <a:endCxn id="122" idx="2"/>
            </p:cNvCxnSpPr>
            <p:nvPr/>
          </p:nvCxnSpPr>
          <p:spPr>
            <a:xfrm>
              <a:off x="4562835" y="3012812"/>
              <a:ext cx="1015907" cy="2008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單箭頭接點 35"/>
            <p:cNvCxnSpPr>
              <a:stCxn id="35" idx="6"/>
            </p:cNvCxnSpPr>
            <p:nvPr/>
          </p:nvCxnSpPr>
          <p:spPr>
            <a:xfrm flipV="1">
              <a:off x="4565177" y="2276260"/>
              <a:ext cx="1010214" cy="15151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35"/>
            <p:cNvCxnSpPr>
              <a:stCxn id="35" idx="6"/>
            </p:cNvCxnSpPr>
            <p:nvPr/>
          </p:nvCxnSpPr>
          <p:spPr>
            <a:xfrm flipV="1">
              <a:off x="4565177" y="3054973"/>
              <a:ext cx="1010214" cy="7364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單箭頭接點 35"/>
            <p:cNvCxnSpPr>
              <a:stCxn id="35" idx="6"/>
              <a:endCxn id="121" idx="2"/>
            </p:cNvCxnSpPr>
            <p:nvPr/>
          </p:nvCxnSpPr>
          <p:spPr>
            <a:xfrm>
              <a:off x="4565177" y="3791382"/>
              <a:ext cx="1025198" cy="16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單箭頭接點 35"/>
            <p:cNvCxnSpPr>
              <a:stCxn id="35" idx="6"/>
              <a:endCxn id="122" idx="2"/>
            </p:cNvCxnSpPr>
            <p:nvPr/>
          </p:nvCxnSpPr>
          <p:spPr>
            <a:xfrm>
              <a:off x="4565177" y="3791382"/>
              <a:ext cx="1013565" cy="12296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單箭頭接點 35"/>
            <p:cNvCxnSpPr>
              <a:stCxn id="36" idx="6"/>
              <a:endCxn id="124" idx="2"/>
            </p:cNvCxnSpPr>
            <p:nvPr/>
          </p:nvCxnSpPr>
          <p:spPr>
            <a:xfrm flipV="1">
              <a:off x="4553544" y="2235773"/>
              <a:ext cx="1034489" cy="27836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單箭頭接點 35"/>
            <p:cNvCxnSpPr>
              <a:stCxn id="36" idx="6"/>
            </p:cNvCxnSpPr>
            <p:nvPr/>
          </p:nvCxnSpPr>
          <p:spPr>
            <a:xfrm flipV="1">
              <a:off x="4553544" y="3089778"/>
              <a:ext cx="1011553" cy="19296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單箭頭接點 35"/>
            <p:cNvCxnSpPr>
              <a:stCxn id="36" idx="6"/>
              <a:endCxn id="121" idx="2"/>
            </p:cNvCxnSpPr>
            <p:nvPr/>
          </p:nvCxnSpPr>
          <p:spPr>
            <a:xfrm flipV="1">
              <a:off x="4553544" y="3793056"/>
              <a:ext cx="1036831" cy="1226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單箭頭接點 35"/>
            <p:cNvCxnSpPr>
              <a:endCxn id="122" idx="2"/>
            </p:cNvCxnSpPr>
            <p:nvPr/>
          </p:nvCxnSpPr>
          <p:spPr>
            <a:xfrm flipV="1">
              <a:off x="4560493" y="5021068"/>
              <a:ext cx="1018249" cy="50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6" name="文字方塊 33"/>
          <p:cNvSpPr txBox="1"/>
          <p:nvPr/>
        </p:nvSpPr>
        <p:spPr>
          <a:xfrm>
            <a:off x="6249214" y="344306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線單箭頭接點 9"/>
          <p:cNvCxnSpPr>
            <a:stCxn id="41" idx="0"/>
            <a:endCxn id="83" idx="2"/>
          </p:cNvCxnSpPr>
          <p:nvPr/>
        </p:nvCxnSpPr>
        <p:spPr>
          <a:xfrm flipV="1">
            <a:off x="8400518" y="1794561"/>
            <a:ext cx="9370" cy="65081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966823" y="2255872"/>
            <a:ext cx="1155986" cy="2785296"/>
            <a:chOff x="6966823" y="2255872"/>
            <a:chExt cx="1155986" cy="2785296"/>
          </a:xfrm>
        </p:grpSpPr>
        <p:cxnSp>
          <p:nvCxnSpPr>
            <p:cNvPr id="179" name="直線單箭頭接點 35"/>
            <p:cNvCxnSpPr>
              <a:endCxn id="41" idx="2"/>
            </p:cNvCxnSpPr>
            <p:nvPr/>
          </p:nvCxnSpPr>
          <p:spPr>
            <a:xfrm>
              <a:off x="6976114" y="2255872"/>
              <a:ext cx="1137325" cy="4765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線單箭頭接點 35"/>
            <p:cNvCxnSpPr>
              <a:endCxn id="42" idx="2"/>
            </p:cNvCxnSpPr>
            <p:nvPr/>
          </p:nvCxnSpPr>
          <p:spPr>
            <a:xfrm>
              <a:off x="6976114" y="2255872"/>
              <a:ext cx="1139667" cy="1236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線單箭頭接點 35"/>
            <p:cNvCxnSpPr>
              <a:endCxn id="43" idx="2"/>
            </p:cNvCxnSpPr>
            <p:nvPr/>
          </p:nvCxnSpPr>
          <p:spPr>
            <a:xfrm>
              <a:off x="6976114" y="2255872"/>
              <a:ext cx="1146695" cy="24831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單箭頭接點 35"/>
            <p:cNvCxnSpPr/>
            <p:nvPr/>
          </p:nvCxnSpPr>
          <p:spPr>
            <a:xfrm flipV="1">
              <a:off x="6976114" y="2731274"/>
              <a:ext cx="1100500" cy="3033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線單箭頭接點 35"/>
            <p:cNvCxnSpPr>
              <a:endCxn id="42" idx="2"/>
            </p:cNvCxnSpPr>
            <p:nvPr/>
          </p:nvCxnSpPr>
          <p:spPr>
            <a:xfrm>
              <a:off x="7012022" y="3034585"/>
              <a:ext cx="1103759" cy="4577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線單箭頭接點 35"/>
            <p:cNvCxnSpPr>
              <a:endCxn id="43" idx="2"/>
            </p:cNvCxnSpPr>
            <p:nvPr/>
          </p:nvCxnSpPr>
          <p:spPr>
            <a:xfrm>
              <a:off x="6976114" y="3034585"/>
              <a:ext cx="1146695" cy="1704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線單箭頭接點 35"/>
            <p:cNvCxnSpPr>
              <a:endCxn id="41" idx="2"/>
            </p:cNvCxnSpPr>
            <p:nvPr/>
          </p:nvCxnSpPr>
          <p:spPr>
            <a:xfrm flipV="1">
              <a:off x="6978456" y="2732451"/>
              <a:ext cx="1134983" cy="1080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線單箭頭接點 35"/>
            <p:cNvCxnSpPr>
              <a:endCxn id="42" idx="2"/>
            </p:cNvCxnSpPr>
            <p:nvPr/>
          </p:nvCxnSpPr>
          <p:spPr>
            <a:xfrm flipV="1">
              <a:off x="6978456" y="3492360"/>
              <a:ext cx="1137325" cy="3207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線單箭頭接點 35"/>
            <p:cNvCxnSpPr>
              <a:endCxn id="43" idx="2"/>
            </p:cNvCxnSpPr>
            <p:nvPr/>
          </p:nvCxnSpPr>
          <p:spPr>
            <a:xfrm>
              <a:off x="6978456" y="3813155"/>
              <a:ext cx="1144353" cy="925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線單箭頭接點 35"/>
            <p:cNvCxnSpPr>
              <a:endCxn id="41" idx="2"/>
            </p:cNvCxnSpPr>
            <p:nvPr/>
          </p:nvCxnSpPr>
          <p:spPr>
            <a:xfrm flipV="1">
              <a:off x="6966823" y="2732451"/>
              <a:ext cx="1146616" cy="23087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線單箭頭接點 35"/>
            <p:cNvCxnSpPr>
              <a:endCxn id="43" idx="2"/>
            </p:cNvCxnSpPr>
            <p:nvPr/>
          </p:nvCxnSpPr>
          <p:spPr>
            <a:xfrm flipV="1">
              <a:off x="6966823" y="4739033"/>
              <a:ext cx="1155986" cy="3021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線單箭頭接點 35"/>
            <p:cNvCxnSpPr>
              <a:endCxn id="42" idx="2"/>
            </p:cNvCxnSpPr>
            <p:nvPr/>
          </p:nvCxnSpPr>
          <p:spPr>
            <a:xfrm flipV="1">
              <a:off x="6966823" y="3492360"/>
              <a:ext cx="1148958" cy="15488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4" name="图片 9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12" y="1402536"/>
            <a:ext cx="498966" cy="498966"/>
          </a:xfrm>
          <a:prstGeom prst="rect">
            <a:avLst/>
          </a:prstGeom>
        </p:spPr>
      </p:pic>
      <p:sp>
        <p:nvSpPr>
          <p:cNvPr id="95" name="矩形 94"/>
          <p:cNvSpPr/>
          <p:nvPr/>
        </p:nvSpPr>
        <p:spPr>
          <a:xfrm>
            <a:off x="867377" y="1370389"/>
            <a:ext cx="2534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/>
      <p:bldP spid="72" grpId="0" animBg="1"/>
      <p:bldP spid="83" grpId="0" animBg="1"/>
      <p:bldP spid="22" grpId="0" animBg="1"/>
      <p:bldP spid="24" grpId="0" animBg="1"/>
      <p:bldP spid="25" grpId="0" animBg="1"/>
      <p:bldP spid="26" grpId="0" animBg="1"/>
      <p:bldP spid="27" grpId="0"/>
      <p:bldP spid="32" grpId="0" animBg="1"/>
      <p:bldP spid="34" grpId="0" animBg="1"/>
      <p:bldP spid="35" grpId="0" animBg="1"/>
      <p:bldP spid="36" grpId="0" animBg="1"/>
      <p:bldP spid="37" grpId="0"/>
      <p:bldP spid="39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68" grpId="0"/>
      <p:bldP spid="69" grpId="0"/>
      <p:bldP spid="70" grpId="0"/>
      <p:bldP spid="71" grpId="0"/>
      <p:bldP spid="87" grpId="0" animBg="1"/>
      <p:bldP spid="99" grpId="0"/>
      <p:bldP spid="100" grpId="0"/>
      <p:bldP spid="101" grpId="0"/>
      <p:bldP spid="119" grpId="0" animBg="1"/>
      <p:bldP spid="120" grpId="0" animBg="1"/>
      <p:bldP spid="121" grpId="0" animBg="1"/>
      <p:bldP spid="122" grpId="0" animBg="1"/>
      <p:bldP spid="123" grpId="0"/>
      <p:bldP spid="124" grpId="0" animBg="1"/>
      <p:bldP spid="1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7" y="1349639"/>
            <a:ext cx="498966" cy="49896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894184" y="1343823"/>
            <a:ext cx="93416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99184"/>
              </p:ext>
            </p:extLst>
          </p:nvPr>
        </p:nvGraphicFramePr>
        <p:xfrm>
          <a:off x="666749" y="1954203"/>
          <a:ext cx="8905875" cy="459697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47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7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706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模型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层数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结构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错误率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 err="1"/>
                        <a:t>AlexNet</a:t>
                      </a:r>
                      <a:r>
                        <a:rPr lang="en-US" altLang="zh-TW" sz="2400" dirty="0"/>
                        <a:t> (2012)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8</a:t>
                      </a:r>
                      <a:r>
                        <a:rPr lang="zh-CN" altLang="en-US" sz="2400" dirty="0"/>
                        <a:t>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16.4%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VGG (2014)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19</a:t>
                      </a:r>
                      <a:r>
                        <a:rPr lang="zh-CN" altLang="en-US" sz="2400" dirty="0"/>
                        <a:t>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6.7%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 err="1"/>
                        <a:t>GoogleNet</a:t>
                      </a:r>
                      <a:r>
                        <a:rPr lang="en-US" altLang="zh-TW" sz="2400" dirty="0"/>
                        <a:t> (2014)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22</a:t>
                      </a:r>
                      <a:r>
                        <a:rPr lang="zh-CN" altLang="en-US" sz="2400" dirty="0"/>
                        <a:t>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6.7%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Residual Net (2015)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152</a:t>
                      </a:r>
                      <a:r>
                        <a:rPr lang="zh-CN" altLang="en-US" sz="2400" dirty="0"/>
                        <a:t>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dirty="0"/>
                        <a:t>3.57%</a:t>
                      </a:r>
                      <a:endParaRPr lang="zh-TW" altLang="en-US" sz="2400" dirty="0"/>
                    </a:p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195" y="2467060"/>
            <a:ext cx="1798855" cy="796953"/>
          </a:xfrm>
          <a:prstGeom prst="rect">
            <a:avLst/>
          </a:prstGeom>
        </p:spPr>
      </p:pic>
      <p:pic>
        <p:nvPicPr>
          <p:cNvPr id="51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5379553" y="2780043"/>
            <a:ext cx="861901" cy="1945003"/>
          </a:xfrm>
          <a:prstGeom prst="rect">
            <a:avLst/>
          </a:prstGeom>
        </p:spPr>
      </p:pic>
      <p:pic>
        <p:nvPicPr>
          <p:cNvPr id="52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665157" y="4219051"/>
            <a:ext cx="3076193" cy="952490"/>
          </a:xfrm>
          <a:prstGeom prst="rect">
            <a:avLst/>
          </a:prstGeom>
        </p:spPr>
      </p:pic>
      <p:pic>
        <p:nvPicPr>
          <p:cNvPr id="53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029051" y="4170814"/>
            <a:ext cx="342996" cy="3076194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 rot="16200000" flipH="1">
            <a:off x="5050210" y="5334174"/>
            <a:ext cx="477561" cy="744079"/>
          </a:xfrm>
          <a:prstGeom prst="rect">
            <a:avLst/>
          </a:prstGeom>
          <a:solidFill>
            <a:schemeClr val="tx1">
              <a:alpha val="52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 rot="16200000">
            <a:off x="6304043" y="4957669"/>
            <a:ext cx="1354789" cy="1480693"/>
          </a:xfrm>
          <a:prstGeom prst="rect">
            <a:avLst/>
          </a:prstGeom>
          <a:solidFill>
            <a:schemeClr val="tx1">
              <a:alpha val="62000"/>
            </a:schemeClr>
          </a:solidFill>
          <a:ln w="38100">
            <a:solidFill>
              <a:srgbClr val="FF00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直線接點 56"/>
          <p:cNvCxnSpPr/>
          <p:nvPr/>
        </p:nvCxnSpPr>
        <p:spPr>
          <a:xfrm flipH="1">
            <a:off x="5610981" y="5020621"/>
            <a:ext cx="625247" cy="4717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56"/>
          <p:cNvCxnSpPr/>
          <p:nvPr/>
        </p:nvCxnSpPr>
        <p:spPr>
          <a:xfrm flipH="1" flipV="1">
            <a:off x="5666753" y="5953901"/>
            <a:ext cx="569475" cy="4379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 rot="16200000">
            <a:off x="6411469" y="5009112"/>
            <a:ext cx="1134933" cy="1313263"/>
            <a:chOff x="2757052" y="2116266"/>
            <a:chExt cx="1899537" cy="2230578"/>
          </a:xfrm>
        </p:grpSpPr>
        <p:cxnSp>
          <p:nvCxnSpPr>
            <p:cNvPr id="55" name="直線單箭頭接點 26"/>
            <p:cNvCxnSpPr/>
            <p:nvPr/>
          </p:nvCxnSpPr>
          <p:spPr>
            <a:xfrm flipV="1">
              <a:off x="3519460" y="3813360"/>
              <a:ext cx="0" cy="533484"/>
            </a:xfrm>
            <a:prstGeom prst="straightConnector1">
              <a:avLst/>
            </a:prstGeom>
            <a:ln w="38100">
              <a:solidFill>
                <a:srgbClr val="6EBF9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2757052" y="2649750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2757052" y="3502548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線單箭頭接點 36"/>
            <p:cNvCxnSpPr/>
            <p:nvPr/>
          </p:nvCxnSpPr>
          <p:spPr>
            <a:xfrm flipV="1">
              <a:off x="3520835" y="2969064"/>
              <a:ext cx="0" cy="533484"/>
            </a:xfrm>
            <a:prstGeom prst="straightConnector1">
              <a:avLst/>
            </a:prstGeom>
            <a:ln w="38100">
              <a:solidFill>
                <a:srgbClr val="6EBF9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37"/>
            <p:cNvCxnSpPr/>
            <p:nvPr/>
          </p:nvCxnSpPr>
          <p:spPr>
            <a:xfrm flipV="1">
              <a:off x="3540823" y="2116266"/>
              <a:ext cx="0" cy="533484"/>
            </a:xfrm>
            <a:prstGeom prst="straightConnector1">
              <a:avLst/>
            </a:prstGeom>
            <a:ln w="38100">
              <a:solidFill>
                <a:srgbClr val="6EBF9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橢圓 38"/>
            <p:cNvSpPr/>
            <p:nvPr/>
          </p:nvSpPr>
          <p:spPr>
            <a:xfrm>
              <a:off x="2832345" y="2719407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橢圓 39"/>
            <p:cNvSpPr/>
            <p:nvPr/>
          </p:nvSpPr>
          <p:spPr>
            <a:xfrm>
              <a:off x="3079406" y="2718956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橢圓 40"/>
            <p:cNvSpPr/>
            <p:nvPr/>
          </p:nvSpPr>
          <p:spPr>
            <a:xfrm>
              <a:off x="3334699" y="2718956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橢圓 41"/>
            <p:cNvSpPr/>
            <p:nvPr/>
          </p:nvSpPr>
          <p:spPr>
            <a:xfrm>
              <a:off x="3574354" y="2721950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橢圓 42"/>
            <p:cNvSpPr/>
            <p:nvPr/>
          </p:nvSpPr>
          <p:spPr>
            <a:xfrm>
              <a:off x="3817004" y="2718956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橢圓 43"/>
            <p:cNvSpPr/>
            <p:nvPr/>
          </p:nvSpPr>
          <p:spPr>
            <a:xfrm>
              <a:off x="4076708" y="2718767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橢圓 44"/>
            <p:cNvSpPr/>
            <p:nvPr/>
          </p:nvSpPr>
          <p:spPr>
            <a:xfrm>
              <a:off x="2832345" y="3517928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橢圓 45"/>
            <p:cNvSpPr/>
            <p:nvPr/>
          </p:nvSpPr>
          <p:spPr>
            <a:xfrm>
              <a:off x="3079406" y="3517477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橢圓 46"/>
            <p:cNvSpPr/>
            <p:nvPr/>
          </p:nvSpPr>
          <p:spPr>
            <a:xfrm>
              <a:off x="3334699" y="3517477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橢圓 47"/>
            <p:cNvSpPr/>
            <p:nvPr/>
          </p:nvSpPr>
          <p:spPr>
            <a:xfrm>
              <a:off x="3574354" y="3520471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橢圓 48"/>
            <p:cNvSpPr/>
            <p:nvPr/>
          </p:nvSpPr>
          <p:spPr>
            <a:xfrm>
              <a:off x="3817004" y="3517477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橢圓 49"/>
            <p:cNvSpPr/>
            <p:nvPr/>
          </p:nvSpPr>
          <p:spPr>
            <a:xfrm>
              <a:off x="4076708" y="3517288"/>
              <a:ext cx="180000" cy="1800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2" name="直線接點 50"/>
            <p:cNvCxnSpPr/>
            <p:nvPr/>
          </p:nvCxnSpPr>
          <p:spPr>
            <a:xfrm>
              <a:off x="3519817" y="4094850"/>
              <a:ext cx="1136772" cy="0"/>
            </a:xfrm>
            <a:prstGeom prst="line">
              <a:avLst/>
            </a:prstGeom>
            <a:ln w="38100"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51"/>
            <p:cNvCxnSpPr/>
            <p:nvPr/>
          </p:nvCxnSpPr>
          <p:spPr>
            <a:xfrm flipV="1">
              <a:off x="4656589" y="2481721"/>
              <a:ext cx="0" cy="1568884"/>
            </a:xfrm>
            <a:prstGeom prst="line">
              <a:avLst/>
            </a:prstGeom>
            <a:ln w="38100"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52"/>
            <p:cNvCxnSpPr/>
            <p:nvPr/>
          </p:nvCxnSpPr>
          <p:spPr>
            <a:xfrm flipH="1">
              <a:off x="3574831" y="2481721"/>
              <a:ext cx="1040141" cy="0"/>
            </a:xfrm>
            <a:prstGeom prst="line">
              <a:avLst/>
            </a:prstGeom>
            <a:ln w="38100">
              <a:solidFill>
                <a:srgbClr val="6EBF96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426234" y="2710382"/>
            <a:ext cx="6854394" cy="34769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1613250" y="5428408"/>
            <a:ext cx="646081" cy="65113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1618214" y="4095194"/>
            <a:ext cx="646081" cy="65113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3942" y="4052290"/>
            <a:ext cx="752667" cy="710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>
            <a:off x="4454552" y="5438492"/>
            <a:ext cx="596422" cy="538433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02" y="1453002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974939" y="1435845"/>
            <a:ext cx="2534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神经元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1" name="Object 12"/>
          <p:cNvGraphicFramePr>
            <a:graphicFrameLocks noChangeAspect="1"/>
          </p:cNvGraphicFramePr>
          <p:nvPr/>
        </p:nvGraphicFramePr>
        <p:xfrm>
          <a:off x="1426234" y="1989843"/>
          <a:ext cx="60658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52425600" imgH="5486400" progId="Equation.3">
                  <p:embed/>
                </p:oleObj>
              </mc:Choice>
              <mc:Fallback>
                <p:oleObj name="方程式" r:id="rId3" imgW="52425600" imgH="548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234" y="1989843"/>
                        <a:ext cx="6065838" cy="631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線單箭頭接點 35"/>
          <p:cNvCxnSpPr/>
          <p:nvPr/>
        </p:nvCxnSpPr>
        <p:spPr>
          <a:xfrm flipV="1">
            <a:off x="6924151" y="4441726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5"/>
          <p:cNvCxnSpPr>
            <a:stCxn id="52" idx="6"/>
          </p:cNvCxnSpPr>
          <p:nvPr/>
        </p:nvCxnSpPr>
        <p:spPr>
          <a:xfrm flipV="1">
            <a:off x="2259331" y="4452172"/>
            <a:ext cx="2171154" cy="1301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Object 12"/>
          <p:cNvGraphicFramePr>
            <a:graphicFrameLocks noChangeAspect="1"/>
          </p:cNvGraphicFramePr>
          <p:nvPr/>
        </p:nvGraphicFramePr>
        <p:xfrm>
          <a:off x="5571329" y="4054692"/>
          <a:ext cx="3524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048000" imgH="3048000" progId="Equation.3">
                  <p:embed/>
                </p:oleObj>
              </mc:Choice>
              <mc:Fallback>
                <p:oleObj name="方程式" r:id="rId5" imgW="3048000" imgH="304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1329" y="4054692"/>
                        <a:ext cx="352425" cy="350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2"/>
          <p:cNvGraphicFramePr>
            <a:graphicFrameLocks noChangeAspect="1"/>
          </p:cNvGraphicFramePr>
          <p:nvPr/>
        </p:nvGraphicFramePr>
        <p:xfrm>
          <a:off x="2738625" y="2959469"/>
          <a:ext cx="4937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625" y="2959469"/>
                        <a:ext cx="493713" cy="5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2"/>
          <p:cNvGraphicFramePr>
            <a:graphicFrameLocks noChangeAspect="1"/>
          </p:cNvGraphicFramePr>
          <p:nvPr/>
        </p:nvGraphicFramePr>
        <p:xfrm>
          <a:off x="2744048" y="3868412"/>
          <a:ext cx="56356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4876800" imgH="5486400" progId="Equation.3">
                  <p:embed/>
                </p:oleObj>
              </mc:Choice>
              <mc:Fallback>
                <p:oleObj name="方程式" r:id="rId9" imgW="4876800" imgH="548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048" y="3868412"/>
                        <a:ext cx="563562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2"/>
          <p:cNvGraphicFramePr>
            <a:graphicFrameLocks noChangeAspect="1"/>
          </p:cNvGraphicFramePr>
          <p:nvPr/>
        </p:nvGraphicFramePr>
        <p:xfrm>
          <a:off x="2759218" y="4921163"/>
          <a:ext cx="59848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5181600" imgH="5181600" progId="Equation.3">
                  <p:embed/>
                </p:oleObj>
              </mc:Choice>
              <mc:Fallback>
                <p:oleObj name="方程式" r:id="rId11" imgW="5181600" imgH="518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218" y="4921163"/>
                        <a:ext cx="598487" cy="595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線單箭頭接點 11"/>
          <p:cNvCxnSpPr/>
          <p:nvPr/>
        </p:nvCxnSpPr>
        <p:spPr>
          <a:xfrm flipV="1">
            <a:off x="5229205" y="4421569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12"/>
          <p:cNvCxnSpPr>
            <a:stCxn id="51" idx="6"/>
          </p:cNvCxnSpPr>
          <p:nvPr/>
        </p:nvCxnSpPr>
        <p:spPr>
          <a:xfrm>
            <a:off x="2264295" y="4420759"/>
            <a:ext cx="2166190" cy="314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13"/>
          <p:cNvCxnSpPr>
            <a:stCxn id="2" idx="6"/>
          </p:cNvCxnSpPr>
          <p:nvPr/>
        </p:nvCxnSpPr>
        <p:spPr>
          <a:xfrm>
            <a:off x="2254446" y="3093942"/>
            <a:ext cx="2176039" cy="13582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14"/>
          <p:cNvSpPr txBox="1"/>
          <p:nvPr/>
        </p:nvSpPr>
        <p:spPr>
          <a:xfrm rot="5400000">
            <a:off x="1688651" y="483130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2" name="Object 12"/>
          <p:cNvGraphicFramePr>
            <a:graphicFrameLocks noChangeAspect="1"/>
          </p:cNvGraphicFramePr>
          <p:nvPr/>
        </p:nvGraphicFramePr>
        <p:xfrm>
          <a:off x="4608689" y="5526905"/>
          <a:ext cx="3540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3048000" imgH="4267200" progId="Equation.3">
                  <p:embed/>
                </p:oleObj>
              </mc:Choice>
              <mc:Fallback>
                <p:oleObj name="方程式" r:id="rId13" imgW="3048000" imgH="426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689" y="5526905"/>
                        <a:ext cx="354012" cy="488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3" name="直線單箭頭接點 24"/>
          <p:cNvCxnSpPr/>
          <p:nvPr/>
        </p:nvCxnSpPr>
        <p:spPr>
          <a:xfrm flipV="1">
            <a:off x="4768003" y="4794214"/>
            <a:ext cx="14657" cy="6442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Object 12"/>
          <p:cNvGraphicFramePr>
            <a:graphicFrameLocks noChangeAspect="1"/>
          </p:cNvGraphicFramePr>
          <p:nvPr/>
        </p:nvGraphicFramePr>
        <p:xfrm>
          <a:off x="6109654" y="4138829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7620000" imgH="5181600" progId="Equation.3">
                  <p:embed/>
                </p:oleObj>
              </mc:Choice>
              <mc:Fallback>
                <p:oleObj name="方程式" r:id="rId15" imgW="7620000" imgH="518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654" y="4138829"/>
                        <a:ext cx="787400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文字方塊 33"/>
          <p:cNvSpPr txBox="1"/>
          <p:nvPr/>
        </p:nvSpPr>
        <p:spPr>
          <a:xfrm>
            <a:off x="4918160" y="5677757"/>
            <a:ext cx="170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偏置</a:t>
            </a:r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6" name="Object 12"/>
          <p:cNvGraphicFramePr>
            <a:graphicFrameLocks noChangeAspect="1"/>
          </p:cNvGraphicFramePr>
          <p:nvPr/>
        </p:nvGraphicFramePr>
        <p:xfrm>
          <a:off x="7790668" y="4232443"/>
          <a:ext cx="3524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3048000" imgH="3352800" progId="Equation.3">
                  <p:embed/>
                </p:oleObj>
              </mc:Choice>
              <mc:Fallback>
                <p:oleObj name="方程式" r:id="rId17" imgW="3048000" imgH="335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0668" y="4232443"/>
                        <a:ext cx="352425" cy="385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文字方塊 38"/>
          <p:cNvSpPr txBox="1"/>
          <p:nvPr/>
        </p:nvSpPr>
        <p:spPr>
          <a:xfrm>
            <a:off x="2465174" y="5663469"/>
            <a:ext cx="206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weights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字方塊 40"/>
          <p:cNvSpPr txBox="1"/>
          <p:nvPr/>
        </p:nvSpPr>
        <p:spPr>
          <a:xfrm rot="5400000">
            <a:off x="1681850" y="350640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字方塊 41"/>
          <p:cNvSpPr txBox="1"/>
          <p:nvPr/>
        </p:nvSpPr>
        <p:spPr>
          <a:xfrm rot="5400000">
            <a:off x="2714753" y="456474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字方塊 42"/>
          <p:cNvSpPr txBox="1"/>
          <p:nvPr/>
        </p:nvSpPr>
        <p:spPr>
          <a:xfrm rot="5400000">
            <a:off x="2707228" y="358869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字方塊 18"/>
          <p:cNvSpPr txBox="1"/>
          <p:nvPr/>
        </p:nvSpPr>
        <p:spPr>
          <a:xfrm>
            <a:off x="4824351" y="3139471"/>
            <a:ext cx="2835205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simple function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字方塊 43"/>
          <p:cNvSpPr txBox="1"/>
          <p:nvPr/>
        </p:nvSpPr>
        <p:spPr>
          <a:xfrm>
            <a:off x="5565615" y="4829231"/>
            <a:ext cx="1894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激活函数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608365" y="2768377"/>
            <a:ext cx="646081" cy="65113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350765" y="3366019"/>
            <a:ext cx="3206327" cy="1422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理解：简单线性函数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f(x)=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kx+b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(k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是斜率，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是截距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graphicFrame>
        <p:nvGraphicFramePr>
          <p:cNvPr id="76" name="Object 12"/>
          <p:cNvGraphicFramePr>
            <a:graphicFrameLocks noChangeAspect="1"/>
          </p:cNvGraphicFramePr>
          <p:nvPr/>
        </p:nvGraphicFramePr>
        <p:xfrm>
          <a:off x="1751526" y="2710382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4267200" imgH="5486400" progId="Equation.3">
                  <p:embed/>
                </p:oleObj>
              </mc:Choice>
              <mc:Fallback>
                <p:oleObj name="方程式" r:id="rId19" imgW="4267200" imgH="548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526" y="2710382"/>
                        <a:ext cx="495300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2"/>
          <p:cNvGraphicFramePr>
            <a:graphicFrameLocks noChangeAspect="1"/>
          </p:cNvGraphicFramePr>
          <p:nvPr/>
        </p:nvGraphicFramePr>
        <p:xfrm>
          <a:off x="1734731" y="4023714"/>
          <a:ext cx="4953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4267200" imgH="5791200" progId="Equation.3">
                  <p:embed/>
                </p:oleObj>
              </mc:Choice>
              <mc:Fallback>
                <p:oleObj name="方程式" r:id="rId21" imgW="4267200" imgH="579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731" y="4023714"/>
                        <a:ext cx="495300" cy="665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2"/>
          <p:cNvGraphicFramePr>
            <a:graphicFrameLocks noChangeAspect="1"/>
          </p:cNvGraphicFramePr>
          <p:nvPr/>
        </p:nvGraphicFramePr>
        <p:xfrm>
          <a:off x="1751526" y="5347507"/>
          <a:ext cx="533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4572000" imgH="5486400" progId="Equation.3">
                  <p:embed/>
                </p:oleObj>
              </mc:Choice>
              <mc:Fallback>
                <p:oleObj name="方程式" r:id="rId23" imgW="4572000" imgH="548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526" y="5347507"/>
                        <a:ext cx="533400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椭圆 47"/>
          <p:cNvSpPr/>
          <p:nvPr/>
        </p:nvSpPr>
        <p:spPr>
          <a:xfrm>
            <a:off x="4436993" y="4080721"/>
            <a:ext cx="699005" cy="7199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443055" y="4254493"/>
                <a:ext cx="70723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055" y="4254493"/>
                <a:ext cx="707231" cy="369332"/>
              </a:xfrm>
              <a:prstGeom prst="rect">
                <a:avLst/>
              </a:prstGeom>
              <a:blipFill rotWithShape="1">
                <a:blip r:embed="rId26"/>
                <a:stretch>
                  <a:fillRect l="-84" t="-170" r="62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23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2" grpId="0" animBg="1"/>
      <p:bldP spid="51" grpId="0" animBg="1"/>
      <p:bldP spid="10" grpId="0" animBg="1"/>
      <p:bldP spid="6" grpId="0" animBg="1"/>
      <p:bldP spid="75" grpId="0"/>
      <p:bldP spid="85" grpId="0"/>
      <p:bldP spid="87" grpId="0"/>
      <p:bldP spid="88" grpId="0"/>
      <p:bldP spid="89" grpId="0"/>
      <p:bldP spid="90" grpId="0"/>
      <p:bldP spid="91" grpId="0" animBg="1"/>
      <p:bldP spid="92" grpId="0"/>
      <p:bldP spid="2" grpId="0" animBg="1"/>
      <p:bldP spid="48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3002" y="1158168"/>
            <a:ext cx="10911928" cy="1827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4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为什么引入激活函数</a:t>
            </a:r>
            <a:endParaRPr lang="en-US" altLang="zh-CN" sz="2400" dirty="0">
              <a:solidFill>
                <a:srgbClr val="FF4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为了增强网络的表达能力，我们需要激活函数来将线性函数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非线性函数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非线性的激活函数需要有连续性。因为连续非线性激活函数可以可导的，所以可以用最优化的方法来求解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85720"/>
            <a:ext cx="11403821" cy="3758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9002906" y="2585610"/>
            <a:ext cx="2996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常用激活函数示例</a:t>
            </a:r>
          </a:p>
        </p:txBody>
      </p:sp>
      <p:sp>
        <p:nvSpPr>
          <p:cNvPr id="10" name="矩形 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</p:spTree>
    <p:extLst>
      <p:ext uri="{BB962C8B-B14F-4D97-AF65-F5344CB8AC3E}">
        <p14:creationId xmlns:p14="http://schemas.microsoft.com/office/powerpoint/2010/main" val="1297827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37" y="219056"/>
            <a:ext cx="498966" cy="49896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74774" y="201899"/>
            <a:ext cx="2534984" cy="58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激活函数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0530" name="Picture 2" descr="https://img-blog.csdnimg.cn/20190719100438779.jpg?x-oss-process=image/watermark,type_ZmFuZ3poZW5naGVpdGk,shadow_10,text_aHR0cHM6Ly9ibG9nLmNzZG4ubmV0L3FxXzI5ODMxMTYz,size_16,color_FFFFFF,t_7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816" y="1632457"/>
            <a:ext cx="8495659" cy="370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62237" y="1727707"/>
            <a:ext cx="1980029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饱和激活函数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适用于浅层网络</a:t>
            </a:r>
          </a:p>
        </p:txBody>
      </p:sp>
      <p:cxnSp>
        <p:nvCxnSpPr>
          <p:cNvPr id="4" name="直接连接符 3"/>
          <p:cNvCxnSpPr>
            <a:stCxn id="2" idx="3"/>
          </p:cNvCxnSpPr>
          <p:nvPr/>
        </p:nvCxnSpPr>
        <p:spPr>
          <a:xfrm flipV="1">
            <a:off x="2142266" y="2009775"/>
            <a:ext cx="277084" cy="718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2" idx="3"/>
          </p:cNvCxnSpPr>
          <p:nvPr/>
        </p:nvCxnSpPr>
        <p:spPr>
          <a:xfrm>
            <a:off x="2142266" y="2081650"/>
            <a:ext cx="296134" cy="1061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09053" y="4015012"/>
            <a:ext cx="1533213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目前最常用的激活函数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收敛速度更快  </a:t>
            </a:r>
          </a:p>
        </p:txBody>
      </p:sp>
    </p:spTree>
    <p:extLst>
      <p:ext uri="{BB962C8B-B14F-4D97-AF65-F5344CB8AC3E}">
        <p14:creationId xmlns:p14="http://schemas.microsoft.com/office/powerpoint/2010/main" val="140801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12" y="1402536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867377" y="1370389"/>
            <a:ext cx="2534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cxnSp>
        <p:nvCxnSpPr>
          <p:cNvPr id="213" name="直線單箭頭接點 132"/>
          <p:cNvCxnSpPr/>
          <p:nvPr/>
        </p:nvCxnSpPr>
        <p:spPr>
          <a:xfrm flipV="1">
            <a:off x="3672746" y="4575164"/>
            <a:ext cx="0" cy="3605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橢圓 19"/>
          <p:cNvSpPr/>
          <p:nvPr/>
        </p:nvSpPr>
        <p:spPr>
          <a:xfrm>
            <a:off x="1292375" y="2406959"/>
            <a:ext cx="666680" cy="664831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等腰三角形 77"/>
          <p:cNvSpPr/>
          <p:nvPr/>
        </p:nvSpPr>
        <p:spPr>
          <a:xfrm>
            <a:off x="3394431" y="4858908"/>
            <a:ext cx="556539" cy="50531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橢圓 19"/>
          <p:cNvSpPr/>
          <p:nvPr/>
        </p:nvSpPr>
        <p:spPr>
          <a:xfrm>
            <a:off x="1293155" y="4002714"/>
            <a:ext cx="666680" cy="664831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1" name="直線單箭頭接點 12"/>
          <p:cNvCxnSpPr/>
          <p:nvPr/>
        </p:nvCxnSpPr>
        <p:spPr>
          <a:xfrm>
            <a:off x="8964272" y="4292310"/>
            <a:ext cx="61181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4"/>
          <p:cNvCxnSpPr/>
          <p:nvPr/>
        </p:nvCxnSpPr>
        <p:spPr>
          <a:xfrm>
            <a:off x="8964272" y="2734789"/>
            <a:ext cx="6056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群組 83"/>
          <p:cNvGrpSpPr/>
          <p:nvPr/>
        </p:nvGrpSpPr>
        <p:grpSpPr>
          <a:xfrm>
            <a:off x="1995439" y="2784207"/>
            <a:ext cx="1482626" cy="1537535"/>
            <a:chOff x="1013669" y="3459098"/>
            <a:chExt cx="1588876" cy="1638300"/>
          </a:xfrm>
        </p:grpSpPr>
        <p:cxnSp>
          <p:nvCxnSpPr>
            <p:cNvPr id="172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74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7" name="群組 84"/>
          <p:cNvGrpSpPr/>
          <p:nvPr/>
        </p:nvGrpSpPr>
        <p:grpSpPr>
          <a:xfrm>
            <a:off x="4345447" y="2770671"/>
            <a:ext cx="1482626" cy="1537535"/>
            <a:chOff x="1013669" y="3459098"/>
            <a:chExt cx="1588876" cy="1638300"/>
          </a:xfrm>
        </p:grpSpPr>
        <p:cxnSp>
          <p:nvCxnSpPr>
            <p:cNvPr id="178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0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3" name="群組 90"/>
          <p:cNvGrpSpPr/>
          <p:nvPr/>
        </p:nvGrpSpPr>
        <p:grpSpPr>
          <a:xfrm>
            <a:off x="6690035" y="2763649"/>
            <a:ext cx="1482626" cy="1537535"/>
            <a:chOff x="1013669" y="3459098"/>
            <a:chExt cx="1588876" cy="1638300"/>
          </a:xfrm>
        </p:grpSpPr>
        <p:cxnSp>
          <p:nvCxnSpPr>
            <p:cNvPr id="184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6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3" name="文字方塊 110"/>
          <p:cNvSpPr txBox="1"/>
          <p:nvPr/>
        </p:nvSpPr>
        <p:spPr>
          <a:xfrm>
            <a:off x="1486215" y="2515206"/>
            <a:ext cx="319970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文字方塊 111"/>
          <p:cNvSpPr txBox="1"/>
          <p:nvPr/>
        </p:nvSpPr>
        <p:spPr>
          <a:xfrm>
            <a:off x="1381903" y="4113882"/>
            <a:ext cx="527726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文字方塊 112"/>
          <p:cNvSpPr txBox="1"/>
          <p:nvPr/>
        </p:nvSpPr>
        <p:spPr>
          <a:xfrm>
            <a:off x="2554318" y="2334328"/>
            <a:ext cx="319970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字方塊 113"/>
          <p:cNvSpPr txBox="1"/>
          <p:nvPr/>
        </p:nvSpPr>
        <p:spPr>
          <a:xfrm>
            <a:off x="2530602" y="2993730"/>
            <a:ext cx="556225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文字方塊 114"/>
          <p:cNvSpPr txBox="1"/>
          <p:nvPr/>
        </p:nvSpPr>
        <p:spPr>
          <a:xfrm>
            <a:off x="2428154" y="4310278"/>
            <a:ext cx="667595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文字方塊 115"/>
          <p:cNvSpPr txBox="1"/>
          <p:nvPr/>
        </p:nvSpPr>
        <p:spPr>
          <a:xfrm>
            <a:off x="2442691" y="3632017"/>
            <a:ext cx="712199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0" name="直線單箭頭接點 118"/>
          <p:cNvCxnSpPr/>
          <p:nvPr/>
        </p:nvCxnSpPr>
        <p:spPr>
          <a:xfrm flipV="1">
            <a:off x="3731634" y="3040660"/>
            <a:ext cx="0" cy="3605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文字方塊 133"/>
          <p:cNvSpPr txBox="1"/>
          <p:nvPr/>
        </p:nvSpPr>
        <p:spPr>
          <a:xfrm>
            <a:off x="3477635" y="4955551"/>
            <a:ext cx="412143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" name="线形标注 2 224"/>
          <p:cNvSpPr/>
          <p:nvPr/>
        </p:nvSpPr>
        <p:spPr>
          <a:xfrm>
            <a:off x="4565697" y="1391486"/>
            <a:ext cx="1266965" cy="672863"/>
          </a:xfrm>
          <a:prstGeom prst="borderCallout2">
            <a:avLst>
              <a:gd name="adj1" fmla="val 51637"/>
              <a:gd name="adj2" fmla="val -709"/>
              <a:gd name="adj3" fmla="val 50835"/>
              <a:gd name="adj4" fmla="val -16667"/>
              <a:gd name="adj5" fmla="val 150413"/>
              <a:gd name="adj6" fmla="val -4623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激活函数</a:t>
            </a:r>
          </a:p>
        </p:txBody>
      </p:sp>
      <p:sp>
        <p:nvSpPr>
          <p:cNvPr id="74" name="等腰三角形 73"/>
          <p:cNvSpPr/>
          <p:nvPr/>
        </p:nvSpPr>
        <p:spPr>
          <a:xfrm>
            <a:off x="3438676" y="3281836"/>
            <a:ext cx="556539" cy="50531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字方塊 112"/>
          <p:cNvSpPr txBox="1"/>
          <p:nvPr/>
        </p:nvSpPr>
        <p:spPr>
          <a:xfrm>
            <a:off x="3568621" y="3322200"/>
            <a:ext cx="319970" cy="433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02361" y="2398024"/>
            <a:ext cx="805384" cy="664831"/>
            <a:chOff x="3908232" y="1597780"/>
            <a:chExt cx="863101" cy="708402"/>
          </a:xfrm>
        </p:grpSpPr>
        <p:sp>
          <p:nvSpPr>
            <p:cNvPr id="81" name="橢圓 19"/>
            <p:cNvSpPr/>
            <p:nvPr/>
          </p:nvSpPr>
          <p:spPr>
            <a:xfrm>
              <a:off x="4056876" y="1597780"/>
              <a:ext cx="714457" cy="708402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手繪多邊形 105"/>
            <p:cNvSpPr/>
            <p:nvPr/>
          </p:nvSpPr>
          <p:spPr>
            <a:xfrm>
              <a:off x="4438887" y="1859977"/>
              <a:ext cx="325720" cy="239412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" name="直接连接符 2"/>
            <p:cNvCxnSpPr>
              <a:stCxn id="81" idx="0"/>
              <a:endCxn id="81" idx="4"/>
            </p:cNvCxnSpPr>
            <p:nvPr/>
          </p:nvCxnSpPr>
          <p:spPr>
            <a:xfrm>
              <a:off x="4414105" y="1597780"/>
              <a:ext cx="0" cy="7084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/>
                <p:cNvSpPr txBox="1"/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2" name="文本框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/>
          <p:cNvGrpSpPr/>
          <p:nvPr/>
        </p:nvGrpSpPr>
        <p:grpSpPr>
          <a:xfrm>
            <a:off x="3397913" y="3975790"/>
            <a:ext cx="805384" cy="664831"/>
            <a:chOff x="3908232" y="1597780"/>
            <a:chExt cx="863101" cy="708402"/>
          </a:xfrm>
        </p:grpSpPr>
        <p:sp>
          <p:nvSpPr>
            <p:cNvPr id="84" name="橢圓 19"/>
            <p:cNvSpPr/>
            <p:nvPr/>
          </p:nvSpPr>
          <p:spPr>
            <a:xfrm>
              <a:off x="4056876" y="1597780"/>
              <a:ext cx="714457" cy="708402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手繪多邊形 105"/>
            <p:cNvSpPr/>
            <p:nvPr/>
          </p:nvSpPr>
          <p:spPr>
            <a:xfrm>
              <a:off x="4438887" y="1859977"/>
              <a:ext cx="325720" cy="239412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>
              <a:stCxn id="84" idx="0"/>
              <a:endCxn id="84" idx="4"/>
            </p:cNvCxnSpPr>
            <p:nvPr/>
          </p:nvCxnSpPr>
          <p:spPr>
            <a:xfrm>
              <a:off x="4414105" y="1597780"/>
              <a:ext cx="0" cy="7084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/>
                <p:cNvSpPr txBox="1"/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7" name="文字方塊 137"/>
          <p:cNvSpPr txBox="1"/>
          <p:nvPr/>
        </p:nvSpPr>
        <p:spPr>
          <a:xfrm>
            <a:off x="4049694" y="2113185"/>
            <a:ext cx="851561" cy="369332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0.98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字方塊 138"/>
          <p:cNvSpPr txBox="1"/>
          <p:nvPr/>
        </p:nvSpPr>
        <p:spPr>
          <a:xfrm>
            <a:off x="4093978" y="3755470"/>
            <a:ext cx="861592" cy="369332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0.12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文字方塊 134"/>
          <p:cNvSpPr txBox="1"/>
          <p:nvPr/>
        </p:nvSpPr>
        <p:spPr>
          <a:xfrm>
            <a:off x="3072048" y="2134942"/>
            <a:ext cx="621196" cy="369332"/>
          </a:xfrm>
          <a:prstGeom prst="rect">
            <a:avLst/>
          </a:prstGeom>
          <a:solidFill>
            <a:srgbClr val="D0FFA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5175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solidFill>
                <a:srgbClr val="5175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文字方塊 135"/>
          <p:cNvSpPr txBox="1"/>
          <p:nvPr/>
        </p:nvSpPr>
        <p:spPr>
          <a:xfrm>
            <a:off x="3088444" y="3789579"/>
            <a:ext cx="600634" cy="369332"/>
          </a:xfrm>
          <a:prstGeom prst="rect">
            <a:avLst/>
          </a:prstGeom>
          <a:solidFill>
            <a:srgbClr val="D0FFA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5175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dirty="0">
              <a:solidFill>
                <a:srgbClr val="5175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762669" y="2397061"/>
            <a:ext cx="805384" cy="1389128"/>
            <a:chOff x="6842510" y="2357177"/>
            <a:chExt cx="863101" cy="1480167"/>
          </a:xfrm>
        </p:grpSpPr>
        <p:cxnSp>
          <p:nvCxnSpPr>
            <p:cNvPr id="96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等腰三角形 96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99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1" name="直接连接符 100"/>
              <p:cNvCxnSpPr>
                <a:stCxn id="99" idx="0"/>
                <a:endCxn id="99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02" name="文本框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3" name="组合 102"/>
          <p:cNvGrpSpPr/>
          <p:nvPr/>
        </p:nvGrpSpPr>
        <p:grpSpPr>
          <a:xfrm>
            <a:off x="5774520" y="4018028"/>
            <a:ext cx="805384" cy="1389128"/>
            <a:chOff x="6842510" y="2357177"/>
            <a:chExt cx="863101" cy="1480167"/>
          </a:xfrm>
        </p:grpSpPr>
        <p:cxnSp>
          <p:nvCxnSpPr>
            <p:cNvPr id="104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等腰三角形 104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07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9" name="直接连接符 108"/>
              <p:cNvCxnSpPr>
                <a:stCxn id="107" idx="0"/>
                <a:endCxn id="107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10" name="文本框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1" name="组合 110"/>
          <p:cNvGrpSpPr/>
          <p:nvPr/>
        </p:nvGrpSpPr>
        <p:grpSpPr>
          <a:xfrm>
            <a:off x="8050774" y="2377226"/>
            <a:ext cx="805384" cy="1389128"/>
            <a:chOff x="6842510" y="2357177"/>
            <a:chExt cx="863101" cy="1480167"/>
          </a:xfrm>
        </p:grpSpPr>
        <p:cxnSp>
          <p:nvCxnSpPr>
            <p:cNvPr id="112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等腰三角形 112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15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7" name="直接连接符 116"/>
              <p:cNvCxnSpPr>
                <a:stCxn id="115" idx="0"/>
                <a:endCxn id="115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18" name="文本框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9" name="组合 118"/>
          <p:cNvGrpSpPr/>
          <p:nvPr/>
        </p:nvGrpSpPr>
        <p:grpSpPr>
          <a:xfrm>
            <a:off x="8062625" y="3998193"/>
            <a:ext cx="805384" cy="1389128"/>
            <a:chOff x="6842510" y="2357177"/>
            <a:chExt cx="863101" cy="1480167"/>
          </a:xfrm>
        </p:grpSpPr>
        <p:cxnSp>
          <p:nvCxnSpPr>
            <p:cNvPr id="120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等腰三角形 120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23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5" name="直接连接符 124"/>
              <p:cNvCxnSpPr>
                <a:stCxn id="123" idx="0"/>
                <a:endCxn id="123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文本框 125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26" name="文本框 1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2" name="直接箭头连接符 11"/>
          <p:cNvCxnSpPr/>
          <p:nvPr/>
        </p:nvCxnSpPr>
        <p:spPr>
          <a:xfrm>
            <a:off x="2151981" y="5630108"/>
            <a:ext cx="5856551" cy="1357"/>
          </a:xfrm>
          <a:prstGeom prst="straightConnector1">
            <a:avLst/>
          </a:prstGeom>
          <a:ln w="762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964794" y="5672346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自左向右依次计算</a:t>
            </a:r>
          </a:p>
        </p:txBody>
      </p:sp>
    </p:spTree>
    <p:extLst>
      <p:ext uri="{BB962C8B-B14F-4D97-AF65-F5344CB8AC3E}">
        <p14:creationId xmlns:p14="http://schemas.microsoft.com/office/powerpoint/2010/main" val="61524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  <p:bldP spid="206" grpId="0"/>
      <p:bldP spid="207" grpId="0"/>
      <p:bldP spid="208" grpId="0"/>
      <p:bldP spid="214" grpId="0"/>
      <p:bldP spid="225" grpId="0" animBg="1"/>
      <p:bldP spid="75" grpId="0"/>
      <p:bldP spid="217" grpId="0" animBg="1"/>
      <p:bldP spid="218" grpId="0" animBg="1"/>
      <p:bldP spid="215" grpId="0" animBg="1"/>
      <p:bldP spid="216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cxnSp>
        <p:nvCxnSpPr>
          <p:cNvPr id="213" name="直線單箭頭接點 132"/>
          <p:cNvCxnSpPr/>
          <p:nvPr/>
        </p:nvCxnSpPr>
        <p:spPr>
          <a:xfrm flipV="1">
            <a:off x="3743476" y="4560644"/>
            <a:ext cx="0" cy="359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橢圓 19"/>
          <p:cNvSpPr/>
          <p:nvPr/>
        </p:nvSpPr>
        <p:spPr>
          <a:xfrm>
            <a:off x="1301981" y="2396547"/>
            <a:ext cx="683799" cy="6635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等腰三角形 77"/>
          <p:cNvSpPr/>
          <p:nvPr/>
        </p:nvSpPr>
        <p:spPr>
          <a:xfrm>
            <a:off x="3458014" y="4843851"/>
            <a:ext cx="570829" cy="50435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橢圓 19"/>
          <p:cNvSpPr/>
          <p:nvPr/>
        </p:nvSpPr>
        <p:spPr>
          <a:xfrm>
            <a:off x="1302781" y="3989279"/>
            <a:ext cx="683799" cy="6635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1" name="直線單箭頭接點 12"/>
          <p:cNvCxnSpPr/>
          <p:nvPr/>
        </p:nvCxnSpPr>
        <p:spPr>
          <a:xfrm>
            <a:off x="9128985" y="4287183"/>
            <a:ext cx="6275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4"/>
          <p:cNvCxnSpPr/>
          <p:nvPr/>
        </p:nvCxnSpPr>
        <p:spPr>
          <a:xfrm>
            <a:off x="9128985" y="2731997"/>
            <a:ext cx="6211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群組 83"/>
          <p:cNvGrpSpPr/>
          <p:nvPr/>
        </p:nvGrpSpPr>
        <p:grpSpPr>
          <a:xfrm>
            <a:off x="2023098" y="2773079"/>
            <a:ext cx="1520697" cy="1534623"/>
            <a:chOff x="1013669" y="3459098"/>
            <a:chExt cx="1588876" cy="1638300"/>
          </a:xfrm>
        </p:grpSpPr>
        <p:cxnSp>
          <p:nvCxnSpPr>
            <p:cNvPr id="172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74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7" name="群組 84"/>
          <p:cNvGrpSpPr/>
          <p:nvPr/>
        </p:nvGrpSpPr>
        <p:grpSpPr>
          <a:xfrm>
            <a:off x="4433450" y="2759569"/>
            <a:ext cx="1520697" cy="1534623"/>
            <a:chOff x="1013669" y="3459098"/>
            <a:chExt cx="1588876" cy="1638300"/>
          </a:xfrm>
        </p:grpSpPr>
        <p:cxnSp>
          <p:nvCxnSpPr>
            <p:cNvPr id="178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0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3" name="群組 90"/>
          <p:cNvGrpSpPr/>
          <p:nvPr/>
        </p:nvGrpSpPr>
        <p:grpSpPr>
          <a:xfrm>
            <a:off x="6838242" y="2752561"/>
            <a:ext cx="1520697" cy="1534623"/>
            <a:chOff x="1013669" y="3459098"/>
            <a:chExt cx="1588876" cy="1638300"/>
          </a:xfrm>
        </p:grpSpPr>
        <p:cxnSp>
          <p:nvCxnSpPr>
            <p:cNvPr id="184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6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3" name="文字方塊 110"/>
          <p:cNvSpPr txBox="1"/>
          <p:nvPr/>
        </p:nvSpPr>
        <p:spPr>
          <a:xfrm>
            <a:off x="1500798" y="2504588"/>
            <a:ext cx="32818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文字方塊 111"/>
          <p:cNvSpPr txBox="1"/>
          <p:nvPr/>
        </p:nvSpPr>
        <p:spPr>
          <a:xfrm>
            <a:off x="1393808" y="4100236"/>
            <a:ext cx="54127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文字方塊 112"/>
          <p:cNvSpPr txBox="1"/>
          <p:nvPr/>
        </p:nvSpPr>
        <p:spPr>
          <a:xfrm>
            <a:off x="2657103" y="2335949"/>
            <a:ext cx="32818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字方塊 113"/>
          <p:cNvSpPr txBox="1"/>
          <p:nvPr/>
        </p:nvSpPr>
        <p:spPr>
          <a:xfrm>
            <a:off x="2572004" y="2982206"/>
            <a:ext cx="570508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文字方塊 114"/>
          <p:cNvSpPr txBox="1"/>
          <p:nvPr/>
        </p:nvSpPr>
        <p:spPr>
          <a:xfrm>
            <a:off x="2466925" y="4296260"/>
            <a:ext cx="68473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文字方塊 115"/>
          <p:cNvSpPr txBox="1"/>
          <p:nvPr/>
        </p:nvSpPr>
        <p:spPr>
          <a:xfrm>
            <a:off x="2481835" y="3619284"/>
            <a:ext cx="73048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0" name="直線單箭頭接點 118"/>
          <p:cNvCxnSpPr/>
          <p:nvPr/>
        </p:nvCxnSpPr>
        <p:spPr>
          <a:xfrm flipV="1">
            <a:off x="3803876" y="3029047"/>
            <a:ext cx="0" cy="359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文字方塊 133"/>
          <p:cNvSpPr txBox="1"/>
          <p:nvPr/>
        </p:nvSpPr>
        <p:spPr>
          <a:xfrm>
            <a:off x="3543354" y="4940311"/>
            <a:ext cx="42272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等腰三角形 73"/>
          <p:cNvSpPr/>
          <p:nvPr/>
        </p:nvSpPr>
        <p:spPr>
          <a:xfrm>
            <a:off x="3503394" y="3269766"/>
            <a:ext cx="570829" cy="50435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字方塊 112"/>
          <p:cNvSpPr txBox="1"/>
          <p:nvPr/>
        </p:nvSpPr>
        <p:spPr>
          <a:xfrm>
            <a:off x="3630508" y="3351581"/>
            <a:ext cx="32818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66147" y="2387628"/>
            <a:ext cx="826065" cy="663572"/>
            <a:chOff x="3908232" y="1597780"/>
            <a:chExt cx="863101" cy="708402"/>
          </a:xfrm>
        </p:grpSpPr>
        <p:sp>
          <p:nvSpPr>
            <p:cNvPr id="81" name="橢圓 19"/>
            <p:cNvSpPr/>
            <p:nvPr/>
          </p:nvSpPr>
          <p:spPr>
            <a:xfrm>
              <a:off x="4056876" y="1597780"/>
              <a:ext cx="714457" cy="708402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手繪多邊形 105"/>
            <p:cNvSpPr/>
            <p:nvPr/>
          </p:nvSpPr>
          <p:spPr>
            <a:xfrm>
              <a:off x="4438887" y="1859977"/>
              <a:ext cx="325720" cy="239412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" name="直接连接符 2"/>
            <p:cNvCxnSpPr>
              <a:stCxn id="81" idx="0"/>
              <a:endCxn id="81" idx="4"/>
            </p:cNvCxnSpPr>
            <p:nvPr/>
          </p:nvCxnSpPr>
          <p:spPr>
            <a:xfrm>
              <a:off x="4414105" y="1597780"/>
              <a:ext cx="0" cy="7084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/>
                <p:cNvSpPr txBox="1"/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2" name="文本框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/>
          <p:cNvGrpSpPr/>
          <p:nvPr/>
        </p:nvGrpSpPr>
        <p:grpSpPr>
          <a:xfrm>
            <a:off x="3461585" y="3962406"/>
            <a:ext cx="826065" cy="663572"/>
            <a:chOff x="3908232" y="1597780"/>
            <a:chExt cx="863101" cy="708402"/>
          </a:xfrm>
        </p:grpSpPr>
        <p:sp>
          <p:nvSpPr>
            <p:cNvPr id="84" name="橢圓 19"/>
            <p:cNvSpPr/>
            <p:nvPr/>
          </p:nvSpPr>
          <p:spPr>
            <a:xfrm>
              <a:off x="4056876" y="1597780"/>
              <a:ext cx="714457" cy="708402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手繪多邊形 105"/>
            <p:cNvSpPr/>
            <p:nvPr/>
          </p:nvSpPr>
          <p:spPr>
            <a:xfrm>
              <a:off x="4438887" y="1859977"/>
              <a:ext cx="325720" cy="239412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>
              <a:stCxn id="84" idx="0"/>
              <a:endCxn id="84" idx="4"/>
            </p:cNvCxnSpPr>
            <p:nvPr/>
          </p:nvCxnSpPr>
          <p:spPr>
            <a:xfrm>
              <a:off x="4414105" y="1597780"/>
              <a:ext cx="0" cy="7084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/>
                <p:cNvSpPr txBox="1"/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232" y="1755672"/>
                  <a:ext cx="707231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7" name="文字方塊 137"/>
          <p:cNvSpPr txBox="1"/>
          <p:nvPr/>
        </p:nvSpPr>
        <p:spPr>
          <a:xfrm>
            <a:off x="4130102" y="2103329"/>
            <a:ext cx="776814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0.98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字方塊 138"/>
          <p:cNvSpPr txBox="1"/>
          <p:nvPr/>
        </p:nvSpPr>
        <p:spPr>
          <a:xfrm>
            <a:off x="4175523" y="3742503"/>
            <a:ext cx="769951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0.12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文字方塊 134"/>
          <p:cNvSpPr txBox="1"/>
          <p:nvPr/>
        </p:nvSpPr>
        <p:spPr>
          <a:xfrm>
            <a:off x="3127352" y="2125045"/>
            <a:ext cx="637147" cy="345959"/>
          </a:xfrm>
          <a:prstGeom prst="rect">
            <a:avLst/>
          </a:prstGeom>
          <a:solidFill>
            <a:srgbClr val="D0FFA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5175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solidFill>
                <a:srgbClr val="5175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文字方塊 135"/>
          <p:cNvSpPr txBox="1"/>
          <p:nvPr/>
        </p:nvSpPr>
        <p:spPr>
          <a:xfrm>
            <a:off x="3144169" y="3776547"/>
            <a:ext cx="616058" cy="345959"/>
          </a:xfrm>
          <a:prstGeom prst="rect">
            <a:avLst/>
          </a:prstGeom>
          <a:solidFill>
            <a:srgbClr val="D0FFA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5175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dirty="0">
              <a:solidFill>
                <a:srgbClr val="5175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87063" y="2386667"/>
            <a:ext cx="826065" cy="1386497"/>
            <a:chOff x="6842510" y="2357177"/>
            <a:chExt cx="863101" cy="1480167"/>
          </a:xfrm>
        </p:grpSpPr>
        <p:cxnSp>
          <p:nvCxnSpPr>
            <p:cNvPr id="96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等腰三角形 96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99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1" name="直接连接符 100"/>
              <p:cNvCxnSpPr>
                <a:stCxn id="99" idx="0"/>
                <a:endCxn id="99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02" name="文本框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3" name="组合 102"/>
          <p:cNvGrpSpPr/>
          <p:nvPr/>
        </p:nvGrpSpPr>
        <p:grpSpPr>
          <a:xfrm>
            <a:off x="5899218" y="4004564"/>
            <a:ext cx="826065" cy="1386497"/>
            <a:chOff x="6842510" y="2357177"/>
            <a:chExt cx="863101" cy="1480167"/>
          </a:xfrm>
        </p:grpSpPr>
        <p:cxnSp>
          <p:nvCxnSpPr>
            <p:cNvPr id="104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等腰三角形 104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07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9" name="直接连接符 108"/>
              <p:cNvCxnSpPr>
                <a:stCxn id="107" idx="0"/>
                <a:endCxn id="107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10" name="文本框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1" name="组合 110"/>
          <p:cNvGrpSpPr/>
          <p:nvPr/>
        </p:nvGrpSpPr>
        <p:grpSpPr>
          <a:xfrm>
            <a:off x="8233922" y="2366869"/>
            <a:ext cx="826065" cy="1386497"/>
            <a:chOff x="6842510" y="2357177"/>
            <a:chExt cx="863101" cy="1480167"/>
          </a:xfrm>
        </p:grpSpPr>
        <p:cxnSp>
          <p:nvCxnSpPr>
            <p:cNvPr id="112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等腰三角形 112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15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7" name="直接连接符 116"/>
              <p:cNvCxnSpPr>
                <a:stCxn id="115" idx="0"/>
                <a:endCxn id="115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18" name="文本框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9" name="组合 118"/>
          <p:cNvGrpSpPr/>
          <p:nvPr/>
        </p:nvGrpSpPr>
        <p:grpSpPr>
          <a:xfrm>
            <a:off x="8246077" y="3984766"/>
            <a:ext cx="826065" cy="1386497"/>
            <a:chOff x="6842510" y="2357177"/>
            <a:chExt cx="863101" cy="1480167"/>
          </a:xfrm>
        </p:grpSpPr>
        <p:cxnSp>
          <p:nvCxnSpPr>
            <p:cNvPr id="120" name="直線單箭頭接點 118"/>
            <p:cNvCxnSpPr/>
            <p:nvPr/>
          </p:nvCxnSpPr>
          <p:spPr>
            <a:xfrm flipV="1">
              <a:off x="7195380" y="3041930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等腰三角形 120"/>
            <p:cNvSpPr/>
            <p:nvPr/>
          </p:nvSpPr>
          <p:spPr>
            <a:xfrm>
              <a:off x="6881427" y="3298911"/>
              <a:ext cx="596422" cy="53843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6842510" y="2357177"/>
              <a:ext cx="863101" cy="708402"/>
              <a:chOff x="3908232" y="1597780"/>
              <a:chExt cx="863101" cy="708402"/>
            </a:xfrm>
          </p:grpSpPr>
          <p:sp>
            <p:nvSpPr>
              <p:cNvPr id="123" name="橢圓 19"/>
              <p:cNvSpPr/>
              <p:nvPr/>
            </p:nvSpPr>
            <p:spPr>
              <a:xfrm>
                <a:off x="4056876" y="1597780"/>
                <a:ext cx="714457" cy="708402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手繪多邊形 105"/>
              <p:cNvSpPr/>
              <p:nvPr/>
            </p:nvSpPr>
            <p:spPr>
              <a:xfrm>
                <a:off x="4438887" y="1859977"/>
                <a:ext cx="325720" cy="239412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5" name="直接连接符 124"/>
              <p:cNvCxnSpPr>
                <a:stCxn id="123" idx="0"/>
                <a:endCxn id="123" idx="4"/>
              </p:cNvCxnSpPr>
              <p:nvPr/>
            </p:nvCxnSpPr>
            <p:spPr>
              <a:xfrm>
                <a:off x="4414105" y="1597780"/>
                <a:ext cx="0" cy="7084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文本框 125"/>
                  <p:cNvSpPr txBox="1"/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26" name="文本框 1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8232" y="1755672"/>
                    <a:ext cx="707231" cy="369332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0" name="文字方塊 139"/>
          <p:cNvSpPr txBox="1"/>
          <p:nvPr/>
        </p:nvSpPr>
        <p:spPr>
          <a:xfrm>
            <a:off x="5135839" y="2340206"/>
            <a:ext cx="32818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字方塊 140"/>
          <p:cNvSpPr txBox="1"/>
          <p:nvPr/>
        </p:nvSpPr>
        <p:spPr>
          <a:xfrm>
            <a:off x="4991884" y="2962670"/>
            <a:ext cx="601512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字方塊 141"/>
          <p:cNvSpPr txBox="1"/>
          <p:nvPr/>
        </p:nvSpPr>
        <p:spPr>
          <a:xfrm>
            <a:off x="4872730" y="4264827"/>
            <a:ext cx="68473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字方塊 142"/>
          <p:cNvSpPr txBox="1"/>
          <p:nvPr/>
        </p:nvSpPr>
        <p:spPr>
          <a:xfrm>
            <a:off x="4945545" y="3623540"/>
            <a:ext cx="68473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字方塊 149"/>
          <p:cNvSpPr txBox="1"/>
          <p:nvPr/>
        </p:nvSpPr>
        <p:spPr>
          <a:xfrm>
            <a:off x="6476913" y="2119530"/>
            <a:ext cx="776814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0.86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字方塊 150"/>
          <p:cNvSpPr txBox="1"/>
          <p:nvPr/>
        </p:nvSpPr>
        <p:spPr>
          <a:xfrm>
            <a:off x="6559049" y="3730523"/>
            <a:ext cx="776814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0.11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文字方塊 143"/>
          <p:cNvSpPr txBox="1"/>
          <p:nvPr/>
        </p:nvSpPr>
        <p:spPr>
          <a:xfrm>
            <a:off x="7567879" y="2341065"/>
            <a:ext cx="32818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字方塊 144"/>
          <p:cNvSpPr txBox="1"/>
          <p:nvPr/>
        </p:nvSpPr>
        <p:spPr>
          <a:xfrm>
            <a:off x="7438361" y="2939736"/>
            <a:ext cx="56630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字方塊 145"/>
          <p:cNvSpPr txBox="1"/>
          <p:nvPr/>
        </p:nvSpPr>
        <p:spPr>
          <a:xfrm>
            <a:off x="7414166" y="4229998"/>
            <a:ext cx="68473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字方塊 146"/>
          <p:cNvSpPr txBox="1"/>
          <p:nvPr/>
        </p:nvSpPr>
        <p:spPr>
          <a:xfrm>
            <a:off x="7377585" y="3624399"/>
            <a:ext cx="684737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文字方塊 153"/>
          <p:cNvSpPr txBox="1"/>
          <p:nvPr/>
        </p:nvSpPr>
        <p:spPr>
          <a:xfrm>
            <a:off x="8864119" y="2094670"/>
            <a:ext cx="776814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0.62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字方塊 154"/>
          <p:cNvSpPr txBox="1"/>
          <p:nvPr/>
        </p:nvSpPr>
        <p:spPr>
          <a:xfrm>
            <a:off x="8885481" y="3705664"/>
            <a:ext cx="776814" cy="345959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0.83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文字方塊 133"/>
          <p:cNvSpPr txBox="1"/>
          <p:nvPr/>
        </p:nvSpPr>
        <p:spPr>
          <a:xfrm>
            <a:off x="6010605" y="3357377"/>
            <a:ext cx="42272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6025583" y="4987333"/>
            <a:ext cx="422726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字方塊 133"/>
          <p:cNvSpPr txBox="1"/>
          <p:nvPr/>
        </p:nvSpPr>
        <p:spPr>
          <a:xfrm>
            <a:off x="8226581" y="3369561"/>
            <a:ext cx="661890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文字方塊 133"/>
          <p:cNvSpPr txBox="1"/>
          <p:nvPr/>
        </p:nvSpPr>
        <p:spPr>
          <a:xfrm>
            <a:off x="8214426" y="4975561"/>
            <a:ext cx="661890" cy="43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/>
              <p:cNvSpPr/>
              <p:nvPr/>
            </p:nvSpPr>
            <p:spPr>
              <a:xfrm>
                <a:off x="1783478" y="5803898"/>
                <a:ext cx="2654445" cy="585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函数：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.62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0.83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8" name="矩形 1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78" y="5803898"/>
                <a:ext cx="2654445" cy="585288"/>
              </a:xfrm>
              <a:prstGeom prst="rect">
                <a:avLst/>
              </a:prstGeom>
              <a:blipFill rotWithShape="1">
                <a:blip r:embed="rId3"/>
                <a:stretch>
                  <a:fillRect l="-15" t="-108" r="20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图片 1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12" y="1402536"/>
            <a:ext cx="498966" cy="498966"/>
          </a:xfrm>
          <a:prstGeom prst="rect">
            <a:avLst/>
          </a:prstGeom>
        </p:spPr>
      </p:pic>
      <p:sp>
        <p:nvSpPr>
          <p:cNvPr id="139" name="矩形 138"/>
          <p:cNvSpPr/>
          <p:nvPr/>
        </p:nvSpPr>
        <p:spPr>
          <a:xfrm>
            <a:off x="867377" y="1370389"/>
            <a:ext cx="2534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52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2" grpId="0"/>
      <p:bldP spid="93" grpId="0"/>
      <p:bldP spid="94" grpId="0" animBg="1"/>
      <p:bldP spid="95" grpId="0" animBg="1"/>
      <p:bldP spid="127" grpId="0"/>
      <p:bldP spid="128" grpId="0"/>
      <p:bldP spid="129" grpId="0"/>
      <p:bldP spid="130" grpId="0"/>
      <p:bldP spid="131" grpId="0" animBg="1"/>
      <p:bldP spid="132" grpId="0" animBg="1"/>
      <p:bldP spid="133" grpId="0"/>
      <p:bldP spid="134" grpId="0"/>
      <p:bldP spid="135" grpId="0"/>
      <p:bldP spid="136" grpId="0"/>
      <p:bldP spid="1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圆角矩形 73"/>
          <p:cNvSpPr/>
          <p:nvPr/>
        </p:nvSpPr>
        <p:spPr>
          <a:xfrm rot="5400000">
            <a:off x="412395" y="3569850"/>
            <a:ext cx="2759670" cy="8088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80" y="1386590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033644" y="1338375"/>
            <a:ext cx="669174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输出层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9914" y="1927447"/>
            <a:ext cx="85282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函数作为输出层激活函数：容易理解、便于计算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字方塊 63"/>
              <p:cNvSpPr txBox="1"/>
              <p:nvPr/>
            </p:nvSpPr>
            <p:spPr>
              <a:xfrm>
                <a:off x="7016407" y="5331073"/>
                <a:ext cx="2206927" cy="101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相当于计算概率值</a:t>
                </a:r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1&gt;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5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407" y="5331073"/>
                <a:ext cx="2206927" cy="1015984"/>
              </a:xfrm>
              <a:prstGeom prst="rect">
                <a:avLst/>
              </a:prstGeom>
              <a:blipFill rotWithShape="1">
                <a:blip r:embed="rId4"/>
                <a:stretch>
                  <a:fillRect l="-13" t="-24" r="2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6" name="Object 12"/>
          <p:cNvGraphicFramePr>
            <a:graphicFrameLocks noChangeAspect="1"/>
          </p:cNvGraphicFramePr>
          <p:nvPr/>
        </p:nvGraphicFramePr>
        <p:xfrm>
          <a:off x="8932457" y="2599396"/>
          <a:ext cx="20320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2860000" imgH="10668000" progId="Equation.3">
                  <p:embed/>
                </p:oleObj>
              </mc:Choice>
              <mc:Fallback>
                <p:oleObj name="方程式" r:id="rId5" imgW="22860000" imgH="1066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2457" y="2599396"/>
                        <a:ext cx="2032000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矩形 140"/>
          <p:cNvSpPr/>
          <p:nvPr/>
        </p:nvSpPr>
        <p:spPr>
          <a:xfrm>
            <a:off x="2312346" y="2642897"/>
            <a:ext cx="493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5585621" y="3501743"/>
            <a:ext cx="665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5602285" y="2663149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567661" y="4352584"/>
            <a:ext cx="103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0.05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8" name="Object 12"/>
          <p:cNvGraphicFramePr>
            <a:graphicFrameLocks noChangeAspect="1"/>
          </p:cNvGraphicFramePr>
          <p:nvPr/>
        </p:nvGraphicFramePr>
        <p:xfrm>
          <a:off x="8899119" y="3531258"/>
          <a:ext cx="20859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3469600" imgH="10668000" progId="Equation.3">
                  <p:embed/>
                </p:oleObj>
              </mc:Choice>
              <mc:Fallback>
                <p:oleObj name="方程式" r:id="rId7" imgW="23469600" imgH="1066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9119" y="3531258"/>
                        <a:ext cx="2085975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12"/>
          <p:cNvGraphicFramePr>
            <a:graphicFrameLocks noChangeAspect="1"/>
          </p:cNvGraphicFramePr>
          <p:nvPr/>
        </p:nvGraphicFramePr>
        <p:xfrm>
          <a:off x="8889594" y="4459946"/>
          <a:ext cx="20605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3164800" imgH="10668000" progId="Equation.3">
                  <p:embed/>
                </p:oleObj>
              </mc:Choice>
              <mc:Fallback>
                <p:oleObj name="方程式" r:id="rId9" imgW="23164800" imgH="1066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9594" y="4459946"/>
                        <a:ext cx="206057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矩形 67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73" name="橢圓 6"/>
          <p:cNvSpPr/>
          <p:nvPr/>
        </p:nvSpPr>
        <p:spPr>
          <a:xfrm>
            <a:off x="2949642" y="4500847"/>
            <a:ext cx="595086" cy="595086"/>
          </a:xfrm>
          <a:prstGeom prst="ellipse">
            <a:avLst/>
          </a:prstGeom>
          <a:solidFill>
            <a:srgbClr val="FFCCFF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線單箭頭接點 10"/>
          <p:cNvCxnSpPr>
            <a:stCxn id="2" idx="3"/>
            <a:endCxn id="98" idx="2"/>
          </p:cNvCxnSpPr>
          <p:nvPr/>
        </p:nvCxnSpPr>
        <p:spPr>
          <a:xfrm flipV="1">
            <a:off x="2088096" y="3091360"/>
            <a:ext cx="861546" cy="70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1489109" y="2799138"/>
            <a:ext cx="598987" cy="598464"/>
            <a:chOff x="1358901" y="5638801"/>
            <a:chExt cx="598987" cy="598464"/>
          </a:xfrm>
        </p:grpSpPr>
        <p:sp>
          <p:nvSpPr>
            <p:cNvPr id="2" name="圆角矩形 1"/>
            <p:cNvSpPr/>
            <p:nvPr/>
          </p:nvSpPr>
          <p:spPr>
            <a:xfrm>
              <a:off x="1358901" y="5638801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1" name="Object 12"/>
            <p:cNvGraphicFramePr>
              <a:graphicFrameLocks noChangeAspect="1"/>
            </p:cNvGraphicFramePr>
            <p:nvPr/>
          </p:nvGraphicFramePr>
          <p:xfrm>
            <a:off x="1466843" y="5672784"/>
            <a:ext cx="352425" cy="487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962400" imgH="5486400" progId="Equation.3">
                    <p:embed/>
                  </p:oleObj>
                </mc:Choice>
                <mc:Fallback>
                  <p:oleObj name="方程式" r:id="rId11" imgW="3962400" imgH="5486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843" y="5672784"/>
                          <a:ext cx="352425" cy="487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1487469" y="3647835"/>
            <a:ext cx="598987" cy="598464"/>
            <a:chOff x="2374901" y="5638801"/>
            <a:chExt cx="598987" cy="598464"/>
          </a:xfrm>
        </p:grpSpPr>
        <p:sp>
          <p:nvSpPr>
            <p:cNvPr id="75" name="圆角矩形 74"/>
            <p:cNvSpPr/>
            <p:nvPr/>
          </p:nvSpPr>
          <p:spPr>
            <a:xfrm>
              <a:off x="2374901" y="5638801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2" name="Object 12"/>
            <p:cNvGraphicFramePr>
              <a:graphicFrameLocks noChangeAspect="1"/>
            </p:cNvGraphicFramePr>
            <p:nvPr/>
          </p:nvGraphicFramePr>
          <p:xfrm>
            <a:off x="2515268" y="5672784"/>
            <a:ext cx="352425" cy="487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3962400" imgH="5486400" progId="Equation.3">
                    <p:embed/>
                  </p:oleObj>
                </mc:Choice>
                <mc:Fallback>
                  <p:oleObj name="方程式" r:id="rId13" imgW="3962400" imgH="5486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268" y="5672784"/>
                          <a:ext cx="352425" cy="487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1487468" y="4497469"/>
            <a:ext cx="598987" cy="598464"/>
            <a:chOff x="3302001" y="5638801"/>
            <a:chExt cx="598987" cy="598464"/>
          </a:xfrm>
        </p:grpSpPr>
        <p:sp>
          <p:nvSpPr>
            <p:cNvPr id="76" name="圆角矩形 75"/>
            <p:cNvSpPr/>
            <p:nvPr/>
          </p:nvSpPr>
          <p:spPr>
            <a:xfrm>
              <a:off x="3302001" y="5638801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3" name="Object 12"/>
            <p:cNvGraphicFramePr>
              <a:graphicFrameLocks noChangeAspect="1"/>
            </p:cNvGraphicFramePr>
            <p:nvPr/>
          </p:nvGraphicFramePr>
          <p:xfrm>
            <a:off x="3487116" y="5659290"/>
            <a:ext cx="352425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5" imgW="3962400" imgH="5791200" progId="Equation.3">
                    <p:embed/>
                  </p:oleObj>
                </mc:Choice>
                <mc:Fallback>
                  <p:oleObj name="方程式" r:id="rId15" imgW="3962400" imgH="5791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116" y="5659290"/>
                          <a:ext cx="352425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2949642" y="2793817"/>
            <a:ext cx="595086" cy="595086"/>
            <a:chOff x="5589315" y="4523313"/>
            <a:chExt cx="595086" cy="595086"/>
          </a:xfrm>
          <a:solidFill>
            <a:srgbClr val="FFCCFF"/>
          </a:solidFill>
        </p:grpSpPr>
        <p:sp>
          <p:nvSpPr>
            <p:cNvPr id="98" name="橢圓 6"/>
            <p:cNvSpPr/>
            <p:nvPr/>
          </p:nvSpPr>
          <p:spPr>
            <a:xfrm>
              <a:off x="5589315" y="4523313"/>
              <a:ext cx="595086" cy="5950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04" name="Object 12"/>
            <p:cNvGraphicFramePr>
              <a:graphicFrameLocks noChangeAspect="1"/>
            </p:cNvGraphicFramePr>
            <p:nvPr/>
          </p:nvGraphicFramePr>
          <p:xfrm>
            <a:off x="5780606" y="4681902"/>
            <a:ext cx="2428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7" imgW="2743200" imgH="3352800" progId="Equation.3">
                    <p:embed/>
                  </p:oleObj>
                </mc:Choice>
                <mc:Fallback>
                  <p:oleObj name="方程式" r:id="rId17" imgW="27432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0606" y="4681902"/>
                          <a:ext cx="242888" cy="298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2949642" y="3647332"/>
            <a:ext cx="595086" cy="595086"/>
            <a:chOff x="6607902" y="4523313"/>
            <a:chExt cx="595086" cy="595086"/>
          </a:xfrm>
          <a:solidFill>
            <a:srgbClr val="FFCCFF"/>
          </a:solidFill>
        </p:grpSpPr>
        <p:sp>
          <p:nvSpPr>
            <p:cNvPr id="72" name="橢圓 6"/>
            <p:cNvSpPr/>
            <p:nvPr/>
          </p:nvSpPr>
          <p:spPr>
            <a:xfrm>
              <a:off x="6607902" y="4523313"/>
              <a:ext cx="595086" cy="5950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89" name="Object 12"/>
            <p:cNvGraphicFramePr>
              <a:graphicFrameLocks noChangeAspect="1"/>
            </p:cNvGraphicFramePr>
            <p:nvPr/>
          </p:nvGraphicFramePr>
          <p:xfrm>
            <a:off x="6781770" y="4671154"/>
            <a:ext cx="298649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7" imgW="2743200" imgH="3352800" progId="Equation.3">
                    <p:embed/>
                  </p:oleObj>
                </mc:Choice>
                <mc:Fallback>
                  <p:oleObj name="方程式" r:id="rId17" imgW="27432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1770" y="4671154"/>
                          <a:ext cx="298649" cy="298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4752697" y="2595175"/>
            <a:ext cx="808878" cy="2759670"/>
            <a:chOff x="4612997" y="2899975"/>
            <a:chExt cx="808878" cy="2759670"/>
          </a:xfrm>
        </p:grpSpPr>
        <p:sp>
          <p:nvSpPr>
            <p:cNvPr id="77" name="圆角矩形 76"/>
            <p:cNvSpPr/>
            <p:nvPr/>
          </p:nvSpPr>
          <p:spPr>
            <a:xfrm rot="5400000">
              <a:off x="3637601" y="3875371"/>
              <a:ext cx="2759670" cy="8088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4710217" y="3110453"/>
              <a:ext cx="609305" cy="598464"/>
              <a:chOff x="5661804" y="3340417"/>
              <a:chExt cx="609305" cy="598464"/>
            </a:xfrm>
          </p:grpSpPr>
          <p:sp>
            <p:nvSpPr>
              <p:cNvPr id="78" name="圆角矩形 77"/>
              <p:cNvSpPr/>
              <p:nvPr/>
            </p:nvSpPr>
            <p:spPr>
              <a:xfrm>
                <a:off x="5661804" y="3340417"/>
                <a:ext cx="598987" cy="5984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10" name="Object 12"/>
              <p:cNvGraphicFramePr>
                <a:graphicFrameLocks noChangeAspect="1"/>
              </p:cNvGraphicFramePr>
              <p:nvPr/>
            </p:nvGraphicFramePr>
            <p:xfrm>
              <a:off x="5837722" y="3343862"/>
              <a:ext cx="433387" cy="487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19" imgW="4876800" imgH="5486400" progId="Equation.3">
                      <p:embed/>
                    </p:oleObj>
                  </mc:Choice>
                  <mc:Fallback>
                    <p:oleObj name="方程式" r:id="rId19" imgW="4876800" imgH="54864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37722" y="3343862"/>
                            <a:ext cx="433387" cy="4873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组合 40"/>
            <p:cNvGrpSpPr/>
            <p:nvPr/>
          </p:nvGrpSpPr>
          <p:grpSpPr>
            <a:xfrm>
              <a:off x="4708580" y="3949537"/>
              <a:ext cx="598987" cy="598464"/>
              <a:chOff x="6627004" y="3340417"/>
              <a:chExt cx="598987" cy="598464"/>
            </a:xfrm>
          </p:grpSpPr>
          <p:sp>
            <p:nvSpPr>
              <p:cNvPr id="79" name="圆角矩形 78"/>
              <p:cNvSpPr/>
              <p:nvPr/>
            </p:nvSpPr>
            <p:spPr>
              <a:xfrm>
                <a:off x="6627004" y="3340417"/>
                <a:ext cx="598987" cy="5984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11" name="Object 12"/>
              <p:cNvGraphicFramePr>
                <a:graphicFrameLocks noChangeAspect="1"/>
              </p:cNvGraphicFramePr>
              <p:nvPr/>
            </p:nvGraphicFramePr>
            <p:xfrm>
              <a:off x="6768982" y="3341624"/>
              <a:ext cx="433387" cy="487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21" imgW="4876800" imgH="5486400" progId="Equation.3">
                      <p:embed/>
                    </p:oleObj>
                  </mc:Choice>
                  <mc:Fallback>
                    <p:oleObj name="方程式" r:id="rId21" imgW="4876800" imgH="54864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68982" y="3341624"/>
                            <a:ext cx="433387" cy="4873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" name="组合 41"/>
            <p:cNvGrpSpPr/>
            <p:nvPr/>
          </p:nvGrpSpPr>
          <p:grpSpPr>
            <a:xfrm>
              <a:off x="4720535" y="4826814"/>
              <a:ext cx="598987" cy="598464"/>
              <a:chOff x="7554104" y="3340417"/>
              <a:chExt cx="598987" cy="598464"/>
            </a:xfrm>
          </p:grpSpPr>
          <p:sp>
            <p:nvSpPr>
              <p:cNvPr id="80" name="圆角矩形 79"/>
              <p:cNvSpPr/>
              <p:nvPr/>
            </p:nvSpPr>
            <p:spPr>
              <a:xfrm>
                <a:off x="7554104" y="3340417"/>
                <a:ext cx="598987" cy="5984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12" name="Object 12"/>
              <p:cNvGraphicFramePr>
                <a:graphicFrameLocks noChangeAspect="1"/>
              </p:cNvGraphicFramePr>
              <p:nvPr/>
            </p:nvGraphicFramePr>
            <p:xfrm>
              <a:off x="7696701" y="3367419"/>
              <a:ext cx="433387" cy="487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23" imgW="4876800" imgH="5486400" progId="Equation.3">
                      <p:embed/>
                    </p:oleObj>
                  </mc:Choice>
                  <mc:Fallback>
                    <p:oleObj name="方程式" r:id="rId23" imgW="4876800" imgH="54864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96701" y="3367419"/>
                            <a:ext cx="433387" cy="4873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4" name="组合 43"/>
          <p:cNvGrpSpPr/>
          <p:nvPr/>
        </p:nvGrpSpPr>
        <p:grpSpPr>
          <a:xfrm>
            <a:off x="4541478" y="5622073"/>
            <a:ext cx="1504623" cy="949325"/>
            <a:chOff x="4741381" y="5797963"/>
            <a:chExt cx="1504623" cy="949325"/>
          </a:xfrm>
        </p:grpSpPr>
        <p:graphicFrame>
          <p:nvGraphicFramePr>
            <p:cNvPr id="117" name="Object 12"/>
            <p:cNvGraphicFramePr>
              <a:graphicFrameLocks noChangeAspect="1"/>
            </p:cNvGraphicFramePr>
            <p:nvPr/>
          </p:nvGraphicFramePr>
          <p:xfrm>
            <a:off x="5377642" y="5797963"/>
            <a:ext cx="868362" cy="949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5" imgW="9753600" imgH="10668000" progId="Equation.3">
                    <p:embed/>
                  </p:oleObj>
                </mc:Choice>
                <mc:Fallback>
                  <p:oleObj name="方程式" r:id="rId25" imgW="9753600" imgH="10668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7642" y="5797963"/>
                          <a:ext cx="868362" cy="949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" name="组合 42"/>
            <p:cNvGrpSpPr/>
            <p:nvPr/>
          </p:nvGrpSpPr>
          <p:grpSpPr>
            <a:xfrm>
              <a:off x="4741381" y="5959533"/>
              <a:ext cx="595086" cy="595086"/>
              <a:chOff x="4296881" y="5400733"/>
              <a:chExt cx="595086" cy="595086"/>
            </a:xfrm>
          </p:grpSpPr>
          <p:sp>
            <p:nvSpPr>
              <p:cNvPr id="91" name="橢圓 6"/>
              <p:cNvSpPr/>
              <p:nvPr/>
            </p:nvSpPr>
            <p:spPr>
              <a:xfrm>
                <a:off x="4296881" y="5400733"/>
                <a:ext cx="595086" cy="595086"/>
              </a:xfrm>
              <a:prstGeom prst="ellipse">
                <a:avLst/>
              </a:prstGeom>
              <a:solidFill>
                <a:srgbClr val="FFCCFF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92" name="Object 12"/>
              <p:cNvGraphicFramePr>
                <a:graphicFrameLocks noChangeAspect="1"/>
              </p:cNvGraphicFramePr>
              <p:nvPr/>
            </p:nvGraphicFramePr>
            <p:xfrm>
              <a:off x="4437599" y="5491612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27" imgW="3352800" imgH="3352800" progId="Equation.3">
                      <p:embed/>
                    </p:oleObj>
                  </mc:Choice>
                  <mc:Fallback>
                    <p:oleObj name="方程式" r:id="rId27" imgW="3352800" imgH="3352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7599" y="5491612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53" name="Object 12"/>
          <p:cNvGraphicFramePr>
            <a:graphicFrameLocks noChangeAspect="1"/>
          </p:cNvGraphicFramePr>
          <p:nvPr/>
        </p:nvGraphicFramePr>
        <p:xfrm>
          <a:off x="3128233" y="4654206"/>
          <a:ext cx="2428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2743200" imgH="3352800" progId="Equation.3">
                  <p:embed/>
                </p:oleObj>
              </mc:Choice>
              <mc:Fallback>
                <p:oleObj name="方程式" r:id="rId17" imgW="2743200" imgH="3352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233" y="4654206"/>
                        <a:ext cx="24288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" name="直線單箭頭接點 10"/>
          <p:cNvCxnSpPr>
            <a:stCxn id="75" idx="3"/>
            <a:endCxn id="72" idx="2"/>
          </p:cNvCxnSpPr>
          <p:nvPr/>
        </p:nvCxnSpPr>
        <p:spPr>
          <a:xfrm flipV="1">
            <a:off x="2086456" y="3944875"/>
            <a:ext cx="863186" cy="21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0"/>
          <p:cNvCxnSpPr>
            <a:stCxn id="76" idx="3"/>
            <a:endCxn id="73" idx="2"/>
          </p:cNvCxnSpPr>
          <p:nvPr/>
        </p:nvCxnSpPr>
        <p:spPr>
          <a:xfrm>
            <a:off x="2086455" y="4796701"/>
            <a:ext cx="863187" cy="16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6695931" y="2781608"/>
            <a:ext cx="595086" cy="595086"/>
            <a:chOff x="6810231" y="3035608"/>
            <a:chExt cx="595086" cy="595086"/>
          </a:xfrm>
          <a:solidFill>
            <a:srgbClr val="FFCCFF"/>
          </a:solidFill>
        </p:grpSpPr>
        <p:sp>
          <p:nvSpPr>
            <p:cNvPr id="156" name="橢圓 6"/>
            <p:cNvSpPr/>
            <p:nvPr/>
          </p:nvSpPr>
          <p:spPr>
            <a:xfrm>
              <a:off x="6810231" y="3035608"/>
              <a:ext cx="595086" cy="5950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57" name="Object 12"/>
            <p:cNvGraphicFramePr>
              <a:graphicFrameLocks noChangeAspect="1"/>
            </p:cNvGraphicFramePr>
            <p:nvPr/>
          </p:nvGraphicFramePr>
          <p:xfrm>
            <a:off x="6955289" y="3144572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9" imgW="3048000" imgH="3048000" progId="Equation.3">
                    <p:embed/>
                  </p:oleObj>
                </mc:Choice>
                <mc:Fallback>
                  <p:oleObj name="方程式" r:id="rId29" imgW="3048000" imgH="3048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5289" y="3144572"/>
                          <a:ext cx="350837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8" name="组合 157"/>
          <p:cNvGrpSpPr/>
          <p:nvPr/>
        </p:nvGrpSpPr>
        <p:grpSpPr>
          <a:xfrm>
            <a:off x="6695931" y="3657908"/>
            <a:ext cx="595086" cy="595086"/>
            <a:chOff x="6810231" y="3035608"/>
            <a:chExt cx="595086" cy="595086"/>
          </a:xfrm>
          <a:solidFill>
            <a:srgbClr val="FFCCFF"/>
          </a:solidFill>
        </p:grpSpPr>
        <p:sp>
          <p:nvSpPr>
            <p:cNvPr id="159" name="橢圓 6"/>
            <p:cNvSpPr/>
            <p:nvPr/>
          </p:nvSpPr>
          <p:spPr>
            <a:xfrm>
              <a:off x="6810231" y="3035608"/>
              <a:ext cx="595086" cy="5950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60" name="Object 12"/>
            <p:cNvGraphicFramePr>
              <a:graphicFrameLocks noChangeAspect="1"/>
            </p:cNvGraphicFramePr>
            <p:nvPr/>
          </p:nvGraphicFramePr>
          <p:xfrm>
            <a:off x="6955289" y="3144572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9" imgW="3048000" imgH="3048000" progId="Equation.3">
                    <p:embed/>
                  </p:oleObj>
                </mc:Choice>
                <mc:Fallback>
                  <p:oleObj name="方程式" r:id="rId29" imgW="3048000" imgH="3048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5289" y="3144572"/>
                          <a:ext cx="350837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1" name="组合 160"/>
          <p:cNvGrpSpPr/>
          <p:nvPr/>
        </p:nvGrpSpPr>
        <p:grpSpPr>
          <a:xfrm>
            <a:off x="6708631" y="4534208"/>
            <a:ext cx="595086" cy="595086"/>
            <a:chOff x="6810231" y="3035608"/>
            <a:chExt cx="595086" cy="595086"/>
          </a:xfrm>
          <a:solidFill>
            <a:srgbClr val="FFCCFF"/>
          </a:solidFill>
        </p:grpSpPr>
        <p:sp>
          <p:nvSpPr>
            <p:cNvPr id="162" name="橢圓 6"/>
            <p:cNvSpPr/>
            <p:nvPr/>
          </p:nvSpPr>
          <p:spPr>
            <a:xfrm>
              <a:off x="6810231" y="3035608"/>
              <a:ext cx="595086" cy="5950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63" name="Object 12"/>
            <p:cNvGraphicFramePr>
              <a:graphicFrameLocks noChangeAspect="1"/>
            </p:cNvGraphicFramePr>
            <p:nvPr/>
          </p:nvGraphicFramePr>
          <p:xfrm>
            <a:off x="6955289" y="3144572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9" imgW="3048000" imgH="3048000" progId="Equation.3">
                    <p:embed/>
                  </p:oleObj>
                </mc:Choice>
                <mc:Fallback>
                  <p:oleObj name="方程式" r:id="rId29" imgW="3048000" imgH="3048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5289" y="3144572"/>
                          <a:ext cx="350837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" name="组合 163"/>
          <p:cNvGrpSpPr/>
          <p:nvPr/>
        </p:nvGrpSpPr>
        <p:grpSpPr>
          <a:xfrm>
            <a:off x="8079501" y="2584871"/>
            <a:ext cx="808878" cy="2759670"/>
            <a:chOff x="4612997" y="2899975"/>
            <a:chExt cx="808878" cy="2759670"/>
          </a:xfrm>
        </p:grpSpPr>
        <p:sp>
          <p:nvSpPr>
            <p:cNvPr id="165" name="圆角矩形 164"/>
            <p:cNvSpPr/>
            <p:nvPr/>
          </p:nvSpPr>
          <p:spPr>
            <a:xfrm rot="5400000">
              <a:off x="3637601" y="3875371"/>
              <a:ext cx="2759670" cy="8088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圆角矩形 172"/>
            <p:cNvSpPr/>
            <p:nvPr/>
          </p:nvSpPr>
          <p:spPr>
            <a:xfrm>
              <a:off x="4710217" y="3110453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圆角矩形 170"/>
            <p:cNvSpPr/>
            <p:nvPr/>
          </p:nvSpPr>
          <p:spPr>
            <a:xfrm>
              <a:off x="4708580" y="3949537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圆角矩形 168"/>
            <p:cNvSpPr/>
            <p:nvPr/>
          </p:nvSpPr>
          <p:spPr>
            <a:xfrm>
              <a:off x="4720535" y="4826814"/>
              <a:ext cx="598987" cy="5984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75" name="直線單箭頭接點 10"/>
          <p:cNvCxnSpPr/>
          <p:nvPr/>
        </p:nvCxnSpPr>
        <p:spPr>
          <a:xfrm flipV="1">
            <a:off x="7307796" y="3078660"/>
            <a:ext cx="861546" cy="70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0"/>
          <p:cNvCxnSpPr/>
          <p:nvPr/>
        </p:nvCxnSpPr>
        <p:spPr>
          <a:xfrm flipV="1">
            <a:off x="7306156" y="3932175"/>
            <a:ext cx="863186" cy="21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0"/>
          <p:cNvCxnSpPr/>
          <p:nvPr/>
        </p:nvCxnSpPr>
        <p:spPr>
          <a:xfrm>
            <a:off x="7306155" y="4784001"/>
            <a:ext cx="863187" cy="16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/>
          <p:cNvSpPr/>
          <p:nvPr/>
        </p:nvSpPr>
        <p:spPr>
          <a:xfrm>
            <a:off x="2299646" y="3506497"/>
            <a:ext cx="493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2236696" y="4370086"/>
            <a:ext cx="5981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0" name="直線單箭頭接點 10"/>
          <p:cNvCxnSpPr/>
          <p:nvPr/>
        </p:nvCxnSpPr>
        <p:spPr>
          <a:xfrm flipV="1">
            <a:off x="3680531" y="3082165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0"/>
          <p:cNvCxnSpPr/>
          <p:nvPr/>
        </p:nvCxnSpPr>
        <p:spPr>
          <a:xfrm flipV="1">
            <a:off x="3693881" y="3921650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0"/>
          <p:cNvCxnSpPr/>
          <p:nvPr/>
        </p:nvCxnSpPr>
        <p:spPr>
          <a:xfrm flipV="1">
            <a:off x="3705352" y="4759616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0"/>
          <p:cNvCxnSpPr/>
          <p:nvPr/>
        </p:nvCxnSpPr>
        <p:spPr>
          <a:xfrm flipV="1">
            <a:off x="5623765" y="3069759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0"/>
          <p:cNvCxnSpPr/>
          <p:nvPr/>
        </p:nvCxnSpPr>
        <p:spPr>
          <a:xfrm flipV="1">
            <a:off x="5611581" y="3934350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0"/>
          <p:cNvCxnSpPr/>
          <p:nvPr/>
        </p:nvCxnSpPr>
        <p:spPr>
          <a:xfrm flipV="1">
            <a:off x="5623052" y="4772316"/>
            <a:ext cx="1028088" cy="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/>
          <p:cNvSpPr/>
          <p:nvPr/>
        </p:nvSpPr>
        <p:spPr>
          <a:xfrm>
            <a:off x="8100752" y="2887449"/>
            <a:ext cx="73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0.88</a:t>
            </a:r>
            <a:endParaRPr lang="zh-TW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8112419" y="3712251"/>
            <a:ext cx="73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0.12</a:t>
            </a:r>
            <a:endParaRPr lang="zh-TW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8191761" y="4561864"/>
            <a:ext cx="793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≈0</a:t>
            </a:r>
            <a:endParaRPr lang="zh-TW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曲线连接符 48"/>
          <p:cNvCxnSpPr>
            <a:stCxn id="98" idx="6"/>
            <a:endCxn id="91" idx="2"/>
          </p:cNvCxnSpPr>
          <p:nvPr/>
        </p:nvCxnSpPr>
        <p:spPr>
          <a:xfrm>
            <a:off x="3544728" y="3091360"/>
            <a:ext cx="996750" cy="298982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曲线连接符 186"/>
          <p:cNvCxnSpPr>
            <a:stCxn id="72" idx="6"/>
            <a:endCxn id="91" idx="2"/>
          </p:cNvCxnSpPr>
          <p:nvPr/>
        </p:nvCxnSpPr>
        <p:spPr>
          <a:xfrm>
            <a:off x="3544728" y="3944875"/>
            <a:ext cx="996750" cy="213631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曲线连接符 187"/>
          <p:cNvCxnSpPr>
            <a:stCxn id="73" idx="6"/>
            <a:endCxn id="91" idx="2"/>
          </p:cNvCxnSpPr>
          <p:nvPr/>
        </p:nvCxnSpPr>
        <p:spPr>
          <a:xfrm>
            <a:off x="3544728" y="4798390"/>
            <a:ext cx="996750" cy="128279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曲线连接符 188"/>
          <p:cNvCxnSpPr>
            <a:stCxn id="117" idx="3"/>
            <a:endCxn id="156" idx="2"/>
          </p:cNvCxnSpPr>
          <p:nvPr/>
        </p:nvCxnSpPr>
        <p:spPr>
          <a:xfrm flipV="1">
            <a:off x="6046101" y="3079151"/>
            <a:ext cx="649830" cy="3017584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曲线连接符 192"/>
          <p:cNvCxnSpPr>
            <a:stCxn id="117" idx="3"/>
            <a:endCxn id="159" idx="2"/>
          </p:cNvCxnSpPr>
          <p:nvPr/>
        </p:nvCxnSpPr>
        <p:spPr>
          <a:xfrm flipV="1">
            <a:off x="6046101" y="3955451"/>
            <a:ext cx="649830" cy="2141284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曲线连接符 203"/>
          <p:cNvCxnSpPr>
            <a:stCxn id="117" idx="3"/>
            <a:endCxn id="162" idx="2"/>
          </p:cNvCxnSpPr>
          <p:nvPr/>
        </p:nvCxnSpPr>
        <p:spPr>
          <a:xfrm flipV="1">
            <a:off x="6046101" y="4831751"/>
            <a:ext cx="662530" cy="1264984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  <p:bldP spid="141" grpId="0"/>
      <p:bldP spid="144" grpId="0"/>
      <p:bldP spid="145" grpId="0"/>
      <p:bldP spid="146" grpId="0"/>
      <p:bldP spid="178" grpId="0"/>
      <p:bldP spid="179" grpId="0"/>
      <p:bldP spid="147" grpId="0"/>
      <p:bldP spid="148" grpId="0"/>
      <p:bldP spid="18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1" y="1435141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938399" y="1419438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应用示例：手写体识别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文字方塊 55"/>
          <p:cNvSpPr txBox="1"/>
          <p:nvPr/>
        </p:nvSpPr>
        <p:spPr>
          <a:xfrm>
            <a:off x="472125" y="5761109"/>
            <a:ext cx="822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设置合适的网络结构：层数和结点个数、激活函数</a:t>
            </a:r>
            <a:endParaRPr lang="zh-TW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676900" y="477529"/>
            <a:ext cx="5199647" cy="1826408"/>
          </a:xfrm>
          <a:prstGeom prst="wedgeRoundRectCallout">
            <a:avLst>
              <a:gd name="adj1" fmla="val -45277"/>
              <a:gd name="adj2" fmla="val 614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问题：应该设置多少层，多少结点？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是否需要选择其他网络结构如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CNN/RNN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92" name="矩形 91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35630" y="2477506"/>
            <a:ext cx="9707008" cy="3149573"/>
            <a:chOff x="386130" y="2477506"/>
            <a:chExt cx="9707008" cy="3149573"/>
          </a:xfrm>
        </p:grpSpPr>
        <p:grpSp>
          <p:nvGrpSpPr>
            <p:cNvPr id="3" name="组合 2"/>
            <p:cNvGrpSpPr/>
            <p:nvPr/>
          </p:nvGrpSpPr>
          <p:grpSpPr>
            <a:xfrm>
              <a:off x="9221458" y="2973011"/>
              <a:ext cx="871680" cy="2652571"/>
              <a:chOff x="9221458" y="2973011"/>
              <a:chExt cx="871680" cy="2652571"/>
            </a:xfrm>
          </p:grpSpPr>
          <p:sp>
            <p:nvSpPr>
              <p:cNvPr id="259" name="矩形 258"/>
              <p:cNvSpPr/>
              <p:nvPr/>
            </p:nvSpPr>
            <p:spPr>
              <a:xfrm>
                <a:off x="9228611" y="2973011"/>
                <a:ext cx="864527" cy="26525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文字方塊 90"/>
              <p:cNvSpPr txBox="1"/>
              <p:nvPr/>
            </p:nvSpPr>
            <p:spPr>
              <a:xfrm>
                <a:off x="9221458" y="3086475"/>
                <a:ext cx="861633" cy="400110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 1</a:t>
                </a:r>
                <a:endParaRPr lang="zh-TW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文字方塊 91"/>
              <p:cNvSpPr txBox="1"/>
              <p:nvPr/>
            </p:nvSpPr>
            <p:spPr>
              <a:xfrm>
                <a:off x="9228767" y="3797421"/>
                <a:ext cx="847013" cy="400110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 2</a:t>
                </a:r>
                <a:endParaRPr lang="zh-TW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文字方塊 92"/>
              <p:cNvSpPr txBox="1"/>
              <p:nvPr/>
            </p:nvSpPr>
            <p:spPr>
              <a:xfrm>
                <a:off x="9238815" y="4920670"/>
                <a:ext cx="834766" cy="400110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 0</a:t>
                </a:r>
                <a:endParaRPr lang="zh-TW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文字方塊 93"/>
              <p:cNvSpPr txBox="1"/>
              <p:nvPr/>
            </p:nvSpPr>
            <p:spPr>
              <a:xfrm rot="5400000">
                <a:off x="9371510" y="4304095"/>
                <a:ext cx="769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1815151" y="2477506"/>
              <a:ext cx="7601685" cy="3149573"/>
              <a:chOff x="1782898" y="1852294"/>
              <a:chExt cx="8509628" cy="3525248"/>
            </a:xfrm>
          </p:grpSpPr>
          <p:cxnSp>
            <p:nvCxnSpPr>
              <p:cNvPr id="94" name="直線單箭頭接點 10"/>
              <p:cNvCxnSpPr/>
              <p:nvPr/>
            </p:nvCxnSpPr>
            <p:spPr>
              <a:xfrm>
                <a:off x="8424402" y="3501898"/>
                <a:ext cx="101859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11"/>
              <p:cNvCxnSpPr/>
              <p:nvPr/>
            </p:nvCxnSpPr>
            <p:spPr>
              <a:xfrm>
                <a:off x="8533718" y="4747788"/>
                <a:ext cx="90574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12"/>
              <p:cNvCxnSpPr/>
              <p:nvPr/>
            </p:nvCxnSpPr>
            <p:spPr>
              <a:xfrm>
                <a:off x="8400518" y="2723095"/>
                <a:ext cx="105037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 96"/>
              <p:cNvSpPr/>
              <p:nvPr/>
            </p:nvSpPr>
            <p:spPr>
              <a:xfrm>
                <a:off x="2284605" y="2383236"/>
                <a:ext cx="746342" cy="27268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橢圓 17"/>
              <p:cNvSpPr/>
              <p:nvPr/>
            </p:nvSpPr>
            <p:spPr>
              <a:xfrm>
                <a:off x="2381715" y="2464480"/>
                <a:ext cx="574158" cy="574158"/>
              </a:xfrm>
              <a:prstGeom prst="ellipse">
                <a:avLst/>
              </a:prstGeom>
              <a:solidFill>
                <a:srgbClr val="FBC9CC"/>
              </a:solidFill>
              <a:ln>
                <a:solidFill>
                  <a:srgbClr val="EB8E98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橢圓 18"/>
              <p:cNvSpPr/>
              <p:nvPr/>
            </p:nvSpPr>
            <p:spPr>
              <a:xfrm>
                <a:off x="2384057" y="3243050"/>
                <a:ext cx="574158" cy="574158"/>
              </a:xfrm>
              <a:prstGeom prst="ellipse">
                <a:avLst/>
              </a:prstGeom>
              <a:solidFill>
                <a:srgbClr val="FBC9CC"/>
              </a:solidFill>
              <a:ln>
                <a:solidFill>
                  <a:srgbClr val="EB8E98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橢圓 19"/>
              <p:cNvSpPr/>
              <p:nvPr/>
            </p:nvSpPr>
            <p:spPr>
              <a:xfrm>
                <a:off x="2372424" y="4471062"/>
                <a:ext cx="574158" cy="574158"/>
              </a:xfrm>
              <a:prstGeom prst="ellipse">
                <a:avLst/>
              </a:prstGeom>
              <a:solidFill>
                <a:srgbClr val="FBC9CC"/>
              </a:solidFill>
              <a:ln>
                <a:solidFill>
                  <a:srgbClr val="EB8E98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文字方塊 20"/>
              <p:cNvSpPr txBox="1"/>
              <p:nvPr/>
            </p:nvSpPr>
            <p:spPr>
              <a:xfrm rot="5400000">
                <a:off x="2369676" y="3896562"/>
                <a:ext cx="769257" cy="5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3901591" y="1852294"/>
                <a:ext cx="746342" cy="35235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橢圓 24"/>
              <p:cNvSpPr/>
              <p:nvPr/>
            </p:nvSpPr>
            <p:spPr>
              <a:xfrm>
                <a:off x="3988677" y="2725733"/>
                <a:ext cx="574158" cy="574158"/>
              </a:xfrm>
              <a:prstGeom prst="ellipse">
                <a:avLst/>
              </a:prstGeom>
              <a:solidFill>
                <a:srgbClr val="B0E8B9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橢圓 25"/>
              <p:cNvSpPr/>
              <p:nvPr/>
            </p:nvSpPr>
            <p:spPr>
              <a:xfrm>
                <a:off x="3991019" y="3504303"/>
                <a:ext cx="574158" cy="574158"/>
              </a:xfrm>
              <a:prstGeom prst="ellipse">
                <a:avLst/>
              </a:prstGeom>
              <a:solidFill>
                <a:srgbClr val="B0E8B9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橢圓 26"/>
              <p:cNvSpPr/>
              <p:nvPr/>
            </p:nvSpPr>
            <p:spPr>
              <a:xfrm>
                <a:off x="3979386" y="4732315"/>
                <a:ext cx="574158" cy="574158"/>
              </a:xfrm>
              <a:prstGeom prst="ellipse">
                <a:avLst/>
              </a:prstGeom>
              <a:solidFill>
                <a:srgbClr val="B0E8B9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文字方塊 27"/>
              <p:cNvSpPr txBox="1"/>
              <p:nvPr/>
            </p:nvSpPr>
            <p:spPr>
              <a:xfrm rot="5400000">
                <a:off x="3976639" y="4157815"/>
                <a:ext cx="769257" cy="516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8037595" y="2383235"/>
                <a:ext cx="746342" cy="27461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橢圓 28"/>
              <p:cNvSpPr/>
              <p:nvPr/>
            </p:nvSpPr>
            <p:spPr>
              <a:xfrm>
                <a:off x="8113439" y="2445372"/>
                <a:ext cx="574158" cy="574158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橢圓 29"/>
              <p:cNvSpPr/>
              <p:nvPr/>
            </p:nvSpPr>
            <p:spPr>
              <a:xfrm>
                <a:off x="8115781" y="3205281"/>
                <a:ext cx="574158" cy="574158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橢圓 30"/>
              <p:cNvSpPr/>
              <p:nvPr/>
            </p:nvSpPr>
            <p:spPr>
              <a:xfrm>
                <a:off x="8122809" y="4451954"/>
                <a:ext cx="574158" cy="574158"/>
              </a:xfrm>
              <a:prstGeom prst="ellipse">
                <a:avLst/>
              </a:prstGeom>
              <a:solidFill>
                <a:srgbClr val="51756B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文字方塊 31"/>
              <p:cNvSpPr txBox="1"/>
              <p:nvPr/>
            </p:nvSpPr>
            <p:spPr>
              <a:xfrm rot="5400000">
                <a:off x="8120062" y="3874291"/>
                <a:ext cx="769257" cy="5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文字方塊 32"/>
              <p:cNvSpPr txBox="1"/>
              <p:nvPr/>
            </p:nvSpPr>
            <p:spPr>
              <a:xfrm>
                <a:off x="6238035" y="1912984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文字方塊 33"/>
              <p:cNvSpPr txBox="1"/>
              <p:nvPr/>
            </p:nvSpPr>
            <p:spPr>
              <a:xfrm>
                <a:off x="6237085" y="2669407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文字方塊 34"/>
              <p:cNvSpPr txBox="1"/>
              <p:nvPr/>
            </p:nvSpPr>
            <p:spPr>
              <a:xfrm>
                <a:off x="6265083" y="4671800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5" name="直線單箭頭接點 35"/>
              <p:cNvCxnSpPr>
                <a:stCxn id="98" idx="6"/>
                <a:endCxn id="103" idx="2"/>
              </p:cNvCxnSpPr>
              <p:nvPr/>
            </p:nvCxnSpPr>
            <p:spPr>
              <a:xfrm>
                <a:off x="2945981" y="2732205"/>
                <a:ext cx="1032804" cy="2612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單箭頭接點 36"/>
              <p:cNvCxnSpPr/>
              <p:nvPr/>
            </p:nvCxnSpPr>
            <p:spPr>
              <a:xfrm>
                <a:off x="2955873" y="3530129"/>
                <a:ext cx="1011125" cy="2806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單箭頭接點 37"/>
              <p:cNvCxnSpPr/>
              <p:nvPr/>
            </p:nvCxnSpPr>
            <p:spPr>
              <a:xfrm>
                <a:off x="2955873" y="4747788"/>
                <a:ext cx="1015362" cy="2405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單箭頭接點 38"/>
              <p:cNvCxnSpPr>
                <a:stCxn id="99" idx="6"/>
                <a:endCxn id="103" idx="2"/>
              </p:cNvCxnSpPr>
              <p:nvPr/>
            </p:nvCxnSpPr>
            <p:spPr>
              <a:xfrm flipV="1">
                <a:off x="2948323" y="2993458"/>
                <a:ext cx="1030462" cy="5173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單箭頭接點 39"/>
              <p:cNvCxnSpPr>
                <a:stCxn id="98" idx="6"/>
                <a:endCxn id="104" idx="2"/>
              </p:cNvCxnSpPr>
              <p:nvPr/>
            </p:nvCxnSpPr>
            <p:spPr>
              <a:xfrm>
                <a:off x="2945981" y="2732205"/>
                <a:ext cx="1035146" cy="10398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單箭頭接點 40"/>
              <p:cNvCxnSpPr>
                <a:stCxn id="98" idx="6"/>
                <a:endCxn id="105" idx="2"/>
              </p:cNvCxnSpPr>
              <p:nvPr/>
            </p:nvCxnSpPr>
            <p:spPr>
              <a:xfrm>
                <a:off x="2945981" y="2732205"/>
                <a:ext cx="1023513" cy="22678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單箭頭接點 41"/>
              <p:cNvCxnSpPr>
                <a:stCxn id="99" idx="6"/>
                <a:endCxn id="105" idx="2"/>
              </p:cNvCxnSpPr>
              <p:nvPr/>
            </p:nvCxnSpPr>
            <p:spPr>
              <a:xfrm>
                <a:off x="2948323" y="3510775"/>
                <a:ext cx="1021171" cy="148926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單箭頭接點 42"/>
              <p:cNvCxnSpPr>
                <a:stCxn id="100" idx="6"/>
                <a:endCxn id="103" idx="2"/>
              </p:cNvCxnSpPr>
              <p:nvPr/>
            </p:nvCxnSpPr>
            <p:spPr>
              <a:xfrm flipV="1">
                <a:off x="2936690" y="2993458"/>
                <a:ext cx="1042095" cy="17453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單箭頭接點 43"/>
              <p:cNvCxnSpPr>
                <a:stCxn id="100" idx="6"/>
                <a:endCxn id="104" idx="2"/>
              </p:cNvCxnSpPr>
              <p:nvPr/>
            </p:nvCxnSpPr>
            <p:spPr>
              <a:xfrm flipV="1">
                <a:off x="2936690" y="3772028"/>
                <a:ext cx="1044437" cy="9667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文字方塊 53"/>
              <p:cNvSpPr txBox="1"/>
              <p:nvPr/>
            </p:nvSpPr>
            <p:spPr>
              <a:xfrm rot="5400000">
                <a:off x="9393080" y="3905263"/>
                <a:ext cx="769257" cy="5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文字方塊 54"/>
              <p:cNvSpPr txBox="1"/>
              <p:nvPr/>
            </p:nvSpPr>
            <p:spPr>
              <a:xfrm>
                <a:off x="9462173" y="2383235"/>
                <a:ext cx="631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en-US" altLang="zh-TW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文字方塊 55"/>
              <p:cNvSpPr txBox="1"/>
              <p:nvPr/>
            </p:nvSpPr>
            <p:spPr>
              <a:xfrm>
                <a:off x="9450890" y="3181455"/>
                <a:ext cx="631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en-US" altLang="zh-TW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字方塊 56"/>
              <p:cNvSpPr txBox="1"/>
              <p:nvPr/>
            </p:nvSpPr>
            <p:spPr>
              <a:xfrm>
                <a:off x="9450888" y="4447687"/>
                <a:ext cx="841638" cy="585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en-US" altLang="zh-TW" sz="2800" baseline="-25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橢圓 24"/>
              <p:cNvSpPr/>
              <p:nvPr/>
            </p:nvSpPr>
            <p:spPr>
              <a:xfrm>
                <a:off x="3988677" y="1947020"/>
                <a:ext cx="574158" cy="574158"/>
              </a:xfrm>
              <a:prstGeom prst="ellipse">
                <a:avLst/>
              </a:prstGeom>
              <a:solidFill>
                <a:srgbClr val="B0E8B9"/>
              </a:solidFill>
              <a:ln>
                <a:solidFill>
                  <a:srgbClr val="6EBF9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9" name="直線單箭頭接點 35"/>
              <p:cNvCxnSpPr>
                <a:endCxn id="98" idx="2"/>
              </p:cNvCxnSpPr>
              <p:nvPr/>
            </p:nvCxnSpPr>
            <p:spPr>
              <a:xfrm>
                <a:off x="1815151" y="2751559"/>
                <a:ext cx="56656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單箭頭接點 35"/>
              <p:cNvCxnSpPr/>
              <p:nvPr/>
            </p:nvCxnSpPr>
            <p:spPr>
              <a:xfrm>
                <a:off x="1805860" y="3530129"/>
                <a:ext cx="56656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單箭頭接點 35"/>
              <p:cNvCxnSpPr/>
              <p:nvPr/>
            </p:nvCxnSpPr>
            <p:spPr>
              <a:xfrm>
                <a:off x="1805860" y="4762973"/>
                <a:ext cx="56656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文字方塊 54"/>
              <p:cNvSpPr txBox="1"/>
              <p:nvPr/>
            </p:nvSpPr>
            <p:spPr>
              <a:xfrm>
                <a:off x="1799464" y="2219156"/>
                <a:ext cx="631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TW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字方塊 54"/>
              <p:cNvSpPr txBox="1"/>
              <p:nvPr/>
            </p:nvSpPr>
            <p:spPr>
              <a:xfrm>
                <a:off x="1782898" y="2993107"/>
                <a:ext cx="631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文字方塊 54"/>
              <p:cNvSpPr txBox="1"/>
              <p:nvPr/>
            </p:nvSpPr>
            <p:spPr>
              <a:xfrm>
                <a:off x="1794623" y="4213488"/>
                <a:ext cx="6310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8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endParaRPr lang="zh-TW" altLang="en-US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5" name="直線單箭頭接點 35"/>
              <p:cNvCxnSpPr>
                <a:endCxn id="128" idx="2"/>
              </p:cNvCxnSpPr>
              <p:nvPr/>
            </p:nvCxnSpPr>
            <p:spPr>
              <a:xfrm flipV="1">
                <a:off x="3015916" y="2234099"/>
                <a:ext cx="972761" cy="48899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單箭頭接點 38"/>
              <p:cNvCxnSpPr/>
              <p:nvPr/>
            </p:nvCxnSpPr>
            <p:spPr>
              <a:xfrm flipV="1">
                <a:off x="2955873" y="2234099"/>
                <a:ext cx="1022912" cy="12960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單箭頭接點 38"/>
              <p:cNvCxnSpPr>
                <a:stCxn id="100" idx="6"/>
              </p:cNvCxnSpPr>
              <p:nvPr/>
            </p:nvCxnSpPr>
            <p:spPr>
              <a:xfrm flipV="1">
                <a:off x="2946582" y="2234099"/>
                <a:ext cx="1032203" cy="252404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/>
            </p:nvSpPr>
            <p:spPr>
              <a:xfrm>
                <a:off x="5500947" y="1853968"/>
                <a:ext cx="746342" cy="35235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橢圓 24"/>
              <p:cNvSpPr/>
              <p:nvPr/>
            </p:nvSpPr>
            <p:spPr>
              <a:xfrm>
                <a:off x="5588033" y="2727407"/>
                <a:ext cx="574158" cy="574158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橢圓 25"/>
              <p:cNvSpPr/>
              <p:nvPr/>
            </p:nvSpPr>
            <p:spPr>
              <a:xfrm>
                <a:off x="5590375" y="3505977"/>
                <a:ext cx="574158" cy="574158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橢圓 26"/>
              <p:cNvSpPr/>
              <p:nvPr/>
            </p:nvSpPr>
            <p:spPr>
              <a:xfrm>
                <a:off x="5578742" y="4733989"/>
                <a:ext cx="574158" cy="574158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文字方塊 27"/>
              <p:cNvSpPr txBox="1"/>
              <p:nvPr/>
            </p:nvSpPr>
            <p:spPr>
              <a:xfrm rot="5400000">
                <a:off x="5575995" y="4159490"/>
                <a:ext cx="769257" cy="516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橢圓 24"/>
              <p:cNvSpPr/>
              <p:nvPr/>
            </p:nvSpPr>
            <p:spPr>
              <a:xfrm>
                <a:off x="5588033" y="1948694"/>
                <a:ext cx="574158" cy="574158"/>
              </a:xfrm>
              <a:prstGeom prst="ellipse">
                <a:avLst/>
              </a:prstGeom>
              <a:solidFill>
                <a:srgbClr val="6EBF96"/>
              </a:solidFill>
              <a:ln>
                <a:solidFill>
                  <a:srgbClr val="B0E8B9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4" name="组合 143"/>
              <p:cNvGrpSpPr/>
              <p:nvPr/>
            </p:nvGrpSpPr>
            <p:grpSpPr>
              <a:xfrm>
                <a:off x="4553544" y="2234099"/>
                <a:ext cx="1036831" cy="2792013"/>
                <a:chOff x="4553544" y="2234099"/>
                <a:chExt cx="1036831" cy="2792013"/>
              </a:xfrm>
            </p:grpSpPr>
            <p:cxnSp>
              <p:nvCxnSpPr>
                <p:cNvPr id="158" name="直線單箭頭接點 35"/>
                <p:cNvCxnSpPr>
                  <a:stCxn id="128" idx="6"/>
                  <a:endCxn id="143" idx="2"/>
                </p:cNvCxnSpPr>
                <p:nvPr/>
              </p:nvCxnSpPr>
              <p:spPr>
                <a:xfrm>
                  <a:off x="4562835" y="2234099"/>
                  <a:ext cx="1025198" cy="167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線單箭頭接點 35"/>
                <p:cNvCxnSpPr>
                  <a:stCxn id="128" idx="6"/>
                  <a:endCxn id="139" idx="2"/>
                </p:cNvCxnSpPr>
                <p:nvPr/>
              </p:nvCxnSpPr>
              <p:spPr>
                <a:xfrm>
                  <a:off x="4562835" y="2234099"/>
                  <a:ext cx="1025198" cy="78038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線單箭頭接點 35"/>
                <p:cNvCxnSpPr>
                  <a:stCxn id="128" idx="6"/>
                  <a:endCxn id="140" idx="2"/>
                </p:cNvCxnSpPr>
                <p:nvPr/>
              </p:nvCxnSpPr>
              <p:spPr>
                <a:xfrm>
                  <a:off x="4562835" y="2234099"/>
                  <a:ext cx="1027540" cy="155895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線單箭頭接點 35"/>
                <p:cNvCxnSpPr>
                  <a:endCxn id="141" idx="2"/>
                </p:cNvCxnSpPr>
                <p:nvPr/>
              </p:nvCxnSpPr>
              <p:spPr>
                <a:xfrm>
                  <a:off x="4589452" y="2287149"/>
                  <a:ext cx="989290" cy="2733919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線單箭頭接點 35"/>
                <p:cNvCxnSpPr>
                  <a:stCxn id="103" idx="6"/>
                  <a:endCxn id="143" idx="2"/>
                </p:cNvCxnSpPr>
                <p:nvPr/>
              </p:nvCxnSpPr>
              <p:spPr>
                <a:xfrm flipV="1">
                  <a:off x="4562835" y="2235773"/>
                  <a:ext cx="1025198" cy="777039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線單箭頭接點 35"/>
                <p:cNvCxnSpPr>
                  <a:stCxn id="103" idx="6"/>
                  <a:endCxn id="139" idx="2"/>
                </p:cNvCxnSpPr>
                <p:nvPr/>
              </p:nvCxnSpPr>
              <p:spPr>
                <a:xfrm>
                  <a:off x="4562835" y="3012812"/>
                  <a:ext cx="1025198" cy="167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線單箭頭接點 35"/>
                <p:cNvCxnSpPr>
                  <a:endCxn id="140" idx="2"/>
                </p:cNvCxnSpPr>
                <p:nvPr/>
              </p:nvCxnSpPr>
              <p:spPr>
                <a:xfrm>
                  <a:off x="4598743" y="3012812"/>
                  <a:ext cx="991632" cy="78024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線單箭頭接點 35"/>
                <p:cNvCxnSpPr>
                  <a:stCxn id="103" idx="6"/>
                  <a:endCxn id="141" idx="2"/>
                </p:cNvCxnSpPr>
                <p:nvPr/>
              </p:nvCxnSpPr>
              <p:spPr>
                <a:xfrm>
                  <a:off x="4562835" y="3012812"/>
                  <a:ext cx="1015907" cy="200825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線單箭頭接點 35"/>
                <p:cNvCxnSpPr>
                  <a:stCxn id="104" idx="6"/>
                </p:cNvCxnSpPr>
                <p:nvPr/>
              </p:nvCxnSpPr>
              <p:spPr>
                <a:xfrm flipV="1">
                  <a:off x="4565177" y="2276260"/>
                  <a:ext cx="1010214" cy="151512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線單箭頭接點 35"/>
                <p:cNvCxnSpPr>
                  <a:stCxn id="104" idx="6"/>
                </p:cNvCxnSpPr>
                <p:nvPr/>
              </p:nvCxnSpPr>
              <p:spPr>
                <a:xfrm flipV="1">
                  <a:off x="4565177" y="3054973"/>
                  <a:ext cx="1010214" cy="736409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直線單箭頭接點 35"/>
                <p:cNvCxnSpPr>
                  <a:stCxn id="104" idx="6"/>
                  <a:endCxn id="140" idx="2"/>
                </p:cNvCxnSpPr>
                <p:nvPr/>
              </p:nvCxnSpPr>
              <p:spPr>
                <a:xfrm>
                  <a:off x="4565177" y="3791382"/>
                  <a:ext cx="1025198" cy="167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直線單箭頭接點 35"/>
                <p:cNvCxnSpPr>
                  <a:stCxn id="104" idx="6"/>
                  <a:endCxn id="141" idx="2"/>
                </p:cNvCxnSpPr>
                <p:nvPr/>
              </p:nvCxnSpPr>
              <p:spPr>
                <a:xfrm>
                  <a:off x="4565177" y="3791382"/>
                  <a:ext cx="1013565" cy="122968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直線單箭頭接點 35"/>
                <p:cNvCxnSpPr>
                  <a:stCxn id="105" idx="6"/>
                  <a:endCxn id="143" idx="2"/>
                </p:cNvCxnSpPr>
                <p:nvPr/>
              </p:nvCxnSpPr>
              <p:spPr>
                <a:xfrm flipV="1">
                  <a:off x="4553544" y="2235773"/>
                  <a:ext cx="1034489" cy="278362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直線單箭頭接點 35"/>
                <p:cNvCxnSpPr>
                  <a:stCxn id="105" idx="6"/>
                </p:cNvCxnSpPr>
                <p:nvPr/>
              </p:nvCxnSpPr>
              <p:spPr>
                <a:xfrm flipV="1">
                  <a:off x="4553544" y="3089778"/>
                  <a:ext cx="1011553" cy="192961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直線單箭頭接點 35"/>
                <p:cNvCxnSpPr>
                  <a:stCxn id="105" idx="6"/>
                  <a:endCxn id="140" idx="2"/>
                </p:cNvCxnSpPr>
                <p:nvPr/>
              </p:nvCxnSpPr>
              <p:spPr>
                <a:xfrm flipV="1">
                  <a:off x="4553544" y="3793056"/>
                  <a:ext cx="1036831" cy="122633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直線單箭頭接點 35"/>
                <p:cNvCxnSpPr>
                  <a:endCxn id="141" idx="2"/>
                </p:cNvCxnSpPr>
                <p:nvPr/>
              </p:nvCxnSpPr>
              <p:spPr>
                <a:xfrm flipV="1">
                  <a:off x="4560493" y="5021068"/>
                  <a:ext cx="1018249" cy="504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5" name="文字方塊 33"/>
              <p:cNvSpPr txBox="1"/>
              <p:nvPr/>
            </p:nvSpPr>
            <p:spPr>
              <a:xfrm>
                <a:off x="6249214" y="3443065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6" name="直線單箭頭接點 35"/>
              <p:cNvCxnSpPr>
                <a:endCxn id="108" idx="2"/>
              </p:cNvCxnSpPr>
              <p:nvPr/>
            </p:nvCxnSpPr>
            <p:spPr>
              <a:xfrm>
                <a:off x="6976114" y="2255872"/>
                <a:ext cx="1137325" cy="4765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單箭頭接點 35"/>
              <p:cNvCxnSpPr>
                <a:endCxn id="109" idx="2"/>
              </p:cNvCxnSpPr>
              <p:nvPr/>
            </p:nvCxnSpPr>
            <p:spPr>
              <a:xfrm>
                <a:off x="6976114" y="2255872"/>
                <a:ext cx="1139667" cy="12364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線單箭頭接點 35"/>
              <p:cNvCxnSpPr>
                <a:endCxn id="110" idx="2"/>
              </p:cNvCxnSpPr>
              <p:nvPr/>
            </p:nvCxnSpPr>
            <p:spPr>
              <a:xfrm>
                <a:off x="6976114" y="2255872"/>
                <a:ext cx="1146695" cy="248316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單箭頭接點 35"/>
              <p:cNvCxnSpPr/>
              <p:nvPr/>
            </p:nvCxnSpPr>
            <p:spPr>
              <a:xfrm flipV="1">
                <a:off x="6976114" y="2731274"/>
                <a:ext cx="1100500" cy="3033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單箭頭接點 35"/>
              <p:cNvCxnSpPr>
                <a:endCxn id="109" idx="2"/>
              </p:cNvCxnSpPr>
              <p:nvPr/>
            </p:nvCxnSpPr>
            <p:spPr>
              <a:xfrm>
                <a:off x="7012022" y="3034585"/>
                <a:ext cx="1103759" cy="4577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單箭頭接點 35"/>
              <p:cNvCxnSpPr>
                <a:endCxn id="110" idx="2"/>
              </p:cNvCxnSpPr>
              <p:nvPr/>
            </p:nvCxnSpPr>
            <p:spPr>
              <a:xfrm>
                <a:off x="6976114" y="3034585"/>
                <a:ext cx="1146695" cy="170444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單箭頭接點 35"/>
              <p:cNvCxnSpPr>
                <a:endCxn id="108" idx="2"/>
              </p:cNvCxnSpPr>
              <p:nvPr/>
            </p:nvCxnSpPr>
            <p:spPr>
              <a:xfrm flipV="1">
                <a:off x="6978456" y="2732451"/>
                <a:ext cx="1134983" cy="10807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線單箭頭接點 35"/>
              <p:cNvCxnSpPr>
                <a:endCxn id="109" idx="2"/>
              </p:cNvCxnSpPr>
              <p:nvPr/>
            </p:nvCxnSpPr>
            <p:spPr>
              <a:xfrm flipV="1">
                <a:off x="6978456" y="3492360"/>
                <a:ext cx="1137325" cy="32079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線單箭頭接點 35"/>
              <p:cNvCxnSpPr>
                <a:endCxn id="110" idx="2"/>
              </p:cNvCxnSpPr>
              <p:nvPr/>
            </p:nvCxnSpPr>
            <p:spPr>
              <a:xfrm>
                <a:off x="6978456" y="3813155"/>
                <a:ext cx="1144353" cy="925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線單箭頭接點 35"/>
              <p:cNvCxnSpPr>
                <a:endCxn id="108" idx="2"/>
              </p:cNvCxnSpPr>
              <p:nvPr/>
            </p:nvCxnSpPr>
            <p:spPr>
              <a:xfrm flipV="1">
                <a:off x="6966823" y="2732451"/>
                <a:ext cx="1146616" cy="23087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單箭頭接點 35"/>
              <p:cNvCxnSpPr>
                <a:endCxn id="110" idx="2"/>
              </p:cNvCxnSpPr>
              <p:nvPr/>
            </p:nvCxnSpPr>
            <p:spPr>
              <a:xfrm flipV="1">
                <a:off x="6966823" y="4739033"/>
                <a:ext cx="1155986" cy="302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線單箭頭接點 35"/>
              <p:cNvCxnSpPr>
                <a:endCxn id="109" idx="2"/>
              </p:cNvCxnSpPr>
              <p:nvPr/>
            </p:nvCxnSpPr>
            <p:spPr>
              <a:xfrm flipV="1">
                <a:off x="6966823" y="3492360"/>
                <a:ext cx="1148958" cy="1548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30" y="3206851"/>
              <a:ext cx="1363671" cy="1363671"/>
            </a:xfrm>
            <a:prstGeom prst="rect">
              <a:avLst/>
            </a:prstGeom>
          </p:spPr>
        </p:pic>
        <p:sp>
          <p:nvSpPr>
            <p:cNvPr id="258" name="文字方塊 54"/>
            <p:cNvSpPr txBox="1"/>
            <p:nvPr/>
          </p:nvSpPr>
          <p:spPr>
            <a:xfrm>
              <a:off x="863450" y="4643009"/>
              <a:ext cx="5637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88656" y="1526485"/>
            <a:ext cx="51144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2860" y="2055813"/>
            <a:ext cx="964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选择什么样的网络结构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选择多少层数，每层选择多少神经元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1377" y="3222660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72860" y="3734467"/>
            <a:ext cx="9647294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选择常用损失函数，平方误差，交叉熵</a:t>
            </a:r>
            <a:r>
              <a:rPr lang="en-US" altLang="zh-CN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3190867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3" y="1500285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5" y="4621569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31377" y="4645410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72860" y="5136051"/>
            <a:ext cx="96472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反向传播算法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70"/>
              <p:cNvSpPr txBox="1"/>
              <p:nvPr/>
            </p:nvSpPr>
            <p:spPr>
              <a:xfrm>
                <a:off x="7836682" y="3595258"/>
                <a:ext cx="830166" cy="369332"/>
              </a:xfrm>
              <a:prstGeom prst="rect">
                <a:avLst/>
              </a:prstGeom>
              <a:solidFill>
                <a:srgbClr val="EDF7D8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损失</a:t>
                </a:r>
                <a:r>
                  <a:rPr lang="en-US" altLang="zh-TW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en-US" altLang="zh-TW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682" y="3595258"/>
                <a:ext cx="83016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831" t="-8050" r="-5769" b="-18148"/>
                </a:stretch>
              </a:blip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" name="圖片 10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24689" y="2027451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3" name="文字方塊 102"/>
          <p:cNvSpPr txBox="1"/>
          <p:nvPr/>
        </p:nvSpPr>
        <p:spPr>
          <a:xfrm>
            <a:off x="5185746" y="2116512"/>
            <a:ext cx="654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“1”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4" name="圖片 10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50852" y="3978446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25" name="群組 10"/>
          <p:cNvGrpSpPr/>
          <p:nvPr/>
        </p:nvGrpSpPr>
        <p:grpSpPr>
          <a:xfrm>
            <a:off x="8645172" y="3002356"/>
            <a:ext cx="654489" cy="2625751"/>
            <a:chOff x="7996358" y="2461791"/>
            <a:chExt cx="654489" cy="2625052"/>
          </a:xfrm>
        </p:grpSpPr>
        <p:sp>
          <p:nvSpPr>
            <p:cNvPr id="126" name="矩形 125"/>
            <p:cNvSpPr/>
            <p:nvPr/>
          </p:nvSpPr>
          <p:spPr>
            <a:xfrm>
              <a:off x="8062418" y="2461791"/>
              <a:ext cx="498951" cy="262505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文字方塊 110"/>
            <p:cNvSpPr txBox="1"/>
            <p:nvPr/>
          </p:nvSpPr>
          <p:spPr>
            <a:xfrm rot="5400000">
              <a:off x="8013214" y="3965125"/>
              <a:ext cx="7692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文字方塊 111"/>
            <p:cNvSpPr txBox="1"/>
            <p:nvPr/>
          </p:nvSpPr>
          <p:spPr>
            <a:xfrm>
              <a:off x="8019778" y="2809425"/>
              <a:ext cx="631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文字方塊 112"/>
            <p:cNvSpPr txBox="1"/>
            <p:nvPr/>
          </p:nvSpPr>
          <p:spPr>
            <a:xfrm>
              <a:off x="8010309" y="3459095"/>
              <a:ext cx="631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文字方塊 113"/>
            <p:cNvSpPr txBox="1"/>
            <p:nvPr/>
          </p:nvSpPr>
          <p:spPr>
            <a:xfrm>
              <a:off x="7996358" y="4457481"/>
              <a:ext cx="631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1" name="左-右雙向箭號 114"/>
          <p:cNvSpPr/>
          <p:nvPr/>
        </p:nvSpPr>
        <p:spPr>
          <a:xfrm>
            <a:off x="7836682" y="4075804"/>
            <a:ext cx="793125" cy="35939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2" name="直線接點 14"/>
          <p:cNvCxnSpPr/>
          <p:nvPr/>
        </p:nvCxnSpPr>
        <p:spPr>
          <a:xfrm flipH="1">
            <a:off x="1621271" y="2354852"/>
            <a:ext cx="272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15"/>
          <p:cNvCxnSpPr/>
          <p:nvPr/>
        </p:nvCxnSpPr>
        <p:spPr>
          <a:xfrm flipH="1">
            <a:off x="5982268" y="2378122"/>
            <a:ext cx="29872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7"/>
          <p:cNvCxnSpPr/>
          <p:nvPr/>
        </p:nvCxnSpPr>
        <p:spPr>
          <a:xfrm>
            <a:off x="1610852" y="2387451"/>
            <a:ext cx="0" cy="1480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17"/>
          <p:cNvCxnSpPr/>
          <p:nvPr/>
        </p:nvCxnSpPr>
        <p:spPr>
          <a:xfrm>
            <a:off x="8969564" y="2387451"/>
            <a:ext cx="0" cy="5817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字方塊 116"/>
          <p:cNvSpPr txBox="1"/>
          <p:nvPr/>
        </p:nvSpPr>
        <p:spPr>
          <a:xfrm>
            <a:off x="1586704" y="5740983"/>
            <a:ext cx="714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常用损失函数：平方损失函数、交叉熵损失函数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8607932" y="5710398"/>
            <a:ext cx="80021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字方塊 68"/>
          <p:cNvSpPr txBox="1"/>
          <p:nvPr/>
        </p:nvSpPr>
        <p:spPr>
          <a:xfrm>
            <a:off x="7873596" y="4518393"/>
            <a:ext cx="809582" cy="584775"/>
          </a:xfrm>
          <a:prstGeom prst="rect">
            <a:avLst/>
          </a:prstGeom>
          <a:solidFill>
            <a:srgbClr val="EDF7D8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尽可能接近</a:t>
            </a:r>
            <a:endParaRPr lang="en-US" altLang="zh-TW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3880554" y="1226567"/>
            <a:ext cx="5323089" cy="589819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049534" y="1327580"/>
            <a:ext cx="52896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好的参数使得所有训练数据的损失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越小越好</a:t>
            </a:r>
          </a:p>
        </p:txBody>
      </p:sp>
      <p:sp>
        <p:nvSpPr>
          <p:cNvPr id="78" name="矩形 77"/>
          <p:cNvSpPr/>
          <p:nvPr/>
        </p:nvSpPr>
        <p:spPr>
          <a:xfrm>
            <a:off x="1496947" y="400051"/>
            <a:ext cx="38611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</a:p>
        </p:txBody>
      </p:sp>
      <p:grpSp>
        <p:nvGrpSpPr>
          <p:cNvPr id="149" name="组合 148"/>
          <p:cNvGrpSpPr/>
          <p:nvPr/>
        </p:nvGrpSpPr>
        <p:grpSpPr>
          <a:xfrm>
            <a:off x="2075684" y="2861302"/>
            <a:ext cx="6002753" cy="2823732"/>
            <a:chOff x="2284605" y="1852294"/>
            <a:chExt cx="7360454" cy="3525248"/>
          </a:xfrm>
        </p:grpSpPr>
        <p:cxnSp>
          <p:nvCxnSpPr>
            <p:cNvPr id="155" name="直線單箭頭接點 10"/>
            <p:cNvCxnSpPr/>
            <p:nvPr/>
          </p:nvCxnSpPr>
          <p:spPr>
            <a:xfrm>
              <a:off x="7776931" y="3501898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單箭頭接點 11"/>
            <p:cNvCxnSpPr/>
            <p:nvPr/>
          </p:nvCxnSpPr>
          <p:spPr>
            <a:xfrm>
              <a:off x="7776931" y="4747789"/>
              <a:ext cx="10150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單箭頭接點 12"/>
            <p:cNvCxnSpPr/>
            <p:nvPr/>
          </p:nvCxnSpPr>
          <p:spPr>
            <a:xfrm>
              <a:off x="7753048" y="2723095"/>
              <a:ext cx="105037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矩形 157"/>
            <p:cNvSpPr/>
            <p:nvPr/>
          </p:nvSpPr>
          <p:spPr>
            <a:xfrm>
              <a:off x="2284605" y="2383236"/>
              <a:ext cx="746342" cy="27268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橢圓 17"/>
            <p:cNvSpPr/>
            <p:nvPr/>
          </p:nvSpPr>
          <p:spPr>
            <a:xfrm>
              <a:off x="2381715" y="246448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橢圓 18"/>
            <p:cNvSpPr/>
            <p:nvPr/>
          </p:nvSpPr>
          <p:spPr>
            <a:xfrm>
              <a:off x="2384057" y="324305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橢圓 19"/>
            <p:cNvSpPr/>
            <p:nvPr/>
          </p:nvSpPr>
          <p:spPr>
            <a:xfrm>
              <a:off x="2372424" y="4471062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文字方塊 20"/>
            <p:cNvSpPr txBox="1"/>
            <p:nvPr/>
          </p:nvSpPr>
          <p:spPr>
            <a:xfrm rot="5400000">
              <a:off x="2369676" y="3926548"/>
              <a:ext cx="769257" cy="456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3901591" y="1852294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橢圓 24"/>
            <p:cNvSpPr/>
            <p:nvPr/>
          </p:nvSpPr>
          <p:spPr>
            <a:xfrm>
              <a:off x="3988677" y="272573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橢圓 25"/>
            <p:cNvSpPr/>
            <p:nvPr/>
          </p:nvSpPr>
          <p:spPr>
            <a:xfrm>
              <a:off x="3991019" y="350430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橢圓 26"/>
            <p:cNvSpPr/>
            <p:nvPr/>
          </p:nvSpPr>
          <p:spPr>
            <a:xfrm>
              <a:off x="3979386" y="4732315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文字方塊 27"/>
            <p:cNvSpPr txBox="1"/>
            <p:nvPr/>
          </p:nvSpPr>
          <p:spPr>
            <a:xfrm rot="5400000">
              <a:off x="3976639" y="4187802"/>
              <a:ext cx="769257" cy="4568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文字方塊 32"/>
            <p:cNvSpPr txBox="1"/>
            <p:nvPr/>
          </p:nvSpPr>
          <p:spPr>
            <a:xfrm>
              <a:off x="6238035" y="1912984"/>
              <a:ext cx="769257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文字方塊 33"/>
            <p:cNvSpPr txBox="1"/>
            <p:nvPr/>
          </p:nvSpPr>
          <p:spPr>
            <a:xfrm>
              <a:off x="6237085" y="2669407"/>
              <a:ext cx="769257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文字方塊 34"/>
            <p:cNvSpPr txBox="1"/>
            <p:nvPr/>
          </p:nvSpPr>
          <p:spPr>
            <a:xfrm>
              <a:off x="6265082" y="4671800"/>
              <a:ext cx="769257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1" name="直線單箭頭接點 35"/>
            <p:cNvCxnSpPr>
              <a:stCxn id="159" idx="6"/>
              <a:endCxn id="164" idx="2"/>
            </p:cNvCxnSpPr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單箭頭接點 38"/>
            <p:cNvCxnSpPr>
              <a:stCxn id="160" idx="6"/>
              <a:endCxn id="164" idx="2"/>
            </p:cNvCxnSpPr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線單箭頭接點 39"/>
            <p:cNvCxnSpPr>
              <a:stCxn id="159" idx="6"/>
              <a:endCxn id="165" idx="2"/>
            </p:cNvCxnSpPr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單箭頭接點 40"/>
            <p:cNvCxnSpPr>
              <a:stCxn id="159" idx="6"/>
              <a:endCxn id="166" idx="2"/>
            </p:cNvCxnSpPr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單箭頭接點 41"/>
            <p:cNvCxnSpPr>
              <a:stCxn id="160" idx="6"/>
              <a:endCxn id="166" idx="2"/>
            </p:cNvCxnSpPr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單箭頭接點 42"/>
            <p:cNvCxnSpPr>
              <a:stCxn id="161" idx="6"/>
              <a:endCxn id="164" idx="2"/>
            </p:cNvCxnSpPr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單箭頭接點 43"/>
            <p:cNvCxnSpPr>
              <a:stCxn id="161" idx="6"/>
              <a:endCxn id="165" idx="2"/>
            </p:cNvCxnSpPr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字方塊 53"/>
            <p:cNvSpPr txBox="1"/>
            <p:nvPr/>
          </p:nvSpPr>
          <p:spPr>
            <a:xfrm rot="5400000">
              <a:off x="8745610" y="3954284"/>
              <a:ext cx="769257" cy="418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文字方塊 54"/>
            <p:cNvSpPr txBox="1"/>
            <p:nvPr/>
          </p:nvSpPr>
          <p:spPr>
            <a:xfrm>
              <a:off x="8814703" y="2383234"/>
              <a:ext cx="631069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文字方塊 55"/>
            <p:cNvSpPr txBox="1"/>
            <p:nvPr/>
          </p:nvSpPr>
          <p:spPr>
            <a:xfrm>
              <a:off x="8803421" y="3181455"/>
              <a:ext cx="631069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文字方塊 56"/>
            <p:cNvSpPr txBox="1"/>
            <p:nvPr/>
          </p:nvSpPr>
          <p:spPr>
            <a:xfrm>
              <a:off x="8803421" y="4447687"/>
              <a:ext cx="841638" cy="499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橢圓 24"/>
            <p:cNvSpPr/>
            <p:nvPr/>
          </p:nvSpPr>
          <p:spPr>
            <a:xfrm>
              <a:off x="3988677" y="1947020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文字方塊 54"/>
            <p:cNvSpPr txBox="1"/>
            <p:nvPr/>
          </p:nvSpPr>
          <p:spPr>
            <a:xfrm>
              <a:off x="2462725" y="2476413"/>
              <a:ext cx="631070" cy="499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TW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文字方塊 54"/>
            <p:cNvSpPr txBox="1"/>
            <p:nvPr/>
          </p:nvSpPr>
          <p:spPr>
            <a:xfrm>
              <a:off x="2430364" y="3282522"/>
              <a:ext cx="631070" cy="499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文字方塊 54"/>
            <p:cNvSpPr txBox="1"/>
            <p:nvPr/>
          </p:nvSpPr>
          <p:spPr>
            <a:xfrm>
              <a:off x="2315754" y="4486824"/>
              <a:ext cx="1089435" cy="499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256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8" name="直線單箭頭接點 35"/>
            <p:cNvCxnSpPr>
              <a:endCxn id="184" idx="2"/>
            </p:cNvCxnSpPr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單箭頭接點 38"/>
            <p:cNvCxnSpPr>
              <a:stCxn id="161" idx="6"/>
            </p:cNvCxnSpPr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矩形 190"/>
            <p:cNvSpPr/>
            <p:nvPr/>
          </p:nvSpPr>
          <p:spPr>
            <a:xfrm>
              <a:off x="5500947" y="1853968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橢圓 24"/>
            <p:cNvSpPr/>
            <p:nvPr/>
          </p:nvSpPr>
          <p:spPr>
            <a:xfrm>
              <a:off x="5588033" y="272740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橢圓 25"/>
            <p:cNvSpPr/>
            <p:nvPr/>
          </p:nvSpPr>
          <p:spPr>
            <a:xfrm>
              <a:off x="5590375" y="350597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橢圓 26"/>
            <p:cNvSpPr/>
            <p:nvPr/>
          </p:nvSpPr>
          <p:spPr>
            <a:xfrm>
              <a:off x="5578742" y="4733989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文字方塊 27"/>
            <p:cNvSpPr txBox="1"/>
            <p:nvPr/>
          </p:nvSpPr>
          <p:spPr>
            <a:xfrm rot="5400000">
              <a:off x="5575995" y="4189476"/>
              <a:ext cx="769257" cy="4568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橢圓 24"/>
            <p:cNvSpPr/>
            <p:nvPr/>
          </p:nvSpPr>
          <p:spPr>
            <a:xfrm>
              <a:off x="5588033" y="1948694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7" name="组合 196"/>
            <p:cNvGrpSpPr/>
            <p:nvPr/>
          </p:nvGrpSpPr>
          <p:grpSpPr>
            <a:xfrm>
              <a:off x="4553544" y="2234099"/>
              <a:ext cx="1036831" cy="2792013"/>
              <a:chOff x="4553544" y="2234099"/>
              <a:chExt cx="1036831" cy="2792013"/>
            </a:xfrm>
          </p:grpSpPr>
          <p:cxnSp>
            <p:nvCxnSpPr>
              <p:cNvPr id="199" name="直線單箭頭接點 35"/>
              <p:cNvCxnSpPr>
                <a:stCxn id="184" idx="6"/>
                <a:endCxn id="196" idx="2"/>
              </p:cNvCxnSpPr>
              <p:nvPr/>
            </p:nvCxnSpPr>
            <p:spPr>
              <a:xfrm>
                <a:off x="4562835" y="2234099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線單箭頭接點 35"/>
              <p:cNvCxnSpPr>
                <a:stCxn id="184" idx="6"/>
                <a:endCxn id="192" idx="2"/>
              </p:cNvCxnSpPr>
              <p:nvPr/>
            </p:nvCxnSpPr>
            <p:spPr>
              <a:xfrm>
                <a:off x="4562835" y="2234099"/>
                <a:ext cx="1025198" cy="7803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單箭頭接點 35"/>
              <p:cNvCxnSpPr>
                <a:stCxn id="184" idx="6"/>
                <a:endCxn id="193" idx="2"/>
              </p:cNvCxnSpPr>
              <p:nvPr/>
            </p:nvCxnSpPr>
            <p:spPr>
              <a:xfrm>
                <a:off x="4562835" y="2234099"/>
                <a:ext cx="1027540" cy="1558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單箭頭接點 35"/>
              <p:cNvCxnSpPr>
                <a:endCxn id="194" idx="2"/>
              </p:cNvCxnSpPr>
              <p:nvPr/>
            </p:nvCxnSpPr>
            <p:spPr>
              <a:xfrm>
                <a:off x="4589452" y="2287149"/>
                <a:ext cx="989290" cy="27339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單箭頭接點 35"/>
              <p:cNvCxnSpPr>
                <a:stCxn id="164" idx="6"/>
                <a:endCxn id="196" idx="2"/>
              </p:cNvCxnSpPr>
              <p:nvPr/>
            </p:nvCxnSpPr>
            <p:spPr>
              <a:xfrm flipV="1">
                <a:off x="4562835" y="2235773"/>
                <a:ext cx="1025198" cy="7770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線單箭頭接點 35"/>
              <p:cNvCxnSpPr>
                <a:stCxn id="164" idx="6"/>
                <a:endCxn id="192" idx="2"/>
              </p:cNvCxnSpPr>
              <p:nvPr/>
            </p:nvCxnSpPr>
            <p:spPr>
              <a:xfrm>
                <a:off x="4562835" y="301281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單箭頭接點 35"/>
              <p:cNvCxnSpPr>
                <a:endCxn id="193" idx="2"/>
              </p:cNvCxnSpPr>
              <p:nvPr/>
            </p:nvCxnSpPr>
            <p:spPr>
              <a:xfrm>
                <a:off x="4598743" y="3012812"/>
                <a:ext cx="991632" cy="7802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單箭頭接點 35"/>
              <p:cNvCxnSpPr>
                <a:stCxn id="164" idx="6"/>
                <a:endCxn id="194" idx="2"/>
              </p:cNvCxnSpPr>
              <p:nvPr/>
            </p:nvCxnSpPr>
            <p:spPr>
              <a:xfrm>
                <a:off x="4562835" y="3012812"/>
                <a:ext cx="1015907" cy="20082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單箭頭接點 35"/>
              <p:cNvCxnSpPr>
                <a:stCxn id="165" idx="6"/>
              </p:cNvCxnSpPr>
              <p:nvPr/>
            </p:nvCxnSpPr>
            <p:spPr>
              <a:xfrm flipV="1">
                <a:off x="4565177" y="2276260"/>
                <a:ext cx="1010214" cy="15151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單箭頭接點 35"/>
              <p:cNvCxnSpPr>
                <a:stCxn id="165" idx="6"/>
              </p:cNvCxnSpPr>
              <p:nvPr/>
            </p:nvCxnSpPr>
            <p:spPr>
              <a:xfrm flipV="1">
                <a:off x="4565177" y="3054973"/>
                <a:ext cx="1010214" cy="7364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單箭頭接點 35"/>
              <p:cNvCxnSpPr>
                <a:stCxn id="165" idx="6"/>
                <a:endCxn id="193" idx="2"/>
              </p:cNvCxnSpPr>
              <p:nvPr/>
            </p:nvCxnSpPr>
            <p:spPr>
              <a:xfrm>
                <a:off x="4565177" y="379138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單箭頭接點 35"/>
              <p:cNvCxnSpPr>
                <a:stCxn id="165" idx="6"/>
                <a:endCxn id="194" idx="2"/>
              </p:cNvCxnSpPr>
              <p:nvPr/>
            </p:nvCxnSpPr>
            <p:spPr>
              <a:xfrm>
                <a:off x="4565177" y="3791382"/>
                <a:ext cx="1013565" cy="1229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單箭頭接點 35"/>
              <p:cNvCxnSpPr>
                <a:stCxn id="166" idx="6"/>
                <a:endCxn id="196" idx="2"/>
              </p:cNvCxnSpPr>
              <p:nvPr/>
            </p:nvCxnSpPr>
            <p:spPr>
              <a:xfrm flipV="1">
                <a:off x="4553544" y="2235773"/>
                <a:ext cx="1034489" cy="278362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單箭頭接點 35"/>
              <p:cNvCxnSpPr>
                <a:stCxn id="166" idx="6"/>
              </p:cNvCxnSpPr>
              <p:nvPr/>
            </p:nvCxnSpPr>
            <p:spPr>
              <a:xfrm flipV="1">
                <a:off x="4553544" y="3089778"/>
                <a:ext cx="1011553" cy="19296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單箭頭接點 35"/>
              <p:cNvCxnSpPr>
                <a:stCxn id="166" idx="6"/>
                <a:endCxn id="193" idx="2"/>
              </p:cNvCxnSpPr>
              <p:nvPr/>
            </p:nvCxnSpPr>
            <p:spPr>
              <a:xfrm flipV="1">
                <a:off x="4553544" y="3793056"/>
                <a:ext cx="1036831" cy="122633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單箭頭接點 35"/>
              <p:cNvCxnSpPr>
                <a:endCxn id="194" idx="2"/>
              </p:cNvCxnSpPr>
              <p:nvPr/>
            </p:nvCxnSpPr>
            <p:spPr>
              <a:xfrm flipV="1">
                <a:off x="4560493" y="5021068"/>
                <a:ext cx="1018249" cy="50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8" name="文字方塊 33"/>
            <p:cNvSpPr txBox="1"/>
            <p:nvPr/>
          </p:nvSpPr>
          <p:spPr>
            <a:xfrm>
              <a:off x="6249214" y="3443066"/>
              <a:ext cx="769257" cy="528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890737" y="2884650"/>
            <a:ext cx="615553" cy="2798613"/>
            <a:chOff x="5566004" y="2623393"/>
            <a:chExt cx="615553" cy="2798613"/>
          </a:xfrm>
        </p:grpSpPr>
        <p:sp>
          <p:nvSpPr>
            <p:cNvPr id="215" name="矩形 214"/>
            <p:cNvSpPr/>
            <p:nvPr/>
          </p:nvSpPr>
          <p:spPr>
            <a:xfrm>
              <a:off x="5569338" y="2623393"/>
              <a:ext cx="608672" cy="27986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5566004" y="2897545"/>
              <a:ext cx="615553" cy="219998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800" dirty="0"/>
                <a:t>Softmax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145" name="文字方塊 96"/>
          <p:cNvSpPr txBox="1"/>
          <p:nvPr/>
        </p:nvSpPr>
        <p:spPr>
          <a:xfrm>
            <a:off x="2677686" y="4040275"/>
            <a:ext cx="1937156" cy="40011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学习一组参数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6"/>
              <p:cNvSpPr txBox="1"/>
              <p:nvPr/>
            </p:nvSpPr>
            <p:spPr>
              <a:xfrm>
                <a:off x="9695948" y="2393402"/>
                <a:ext cx="1606594" cy="1209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8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948" y="2393402"/>
                <a:ext cx="1606594" cy="12092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文字方塊 76"/>
          <p:cNvSpPr txBox="1"/>
          <p:nvPr/>
        </p:nvSpPr>
        <p:spPr>
          <a:xfrm>
            <a:off x="9864700" y="1793347"/>
            <a:ext cx="180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总损失</a:t>
            </a:r>
            <a:r>
              <a:rPr lang="en-US" altLang="zh-TW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TW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573944" y="2393401"/>
            <a:ext cx="1850601" cy="1326605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3" grpId="0"/>
      <p:bldP spid="131" grpId="0" animBg="1"/>
      <p:bldP spid="141" grpId="0"/>
      <p:bldP spid="142" grpId="0" animBg="1"/>
      <p:bldP spid="144" grpId="0" animBg="1"/>
      <p:bldP spid="75" grpId="0" animBg="1"/>
      <p:bldP spid="77" grpId="0"/>
      <p:bldP spid="145" grpId="0" animBg="1"/>
      <p:bldP spid="88" grpId="0"/>
      <p:bldP spid="89" grpId="0"/>
      <p:bldP spid="9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86" name="Picture 10" descr="https://img-blog.csdnimg.cn/img_convert/6a36dedcf6ccf3444ef7d439fe1dbe9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21" y="1204781"/>
            <a:ext cx="3503492" cy="215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3719164" y="10989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回归问题的损失函数</a:t>
            </a:r>
            <a:endParaRPr lang="zh-CN" altLang="en-US" sz="28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2578" name="Picture 2" descr="https://img-blog.csdnimg.cn/img_convert/f98e662691be2da43875435d2a91f55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92" y="1314453"/>
            <a:ext cx="3143250" cy="195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95447" y="833060"/>
            <a:ext cx="2601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均方差损失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MSE</a:t>
            </a:r>
            <a:r>
              <a:rPr lang="en-US" altLang="zh-CN" sz="2400" dirty="0"/>
              <a:t>) </a:t>
            </a:r>
            <a:endParaRPr lang="zh-CN" altLang="en-US" sz="24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5914" y="3278229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也称为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22" y="3749758"/>
            <a:ext cx="2907644" cy="545599"/>
          </a:xfrm>
          <a:prstGeom prst="rect">
            <a:avLst/>
          </a:prstGeom>
        </p:spPr>
      </p:pic>
      <p:pic>
        <p:nvPicPr>
          <p:cNvPr id="152582" name="Picture 6" descr="https://img-blog.csdnimg.cn/img_convert/c592e9700713f07505102a50b461197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87" y="1279757"/>
            <a:ext cx="3299989" cy="199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981443" y="853812"/>
            <a:ext cx="3515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平均绝对误差损失 </a:t>
            </a:r>
            <a:r>
              <a:rPr lang="en-US" altLang="zh-CN" sz="2400" dirty="0"/>
              <a:t>(MAE)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4433479" y="3268365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也称为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268" y="3759928"/>
            <a:ext cx="2581635" cy="44773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495807" y="743116"/>
            <a:ext cx="22188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Smooth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7701905" y="3749758"/>
                <a:ext cx="3806683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𝑠𝑚𝑜𝑜𝑡h𝐿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−0.5  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05" y="3749758"/>
                <a:ext cx="3806683" cy="617861"/>
              </a:xfrm>
              <a:prstGeom prst="rect">
                <a:avLst/>
              </a:prstGeom>
              <a:blipFill rotWithShape="0">
                <a:blip r:embed="rId7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959116" y="4291969"/>
            <a:ext cx="3281014" cy="1907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优点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：对离群点（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Outliers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）或者异常值更具有鲁棒性。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缺点</a:t>
            </a:r>
            <a:r>
              <a:rPr lang="zh-CN" altLang="en-US" sz="2000" dirty="0">
                <a:solidFill>
                  <a:srgbClr val="4D4D4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零处不可导，求解效率低，收敛速度慢；梯度始终相同，不利于模型的收敛。</a:t>
            </a:r>
            <a:endParaRPr lang="zh-CN" altLang="en-US" sz="20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2540" y="4276228"/>
            <a:ext cx="349775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优点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收敛速度快，能够使梯度更新的方向可以更加精确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缺点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对异常值十分敏感，梯度更新的方向很容易受离群点所主导，不具备鲁棒性。</a:t>
            </a:r>
            <a:endParaRPr lang="zh-CN" altLang="en-US" sz="20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58521" y="4387348"/>
            <a:ext cx="39135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损失的优点，在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点处附近解决了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点处梯度不可导的问题；在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|x|&gt;1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的区间上，它又采用了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损失中的线性函数，使得梯度能够快速下降。</a:t>
            </a:r>
          </a:p>
        </p:txBody>
      </p:sp>
    </p:spTree>
    <p:extLst>
      <p:ext uri="{BB962C8B-B14F-4D97-AF65-F5344CB8AC3E}">
        <p14:creationId xmlns:p14="http://schemas.microsoft.com/office/powerpoint/2010/main" val="3657801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19164" y="10989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回归问题的损失函数</a:t>
            </a:r>
            <a:endParaRPr lang="zh-CN" altLang="en-US" sz="28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5447" y="833060"/>
            <a:ext cx="21002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其他损失函数</a:t>
            </a:r>
            <a:r>
              <a:rPr lang="en-US" altLang="zh-CN" sz="2400" dirty="0"/>
              <a:t> </a:t>
            </a:r>
            <a:endParaRPr lang="zh-CN" altLang="en-US" sz="24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6490" y="1661735"/>
            <a:ext cx="82493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IoU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，旷视科技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ACM2016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目标检测中常见的评价标准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93898" y="2690358"/>
            <a:ext cx="48638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GIoU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，斯坦福大学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CVPR2019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93898" y="3718981"/>
            <a:ext cx="5755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DIoU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，天津大学数学学院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AAAI2020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93898" y="4542362"/>
            <a:ext cx="5755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CIoU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Loss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，天津大学数学学院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AAAI2020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17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19164" y="10989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分类问题的损失函数</a:t>
            </a:r>
            <a:endParaRPr lang="zh-CN" altLang="en-US" sz="28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5447" y="833060"/>
            <a:ext cx="3168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交叉熵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/>
              <a:t>(Cross Entropy) </a:t>
            </a:r>
            <a:endParaRPr lang="zh-CN" altLang="en-US" sz="24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96832" y="785774"/>
            <a:ext cx="3497753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：二元分类</a:t>
            </a:r>
            <a:endParaRPr lang="zh-CN" altLang="en-US" sz="2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4628" name="Picture 4" descr="https://img-blog.csdnimg.cn/img_convert/d419a42a9b1339c1622222d38505093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09" y="1371264"/>
            <a:ext cx="42386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47" y="4038603"/>
            <a:ext cx="3283553" cy="442726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739528" y="4557868"/>
            <a:ext cx="2492990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：真实概率分布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：预测概率分布</a:t>
            </a:r>
            <a:endParaRPr lang="zh-CN" altLang="en-US" sz="240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96832" y="1362239"/>
            <a:ext cx="56781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二分类问题输出层通常使用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975" y="1251766"/>
            <a:ext cx="2029040" cy="682609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354575" y="1867309"/>
            <a:ext cx="4740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即：预测值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矩形 22"/>
          <p:cNvSpPr/>
          <p:nvPr/>
        </p:nvSpPr>
        <p:spPr>
          <a:xfrm>
            <a:off x="4601834" y="2399262"/>
            <a:ext cx="75152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交叉熵：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label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∗−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log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)+(1−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label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)∗−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log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(1−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endParaRPr lang="en-US" altLang="zh-CN" sz="2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520632" y="3250170"/>
            <a:ext cx="349775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：多元分类</a:t>
            </a:r>
            <a:endParaRPr lang="zh-CN" altLang="en-US" sz="2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520632" y="3826635"/>
            <a:ext cx="5540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多分类问题输出层通常使用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35" name="矩形 34"/>
          <p:cNvSpPr/>
          <p:nvPr/>
        </p:nvSpPr>
        <p:spPr>
          <a:xfrm>
            <a:off x="4520632" y="4331305"/>
            <a:ext cx="69333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后值作为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label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进行交叉熵计算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980" y="4918832"/>
            <a:ext cx="4429589" cy="62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82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19164" y="10989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分类问题的损失函数</a:t>
            </a:r>
            <a:endParaRPr lang="zh-CN" altLang="en-US" sz="28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5447" y="833060"/>
            <a:ext cx="1624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Dice Loss</a:t>
            </a:r>
            <a:endParaRPr lang="zh-CN" altLang="en-US" sz="24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72" y="1598295"/>
            <a:ext cx="4172532" cy="2934109"/>
          </a:xfrm>
          <a:prstGeom prst="rect">
            <a:avLst/>
          </a:prstGeom>
        </p:spPr>
      </p:pic>
      <p:pic>
        <p:nvPicPr>
          <p:cNvPr id="155650" name="Picture 2" descr="https://img-blog.csdnimg.cn/8b7d917d17064bf4a55fb7ca6aac7a54.png#pic_cen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72" y="3132041"/>
            <a:ext cx="5390069" cy="98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5427324" y="129472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Dice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系数是一种集合相似度度量函数，通常用于计算两个样本的相似度，取值范围为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0~1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，值越大表示两个值的相似度越小，其基本定义（二分类）如下：</a:t>
            </a:r>
          </a:p>
        </p:txBody>
      </p:sp>
      <p:sp>
        <p:nvSpPr>
          <p:cNvPr id="19" name="矩形 18"/>
          <p:cNvSpPr/>
          <p:nvPr/>
        </p:nvSpPr>
        <p:spPr>
          <a:xfrm>
            <a:off x="595446" y="5119310"/>
            <a:ext cx="70519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其他损失函数：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Focal Loss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K-L Divergence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sz="24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497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04986" y="1477500"/>
            <a:ext cx="51144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190" y="2006828"/>
            <a:ext cx="964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选择什么样的网络结构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选择多少层数，每层选择多少神经元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47707" y="3173675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190" y="3685482"/>
            <a:ext cx="9647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选择常用损失函数，平方误差，交叉熵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54" y="3141882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3" y="1451300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65" y="4572584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47707" y="4596425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89190" y="5087066"/>
            <a:ext cx="96472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反向传播算法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單箭頭接點 30"/>
          <p:cNvCxnSpPr>
            <a:stCxn id="45" idx="6"/>
            <a:endCxn id="84" idx="2"/>
          </p:cNvCxnSpPr>
          <p:nvPr/>
        </p:nvCxnSpPr>
        <p:spPr>
          <a:xfrm>
            <a:off x="7607426" y="2202992"/>
            <a:ext cx="2415075" cy="1787874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"/>
              <p:cNvSpPr txBox="1"/>
              <p:nvPr/>
            </p:nvSpPr>
            <p:spPr>
              <a:xfrm>
                <a:off x="1196695" y="2480487"/>
                <a:ext cx="445951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参数</m:t>
                    </m:r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endParaRPr lang="zh-TW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695" y="2480487"/>
                <a:ext cx="4459518" cy="954107"/>
              </a:xfrm>
              <a:prstGeom prst="rect">
                <a:avLst/>
              </a:prstGeom>
              <a:blipFill rotWithShape="1">
                <a:blip r:embed="rId2"/>
                <a:stretch>
                  <a:fillRect l="-8" t="-19" r="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5"/>
          <p:cNvSpPr txBox="1"/>
          <p:nvPr/>
        </p:nvSpPr>
        <p:spPr>
          <a:xfrm>
            <a:off x="431553" y="1496363"/>
            <a:ext cx="481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枚举所有可能的取值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字方塊 46"/>
          <p:cNvSpPr txBox="1"/>
          <p:nvPr/>
        </p:nvSpPr>
        <p:spPr>
          <a:xfrm>
            <a:off x="6399404" y="4774587"/>
            <a:ext cx="483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例如：语音识别模型有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层，每层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神经元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群組 2"/>
          <p:cNvGrpSpPr/>
          <p:nvPr/>
        </p:nvGrpSpPr>
        <p:grpSpPr>
          <a:xfrm>
            <a:off x="1342400" y="3404838"/>
            <a:ext cx="4092485" cy="651140"/>
            <a:chOff x="588857" y="5086698"/>
            <a:chExt cx="4168310" cy="651140"/>
          </a:xfrm>
        </p:grpSpPr>
        <p:sp>
          <p:nvSpPr>
            <p:cNvPr id="71" name="文字方塊 47"/>
            <p:cNvSpPr txBox="1"/>
            <p:nvPr/>
          </p:nvSpPr>
          <p:spPr>
            <a:xfrm>
              <a:off x="765869" y="5276173"/>
              <a:ext cx="3783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参数个数巨大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左大括弧 21"/>
            <p:cNvSpPr/>
            <p:nvPr/>
          </p:nvSpPr>
          <p:spPr>
            <a:xfrm rot="16200000">
              <a:off x="2612787" y="3062768"/>
              <a:ext cx="120449" cy="4168310"/>
            </a:xfrm>
            <a:prstGeom prst="leftBrace">
              <a:avLst>
                <a:gd name="adj1" fmla="val 51771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文字方塊 9"/>
          <p:cNvSpPr txBox="1"/>
          <p:nvPr/>
        </p:nvSpPr>
        <p:spPr>
          <a:xfrm>
            <a:off x="6170614" y="1700158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橢圓 10"/>
          <p:cNvSpPr/>
          <p:nvPr/>
        </p:nvSpPr>
        <p:spPr>
          <a:xfrm rot="5400000">
            <a:off x="10065545" y="1648263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橢圓 11"/>
          <p:cNvSpPr/>
          <p:nvPr/>
        </p:nvSpPr>
        <p:spPr>
          <a:xfrm rot="5400000">
            <a:off x="8797579" y="1650605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橢圓 12"/>
          <p:cNvSpPr/>
          <p:nvPr/>
        </p:nvSpPr>
        <p:spPr>
          <a:xfrm rot="5400000">
            <a:off x="8058963" y="1638972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字方塊 13"/>
          <p:cNvSpPr txBox="1"/>
          <p:nvPr/>
        </p:nvSpPr>
        <p:spPr>
          <a:xfrm rot="10800000">
            <a:off x="9349385" y="176831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字方塊 16"/>
          <p:cNvSpPr txBox="1"/>
          <p:nvPr/>
        </p:nvSpPr>
        <p:spPr>
          <a:xfrm>
            <a:off x="6355193" y="4016772"/>
            <a:ext cx="13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橢圓 17"/>
          <p:cNvSpPr/>
          <p:nvPr/>
        </p:nvSpPr>
        <p:spPr>
          <a:xfrm rot="5400000">
            <a:off x="9735422" y="3990866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橢圓 18"/>
          <p:cNvSpPr/>
          <p:nvPr/>
        </p:nvSpPr>
        <p:spPr>
          <a:xfrm rot="5400000">
            <a:off x="8480329" y="3993208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橢圓 19"/>
          <p:cNvSpPr/>
          <p:nvPr/>
        </p:nvSpPr>
        <p:spPr>
          <a:xfrm rot="5400000">
            <a:off x="7728840" y="3981575"/>
            <a:ext cx="574158" cy="574158"/>
          </a:xfrm>
          <a:prstGeom prst="ellipse">
            <a:avLst/>
          </a:prstGeom>
          <a:solidFill>
            <a:srgbClr val="B0E8B9"/>
          </a:solidFill>
          <a:ln>
            <a:solidFill>
              <a:srgbClr val="6EBF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字方塊 20"/>
          <p:cNvSpPr txBox="1"/>
          <p:nvPr/>
        </p:nvSpPr>
        <p:spPr>
          <a:xfrm rot="10800000">
            <a:off x="9054487" y="411466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線單箭頭接點 22"/>
          <p:cNvCxnSpPr>
            <a:stCxn id="77" idx="6"/>
            <a:endCxn id="84" idx="2"/>
          </p:cNvCxnSpPr>
          <p:nvPr/>
        </p:nvCxnSpPr>
        <p:spPr>
          <a:xfrm flipH="1">
            <a:off x="10022501" y="2222421"/>
            <a:ext cx="330123" cy="176844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23"/>
          <p:cNvCxnSpPr>
            <a:stCxn id="78" idx="6"/>
            <a:endCxn id="85" idx="2"/>
          </p:cNvCxnSpPr>
          <p:nvPr/>
        </p:nvCxnSpPr>
        <p:spPr>
          <a:xfrm flipH="1">
            <a:off x="8767408" y="2224763"/>
            <a:ext cx="317250" cy="176844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24"/>
          <p:cNvCxnSpPr>
            <a:stCxn id="79" idx="6"/>
          </p:cNvCxnSpPr>
          <p:nvPr/>
        </p:nvCxnSpPr>
        <p:spPr>
          <a:xfrm flipH="1">
            <a:off x="8004051" y="2213130"/>
            <a:ext cx="341991" cy="162677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25"/>
          <p:cNvCxnSpPr>
            <a:stCxn id="78" idx="6"/>
            <a:endCxn id="84" idx="2"/>
          </p:cNvCxnSpPr>
          <p:nvPr/>
        </p:nvCxnSpPr>
        <p:spPr>
          <a:xfrm>
            <a:off x="9084658" y="2224763"/>
            <a:ext cx="937843" cy="176610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26"/>
          <p:cNvCxnSpPr>
            <a:stCxn id="77" idx="6"/>
            <a:endCxn id="85" idx="2"/>
          </p:cNvCxnSpPr>
          <p:nvPr/>
        </p:nvCxnSpPr>
        <p:spPr>
          <a:xfrm flipH="1">
            <a:off x="8767408" y="2222421"/>
            <a:ext cx="1585216" cy="1770787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27"/>
          <p:cNvCxnSpPr>
            <a:stCxn id="77" idx="6"/>
            <a:endCxn id="86" idx="2"/>
          </p:cNvCxnSpPr>
          <p:nvPr/>
        </p:nvCxnSpPr>
        <p:spPr>
          <a:xfrm flipH="1">
            <a:off x="8015919" y="2222421"/>
            <a:ext cx="2336705" cy="1759154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28"/>
          <p:cNvCxnSpPr>
            <a:stCxn id="78" idx="6"/>
            <a:endCxn id="86" idx="2"/>
          </p:cNvCxnSpPr>
          <p:nvPr/>
        </p:nvCxnSpPr>
        <p:spPr>
          <a:xfrm flipH="1">
            <a:off x="8015919" y="2224763"/>
            <a:ext cx="1068739" cy="1756812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29"/>
          <p:cNvCxnSpPr>
            <a:stCxn id="79" idx="6"/>
            <a:endCxn id="84" idx="2"/>
          </p:cNvCxnSpPr>
          <p:nvPr/>
        </p:nvCxnSpPr>
        <p:spPr>
          <a:xfrm>
            <a:off x="8346042" y="2213130"/>
            <a:ext cx="1676459" cy="1777736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30"/>
          <p:cNvCxnSpPr>
            <a:stCxn id="79" idx="6"/>
            <a:endCxn id="85" idx="2"/>
          </p:cNvCxnSpPr>
          <p:nvPr/>
        </p:nvCxnSpPr>
        <p:spPr>
          <a:xfrm>
            <a:off x="8346042" y="2213130"/>
            <a:ext cx="421366" cy="1780078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50"/>
          <p:cNvSpPr txBox="1"/>
          <p:nvPr/>
        </p:nvSpPr>
        <p:spPr>
          <a:xfrm>
            <a:off x="8326671" y="2664481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TW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橢圓 12"/>
          <p:cNvSpPr/>
          <p:nvPr/>
        </p:nvSpPr>
        <p:spPr>
          <a:xfrm rot="5400000">
            <a:off x="7320347" y="1628834"/>
            <a:ext cx="574158" cy="574158"/>
          </a:xfrm>
          <a:prstGeom prst="ellipse">
            <a:avLst/>
          </a:prstGeom>
          <a:solidFill>
            <a:srgbClr val="6EBF9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線單箭頭接點 24"/>
          <p:cNvCxnSpPr>
            <a:stCxn id="45" idx="6"/>
            <a:endCxn id="86" idx="2"/>
          </p:cNvCxnSpPr>
          <p:nvPr/>
        </p:nvCxnSpPr>
        <p:spPr>
          <a:xfrm>
            <a:off x="7607426" y="2202992"/>
            <a:ext cx="408493" cy="177858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30"/>
          <p:cNvCxnSpPr>
            <a:stCxn id="45" idx="6"/>
            <a:endCxn id="85" idx="2"/>
          </p:cNvCxnSpPr>
          <p:nvPr/>
        </p:nvCxnSpPr>
        <p:spPr>
          <a:xfrm>
            <a:off x="7607426" y="2202992"/>
            <a:ext cx="1159982" cy="1790216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49"/>
          <p:cNvSpPr txBox="1"/>
          <p:nvPr/>
        </p:nvSpPr>
        <p:spPr>
          <a:xfrm>
            <a:off x="8186979" y="1784627"/>
            <a:ext cx="1658739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神经元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字方塊 48"/>
          <p:cNvSpPr txBox="1"/>
          <p:nvPr/>
        </p:nvSpPr>
        <p:spPr>
          <a:xfrm>
            <a:off x="8240642" y="4105193"/>
            <a:ext cx="1781859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神经元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 rot="10800000">
            <a:off x="6254970" y="2868548"/>
            <a:ext cx="1702388" cy="257353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90448" y="4407053"/>
                <a:ext cx="53174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寻找模型参数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</m:e>
                      <m:sup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使得总损失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48" y="4407053"/>
                <a:ext cx="531747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60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乘号 15"/>
          <p:cNvSpPr/>
          <p:nvPr/>
        </p:nvSpPr>
        <p:spPr>
          <a:xfrm>
            <a:off x="1080727" y="1978476"/>
            <a:ext cx="644984" cy="502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L 形 16"/>
          <p:cNvSpPr/>
          <p:nvPr/>
        </p:nvSpPr>
        <p:spPr>
          <a:xfrm rot="8097255" flipH="1" flipV="1">
            <a:off x="1274588" y="4911775"/>
            <a:ext cx="477378" cy="326168"/>
          </a:xfrm>
          <a:prstGeom prst="corner">
            <a:avLst>
              <a:gd name="adj1" fmla="val 35662"/>
              <a:gd name="adj2" fmla="val 38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67" grpId="0"/>
      <p:bldP spid="76" grpId="0"/>
      <p:bldP spid="77" grpId="0" animBg="1"/>
      <p:bldP spid="78" grpId="0" animBg="1"/>
      <p:bldP spid="79" grpId="0" animBg="1"/>
      <p:bldP spid="80" grpId="0"/>
      <p:bldP spid="83" grpId="0"/>
      <p:bldP spid="84" grpId="0" animBg="1"/>
      <p:bldP spid="85" grpId="0" animBg="1"/>
      <p:bldP spid="86" grpId="0" animBg="1"/>
      <p:bldP spid="87" grpId="0"/>
      <p:bldP spid="99" grpId="0" animBg="1"/>
      <p:bldP spid="45" grpId="0" animBg="1"/>
      <p:bldP spid="98" grpId="0" animBg="1"/>
      <p:bldP spid="97" grpId="0" animBg="1"/>
      <p:bldP spid="14" grpId="0" animBg="1"/>
      <p:bldP spid="15" grpId="0"/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 54"/>
          <p:cNvSpPr/>
          <p:nvPr/>
        </p:nvSpPr>
        <p:spPr>
          <a:xfrm>
            <a:off x="1732852" y="1776038"/>
            <a:ext cx="7766333" cy="3938434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学习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123890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054498" y="1111049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9" name="直線接點 42"/>
          <p:cNvCxnSpPr>
            <a:stCxn id="52" idx="4"/>
          </p:cNvCxnSpPr>
          <p:nvPr/>
        </p:nvCxnSpPr>
        <p:spPr>
          <a:xfrm flipH="1">
            <a:off x="8141880" y="5790037"/>
            <a:ext cx="3246" cy="1945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41"/>
          <p:cNvCxnSpPr>
            <a:stCxn id="51" idx="4"/>
            <a:endCxn id="44" idx="0"/>
          </p:cNvCxnSpPr>
          <p:nvPr/>
        </p:nvCxnSpPr>
        <p:spPr>
          <a:xfrm>
            <a:off x="5331324" y="5083402"/>
            <a:ext cx="10780" cy="77350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40"/>
          <p:cNvCxnSpPr>
            <a:stCxn id="49" idx="4"/>
            <a:endCxn id="43" idx="0"/>
          </p:cNvCxnSpPr>
          <p:nvPr/>
        </p:nvCxnSpPr>
        <p:spPr>
          <a:xfrm>
            <a:off x="3606525" y="4733455"/>
            <a:ext cx="7113" cy="114789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6"/>
          <p:cNvCxnSpPr>
            <a:stCxn id="33" idx="4"/>
          </p:cNvCxnSpPr>
          <p:nvPr/>
        </p:nvCxnSpPr>
        <p:spPr>
          <a:xfrm flipH="1">
            <a:off x="2101709" y="3250857"/>
            <a:ext cx="6210" cy="263376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6"/>
          <p:cNvCxnSpPr/>
          <p:nvPr/>
        </p:nvCxnSpPr>
        <p:spPr>
          <a:xfrm>
            <a:off x="2209768" y="5853399"/>
            <a:ext cx="676977" cy="0"/>
          </a:xfrm>
          <a:prstGeom prst="straightConnector1">
            <a:avLst/>
          </a:prstGeom>
          <a:ln w="63500">
            <a:solidFill>
              <a:srgbClr val="5175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4"/>
          <p:cNvCxnSpPr/>
          <p:nvPr/>
        </p:nvCxnSpPr>
        <p:spPr>
          <a:xfrm>
            <a:off x="1210617" y="5995111"/>
            <a:ext cx="842802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13"/>
          <p:cNvCxnSpPr/>
          <p:nvPr/>
        </p:nvCxnSpPr>
        <p:spPr>
          <a:xfrm flipV="1">
            <a:off x="1628849" y="1841469"/>
            <a:ext cx="0" cy="43628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9"/>
          <p:cNvSpPr txBox="1"/>
          <p:nvPr/>
        </p:nvSpPr>
        <p:spPr>
          <a:xfrm>
            <a:off x="1579984" y="1751629"/>
            <a:ext cx="96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总损失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字方塊 16"/>
          <p:cNvSpPr txBox="1"/>
          <p:nvPr/>
        </p:nvSpPr>
        <p:spPr>
          <a:xfrm>
            <a:off x="4673092" y="6168944"/>
            <a:ext cx="5195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神经网络参数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字方塊 10"/>
          <p:cNvSpPr txBox="1"/>
          <p:nvPr/>
        </p:nvSpPr>
        <p:spPr>
          <a:xfrm>
            <a:off x="2922315" y="2282063"/>
            <a:ext cx="2549506" cy="400110"/>
          </a:xfrm>
          <a:prstGeom prst="rect">
            <a:avLst/>
          </a:prstGeom>
          <a:solidFill>
            <a:srgbClr val="B0E8B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初始值下的总损失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字方塊 21"/>
          <p:cNvSpPr txBox="1"/>
          <p:nvPr/>
        </p:nvSpPr>
        <p:spPr>
          <a:xfrm>
            <a:off x="7175290" y="3985545"/>
            <a:ext cx="1730944" cy="400110"/>
          </a:xfrm>
          <a:prstGeom prst="rect">
            <a:avLst/>
          </a:prstGeom>
          <a:solidFill>
            <a:srgbClr val="F6B89D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总损失值最小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字方塊 32"/>
          <p:cNvSpPr txBox="1"/>
          <p:nvPr/>
        </p:nvSpPr>
        <p:spPr>
          <a:xfrm>
            <a:off x="3263981" y="3209559"/>
            <a:ext cx="2212075" cy="400110"/>
          </a:xfrm>
          <a:prstGeom prst="rect">
            <a:avLst/>
          </a:prstGeom>
          <a:solidFill>
            <a:srgbClr val="6EBF96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总损失变小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線單箭頭接點 33"/>
          <p:cNvCxnSpPr/>
          <p:nvPr/>
        </p:nvCxnSpPr>
        <p:spPr>
          <a:xfrm flipH="1" flipV="1">
            <a:off x="8119981" y="4689414"/>
            <a:ext cx="12227" cy="81595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5"/>
          <p:cNvCxnSpPr/>
          <p:nvPr/>
        </p:nvCxnSpPr>
        <p:spPr>
          <a:xfrm flipV="1">
            <a:off x="3607235" y="3771765"/>
            <a:ext cx="6402" cy="69361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6"/>
          <p:cNvCxnSpPr/>
          <p:nvPr/>
        </p:nvCxnSpPr>
        <p:spPr>
          <a:xfrm flipV="1">
            <a:off x="2223234" y="2758807"/>
            <a:ext cx="690532" cy="30172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34"/>
          <p:cNvSpPr/>
          <p:nvPr/>
        </p:nvSpPr>
        <p:spPr>
          <a:xfrm>
            <a:off x="1993651" y="5887052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37"/>
          <p:cNvSpPr/>
          <p:nvPr/>
        </p:nvSpPr>
        <p:spPr>
          <a:xfrm>
            <a:off x="3505579" y="5881353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38"/>
          <p:cNvSpPr/>
          <p:nvPr/>
        </p:nvSpPr>
        <p:spPr>
          <a:xfrm>
            <a:off x="5234045" y="5856905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39"/>
          <p:cNvSpPr/>
          <p:nvPr/>
        </p:nvSpPr>
        <p:spPr>
          <a:xfrm>
            <a:off x="8037323" y="5890211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右箭头 47"/>
          <p:cNvSpPr/>
          <p:nvPr/>
        </p:nvSpPr>
        <p:spPr>
          <a:xfrm>
            <a:off x="1732852" y="5002687"/>
            <a:ext cx="5274334" cy="946634"/>
          </a:xfrm>
          <a:prstGeom prst="rightArrow">
            <a:avLst/>
          </a:prstGeom>
          <a:solidFill>
            <a:srgbClr val="51756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通过调节参数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，逐步逼近总损失最小值</a:t>
            </a:r>
          </a:p>
        </p:txBody>
      </p:sp>
      <p:cxnSp>
        <p:nvCxnSpPr>
          <p:cNvPr id="50" name="直線單箭頭接點 35"/>
          <p:cNvCxnSpPr/>
          <p:nvPr/>
        </p:nvCxnSpPr>
        <p:spPr>
          <a:xfrm flipH="1" flipV="1">
            <a:off x="5330005" y="3823429"/>
            <a:ext cx="12098" cy="91002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20"/>
          <p:cNvSpPr/>
          <p:nvPr/>
        </p:nvSpPr>
        <p:spPr>
          <a:xfrm>
            <a:off x="8037067" y="5563179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20"/>
          <p:cNvSpPr/>
          <p:nvPr/>
        </p:nvSpPr>
        <p:spPr>
          <a:xfrm>
            <a:off x="1999860" y="3023999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20"/>
          <p:cNvSpPr/>
          <p:nvPr/>
        </p:nvSpPr>
        <p:spPr>
          <a:xfrm>
            <a:off x="3498466" y="4506597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橢圓 20"/>
          <p:cNvSpPr/>
          <p:nvPr/>
        </p:nvSpPr>
        <p:spPr>
          <a:xfrm>
            <a:off x="5223265" y="4856544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692029" y="5973901"/>
            <a:ext cx="137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線單箭頭接點 27"/>
          <p:cNvCxnSpPr/>
          <p:nvPr/>
        </p:nvCxnSpPr>
        <p:spPr>
          <a:xfrm>
            <a:off x="564527" y="5835036"/>
            <a:ext cx="8281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328057" y="5867894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3657600" imgH="3352800" progId="Equation.3">
                  <p:embed/>
                </p:oleObj>
              </mc:Choice>
              <mc:Fallback>
                <p:oleObj name="方程式" r:id="rId2" imgW="3657600" imgH="3352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57" y="5867894"/>
                        <a:ext cx="327025" cy="29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線單箭頭接點 29"/>
          <p:cNvCxnSpPr/>
          <p:nvPr/>
        </p:nvCxnSpPr>
        <p:spPr>
          <a:xfrm flipV="1">
            <a:off x="1377582" y="2281400"/>
            <a:ext cx="0" cy="38771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34"/>
          <p:cNvSpPr txBox="1"/>
          <p:nvPr/>
        </p:nvSpPr>
        <p:spPr>
          <a:xfrm>
            <a:off x="2226428" y="2281400"/>
            <a:ext cx="66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选择一个初始值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Random, RBM pre-train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7"/>
              <p:cNvSpPr txBox="1"/>
              <p:nvPr/>
            </p:nvSpPr>
            <p:spPr>
              <a:xfrm>
                <a:off x="2653489" y="2627600"/>
                <a:ext cx="47434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计算梯度值</a:t>
                </a:r>
                <a:r>
                  <a:rPr lang="en-US" altLang="zh-TW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489" y="2627600"/>
                <a:ext cx="4743463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0" t="-131" r="10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2"/>
          <p:cNvSpPr txBox="1"/>
          <p:nvPr/>
        </p:nvSpPr>
        <p:spPr>
          <a:xfrm>
            <a:off x="3012833" y="3888836"/>
            <a:ext cx="1633045" cy="461665"/>
          </a:xfrm>
          <a:prstGeom prst="rect">
            <a:avLst/>
          </a:prstGeom>
          <a:solidFill>
            <a:srgbClr val="51756B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梯度为正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字方塊 20"/>
          <p:cNvSpPr txBox="1"/>
          <p:nvPr/>
        </p:nvSpPr>
        <p:spPr>
          <a:xfrm>
            <a:off x="3018672" y="3272472"/>
            <a:ext cx="1633045" cy="461665"/>
          </a:xfrm>
          <a:prstGeom prst="rect">
            <a:avLst/>
          </a:prstGeom>
          <a:solidFill>
            <a:srgbClr val="51756B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梯度为负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向右箭號 3"/>
          <p:cNvSpPr/>
          <p:nvPr/>
        </p:nvSpPr>
        <p:spPr>
          <a:xfrm>
            <a:off x="4762006" y="3926055"/>
            <a:ext cx="657843" cy="42444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向右箭號 22"/>
          <p:cNvSpPr/>
          <p:nvPr/>
        </p:nvSpPr>
        <p:spPr>
          <a:xfrm>
            <a:off x="4772217" y="3277509"/>
            <a:ext cx="657843" cy="42444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字方塊 23"/>
          <p:cNvSpPr txBox="1"/>
          <p:nvPr/>
        </p:nvSpPr>
        <p:spPr>
          <a:xfrm>
            <a:off x="5556073" y="3876654"/>
            <a:ext cx="1707370" cy="461665"/>
          </a:xfrm>
          <a:prstGeom prst="rect">
            <a:avLst/>
          </a:prstGeom>
          <a:solidFill>
            <a:srgbClr val="EB8E9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字方塊 30"/>
          <p:cNvSpPr txBox="1"/>
          <p:nvPr/>
        </p:nvSpPr>
        <p:spPr>
          <a:xfrm>
            <a:off x="5556073" y="3258612"/>
            <a:ext cx="1707370" cy="461665"/>
          </a:xfrm>
          <a:prstGeom prst="rect">
            <a:avLst/>
          </a:prstGeom>
          <a:solidFill>
            <a:srgbClr val="EB8E9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向右箭號 31"/>
          <p:cNvSpPr/>
          <p:nvPr/>
        </p:nvSpPr>
        <p:spPr>
          <a:xfrm>
            <a:off x="2061240" y="5695627"/>
            <a:ext cx="603767" cy="24828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線單箭頭接點 6"/>
          <p:cNvCxnSpPr/>
          <p:nvPr/>
        </p:nvCxnSpPr>
        <p:spPr>
          <a:xfrm flipH="1">
            <a:off x="2001506" y="3024791"/>
            <a:ext cx="666417" cy="394161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69"/>
          <p:cNvSpPr/>
          <p:nvPr/>
        </p:nvSpPr>
        <p:spPr>
          <a:xfrm>
            <a:off x="1797556" y="5698192"/>
            <a:ext cx="191799" cy="191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線接點 70"/>
          <p:cNvCxnSpPr/>
          <p:nvPr/>
        </p:nvCxnSpPr>
        <p:spPr>
          <a:xfrm>
            <a:off x="1894217" y="3528704"/>
            <a:ext cx="0" cy="207674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8"/>
          <p:cNvCxnSpPr/>
          <p:nvPr/>
        </p:nvCxnSpPr>
        <p:spPr>
          <a:xfrm>
            <a:off x="1529652" y="2792870"/>
            <a:ext cx="901013" cy="1704846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任意多边形 35"/>
          <p:cNvSpPr/>
          <p:nvPr/>
        </p:nvSpPr>
        <p:spPr>
          <a:xfrm>
            <a:off x="1529653" y="2131641"/>
            <a:ext cx="7331312" cy="3584241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橢圓 69"/>
          <p:cNvSpPr/>
          <p:nvPr/>
        </p:nvSpPr>
        <p:spPr>
          <a:xfrm>
            <a:off x="1797555" y="3406962"/>
            <a:ext cx="191799" cy="1917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352493"/>
            <a:ext cx="498966" cy="498966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054498" y="1339652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形标注 28"/>
              <p:cNvSpPr/>
              <p:nvPr/>
            </p:nvSpPr>
            <p:spPr>
              <a:xfrm>
                <a:off x="8787038" y="2432632"/>
                <a:ext cx="3404961" cy="1389748"/>
              </a:xfrm>
              <a:prstGeom prst="wedgeEllipseCallout">
                <a:avLst>
                  <a:gd name="adj1" fmla="val -34125"/>
                  <a:gd name="adj2" fmla="val 5427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参数</m:t>
                      </m:r>
                      <m:r>
                        <a:rPr lang="zh-TW" altLang="en-US" sz="24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e>
                      </m:d>
                    </m:oMath>
                  </m:oMathPara>
                </a14:m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" name="椭圆形标注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038" y="2432632"/>
                <a:ext cx="3404961" cy="1389748"/>
              </a:xfrm>
              <a:prstGeom prst="wedgeEllipseCallout">
                <a:avLst>
                  <a:gd name="adj1" fmla="val -34125"/>
                  <a:gd name="adj2" fmla="val 54276"/>
                </a:avLst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27"/>
          <p:cNvCxnSpPr/>
          <p:nvPr/>
        </p:nvCxnSpPr>
        <p:spPr>
          <a:xfrm>
            <a:off x="717018" y="5874077"/>
            <a:ext cx="8281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480548" y="5906935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3657600" imgH="3352800" progId="Equation.3">
                  <p:embed/>
                </p:oleObj>
              </mc:Choice>
              <mc:Fallback>
                <p:oleObj name="方程式" r:id="rId2" imgW="3657600" imgH="3352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0548" y="5906935"/>
                        <a:ext cx="327025" cy="29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線單箭頭接點 29"/>
          <p:cNvCxnSpPr/>
          <p:nvPr/>
        </p:nvCxnSpPr>
        <p:spPr>
          <a:xfrm flipV="1">
            <a:off x="1530073" y="2320441"/>
            <a:ext cx="0" cy="38771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34"/>
          <p:cNvSpPr txBox="1"/>
          <p:nvPr/>
        </p:nvSpPr>
        <p:spPr>
          <a:xfrm>
            <a:off x="2378919" y="2320441"/>
            <a:ext cx="663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选择一个初始值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Random, RBM pre-train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橢圓 69"/>
          <p:cNvSpPr/>
          <p:nvPr/>
        </p:nvSpPr>
        <p:spPr>
          <a:xfrm>
            <a:off x="1867024" y="5715136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線接點 70"/>
          <p:cNvCxnSpPr>
            <a:endCxn id="12" idx="0"/>
          </p:cNvCxnSpPr>
          <p:nvPr/>
        </p:nvCxnSpPr>
        <p:spPr>
          <a:xfrm>
            <a:off x="1944628" y="3466119"/>
            <a:ext cx="18296" cy="224901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7"/>
              <p:cNvSpPr txBox="1"/>
              <p:nvPr/>
            </p:nvSpPr>
            <p:spPr>
              <a:xfrm>
                <a:off x="2775969" y="2720030"/>
                <a:ext cx="47070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计算梯度值</a:t>
                </a:r>
                <a:r>
                  <a:rPr lang="en-US" altLang="zh-TW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69" y="2720030"/>
                <a:ext cx="4707091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" t="-70" r="5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8"/>
          <p:cNvCxnSpPr/>
          <p:nvPr/>
        </p:nvCxnSpPr>
        <p:spPr>
          <a:xfrm>
            <a:off x="1651000" y="2971800"/>
            <a:ext cx="658192" cy="1239794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向右箭號 31"/>
          <p:cNvSpPr/>
          <p:nvPr/>
        </p:nvSpPr>
        <p:spPr>
          <a:xfrm>
            <a:off x="2098531" y="5678900"/>
            <a:ext cx="692462" cy="21819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線單箭頭接點 6"/>
          <p:cNvCxnSpPr/>
          <p:nvPr/>
        </p:nvCxnSpPr>
        <p:spPr>
          <a:xfrm flipH="1">
            <a:off x="2058824" y="3239030"/>
            <a:ext cx="859683" cy="227089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6"/>
              <p:cNvSpPr txBox="1"/>
              <p:nvPr/>
            </p:nvSpPr>
            <p:spPr>
              <a:xfrm>
                <a:off x="3703323" y="3051236"/>
                <a:ext cx="350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f>
                        <m:fPr>
                          <m:type m:val="li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←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323" y="3051236"/>
                <a:ext cx="3502325" cy="461665"/>
              </a:xfrm>
              <a:prstGeom prst="rect">
                <a:avLst/>
              </a:prstGeom>
              <a:blipFill rotWithShape="1">
                <a:blip r:embed="rId6"/>
                <a:stretch>
                  <a:fillRect t="-13" r="9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/>
          <p:cNvSpPr/>
          <p:nvPr/>
        </p:nvSpPr>
        <p:spPr>
          <a:xfrm>
            <a:off x="3156593" y="2727456"/>
            <a:ext cx="4151829" cy="957135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2"/>
              <p:cNvSpPr txBox="1"/>
              <p:nvPr/>
            </p:nvSpPr>
            <p:spPr>
              <a:xfrm>
                <a:off x="1603899" y="5898878"/>
                <a:ext cx="15526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7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899" y="5898878"/>
                <a:ext cx="1552694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25333" r="-44706" b="-19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左大括弧 4"/>
          <p:cNvSpPr/>
          <p:nvPr/>
        </p:nvSpPr>
        <p:spPr>
          <a:xfrm rot="5400000">
            <a:off x="2264882" y="5154183"/>
            <a:ext cx="288195" cy="928704"/>
          </a:xfrm>
          <a:prstGeom prst="leftBrace">
            <a:avLst>
              <a:gd name="adj1" fmla="val 37394"/>
              <a:gd name="adj2" fmla="val 51208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69"/>
          <p:cNvSpPr/>
          <p:nvPr/>
        </p:nvSpPr>
        <p:spPr>
          <a:xfrm>
            <a:off x="2822608" y="5735771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字方塊 33"/>
          <p:cNvSpPr txBox="1"/>
          <p:nvPr/>
        </p:nvSpPr>
        <p:spPr>
          <a:xfrm>
            <a:off x="3632177" y="5955264"/>
            <a:ext cx="245078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l-GR" altLang="zh-TW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en-US" altLang="zh-TW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TW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学习率</a:t>
            </a:r>
            <a:r>
              <a:rPr lang="en-US" altLang="zh-TW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TW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下弧形箭头 41"/>
          <p:cNvSpPr/>
          <p:nvPr/>
        </p:nvSpPr>
        <p:spPr>
          <a:xfrm>
            <a:off x="4097566" y="3697854"/>
            <a:ext cx="2167229" cy="709755"/>
          </a:xfrm>
          <a:prstGeom prst="curvedUp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209144" y="3981633"/>
            <a:ext cx="1190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</a:p>
        </p:txBody>
      </p:sp>
      <p:cxnSp>
        <p:nvCxnSpPr>
          <p:cNvPr id="45" name="直線接點 35"/>
          <p:cNvCxnSpPr/>
          <p:nvPr/>
        </p:nvCxnSpPr>
        <p:spPr>
          <a:xfrm>
            <a:off x="2918507" y="4732713"/>
            <a:ext cx="0" cy="97666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23"/>
          <p:cNvCxnSpPr/>
          <p:nvPr/>
        </p:nvCxnSpPr>
        <p:spPr>
          <a:xfrm>
            <a:off x="2383924" y="4536403"/>
            <a:ext cx="1223123" cy="406674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31"/>
          <p:cNvCxnSpPr/>
          <p:nvPr/>
        </p:nvCxnSpPr>
        <p:spPr>
          <a:xfrm>
            <a:off x="3457442" y="4797289"/>
            <a:ext cx="0" cy="97666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左大括弧 38"/>
          <p:cNvSpPr/>
          <p:nvPr/>
        </p:nvSpPr>
        <p:spPr>
          <a:xfrm rot="5400000">
            <a:off x="3060674" y="5377188"/>
            <a:ext cx="312400" cy="481136"/>
          </a:xfrm>
          <a:prstGeom prst="leftBrace">
            <a:avLst>
              <a:gd name="adj1" fmla="val 16917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橢圓 69"/>
          <p:cNvSpPr/>
          <p:nvPr/>
        </p:nvSpPr>
        <p:spPr>
          <a:xfrm>
            <a:off x="3362979" y="5792891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9" name="任意多边形 48"/>
          <p:cNvSpPr/>
          <p:nvPr/>
        </p:nvSpPr>
        <p:spPr>
          <a:xfrm>
            <a:off x="1571738" y="2142940"/>
            <a:ext cx="7321537" cy="3584241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37"/>
              <p:cNvSpPr txBox="1"/>
              <p:nvPr/>
            </p:nvSpPr>
            <p:spPr>
              <a:xfrm>
                <a:off x="6759583" y="3999529"/>
                <a:ext cx="52759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直到</a:t>
                </a:r>
                <a:r>
                  <a:rPr lang="en-US" altLang="zh-TW" sz="2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zh-TW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非常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小（更新很小）</a:t>
                </a:r>
                <a:endParaRPr lang="zh-TW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7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83" y="3999529"/>
                <a:ext cx="5275932" cy="461665"/>
              </a:xfrm>
              <a:prstGeom prst="rect">
                <a:avLst/>
              </a:prstGeom>
              <a:blipFill rotWithShape="1">
                <a:blip r:embed="rId8"/>
                <a:stretch>
                  <a:fillRect t="-65" r="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椭圆形标注 49"/>
              <p:cNvSpPr/>
              <p:nvPr/>
            </p:nvSpPr>
            <p:spPr>
              <a:xfrm>
                <a:off x="8787038" y="2432632"/>
                <a:ext cx="3404961" cy="1389748"/>
              </a:xfrm>
              <a:prstGeom prst="wedgeEllipseCallout">
                <a:avLst>
                  <a:gd name="adj1" fmla="val -34125"/>
                  <a:gd name="adj2" fmla="val 5427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参数</m:t>
                      </m:r>
                      <m:r>
                        <a:rPr lang="zh-TW" altLang="en-US" sz="24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e>
                      </m:d>
                    </m:oMath>
                  </m:oMathPara>
                </a14:m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椭圆形标注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038" y="2432632"/>
                <a:ext cx="3404961" cy="1389748"/>
              </a:xfrm>
              <a:prstGeom prst="wedgeEllipseCallout">
                <a:avLst>
                  <a:gd name="adj1" fmla="val -34125"/>
                  <a:gd name="adj2" fmla="val 54276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橢圓 69"/>
          <p:cNvSpPr/>
          <p:nvPr/>
        </p:nvSpPr>
        <p:spPr>
          <a:xfrm>
            <a:off x="1861950" y="3355446"/>
            <a:ext cx="191799" cy="1917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橢圓 69"/>
          <p:cNvSpPr/>
          <p:nvPr/>
        </p:nvSpPr>
        <p:spPr>
          <a:xfrm>
            <a:off x="2838597" y="4538155"/>
            <a:ext cx="191799" cy="1917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橢圓 69"/>
          <p:cNvSpPr/>
          <p:nvPr/>
        </p:nvSpPr>
        <p:spPr>
          <a:xfrm>
            <a:off x="3362979" y="4613883"/>
            <a:ext cx="191799" cy="1917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352493"/>
            <a:ext cx="498966" cy="498966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054498" y="1339652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/>
      <p:bldP spid="36" grpId="0" animBg="1"/>
      <p:bldP spid="37" grpId="0"/>
      <p:bldP spid="41" grpId="0" animBg="1"/>
      <p:bldP spid="4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接點 41"/>
          <p:cNvCxnSpPr/>
          <p:nvPr/>
        </p:nvCxnSpPr>
        <p:spPr>
          <a:xfrm>
            <a:off x="4405972" y="4553649"/>
            <a:ext cx="6925" cy="12447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42"/>
          <p:cNvCxnSpPr>
            <a:stCxn id="36" idx="8"/>
            <a:endCxn id="131" idx="0"/>
          </p:cNvCxnSpPr>
          <p:nvPr/>
        </p:nvCxnSpPr>
        <p:spPr>
          <a:xfrm>
            <a:off x="7800885" y="5459618"/>
            <a:ext cx="1058" cy="313417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41"/>
          <p:cNvCxnSpPr/>
          <p:nvPr/>
        </p:nvCxnSpPr>
        <p:spPr>
          <a:xfrm>
            <a:off x="5403496" y="5034240"/>
            <a:ext cx="1" cy="73879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40"/>
          <p:cNvCxnSpPr>
            <a:stCxn id="37" idx="4"/>
          </p:cNvCxnSpPr>
          <p:nvPr/>
        </p:nvCxnSpPr>
        <p:spPr>
          <a:xfrm flipH="1">
            <a:off x="3262230" y="4546524"/>
            <a:ext cx="6402" cy="121480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6"/>
          <p:cNvCxnSpPr>
            <a:stCxn id="39" idx="4"/>
          </p:cNvCxnSpPr>
          <p:nvPr/>
        </p:nvCxnSpPr>
        <p:spPr>
          <a:xfrm>
            <a:off x="2147834" y="3318951"/>
            <a:ext cx="15269" cy="247360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26"/>
          <p:cNvCxnSpPr/>
          <p:nvPr/>
        </p:nvCxnSpPr>
        <p:spPr>
          <a:xfrm flipV="1">
            <a:off x="2271162" y="5754530"/>
            <a:ext cx="889411" cy="680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4"/>
          <p:cNvCxnSpPr/>
          <p:nvPr/>
        </p:nvCxnSpPr>
        <p:spPr>
          <a:xfrm>
            <a:off x="1272011" y="5903045"/>
            <a:ext cx="842802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3"/>
          <p:cNvCxnSpPr/>
          <p:nvPr/>
        </p:nvCxnSpPr>
        <p:spPr>
          <a:xfrm flipV="1">
            <a:off x="1690243" y="1749403"/>
            <a:ext cx="0" cy="43628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9"/>
          <p:cNvSpPr txBox="1"/>
          <p:nvPr/>
        </p:nvSpPr>
        <p:spPr>
          <a:xfrm>
            <a:off x="1641378" y="1659563"/>
            <a:ext cx="1108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总损失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字方塊 16"/>
          <p:cNvSpPr txBox="1"/>
          <p:nvPr/>
        </p:nvSpPr>
        <p:spPr>
          <a:xfrm>
            <a:off x="3059366" y="6075666"/>
            <a:ext cx="5195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神经网络参数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字方塊 10"/>
          <p:cNvSpPr txBox="1"/>
          <p:nvPr/>
        </p:nvSpPr>
        <p:spPr>
          <a:xfrm>
            <a:off x="2455394" y="2360827"/>
            <a:ext cx="2048188" cy="707886"/>
          </a:xfrm>
          <a:prstGeom prst="rect">
            <a:avLst/>
          </a:prstGeom>
          <a:solidFill>
            <a:srgbClr val="B0E8B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在平坦区变化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非常缓慢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27"/>
              <p:cNvSpPr txBox="1"/>
              <p:nvPr/>
            </p:nvSpPr>
            <p:spPr>
              <a:xfrm>
                <a:off x="8408845" y="4958302"/>
                <a:ext cx="1288691" cy="822469"/>
              </a:xfrm>
              <a:prstGeom prst="rect">
                <a:avLst/>
              </a:prstGeom>
              <a:solidFill>
                <a:srgbClr val="F6B89D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0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45" y="4958302"/>
                <a:ext cx="1288691" cy="822469"/>
              </a:xfrm>
              <a:prstGeom prst="rect">
                <a:avLst/>
              </a:prstGeom>
              <a:blipFill rotWithShape="1">
                <a:blip r:embed="rId3"/>
                <a:stretch>
                  <a:fillRect l="-408" t="-645" r="-359" b="-1886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文字方塊 32"/>
          <p:cNvSpPr txBox="1"/>
          <p:nvPr/>
        </p:nvSpPr>
        <p:spPr>
          <a:xfrm>
            <a:off x="3907468" y="3245966"/>
            <a:ext cx="1447103" cy="400110"/>
          </a:xfrm>
          <a:prstGeom prst="rect">
            <a:avLst/>
          </a:prstGeom>
          <a:solidFill>
            <a:srgbClr val="6EBF96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停在鞍点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3" name="直線單箭頭接點 33"/>
          <p:cNvCxnSpPr/>
          <p:nvPr/>
        </p:nvCxnSpPr>
        <p:spPr>
          <a:xfrm flipH="1" flipV="1">
            <a:off x="5401210" y="4422327"/>
            <a:ext cx="2286" cy="33232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35"/>
          <p:cNvCxnSpPr/>
          <p:nvPr/>
        </p:nvCxnSpPr>
        <p:spPr>
          <a:xfrm flipV="1">
            <a:off x="4395523" y="3908013"/>
            <a:ext cx="0" cy="33374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36"/>
          <p:cNvCxnSpPr/>
          <p:nvPr/>
        </p:nvCxnSpPr>
        <p:spPr>
          <a:xfrm flipH="1" flipV="1">
            <a:off x="3231270" y="3282404"/>
            <a:ext cx="5402" cy="86871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25"/>
              <p:cNvSpPr txBox="1"/>
              <p:nvPr/>
            </p:nvSpPr>
            <p:spPr>
              <a:xfrm>
                <a:off x="5507126" y="4950566"/>
                <a:ext cx="1292685" cy="822469"/>
              </a:xfrm>
              <a:prstGeom prst="rect">
                <a:avLst/>
              </a:prstGeom>
              <a:solidFill>
                <a:srgbClr val="F6B89D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126" y="4950566"/>
                <a:ext cx="1292685" cy="822469"/>
              </a:xfrm>
              <a:prstGeom prst="rect">
                <a:avLst/>
              </a:prstGeom>
              <a:blipFill rotWithShape="1">
                <a:blip r:embed="rId4"/>
                <a:stretch>
                  <a:fillRect l="-375" t="-631" r="-326" b="-1900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28"/>
              <p:cNvSpPr txBox="1"/>
              <p:nvPr/>
            </p:nvSpPr>
            <p:spPr>
              <a:xfrm>
                <a:off x="3392514" y="4932061"/>
                <a:ext cx="1303192" cy="822469"/>
              </a:xfrm>
              <a:prstGeom prst="rect">
                <a:avLst/>
              </a:prstGeom>
              <a:solidFill>
                <a:srgbClr val="F6B89D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7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514" y="4932061"/>
                <a:ext cx="1303192" cy="822469"/>
              </a:xfrm>
              <a:prstGeom prst="rect">
                <a:avLst/>
              </a:prstGeom>
              <a:blipFill rotWithShape="1">
                <a:blip r:embed="rId5"/>
                <a:stretch>
                  <a:fillRect l="-367" t="-620" r="-350" b="-1911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橢圓 34"/>
          <p:cNvSpPr/>
          <p:nvPr/>
        </p:nvSpPr>
        <p:spPr>
          <a:xfrm>
            <a:off x="2055045" y="5794986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橢圓 37"/>
          <p:cNvSpPr/>
          <p:nvPr/>
        </p:nvSpPr>
        <p:spPr>
          <a:xfrm>
            <a:off x="3160573" y="5789287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橢圓 38"/>
          <p:cNvSpPr/>
          <p:nvPr/>
        </p:nvSpPr>
        <p:spPr>
          <a:xfrm>
            <a:off x="5295439" y="5764839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橢圓 39"/>
          <p:cNvSpPr/>
          <p:nvPr/>
        </p:nvSpPr>
        <p:spPr>
          <a:xfrm>
            <a:off x="7693884" y="5773035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36" name="任意多边形 35"/>
          <p:cNvSpPr/>
          <p:nvPr/>
        </p:nvSpPr>
        <p:spPr>
          <a:xfrm>
            <a:off x="1742728" y="1875464"/>
            <a:ext cx="7321537" cy="3584241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橢圓 20"/>
          <p:cNvSpPr/>
          <p:nvPr/>
        </p:nvSpPr>
        <p:spPr>
          <a:xfrm>
            <a:off x="3160573" y="4319666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20"/>
          <p:cNvSpPr/>
          <p:nvPr/>
        </p:nvSpPr>
        <p:spPr>
          <a:xfrm>
            <a:off x="2039775" y="3092093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20"/>
          <p:cNvSpPr/>
          <p:nvPr/>
        </p:nvSpPr>
        <p:spPr>
          <a:xfrm>
            <a:off x="4287464" y="4319666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20"/>
          <p:cNvSpPr/>
          <p:nvPr/>
        </p:nvSpPr>
        <p:spPr>
          <a:xfrm>
            <a:off x="5281255" y="4810424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21"/>
          <p:cNvSpPr txBox="1"/>
          <p:nvPr/>
        </p:nvSpPr>
        <p:spPr>
          <a:xfrm>
            <a:off x="7058007" y="3979674"/>
            <a:ext cx="1505723" cy="400110"/>
          </a:xfrm>
          <a:prstGeom prst="rect">
            <a:avLst/>
          </a:prstGeom>
          <a:solidFill>
            <a:srgbClr val="51756B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全局最优值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橢圓 38"/>
          <p:cNvSpPr/>
          <p:nvPr/>
        </p:nvSpPr>
        <p:spPr>
          <a:xfrm>
            <a:off x="4304839" y="5790239"/>
            <a:ext cx="216117" cy="216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線單箭頭接點 33"/>
          <p:cNvCxnSpPr>
            <a:endCxn id="51" idx="2"/>
          </p:cNvCxnSpPr>
          <p:nvPr/>
        </p:nvCxnSpPr>
        <p:spPr>
          <a:xfrm flipV="1">
            <a:off x="7810868" y="4379784"/>
            <a:ext cx="1" cy="81701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橢圓 20"/>
          <p:cNvSpPr/>
          <p:nvPr/>
        </p:nvSpPr>
        <p:spPr>
          <a:xfrm>
            <a:off x="7693884" y="5292160"/>
            <a:ext cx="216118" cy="2268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文字方塊 21"/>
          <p:cNvSpPr txBox="1"/>
          <p:nvPr/>
        </p:nvSpPr>
        <p:spPr>
          <a:xfrm>
            <a:off x="4642992" y="3966974"/>
            <a:ext cx="1984789" cy="400110"/>
          </a:xfrm>
          <a:prstGeom prst="rect">
            <a:avLst/>
          </a:prstGeom>
          <a:solidFill>
            <a:srgbClr val="51756B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停在局部最优值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123890"/>
            <a:ext cx="498966" cy="498966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054498" y="1111049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3" y="1376534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037319" y="1333605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初始值影响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字方塊 8"/>
          <p:cNvSpPr txBox="1"/>
          <p:nvPr/>
        </p:nvSpPr>
        <p:spPr>
          <a:xfrm>
            <a:off x="6452565" y="4221512"/>
            <a:ext cx="4342436" cy="830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选取不同的初始值，可能到达不同的局部最小值</a:t>
            </a:r>
            <a:endParaRPr lang="zh-TW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3" y="2150620"/>
            <a:ext cx="5610225" cy="3479539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4677071" y="5008120"/>
            <a:ext cx="1387227" cy="622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23465" y="3181082"/>
            <a:ext cx="34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2801620" y="3024386"/>
            <a:ext cx="34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2796763" y="4580876"/>
            <a:ext cx="34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556208" y="4036846"/>
            <a:ext cx="34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</a:t>
            </a:r>
            <a:endParaRPr lang="zh-CN" altLang="en-US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387921" y="2863751"/>
            <a:ext cx="366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</a:t>
            </a:r>
            <a:endParaRPr lang="zh-CN" altLang="en-US" sz="2800" dirty="0"/>
          </a:p>
        </p:txBody>
      </p:sp>
      <p:cxnSp>
        <p:nvCxnSpPr>
          <p:cNvPr id="4" name="直接箭头连接符 3"/>
          <p:cNvCxnSpPr>
            <a:stCxn id="16" idx="3"/>
            <a:endCxn id="18" idx="1"/>
          </p:cNvCxnSpPr>
          <p:nvPr/>
        </p:nvCxnSpPr>
        <p:spPr>
          <a:xfrm>
            <a:off x="6754303" y="3125361"/>
            <a:ext cx="1037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791718" y="2863751"/>
            <a:ext cx="34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</a:t>
            </a:r>
            <a:endParaRPr lang="zh-CN" altLang="en-US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392680" y="3388389"/>
            <a:ext cx="34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B</a:t>
            </a:r>
            <a:endParaRPr lang="zh-CN" altLang="en-US" sz="2800" dirty="0"/>
          </a:p>
        </p:txBody>
      </p:sp>
      <p:cxnSp>
        <p:nvCxnSpPr>
          <p:cNvPr id="20" name="直接箭头连接符 19"/>
          <p:cNvCxnSpPr>
            <a:stCxn id="19" idx="3"/>
            <a:endCxn id="23" idx="1"/>
          </p:cNvCxnSpPr>
          <p:nvPr/>
        </p:nvCxnSpPr>
        <p:spPr>
          <a:xfrm>
            <a:off x="6739276" y="3649999"/>
            <a:ext cx="1037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776691" y="3388389"/>
            <a:ext cx="34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339470" y="2302059"/>
            <a:ext cx="1867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2328" y="1493828"/>
            <a:ext cx="51144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6532" y="2023156"/>
            <a:ext cx="9647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选择什么样的网络结构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选择多少层数，每层选择多少神经元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5049" y="3190003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6532" y="3701810"/>
            <a:ext cx="9647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选择常用损失函数，平方误差，交叉熵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6" y="3158210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65" y="1467628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07" y="4588912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15049" y="4612753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56532" y="5103394"/>
            <a:ext cx="96472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反向传播算法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/>
          <p:cNvGrpSpPr/>
          <p:nvPr/>
        </p:nvGrpSpPr>
        <p:grpSpPr>
          <a:xfrm>
            <a:off x="1815151" y="3433370"/>
            <a:ext cx="6474761" cy="2603607"/>
            <a:chOff x="1782898" y="1852294"/>
            <a:chExt cx="8509628" cy="3525248"/>
          </a:xfrm>
        </p:grpSpPr>
        <p:cxnSp>
          <p:nvCxnSpPr>
            <p:cNvPr id="99" name="直線單箭頭接點 10"/>
            <p:cNvCxnSpPr/>
            <p:nvPr/>
          </p:nvCxnSpPr>
          <p:spPr>
            <a:xfrm>
              <a:off x="8424402" y="3501898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11"/>
            <p:cNvCxnSpPr/>
            <p:nvPr/>
          </p:nvCxnSpPr>
          <p:spPr>
            <a:xfrm>
              <a:off x="8533718" y="4747788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2"/>
            <p:cNvCxnSpPr/>
            <p:nvPr/>
          </p:nvCxnSpPr>
          <p:spPr>
            <a:xfrm>
              <a:off x="8400518" y="2723095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矩形 101"/>
            <p:cNvSpPr/>
            <p:nvPr/>
          </p:nvSpPr>
          <p:spPr>
            <a:xfrm>
              <a:off x="2284605" y="2383236"/>
              <a:ext cx="746342" cy="27268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橢圓 17"/>
            <p:cNvSpPr/>
            <p:nvPr/>
          </p:nvSpPr>
          <p:spPr>
            <a:xfrm>
              <a:off x="2381715" y="246448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橢圓 18"/>
            <p:cNvSpPr/>
            <p:nvPr/>
          </p:nvSpPr>
          <p:spPr>
            <a:xfrm>
              <a:off x="2384057" y="324305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橢圓 19"/>
            <p:cNvSpPr/>
            <p:nvPr/>
          </p:nvSpPr>
          <p:spPr>
            <a:xfrm>
              <a:off x="2372424" y="4471062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文字方塊 20"/>
            <p:cNvSpPr txBox="1"/>
            <p:nvPr/>
          </p:nvSpPr>
          <p:spPr>
            <a:xfrm rot="5400000">
              <a:off x="2369676" y="3896562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3901591" y="1852294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橢圓 24"/>
            <p:cNvSpPr/>
            <p:nvPr/>
          </p:nvSpPr>
          <p:spPr>
            <a:xfrm>
              <a:off x="3988677" y="272573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橢圓 25"/>
            <p:cNvSpPr/>
            <p:nvPr/>
          </p:nvSpPr>
          <p:spPr>
            <a:xfrm>
              <a:off x="3991019" y="350430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橢圓 26"/>
            <p:cNvSpPr/>
            <p:nvPr/>
          </p:nvSpPr>
          <p:spPr>
            <a:xfrm>
              <a:off x="3979386" y="4732315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文字方塊 27"/>
            <p:cNvSpPr txBox="1"/>
            <p:nvPr/>
          </p:nvSpPr>
          <p:spPr>
            <a:xfrm rot="5400000">
              <a:off x="3976639" y="4157815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037595" y="2383235"/>
              <a:ext cx="746342" cy="27461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橢圓 28"/>
            <p:cNvSpPr/>
            <p:nvPr/>
          </p:nvSpPr>
          <p:spPr>
            <a:xfrm>
              <a:off x="8113439" y="2445372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橢圓 29"/>
            <p:cNvSpPr/>
            <p:nvPr/>
          </p:nvSpPr>
          <p:spPr>
            <a:xfrm>
              <a:off x="8115781" y="3205281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橢圓 30"/>
            <p:cNvSpPr/>
            <p:nvPr/>
          </p:nvSpPr>
          <p:spPr>
            <a:xfrm>
              <a:off x="8122809" y="4451954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文字方塊 31"/>
            <p:cNvSpPr txBox="1"/>
            <p:nvPr/>
          </p:nvSpPr>
          <p:spPr>
            <a:xfrm rot="5400000">
              <a:off x="8120062" y="3874291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文字方塊 32"/>
            <p:cNvSpPr txBox="1"/>
            <p:nvPr/>
          </p:nvSpPr>
          <p:spPr>
            <a:xfrm>
              <a:off x="6238035" y="191298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文字方塊 33"/>
            <p:cNvSpPr txBox="1"/>
            <p:nvPr/>
          </p:nvSpPr>
          <p:spPr>
            <a:xfrm>
              <a:off x="6237085" y="26694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文字方塊 34"/>
            <p:cNvSpPr txBox="1"/>
            <p:nvPr/>
          </p:nvSpPr>
          <p:spPr>
            <a:xfrm>
              <a:off x="6265083" y="4671800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0" name="直線單箭頭接點 35"/>
            <p:cNvCxnSpPr>
              <a:stCxn id="103" idx="6"/>
              <a:endCxn id="108" idx="2"/>
            </p:cNvCxnSpPr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38"/>
            <p:cNvCxnSpPr>
              <a:stCxn id="104" idx="6"/>
              <a:endCxn id="108" idx="2"/>
            </p:cNvCxnSpPr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39"/>
            <p:cNvCxnSpPr>
              <a:stCxn id="103" idx="6"/>
              <a:endCxn id="109" idx="2"/>
            </p:cNvCxnSpPr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單箭頭接點 40"/>
            <p:cNvCxnSpPr>
              <a:stCxn id="103" idx="6"/>
              <a:endCxn id="110" idx="2"/>
            </p:cNvCxnSpPr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單箭頭接點 41"/>
            <p:cNvCxnSpPr>
              <a:stCxn id="104" idx="6"/>
              <a:endCxn id="110" idx="2"/>
            </p:cNvCxnSpPr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單箭頭接點 42"/>
            <p:cNvCxnSpPr>
              <a:stCxn id="105" idx="6"/>
              <a:endCxn id="108" idx="2"/>
            </p:cNvCxnSpPr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線單箭頭接點 43"/>
            <p:cNvCxnSpPr>
              <a:stCxn id="105" idx="6"/>
              <a:endCxn id="109" idx="2"/>
            </p:cNvCxnSpPr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字方塊 53"/>
            <p:cNvSpPr txBox="1"/>
            <p:nvPr/>
          </p:nvSpPr>
          <p:spPr>
            <a:xfrm rot="5400000">
              <a:off x="9393080" y="3905263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文字方塊 54"/>
            <p:cNvSpPr txBox="1"/>
            <p:nvPr/>
          </p:nvSpPr>
          <p:spPr>
            <a:xfrm>
              <a:off x="9462173" y="2383235"/>
              <a:ext cx="63106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文字方塊 55"/>
            <p:cNvSpPr txBox="1"/>
            <p:nvPr/>
          </p:nvSpPr>
          <p:spPr>
            <a:xfrm>
              <a:off x="9450889" y="3181455"/>
              <a:ext cx="63106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文字方塊 56"/>
            <p:cNvSpPr txBox="1"/>
            <p:nvPr/>
          </p:nvSpPr>
          <p:spPr>
            <a:xfrm>
              <a:off x="9450888" y="4447687"/>
              <a:ext cx="84163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4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橢圓 24"/>
            <p:cNvSpPr/>
            <p:nvPr/>
          </p:nvSpPr>
          <p:spPr>
            <a:xfrm>
              <a:off x="3988677" y="1947020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0" name="直線單箭頭接點 35"/>
            <p:cNvCxnSpPr>
              <a:endCxn id="103" idx="2"/>
            </p:cNvCxnSpPr>
            <p:nvPr/>
          </p:nvCxnSpPr>
          <p:spPr>
            <a:xfrm>
              <a:off x="1815151" y="2751559"/>
              <a:ext cx="56656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單箭頭接點 35"/>
            <p:cNvCxnSpPr/>
            <p:nvPr/>
          </p:nvCxnSpPr>
          <p:spPr>
            <a:xfrm>
              <a:off x="1805860" y="3530129"/>
              <a:ext cx="56656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單箭頭接點 35"/>
            <p:cNvCxnSpPr/>
            <p:nvPr/>
          </p:nvCxnSpPr>
          <p:spPr>
            <a:xfrm>
              <a:off x="1805860" y="4762973"/>
              <a:ext cx="56656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文字方塊 54"/>
            <p:cNvSpPr txBox="1"/>
            <p:nvPr/>
          </p:nvSpPr>
          <p:spPr>
            <a:xfrm>
              <a:off x="1799464" y="2219157"/>
              <a:ext cx="63106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TW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文字方塊 54"/>
            <p:cNvSpPr txBox="1"/>
            <p:nvPr/>
          </p:nvSpPr>
          <p:spPr>
            <a:xfrm>
              <a:off x="1782898" y="2993107"/>
              <a:ext cx="63106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文字方塊 54"/>
            <p:cNvSpPr txBox="1"/>
            <p:nvPr/>
          </p:nvSpPr>
          <p:spPr>
            <a:xfrm>
              <a:off x="1794623" y="4213488"/>
              <a:ext cx="631068" cy="62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4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6" name="直線單箭頭接點 35"/>
            <p:cNvCxnSpPr>
              <a:endCxn id="209" idx="2"/>
            </p:cNvCxnSpPr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單箭頭接點 38"/>
            <p:cNvCxnSpPr>
              <a:stCxn id="105" idx="6"/>
            </p:cNvCxnSpPr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矩形 218"/>
            <p:cNvSpPr/>
            <p:nvPr/>
          </p:nvSpPr>
          <p:spPr>
            <a:xfrm>
              <a:off x="5500947" y="1853968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橢圓 24"/>
            <p:cNvSpPr/>
            <p:nvPr/>
          </p:nvSpPr>
          <p:spPr>
            <a:xfrm>
              <a:off x="5588033" y="272740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橢圓 25"/>
            <p:cNvSpPr/>
            <p:nvPr/>
          </p:nvSpPr>
          <p:spPr>
            <a:xfrm>
              <a:off x="5590375" y="350597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橢圓 26"/>
            <p:cNvSpPr/>
            <p:nvPr/>
          </p:nvSpPr>
          <p:spPr>
            <a:xfrm>
              <a:off x="5578742" y="4733989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文字方塊 27"/>
            <p:cNvSpPr txBox="1"/>
            <p:nvPr/>
          </p:nvSpPr>
          <p:spPr>
            <a:xfrm rot="5400000">
              <a:off x="5575995" y="4159490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橢圓 24"/>
            <p:cNvSpPr/>
            <p:nvPr/>
          </p:nvSpPr>
          <p:spPr>
            <a:xfrm>
              <a:off x="5588033" y="1948694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5" name="组合 224"/>
            <p:cNvGrpSpPr/>
            <p:nvPr/>
          </p:nvGrpSpPr>
          <p:grpSpPr>
            <a:xfrm>
              <a:off x="4553544" y="2234099"/>
              <a:ext cx="1036831" cy="2792013"/>
              <a:chOff x="4553544" y="2234099"/>
              <a:chExt cx="1036831" cy="2792013"/>
            </a:xfrm>
          </p:grpSpPr>
          <p:cxnSp>
            <p:nvCxnSpPr>
              <p:cNvPr id="239" name="直線單箭頭接點 35"/>
              <p:cNvCxnSpPr>
                <a:stCxn id="209" idx="6"/>
                <a:endCxn id="224" idx="2"/>
              </p:cNvCxnSpPr>
              <p:nvPr/>
            </p:nvCxnSpPr>
            <p:spPr>
              <a:xfrm>
                <a:off x="4562835" y="2234099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單箭頭接點 35"/>
              <p:cNvCxnSpPr>
                <a:stCxn id="209" idx="6"/>
                <a:endCxn id="220" idx="2"/>
              </p:cNvCxnSpPr>
              <p:nvPr/>
            </p:nvCxnSpPr>
            <p:spPr>
              <a:xfrm>
                <a:off x="4562835" y="2234099"/>
                <a:ext cx="1025198" cy="7803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單箭頭接點 35"/>
              <p:cNvCxnSpPr>
                <a:stCxn id="209" idx="6"/>
                <a:endCxn id="221" idx="2"/>
              </p:cNvCxnSpPr>
              <p:nvPr/>
            </p:nvCxnSpPr>
            <p:spPr>
              <a:xfrm>
                <a:off x="4562835" y="2234099"/>
                <a:ext cx="1027540" cy="1558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單箭頭接點 35"/>
              <p:cNvCxnSpPr>
                <a:endCxn id="222" idx="2"/>
              </p:cNvCxnSpPr>
              <p:nvPr/>
            </p:nvCxnSpPr>
            <p:spPr>
              <a:xfrm>
                <a:off x="4589452" y="2287149"/>
                <a:ext cx="989290" cy="27339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線單箭頭接點 35"/>
              <p:cNvCxnSpPr>
                <a:stCxn id="108" idx="6"/>
                <a:endCxn id="224" idx="2"/>
              </p:cNvCxnSpPr>
              <p:nvPr/>
            </p:nvCxnSpPr>
            <p:spPr>
              <a:xfrm flipV="1">
                <a:off x="4562835" y="2235773"/>
                <a:ext cx="1025198" cy="7770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線單箭頭接點 35"/>
              <p:cNvCxnSpPr>
                <a:stCxn id="108" idx="6"/>
                <a:endCxn id="220" idx="2"/>
              </p:cNvCxnSpPr>
              <p:nvPr/>
            </p:nvCxnSpPr>
            <p:spPr>
              <a:xfrm>
                <a:off x="4562835" y="301281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線單箭頭接點 35"/>
              <p:cNvCxnSpPr>
                <a:endCxn id="221" idx="2"/>
              </p:cNvCxnSpPr>
              <p:nvPr/>
            </p:nvCxnSpPr>
            <p:spPr>
              <a:xfrm>
                <a:off x="4598743" y="3012812"/>
                <a:ext cx="991632" cy="7802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線單箭頭接點 35"/>
              <p:cNvCxnSpPr>
                <a:stCxn id="108" idx="6"/>
                <a:endCxn id="222" idx="2"/>
              </p:cNvCxnSpPr>
              <p:nvPr/>
            </p:nvCxnSpPr>
            <p:spPr>
              <a:xfrm>
                <a:off x="4562835" y="3012812"/>
                <a:ext cx="1015907" cy="20082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單箭頭接點 35"/>
              <p:cNvCxnSpPr>
                <a:stCxn id="109" idx="6"/>
              </p:cNvCxnSpPr>
              <p:nvPr/>
            </p:nvCxnSpPr>
            <p:spPr>
              <a:xfrm flipV="1">
                <a:off x="4565177" y="2276260"/>
                <a:ext cx="1010214" cy="15151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單箭頭接點 35"/>
              <p:cNvCxnSpPr>
                <a:stCxn id="109" idx="6"/>
              </p:cNvCxnSpPr>
              <p:nvPr/>
            </p:nvCxnSpPr>
            <p:spPr>
              <a:xfrm flipV="1">
                <a:off x="4565177" y="3054973"/>
                <a:ext cx="1010214" cy="7364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單箭頭接點 35"/>
              <p:cNvCxnSpPr>
                <a:stCxn id="109" idx="6"/>
                <a:endCxn id="221" idx="2"/>
              </p:cNvCxnSpPr>
              <p:nvPr/>
            </p:nvCxnSpPr>
            <p:spPr>
              <a:xfrm>
                <a:off x="4565177" y="379138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單箭頭接點 35"/>
              <p:cNvCxnSpPr>
                <a:stCxn id="109" idx="6"/>
                <a:endCxn id="222" idx="2"/>
              </p:cNvCxnSpPr>
              <p:nvPr/>
            </p:nvCxnSpPr>
            <p:spPr>
              <a:xfrm>
                <a:off x="4565177" y="3791382"/>
                <a:ext cx="1013565" cy="1229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線單箭頭接點 35"/>
              <p:cNvCxnSpPr>
                <a:stCxn id="110" idx="6"/>
                <a:endCxn id="224" idx="2"/>
              </p:cNvCxnSpPr>
              <p:nvPr/>
            </p:nvCxnSpPr>
            <p:spPr>
              <a:xfrm flipV="1">
                <a:off x="4553544" y="2235773"/>
                <a:ext cx="1034489" cy="278362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線單箭頭接點 35"/>
              <p:cNvCxnSpPr>
                <a:stCxn id="110" idx="6"/>
              </p:cNvCxnSpPr>
              <p:nvPr/>
            </p:nvCxnSpPr>
            <p:spPr>
              <a:xfrm flipV="1">
                <a:off x="4553544" y="3089778"/>
                <a:ext cx="1011553" cy="19296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單箭頭接點 35"/>
              <p:cNvCxnSpPr>
                <a:stCxn id="110" idx="6"/>
                <a:endCxn id="221" idx="2"/>
              </p:cNvCxnSpPr>
              <p:nvPr/>
            </p:nvCxnSpPr>
            <p:spPr>
              <a:xfrm flipV="1">
                <a:off x="4553544" y="3793056"/>
                <a:ext cx="1036831" cy="122633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單箭頭接點 35"/>
              <p:cNvCxnSpPr>
                <a:endCxn id="222" idx="2"/>
              </p:cNvCxnSpPr>
              <p:nvPr/>
            </p:nvCxnSpPr>
            <p:spPr>
              <a:xfrm flipV="1">
                <a:off x="4560493" y="5021068"/>
                <a:ext cx="1018249" cy="50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6" name="文字方塊 33"/>
            <p:cNvSpPr txBox="1"/>
            <p:nvPr/>
          </p:nvSpPr>
          <p:spPr>
            <a:xfrm>
              <a:off x="6249214" y="344306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7" name="直線單箭頭接點 35"/>
            <p:cNvCxnSpPr>
              <a:endCxn id="113" idx="2"/>
            </p:cNvCxnSpPr>
            <p:nvPr/>
          </p:nvCxnSpPr>
          <p:spPr>
            <a:xfrm>
              <a:off x="6976114" y="2255872"/>
              <a:ext cx="1137325" cy="4765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線單箭頭接點 35"/>
            <p:cNvCxnSpPr>
              <a:endCxn id="114" idx="2"/>
            </p:cNvCxnSpPr>
            <p:nvPr/>
          </p:nvCxnSpPr>
          <p:spPr>
            <a:xfrm>
              <a:off x="6976114" y="2255872"/>
              <a:ext cx="1139667" cy="1236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線單箭頭接點 35"/>
            <p:cNvCxnSpPr>
              <a:endCxn id="115" idx="2"/>
            </p:cNvCxnSpPr>
            <p:nvPr/>
          </p:nvCxnSpPr>
          <p:spPr>
            <a:xfrm>
              <a:off x="6976114" y="2255872"/>
              <a:ext cx="1146695" cy="24831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線單箭頭接點 35"/>
            <p:cNvCxnSpPr/>
            <p:nvPr/>
          </p:nvCxnSpPr>
          <p:spPr>
            <a:xfrm flipV="1">
              <a:off x="6976114" y="2731274"/>
              <a:ext cx="1100500" cy="3033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線單箭頭接點 35"/>
            <p:cNvCxnSpPr>
              <a:endCxn id="114" idx="2"/>
            </p:cNvCxnSpPr>
            <p:nvPr/>
          </p:nvCxnSpPr>
          <p:spPr>
            <a:xfrm>
              <a:off x="7012022" y="3034585"/>
              <a:ext cx="1103759" cy="4577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線單箭頭接點 35"/>
            <p:cNvCxnSpPr>
              <a:endCxn id="115" idx="2"/>
            </p:cNvCxnSpPr>
            <p:nvPr/>
          </p:nvCxnSpPr>
          <p:spPr>
            <a:xfrm>
              <a:off x="6976114" y="3034585"/>
              <a:ext cx="1146695" cy="1704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單箭頭接點 35"/>
            <p:cNvCxnSpPr>
              <a:endCxn id="113" idx="2"/>
            </p:cNvCxnSpPr>
            <p:nvPr/>
          </p:nvCxnSpPr>
          <p:spPr>
            <a:xfrm flipV="1">
              <a:off x="6978456" y="2732451"/>
              <a:ext cx="1134983" cy="1080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線單箭頭接點 35"/>
            <p:cNvCxnSpPr>
              <a:endCxn id="114" idx="2"/>
            </p:cNvCxnSpPr>
            <p:nvPr/>
          </p:nvCxnSpPr>
          <p:spPr>
            <a:xfrm flipV="1">
              <a:off x="6978456" y="3492360"/>
              <a:ext cx="1137325" cy="3207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線單箭頭接點 35"/>
            <p:cNvCxnSpPr>
              <a:endCxn id="115" idx="2"/>
            </p:cNvCxnSpPr>
            <p:nvPr/>
          </p:nvCxnSpPr>
          <p:spPr>
            <a:xfrm>
              <a:off x="6978456" y="3813155"/>
              <a:ext cx="1144353" cy="925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單箭頭接點 35"/>
            <p:cNvCxnSpPr>
              <a:endCxn id="113" idx="2"/>
            </p:cNvCxnSpPr>
            <p:nvPr/>
          </p:nvCxnSpPr>
          <p:spPr>
            <a:xfrm flipV="1">
              <a:off x="6966823" y="2732451"/>
              <a:ext cx="1146616" cy="23087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線單箭頭接點 35"/>
            <p:cNvCxnSpPr>
              <a:endCxn id="115" idx="2"/>
            </p:cNvCxnSpPr>
            <p:nvPr/>
          </p:nvCxnSpPr>
          <p:spPr>
            <a:xfrm flipV="1">
              <a:off x="6966823" y="4739033"/>
              <a:ext cx="1155986" cy="3021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線單箭頭接點 35"/>
            <p:cNvCxnSpPr>
              <a:endCxn id="114" idx="2"/>
            </p:cNvCxnSpPr>
            <p:nvPr/>
          </p:nvCxnSpPr>
          <p:spPr>
            <a:xfrm flipV="1">
              <a:off x="6966823" y="3492360"/>
              <a:ext cx="1148958" cy="15488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1" y="1182209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933597" y="1126256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反向传播算法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1395" y="4179712"/>
            <a:ext cx="1184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en-US" altLang="zh-CN" sz="2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8003729" y="4314769"/>
                <a:ext cx="2711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模型输出：</a:t>
                </a:r>
                <a:r>
                  <a:rPr lang="en-US" altLang="zh-CN" sz="2400" b="1" dirty="0">
                    <a:solidFill>
                      <a:schemeClr val="accent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zh-CN" altLang="en-US" sz="24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729" y="4314769"/>
                <a:ext cx="271189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359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8015350" y="5102262"/>
                <a:ext cx="2711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标准答案：</a:t>
                </a:r>
                <a:r>
                  <a:rPr lang="en-US" altLang="zh-CN" sz="2400" b="1" dirty="0">
                    <a:solidFill>
                      <a:schemeClr val="accent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zh-CN" altLang="en-US" sz="2400" b="1" dirty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50" y="5102262"/>
                <a:ext cx="2711896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59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/>
          <p:cNvCxnSpPr/>
          <p:nvPr/>
        </p:nvCxnSpPr>
        <p:spPr>
          <a:xfrm>
            <a:off x="8646126" y="4666121"/>
            <a:ext cx="0" cy="4214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628182" y="213168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总误差 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2174969" y="2047785"/>
                <a:ext cx="22548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type m:val="lin"/>
                          <m:ctrlP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969" y="2047785"/>
                <a:ext cx="2254848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4" t="-118" r="-842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箭头连接符 31"/>
          <p:cNvCxnSpPr/>
          <p:nvPr/>
        </p:nvCxnSpPr>
        <p:spPr>
          <a:xfrm flipH="1">
            <a:off x="3329638" y="2572420"/>
            <a:ext cx="19884" cy="46799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817980" y="3439285"/>
                <a:ext cx="6289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980" y="3439285"/>
                <a:ext cx="628955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77" t="-27" r="-350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/>
          <p:cNvCxnSpPr/>
          <p:nvPr/>
        </p:nvCxnSpPr>
        <p:spPr>
          <a:xfrm flipH="1">
            <a:off x="4966761" y="2429514"/>
            <a:ext cx="193283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5047061" y="2060182"/>
                <a:ext cx="14977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lang="en-US" altLang="zh-TW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061" y="2060182"/>
                <a:ext cx="149778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5" t="-66" r="-98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325857" y="2650519"/>
                <a:ext cx="9794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更新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857" y="2650519"/>
                <a:ext cx="979499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37" t="-8" r="-2587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82955" y="1030789"/>
            <a:ext cx="899000" cy="107879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8289912" y="1186232"/>
                <a:ext cx="28774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只剩一个问题：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怎么求</a:t>
                </a:r>
                <a:r>
                  <a:rPr lang="en-US" altLang="zh-TW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梯度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zh-TW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912" y="1186232"/>
                <a:ext cx="2877400" cy="830997"/>
              </a:xfrm>
              <a:prstGeom prst="rect">
                <a:avLst/>
              </a:prstGeom>
              <a:blipFill rotWithShape="1">
                <a:blip r:embed="rId10"/>
                <a:stretch>
                  <a:fillRect l="-22" t="-6" r="-1185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4873623" y="2652196"/>
                <a:ext cx="311006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以此类推更新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623" y="2652196"/>
                <a:ext cx="3110066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20" t="-118" r="1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文字方塊 59"/>
          <p:cNvSpPr txBox="1"/>
          <p:nvPr/>
        </p:nvSpPr>
        <p:spPr>
          <a:xfrm>
            <a:off x="3485945" y="6119777"/>
            <a:ext cx="1559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隐藏层</a:t>
            </a:r>
            <a:endParaRPr lang="zh-TW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2072367" y="3338449"/>
            <a:ext cx="118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3284047" y="3091010"/>
            <a:ext cx="118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493723" y="3100531"/>
            <a:ext cx="118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6428656" y="3334988"/>
            <a:ext cx="118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49914" y="2566873"/>
            <a:ext cx="4651482" cy="2755798"/>
            <a:chOff x="3507418" y="3029580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530844" y="3170384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536222" y="3946384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530844" y="4722384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694463" y="3170384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99841" y="3946384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694463" y="4722384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6055305" y="3946384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950392" y="3386882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955770" y="4162882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950392" y="4162882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5114011" y="3386882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5114011" y="4162882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5119389" y="4162882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474853" y="4162882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4369940" y="3029580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940" y="3029580"/>
                  <a:ext cx="376514" cy="37196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950392" y="3386882"/>
              <a:ext cx="744071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926966" y="4162882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950392" y="4938882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950392" y="3386882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950392" y="3386882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950392" y="3386882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568500" y="3189257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8500" y="3189257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557739" y="3962285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739" y="3962285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550573" y="4722384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573" y="4722384"/>
                  <a:ext cx="376514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5073672" y="3029656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3672" y="3029656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本框 33"/>
            <p:cNvSpPr txBox="1"/>
            <p:nvPr/>
          </p:nvSpPr>
          <p:spPr>
            <a:xfrm>
              <a:off x="3507418" y="4448035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38" name="椭圆 37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9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803173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364349" y="2537444"/>
                <a:ext cx="4725228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349" y="2537444"/>
                <a:ext cx="4725228" cy="2663777"/>
              </a:xfrm>
              <a:prstGeom prst="rect">
                <a:avLst/>
              </a:prstGeom>
              <a:blipFill rotWithShape="1">
                <a:blip r:embed="rId9"/>
                <a:stretch>
                  <a:fillRect l="-8" t="-23" r="1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3" name="椭圆 42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0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737527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364349" y="2537444"/>
                <a:ext cx="4725228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349" y="2537444"/>
                <a:ext cx="4725228" cy="2663777"/>
              </a:xfrm>
              <a:prstGeom prst="rect">
                <a:avLst/>
              </a:prstGeom>
              <a:blipFill rotWithShape="1">
                <a:blip r:embed="rId9"/>
                <a:stretch>
                  <a:fillRect l="-8" t="-23" r="1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0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2" name="椭圆 41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1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688292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  <a:blipFill rotWithShape="1">
                <a:blip r:embed="rId9"/>
                <a:stretch>
                  <a:fillRect l="-7" t="-23" r="10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0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2" name="椭圆 41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1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753938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  <a:blipFill rotWithShape="1">
                <a:blip r:embed="rId9"/>
                <a:stretch>
                  <a:fillRect l="-7" t="-23" r="10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0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2" name="椭圆 41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1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753938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5B29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5830949" y="2719853"/>
                <a:ext cx="5734886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49" y="2719853"/>
                <a:ext cx="5734886" cy="2663777"/>
              </a:xfrm>
              <a:prstGeom prst="rect">
                <a:avLst/>
              </a:prstGeom>
              <a:blipFill rotWithShape="0">
                <a:blip r:embed="rId9"/>
                <a:stretch>
                  <a:fillRect l="-1489" t="-2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0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42" name="椭圆 41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1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3697357"/>
            <a:chOff x="3037205" y="2436905"/>
            <a:chExt cx="3734811" cy="2854037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AACE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椭圆 30"/>
            <p:cNvSpPr/>
            <p:nvPr/>
          </p:nvSpPr>
          <p:spPr>
            <a:xfrm>
              <a:off x="3066009" y="4857946"/>
              <a:ext cx="419548" cy="432996"/>
            </a:xfrm>
            <a:prstGeom prst="ellipse">
              <a:avLst/>
            </a:prstGeom>
            <a:solidFill>
              <a:srgbClr val="F4B18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3083456" y="4927392"/>
                  <a:ext cx="880329" cy="2871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+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456" y="4927392"/>
                  <a:ext cx="880329" cy="28712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9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349" y="2537444"/>
                <a:ext cx="5734886" cy="2663777"/>
              </a:xfrm>
              <a:prstGeom prst="rect">
                <a:avLst/>
              </a:prstGeom>
              <a:blipFill rotWithShape="1">
                <a:blip r:embed="rId10"/>
                <a:stretch>
                  <a:fillRect l="-7" t="-23" r="10" b="-6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1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2420136" y="3605055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36" y="3605055"/>
                <a:ext cx="376514" cy="372474"/>
              </a:xfrm>
              <a:prstGeom prst="rect">
                <a:avLst/>
              </a:prstGeom>
              <a:blipFill rotWithShape="1">
                <a:blip r:embed="rId12"/>
                <a:stretch>
                  <a:fillRect l="-40" t="-43" r="29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3251880" y="3614386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80" y="3614386"/>
                <a:ext cx="376514" cy="372474"/>
              </a:xfrm>
              <a:prstGeom prst="rect">
                <a:avLst/>
              </a:prstGeom>
              <a:blipFill rotWithShape="1">
                <a:blip r:embed="rId13"/>
                <a:stretch>
                  <a:fillRect l="-12" t="-161" r="1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3251880" y="4944172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80" y="4944172"/>
                <a:ext cx="376514" cy="372474"/>
              </a:xfrm>
              <a:prstGeom prst="rect">
                <a:avLst/>
              </a:prstGeom>
              <a:blipFill rotWithShape="1">
                <a:blip r:embed="rId14"/>
                <a:stretch>
                  <a:fillRect l="-12" t="-17" r="1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图片 4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49914" y="2537444"/>
            <a:ext cx="4662308" cy="2753938"/>
            <a:chOff x="3037205" y="2436905"/>
            <a:chExt cx="3734811" cy="2125800"/>
          </a:xfrm>
        </p:grpSpPr>
        <p:sp>
          <p:nvSpPr>
            <p:cNvPr id="6" name="椭圆 5"/>
            <p:cNvSpPr/>
            <p:nvPr/>
          </p:nvSpPr>
          <p:spPr>
            <a:xfrm>
              <a:off x="3060631" y="2577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066009" y="3353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060631" y="4129709"/>
              <a:ext cx="419548" cy="4329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224250" y="2577709"/>
              <a:ext cx="419548" cy="432996"/>
            </a:xfrm>
            <a:prstGeom prst="ellipse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29628" y="3353709"/>
              <a:ext cx="419548" cy="43299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224250" y="4129709"/>
              <a:ext cx="419548" cy="43299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585092" y="3353709"/>
              <a:ext cx="419548" cy="43299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6" idx="6"/>
              <a:endCxn id="10" idx="2"/>
            </p:cNvCxnSpPr>
            <p:nvPr/>
          </p:nvCxnSpPr>
          <p:spPr>
            <a:xfrm>
              <a:off x="3480179" y="2794207"/>
              <a:ext cx="749449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6"/>
              <a:endCxn id="10" idx="2"/>
            </p:cNvCxnSpPr>
            <p:nvPr/>
          </p:nvCxnSpPr>
          <p:spPr>
            <a:xfrm>
              <a:off x="3485557" y="3570207"/>
              <a:ext cx="744071" cy="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8" idx="6"/>
              <a:endCxn id="10" idx="2"/>
            </p:cNvCxnSpPr>
            <p:nvPr/>
          </p:nvCxnSpPr>
          <p:spPr>
            <a:xfrm flipV="1">
              <a:off x="3480179" y="3570207"/>
              <a:ext cx="749449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6"/>
              <a:endCxn id="12" idx="2"/>
            </p:cNvCxnSpPr>
            <p:nvPr/>
          </p:nvCxnSpPr>
          <p:spPr>
            <a:xfrm>
              <a:off x="4643798" y="2794207"/>
              <a:ext cx="941294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6"/>
              <a:endCxn id="12" idx="2"/>
            </p:cNvCxnSpPr>
            <p:nvPr/>
          </p:nvCxnSpPr>
          <p:spPr>
            <a:xfrm flipV="1">
              <a:off x="4643798" y="3570207"/>
              <a:ext cx="941294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6"/>
              <a:endCxn id="12" idx="2"/>
            </p:cNvCxnSpPr>
            <p:nvPr/>
          </p:nvCxnSpPr>
          <p:spPr>
            <a:xfrm>
              <a:off x="4649176" y="3570207"/>
              <a:ext cx="935916" cy="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2" idx="6"/>
            </p:cNvCxnSpPr>
            <p:nvPr/>
          </p:nvCxnSpPr>
          <p:spPr>
            <a:xfrm>
              <a:off x="6004640" y="3570207"/>
              <a:ext cx="767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27" y="2436905"/>
                  <a:ext cx="376514" cy="3719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endCxn id="9" idx="2"/>
            </p:cNvCxnSpPr>
            <p:nvPr/>
          </p:nvCxnSpPr>
          <p:spPr>
            <a:xfrm flipV="1">
              <a:off x="3480179" y="2794207"/>
              <a:ext cx="744071" cy="776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1" idx="2"/>
            </p:cNvCxnSpPr>
            <p:nvPr/>
          </p:nvCxnSpPr>
          <p:spPr>
            <a:xfrm>
              <a:off x="3456753" y="3570207"/>
              <a:ext cx="767497" cy="77600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6"/>
              <a:endCxn id="11" idx="2"/>
            </p:cNvCxnSpPr>
            <p:nvPr/>
          </p:nvCxnSpPr>
          <p:spPr>
            <a:xfrm>
              <a:off x="3480179" y="4346207"/>
              <a:ext cx="744071" cy="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</p:cNvCxnSpPr>
            <p:nvPr/>
          </p:nvCxnSpPr>
          <p:spPr>
            <a:xfrm flipV="1"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480179" y="2794207"/>
              <a:ext cx="74407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11" idx="2"/>
            </p:cNvCxnSpPr>
            <p:nvPr/>
          </p:nvCxnSpPr>
          <p:spPr>
            <a:xfrm>
              <a:off x="3480179" y="2794207"/>
              <a:ext cx="744071" cy="1552000"/>
            </a:xfrm>
            <a:prstGeom prst="straightConnector1">
              <a:avLst/>
            </a:prstGeom>
            <a:ln w="34925">
              <a:solidFill>
                <a:srgbClr val="CF3C3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287" y="2596582"/>
                  <a:ext cx="376514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526" y="3369610"/>
                  <a:ext cx="37651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360" y="4129709"/>
                  <a:ext cx="37651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3459" y="2436981"/>
                  <a:ext cx="376514" cy="37196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692" y="2456695"/>
                  <a:ext cx="376514" cy="37196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3037205" y="3855360"/>
              <a:ext cx="461665" cy="311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假定第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层神经元状态为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激活函数后的输出值为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p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14" y="1913931"/>
                <a:ext cx="8528293" cy="517001"/>
              </a:xfrm>
              <a:prstGeom prst="rect">
                <a:avLst/>
              </a:prstGeom>
              <a:blipFill rotWithShape="0">
                <a:blip r:embed="rId8"/>
                <a:stretch>
                  <a:fillRect l="-92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内容占位符 2"/>
              <p:cNvSpPr txBox="1"/>
              <p:nvPr/>
            </p:nvSpPr>
            <p:spPr>
              <a:xfrm>
                <a:off x="6122617" y="2599839"/>
                <a:ext cx="6187013" cy="266377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i="1" dirty="0">
                    <a:latin typeface="Cambria Math" panose="02040503050406030204" pitchFamily="18" charset="0"/>
                  </a:rPr>
                  <a:t>V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 defTabSz="685800">
                  <a:spcBef>
                    <a:spcPts val="750"/>
                  </a:spcBef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其中</a:t>
                </a:r>
                <a:r>
                  <a:rPr lang="zh-CN" altLang="en-US" sz="2000" i="1" dirty="0">
                    <a:latin typeface="Cambria Math" panose="02040503050406030204" pitchFamily="18" charset="0"/>
                  </a:rPr>
                  <a:t>：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defTabSz="685800">
                  <a:spcBef>
                    <a:spcPts val="75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defTabSz="685800">
                  <a:spcBef>
                    <a:spcPts val="75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defTabSz="685800">
                  <a:spcBef>
                    <a:spcPts val="75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617" y="2599839"/>
                <a:ext cx="6187013" cy="2663777"/>
              </a:xfrm>
              <a:prstGeom prst="rect">
                <a:avLst/>
              </a:prstGeom>
              <a:blipFill rotWithShape="1">
                <a:blip r:embed="rId9"/>
                <a:stretch>
                  <a:fillRect l="-9" t="-6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706" y="3352057"/>
                <a:ext cx="376514" cy="371961"/>
              </a:xfrm>
              <a:prstGeom prst="rect">
                <a:avLst/>
              </a:prstGeom>
              <a:blipFill rotWithShape="1">
                <a:blip r:embed="rId10"/>
                <a:stretch>
                  <a:fillRect l="-96" t="-142" r="-2200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2420136" y="3605055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36" y="3605055"/>
                <a:ext cx="376514" cy="372474"/>
              </a:xfrm>
              <a:prstGeom prst="rect">
                <a:avLst/>
              </a:prstGeom>
              <a:blipFill rotWithShape="1">
                <a:blip r:embed="rId11"/>
                <a:stretch>
                  <a:fillRect l="-40" t="-43" r="29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3251880" y="3614386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80" y="3614386"/>
                <a:ext cx="376514" cy="372474"/>
              </a:xfrm>
              <a:prstGeom prst="rect">
                <a:avLst/>
              </a:prstGeom>
              <a:blipFill rotWithShape="1">
                <a:blip r:embed="rId12"/>
                <a:stretch>
                  <a:fillRect l="-12" t="-161" r="1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/>
              <p:cNvSpPr txBox="1"/>
              <p:nvPr/>
            </p:nvSpPr>
            <p:spPr>
              <a:xfrm>
                <a:off x="3707307" y="3166076"/>
                <a:ext cx="294992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307" y="3166076"/>
                <a:ext cx="294992" cy="371961"/>
              </a:xfrm>
              <a:prstGeom prst="rect">
                <a:avLst/>
              </a:prstGeom>
              <a:blipFill rotWithShape="1">
                <a:blip r:embed="rId13"/>
                <a:stretch>
                  <a:fillRect l="-60" t="-162" r="-23499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3702530" y="3745748"/>
                <a:ext cx="376514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530" y="3745748"/>
                <a:ext cx="376514" cy="371961"/>
              </a:xfrm>
              <a:prstGeom prst="rect">
                <a:avLst/>
              </a:prstGeom>
              <a:blipFill rotWithShape="1">
                <a:blip r:embed="rId14"/>
                <a:stretch>
                  <a:fillRect l="-127" t="-139" r="117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3737480" y="4493241"/>
                <a:ext cx="323122" cy="374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480" y="4493241"/>
                <a:ext cx="323122" cy="374461"/>
              </a:xfrm>
              <a:prstGeom prst="rect">
                <a:avLst/>
              </a:prstGeom>
              <a:blipFill rotWithShape="1">
                <a:blip r:embed="rId15"/>
                <a:stretch>
                  <a:fillRect l="-156" t="-165" r="-12646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矩形 48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/>
              <p:cNvSpPr txBox="1"/>
              <p:nvPr/>
            </p:nvSpPr>
            <p:spPr>
              <a:xfrm>
                <a:off x="3260658" y="4519533"/>
                <a:ext cx="376514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658" y="4519533"/>
                <a:ext cx="376514" cy="372474"/>
              </a:xfrm>
              <a:prstGeom prst="rect">
                <a:avLst/>
              </a:prstGeom>
              <a:blipFill rotWithShape="1">
                <a:blip r:embed="rId16"/>
                <a:stretch>
                  <a:fillRect l="-151" t="-64" r="140" b="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椭圆 50"/>
          <p:cNvSpPr/>
          <p:nvPr/>
        </p:nvSpPr>
        <p:spPr>
          <a:xfrm>
            <a:off x="1285871" y="5673862"/>
            <a:ext cx="523738" cy="560939"/>
          </a:xfrm>
          <a:prstGeom prst="ellipse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51" y="5763828"/>
                <a:ext cx="1098948" cy="371960"/>
              </a:xfrm>
              <a:prstGeom prst="rect">
                <a:avLst/>
              </a:prstGeom>
              <a:blipFill rotWithShape="1">
                <a:blip r:embed="rId17"/>
                <a:stretch>
                  <a:fillRect l="-17" t="-153" r="5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椭圆 52"/>
          <p:cNvSpPr/>
          <p:nvPr/>
        </p:nvSpPr>
        <p:spPr>
          <a:xfrm>
            <a:off x="2728142" y="5673862"/>
            <a:ext cx="523738" cy="560939"/>
          </a:xfrm>
          <a:prstGeom prst="ellipse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2749922" y="5763828"/>
                <a:ext cx="1098948" cy="37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922" y="5763828"/>
                <a:ext cx="1098948" cy="371960"/>
              </a:xfrm>
              <a:prstGeom prst="rect">
                <a:avLst/>
              </a:prstGeom>
              <a:blipFill rotWithShape="1">
                <a:blip r:embed="rId18"/>
                <a:stretch>
                  <a:fillRect l="-34" t="-153" r="1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/>
              <p:cNvSpPr txBox="1"/>
              <p:nvPr/>
            </p:nvSpPr>
            <p:spPr>
              <a:xfrm>
                <a:off x="4937692" y="3633656"/>
                <a:ext cx="294992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92" y="3633656"/>
                <a:ext cx="294992" cy="371961"/>
              </a:xfrm>
              <a:prstGeom prst="rect">
                <a:avLst/>
              </a:prstGeom>
              <a:blipFill rotWithShape="1">
                <a:blip r:embed="rId19"/>
                <a:stretch>
                  <a:fillRect l="-192" t="-50" r="9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图片 4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1" y="1338031"/>
            <a:ext cx="498966" cy="498966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1033613" y="1340413"/>
            <a:ext cx="3518889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信号正向传播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3" y="1106102"/>
            <a:ext cx="498966" cy="4989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81868" y="1040486"/>
            <a:ext cx="3518889" cy="62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反向传播算法</a:t>
            </a:r>
          </a:p>
        </p:txBody>
      </p:sp>
      <p:sp>
        <p:nvSpPr>
          <p:cNvPr id="8" name="矩形 7"/>
          <p:cNvSpPr/>
          <p:nvPr/>
        </p:nvSpPr>
        <p:spPr>
          <a:xfrm>
            <a:off x="4312567" y="1661361"/>
            <a:ext cx="73190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引入两个中间变量</a:t>
            </a:r>
            <a:r>
              <a:rPr lang="en-US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4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c∗d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392" y="2306909"/>
            <a:ext cx="6224979" cy="34744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116705" y="794385"/>
                <a:ext cx="7709535" cy="62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solidFill>
                      <a:srgbClr val="262626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算法示例： </a:t>
                </a:r>
                <a:r>
                  <a:rPr lang="en-US" altLang="zh-CN" sz="2800" i="1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e=</a:t>
                </a:r>
                <a:r>
                  <a:rPr lang="en-US" altLang="zh-CN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(</a:t>
                </a:r>
                <a:r>
                  <a:rPr lang="en-US" altLang="zh-CN" sz="2800" i="1" dirty="0" err="1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a+b</a:t>
                </a:r>
                <a:r>
                  <a:rPr lang="en-US" altLang="zh-CN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)</a:t>
                </a:r>
                <a:r>
                  <a:rPr lang="en-US" altLang="zh-CN" sz="2800" i="1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*</a:t>
                </a:r>
                <a:r>
                  <a:rPr lang="en-US" altLang="zh-CN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(</a:t>
                </a:r>
                <a:r>
                  <a:rPr lang="en-US" altLang="zh-CN" sz="2800" i="1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b</a:t>
                </a:r>
                <a:r>
                  <a:rPr lang="en-US" altLang="zh-CN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+1), </a:t>
                </a:r>
                <a:r>
                  <a:rPr lang="zh-CN" altLang="en-US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求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 ,</a:t>
                </a:r>
                <a:r>
                  <a:rPr lang="en-US" altLang="zh-TW" sz="2800" dirty="0">
                    <a:solidFill>
                      <a:srgbClr val="333333"/>
                    </a:solidFill>
                    <a:latin typeface="Times New Roman" panose="02020603050405020304" charset="0"/>
                    <a:ea typeface="微软雅黑" panose="020B0503020204020204" pitchFamily="34" charset="-122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  <a:cs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altLang="zh-TW" sz="2800" dirty="0">
                  <a:solidFill>
                    <a:srgbClr val="333333"/>
                  </a:solidFill>
                  <a:latin typeface="Times New Roman" panose="02020603050405020304" charset="0"/>
                  <a:ea typeface="CMS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05" y="794385"/>
                <a:ext cx="7709535" cy="6299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134998" y="30480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7" name="矩形 6"/>
          <p:cNvSpPr/>
          <p:nvPr/>
        </p:nvSpPr>
        <p:spPr>
          <a:xfrm>
            <a:off x="6126492" y="6119574"/>
            <a:ext cx="59764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：http://colah.github.io/posts/2015-08-Backprop/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1320" y="1980565"/>
            <a:ext cx="34988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导数计算的链式法则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8340" y="2533650"/>
            <a:ext cx="5723890" cy="2232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如何求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x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=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1+e</a:t>
            </a:r>
            <a:r>
              <a:rPr lang="en-US" altLang="zh-CN" sz="2400" i="1" baseline="30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-x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r>
              <a:rPr lang="en-US" altLang="zh-CN" sz="2400" i="1" baseline="30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en-US" altLang="zh-CN" sz="2400" baseline="30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的导数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  </a:t>
            </a:r>
          </a:p>
          <a:p>
            <a:pPr indent="0" fontAlgn="auto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f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)=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en-US" altLang="zh-CN" sz="2400" baseline="30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-1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)=(1+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),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)=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</a:t>
            </a:r>
            <a:r>
              <a:rPr lang="en-US" altLang="zh-CN" sz="2400" i="1" baseline="30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,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x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)=-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x</a:t>
            </a:r>
          </a:p>
          <a:p>
            <a:pPr indent="0" fontAlgn="auto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则有：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fontAlgn="auto">
              <a:lnSpc>
                <a:spcPct val="120000"/>
              </a:lnSpc>
            </a:pPr>
            <a:endParaRPr lang="en-US" altLang="zh-CN" sz="2400" i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25220" y="4098925"/>
          <a:ext cx="365950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38300" imgH="393700" progId="Equation.KSEE3">
                  <p:embed/>
                </p:oleObj>
              </mc:Choice>
              <mc:Fallback>
                <p:oleObj r:id="rId6" imgW="1638300" imgH="3937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5220" y="4098925"/>
                        <a:ext cx="3659505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77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7" grpId="0"/>
      <p:bldP spid="7" grpId="1"/>
      <p:bldP spid="2" grpId="0"/>
      <p:bldP spid="2" grpId="1"/>
      <p:bldP spid="3" grpId="0"/>
      <p:bldP spid="3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434" y="1261335"/>
            <a:ext cx="5744565" cy="329161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5618" y="1566281"/>
            <a:ext cx="852829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回顾链式法则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42319" y="2221377"/>
                <a:ext cx="6454140" cy="263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c</m:t>
                        </m:r>
                      </m:den>
                    </m:f>
                    <m:r>
                      <a:rPr lang="en-US" altLang="zh-TW" sz="24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c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  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的值等于从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的路径上的偏导值的乘积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b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c</m:t>
                        </m:r>
                      </m:den>
                    </m:f>
                    <m:r>
                      <a:rPr lang="en-US" altLang="zh-TW" sz="24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c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b</m:t>
                        </m:r>
                      </m:den>
                    </m:f>
                    <m:r>
                      <a:rPr lang="en-US" altLang="zh-TW" sz="2400" b="0" i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MS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d</m:t>
                        </m:r>
                      </m:den>
                    </m:f>
                    <m:r>
                      <a:rPr lang="en-US" altLang="zh-TW" sz="24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d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b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上图中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𝑏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的值等于从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(b-c-e)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上的偏导值的乘积加上路径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(b-d-e)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上的偏导值的乘积。  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19" y="2221377"/>
                <a:ext cx="6454140" cy="2636520"/>
              </a:xfrm>
              <a:prstGeom prst="rect">
                <a:avLst/>
              </a:prstGeom>
              <a:blipFill rotWithShape="0">
                <a:blip r:embed="rId3"/>
                <a:stretch>
                  <a:fillRect b="-5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2319" y="5124744"/>
                <a:ext cx="11173460" cy="1363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若自下而上求解</a:t>
                </a:r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很多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路径被重复访问了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比如图中，求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𝑎</m:t>
                        </m:r>
                      </m:den>
                    </m:f>
                    <m:r>
                      <a:rPr lang="en-US" altLang="zh-TW" sz="24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MS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需要计算路径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a-c-e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 求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𝑒</m:t>
                        </m:r>
                      </m:num>
                      <m:den>
                        <m:r>
                          <a:rPr lang="en-US" altLang="zh-TW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MS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都需要计算路径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b-c-e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b-d-e,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路径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c-e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被访问了两次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  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19" y="5124744"/>
                <a:ext cx="11173460" cy="1363980"/>
              </a:xfrm>
              <a:prstGeom prst="rect">
                <a:avLst/>
              </a:prstGeom>
              <a:blipFill rotWithShape="0">
                <a:blip r:embed="rId4"/>
                <a:stretch>
                  <a:fillRect l="-818" t="-3587" b="-10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08" y="1040062"/>
            <a:ext cx="498966" cy="49896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62818" y="1012546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反向传播算法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9253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591820"/>
            <a:ext cx="5194300" cy="297624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15595" y="4837430"/>
            <a:ext cx="11487785" cy="1420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2400" b="1" dirty="0">
                <a:latin typeface="Cambria Math" panose="02040503050406030204" pitchFamily="18" charset="0"/>
              </a:rPr>
              <a:t>自上而下</a:t>
            </a:r>
            <a:r>
              <a:rPr lang="zh-CN" altLang="en-US" sz="2400" i="1" dirty="0">
                <a:latin typeface="Cambria Math" panose="02040503050406030204" pitchFamily="18" charset="0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从最上层的节点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开始，对于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的下一层的所有子节点，将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是最顶点，值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）乘以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到某个节点路径上的偏导值，并将结果发送到该子节点中。 该子节点的值被设为“发送过来的值”，继续此过程向下传播</a:t>
            </a:r>
          </a:p>
        </p:txBody>
      </p:sp>
      <p:sp>
        <p:nvSpPr>
          <p:cNvPr id="12" name="矩形 11"/>
          <p:cNvSpPr/>
          <p:nvPr/>
        </p:nvSpPr>
        <p:spPr>
          <a:xfrm>
            <a:off x="315595" y="1971675"/>
            <a:ext cx="6906260" cy="194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第一层：节点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初始值为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fontAlgn="auto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第二层：节点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1*2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向节点得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1*3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	</a:t>
            </a:r>
          </a:p>
          <a:p>
            <a:pPr fontAlgn="auto">
              <a:lnSpc>
                <a:spcPct val="12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08" y="1325812"/>
            <a:ext cx="498966" cy="49896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62818" y="1298296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反向传播算法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5595" y="3507105"/>
            <a:ext cx="1136904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3*1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值为为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2*1+3*1=5.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即顶点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的偏导数为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顶点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的偏导数为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27483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83" y="260953"/>
            <a:ext cx="5896268" cy="197210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0678" y="44537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误差反向传播：前馈神经网络 </a:t>
            </a:r>
          </a:p>
        </p:txBody>
      </p:sp>
      <p:sp>
        <p:nvSpPr>
          <p:cNvPr id="4" name="椭圆 3"/>
          <p:cNvSpPr/>
          <p:nvPr/>
        </p:nvSpPr>
        <p:spPr>
          <a:xfrm>
            <a:off x="8932244" y="192505"/>
            <a:ext cx="750771" cy="6063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0" y="2301509"/>
            <a:ext cx="955490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567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83" y="260953"/>
            <a:ext cx="5896268" cy="197210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0678" y="44537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误差反向传播：前馈神经网络 </a:t>
            </a:r>
          </a:p>
        </p:txBody>
      </p:sp>
      <p:sp>
        <p:nvSpPr>
          <p:cNvPr id="4" name="椭圆 3"/>
          <p:cNvSpPr/>
          <p:nvPr/>
        </p:nvSpPr>
        <p:spPr>
          <a:xfrm>
            <a:off x="6978316" y="203993"/>
            <a:ext cx="750771" cy="6063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0" y="2301509"/>
            <a:ext cx="9554908" cy="40391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27" y="2301509"/>
            <a:ext cx="1051706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36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716971" y="2462053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深度学习框架之全连接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287" y="350223"/>
            <a:ext cx="4682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如何使用深度学习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716971" y="3624867"/>
            <a:ext cx="5030967" cy="76971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56" y="1356818"/>
            <a:ext cx="498966" cy="4989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43212" y="1360493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深度学习模型回顾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96947" y="400051"/>
            <a:ext cx="38990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模型回顾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82422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6" name="右箭头 5"/>
          <p:cNvSpPr/>
          <p:nvPr/>
        </p:nvSpPr>
        <p:spPr>
          <a:xfrm>
            <a:off x="3558281" y="2811074"/>
            <a:ext cx="1121434" cy="25879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98019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</a:p>
        </p:txBody>
      </p:sp>
      <p:sp>
        <p:nvSpPr>
          <p:cNvPr id="8" name="右箭头 7"/>
          <p:cNvSpPr/>
          <p:nvPr/>
        </p:nvSpPr>
        <p:spPr>
          <a:xfrm>
            <a:off x="7573878" y="2811073"/>
            <a:ext cx="1121434" cy="25879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213615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参数学习</a:t>
            </a:r>
          </a:p>
        </p:txBody>
      </p:sp>
      <p:sp>
        <p:nvSpPr>
          <p:cNvPr id="13" name="右箭头 12"/>
          <p:cNvSpPr/>
          <p:nvPr/>
        </p:nvSpPr>
        <p:spPr>
          <a:xfrm rot="5400000">
            <a:off x="1915266" y="3641352"/>
            <a:ext cx="360000" cy="255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 rot="5400000">
            <a:off x="5878829" y="3641352"/>
            <a:ext cx="360000" cy="255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箭头 14"/>
          <p:cNvSpPr/>
          <p:nvPr/>
        </p:nvSpPr>
        <p:spPr>
          <a:xfrm rot="5400000">
            <a:off x="9927306" y="3633622"/>
            <a:ext cx="360000" cy="255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6" y="4230714"/>
            <a:ext cx="3854886" cy="166495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101" y="4057983"/>
            <a:ext cx="3677087" cy="202531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787" y="3941422"/>
            <a:ext cx="3833277" cy="2510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636" y="4371139"/>
            <a:ext cx="899000" cy="107879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3590801" y="1863698"/>
            <a:ext cx="4648782" cy="2373251"/>
          </a:xfrm>
          <a:prstGeom prst="cloudCallout">
            <a:avLst>
              <a:gd name="adj1" fmla="val -31944"/>
              <a:gd name="adj2" fmla="val 61029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32252" y="2450158"/>
            <a:ext cx="3279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以上这种神经网络模型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存在哪些不足？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373539"/>
            <a:ext cx="498966" cy="49896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9988" y="1346023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92"/>
          <p:cNvGrpSpPr/>
          <p:nvPr/>
        </p:nvGrpSpPr>
        <p:grpSpPr>
          <a:xfrm>
            <a:off x="3319769" y="1853391"/>
            <a:ext cx="7153508" cy="3149573"/>
            <a:chOff x="2284605" y="1852294"/>
            <a:chExt cx="8007921" cy="3525248"/>
          </a:xfrm>
        </p:grpSpPr>
        <p:cxnSp>
          <p:nvCxnSpPr>
            <p:cNvPr id="7" name="直線單箭頭接點 10"/>
            <p:cNvCxnSpPr/>
            <p:nvPr/>
          </p:nvCxnSpPr>
          <p:spPr>
            <a:xfrm>
              <a:off x="8424402" y="3501898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11"/>
            <p:cNvCxnSpPr/>
            <p:nvPr/>
          </p:nvCxnSpPr>
          <p:spPr>
            <a:xfrm>
              <a:off x="8533718" y="4747788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12"/>
            <p:cNvCxnSpPr/>
            <p:nvPr/>
          </p:nvCxnSpPr>
          <p:spPr>
            <a:xfrm>
              <a:off x="8400518" y="2723095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284605" y="2383236"/>
              <a:ext cx="746342" cy="27268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橢圓 17"/>
            <p:cNvSpPr/>
            <p:nvPr/>
          </p:nvSpPr>
          <p:spPr>
            <a:xfrm>
              <a:off x="2381715" y="246448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橢圓 18"/>
            <p:cNvSpPr/>
            <p:nvPr/>
          </p:nvSpPr>
          <p:spPr>
            <a:xfrm>
              <a:off x="2384057" y="324305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橢圓 19"/>
            <p:cNvSpPr/>
            <p:nvPr/>
          </p:nvSpPr>
          <p:spPr>
            <a:xfrm>
              <a:off x="2372424" y="4471062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字方塊 20"/>
            <p:cNvSpPr txBox="1"/>
            <p:nvPr/>
          </p:nvSpPr>
          <p:spPr>
            <a:xfrm rot="5400000">
              <a:off x="2369676" y="3896562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1591" y="1852294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橢圓 24"/>
            <p:cNvSpPr/>
            <p:nvPr/>
          </p:nvSpPr>
          <p:spPr>
            <a:xfrm>
              <a:off x="3988677" y="272573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橢圓 25"/>
            <p:cNvSpPr/>
            <p:nvPr/>
          </p:nvSpPr>
          <p:spPr>
            <a:xfrm>
              <a:off x="3991019" y="350430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橢圓 26"/>
            <p:cNvSpPr/>
            <p:nvPr/>
          </p:nvSpPr>
          <p:spPr>
            <a:xfrm>
              <a:off x="3979386" y="4732315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字方塊 27"/>
            <p:cNvSpPr txBox="1"/>
            <p:nvPr/>
          </p:nvSpPr>
          <p:spPr>
            <a:xfrm rot="5400000">
              <a:off x="3976639" y="4157815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8037595" y="2383235"/>
              <a:ext cx="746342" cy="27461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橢圓 28"/>
            <p:cNvSpPr/>
            <p:nvPr/>
          </p:nvSpPr>
          <p:spPr>
            <a:xfrm>
              <a:off x="8113439" y="2445372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橢圓 29"/>
            <p:cNvSpPr/>
            <p:nvPr/>
          </p:nvSpPr>
          <p:spPr>
            <a:xfrm>
              <a:off x="8115781" y="3205281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橢圓 30"/>
            <p:cNvSpPr/>
            <p:nvPr/>
          </p:nvSpPr>
          <p:spPr>
            <a:xfrm>
              <a:off x="8122809" y="4451954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字方塊 31"/>
            <p:cNvSpPr txBox="1"/>
            <p:nvPr/>
          </p:nvSpPr>
          <p:spPr>
            <a:xfrm rot="5400000">
              <a:off x="8120062" y="3874291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字方塊 32"/>
            <p:cNvSpPr txBox="1"/>
            <p:nvPr/>
          </p:nvSpPr>
          <p:spPr>
            <a:xfrm>
              <a:off x="6238035" y="191298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字方塊 33"/>
            <p:cNvSpPr txBox="1"/>
            <p:nvPr/>
          </p:nvSpPr>
          <p:spPr>
            <a:xfrm>
              <a:off x="6237085" y="26694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字方塊 34"/>
            <p:cNvSpPr txBox="1"/>
            <p:nvPr/>
          </p:nvSpPr>
          <p:spPr>
            <a:xfrm>
              <a:off x="6265083" y="4671800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線單箭頭接點 35"/>
            <p:cNvCxnSpPr/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8"/>
            <p:cNvCxnSpPr/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9"/>
            <p:cNvCxnSpPr/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40"/>
            <p:cNvCxnSpPr/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41"/>
            <p:cNvCxnSpPr/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42"/>
            <p:cNvCxnSpPr/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43"/>
            <p:cNvCxnSpPr/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53"/>
            <p:cNvSpPr txBox="1"/>
            <p:nvPr/>
          </p:nvSpPr>
          <p:spPr>
            <a:xfrm rot="5400000">
              <a:off x="9393080" y="3905263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字方塊 54"/>
            <p:cNvSpPr txBox="1"/>
            <p:nvPr/>
          </p:nvSpPr>
          <p:spPr>
            <a:xfrm>
              <a:off x="9462173" y="238323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字方塊 55"/>
            <p:cNvSpPr txBox="1"/>
            <p:nvPr/>
          </p:nvSpPr>
          <p:spPr>
            <a:xfrm>
              <a:off x="9450890" y="318145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字方塊 56"/>
            <p:cNvSpPr txBox="1"/>
            <p:nvPr/>
          </p:nvSpPr>
          <p:spPr>
            <a:xfrm>
              <a:off x="9450888" y="4447687"/>
              <a:ext cx="841638" cy="58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橢圓 24"/>
            <p:cNvSpPr/>
            <p:nvPr/>
          </p:nvSpPr>
          <p:spPr>
            <a:xfrm>
              <a:off x="3988677" y="1947020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字方塊 54"/>
            <p:cNvSpPr txBox="1"/>
            <p:nvPr/>
          </p:nvSpPr>
          <p:spPr>
            <a:xfrm>
              <a:off x="2380988" y="2438347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字方塊 54"/>
            <p:cNvSpPr txBox="1"/>
            <p:nvPr/>
          </p:nvSpPr>
          <p:spPr>
            <a:xfrm>
              <a:off x="2384021" y="3228960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字方塊 54"/>
            <p:cNvSpPr txBox="1"/>
            <p:nvPr/>
          </p:nvSpPr>
          <p:spPr>
            <a:xfrm>
              <a:off x="2388668" y="4408956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線單箭頭接點 35"/>
            <p:cNvCxnSpPr/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8"/>
            <p:cNvCxnSpPr/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5500947" y="1853968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橢圓 24"/>
            <p:cNvSpPr/>
            <p:nvPr/>
          </p:nvSpPr>
          <p:spPr>
            <a:xfrm>
              <a:off x="5588033" y="272740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橢圓 25"/>
            <p:cNvSpPr/>
            <p:nvPr/>
          </p:nvSpPr>
          <p:spPr>
            <a:xfrm>
              <a:off x="5590375" y="350597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橢圓 26"/>
            <p:cNvSpPr/>
            <p:nvPr/>
          </p:nvSpPr>
          <p:spPr>
            <a:xfrm>
              <a:off x="5578742" y="4733989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字方塊 27"/>
            <p:cNvSpPr txBox="1"/>
            <p:nvPr/>
          </p:nvSpPr>
          <p:spPr>
            <a:xfrm rot="5400000">
              <a:off x="5575995" y="4159490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橢圓 24"/>
            <p:cNvSpPr/>
            <p:nvPr/>
          </p:nvSpPr>
          <p:spPr>
            <a:xfrm>
              <a:off x="5588033" y="1948694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143"/>
            <p:cNvGrpSpPr/>
            <p:nvPr/>
          </p:nvGrpSpPr>
          <p:grpSpPr>
            <a:xfrm>
              <a:off x="4553544" y="2234099"/>
              <a:ext cx="1036831" cy="2792013"/>
              <a:chOff x="4553544" y="2234099"/>
              <a:chExt cx="1036831" cy="2792013"/>
            </a:xfrm>
          </p:grpSpPr>
          <p:cxnSp>
            <p:nvCxnSpPr>
              <p:cNvPr id="71" name="直線單箭頭接點 35"/>
              <p:cNvCxnSpPr/>
              <p:nvPr/>
            </p:nvCxnSpPr>
            <p:spPr>
              <a:xfrm>
                <a:off x="4562835" y="2234099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單箭頭接點 35"/>
              <p:cNvCxnSpPr/>
              <p:nvPr/>
            </p:nvCxnSpPr>
            <p:spPr>
              <a:xfrm>
                <a:off x="4562835" y="2234099"/>
                <a:ext cx="1025198" cy="7803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單箭頭接點 35"/>
              <p:cNvCxnSpPr/>
              <p:nvPr/>
            </p:nvCxnSpPr>
            <p:spPr>
              <a:xfrm>
                <a:off x="4562835" y="2234099"/>
                <a:ext cx="1027540" cy="1558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單箭頭接點 35"/>
              <p:cNvCxnSpPr/>
              <p:nvPr/>
            </p:nvCxnSpPr>
            <p:spPr>
              <a:xfrm>
                <a:off x="4589452" y="2287149"/>
                <a:ext cx="989290" cy="27339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35"/>
              <p:cNvCxnSpPr/>
              <p:nvPr/>
            </p:nvCxnSpPr>
            <p:spPr>
              <a:xfrm flipV="1">
                <a:off x="4562835" y="2235773"/>
                <a:ext cx="1025198" cy="7770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35"/>
              <p:cNvCxnSpPr/>
              <p:nvPr/>
            </p:nvCxnSpPr>
            <p:spPr>
              <a:xfrm>
                <a:off x="4562835" y="301281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35"/>
              <p:cNvCxnSpPr/>
              <p:nvPr/>
            </p:nvCxnSpPr>
            <p:spPr>
              <a:xfrm>
                <a:off x="4598743" y="3012812"/>
                <a:ext cx="991632" cy="7802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35"/>
              <p:cNvCxnSpPr/>
              <p:nvPr/>
            </p:nvCxnSpPr>
            <p:spPr>
              <a:xfrm>
                <a:off x="4562835" y="3012812"/>
                <a:ext cx="1015907" cy="20082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35"/>
              <p:cNvCxnSpPr/>
              <p:nvPr/>
            </p:nvCxnSpPr>
            <p:spPr>
              <a:xfrm flipV="1">
                <a:off x="4565177" y="2276260"/>
                <a:ext cx="1010214" cy="15151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35"/>
              <p:cNvCxnSpPr/>
              <p:nvPr/>
            </p:nvCxnSpPr>
            <p:spPr>
              <a:xfrm flipV="1">
                <a:off x="4565177" y="3054973"/>
                <a:ext cx="1010214" cy="7364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35"/>
              <p:cNvCxnSpPr/>
              <p:nvPr/>
            </p:nvCxnSpPr>
            <p:spPr>
              <a:xfrm>
                <a:off x="4565177" y="379138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單箭頭接點 35"/>
              <p:cNvCxnSpPr/>
              <p:nvPr/>
            </p:nvCxnSpPr>
            <p:spPr>
              <a:xfrm>
                <a:off x="4565177" y="3791382"/>
                <a:ext cx="1013565" cy="1229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單箭頭接點 35"/>
              <p:cNvCxnSpPr/>
              <p:nvPr/>
            </p:nvCxnSpPr>
            <p:spPr>
              <a:xfrm flipV="1">
                <a:off x="4553544" y="2235773"/>
                <a:ext cx="1034489" cy="278362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單箭頭接點 35"/>
              <p:cNvCxnSpPr/>
              <p:nvPr/>
            </p:nvCxnSpPr>
            <p:spPr>
              <a:xfrm flipV="1">
                <a:off x="4553544" y="3089778"/>
                <a:ext cx="1011553" cy="19296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單箭頭接點 35"/>
              <p:cNvCxnSpPr/>
              <p:nvPr/>
            </p:nvCxnSpPr>
            <p:spPr>
              <a:xfrm flipV="1">
                <a:off x="4553544" y="3793056"/>
                <a:ext cx="1036831" cy="122633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單箭頭接點 35"/>
              <p:cNvCxnSpPr/>
              <p:nvPr/>
            </p:nvCxnSpPr>
            <p:spPr>
              <a:xfrm flipV="1">
                <a:off x="4560493" y="5021068"/>
                <a:ext cx="1018249" cy="50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33"/>
            <p:cNvSpPr txBox="1"/>
            <p:nvPr/>
          </p:nvSpPr>
          <p:spPr>
            <a:xfrm>
              <a:off x="6249214" y="344306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直線單箭頭接點 35"/>
            <p:cNvCxnSpPr/>
            <p:nvPr/>
          </p:nvCxnSpPr>
          <p:spPr>
            <a:xfrm>
              <a:off x="6976114" y="2255872"/>
              <a:ext cx="1137325" cy="4765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35"/>
            <p:cNvCxnSpPr/>
            <p:nvPr/>
          </p:nvCxnSpPr>
          <p:spPr>
            <a:xfrm>
              <a:off x="6976114" y="2255872"/>
              <a:ext cx="1139667" cy="1236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35"/>
            <p:cNvCxnSpPr/>
            <p:nvPr/>
          </p:nvCxnSpPr>
          <p:spPr>
            <a:xfrm>
              <a:off x="6976114" y="2255872"/>
              <a:ext cx="1146695" cy="24831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35"/>
            <p:cNvCxnSpPr/>
            <p:nvPr/>
          </p:nvCxnSpPr>
          <p:spPr>
            <a:xfrm flipV="1">
              <a:off x="6976114" y="2731274"/>
              <a:ext cx="1100500" cy="3033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35"/>
            <p:cNvCxnSpPr/>
            <p:nvPr/>
          </p:nvCxnSpPr>
          <p:spPr>
            <a:xfrm>
              <a:off x="7012022" y="3034585"/>
              <a:ext cx="1103759" cy="4577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35"/>
            <p:cNvCxnSpPr/>
            <p:nvPr/>
          </p:nvCxnSpPr>
          <p:spPr>
            <a:xfrm>
              <a:off x="6976114" y="3034585"/>
              <a:ext cx="1146695" cy="1704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35"/>
            <p:cNvCxnSpPr/>
            <p:nvPr/>
          </p:nvCxnSpPr>
          <p:spPr>
            <a:xfrm flipV="1">
              <a:off x="6978456" y="2732451"/>
              <a:ext cx="1134983" cy="1080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35"/>
            <p:cNvCxnSpPr/>
            <p:nvPr/>
          </p:nvCxnSpPr>
          <p:spPr>
            <a:xfrm flipV="1">
              <a:off x="6978456" y="3492360"/>
              <a:ext cx="1137325" cy="3207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35"/>
            <p:cNvCxnSpPr/>
            <p:nvPr/>
          </p:nvCxnSpPr>
          <p:spPr>
            <a:xfrm>
              <a:off x="6978456" y="3813155"/>
              <a:ext cx="1144353" cy="925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35"/>
            <p:cNvCxnSpPr/>
            <p:nvPr/>
          </p:nvCxnSpPr>
          <p:spPr>
            <a:xfrm flipV="1">
              <a:off x="6966823" y="2732451"/>
              <a:ext cx="1146616" cy="23087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35"/>
            <p:cNvCxnSpPr/>
            <p:nvPr/>
          </p:nvCxnSpPr>
          <p:spPr>
            <a:xfrm flipV="1">
              <a:off x="6966823" y="4739033"/>
              <a:ext cx="1155986" cy="3021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35"/>
            <p:cNvCxnSpPr/>
            <p:nvPr/>
          </p:nvCxnSpPr>
          <p:spPr>
            <a:xfrm flipV="1">
              <a:off x="6966823" y="3492360"/>
              <a:ext cx="1148958" cy="15488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矩形 9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模型不足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8" y="2739970"/>
            <a:ext cx="1784631" cy="1784631"/>
          </a:xfrm>
          <a:prstGeom prst="rect">
            <a:avLst/>
          </a:prstGeom>
        </p:spPr>
      </p:pic>
      <p:sp>
        <p:nvSpPr>
          <p:cNvPr id="105" name="手繪多邊形 11"/>
          <p:cNvSpPr/>
          <p:nvPr/>
        </p:nvSpPr>
        <p:spPr>
          <a:xfrm>
            <a:off x="965019" y="2451719"/>
            <a:ext cx="2456341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手繪多邊形 13"/>
          <p:cNvSpPr/>
          <p:nvPr/>
        </p:nvSpPr>
        <p:spPr>
          <a:xfrm>
            <a:off x="1098370" y="2624660"/>
            <a:ext cx="2322478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手繪多邊形 21"/>
          <p:cNvSpPr/>
          <p:nvPr/>
        </p:nvSpPr>
        <p:spPr>
          <a:xfrm rot="21255575">
            <a:off x="2664492" y="4437166"/>
            <a:ext cx="794659" cy="293504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字方塊 7"/>
          <p:cNvSpPr txBox="1"/>
          <p:nvPr/>
        </p:nvSpPr>
        <p:spPr>
          <a:xfrm>
            <a:off x="384622" y="4577444"/>
            <a:ext cx="2255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x 16 = 256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字方塊 50"/>
          <p:cNvSpPr txBox="1"/>
          <p:nvPr/>
        </p:nvSpPr>
        <p:spPr>
          <a:xfrm>
            <a:off x="3829215" y="3099053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256X</a:t>
            </a:r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字方塊 50"/>
          <p:cNvSpPr txBox="1"/>
          <p:nvPr/>
        </p:nvSpPr>
        <p:spPr>
          <a:xfrm>
            <a:off x="5588054" y="3092108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字方塊 50"/>
          <p:cNvSpPr txBox="1"/>
          <p:nvPr/>
        </p:nvSpPr>
        <p:spPr>
          <a:xfrm>
            <a:off x="7346893" y="3092108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12692" y="1977998"/>
            <a:ext cx="1959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256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  <p:sp>
        <p:nvSpPr>
          <p:cNvPr id="116" name="矩形 115"/>
          <p:cNvSpPr/>
          <p:nvPr/>
        </p:nvSpPr>
        <p:spPr>
          <a:xfrm>
            <a:off x="293590" y="5334940"/>
            <a:ext cx="107600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例如：输入为 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x 16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的图片，输入层为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个神经元，隐藏层每层</a:t>
            </a:r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个神经元，输出层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个。假设共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层，则共需要学习（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TW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TW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再加（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1000+1000+1000+10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TW" sz="24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98095" y="1442465"/>
            <a:ext cx="2472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模型参数太多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533288" y="1326288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5950463" y="1328917"/>
            <a:ext cx="2231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8263172" y="19155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  <p:bldP spid="108" grpId="0"/>
      <p:bldP spid="109" grpId="0" animBg="1"/>
      <p:bldP spid="110" grpId="0" animBg="1"/>
      <p:bldP spid="111" grpId="0" animBg="1"/>
      <p:bldP spid="112" grpId="0"/>
      <p:bldP spid="116" grpId="0"/>
      <p:bldP spid="96" grpId="0"/>
      <p:bldP spid="97" grpId="0"/>
      <p:bldP spid="9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92"/>
          <p:cNvGrpSpPr/>
          <p:nvPr/>
        </p:nvGrpSpPr>
        <p:grpSpPr>
          <a:xfrm>
            <a:off x="3319769" y="1853391"/>
            <a:ext cx="7153508" cy="3149573"/>
            <a:chOff x="2284605" y="1852294"/>
            <a:chExt cx="8007921" cy="3525248"/>
          </a:xfrm>
        </p:grpSpPr>
        <p:cxnSp>
          <p:nvCxnSpPr>
            <p:cNvPr id="7" name="直線單箭頭接點 10"/>
            <p:cNvCxnSpPr/>
            <p:nvPr/>
          </p:nvCxnSpPr>
          <p:spPr>
            <a:xfrm>
              <a:off x="8424402" y="3501898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11"/>
            <p:cNvCxnSpPr/>
            <p:nvPr/>
          </p:nvCxnSpPr>
          <p:spPr>
            <a:xfrm>
              <a:off x="8533718" y="4747788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12"/>
            <p:cNvCxnSpPr/>
            <p:nvPr/>
          </p:nvCxnSpPr>
          <p:spPr>
            <a:xfrm>
              <a:off x="8400518" y="2723095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284605" y="2383236"/>
              <a:ext cx="746342" cy="27268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橢圓 17"/>
            <p:cNvSpPr/>
            <p:nvPr/>
          </p:nvSpPr>
          <p:spPr>
            <a:xfrm>
              <a:off x="2381715" y="246448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橢圓 18"/>
            <p:cNvSpPr/>
            <p:nvPr/>
          </p:nvSpPr>
          <p:spPr>
            <a:xfrm>
              <a:off x="2384057" y="324305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橢圓 19"/>
            <p:cNvSpPr/>
            <p:nvPr/>
          </p:nvSpPr>
          <p:spPr>
            <a:xfrm>
              <a:off x="2372424" y="4471062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字方塊 20"/>
            <p:cNvSpPr txBox="1"/>
            <p:nvPr/>
          </p:nvSpPr>
          <p:spPr>
            <a:xfrm rot="5400000">
              <a:off x="2369676" y="3896562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1591" y="1852294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橢圓 24"/>
            <p:cNvSpPr/>
            <p:nvPr/>
          </p:nvSpPr>
          <p:spPr>
            <a:xfrm>
              <a:off x="3988677" y="272573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橢圓 25"/>
            <p:cNvSpPr/>
            <p:nvPr/>
          </p:nvSpPr>
          <p:spPr>
            <a:xfrm>
              <a:off x="3991019" y="350430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橢圓 26"/>
            <p:cNvSpPr/>
            <p:nvPr/>
          </p:nvSpPr>
          <p:spPr>
            <a:xfrm>
              <a:off x="3979386" y="4732315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字方塊 27"/>
            <p:cNvSpPr txBox="1"/>
            <p:nvPr/>
          </p:nvSpPr>
          <p:spPr>
            <a:xfrm rot="5400000">
              <a:off x="3976639" y="4157815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8037595" y="2383235"/>
              <a:ext cx="746342" cy="27461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橢圓 28"/>
            <p:cNvSpPr/>
            <p:nvPr/>
          </p:nvSpPr>
          <p:spPr>
            <a:xfrm>
              <a:off x="8113439" y="2445372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橢圓 29"/>
            <p:cNvSpPr/>
            <p:nvPr/>
          </p:nvSpPr>
          <p:spPr>
            <a:xfrm>
              <a:off x="8115781" y="3205281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橢圓 30"/>
            <p:cNvSpPr/>
            <p:nvPr/>
          </p:nvSpPr>
          <p:spPr>
            <a:xfrm>
              <a:off x="8122809" y="4451954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字方塊 31"/>
            <p:cNvSpPr txBox="1"/>
            <p:nvPr/>
          </p:nvSpPr>
          <p:spPr>
            <a:xfrm rot="5400000">
              <a:off x="8120062" y="3874291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字方塊 32"/>
            <p:cNvSpPr txBox="1"/>
            <p:nvPr/>
          </p:nvSpPr>
          <p:spPr>
            <a:xfrm>
              <a:off x="6238035" y="191298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字方塊 33"/>
            <p:cNvSpPr txBox="1"/>
            <p:nvPr/>
          </p:nvSpPr>
          <p:spPr>
            <a:xfrm>
              <a:off x="6237085" y="26694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字方塊 34"/>
            <p:cNvSpPr txBox="1"/>
            <p:nvPr/>
          </p:nvSpPr>
          <p:spPr>
            <a:xfrm>
              <a:off x="6265083" y="4671800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線單箭頭接點 35"/>
            <p:cNvCxnSpPr/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8"/>
            <p:cNvCxnSpPr/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9"/>
            <p:cNvCxnSpPr/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40"/>
            <p:cNvCxnSpPr/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41"/>
            <p:cNvCxnSpPr/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42"/>
            <p:cNvCxnSpPr/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43"/>
            <p:cNvCxnSpPr/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53"/>
            <p:cNvSpPr txBox="1"/>
            <p:nvPr/>
          </p:nvSpPr>
          <p:spPr>
            <a:xfrm rot="5400000">
              <a:off x="9393080" y="3905263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字方塊 54"/>
            <p:cNvSpPr txBox="1"/>
            <p:nvPr/>
          </p:nvSpPr>
          <p:spPr>
            <a:xfrm>
              <a:off x="9462173" y="238323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字方塊 55"/>
            <p:cNvSpPr txBox="1"/>
            <p:nvPr/>
          </p:nvSpPr>
          <p:spPr>
            <a:xfrm>
              <a:off x="9450890" y="318145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字方塊 56"/>
            <p:cNvSpPr txBox="1"/>
            <p:nvPr/>
          </p:nvSpPr>
          <p:spPr>
            <a:xfrm>
              <a:off x="9450888" y="4447687"/>
              <a:ext cx="841638" cy="58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橢圓 24"/>
            <p:cNvSpPr/>
            <p:nvPr/>
          </p:nvSpPr>
          <p:spPr>
            <a:xfrm>
              <a:off x="3988677" y="1947020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字方塊 54"/>
            <p:cNvSpPr txBox="1"/>
            <p:nvPr/>
          </p:nvSpPr>
          <p:spPr>
            <a:xfrm>
              <a:off x="2380988" y="2438347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字方塊 54"/>
            <p:cNvSpPr txBox="1"/>
            <p:nvPr/>
          </p:nvSpPr>
          <p:spPr>
            <a:xfrm>
              <a:off x="2384021" y="3228960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字方塊 54"/>
            <p:cNvSpPr txBox="1"/>
            <p:nvPr/>
          </p:nvSpPr>
          <p:spPr>
            <a:xfrm>
              <a:off x="2388668" y="4408956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線單箭頭接點 35"/>
            <p:cNvCxnSpPr/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8"/>
            <p:cNvCxnSpPr/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5500947" y="1853968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橢圓 24"/>
            <p:cNvSpPr/>
            <p:nvPr/>
          </p:nvSpPr>
          <p:spPr>
            <a:xfrm>
              <a:off x="5588033" y="272740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橢圓 25"/>
            <p:cNvSpPr/>
            <p:nvPr/>
          </p:nvSpPr>
          <p:spPr>
            <a:xfrm>
              <a:off x="5590375" y="350597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橢圓 26"/>
            <p:cNvSpPr/>
            <p:nvPr/>
          </p:nvSpPr>
          <p:spPr>
            <a:xfrm>
              <a:off x="5578742" y="4733989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字方塊 27"/>
            <p:cNvSpPr txBox="1"/>
            <p:nvPr/>
          </p:nvSpPr>
          <p:spPr>
            <a:xfrm rot="5400000">
              <a:off x="5575995" y="4159490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橢圓 24"/>
            <p:cNvSpPr/>
            <p:nvPr/>
          </p:nvSpPr>
          <p:spPr>
            <a:xfrm>
              <a:off x="5588033" y="1948694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143"/>
            <p:cNvGrpSpPr/>
            <p:nvPr/>
          </p:nvGrpSpPr>
          <p:grpSpPr>
            <a:xfrm>
              <a:off x="4553544" y="2234099"/>
              <a:ext cx="1036831" cy="2792013"/>
              <a:chOff x="4553544" y="2234099"/>
              <a:chExt cx="1036831" cy="2792013"/>
            </a:xfrm>
          </p:grpSpPr>
          <p:cxnSp>
            <p:nvCxnSpPr>
              <p:cNvPr id="71" name="直線單箭頭接點 35"/>
              <p:cNvCxnSpPr/>
              <p:nvPr/>
            </p:nvCxnSpPr>
            <p:spPr>
              <a:xfrm>
                <a:off x="4562835" y="2234099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單箭頭接點 35"/>
              <p:cNvCxnSpPr/>
              <p:nvPr/>
            </p:nvCxnSpPr>
            <p:spPr>
              <a:xfrm>
                <a:off x="4562835" y="2234099"/>
                <a:ext cx="1025198" cy="7803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單箭頭接點 35"/>
              <p:cNvCxnSpPr/>
              <p:nvPr/>
            </p:nvCxnSpPr>
            <p:spPr>
              <a:xfrm>
                <a:off x="4562835" y="2234099"/>
                <a:ext cx="1027540" cy="1558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單箭頭接點 35"/>
              <p:cNvCxnSpPr/>
              <p:nvPr/>
            </p:nvCxnSpPr>
            <p:spPr>
              <a:xfrm>
                <a:off x="4589452" y="2287149"/>
                <a:ext cx="989290" cy="27339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35"/>
              <p:cNvCxnSpPr/>
              <p:nvPr/>
            </p:nvCxnSpPr>
            <p:spPr>
              <a:xfrm flipV="1">
                <a:off x="4562835" y="2235773"/>
                <a:ext cx="1025198" cy="7770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35"/>
              <p:cNvCxnSpPr/>
              <p:nvPr/>
            </p:nvCxnSpPr>
            <p:spPr>
              <a:xfrm>
                <a:off x="4562835" y="301281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35"/>
              <p:cNvCxnSpPr/>
              <p:nvPr/>
            </p:nvCxnSpPr>
            <p:spPr>
              <a:xfrm>
                <a:off x="4598743" y="3012812"/>
                <a:ext cx="991632" cy="7802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35"/>
              <p:cNvCxnSpPr/>
              <p:nvPr/>
            </p:nvCxnSpPr>
            <p:spPr>
              <a:xfrm>
                <a:off x="4562835" y="3012812"/>
                <a:ext cx="1015907" cy="20082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35"/>
              <p:cNvCxnSpPr/>
              <p:nvPr/>
            </p:nvCxnSpPr>
            <p:spPr>
              <a:xfrm flipV="1">
                <a:off x="4565177" y="2276260"/>
                <a:ext cx="1010214" cy="15151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35"/>
              <p:cNvCxnSpPr/>
              <p:nvPr/>
            </p:nvCxnSpPr>
            <p:spPr>
              <a:xfrm flipV="1">
                <a:off x="4565177" y="3054973"/>
                <a:ext cx="1010214" cy="7364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35"/>
              <p:cNvCxnSpPr/>
              <p:nvPr/>
            </p:nvCxnSpPr>
            <p:spPr>
              <a:xfrm>
                <a:off x="4565177" y="379138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單箭頭接點 35"/>
              <p:cNvCxnSpPr/>
              <p:nvPr/>
            </p:nvCxnSpPr>
            <p:spPr>
              <a:xfrm>
                <a:off x="4565177" y="3791382"/>
                <a:ext cx="1013565" cy="1229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單箭頭接點 35"/>
              <p:cNvCxnSpPr/>
              <p:nvPr/>
            </p:nvCxnSpPr>
            <p:spPr>
              <a:xfrm flipV="1">
                <a:off x="4553544" y="2235773"/>
                <a:ext cx="1034489" cy="278362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單箭頭接點 35"/>
              <p:cNvCxnSpPr/>
              <p:nvPr/>
            </p:nvCxnSpPr>
            <p:spPr>
              <a:xfrm flipV="1">
                <a:off x="4553544" y="3089778"/>
                <a:ext cx="1011553" cy="19296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單箭頭接點 35"/>
              <p:cNvCxnSpPr/>
              <p:nvPr/>
            </p:nvCxnSpPr>
            <p:spPr>
              <a:xfrm flipV="1">
                <a:off x="4553544" y="3793056"/>
                <a:ext cx="1036831" cy="122633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單箭頭接點 35"/>
              <p:cNvCxnSpPr/>
              <p:nvPr/>
            </p:nvCxnSpPr>
            <p:spPr>
              <a:xfrm flipV="1">
                <a:off x="4560493" y="5021068"/>
                <a:ext cx="1018249" cy="50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33"/>
            <p:cNvSpPr txBox="1"/>
            <p:nvPr/>
          </p:nvSpPr>
          <p:spPr>
            <a:xfrm>
              <a:off x="6249214" y="344306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直線單箭頭接點 35"/>
            <p:cNvCxnSpPr/>
            <p:nvPr/>
          </p:nvCxnSpPr>
          <p:spPr>
            <a:xfrm>
              <a:off x="6976114" y="2255872"/>
              <a:ext cx="1137325" cy="4765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35"/>
            <p:cNvCxnSpPr/>
            <p:nvPr/>
          </p:nvCxnSpPr>
          <p:spPr>
            <a:xfrm>
              <a:off x="6976114" y="2255872"/>
              <a:ext cx="1139667" cy="1236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35"/>
            <p:cNvCxnSpPr/>
            <p:nvPr/>
          </p:nvCxnSpPr>
          <p:spPr>
            <a:xfrm>
              <a:off x="6976114" y="2255872"/>
              <a:ext cx="1146695" cy="24831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35"/>
            <p:cNvCxnSpPr/>
            <p:nvPr/>
          </p:nvCxnSpPr>
          <p:spPr>
            <a:xfrm flipV="1">
              <a:off x="6976114" y="2731274"/>
              <a:ext cx="1100500" cy="3033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35"/>
            <p:cNvCxnSpPr/>
            <p:nvPr/>
          </p:nvCxnSpPr>
          <p:spPr>
            <a:xfrm>
              <a:off x="7012022" y="3034585"/>
              <a:ext cx="1103759" cy="4577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35"/>
            <p:cNvCxnSpPr/>
            <p:nvPr/>
          </p:nvCxnSpPr>
          <p:spPr>
            <a:xfrm>
              <a:off x="6976114" y="3034585"/>
              <a:ext cx="1146695" cy="1704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35"/>
            <p:cNvCxnSpPr/>
            <p:nvPr/>
          </p:nvCxnSpPr>
          <p:spPr>
            <a:xfrm flipV="1">
              <a:off x="6978456" y="2732451"/>
              <a:ext cx="1134983" cy="1080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35"/>
            <p:cNvCxnSpPr/>
            <p:nvPr/>
          </p:nvCxnSpPr>
          <p:spPr>
            <a:xfrm flipV="1">
              <a:off x="6978456" y="3492360"/>
              <a:ext cx="1137325" cy="3207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35"/>
            <p:cNvCxnSpPr/>
            <p:nvPr/>
          </p:nvCxnSpPr>
          <p:spPr>
            <a:xfrm>
              <a:off x="6978456" y="3813155"/>
              <a:ext cx="1144353" cy="925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35"/>
            <p:cNvCxnSpPr/>
            <p:nvPr/>
          </p:nvCxnSpPr>
          <p:spPr>
            <a:xfrm flipV="1">
              <a:off x="6966823" y="2732451"/>
              <a:ext cx="1146616" cy="23087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35"/>
            <p:cNvCxnSpPr/>
            <p:nvPr/>
          </p:nvCxnSpPr>
          <p:spPr>
            <a:xfrm flipV="1">
              <a:off x="6966823" y="4739033"/>
              <a:ext cx="1155986" cy="3021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35"/>
            <p:cNvCxnSpPr/>
            <p:nvPr/>
          </p:nvCxnSpPr>
          <p:spPr>
            <a:xfrm flipV="1">
              <a:off x="6966823" y="3492360"/>
              <a:ext cx="1148958" cy="15488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矩形 9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模型不足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8" y="2739970"/>
            <a:ext cx="1784631" cy="1784631"/>
          </a:xfrm>
          <a:prstGeom prst="rect">
            <a:avLst/>
          </a:prstGeom>
        </p:spPr>
      </p:pic>
      <p:sp>
        <p:nvSpPr>
          <p:cNvPr id="105" name="手繪多邊形 11"/>
          <p:cNvSpPr/>
          <p:nvPr/>
        </p:nvSpPr>
        <p:spPr>
          <a:xfrm>
            <a:off x="965019" y="2451719"/>
            <a:ext cx="2456341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手繪多邊形 13"/>
          <p:cNvSpPr/>
          <p:nvPr/>
        </p:nvSpPr>
        <p:spPr>
          <a:xfrm>
            <a:off x="1098370" y="2624660"/>
            <a:ext cx="2322478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手繪多邊形 21"/>
          <p:cNvSpPr/>
          <p:nvPr/>
        </p:nvSpPr>
        <p:spPr>
          <a:xfrm rot="21255575">
            <a:off x="2664492" y="4437166"/>
            <a:ext cx="794659" cy="293504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字方塊 7"/>
          <p:cNvSpPr txBox="1"/>
          <p:nvPr/>
        </p:nvSpPr>
        <p:spPr>
          <a:xfrm>
            <a:off x="954729" y="4542114"/>
            <a:ext cx="225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x 16 = 256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字方塊 50"/>
          <p:cNvSpPr txBox="1"/>
          <p:nvPr/>
        </p:nvSpPr>
        <p:spPr>
          <a:xfrm>
            <a:off x="3829215" y="3099053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256X</a:t>
            </a:r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字方塊 50"/>
          <p:cNvSpPr txBox="1"/>
          <p:nvPr/>
        </p:nvSpPr>
        <p:spPr>
          <a:xfrm>
            <a:off x="5588054" y="3092108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字方塊 50"/>
          <p:cNvSpPr txBox="1"/>
          <p:nvPr/>
        </p:nvSpPr>
        <p:spPr>
          <a:xfrm>
            <a:off x="7346893" y="3092108"/>
            <a:ext cx="1323692" cy="707886"/>
          </a:xfrm>
          <a:prstGeom prst="rect">
            <a:avLst/>
          </a:prstGeom>
          <a:solidFill>
            <a:srgbClr val="F6B89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TW" sz="2000" baseline="30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权重参数</a:t>
            </a:r>
            <a:endParaRPr lang="zh-TW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1553" y="5389234"/>
            <a:ext cx="105029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例如：输入为 </a:t>
            </a:r>
            <a:r>
              <a:rPr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x 16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的图片，输入层为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个神经元，隐藏层每层</a:t>
            </a:r>
            <a:r>
              <a:rPr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个神经元，输出层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6471" y="5777727"/>
            <a:ext cx="99145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层，则共需要学习（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TW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TW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TW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再加（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1000+1000+1000+10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TW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942460" y="2708528"/>
            <a:ext cx="6702807" cy="14912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如果输入为</a:t>
            </a:r>
            <a:r>
              <a:rPr kumimoji="1"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的图片或者更大的图片呢？</a:t>
            </a:r>
            <a:endParaRPr kumimoji="1"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如果网络的层数为十层呢？</a:t>
            </a:r>
            <a:endParaRPr kumimoji="1"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96" name="组 95"/>
          <p:cNvGrpSpPr/>
          <p:nvPr/>
        </p:nvGrpSpPr>
        <p:grpSpPr>
          <a:xfrm>
            <a:off x="8185709" y="1886141"/>
            <a:ext cx="3568363" cy="2546870"/>
            <a:chOff x="7961086" y="1171673"/>
            <a:chExt cx="3836529" cy="3008442"/>
          </a:xfrm>
        </p:grpSpPr>
        <p:sp>
          <p:nvSpPr>
            <p:cNvPr id="97" name="爆炸形 2 96"/>
            <p:cNvSpPr/>
            <p:nvPr/>
          </p:nvSpPr>
          <p:spPr>
            <a:xfrm>
              <a:off x="7961086" y="1171673"/>
              <a:ext cx="3836529" cy="3008442"/>
            </a:xfrm>
            <a:prstGeom prst="irregularSeal2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 dirty="0"/>
            </a:p>
          </p:txBody>
        </p:sp>
        <p:sp>
          <p:nvSpPr>
            <p:cNvPr id="98" name="矩形 97"/>
            <p:cNvSpPr/>
            <p:nvPr/>
          </p:nvSpPr>
          <p:spPr>
            <a:xfrm>
              <a:off x="8807470" y="2224347"/>
              <a:ext cx="1963377" cy="127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参数爆炸</a:t>
              </a:r>
              <a:endPara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kumimoji="1"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！！！</a:t>
              </a: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398983" y="1442465"/>
            <a:ext cx="250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模型参数太多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336281" y="155444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5916296" y="1567335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8263172" y="1915572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3066805" y="1920433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256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92"/>
          <p:cNvGrpSpPr/>
          <p:nvPr/>
        </p:nvGrpSpPr>
        <p:grpSpPr>
          <a:xfrm>
            <a:off x="3319769" y="1853391"/>
            <a:ext cx="7153508" cy="3149573"/>
            <a:chOff x="2284605" y="1852294"/>
            <a:chExt cx="8007921" cy="3525248"/>
          </a:xfrm>
        </p:grpSpPr>
        <p:cxnSp>
          <p:nvCxnSpPr>
            <p:cNvPr id="7" name="直線單箭頭接點 10"/>
            <p:cNvCxnSpPr/>
            <p:nvPr/>
          </p:nvCxnSpPr>
          <p:spPr>
            <a:xfrm>
              <a:off x="8424402" y="3501898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11"/>
            <p:cNvCxnSpPr/>
            <p:nvPr/>
          </p:nvCxnSpPr>
          <p:spPr>
            <a:xfrm>
              <a:off x="8533718" y="4747788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12"/>
            <p:cNvCxnSpPr/>
            <p:nvPr/>
          </p:nvCxnSpPr>
          <p:spPr>
            <a:xfrm>
              <a:off x="8400518" y="2723095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284605" y="2383236"/>
              <a:ext cx="746342" cy="27268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橢圓 17"/>
            <p:cNvSpPr/>
            <p:nvPr/>
          </p:nvSpPr>
          <p:spPr>
            <a:xfrm>
              <a:off x="2381715" y="246448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橢圓 18"/>
            <p:cNvSpPr/>
            <p:nvPr/>
          </p:nvSpPr>
          <p:spPr>
            <a:xfrm>
              <a:off x="2384057" y="3243050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橢圓 19"/>
            <p:cNvSpPr/>
            <p:nvPr/>
          </p:nvSpPr>
          <p:spPr>
            <a:xfrm>
              <a:off x="2372424" y="4471062"/>
              <a:ext cx="574158" cy="574158"/>
            </a:xfrm>
            <a:prstGeom prst="ellipse">
              <a:avLst/>
            </a:prstGeom>
            <a:solidFill>
              <a:srgbClr val="FBC9CC"/>
            </a:solidFill>
            <a:ln>
              <a:solidFill>
                <a:srgbClr val="EB8E98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字方塊 20"/>
            <p:cNvSpPr txBox="1"/>
            <p:nvPr/>
          </p:nvSpPr>
          <p:spPr>
            <a:xfrm rot="5400000">
              <a:off x="2369676" y="3896562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1591" y="1852294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橢圓 24"/>
            <p:cNvSpPr/>
            <p:nvPr/>
          </p:nvSpPr>
          <p:spPr>
            <a:xfrm>
              <a:off x="3988677" y="272573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橢圓 25"/>
            <p:cNvSpPr/>
            <p:nvPr/>
          </p:nvSpPr>
          <p:spPr>
            <a:xfrm>
              <a:off x="3991019" y="3504303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橢圓 26"/>
            <p:cNvSpPr/>
            <p:nvPr/>
          </p:nvSpPr>
          <p:spPr>
            <a:xfrm>
              <a:off x="3979386" y="4732315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字方塊 27"/>
            <p:cNvSpPr txBox="1"/>
            <p:nvPr/>
          </p:nvSpPr>
          <p:spPr>
            <a:xfrm rot="5400000">
              <a:off x="3976639" y="4157815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8037595" y="2383235"/>
              <a:ext cx="746342" cy="27461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橢圓 28"/>
            <p:cNvSpPr/>
            <p:nvPr/>
          </p:nvSpPr>
          <p:spPr>
            <a:xfrm>
              <a:off x="8113439" y="2445372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橢圓 29"/>
            <p:cNvSpPr/>
            <p:nvPr/>
          </p:nvSpPr>
          <p:spPr>
            <a:xfrm>
              <a:off x="8115781" y="3205281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橢圓 30"/>
            <p:cNvSpPr/>
            <p:nvPr/>
          </p:nvSpPr>
          <p:spPr>
            <a:xfrm>
              <a:off x="8122809" y="4451954"/>
              <a:ext cx="574158" cy="574158"/>
            </a:xfrm>
            <a:prstGeom prst="ellipse">
              <a:avLst/>
            </a:prstGeom>
            <a:solidFill>
              <a:srgbClr val="51756B"/>
            </a:solidFill>
            <a:ln>
              <a:solidFill>
                <a:srgbClr val="B0E8B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字方塊 31"/>
            <p:cNvSpPr txBox="1"/>
            <p:nvPr/>
          </p:nvSpPr>
          <p:spPr>
            <a:xfrm rot="5400000">
              <a:off x="8120062" y="3874291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字方塊 32"/>
            <p:cNvSpPr txBox="1"/>
            <p:nvPr/>
          </p:nvSpPr>
          <p:spPr>
            <a:xfrm>
              <a:off x="6238035" y="191298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字方塊 33"/>
            <p:cNvSpPr txBox="1"/>
            <p:nvPr/>
          </p:nvSpPr>
          <p:spPr>
            <a:xfrm>
              <a:off x="6237085" y="26694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字方塊 34"/>
            <p:cNvSpPr txBox="1"/>
            <p:nvPr/>
          </p:nvSpPr>
          <p:spPr>
            <a:xfrm>
              <a:off x="6265083" y="4671800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線單箭頭接點 35"/>
            <p:cNvCxnSpPr/>
            <p:nvPr/>
          </p:nvCxnSpPr>
          <p:spPr>
            <a:xfrm>
              <a:off x="2945981" y="2732205"/>
              <a:ext cx="1032804" cy="261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36"/>
            <p:cNvCxnSpPr/>
            <p:nvPr/>
          </p:nvCxnSpPr>
          <p:spPr>
            <a:xfrm>
              <a:off x="2955873" y="3530129"/>
              <a:ext cx="1011125" cy="280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37"/>
            <p:cNvCxnSpPr/>
            <p:nvPr/>
          </p:nvCxnSpPr>
          <p:spPr>
            <a:xfrm>
              <a:off x="2955873" y="4747788"/>
              <a:ext cx="1015362" cy="2405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8"/>
            <p:cNvCxnSpPr/>
            <p:nvPr/>
          </p:nvCxnSpPr>
          <p:spPr>
            <a:xfrm flipV="1">
              <a:off x="2948323" y="2993458"/>
              <a:ext cx="1030462" cy="5173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9"/>
            <p:cNvCxnSpPr/>
            <p:nvPr/>
          </p:nvCxnSpPr>
          <p:spPr>
            <a:xfrm>
              <a:off x="2945981" y="2732205"/>
              <a:ext cx="1035146" cy="10398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40"/>
            <p:cNvCxnSpPr/>
            <p:nvPr/>
          </p:nvCxnSpPr>
          <p:spPr>
            <a:xfrm>
              <a:off x="2945981" y="2732205"/>
              <a:ext cx="1023513" cy="22678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41"/>
            <p:cNvCxnSpPr/>
            <p:nvPr/>
          </p:nvCxnSpPr>
          <p:spPr>
            <a:xfrm>
              <a:off x="2948323" y="3510775"/>
              <a:ext cx="1021171" cy="14892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42"/>
            <p:cNvCxnSpPr/>
            <p:nvPr/>
          </p:nvCxnSpPr>
          <p:spPr>
            <a:xfrm flipV="1">
              <a:off x="2936690" y="2993458"/>
              <a:ext cx="1042095" cy="17453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43"/>
            <p:cNvCxnSpPr/>
            <p:nvPr/>
          </p:nvCxnSpPr>
          <p:spPr>
            <a:xfrm flipV="1">
              <a:off x="2936690" y="3772028"/>
              <a:ext cx="1044437" cy="9667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53"/>
            <p:cNvSpPr txBox="1"/>
            <p:nvPr/>
          </p:nvSpPr>
          <p:spPr>
            <a:xfrm rot="5400000">
              <a:off x="9393080" y="3905263"/>
              <a:ext cx="769257" cy="516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字方塊 54"/>
            <p:cNvSpPr txBox="1"/>
            <p:nvPr/>
          </p:nvSpPr>
          <p:spPr>
            <a:xfrm>
              <a:off x="9462173" y="238323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字方塊 55"/>
            <p:cNvSpPr txBox="1"/>
            <p:nvPr/>
          </p:nvSpPr>
          <p:spPr>
            <a:xfrm>
              <a:off x="9450890" y="318145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字方塊 56"/>
            <p:cNvSpPr txBox="1"/>
            <p:nvPr/>
          </p:nvSpPr>
          <p:spPr>
            <a:xfrm>
              <a:off x="9450888" y="4447687"/>
              <a:ext cx="841638" cy="58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TW" sz="28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橢圓 24"/>
            <p:cNvSpPr/>
            <p:nvPr/>
          </p:nvSpPr>
          <p:spPr>
            <a:xfrm>
              <a:off x="3988677" y="1947020"/>
              <a:ext cx="574158" cy="574158"/>
            </a:xfrm>
            <a:prstGeom prst="ellipse">
              <a:avLst/>
            </a:prstGeom>
            <a:solidFill>
              <a:srgbClr val="B0E8B9"/>
            </a:solidFill>
            <a:ln>
              <a:solidFill>
                <a:srgbClr val="6EBF9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字方塊 54"/>
            <p:cNvSpPr txBox="1"/>
            <p:nvPr/>
          </p:nvSpPr>
          <p:spPr>
            <a:xfrm>
              <a:off x="2380988" y="2438347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TW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字方塊 54"/>
            <p:cNvSpPr txBox="1"/>
            <p:nvPr/>
          </p:nvSpPr>
          <p:spPr>
            <a:xfrm>
              <a:off x="2384021" y="3228960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字方塊 54"/>
            <p:cNvSpPr txBox="1"/>
            <p:nvPr/>
          </p:nvSpPr>
          <p:spPr>
            <a:xfrm>
              <a:off x="2388668" y="4408956"/>
              <a:ext cx="631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8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TW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線單箭頭接點 35"/>
            <p:cNvCxnSpPr/>
            <p:nvPr/>
          </p:nvCxnSpPr>
          <p:spPr>
            <a:xfrm flipV="1">
              <a:off x="3015916" y="2234099"/>
              <a:ext cx="972761" cy="4889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38"/>
            <p:cNvCxnSpPr/>
            <p:nvPr/>
          </p:nvCxnSpPr>
          <p:spPr>
            <a:xfrm flipV="1">
              <a:off x="2955873" y="2234099"/>
              <a:ext cx="1022912" cy="12960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8"/>
            <p:cNvCxnSpPr/>
            <p:nvPr/>
          </p:nvCxnSpPr>
          <p:spPr>
            <a:xfrm flipV="1">
              <a:off x="2946582" y="2234099"/>
              <a:ext cx="1032203" cy="25240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5500947" y="1853968"/>
              <a:ext cx="746342" cy="352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橢圓 24"/>
            <p:cNvSpPr/>
            <p:nvPr/>
          </p:nvSpPr>
          <p:spPr>
            <a:xfrm>
              <a:off x="5588033" y="272740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橢圓 25"/>
            <p:cNvSpPr/>
            <p:nvPr/>
          </p:nvSpPr>
          <p:spPr>
            <a:xfrm>
              <a:off x="5590375" y="3505977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橢圓 26"/>
            <p:cNvSpPr/>
            <p:nvPr/>
          </p:nvSpPr>
          <p:spPr>
            <a:xfrm>
              <a:off x="5578742" y="4733989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字方塊 27"/>
            <p:cNvSpPr txBox="1"/>
            <p:nvPr/>
          </p:nvSpPr>
          <p:spPr>
            <a:xfrm rot="5400000">
              <a:off x="5575995" y="4159490"/>
              <a:ext cx="769257" cy="516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橢圓 24"/>
            <p:cNvSpPr/>
            <p:nvPr/>
          </p:nvSpPr>
          <p:spPr>
            <a:xfrm>
              <a:off x="5588033" y="1948694"/>
              <a:ext cx="574158" cy="574158"/>
            </a:xfrm>
            <a:prstGeom prst="ellipse">
              <a:avLst/>
            </a:prstGeom>
            <a:solidFill>
              <a:srgbClr val="6EBF96"/>
            </a:solidFill>
            <a:ln>
              <a:solidFill>
                <a:srgbClr val="B0E8B9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143"/>
            <p:cNvGrpSpPr/>
            <p:nvPr/>
          </p:nvGrpSpPr>
          <p:grpSpPr>
            <a:xfrm>
              <a:off x="4553544" y="2234099"/>
              <a:ext cx="1036831" cy="2792013"/>
              <a:chOff x="4553544" y="2234099"/>
              <a:chExt cx="1036831" cy="2792013"/>
            </a:xfrm>
          </p:grpSpPr>
          <p:cxnSp>
            <p:nvCxnSpPr>
              <p:cNvPr id="71" name="直線單箭頭接點 35"/>
              <p:cNvCxnSpPr/>
              <p:nvPr/>
            </p:nvCxnSpPr>
            <p:spPr>
              <a:xfrm>
                <a:off x="4562835" y="2234099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單箭頭接點 35"/>
              <p:cNvCxnSpPr/>
              <p:nvPr/>
            </p:nvCxnSpPr>
            <p:spPr>
              <a:xfrm>
                <a:off x="4562835" y="2234099"/>
                <a:ext cx="1025198" cy="7803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單箭頭接點 35"/>
              <p:cNvCxnSpPr/>
              <p:nvPr/>
            </p:nvCxnSpPr>
            <p:spPr>
              <a:xfrm>
                <a:off x="4562835" y="2234099"/>
                <a:ext cx="1027540" cy="1558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單箭頭接點 35"/>
              <p:cNvCxnSpPr/>
              <p:nvPr/>
            </p:nvCxnSpPr>
            <p:spPr>
              <a:xfrm>
                <a:off x="4589452" y="2287149"/>
                <a:ext cx="989290" cy="273391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35"/>
              <p:cNvCxnSpPr/>
              <p:nvPr/>
            </p:nvCxnSpPr>
            <p:spPr>
              <a:xfrm flipV="1">
                <a:off x="4562835" y="2235773"/>
                <a:ext cx="1025198" cy="7770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35"/>
              <p:cNvCxnSpPr/>
              <p:nvPr/>
            </p:nvCxnSpPr>
            <p:spPr>
              <a:xfrm>
                <a:off x="4562835" y="301281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35"/>
              <p:cNvCxnSpPr/>
              <p:nvPr/>
            </p:nvCxnSpPr>
            <p:spPr>
              <a:xfrm>
                <a:off x="4598743" y="3012812"/>
                <a:ext cx="991632" cy="7802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35"/>
              <p:cNvCxnSpPr/>
              <p:nvPr/>
            </p:nvCxnSpPr>
            <p:spPr>
              <a:xfrm>
                <a:off x="4562835" y="3012812"/>
                <a:ext cx="1015907" cy="20082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35"/>
              <p:cNvCxnSpPr/>
              <p:nvPr/>
            </p:nvCxnSpPr>
            <p:spPr>
              <a:xfrm flipV="1">
                <a:off x="4565177" y="2276260"/>
                <a:ext cx="1010214" cy="151512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35"/>
              <p:cNvCxnSpPr/>
              <p:nvPr/>
            </p:nvCxnSpPr>
            <p:spPr>
              <a:xfrm flipV="1">
                <a:off x="4565177" y="3054973"/>
                <a:ext cx="1010214" cy="7364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35"/>
              <p:cNvCxnSpPr/>
              <p:nvPr/>
            </p:nvCxnSpPr>
            <p:spPr>
              <a:xfrm>
                <a:off x="4565177" y="3791382"/>
                <a:ext cx="1025198" cy="16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單箭頭接點 35"/>
              <p:cNvCxnSpPr/>
              <p:nvPr/>
            </p:nvCxnSpPr>
            <p:spPr>
              <a:xfrm>
                <a:off x="4565177" y="3791382"/>
                <a:ext cx="1013565" cy="1229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單箭頭接點 35"/>
              <p:cNvCxnSpPr/>
              <p:nvPr/>
            </p:nvCxnSpPr>
            <p:spPr>
              <a:xfrm flipV="1">
                <a:off x="4553544" y="2235773"/>
                <a:ext cx="1034489" cy="278362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單箭頭接點 35"/>
              <p:cNvCxnSpPr/>
              <p:nvPr/>
            </p:nvCxnSpPr>
            <p:spPr>
              <a:xfrm flipV="1">
                <a:off x="4553544" y="3089778"/>
                <a:ext cx="1011553" cy="19296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單箭頭接點 35"/>
              <p:cNvCxnSpPr/>
              <p:nvPr/>
            </p:nvCxnSpPr>
            <p:spPr>
              <a:xfrm flipV="1">
                <a:off x="4553544" y="3793056"/>
                <a:ext cx="1036831" cy="122633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單箭頭接點 35"/>
              <p:cNvCxnSpPr/>
              <p:nvPr/>
            </p:nvCxnSpPr>
            <p:spPr>
              <a:xfrm flipV="1">
                <a:off x="4560493" y="5021068"/>
                <a:ext cx="1018249" cy="504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33"/>
            <p:cNvSpPr txBox="1"/>
            <p:nvPr/>
          </p:nvSpPr>
          <p:spPr>
            <a:xfrm>
              <a:off x="6249214" y="344306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直線單箭頭接點 35"/>
            <p:cNvCxnSpPr/>
            <p:nvPr/>
          </p:nvCxnSpPr>
          <p:spPr>
            <a:xfrm>
              <a:off x="6976114" y="2255872"/>
              <a:ext cx="1137325" cy="4765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35"/>
            <p:cNvCxnSpPr/>
            <p:nvPr/>
          </p:nvCxnSpPr>
          <p:spPr>
            <a:xfrm>
              <a:off x="6976114" y="2255872"/>
              <a:ext cx="1139667" cy="12364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35"/>
            <p:cNvCxnSpPr/>
            <p:nvPr/>
          </p:nvCxnSpPr>
          <p:spPr>
            <a:xfrm>
              <a:off x="6976114" y="2255872"/>
              <a:ext cx="1146695" cy="24831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35"/>
            <p:cNvCxnSpPr/>
            <p:nvPr/>
          </p:nvCxnSpPr>
          <p:spPr>
            <a:xfrm flipV="1">
              <a:off x="6976114" y="2731274"/>
              <a:ext cx="1100500" cy="3033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35"/>
            <p:cNvCxnSpPr/>
            <p:nvPr/>
          </p:nvCxnSpPr>
          <p:spPr>
            <a:xfrm>
              <a:off x="7012022" y="3034585"/>
              <a:ext cx="1103759" cy="4577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35"/>
            <p:cNvCxnSpPr/>
            <p:nvPr/>
          </p:nvCxnSpPr>
          <p:spPr>
            <a:xfrm>
              <a:off x="6976114" y="3034585"/>
              <a:ext cx="1146695" cy="1704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35"/>
            <p:cNvCxnSpPr/>
            <p:nvPr/>
          </p:nvCxnSpPr>
          <p:spPr>
            <a:xfrm flipV="1">
              <a:off x="6978456" y="2732451"/>
              <a:ext cx="1134983" cy="1080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35"/>
            <p:cNvCxnSpPr/>
            <p:nvPr/>
          </p:nvCxnSpPr>
          <p:spPr>
            <a:xfrm flipV="1">
              <a:off x="6978456" y="3492360"/>
              <a:ext cx="1137325" cy="3207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35"/>
            <p:cNvCxnSpPr/>
            <p:nvPr/>
          </p:nvCxnSpPr>
          <p:spPr>
            <a:xfrm>
              <a:off x="6978456" y="3813155"/>
              <a:ext cx="1144353" cy="925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35"/>
            <p:cNvCxnSpPr/>
            <p:nvPr/>
          </p:nvCxnSpPr>
          <p:spPr>
            <a:xfrm flipV="1">
              <a:off x="6966823" y="2732451"/>
              <a:ext cx="1146616" cy="230871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35"/>
            <p:cNvCxnSpPr/>
            <p:nvPr/>
          </p:nvCxnSpPr>
          <p:spPr>
            <a:xfrm flipV="1">
              <a:off x="6966823" y="4739033"/>
              <a:ext cx="1155986" cy="3021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35"/>
            <p:cNvCxnSpPr/>
            <p:nvPr/>
          </p:nvCxnSpPr>
          <p:spPr>
            <a:xfrm flipV="1">
              <a:off x="6966823" y="3492360"/>
              <a:ext cx="1148958" cy="154880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矩形 91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模型不足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8" y="2739970"/>
            <a:ext cx="1784631" cy="1784631"/>
          </a:xfrm>
          <a:prstGeom prst="rect">
            <a:avLst/>
          </a:prstGeom>
        </p:spPr>
      </p:pic>
      <p:sp>
        <p:nvSpPr>
          <p:cNvPr id="105" name="手繪多邊形 11"/>
          <p:cNvSpPr/>
          <p:nvPr/>
        </p:nvSpPr>
        <p:spPr>
          <a:xfrm>
            <a:off x="965019" y="2451719"/>
            <a:ext cx="2456341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手繪多邊形 13"/>
          <p:cNvSpPr/>
          <p:nvPr/>
        </p:nvSpPr>
        <p:spPr>
          <a:xfrm>
            <a:off x="1098370" y="2624660"/>
            <a:ext cx="2322478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手繪多邊形 21"/>
          <p:cNvSpPr/>
          <p:nvPr/>
        </p:nvSpPr>
        <p:spPr>
          <a:xfrm rot="21255575">
            <a:off x="2664492" y="4437166"/>
            <a:ext cx="794659" cy="293504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字方塊 7"/>
          <p:cNvSpPr txBox="1"/>
          <p:nvPr/>
        </p:nvSpPr>
        <p:spPr>
          <a:xfrm>
            <a:off x="315886" y="4522004"/>
            <a:ext cx="2255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x 16 = 256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534936" y="1909480"/>
            <a:ext cx="1959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256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3902279" y="1365282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个神经元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6103285" y="1348636"/>
            <a:ext cx="2231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8567157" y="1944415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个神经元</a:t>
            </a:r>
          </a:p>
        </p:txBody>
      </p:sp>
      <p:sp>
        <p:nvSpPr>
          <p:cNvPr id="116" name="矩形 115"/>
          <p:cNvSpPr/>
          <p:nvPr/>
        </p:nvSpPr>
        <p:spPr>
          <a:xfrm>
            <a:off x="232786" y="5359197"/>
            <a:ext cx="109783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假设对 </a:t>
            </a:r>
            <a:r>
              <a:rPr lang="en-US" altLang="zh-TW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x 16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的图片进行分类手写字体分类任务，设计了如上所示的网络。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的图片做相同的任务，只有通过增加每层的神经元个数或者增加网络的层数来完成。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32786" y="1421910"/>
            <a:ext cx="3133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模型结构不够灵活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 95"/>
          <p:cNvGrpSpPr/>
          <p:nvPr/>
        </p:nvGrpSpPr>
        <p:grpSpPr>
          <a:xfrm>
            <a:off x="9059901" y="3409548"/>
            <a:ext cx="3568363" cy="2546870"/>
            <a:chOff x="8117394" y="1239150"/>
            <a:chExt cx="3836529" cy="3008442"/>
          </a:xfrm>
        </p:grpSpPr>
        <p:sp>
          <p:nvSpPr>
            <p:cNvPr id="97" name="爆炸形 2 96"/>
            <p:cNvSpPr/>
            <p:nvPr/>
          </p:nvSpPr>
          <p:spPr>
            <a:xfrm>
              <a:off x="8117394" y="1239150"/>
              <a:ext cx="3836529" cy="3008442"/>
            </a:xfrm>
            <a:prstGeom prst="irregularSeal2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 dirty="0"/>
            </a:p>
          </p:txBody>
        </p:sp>
        <p:sp>
          <p:nvSpPr>
            <p:cNvPr id="98" name="矩形 97"/>
            <p:cNvSpPr/>
            <p:nvPr/>
          </p:nvSpPr>
          <p:spPr>
            <a:xfrm>
              <a:off x="8846797" y="2253151"/>
              <a:ext cx="1963377" cy="127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网络结构</a:t>
              </a:r>
              <a:endPara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kumimoji="1"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不够灵活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636" y="4371139"/>
            <a:ext cx="899000" cy="1078799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云形标注 10"/>
          <p:cNvSpPr/>
          <p:nvPr/>
        </p:nvSpPr>
        <p:spPr>
          <a:xfrm>
            <a:off x="3590801" y="1863698"/>
            <a:ext cx="4648782" cy="2373251"/>
          </a:xfrm>
          <a:prstGeom prst="cloudCallout">
            <a:avLst>
              <a:gd name="adj1" fmla="val -31944"/>
              <a:gd name="adj2" fmla="val 61029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75290" y="2667872"/>
            <a:ext cx="3279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如何改进？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66" y="1356818"/>
            <a:ext cx="498966" cy="49896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899747" y="1365144"/>
            <a:ext cx="35188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>
            <a:off x="227656" y="4230714"/>
            <a:ext cx="3854886" cy="1664951"/>
            <a:chOff x="227656" y="4230714"/>
            <a:chExt cx="3854886" cy="1664951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656" y="4230714"/>
              <a:ext cx="3854886" cy="1664951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656" y="4855641"/>
              <a:ext cx="483995" cy="4839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" name="圆角矩形 4"/>
          <p:cNvSpPr/>
          <p:nvPr/>
        </p:nvSpPr>
        <p:spPr>
          <a:xfrm>
            <a:off x="1182422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6" name="右箭头 5"/>
          <p:cNvSpPr/>
          <p:nvPr/>
        </p:nvSpPr>
        <p:spPr>
          <a:xfrm>
            <a:off x="3558281" y="2811074"/>
            <a:ext cx="1121434" cy="25879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98019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</a:p>
        </p:txBody>
      </p:sp>
      <p:sp>
        <p:nvSpPr>
          <p:cNvPr id="8" name="右箭头 7"/>
          <p:cNvSpPr/>
          <p:nvPr/>
        </p:nvSpPr>
        <p:spPr>
          <a:xfrm>
            <a:off x="7573878" y="2811073"/>
            <a:ext cx="1121434" cy="25879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213615" y="2299241"/>
            <a:ext cx="1857555" cy="11731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参数学习</a:t>
            </a:r>
          </a:p>
        </p:txBody>
      </p:sp>
      <p:sp>
        <p:nvSpPr>
          <p:cNvPr id="13" name="右箭头 12"/>
          <p:cNvSpPr/>
          <p:nvPr/>
        </p:nvSpPr>
        <p:spPr>
          <a:xfrm rot="5400000">
            <a:off x="1915266" y="3641352"/>
            <a:ext cx="360000" cy="255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96948" y="400051"/>
            <a:ext cx="2253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模型改进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6438" y="1440476"/>
            <a:ext cx="7693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如何简化？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7051" y="2207230"/>
            <a:ext cx="1991833" cy="1301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字方塊 52"/>
          <p:cNvSpPr txBox="1"/>
          <p:nvPr/>
        </p:nvSpPr>
        <p:spPr>
          <a:xfrm>
            <a:off x="2097825" y="3172560"/>
            <a:ext cx="1569631" cy="523220"/>
          </a:xfrm>
          <a:prstGeom prst="rect">
            <a:avLst/>
          </a:prstGeom>
          <a:solidFill>
            <a:schemeClr val="accent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1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4308" y="595824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全连接神经网络</a:t>
            </a:r>
          </a:p>
        </p:txBody>
      </p:sp>
      <p:sp>
        <p:nvSpPr>
          <p:cNvPr id="85" name="右箭头 84"/>
          <p:cNvSpPr/>
          <p:nvPr/>
        </p:nvSpPr>
        <p:spPr>
          <a:xfrm>
            <a:off x="4118998" y="5134708"/>
            <a:ext cx="1121434" cy="8596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十字形 10"/>
          <p:cNvSpPr/>
          <p:nvPr/>
        </p:nvSpPr>
        <p:spPr>
          <a:xfrm rot="2551399">
            <a:off x="1304642" y="4212598"/>
            <a:ext cx="1613112" cy="1701176"/>
          </a:xfrm>
          <a:prstGeom prst="plus">
            <a:avLst>
              <a:gd name="adj" fmla="val 415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834" y="4180216"/>
            <a:ext cx="4026628" cy="176594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660286" y="59461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卷积神经网络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 animBg="1"/>
      <p:bldP spid="22" grpId="0" animBg="1"/>
      <p:bldP spid="10" grpId="0"/>
      <p:bldP spid="85" grpId="0" animBg="1"/>
      <p:bldP spid="11" grpId="0" animBg="1"/>
      <p:bldP spid="19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1171" y="1444878"/>
            <a:ext cx="51144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5904" y="2006827"/>
            <a:ext cx="96472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卷积神经网络应用示例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6372" y="4357678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37" y="4374201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37" y="1451299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64" y="5322585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57430" y="5346426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83828" y="1428550"/>
            <a:ext cx="51144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8561" y="1990499"/>
            <a:ext cx="96472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卷积神经网络（</a:t>
            </a:r>
            <a:r>
              <a:rPr lang="en-US" altLang="zh-CN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卷积神经网络应用示例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9029" y="4341350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94" y="4357873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94" y="1434971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" y="5306257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90087" y="5330098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215183" y="1426020"/>
            <a:ext cx="5858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卷积神经网络结构上的三大特性</a:t>
            </a:r>
            <a:endParaRPr lang="zh-TW" altLang="en-US" sz="28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字方塊 55"/>
          <p:cNvSpPr txBox="1"/>
          <p:nvPr/>
        </p:nvSpPr>
        <p:spPr>
          <a:xfrm>
            <a:off x="1186043" y="2076295"/>
            <a:ext cx="8228536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3144586" y="2253073"/>
            <a:ext cx="299258" cy="1642651"/>
          </a:xfrm>
          <a:prstGeom prst="rightBrace">
            <a:avLst>
              <a:gd name="adj1" fmla="val 47222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3529569" y="281278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减少网络参数，加快训练速度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75" y="1813793"/>
            <a:ext cx="2621321" cy="19800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" name="矩形 3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9181" y="1067613"/>
            <a:ext cx="5858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419675" y="367635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全连接神经元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6395861" y="622380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卷积神经网络的神经元</a:t>
            </a:r>
          </a:p>
        </p:txBody>
      </p:sp>
      <p:sp>
        <p:nvSpPr>
          <p:cNvPr id="65" name="椭圆形标注 64"/>
          <p:cNvSpPr/>
          <p:nvPr/>
        </p:nvSpPr>
        <p:spPr>
          <a:xfrm>
            <a:off x="7726338" y="904875"/>
            <a:ext cx="3970362" cy="2570320"/>
          </a:xfrm>
          <a:prstGeom prst="wedgeEllipseCallout">
            <a:avLst>
              <a:gd name="adj1" fmla="val -90908"/>
              <a:gd name="adj2" fmla="val 10835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在进行图像识别的时候，不需要对整个图像进行处理，只需要关注图像中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某些特殊的区域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0581" y="3780918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640x480</a:t>
            </a:r>
            <a:endParaRPr kumimoji="1" lang="zh-CN" altLang="en-US" sz="2400" dirty="0"/>
          </a:p>
        </p:txBody>
      </p:sp>
      <p:sp>
        <p:nvSpPr>
          <p:cNvPr id="49" name="文本框 48"/>
          <p:cNvSpPr txBox="1"/>
          <p:nvPr/>
        </p:nvSpPr>
        <p:spPr>
          <a:xfrm>
            <a:off x="1967921" y="5919550"/>
            <a:ext cx="125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/>
              <a:t>640x480</a:t>
            </a:r>
            <a:endParaRPr kumimoji="1" lang="zh-CN" altLang="en-US" sz="2400" dirty="0"/>
          </a:p>
        </p:txBody>
      </p:sp>
      <p:grpSp>
        <p:nvGrpSpPr>
          <p:cNvPr id="10" name="组 9"/>
          <p:cNvGrpSpPr/>
          <p:nvPr/>
        </p:nvGrpSpPr>
        <p:grpSpPr>
          <a:xfrm>
            <a:off x="4067841" y="1288997"/>
            <a:ext cx="2832827" cy="2415522"/>
            <a:chOff x="4067841" y="1660478"/>
            <a:chExt cx="2832827" cy="2415522"/>
          </a:xfrm>
        </p:grpSpPr>
        <p:grpSp>
          <p:nvGrpSpPr>
            <p:cNvPr id="36" name="组 35"/>
            <p:cNvGrpSpPr/>
            <p:nvPr/>
          </p:nvGrpSpPr>
          <p:grpSpPr>
            <a:xfrm>
              <a:off x="4274683" y="2179370"/>
              <a:ext cx="2214563" cy="1896630"/>
              <a:chOff x="4694252" y="2185274"/>
              <a:chExt cx="2214563" cy="1896630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4694252" y="2185274"/>
                <a:ext cx="2214563" cy="189663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290142" y="2751747"/>
                <a:ext cx="489157" cy="44252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90"/>
              <p:cNvSpPr/>
              <p:nvPr/>
            </p:nvSpPr>
            <p:spPr>
              <a:xfrm>
                <a:off x="5385947" y="3722196"/>
                <a:ext cx="387614" cy="33545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" name="直線單箭頭接點 24"/>
              <p:cNvCxnSpPr/>
              <p:nvPr/>
            </p:nvCxnSpPr>
            <p:spPr>
              <a:xfrm flipV="1">
                <a:off x="5579994" y="3213979"/>
                <a:ext cx="0" cy="470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280856" y="2805662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4" imgW="7620000" imgH="5181600" progId="Equation.3">
                          <p:embed/>
                        </p:oleObj>
                      </mc:Choice>
                      <mc:Fallback>
                        <p:oleObj name="方程式" r:id="rId4" imgW="7620000" imgH="5181600" progId="Equation.3">
                          <p:embed/>
                          <p:pic>
                            <p:nvPicPr>
                              <p:cNvPr id="0" name="图片 11204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280856" y="2805662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280856" y="2805662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2053" name="方程式" r:id="rId7" imgW="7620000" imgH="5181600" progId="Equation.3">
                          <p:embed/>
                        </p:oleObj>
                      </mc:Choice>
                      <mc:Fallback>
                        <p:oleObj name="方程式" r:id="rId7" imgW="7620000" imgH="5181600" progId="Equation.3">
                          <p:embed/>
                          <p:pic>
                            <p:nvPicPr>
                              <p:cNvPr id="0" name="图片 11204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280856" y="2805662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2" name="椭圆 41"/>
              <p:cNvSpPr/>
              <p:nvPr/>
            </p:nvSpPr>
            <p:spPr>
              <a:xfrm>
                <a:off x="5350964" y="2769460"/>
                <a:ext cx="454282" cy="4485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/>
                  <p:cNvSpPr txBox="1"/>
                  <p:nvPr/>
                </p:nvSpPr>
                <p:spPr>
                  <a:xfrm>
                    <a:off x="5356934" y="2876825"/>
                    <a:ext cx="45962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43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6934" y="2876825"/>
                    <a:ext cx="459628" cy="215444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直線單箭頭接點 31"/>
              <p:cNvCxnSpPr/>
              <p:nvPr/>
            </p:nvCxnSpPr>
            <p:spPr>
              <a:xfrm flipV="1">
                <a:off x="5848451" y="2991127"/>
                <a:ext cx="409839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20"/>
              <p:cNvCxnSpPr/>
              <p:nvPr/>
            </p:nvCxnSpPr>
            <p:spPr>
              <a:xfrm flipV="1">
                <a:off x="4803738" y="3073179"/>
                <a:ext cx="521731" cy="53689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單箭頭接點 23"/>
              <p:cNvCxnSpPr/>
              <p:nvPr/>
            </p:nvCxnSpPr>
            <p:spPr>
              <a:xfrm>
                <a:off x="4803738" y="2486199"/>
                <a:ext cx="535925" cy="4533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32"/>
              <p:cNvCxnSpPr/>
              <p:nvPr/>
            </p:nvCxnSpPr>
            <p:spPr>
              <a:xfrm>
                <a:off x="4839244" y="3013768"/>
                <a:ext cx="5055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4067841" y="1660478"/>
              <a:ext cx="2832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输入为</a:t>
              </a:r>
              <a:r>
                <a: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640x480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个像素</a:t>
              </a:r>
            </a:p>
          </p:txBody>
        </p:sp>
      </p:grpSp>
      <p:grpSp>
        <p:nvGrpSpPr>
          <p:cNvPr id="11" name="组 10"/>
          <p:cNvGrpSpPr/>
          <p:nvPr/>
        </p:nvGrpSpPr>
        <p:grpSpPr>
          <a:xfrm>
            <a:off x="6224965" y="4212811"/>
            <a:ext cx="3002745" cy="1963111"/>
            <a:chOff x="6224965" y="4697836"/>
            <a:chExt cx="3002745" cy="1963111"/>
          </a:xfrm>
        </p:grpSpPr>
        <p:grpSp>
          <p:nvGrpSpPr>
            <p:cNvPr id="52" name="组 51"/>
            <p:cNvGrpSpPr/>
            <p:nvPr/>
          </p:nvGrpSpPr>
          <p:grpSpPr>
            <a:xfrm>
              <a:off x="6563047" y="4764317"/>
              <a:ext cx="2214563" cy="1896630"/>
              <a:chOff x="4694252" y="2185274"/>
              <a:chExt cx="2214563" cy="1896630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4694252" y="2185274"/>
                <a:ext cx="2214563" cy="189663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6290142" y="2751747"/>
                <a:ext cx="489157" cy="4425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5" name="等腰三角形 90"/>
              <p:cNvSpPr/>
              <p:nvPr/>
            </p:nvSpPr>
            <p:spPr>
              <a:xfrm>
                <a:off x="5385947" y="3722196"/>
                <a:ext cx="387614" cy="33545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56" name="直線單箭頭接點 24"/>
              <p:cNvCxnSpPr/>
              <p:nvPr/>
            </p:nvCxnSpPr>
            <p:spPr>
              <a:xfrm flipV="1">
                <a:off x="5579994" y="3213979"/>
                <a:ext cx="0" cy="470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椭圆 57"/>
              <p:cNvSpPr/>
              <p:nvPr/>
            </p:nvSpPr>
            <p:spPr>
              <a:xfrm>
                <a:off x="5350964" y="2769460"/>
                <a:ext cx="454282" cy="4485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5356934" y="2876825"/>
                    <a:ext cx="45962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59" name="文本框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6934" y="2876825"/>
                    <a:ext cx="459628" cy="215444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直線單箭頭接點 31"/>
              <p:cNvCxnSpPr/>
              <p:nvPr/>
            </p:nvCxnSpPr>
            <p:spPr>
              <a:xfrm flipV="1">
                <a:off x="5848451" y="2991127"/>
                <a:ext cx="409839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單箭頭接點 20"/>
              <p:cNvCxnSpPr/>
              <p:nvPr/>
            </p:nvCxnSpPr>
            <p:spPr>
              <a:xfrm flipV="1">
                <a:off x="4803738" y="3073179"/>
                <a:ext cx="521731" cy="53689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單箭頭接點 23"/>
              <p:cNvCxnSpPr/>
              <p:nvPr/>
            </p:nvCxnSpPr>
            <p:spPr>
              <a:xfrm>
                <a:off x="4803738" y="2486199"/>
                <a:ext cx="535925" cy="4533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單箭頭接點 32"/>
              <p:cNvCxnSpPr/>
              <p:nvPr/>
            </p:nvCxnSpPr>
            <p:spPr>
              <a:xfrm>
                <a:off x="4839244" y="3013768"/>
                <a:ext cx="5055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本框 50"/>
            <p:cNvSpPr txBox="1"/>
            <p:nvPr/>
          </p:nvSpPr>
          <p:spPr>
            <a:xfrm>
              <a:off x="6224965" y="4697836"/>
              <a:ext cx="30027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输入为</a:t>
              </a:r>
              <a:r>
                <a: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16x16</a:t>
              </a:r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个像素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6" name="Object 12"/>
                <p:cNvGraphicFramePr>
                  <a:graphicFrameLocks noChangeAspect="1"/>
                </p:cNvGraphicFramePr>
                <p:nvPr/>
              </p:nvGraphicFramePr>
              <p:xfrm>
                <a:off x="8149651" y="5384705"/>
                <a:ext cx="511730" cy="3323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" imgW="7620000" imgH="5181600" progId="Equation.3">
                        <p:embed/>
                      </p:oleObj>
                    </mc:Choice>
                    <mc:Fallback>
                      <p:oleObj name="方程式" r:id="rId4" imgW="7620000" imgH="5181600" progId="Equation.3">
                        <p:embed/>
                        <p:pic>
                          <p:nvPicPr>
                            <p:cNvPr id="0" name="图片 1120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149651" y="5384705"/>
                              <a:ext cx="511730" cy="33231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66" name="Object 12"/>
                <p:cNvGraphicFramePr>
                  <a:graphicFrameLocks noChangeAspect="1"/>
                </p:cNvGraphicFramePr>
                <p:nvPr/>
              </p:nvGraphicFramePr>
              <p:xfrm>
                <a:off x="8149651" y="5384705"/>
                <a:ext cx="511730" cy="3323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2054" name="方程式" r:id="rId11" imgW="7620000" imgH="5181600" progId="Equation.3">
                        <p:embed/>
                      </p:oleObj>
                    </mc:Choice>
                    <mc:Fallback>
                      <p:oleObj name="方程式" r:id="rId11" imgW="7620000" imgH="5181600" progId="Equation.3">
                        <p:embed/>
                        <p:pic>
                          <p:nvPicPr>
                            <p:cNvPr id="0" name="图片 1120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149651" y="5384705"/>
                              <a:ext cx="511730" cy="33231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6" name="组合 15"/>
          <p:cNvGrpSpPr/>
          <p:nvPr/>
        </p:nvGrpSpPr>
        <p:grpSpPr>
          <a:xfrm>
            <a:off x="4944655" y="4935255"/>
            <a:ext cx="939681" cy="1111791"/>
            <a:chOff x="4944655" y="5306736"/>
            <a:chExt cx="939681" cy="1111791"/>
          </a:xfrm>
        </p:grpSpPr>
        <p:sp>
          <p:nvSpPr>
            <p:cNvPr id="50" name="文本框 49"/>
            <p:cNvSpPr txBox="1"/>
            <p:nvPr/>
          </p:nvSpPr>
          <p:spPr>
            <a:xfrm>
              <a:off x="4944655" y="5956862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/>
                <a:t>16x16</a:t>
              </a:r>
              <a:endParaRPr kumimoji="1" lang="zh-CN" altLang="en-US" sz="2400" dirty="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73600" y="5306736"/>
              <a:ext cx="708897" cy="554976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9075" y="4186128"/>
            <a:ext cx="2621321" cy="1980000"/>
          </a:xfrm>
          <a:prstGeom prst="rect">
            <a:avLst/>
          </a:prstGeom>
          <a:ln w="28575">
            <a:noFill/>
          </a:ln>
        </p:spPr>
      </p:pic>
      <p:sp>
        <p:nvSpPr>
          <p:cNvPr id="13" name="矩形 12"/>
          <p:cNvSpPr/>
          <p:nvPr/>
        </p:nvSpPr>
        <p:spPr>
          <a:xfrm>
            <a:off x="2237589" y="4977022"/>
            <a:ext cx="810637" cy="57216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线箭头连接符 33"/>
          <p:cNvCxnSpPr>
            <a:stCxn id="13" idx="3"/>
          </p:cNvCxnSpPr>
          <p:nvPr/>
        </p:nvCxnSpPr>
        <p:spPr>
          <a:xfrm flipV="1">
            <a:off x="3048226" y="5192109"/>
            <a:ext cx="1944492" cy="709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4" grpId="0"/>
      <p:bldP spid="65" grpId="0" animBg="1"/>
      <p:bldP spid="8" grpId="0"/>
      <p:bldP spid="49" grpId="0"/>
      <p:bldP spid="1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/>
        </p:nvGrpSpPr>
        <p:grpSpPr>
          <a:xfrm>
            <a:off x="1412980" y="3443180"/>
            <a:ext cx="1604010" cy="1515846"/>
            <a:chOff x="1412980" y="3443180"/>
            <a:chExt cx="1604010" cy="1515846"/>
          </a:xfrm>
        </p:grpSpPr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2980" y="3443180"/>
              <a:ext cx="1604010" cy="1211580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1688626" y="4620472"/>
              <a:ext cx="8980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640x480</a:t>
              </a:r>
              <a:endParaRPr kumimoji="1" lang="zh-CN" altLang="en-US" sz="1600" dirty="0"/>
            </a:p>
          </p:txBody>
        </p:sp>
      </p:grpSp>
      <p:sp>
        <p:nvSpPr>
          <p:cNvPr id="209" name="矩形 208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52629" y="1408847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451057" y="3484011"/>
            <a:ext cx="475139" cy="391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2523270" y="4257471"/>
            <a:ext cx="475139" cy="391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636" y="2006455"/>
            <a:ext cx="800100" cy="685800"/>
          </a:xfrm>
          <a:prstGeom prst="rect">
            <a:avLst/>
          </a:prstGeom>
        </p:spPr>
      </p:pic>
      <p:sp>
        <p:nvSpPr>
          <p:cNvPr id="132" name="矩形 131"/>
          <p:cNvSpPr/>
          <p:nvPr/>
        </p:nvSpPr>
        <p:spPr>
          <a:xfrm>
            <a:off x="1758884" y="3484011"/>
            <a:ext cx="475139" cy="391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472" y="3374118"/>
            <a:ext cx="800100" cy="67310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731" y="4963364"/>
            <a:ext cx="800100" cy="660400"/>
          </a:xfrm>
          <a:prstGeom prst="rect">
            <a:avLst/>
          </a:prstGeom>
        </p:spPr>
      </p:pic>
      <p:cxnSp>
        <p:nvCxnSpPr>
          <p:cNvPr id="161" name="直線單箭頭接點 31"/>
          <p:cNvCxnSpPr>
            <a:endCxn id="19" idx="1"/>
          </p:cNvCxnSpPr>
          <p:nvPr/>
        </p:nvCxnSpPr>
        <p:spPr>
          <a:xfrm flipV="1">
            <a:off x="1601602" y="2349355"/>
            <a:ext cx="2265034" cy="130005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31"/>
          <p:cNvCxnSpPr>
            <a:endCxn id="20" idx="1"/>
          </p:cNvCxnSpPr>
          <p:nvPr/>
        </p:nvCxnSpPr>
        <p:spPr>
          <a:xfrm>
            <a:off x="2020214" y="3698318"/>
            <a:ext cx="1860258" cy="123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31"/>
          <p:cNvCxnSpPr>
            <a:endCxn id="149" idx="1"/>
          </p:cNvCxnSpPr>
          <p:nvPr/>
        </p:nvCxnSpPr>
        <p:spPr>
          <a:xfrm>
            <a:off x="2727569" y="4502332"/>
            <a:ext cx="1149162" cy="7912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 9"/>
          <p:cNvGrpSpPr/>
          <p:nvPr/>
        </p:nvGrpSpPr>
        <p:grpSpPr>
          <a:xfrm>
            <a:off x="4182951" y="4196702"/>
            <a:ext cx="1602259" cy="855029"/>
            <a:chOff x="4182951" y="4196702"/>
            <a:chExt cx="1602259" cy="855029"/>
          </a:xfrm>
        </p:grpSpPr>
        <p:sp>
          <p:nvSpPr>
            <p:cNvPr id="124" name="文字方塊 53"/>
            <p:cNvSpPr txBox="1"/>
            <p:nvPr/>
          </p:nvSpPr>
          <p:spPr>
            <a:xfrm rot="5400000">
              <a:off x="4045622" y="4334031"/>
              <a:ext cx="616177" cy="341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文字方塊 53"/>
            <p:cNvSpPr txBox="1"/>
            <p:nvPr/>
          </p:nvSpPr>
          <p:spPr>
            <a:xfrm rot="5400000">
              <a:off x="5306362" y="4572883"/>
              <a:ext cx="616177" cy="341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 4"/>
          <p:cNvGrpSpPr/>
          <p:nvPr/>
        </p:nvGrpSpPr>
        <p:grpSpPr>
          <a:xfrm>
            <a:off x="6685183" y="2542817"/>
            <a:ext cx="1552232" cy="3134716"/>
            <a:chOff x="6685183" y="2542817"/>
            <a:chExt cx="1552232" cy="3134716"/>
          </a:xfrm>
        </p:grpSpPr>
        <p:cxnSp>
          <p:nvCxnSpPr>
            <p:cNvPr id="3" name="直线箭头连接符 2"/>
            <p:cNvCxnSpPr/>
            <p:nvPr/>
          </p:nvCxnSpPr>
          <p:spPr>
            <a:xfrm flipH="1" flipV="1">
              <a:off x="6685183" y="2542817"/>
              <a:ext cx="1486414" cy="10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箭头连接符 58"/>
            <p:cNvCxnSpPr/>
            <p:nvPr/>
          </p:nvCxnSpPr>
          <p:spPr>
            <a:xfrm flipH="1">
              <a:off x="6710121" y="2643795"/>
              <a:ext cx="1456565" cy="13480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箭头连接符 59"/>
            <p:cNvCxnSpPr/>
            <p:nvPr/>
          </p:nvCxnSpPr>
          <p:spPr>
            <a:xfrm flipH="1">
              <a:off x="6702337" y="2692255"/>
              <a:ext cx="1535078" cy="29852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8417170" y="2287046"/>
                <a:ext cx="29229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神经元权重相同，均为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170" y="2287046"/>
                <a:ext cx="2922954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3340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 5"/>
          <p:cNvGrpSpPr/>
          <p:nvPr/>
        </p:nvGrpSpPr>
        <p:grpSpPr>
          <a:xfrm>
            <a:off x="4698448" y="1868817"/>
            <a:ext cx="1890478" cy="1299457"/>
            <a:chOff x="4698448" y="1868817"/>
            <a:chExt cx="1890478" cy="1299457"/>
          </a:xfrm>
        </p:grpSpPr>
        <p:grpSp>
          <p:nvGrpSpPr>
            <p:cNvPr id="9" name="组 8"/>
            <p:cNvGrpSpPr/>
            <p:nvPr/>
          </p:nvGrpSpPr>
          <p:grpSpPr>
            <a:xfrm>
              <a:off x="4737097" y="2020800"/>
              <a:ext cx="1813180" cy="1111964"/>
              <a:chOff x="2993522" y="2401306"/>
              <a:chExt cx="2133834" cy="1383911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4624912" y="2479315"/>
                <a:ext cx="489157" cy="44252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等腰三角形 90"/>
              <p:cNvSpPr/>
              <p:nvPr/>
            </p:nvSpPr>
            <p:spPr>
              <a:xfrm>
                <a:off x="3720717" y="3449764"/>
                <a:ext cx="387614" cy="33545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0" name="直線單箭頭接點 24"/>
              <p:cNvCxnSpPr/>
              <p:nvPr/>
            </p:nvCxnSpPr>
            <p:spPr>
              <a:xfrm flipV="1">
                <a:off x="3914764" y="2941547"/>
                <a:ext cx="0" cy="470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9" imgW="7620000" imgH="5181600" progId="Equation.3">
                          <p:embed/>
                        </p:oleObj>
                      </mc:Choice>
                      <mc:Fallback>
                        <p:oleObj name="方程式" r:id="rId9" imgW="7620000" imgH="5181600" progId="Equation.3">
                          <p:embed/>
                          <p:pic>
                            <p:nvPicPr>
                              <p:cNvPr id="0" name="图片 1283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0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8335" name="方程式" r:id="rId11" imgW="7620000" imgH="5181600" progId="Equation.3">
                          <p:embed/>
                        </p:oleObj>
                      </mc:Choice>
                      <mc:Fallback>
                        <p:oleObj name="方程式" r:id="rId11" imgW="7620000" imgH="5181600" progId="Equation.3">
                          <p:embed/>
                          <p:pic>
                            <p:nvPicPr>
                              <p:cNvPr id="0" name="图片 1283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02" name="椭圆 101"/>
              <p:cNvSpPr/>
              <p:nvPr/>
            </p:nvSpPr>
            <p:spPr>
              <a:xfrm>
                <a:off x="3685734" y="2497028"/>
                <a:ext cx="454282" cy="4485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/>
                  <p:cNvSpPr txBox="1"/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8" name="文本框 10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9" name="直線單箭頭接點 31"/>
              <p:cNvCxnSpPr/>
              <p:nvPr/>
            </p:nvCxnSpPr>
            <p:spPr>
              <a:xfrm flipV="1">
                <a:off x="4183221" y="2718695"/>
                <a:ext cx="409839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單箭頭接點 20"/>
              <p:cNvCxnSpPr/>
              <p:nvPr/>
            </p:nvCxnSpPr>
            <p:spPr>
              <a:xfrm flipV="1">
                <a:off x="3015967" y="2800748"/>
                <a:ext cx="644273" cy="3759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單箭頭接點 23"/>
              <p:cNvCxnSpPr/>
              <p:nvPr/>
            </p:nvCxnSpPr>
            <p:spPr>
              <a:xfrm>
                <a:off x="2993522" y="2401306"/>
                <a:ext cx="680912" cy="2657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單箭頭接點 32"/>
              <p:cNvCxnSpPr/>
              <p:nvPr/>
            </p:nvCxnSpPr>
            <p:spPr>
              <a:xfrm>
                <a:off x="3036283" y="2741336"/>
                <a:ext cx="63549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矩形 180"/>
            <p:cNvSpPr/>
            <p:nvPr/>
          </p:nvSpPr>
          <p:spPr>
            <a:xfrm>
              <a:off x="4698448" y="1937950"/>
              <a:ext cx="1890478" cy="1230324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4728064" y="1868817"/>
                  <a:ext cx="5191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8064" y="1868817"/>
                  <a:ext cx="519116" cy="369332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/>
                <p:cNvSpPr txBox="1"/>
                <p:nvPr/>
              </p:nvSpPr>
              <p:spPr>
                <a:xfrm>
                  <a:off x="4734332" y="2342421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332" y="2342421"/>
                  <a:ext cx="514243" cy="369332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 6"/>
          <p:cNvGrpSpPr/>
          <p:nvPr/>
        </p:nvGrpSpPr>
        <p:grpSpPr>
          <a:xfrm>
            <a:off x="4709664" y="3291973"/>
            <a:ext cx="1890478" cy="1273951"/>
            <a:chOff x="4709664" y="3291973"/>
            <a:chExt cx="1890478" cy="1273951"/>
          </a:xfrm>
        </p:grpSpPr>
        <p:grpSp>
          <p:nvGrpSpPr>
            <p:cNvPr id="72" name="组 71"/>
            <p:cNvGrpSpPr/>
            <p:nvPr/>
          </p:nvGrpSpPr>
          <p:grpSpPr>
            <a:xfrm>
              <a:off x="4764456" y="3409899"/>
              <a:ext cx="1813180" cy="1111964"/>
              <a:chOff x="2993522" y="2401306"/>
              <a:chExt cx="2133834" cy="1383911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4624912" y="2479315"/>
                <a:ext cx="489157" cy="44252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90"/>
              <p:cNvSpPr/>
              <p:nvPr/>
            </p:nvSpPr>
            <p:spPr>
              <a:xfrm>
                <a:off x="3720717" y="3449764"/>
                <a:ext cx="387614" cy="33545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" name="直線單箭頭接點 24"/>
              <p:cNvCxnSpPr/>
              <p:nvPr/>
            </p:nvCxnSpPr>
            <p:spPr>
              <a:xfrm flipV="1">
                <a:off x="3914764" y="2941547"/>
                <a:ext cx="0" cy="470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6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9" imgW="7620000" imgH="5181600" progId="Equation.3">
                          <p:embed/>
                        </p:oleObj>
                      </mc:Choice>
                      <mc:Fallback>
                        <p:oleObj name="方程式" r:id="rId9" imgW="7620000" imgH="5181600" progId="Equation.3">
                          <p:embed/>
                          <p:pic>
                            <p:nvPicPr>
                              <p:cNvPr id="0" name="图片 12832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76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8336" name="方程式" r:id="rId17" imgW="7620000" imgH="5181600" progId="Equation.3">
                          <p:embed/>
                        </p:oleObj>
                      </mc:Choice>
                      <mc:Fallback>
                        <p:oleObj name="方程式" r:id="rId17" imgW="7620000" imgH="5181600" progId="Equation.3">
                          <p:embed/>
                          <p:pic>
                            <p:nvPicPr>
                              <p:cNvPr id="0" name="图片 12832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77" name="椭圆 76"/>
              <p:cNvSpPr/>
              <p:nvPr/>
            </p:nvSpPr>
            <p:spPr>
              <a:xfrm>
                <a:off x="3685734" y="2497028"/>
                <a:ext cx="454282" cy="4485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/>
                  <p:cNvSpPr txBox="1"/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78" name="文本框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直線單箭頭接點 31"/>
              <p:cNvCxnSpPr/>
              <p:nvPr/>
            </p:nvCxnSpPr>
            <p:spPr>
              <a:xfrm flipV="1">
                <a:off x="4183221" y="2718695"/>
                <a:ext cx="409839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20"/>
              <p:cNvCxnSpPr/>
              <p:nvPr/>
            </p:nvCxnSpPr>
            <p:spPr>
              <a:xfrm flipV="1">
                <a:off x="3006809" y="2800748"/>
                <a:ext cx="653431" cy="3759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23"/>
              <p:cNvCxnSpPr/>
              <p:nvPr/>
            </p:nvCxnSpPr>
            <p:spPr>
              <a:xfrm>
                <a:off x="2993522" y="2401306"/>
                <a:ext cx="680912" cy="2657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單箭頭接點 32"/>
              <p:cNvCxnSpPr/>
              <p:nvPr/>
            </p:nvCxnSpPr>
            <p:spPr>
              <a:xfrm>
                <a:off x="3036283" y="2741336"/>
                <a:ext cx="63549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2" name="矩形 181"/>
            <p:cNvSpPr/>
            <p:nvPr/>
          </p:nvSpPr>
          <p:spPr>
            <a:xfrm>
              <a:off x="4709664" y="3335600"/>
              <a:ext cx="1890478" cy="1230324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/>
                <p:cNvSpPr txBox="1"/>
                <p:nvPr/>
              </p:nvSpPr>
              <p:spPr>
                <a:xfrm>
                  <a:off x="4724329" y="3291973"/>
                  <a:ext cx="5191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329" y="3291973"/>
                  <a:ext cx="519116" cy="369332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/>
                <p:cNvSpPr txBox="1"/>
                <p:nvPr/>
              </p:nvSpPr>
              <p:spPr>
                <a:xfrm>
                  <a:off x="4730597" y="3765577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597" y="3765577"/>
                  <a:ext cx="514243" cy="369332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 7"/>
          <p:cNvGrpSpPr/>
          <p:nvPr/>
        </p:nvGrpSpPr>
        <p:grpSpPr>
          <a:xfrm>
            <a:off x="4464810" y="4834597"/>
            <a:ext cx="3262432" cy="1853133"/>
            <a:chOff x="4464810" y="4834597"/>
            <a:chExt cx="3262432" cy="1853133"/>
          </a:xfrm>
        </p:grpSpPr>
        <p:grpSp>
          <p:nvGrpSpPr>
            <p:cNvPr id="150" name="组 149"/>
            <p:cNvGrpSpPr/>
            <p:nvPr/>
          </p:nvGrpSpPr>
          <p:grpSpPr>
            <a:xfrm>
              <a:off x="4775746" y="4990079"/>
              <a:ext cx="1813180" cy="1111964"/>
              <a:chOff x="2993522" y="2401306"/>
              <a:chExt cx="2133834" cy="1383911"/>
            </a:xfrm>
          </p:grpSpPr>
          <p:sp>
            <p:nvSpPr>
              <p:cNvPr id="151" name="矩形 150"/>
              <p:cNvSpPr/>
              <p:nvPr/>
            </p:nvSpPr>
            <p:spPr>
              <a:xfrm>
                <a:off x="4624912" y="2479315"/>
                <a:ext cx="489157" cy="44252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等腰三角形 90"/>
              <p:cNvSpPr/>
              <p:nvPr/>
            </p:nvSpPr>
            <p:spPr>
              <a:xfrm>
                <a:off x="3720717" y="3449764"/>
                <a:ext cx="387614" cy="33545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3" name="直線單箭頭接點 24"/>
              <p:cNvCxnSpPr/>
              <p:nvPr/>
            </p:nvCxnSpPr>
            <p:spPr>
              <a:xfrm flipV="1">
                <a:off x="3914764" y="2941547"/>
                <a:ext cx="0" cy="470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9" imgW="7620000" imgH="5181600" progId="Equation.3">
                          <p:embed/>
                        </p:oleObj>
                      </mc:Choice>
                      <mc:Fallback>
                        <p:oleObj name="方程式" r:id="rId9" imgW="7620000" imgH="5181600" progId="Equation.3">
                          <p:embed/>
                          <p:pic>
                            <p:nvPicPr>
                              <p:cNvPr id="0" name="图片 12832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4615626" y="2533230"/>
                  <a:ext cx="511730" cy="33231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8337" name="方程式" r:id="rId19" imgW="7620000" imgH="5181600" progId="Equation.3">
                          <p:embed/>
                        </p:oleObj>
                      </mc:Choice>
                      <mc:Fallback>
                        <p:oleObj name="方程式" r:id="rId19" imgW="7620000" imgH="5181600" progId="Equation.3">
                          <p:embed/>
                          <p:pic>
                            <p:nvPicPr>
                              <p:cNvPr id="0" name="图片 12832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15626" y="2533230"/>
                                <a:ext cx="511730" cy="33231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55" name="椭圆 154"/>
              <p:cNvSpPr/>
              <p:nvPr/>
            </p:nvSpPr>
            <p:spPr>
              <a:xfrm>
                <a:off x="3685734" y="2497028"/>
                <a:ext cx="454282" cy="4485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本框 155"/>
                  <p:cNvSpPr txBox="1"/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56" name="文本框 1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704" y="2604393"/>
                    <a:ext cx="459628" cy="215444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7" name="直線單箭頭接點 31"/>
              <p:cNvCxnSpPr/>
              <p:nvPr/>
            </p:nvCxnSpPr>
            <p:spPr>
              <a:xfrm flipV="1">
                <a:off x="4183221" y="2718695"/>
                <a:ext cx="409839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單箭頭接點 20"/>
              <p:cNvCxnSpPr/>
              <p:nvPr/>
            </p:nvCxnSpPr>
            <p:spPr>
              <a:xfrm flipV="1">
                <a:off x="3006809" y="2800748"/>
                <a:ext cx="653431" cy="3759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線單箭頭接點 23"/>
              <p:cNvCxnSpPr/>
              <p:nvPr/>
            </p:nvCxnSpPr>
            <p:spPr>
              <a:xfrm>
                <a:off x="2993522" y="2401306"/>
                <a:ext cx="680912" cy="26579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單箭頭接點 32"/>
              <p:cNvCxnSpPr/>
              <p:nvPr/>
            </p:nvCxnSpPr>
            <p:spPr>
              <a:xfrm>
                <a:off x="3036283" y="2741336"/>
                <a:ext cx="63549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矩形 182"/>
            <p:cNvSpPr/>
            <p:nvPr/>
          </p:nvSpPr>
          <p:spPr>
            <a:xfrm>
              <a:off x="4709664" y="4897948"/>
              <a:ext cx="1890478" cy="1230324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4464810" y="6226065"/>
              <a:ext cx="3262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卷积神经网络的神经元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/>
                <p:cNvSpPr txBox="1"/>
                <p:nvPr/>
              </p:nvSpPr>
              <p:spPr>
                <a:xfrm>
                  <a:off x="4799885" y="4834597"/>
                  <a:ext cx="5191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885" y="4834597"/>
                  <a:ext cx="519116" cy="369332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/>
                <p:cNvSpPr txBox="1"/>
                <p:nvPr/>
              </p:nvSpPr>
              <p:spPr>
                <a:xfrm>
                  <a:off x="4806153" y="5308201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153" y="5308201"/>
                  <a:ext cx="514243" cy="369332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30" grpId="0" animBg="1"/>
      <p:bldP spid="132" grpId="0" animBg="1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1348" y="1441464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下采样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90" y="2064561"/>
            <a:ext cx="2621321" cy="1980000"/>
          </a:xfrm>
          <a:prstGeom prst="rect">
            <a:avLst/>
          </a:prstGeom>
          <a:ln w="2857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801" y="2455161"/>
            <a:ext cx="1587091" cy="1198800"/>
          </a:xfrm>
          <a:prstGeom prst="rect">
            <a:avLst/>
          </a:prstGeom>
          <a:ln w="28575">
            <a:noFill/>
          </a:ln>
        </p:spPr>
      </p:pic>
      <p:sp>
        <p:nvSpPr>
          <p:cNvPr id="6" name="右箭头 5"/>
          <p:cNvSpPr/>
          <p:nvPr/>
        </p:nvSpPr>
        <p:spPr>
          <a:xfrm>
            <a:off x="5402752" y="3054561"/>
            <a:ext cx="978408" cy="147115"/>
          </a:xfrm>
          <a:prstGeom prst="rightArrow">
            <a:avLst>
              <a:gd name="adj1" fmla="val 50000"/>
              <a:gd name="adj2" fmla="val 4007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453374" y="27587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下采样</a:t>
            </a:r>
          </a:p>
        </p:txBody>
      </p:sp>
      <p:sp>
        <p:nvSpPr>
          <p:cNvPr id="8" name="文字方塊 55"/>
          <p:cNvSpPr txBox="1"/>
          <p:nvPr/>
        </p:nvSpPr>
        <p:spPr>
          <a:xfrm>
            <a:off x="614374" y="4392134"/>
            <a:ext cx="10383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对图像像素进行下采样，并不会对物体进行改变。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虽然下采样之后的图像尺寸变小了，但是并不影响我们对图像中物体的识别。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68764" y="3987700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7081071" y="3611182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2346079" y="5815026"/>
            <a:ext cx="7571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用同样的卷积核，可关联更大的局部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——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增加了感受野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6" y="2831920"/>
            <a:ext cx="5562600" cy="2200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454" y="2584270"/>
            <a:ext cx="5581650" cy="24479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20431" y="50700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全连接神经网络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81695" y="514350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卷积神经网络</a:t>
            </a:r>
          </a:p>
        </p:txBody>
      </p:sp>
      <p:sp>
        <p:nvSpPr>
          <p:cNvPr id="11" name="矩形 10"/>
          <p:cNvSpPr/>
          <p:nvPr/>
        </p:nvSpPr>
        <p:spPr>
          <a:xfrm>
            <a:off x="6458200" y="5605172"/>
            <a:ext cx="50783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相同颜色的箭头代表相同的权重参数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25154" y="2002919"/>
            <a:ext cx="2592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卷积核大小：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2X1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0236" y="1421568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对比示例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23715" y="18832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/>
              <a:t>两层卷积</a:t>
            </a:r>
          </a:p>
        </p:txBody>
      </p:sp>
      <p:cxnSp>
        <p:nvCxnSpPr>
          <p:cNvPr id="17" name="直线箭头连接符 16"/>
          <p:cNvCxnSpPr/>
          <p:nvPr/>
        </p:nvCxnSpPr>
        <p:spPr>
          <a:xfrm flipH="1">
            <a:off x="9111344" y="2200315"/>
            <a:ext cx="1389049" cy="48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stCxn id="15" idx="2"/>
          </p:cNvCxnSpPr>
          <p:nvPr/>
        </p:nvCxnSpPr>
        <p:spPr>
          <a:xfrm flipH="1">
            <a:off x="9971599" y="2344898"/>
            <a:ext cx="860002" cy="343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9284" y="1439669"/>
            <a:ext cx="336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卷积神经网络结构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62598" y="2866336"/>
            <a:ext cx="666710" cy="2436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7"/>
          <p:cNvSpPr/>
          <p:nvPr/>
        </p:nvSpPr>
        <p:spPr>
          <a:xfrm>
            <a:off x="3058177" y="291777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8"/>
          <p:cNvSpPr/>
          <p:nvPr/>
        </p:nvSpPr>
        <p:spPr>
          <a:xfrm>
            <a:off x="3060269" y="361337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橢圓 19"/>
          <p:cNvSpPr/>
          <p:nvPr/>
        </p:nvSpPr>
        <p:spPr>
          <a:xfrm>
            <a:off x="3049877" y="471052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02" y="3361891"/>
            <a:ext cx="1696710" cy="1281600"/>
          </a:xfrm>
          <a:prstGeom prst="rect">
            <a:avLst/>
          </a:prstGeom>
        </p:spPr>
      </p:pic>
      <p:sp>
        <p:nvSpPr>
          <p:cNvPr id="10" name="文字方塊 20"/>
          <p:cNvSpPr txBox="1"/>
          <p:nvPr/>
        </p:nvSpPr>
        <p:spPr>
          <a:xfrm rot="5400000">
            <a:off x="3047373" y="4197280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字方塊 54"/>
          <p:cNvSpPr txBox="1"/>
          <p:nvPr/>
        </p:nvSpPr>
        <p:spPr>
          <a:xfrm>
            <a:off x="3057527" y="2894429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4"/>
          <p:cNvSpPr txBox="1"/>
          <p:nvPr/>
        </p:nvSpPr>
        <p:spPr>
          <a:xfrm>
            <a:off x="3060237" y="3600789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54"/>
          <p:cNvSpPr txBox="1"/>
          <p:nvPr/>
        </p:nvSpPr>
        <p:spPr>
          <a:xfrm>
            <a:off x="3064388" y="4655036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線單箭頭接點 35"/>
          <p:cNvCxnSpPr/>
          <p:nvPr/>
        </p:nvCxnSpPr>
        <p:spPr>
          <a:xfrm>
            <a:off x="2408900" y="3865386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35"/>
          <p:cNvCxnSpPr/>
          <p:nvPr/>
        </p:nvCxnSpPr>
        <p:spPr>
          <a:xfrm>
            <a:off x="2408900" y="4966850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54"/>
          <p:cNvSpPr txBox="1"/>
          <p:nvPr/>
        </p:nvSpPr>
        <p:spPr>
          <a:xfrm>
            <a:off x="2403186" y="2694120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字方塊 54"/>
          <p:cNvSpPr txBox="1"/>
          <p:nvPr/>
        </p:nvSpPr>
        <p:spPr>
          <a:xfrm>
            <a:off x="2388388" y="3385593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字方塊 54"/>
          <p:cNvSpPr txBox="1"/>
          <p:nvPr/>
        </p:nvSpPr>
        <p:spPr>
          <a:xfrm>
            <a:off x="2398862" y="4475922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線單箭頭接點 35"/>
          <p:cNvCxnSpPr/>
          <p:nvPr/>
        </p:nvCxnSpPr>
        <p:spPr>
          <a:xfrm>
            <a:off x="2427673" y="3180022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232191" y="2831336"/>
            <a:ext cx="504000" cy="243627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238956" y="3361891"/>
            <a:ext cx="504000" cy="14098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69173" y="2831336"/>
            <a:ext cx="504000" cy="243627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827504" y="3385593"/>
            <a:ext cx="504000" cy="14098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字方塊 20"/>
          <p:cNvSpPr txBox="1"/>
          <p:nvPr/>
        </p:nvSpPr>
        <p:spPr>
          <a:xfrm>
            <a:off x="6011004" y="3804785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線單箭頭接點 35"/>
          <p:cNvCxnSpPr>
            <a:endCxn id="28" idx="1"/>
          </p:cNvCxnSpPr>
          <p:nvPr/>
        </p:nvCxnSpPr>
        <p:spPr>
          <a:xfrm>
            <a:off x="3562775" y="3174263"/>
            <a:ext cx="669416" cy="8752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5"/>
          <p:cNvCxnSpPr>
            <a:endCxn id="28" idx="1"/>
          </p:cNvCxnSpPr>
          <p:nvPr/>
        </p:nvCxnSpPr>
        <p:spPr>
          <a:xfrm>
            <a:off x="3628124" y="3818640"/>
            <a:ext cx="604067" cy="2308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13" idx="3"/>
            <a:endCxn id="28" idx="1"/>
          </p:cNvCxnSpPr>
          <p:nvPr/>
        </p:nvCxnSpPr>
        <p:spPr>
          <a:xfrm flipV="1">
            <a:off x="3628124" y="4049472"/>
            <a:ext cx="604067" cy="839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5"/>
          <p:cNvCxnSpPr/>
          <p:nvPr/>
        </p:nvCxnSpPr>
        <p:spPr>
          <a:xfrm>
            <a:off x="4811158" y="4109867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5"/>
          <p:cNvCxnSpPr/>
          <p:nvPr/>
        </p:nvCxnSpPr>
        <p:spPr>
          <a:xfrm>
            <a:off x="5804068" y="4126349"/>
            <a:ext cx="288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35"/>
          <p:cNvCxnSpPr/>
          <p:nvPr/>
        </p:nvCxnSpPr>
        <p:spPr>
          <a:xfrm>
            <a:off x="7431504" y="4128661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35"/>
          <p:cNvCxnSpPr/>
          <p:nvPr/>
        </p:nvCxnSpPr>
        <p:spPr>
          <a:xfrm>
            <a:off x="6595028" y="4126349"/>
            <a:ext cx="288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781730" y="2817481"/>
            <a:ext cx="504000" cy="243627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全连接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線單箭頭接點 35"/>
          <p:cNvCxnSpPr/>
          <p:nvPr/>
        </p:nvCxnSpPr>
        <p:spPr>
          <a:xfrm>
            <a:off x="8385730" y="4126349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35"/>
          <p:cNvCxnSpPr/>
          <p:nvPr/>
        </p:nvCxnSpPr>
        <p:spPr>
          <a:xfrm>
            <a:off x="9346842" y="4126349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9744185" y="2817481"/>
            <a:ext cx="504000" cy="24362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Soft-max</a:t>
            </a:r>
            <a:endParaRPr lang="zh-TW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線單箭頭接點 10"/>
          <p:cNvCxnSpPr/>
          <p:nvPr/>
        </p:nvCxnSpPr>
        <p:spPr>
          <a:xfrm>
            <a:off x="10329289" y="3763612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11"/>
          <p:cNvCxnSpPr/>
          <p:nvPr/>
        </p:nvCxnSpPr>
        <p:spPr>
          <a:xfrm>
            <a:off x="10325344" y="4876731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12"/>
          <p:cNvCxnSpPr/>
          <p:nvPr/>
        </p:nvCxnSpPr>
        <p:spPr>
          <a:xfrm>
            <a:off x="10307954" y="3067803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53"/>
          <p:cNvSpPr txBox="1"/>
          <p:nvPr/>
        </p:nvSpPr>
        <p:spPr>
          <a:xfrm rot="5400000">
            <a:off x="10802680" y="4124025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字方塊 54"/>
          <p:cNvSpPr txBox="1"/>
          <p:nvPr/>
        </p:nvSpPr>
        <p:spPr>
          <a:xfrm>
            <a:off x="10864450" y="2764161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字方塊 55"/>
          <p:cNvSpPr txBox="1"/>
          <p:nvPr/>
        </p:nvSpPr>
        <p:spPr>
          <a:xfrm>
            <a:off x="10854371" y="3477317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字方塊 56"/>
          <p:cNvSpPr txBox="1"/>
          <p:nvPr/>
        </p:nvSpPr>
        <p:spPr>
          <a:xfrm>
            <a:off x="10854369" y="4608611"/>
            <a:ext cx="75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248779" y="467016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X</a:t>
            </a:r>
            <a:endParaRPr kumimoji="1" lang="zh-CN" altLang="en-US" sz="2400" dirty="0"/>
          </a:p>
        </p:txBody>
      </p:sp>
      <p:sp>
        <p:nvSpPr>
          <p:cNvPr id="63" name="椭圆形标注 62"/>
          <p:cNvSpPr/>
          <p:nvPr/>
        </p:nvSpPr>
        <p:spPr>
          <a:xfrm>
            <a:off x="7835274" y="1789563"/>
            <a:ext cx="2303699" cy="741686"/>
          </a:xfrm>
          <a:prstGeom prst="wedgeEllipseCallout">
            <a:avLst>
              <a:gd name="adj1" fmla="val -43062"/>
              <a:gd name="adj2" fmla="val 1438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卷积层后接一个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2" grpId="0" animBg="1"/>
      <p:bldP spid="33" grpId="0"/>
      <p:bldP spid="43" grpId="0" animBg="1"/>
      <p:bldP spid="46" grpId="0" animBg="1"/>
      <p:bldP spid="50" grpId="0"/>
      <p:bldP spid="51" grpId="0"/>
      <p:bldP spid="52" grpId="0"/>
      <p:bldP spid="53" grpId="0"/>
      <p:bldP spid="6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2814" y="1444878"/>
            <a:ext cx="51144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7547" y="2006827"/>
            <a:ext cx="96472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卷积神经网络应用示例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18015" y="4357678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80" y="4374201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80" y="1451299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07" y="5322585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939073" y="5346426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8644" y="1468699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5"/>
          <p:cNvSpPr txBox="1"/>
          <p:nvPr/>
        </p:nvSpPr>
        <p:spPr>
          <a:xfrm>
            <a:off x="1574920" y="1902222"/>
            <a:ext cx="3133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输入图像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55"/>
          <p:cNvSpPr txBox="1"/>
          <p:nvPr/>
        </p:nvSpPr>
        <p:spPr>
          <a:xfrm>
            <a:off x="4646560" y="1905928"/>
            <a:ext cx="2752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字方塊 55"/>
          <p:cNvSpPr txBox="1"/>
          <p:nvPr/>
        </p:nvSpPr>
        <p:spPr>
          <a:xfrm>
            <a:off x="7260550" y="1906205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特征映射层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49356" y="4958299"/>
                <a:ext cx="118954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356" y="4958299"/>
                <a:ext cx="11895460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4" t="-65" r="2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87309" y="609790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9968" y="1445610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49356" y="4958299"/>
                <a:ext cx="1189546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algn="ctr"/>
                <a:endParaRPr lang="en-US" altLang="zh-TW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TW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356" y="4958299"/>
                <a:ext cx="1189546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4" t="-20" r="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87309" y="616576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7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18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19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8571" y="1467294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49356" y="4958299"/>
                <a:ext cx="118954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356" y="4958299"/>
                <a:ext cx="1189546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4" t="-26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87309" y="6127295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0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21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22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3885" y="1445610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49356" y="4958299"/>
                <a:ext cx="1189546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algn="ctr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10∗0+10∗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356" y="4958299"/>
                <a:ext cx="1189546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4" t="-20" r="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87309" y="620284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0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21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22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0675" y="1445610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16700" y="4958299"/>
                <a:ext cx="118954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10∗0+10∗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marL="1371600" lvl="6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	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1,0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=10∗1+10∗2+10∗1+10∗0+10∗0+10∗0+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=40</a:t>
                </a:r>
              </a:p>
              <a:p>
                <a:pPr lvl="3"/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00" y="4958299"/>
                <a:ext cx="1189546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2" t="-14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10059922" y="6158627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0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21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22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3640" y="1440961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773785" y="2989005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413317" y="2989005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774698" y="3378716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9134698" y="3378716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8054699" y="3738716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414697" y="3738716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74695" y="3739328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9132363" y="3741487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8058667" y="4099022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8416332" y="4098869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8773994" y="4098793"/>
          <a:ext cx="3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059982" y="3349987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415652" y="3349747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3127845" y="2989005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2767840" y="3348816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3130347" y="3348816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057653" y="3708024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2416818" y="3706853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2763872" y="3704013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55"/>
              <p:cNvSpPr txBox="1"/>
              <p:nvPr/>
            </p:nvSpPr>
            <p:spPr>
              <a:xfrm>
                <a:off x="-16700" y="4958299"/>
                <a:ext cx="118954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marL="1371600" lvl="6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	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1,0</m:t>
                        </m:r>
                      </m:e>
                    </m:d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=10∗1+10∗2+10∗1+10∗0+10∗0+10∗0+</m:t>
                    </m:r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=40</a:t>
                </a:r>
              </a:p>
              <a:p>
                <a:pPr lvl="3"/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……</a:t>
                </a:r>
              </a:p>
            </p:txBody>
          </p:sp>
        </mc:Choice>
        <mc:Fallback xmlns="">
          <p:sp>
            <p:nvSpPr>
              <p:cNvPr id="39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00" y="4958299"/>
                <a:ext cx="1189546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2" t="-14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44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45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042140" y="6133383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1551" y="1445610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55"/>
              <p:cNvSpPr txBox="1"/>
              <p:nvPr/>
            </p:nvSpPr>
            <p:spPr>
              <a:xfrm>
                <a:off x="-16700" y="4758270"/>
                <a:ext cx="1189546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0,0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endParaRPr lang="en-US" altLang="zh-TW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algn="ctr"/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10∗0+10∗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  <a:p>
                <a:pPr marL="1371600" lvl="6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	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1,0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=10∗1+10∗2+10∗1+10∗0+10∗0+10∗0+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=40</a:t>
                </a:r>
              </a:p>
              <a:p>
                <a:pPr lvl="3"/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……</a:t>
                </a:r>
              </a:p>
              <a:p>
                <a:pPr lvl="3"/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	F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3,3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∗1+0∗2+0∗1+0∗0+0∗0+0∗0+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*(-2)+</a:t>
                </a:r>
                <a:r>
                  <a:rPr lang="en-US" altLang="zh-TW" sz="160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TW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*(-1)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</a:p>
            </p:txBody>
          </p:sp>
        </mc:Choice>
        <mc:Fallback xmlns="">
          <p:sp>
            <p:nvSpPr>
              <p:cNvPr id="15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00" y="4758270"/>
                <a:ext cx="11895460" cy="1815882"/>
              </a:xfrm>
              <a:prstGeom prst="rect">
                <a:avLst/>
              </a:prstGeom>
              <a:blipFill rotWithShape="1">
                <a:blip r:embed="rId3"/>
                <a:stretch>
                  <a:fillRect l="2" t="-12" r="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形标注 16"/>
          <p:cNvSpPr/>
          <p:nvPr/>
        </p:nvSpPr>
        <p:spPr>
          <a:xfrm>
            <a:off x="5927872" y="926431"/>
            <a:ext cx="3248476" cy="1140467"/>
          </a:xfrm>
          <a:prstGeom prst="wedgeEllipseCallout">
            <a:avLst>
              <a:gd name="adj1" fmla="val -36347"/>
              <a:gd name="adj2" fmla="val 743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卷积核中的参数需要在训练的过程学习</a:t>
            </a:r>
          </a:p>
        </p:txBody>
      </p:sp>
      <p:sp>
        <p:nvSpPr>
          <p:cNvPr id="6" name="矩形 5"/>
          <p:cNvSpPr/>
          <p:nvPr/>
        </p:nvSpPr>
        <p:spPr>
          <a:xfrm>
            <a:off x="5339594" y="3088716"/>
            <a:ext cx="1227892" cy="12322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0042140" y="6076233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1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22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23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54253" y="2630968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53493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92018" y="344935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413540" y="3170968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054699" y="3018716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6297" y="1451925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42140" y="6019083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1" name="文字方塊 55"/>
          <p:cNvSpPr txBox="1"/>
          <p:nvPr/>
        </p:nvSpPr>
        <p:spPr>
          <a:xfrm>
            <a:off x="1574920" y="2190987"/>
            <a:ext cx="313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</a:p>
        </p:txBody>
      </p:sp>
      <p:sp>
        <p:nvSpPr>
          <p:cNvPr id="22" name="文字方塊 55"/>
          <p:cNvSpPr txBox="1"/>
          <p:nvPr/>
        </p:nvSpPr>
        <p:spPr>
          <a:xfrm>
            <a:off x="4646560" y="2194693"/>
            <a:ext cx="27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</a:p>
        </p:txBody>
      </p:sp>
      <p:sp>
        <p:nvSpPr>
          <p:cNvPr id="23" name="文字方塊 55"/>
          <p:cNvSpPr txBox="1"/>
          <p:nvPr/>
        </p:nvSpPr>
        <p:spPr>
          <a:xfrm>
            <a:off x="7260550" y="219497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99194" y="5002650"/>
                <a:ext cx="593987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image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size=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𝐼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×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;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kernel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size=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×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;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</a:p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stride=1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stride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为卷积窗口移动的步长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 marL="914400" lvl="5"/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94" y="5002650"/>
                <a:ext cx="5939879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6" t="-9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6703403" y="4997778"/>
                <a:ext cx="5007690" cy="868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5"/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eature map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size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𝑓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×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</a:p>
              <a:p>
                <a:pPr marL="914400" lvl="5"/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𝑠𝑡𝑟𝑖𝑑𝑒</m:t>
                        </m:r>
                      </m:den>
                    </m:f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2000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𝑠𝑡𝑟𝑖𝑑𝑒</m:t>
                        </m:r>
                      </m:den>
                    </m:f>
                    <m:r>
                      <a:rPr lang="en-US" altLang="zh-C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403" y="4997778"/>
                <a:ext cx="5007690" cy="868058"/>
              </a:xfrm>
              <a:prstGeom prst="rect">
                <a:avLst/>
              </a:prstGeom>
              <a:blipFill rotWithShape="1">
                <a:blip r:embed="rId4"/>
                <a:stretch>
                  <a:fillRect l="-7" t="-38" r="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9990977" y="2916372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6990019" y="96501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8617805" y="2298032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5087" y="1477412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347529" y="3309559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橢圓 17"/>
          <p:cNvSpPr/>
          <p:nvPr/>
        </p:nvSpPr>
        <p:spPr>
          <a:xfrm>
            <a:off x="7052369" y="278102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橢圓 18"/>
          <p:cNvSpPr/>
          <p:nvPr/>
        </p:nvSpPr>
        <p:spPr>
          <a:xfrm>
            <a:off x="7054461" y="3368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橢圓 19"/>
          <p:cNvSpPr/>
          <p:nvPr/>
        </p:nvSpPr>
        <p:spPr>
          <a:xfrm>
            <a:off x="7044069" y="396015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橢圓 17"/>
          <p:cNvSpPr/>
          <p:nvPr/>
        </p:nvSpPr>
        <p:spPr>
          <a:xfrm>
            <a:off x="7060669" y="457339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橢圓 18"/>
          <p:cNvSpPr/>
          <p:nvPr/>
        </p:nvSpPr>
        <p:spPr>
          <a:xfrm>
            <a:off x="7062761" y="516070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橢圓 19"/>
          <p:cNvSpPr/>
          <p:nvPr/>
        </p:nvSpPr>
        <p:spPr>
          <a:xfrm>
            <a:off x="7052369" y="57525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橢圓 17"/>
          <p:cNvSpPr/>
          <p:nvPr/>
        </p:nvSpPr>
        <p:spPr>
          <a:xfrm>
            <a:off x="7063521" y="1013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橢圓 18"/>
          <p:cNvSpPr/>
          <p:nvPr/>
        </p:nvSpPr>
        <p:spPr>
          <a:xfrm>
            <a:off x="7065613" y="160064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橢圓 19"/>
          <p:cNvSpPr/>
          <p:nvPr/>
        </p:nvSpPr>
        <p:spPr>
          <a:xfrm>
            <a:off x="7055221" y="219246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橢圓 17"/>
          <p:cNvSpPr/>
          <p:nvPr/>
        </p:nvSpPr>
        <p:spPr>
          <a:xfrm>
            <a:off x="8705611" y="4171088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橢圓 17"/>
          <p:cNvSpPr/>
          <p:nvPr/>
        </p:nvSpPr>
        <p:spPr>
          <a:xfrm>
            <a:off x="8716763" y="2403400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8"/>
          <p:cNvSpPr/>
          <p:nvPr/>
        </p:nvSpPr>
        <p:spPr>
          <a:xfrm>
            <a:off x="8718855" y="299071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9"/>
          <p:cNvSpPr/>
          <p:nvPr/>
        </p:nvSpPr>
        <p:spPr>
          <a:xfrm>
            <a:off x="8708463" y="358253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橢圓 18"/>
          <p:cNvSpPr/>
          <p:nvPr/>
        </p:nvSpPr>
        <p:spPr>
          <a:xfrm>
            <a:off x="10082833" y="2990712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橢圓 19"/>
          <p:cNvSpPr/>
          <p:nvPr/>
        </p:nvSpPr>
        <p:spPr>
          <a:xfrm>
            <a:off x="10072441" y="3582536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370146" y="3235119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4" name="直线箭头连接符 33"/>
          <p:cNvCxnSpPr>
            <a:stCxn id="19" idx="6"/>
            <a:endCxn id="23" idx="2"/>
          </p:cNvCxnSpPr>
          <p:nvPr/>
        </p:nvCxnSpPr>
        <p:spPr>
          <a:xfrm>
            <a:off x="7576419" y="1269818"/>
            <a:ext cx="1140344" cy="1390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>
            <a:stCxn id="20" idx="6"/>
            <a:endCxn id="23" idx="2"/>
          </p:cNvCxnSpPr>
          <p:nvPr/>
        </p:nvCxnSpPr>
        <p:spPr>
          <a:xfrm>
            <a:off x="7578511" y="1857130"/>
            <a:ext cx="1138252" cy="802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13" idx="6"/>
            <a:endCxn id="23" idx="2"/>
          </p:cNvCxnSpPr>
          <p:nvPr/>
        </p:nvCxnSpPr>
        <p:spPr>
          <a:xfrm flipV="1">
            <a:off x="7565267" y="2659886"/>
            <a:ext cx="1151496" cy="37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>
            <a:stCxn id="14" idx="6"/>
            <a:endCxn id="23" idx="2"/>
          </p:cNvCxnSpPr>
          <p:nvPr/>
        </p:nvCxnSpPr>
        <p:spPr>
          <a:xfrm flipV="1">
            <a:off x="7567359" y="2659886"/>
            <a:ext cx="1149404" cy="9649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>
            <a:stCxn id="23" idx="6"/>
            <a:endCxn id="28" idx="2"/>
          </p:cNvCxnSpPr>
          <p:nvPr/>
        </p:nvCxnSpPr>
        <p:spPr>
          <a:xfrm>
            <a:off x="9229661" y="2659886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>
            <a:stCxn id="24" idx="6"/>
            <a:endCxn id="28" idx="2"/>
          </p:cNvCxnSpPr>
          <p:nvPr/>
        </p:nvCxnSpPr>
        <p:spPr>
          <a:xfrm>
            <a:off x="9231753" y="3247198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>
            <a:stCxn id="25" idx="6"/>
            <a:endCxn id="28" idx="2"/>
          </p:cNvCxnSpPr>
          <p:nvPr/>
        </p:nvCxnSpPr>
        <p:spPr>
          <a:xfrm flipV="1">
            <a:off x="9221361" y="3247198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22" idx="6"/>
            <a:endCxn id="28" idx="2"/>
          </p:cNvCxnSpPr>
          <p:nvPr/>
        </p:nvCxnSpPr>
        <p:spPr>
          <a:xfrm flipV="1">
            <a:off x="9218509" y="3247198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23" idx="6"/>
            <a:endCxn id="29" idx="2"/>
          </p:cNvCxnSpPr>
          <p:nvPr/>
        </p:nvCxnSpPr>
        <p:spPr>
          <a:xfrm>
            <a:off x="9229661" y="2659886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24" idx="6"/>
            <a:endCxn id="29" idx="2"/>
          </p:cNvCxnSpPr>
          <p:nvPr/>
        </p:nvCxnSpPr>
        <p:spPr>
          <a:xfrm>
            <a:off x="9231753" y="3247198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25" idx="6"/>
            <a:endCxn id="29" idx="2"/>
          </p:cNvCxnSpPr>
          <p:nvPr/>
        </p:nvCxnSpPr>
        <p:spPr>
          <a:xfrm>
            <a:off x="9221361" y="3839022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22" idx="6"/>
            <a:endCxn id="29" idx="2"/>
          </p:cNvCxnSpPr>
          <p:nvPr/>
        </p:nvCxnSpPr>
        <p:spPr>
          <a:xfrm flipV="1">
            <a:off x="9218509" y="3839022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87310" y="614624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64" name="组 63"/>
          <p:cNvGrpSpPr/>
          <p:nvPr/>
        </p:nvGrpSpPr>
        <p:grpSpPr>
          <a:xfrm>
            <a:off x="8749563" y="2449329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5" name="矩形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矩形 68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9" name="矩形 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矩形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矩形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 75"/>
          <p:cNvGrpSpPr/>
          <p:nvPr/>
        </p:nvGrpSpPr>
        <p:grpSpPr>
          <a:xfrm>
            <a:off x="10138075" y="3014056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7" name="矩形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矩形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/>
              <p:cNvSpPr/>
              <p:nvPr/>
            </p:nvSpPr>
            <p:spPr>
              <a:xfrm>
                <a:off x="7585421" y="1231312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421" y="1231312"/>
                <a:ext cx="501804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69" t="-13" r="100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/>
              <p:cNvSpPr/>
              <p:nvPr/>
            </p:nvSpPr>
            <p:spPr>
              <a:xfrm flipH="1">
                <a:off x="7643154" y="1754411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43154" y="1754411"/>
                <a:ext cx="397222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74" t="-146" r="2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/>
              <p:cNvSpPr/>
              <p:nvPr/>
            </p:nvSpPr>
            <p:spPr>
              <a:xfrm flipH="1">
                <a:off x="7640478" y="2741833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矩形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40478" y="2741833"/>
                <a:ext cx="397222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40" t="-146" r="127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/>
              <p:cNvSpPr/>
              <p:nvPr/>
            </p:nvSpPr>
            <p:spPr>
              <a:xfrm flipH="1">
                <a:off x="7626386" y="3265613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矩形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26386" y="3265613"/>
                <a:ext cx="397222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9" t="-120" r="96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椭圆形标注 62"/>
          <p:cNvSpPr/>
          <p:nvPr/>
        </p:nvSpPr>
        <p:spPr>
          <a:xfrm>
            <a:off x="8815013" y="1468591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标注 70"/>
          <p:cNvSpPr/>
          <p:nvPr/>
        </p:nvSpPr>
        <p:spPr>
          <a:xfrm>
            <a:off x="7951707" y="78605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9990977" y="2916372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990019" y="96501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8617805" y="2298032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731192" y="3234463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5087" y="1552638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347529" y="3309559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橢圓 17"/>
          <p:cNvSpPr/>
          <p:nvPr/>
        </p:nvSpPr>
        <p:spPr>
          <a:xfrm>
            <a:off x="7052369" y="278102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橢圓 18"/>
          <p:cNvSpPr/>
          <p:nvPr/>
        </p:nvSpPr>
        <p:spPr>
          <a:xfrm>
            <a:off x="7054461" y="3368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橢圓 19"/>
          <p:cNvSpPr/>
          <p:nvPr/>
        </p:nvSpPr>
        <p:spPr>
          <a:xfrm>
            <a:off x="7044069" y="396015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橢圓 17"/>
          <p:cNvSpPr/>
          <p:nvPr/>
        </p:nvSpPr>
        <p:spPr>
          <a:xfrm>
            <a:off x="7060669" y="457339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橢圓 18"/>
          <p:cNvSpPr/>
          <p:nvPr/>
        </p:nvSpPr>
        <p:spPr>
          <a:xfrm>
            <a:off x="7062761" y="516070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橢圓 19"/>
          <p:cNvSpPr/>
          <p:nvPr/>
        </p:nvSpPr>
        <p:spPr>
          <a:xfrm>
            <a:off x="7052369" y="57525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橢圓 17"/>
          <p:cNvSpPr/>
          <p:nvPr/>
        </p:nvSpPr>
        <p:spPr>
          <a:xfrm>
            <a:off x="7063521" y="1013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橢圓 18"/>
          <p:cNvSpPr/>
          <p:nvPr/>
        </p:nvSpPr>
        <p:spPr>
          <a:xfrm>
            <a:off x="7065613" y="160064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橢圓 19"/>
          <p:cNvSpPr/>
          <p:nvPr/>
        </p:nvSpPr>
        <p:spPr>
          <a:xfrm>
            <a:off x="7055221" y="219246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橢圓 17"/>
          <p:cNvSpPr/>
          <p:nvPr/>
        </p:nvSpPr>
        <p:spPr>
          <a:xfrm>
            <a:off x="8705611" y="4171088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橢圓 17"/>
          <p:cNvSpPr/>
          <p:nvPr/>
        </p:nvSpPr>
        <p:spPr>
          <a:xfrm>
            <a:off x="8716763" y="2403400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8"/>
          <p:cNvSpPr/>
          <p:nvPr/>
        </p:nvSpPr>
        <p:spPr>
          <a:xfrm>
            <a:off x="8718855" y="299071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9"/>
          <p:cNvSpPr/>
          <p:nvPr/>
        </p:nvSpPr>
        <p:spPr>
          <a:xfrm>
            <a:off x="8708463" y="358253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橢圓 18"/>
          <p:cNvSpPr/>
          <p:nvPr/>
        </p:nvSpPr>
        <p:spPr>
          <a:xfrm>
            <a:off x="10082833" y="2990712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橢圓 19"/>
          <p:cNvSpPr/>
          <p:nvPr/>
        </p:nvSpPr>
        <p:spPr>
          <a:xfrm>
            <a:off x="10072441" y="3582536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线箭头连接符 33"/>
          <p:cNvCxnSpPr>
            <a:stCxn id="19" idx="6"/>
            <a:endCxn id="23" idx="2"/>
          </p:cNvCxnSpPr>
          <p:nvPr/>
        </p:nvCxnSpPr>
        <p:spPr>
          <a:xfrm>
            <a:off x="7576419" y="1269818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>
            <a:stCxn id="20" idx="6"/>
            <a:endCxn id="23" idx="2"/>
          </p:cNvCxnSpPr>
          <p:nvPr/>
        </p:nvCxnSpPr>
        <p:spPr>
          <a:xfrm>
            <a:off x="7578511" y="1857130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13" idx="6"/>
            <a:endCxn id="23" idx="2"/>
          </p:cNvCxnSpPr>
          <p:nvPr/>
        </p:nvCxnSpPr>
        <p:spPr>
          <a:xfrm flipV="1">
            <a:off x="7565267" y="2659886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>
            <a:stCxn id="14" idx="6"/>
            <a:endCxn id="23" idx="2"/>
          </p:cNvCxnSpPr>
          <p:nvPr/>
        </p:nvCxnSpPr>
        <p:spPr>
          <a:xfrm flipV="1">
            <a:off x="7567359" y="2659886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>
            <a:stCxn id="23" idx="6"/>
            <a:endCxn id="28" idx="2"/>
          </p:cNvCxnSpPr>
          <p:nvPr/>
        </p:nvCxnSpPr>
        <p:spPr>
          <a:xfrm>
            <a:off x="9229661" y="2659886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>
            <a:stCxn id="24" idx="6"/>
            <a:endCxn id="28" idx="2"/>
          </p:cNvCxnSpPr>
          <p:nvPr/>
        </p:nvCxnSpPr>
        <p:spPr>
          <a:xfrm>
            <a:off x="9231753" y="3247198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>
            <a:stCxn id="25" idx="6"/>
            <a:endCxn id="28" idx="2"/>
          </p:cNvCxnSpPr>
          <p:nvPr/>
        </p:nvCxnSpPr>
        <p:spPr>
          <a:xfrm flipV="1">
            <a:off x="9221361" y="3247198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22" idx="6"/>
            <a:endCxn id="28" idx="2"/>
          </p:cNvCxnSpPr>
          <p:nvPr/>
        </p:nvCxnSpPr>
        <p:spPr>
          <a:xfrm flipV="1">
            <a:off x="9218509" y="3247198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23" idx="6"/>
            <a:endCxn id="29" idx="2"/>
          </p:cNvCxnSpPr>
          <p:nvPr/>
        </p:nvCxnSpPr>
        <p:spPr>
          <a:xfrm>
            <a:off x="9229661" y="2659886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24" idx="6"/>
            <a:endCxn id="29" idx="2"/>
          </p:cNvCxnSpPr>
          <p:nvPr/>
        </p:nvCxnSpPr>
        <p:spPr>
          <a:xfrm>
            <a:off x="9231753" y="3247198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25" idx="6"/>
            <a:endCxn id="29" idx="2"/>
          </p:cNvCxnSpPr>
          <p:nvPr/>
        </p:nvCxnSpPr>
        <p:spPr>
          <a:xfrm>
            <a:off x="9221361" y="3839022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22" idx="6"/>
            <a:endCxn id="29" idx="2"/>
          </p:cNvCxnSpPr>
          <p:nvPr/>
        </p:nvCxnSpPr>
        <p:spPr>
          <a:xfrm flipV="1">
            <a:off x="9218509" y="3839022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>
            <a:stCxn id="20" idx="6"/>
            <a:endCxn id="24" idx="2"/>
          </p:cNvCxnSpPr>
          <p:nvPr/>
        </p:nvCxnSpPr>
        <p:spPr>
          <a:xfrm>
            <a:off x="7578511" y="1857130"/>
            <a:ext cx="1140344" cy="1390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>
            <a:stCxn id="21" idx="6"/>
            <a:endCxn id="24" idx="2"/>
          </p:cNvCxnSpPr>
          <p:nvPr/>
        </p:nvCxnSpPr>
        <p:spPr>
          <a:xfrm>
            <a:off x="7568119" y="2448954"/>
            <a:ext cx="1150736" cy="7982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>
            <a:stCxn id="14" idx="6"/>
            <a:endCxn id="24" idx="2"/>
          </p:cNvCxnSpPr>
          <p:nvPr/>
        </p:nvCxnSpPr>
        <p:spPr>
          <a:xfrm flipV="1">
            <a:off x="7567359" y="3247198"/>
            <a:ext cx="1151496" cy="37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>
            <a:stCxn id="15" idx="6"/>
            <a:endCxn id="24" idx="2"/>
          </p:cNvCxnSpPr>
          <p:nvPr/>
        </p:nvCxnSpPr>
        <p:spPr>
          <a:xfrm flipV="1">
            <a:off x="7556967" y="3247198"/>
            <a:ext cx="1161888" cy="9694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/>
              <p:cNvSpPr/>
              <p:nvPr/>
            </p:nvSpPr>
            <p:spPr>
              <a:xfrm>
                <a:off x="7537454" y="1893630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矩形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54" y="1893630"/>
                <a:ext cx="50180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" t="-16" r="31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/>
              <p:cNvSpPr/>
              <p:nvPr/>
            </p:nvSpPr>
            <p:spPr>
              <a:xfrm flipH="1">
                <a:off x="7595187" y="2416729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矩形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95187" y="2416729"/>
                <a:ext cx="39722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48" t="-150" r="75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/>
              <p:cNvSpPr/>
              <p:nvPr/>
            </p:nvSpPr>
            <p:spPr>
              <a:xfrm flipH="1">
                <a:off x="7592511" y="3404151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矩形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92511" y="3404151"/>
                <a:ext cx="39722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14" t="-149" r="41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/>
              <p:cNvSpPr/>
              <p:nvPr/>
            </p:nvSpPr>
            <p:spPr>
              <a:xfrm flipH="1">
                <a:off x="7578419" y="3927931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矩形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78419" y="3927931"/>
                <a:ext cx="39722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3" t="-123" r="10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39" name="组 38"/>
          <p:cNvGrpSpPr/>
          <p:nvPr/>
        </p:nvGrpSpPr>
        <p:grpSpPr>
          <a:xfrm>
            <a:off x="8749563" y="2449329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 67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8" name="矩形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矩形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/>
              <p:cNvSpPr/>
              <p:nvPr/>
            </p:nvSpPr>
            <p:spPr>
              <a:xfrm>
                <a:off x="5332977" y="3261950"/>
                <a:ext cx="478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2" name="矩形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77" y="3261950"/>
                <a:ext cx="47846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52" t="-160" r="-1078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/>
              <p:cNvSpPr/>
              <p:nvPr/>
            </p:nvSpPr>
            <p:spPr>
              <a:xfrm>
                <a:off x="5666881" y="3252719"/>
                <a:ext cx="483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3" name="矩形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81" y="3252719"/>
                <a:ext cx="483786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29" t="-67" r="1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 47"/>
          <p:cNvGrpSpPr/>
          <p:nvPr/>
        </p:nvGrpSpPr>
        <p:grpSpPr>
          <a:xfrm>
            <a:off x="10138075" y="3014056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矩形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矩形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2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椭圆形标注 66"/>
          <p:cNvSpPr/>
          <p:nvPr/>
        </p:nvSpPr>
        <p:spPr>
          <a:xfrm>
            <a:off x="8815013" y="1468591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圆角矩形标注 68"/>
          <p:cNvSpPr/>
          <p:nvPr/>
        </p:nvSpPr>
        <p:spPr>
          <a:xfrm>
            <a:off x="7951707" y="78605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9990977" y="2916372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990019" y="96501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8617805" y="2298032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371192" y="3583607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807" y="1523724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橢圓 17"/>
          <p:cNvSpPr/>
          <p:nvPr/>
        </p:nvSpPr>
        <p:spPr>
          <a:xfrm>
            <a:off x="7052369" y="278102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橢圓 18"/>
          <p:cNvSpPr/>
          <p:nvPr/>
        </p:nvSpPr>
        <p:spPr>
          <a:xfrm>
            <a:off x="7054461" y="3368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橢圓 19"/>
          <p:cNvSpPr/>
          <p:nvPr/>
        </p:nvSpPr>
        <p:spPr>
          <a:xfrm>
            <a:off x="7044069" y="396015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橢圓 17"/>
          <p:cNvSpPr/>
          <p:nvPr/>
        </p:nvSpPr>
        <p:spPr>
          <a:xfrm>
            <a:off x="7060669" y="457339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橢圓 18"/>
          <p:cNvSpPr/>
          <p:nvPr/>
        </p:nvSpPr>
        <p:spPr>
          <a:xfrm>
            <a:off x="7062761" y="516070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橢圓 19"/>
          <p:cNvSpPr/>
          <p:nvPr/>
        </p:nvSpPr>
        <p:spPr>
          <a:xfrm>
            <a:off x="7052369" y="57525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橢圓 17"/>
          <p:cNvSpPr/>
          <p:nvPr/>
        </p:nvSpPr>
        <p:spPr>
          <a:xfrm>
            <a:off x="7063521" y="1013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橢圓 18"/>
          <p:cNvSpPr/>
          <p:nvPr/>
        </p:nvSpPr>
        <p:spPr>
          <a:xfrm>
            <a:off x="7065613" y="160064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橢圓 19"/>
          <p:cNvSpPr/>
          <p:nvPr/>
        </p:nvSpPr>
        <p:spPr>
          <a:xfrm>
            <a:off x="7055221" y="219246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橢圓 17"/>
          <p:cNvSpPr/>
          <p:nvPr/>
        </p:nvSpPr>
        <p:spPr>
          <a:xfrm>
            <a:off x="8705611" y="4171088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橢圓 17"/>
          <p:cNvSpPr/>
          <p:nvPr/>
        </p:nvSpPr>
        <p:spPr>
          <a:xfrm>
            <a:off x="8716763" y="2403400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8"/>
          <p:cNvSpPr/>
          <p:nvPr/>
        </p:nvSpPr>
        <p:spPr>
          <a:xfrm>
            <a:off x="8718855" y="299071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9"/>
          <p:cNvSpPr/>
          <p:nvPr/>
        </p:nvSpPr>
        <p:spPr>
          <a:xfrm>
            <a:off x="8708463" y="358253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橢圓 18"/>
          <p:cNvSpPr/>
          <p:nvPr/>
        </p:nvSpPr>
        <p:spPr>
          <a:xfrm>
            <a:off x="10082833" y="2990712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橢圓 19"/>
          <p:cNvSpPr/>
          <p:nvPr/>
        </p:nvSpPr>
        <p:spPr>
          <a:xfrm>
            <a:off x="10072441" y="3582536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线箭头连接符 33"/>
          <p:cNvCxnSpPr>
            <a:stCxn id="19" idx="6"/>
            <a:endCxn id="23" idx="2"/>
          </p:cNvCxnSpPr>
          <p:nvPr/>
        </p:nvCxnSpPr>
        <p:spPr>
          <a:xfrm>
            <a:off x="7576419" y="1269818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>
            <a:stCxn id="20" idx="6"/>
            <a:endCxn id="23" idx="2"/>
          </p:cNvCxnSpPr>
          <p:nvPr/>
        </p:nvCxnSpPr>
        <p:spPr>
          <a:xfrm>
            <a:off x="7578511" y="1857130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13" idx="6"/>
            <a:endCxn id="23" idx="2"/>
          </p:cNvCxnSpPr>
          <p:nvPr/>
        </p:nvCxnSpPr>
        <p:spPr>
          <a:xfrm flipV="1">
            <a:off x="7565267" y="2659886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>
            <a:stCxn id="14" idx="6"/>
            <a:endCxn id="23" idx="2"/>
          </p:cNvCxnSpPr>
          <p:nvPr/>
        </p:nvCxnSpPr>
        <p:spPr>
          <a:xfrm flipV="1">
            <a:off x="7567359" y="2659886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>
            <a:stCxn id="23" idx="6"/>
            <a:endCxn id="28" idx="2"/>
          </p:cNvCxnSpPr>
          <p:nvPr/>
        </p:nvCxnSpPr>
        <p:spPr>
          <a:xfrm>
            <a:off x="9229661" y="2659886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>
            <a:stCxn id="24" idx="6"/>
            <a:endCxn id="28" idx="2"/>
          </p:cNvCxnSpPr>
          <p:nvPr/>
        </p:nvCxnSpPr>
        <p:spPr>
          <a:xfrm>
            <a:off x="9231753" y="3247198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>
            <a:stCxn id="25" idx="6"/>
            <a:endCxn id="28" idx="2"/>
          </p:cNvCxnSpPr>
          <p:nvPr/>
        </p:nvCxnSpPr>
        <p:spPr>
          <a:xfrm flipV="1">
            <a:off x="9221361" y="3247198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22" idx="6"/>
            <a:endCxn id="28" idx="2"/>
          </p:cNvCxnSpPr>
          <p:nvPr/>
        </p:nvCxnSpPr>
        <p:spPr>
          <a:xfrm flipV="1">
            <a:off x="9218509" y="3247198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23" idx="6"/>
            <a:endCxn id="29" idx="2"/>
          </p:cNvCxnSpPr>
          <p:nvPr/>
        </p:nvCxnSpPr>
        <p:spPr>
          <a:xfrm>
            <a:off x="9229661" y="2659886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24" idx="6"/>
            <a:endCxn id="29" idx="2"/>
          </p:cNvCxnSpPr>
          <p:nvPr/>
        </p:nvCxnSpPr>
        <p:spPr>
          <a:xfrm>
            <a:off x="9231753" y="3247198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25" idx="6"/>
            <a:endCxn id="29" idx="2"/>
          </p:cNvCxnSpPr>
          <p:nvPr/>
        </p:nvCxnSpPr>
        <p:spPr>
          <a:xfrm>
            <a:off x="9221361" y="3839022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22" idx="6"/>
            <a:endCxn id="29" idx="2"/>
          </p:cNvCxnSpPr>
          <p:nvPr/>
        </p:nvCxnSpPr>
        <p:spPr>
          <a:xfrm flipV="1">
            <a:off x="9218509" y="3839022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>
            <a:stCxn id="20" idx="6"/>
            <a:endCxn id="24" idx="2"/>
          </p:cNvCxnSpPr>
          <p:nvPr/>
        </p:nvCxnSpPr>
        <p:spPr>
          <a:xfrm>
            <a:off x="7578511" y="1857130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>
            <a:stCxn id="21" idx="6"/>
            <a:endCxn id="24" idx="2"/>
          </p:cNvCxnSpPr>
          <p:nvPr/>
        </p:nvCxnSpPr>
        <p:spPr>
          <a:xfrm>
            <a:off x="7568119" y="2448954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>
            <a:stCxn id="14" idx="6"/>
            <a:endCxn id="24" idx="2"/>
          </p:cNvCxnSpPr>
          <p:nvPr/>
        </p:nvCxnSpPr>
        <p:spPr>
          <a:xfrm flipV="1">
            <a:off x="7567359" y="3247198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>
            <a:stCxn id="15" idx="6"/>
            <a:endCxn id="24" idx="2"/>
          </p:cNvCxnSpPr>
          <p:nvPr/>
        </p:nvCxnSpPr>
        <p:spPr>
          <a:xfrm flipV="1">
            <a:off x="7556967" y="3247198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>
            <a:stCxn id="14" idx="6"/>
            <a:endCxn id="25" idx="2"/>
          </p:cNvCxnSpPr>
          <p:nvPr/>
        </p:nvCxnSpPr>
        <p:spPr>
          <a:xfrm>
            <a:off x="7567359" y="3624818"/>
            <a:ext cx="1141104" cy="2142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>
            <a:stCxn id="13" idx="6"/>
            <a:endCxn id="25" idx="2"/>
          </p:cNvCxnSpPr>
          <p:nvPr/>
        </p:nvCxnSpPr>
        <p:spPr>
          <a:xfrm>
            <a:off x="7565267" y="3037506"/>
            <a:ext cx="1143196" cy="8015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>
            <a:stCxn id="17" idx="6"/>
            <a:endCxn id="25" idx="2"/>
          </p:cNvCxnSpPr>
          <p:nvPr/>
        </p:nvCxnSpPr>
        <p:spPr>
          <a:xfrm flipV="1">
            <a:off x="7575659" y="3839022"/>
            <a:ext cx="1132804" cy="15781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16" idx="6"/>
            <a:endCxn id="25" idx="2"/>
          </p:cNvCxnSpPr>
          <p:nvPr/>
        </p:nvCxnSpPr>
        <p:spPr>
          <a:xfrm flipV="1">
            <a:off x="7573567" y="3839022"/>
            <a:ext cx="1134896" cy="9908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587310" y="610337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71" name="组 70"/>
          <p:cNvGrpSpPr/>
          <p:nvPr/>
        </p:nvGrpSpPr>
        <p:grpSpPr>
          <a:xfrm>
            <a:off x="8749563" y="2449329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 71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矩形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矩形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矩形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7" name="矩形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 77"/>
          <p:cNvGrpSpPr/>
          <p:nvPr/>
        </p:nvGrpSpPr>
        <p:grpSpPr>
          <a:xfrm>
            <a:off x="10138075" y="3014056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9" name="矩形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矩形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/>
              <p:cNvSpPr/>
              <p:nvPr/>
            </p:nvSpPr>
            <p:spPr>
              <a:xfrm>
                <a:off x="7562057" y="2941737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57" y="2941737"/>
                <a:ext cx="50180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95" t="-113" r="126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/>
              <p:cNvSpPr/>
              <p:nvPr/>
            </p:nvSpPr>
            <p:spPr>
              <a:xfrm flipH="1">
                <a:off x="7619790" y="3464836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9790" y="3464836"/>
                <a:ext cx="397222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07" t="-75" r="3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/>
              <p:cNvSpPr/>
              <p:nvPr/>
            </p:nvSpPr>
            <p:spPr>
              <a:xfrm flipH="1">
                <a:off x="7617114" y="4452258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矩形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7114" y="4452258"/>
                <a:ext cx="397222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73" t="-7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/>
              <p:cNvSpPr/>
              <p:nvPr/>
            </p:nvSpPr>
            <p:spPr>
              <a:xfrm flipH="1">
                <a:off x="7603022" y="4976038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矩形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03022" y="4976038"/>
                <a:ext cx="397222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42" t="-48" r="129" b="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椭圆形标注 65"/>
          <p:cNvSpPr/>
          <p:nvPr/>
        </p:nvSpPr>
        <p:spPr>
          <a:xfrm>
            <a:off x="8815013" y="1468591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圆角矩形标注 66"/>
          <p:cNvSpPr/>
          <p:nvPr/>
        </p:nvSpPr>
        <p:spPr>
          <a:xfrm>
            <a:off x="7951707" y="78605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9990977" y="2916372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6990019" y="96501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617805" y="2298032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588727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1238" y="1526304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78102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368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96015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57339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516070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7525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101333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60064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219246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橢圓 17"/>
          <p:cNvSpPr/>
          <p:nvPr/>
        </p:nvSpPr>
        <p:spPr>
          <a:xfrm>
            <a:off x="8705611" y="4171088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橢圓 17"/>
          <p:cNvSpPr/>
          <p:nvPr/>
        </p:nvSpPr>
        <p:spPr>
          <a:xfrm>
            <a:off x="8716763" y="2403400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橢圓 18"/>
          <p:cNvSpPr/>
          <p:nvPr/>
        </p:nvSpPr>
        <p:spPr>
          <a:xfrm>
            <a:off x="8718855" y="299071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橢圓 19"/>
          <p:cNvSpPr/>
          <p:nvPr/>
        </p:nvSpPr>
        <p:spPr>
          <a:xfrm>
            <a:off x="8708463" y="358253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橢圓 18"/>
          <p:cNvSpPr/>
          <p:nvPr/>
        </p:nvSpPr>
        <p:spPr>
          <a:xfrm>
            <a:off x="10082833" y="2990712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橢圓 19"/>
          <p:cNvSpPr/>
          <p:nvPr/>
        </p:nvSpPr>
        <p:spPr>
          <a:xfrm>
            <a:off x="10072441" y="3582536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箭头连接符 48"/>
          <p:cNvCxnSpPr>
            <a:stCxn id="51" idx="6"/>
            <a:endCxn id="55" idx="2"/>
          </p:cNvCxnSpPr>
          <p:nvPr/>
        </p:nvCxnSpPr>
        <p:spPr>
          <a:xfrm>
            <a:off x="7576419" y="1269818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52" idx="6"/>
            <a:endCxn id="55" idx="2"/>
          </p:cNvCxnSpPr>
          <p:nvPr/>
        </p:nvCxnSpPr>
        <p:spPr>
          <a:xfrm>
            <a:off x="7578511" y="1857130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>
            <a:stCxn id="45" idx="6"/>
            <a:endCxn id="55" idx="2"/>
          </p:cNvCxnSpPr>
          <p:nvPr/>
        </p:nvCxnSpPr>
        <p:spPr>
          <a:xfrm flipV="1">
            <a:off x="7565267" y="2659886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46" idx="6"/>
            <a:endCxn id="55" idx="2"/>
          </p:cNvCxnSpPr>
          <p:nvPr/>
        </p:nvCxnSpPr>
        <p:spPr>
          <a:xfrm flipV="1">
            <a:off x="7567359" y="2659886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55" idx="6"/>
            <a:endCxn id="60" idx="2"/>
          </p:cNvCxnSpPr>
          <p:nvPr/>
        </p:nvCxnSpPr>
        <p:spPr>
          <a:xfrm>
            <a:off x="9229661" y="2659886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/>
          <p:cNvCxnSpPr>
            <a:stCxn id="56" idx="6"/>
            <a:endCxn id="60" idx="2"/>
          </p:cNvCxnSpPr>
          <p:nvPr/>
        </p:nvCxnSpPr>
        <p:spPr>
          <a:xfrm>
            <a:off x="9231753" y="3247198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>
            <a:stCxn id="57" idx="6"/>
            <a:endCxn id="60" idx="2"/>
          </p:cNvCxnSpPr>
          <p:nvPr/>
        </p:nvCxnSpPr>
        <p:spPr>
          <a:xfrm flipV="1">
            <a:off x="9221361" y="3247198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54" idx="6"/>
            <a:endCxn id="60" idx="2"/>
          </p:cNvCxnSpPr>
          <p:nvPr/>
        </p:nvCxnSpPr>
        <p:spPr>
          <a:xfrm flipV="1">
            <a:off x="9218509" y="3247198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/>
          <p:cNvCxnSpPr>
            <a:stCxn id="55" idx="6"/>
            <a:endCxn id="61" idx="2"/>
          </p:cNvCxnSpPr>
          <p:nvPr/>
        </p:nvCxnSpPr>
        <p:spPr>
          <a:xfrm>
            <a:off x="9229661" y="2659886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>
            <a:stCxn id="56" idx="6"/>
            <a:endCxn id="61" idx="2"/>
          </p:cNvCxnSpPr>
          <p:nvPr/>
        </p:nvCxnSpPr>
        <p:spPr>
          <a:xfrm>
            <a:off x="9231753" y="3247198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57" idx="6"/>
            <a:endCxn id="61" idx="2"/>
          </p:cNvCxnSpPr>
          <p:nvPr/>
        </p:nvCxnSpPr>
        <p:spPr>
          <a:xfrm>
            <a:off x="9221361" y="3839022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>
            <a:stCxn id="54" idx="6"/>
            <a:endCxn id="61" idx="2"/>
          </p:cNvCxnSpPr>
          <p:nvPr/>
        </p:nvCxnSpPr>
        <p:spPr>
          <a:xfrm flipV="1">
            <a:off x="9218509" y="3839022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>
            <a:stCxn id="52" idx="6"/>
            <a:endCxn id="56" idx="2"/>
          </p:cNvCxnSpPr>
          <p:nvPr/>
        </p:nvCxnSpPr>
        <p:spPr>
          <a:xfrm>
            <a:off x="7578511" y="1857130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53" idx="6"/>
            <a:endCxn id="56" idx="2"/>
          </p:cNvCxnSpPr>
          <p:nvPr/>
        </p:nvCxnSpPr>
        <p:spPr>
          <a:xfrm>
            <a:off x="7568119" y="2448954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>
            <a:stCxn id="46" idx="6"/>
            <a:endCxn id="56" idx="2"/>
          </p:cNvCxnSpPr>
          <p:nvPr/>
        </p:nvCxnSpPr>
        <p:spPr>
          <a:xfrm flipV="1">
            <a:off x="7567359" y="3247198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>
            <a:stCxn id="47" idx="6"/>
            <a:endCxn id="56" idx="2"/>
          </p:cNvCxnSpPr>
          <p:nvPr/>
        </p:nvCxnSpPr>
        <p:spPr>
          <a:xfrm flipV="1">
            <a:off x="7556967" y="3247198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>
            <a:stCxn id="46" idx="6"/>
            <a:endCxn id="57" idx="2"/>
          </p:cNvCxnSpPr>
          <p:nvPr/>
        </p:nvCxnSpPr>
        <p:spPr>
          <a:xfrm>
            <a:off x="7567359" y="3624818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>
            <a:stCxn id="45" idx="6"/>
            <a:endCxn id="57" idx="2"/>
          </p:cNvCxnSpPr>
          <p:nvPr/>
        </p:nvCxnSpPr>
        <p:spPr>
          <a:xfrm>
            <a:off x="7565267" y="3037506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>
            <a:stCxn id="49" idx="6"/>
            <a:endCxn id="57" idx="2"/>
          </p:cNvCxnSpPr>
          <p:nvPr/>
        </p:nvCxnSpPr>
        <p:spPr>
          <a:xfrm flipV="1">
            <a:off x="7575659" y="3839022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/>
          <p:cNvCxnSpPr>
            <a:stCxn id="48" idx="6"/>
            <a:endCxn id="57" idx="2"/>
          </p:cNvCxnSpPr>
          <p:nvPr/>
        </p:nvCxnSpPr>
        <p:spPr>
          <a:xfrm flipV="1">
            <a:off x="7573567" y="3839022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7574647" y="4212130"/>
            <a:ext cx="1141104" cy="2142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/>
          <p:nvPr/>
        </p:nvCxnSpPr>
        <p:spPr>
          <a:xfrm>
            <a:off x="7572555" y="3624818"/>
            <a:ext cx="1143196" cy="8015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/>
          <p:cNvCxnSpPr/>
          <p:nvPr/>
        </p:nvCxnSpPr>
        <p:spPr>
          <a:xfrm flipV="1">
            <a:off x="7582947" y="4426334"/>
            <a:ext cx="1132804" cy="15781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V="1">
            <a:off x="7580855" y="4426334"/>
            <a:ext cx="1134896" cy="9908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椭圆形标注 80"/>
          <p:cNvSpPr/>
          <p:nvPr/>
        </p:nvSpPr>
        <p:spPr>
          <a:xfrm>
            <a:off x="8815013" y="1468591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74" name="组 73"/>
          <p:cNvGrpSpPr/>
          <p:nvPr/>
        </p:nvGrpSpPr>
        <p:grpSpPr>
          <a:xfrm>
            <a:off x="8749563" y="2449329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5" name="矩形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矩形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7" name="矩形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矩形 87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矩形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 88"/>
          <p:cNvGrpSpPr/>
          <p:nvPr/>
        </p:nvGrpSpPr>
        <p:grpSpPr>
          <a:xfrm>
            <a:off x="10138075" y="3014056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 89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矩形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矩形 90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矩形 9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/>
              <p:cNvSpPr/>
              <p:nvPr/>
            </p:nvSpPr>
            <p:spPr>
              <a:xfrm>
                <a:off x="7559588" y="3573411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矩形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588" y="3573411"/>
                <a:ext cx="501804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09" t="-72" r="1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/>
              <p:cNvSpPr/>
              <p:nvPr/>
            </p:nvSpPr>
            <p:spPr>
              <a:xfrm flipH="1">
                <a:off x="7617321" y="4096510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矩形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7321" y="4096510"/>
                <a:ext cx="397222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25" t="-34" r="52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/>
              <p:cNvSpPr/>
              <p:nvPr/>
            </p:nvSpPr>
            <p:spPr>
              <a:xfrm flipH="1">
                <a:off x="7614645" y="5083932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矩形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14645" y="5083932"/>
                <a:ext cx="397222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91" t="-33" r="18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/>
              <p:cNvSpPr/>
              <p:nvPr/>
            </p:nvSpPr>
            <p:spPr>
              <a:xfrm flipH="1">
                <a:off x="7600553" y="5607712"/>
                <a:ext cx="39722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矩形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00553" y="5607712"/>
                <a:ext cx="397222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60" t="-7" r="147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圆角矩形标注 99"/>
          <p:cNvSpPr/>
          <p:nvPr/>
        </p:nvSpPr>
        <p:spPr>
          <a:xfrm>
            <a:off x="7951707" y="78605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9990977" y="2730631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990019" y="96501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617805" y="2112291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文字方塊 55"/>
          <p:cNvSpPr txBox="1"/>
          <p:nvPr/>
        </p:nvSpPr>
        <p:spPr>
          <a:xfrm>
            <a:off x="7715512" y="4637125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字方塊 55"/>
          <p:cNvSpPr txBox="1"/>
          <p:nvPr/>
        </p:nvSpPr>
        <p:spPr>
          <a:xfrm>
            <a:off x="5707528" y="6142584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402986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5087" y="1282850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044310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3821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22220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18976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18976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12381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12381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595279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182591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774415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387651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4974963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56678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82759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414903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200672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橢圓 17"/>
          <p:cNvSpPr/>
          <p:nvPr/>
        </p:nvSpPr>
        <p:spPr>
          <a:xfrm>
            <a:off x="8705611" y="3985347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橢圓 17"/>
          <p:cNvSpPr/>
          <p:nvPr/>
        </p:nvSpPr>
        <p:spPr>
          <a:xfrm>
            <a:off x="8716763" y="2217659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橢圓 18"/>
          <p:cNvSpPr/>
          <p:nvPr/>
        </p:nvSpPr>
        <p:spPr>
          <a:xfrm>
            <a:off x="8718855" y="2804971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橢圓 19"/>
          <p:cNvSpPr/>
          <p:nvPr/>
        </p:nvSpPr>
        <p:spPr>
          <a:xfrm>
            <a:off x="8708463" y="3396795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橢圓 18"/>
          <p:cNvSpPr/>
          <p:nvPr/>
        </p:nvSpPr>
        <p:spPr>
          <a:xfrm>
            <a:off x="10082833" y="2804971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橢圓 19"/>
          <p:cNvSpPr/>
          <p:nvPr/>
        </p:nvSpPr>
        <p:spPr>
          <a:xfrm>
            <a:off x="10072441" y="3396795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箭头连接符 48"/>
          <p:cNvCxnSpPr>
            <a:stCxn id="51" idx="6"/>
            <a:endCxn id="55" idx="2"/>
          </p:cNvCxnSpPr>
          <p:nvPr/>
        </p:nvCxnSpPr>
        <p:spPr>
          <a:xfrm>
            <a:off x="7576419" y="1084077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52" idx="6"/>
            <a:endCxn id="55" idx="2"/>
          </p:cNvCxnSpPr>
          <p:nvPr/>
        </p:nvCxnSpPr>
        <p:spPr>
          <a:xfrm>
            <a:off x="7578511" y="1671389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>
            <a:stCxn id="45" idx="6"/>
            <a:endCxn id="55" idx="2"/>
          </p:cNvCxnSpPr>
          <p:nvPr/>
        </p:nvCxnSpPr>
        <p:spPr>
          <a:xfrm flipV="1">
            <a:off x="7565267" y="2474145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46" idx="6"/>
            <a:endCxn id="55" idx="2"/>
          </p:cNvCxnSpPr>
          <p:nvPr/>
        </p:nvCxnSpPr>
        <p:spPr>
          <a:xfrm flipV="1">
            <a:off x="7567359" y="2474145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55" idx="6"/>
            <a:endCxn id="60" idx="2"/>
          </p:cNvCxnSpPr>
          <p:nvPr/>
        </p:nvCxnSpPr>
        <p:spPr>
          <a:xfrm>
            <a:off x="9229661" y="2474145"/>
            <a:ext cx="853172" cy="5873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/>
          <p:cNvCxnSpPr>
            <a:stCxn id="56" idx="6"/>
            <a:endCxn id="60" idx="2"/>
          </p:cNvCxnSpPr>
          <p:nvPr/>
        </p:nvCxnSpPr>
        <p:spPr>
          <a:xfrm>
            <a:off x="9231753" y="3061457"/>
            <a:ext cx="8510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>
            <a:stCxn id="57" idx="6"/>
            <a:endCxn id="60" idx="2"/>
          </p:cNvCxnSpPr>
          <p:nvPr/>
        </p:nvCxnSpPr>
        <p:spPr>
          <a:xfrm flipV="1">
            <a:off x="9221361" y="3061457"/>
            <a:ext cx="861472" cy="5918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54" idx="6"/>
            <a:endCxn id="60" idx="2"/>
          </p:cNvCxnSpPr>
          <p:nvPr/>
        </p:nvCxnSpPr>
        <p:spPr>
          <a:xfrm flipV="1">
            <a:off x="9218509" y="3061457"/>
            <a:ext cx="864324" cy="11803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/>
          <p:cNvCxnSpPr>
            <a:stCxn id="55" idx="6"/>
            <a:endCxn id="61" idx="2"/>
          </p:cNvCxnSpPr>
          <p:nvPr/>
        </p:nvCxnSpPr>
        <p:spPr>
          <a:xfrm>
            <a:off x="9229661" y="2474145"/>
            <a:ext cx="842780" cy="11791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>
            <a:stCxn id="56" idx="6"/>
            <a:endCxn id="61" idx="2"/>
          </p:cNvCxnSpPr>
          <p:nvPr/>
        </p:nvCxnSpPr>
        <p:spPr>
          <a:xfrm>
            <a:off x="9231753" y="3061457"/>
            <a:ext cx="840688" cy="5918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57" idx="6"/>
            <a:endCxn id="61" idx="2"/>
          </p:cNvCxnSpPr>
          <p:nvPr/>
        </p:nvCxnSpPr>
        <p:spPr>
          <a:xfrm>
            <a:off x="9221361" y="3653281"/>
            <a:ext cx="8510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>
            <a:stCxn id="54" idx="6"/>
            <a:endCxn id="61" idx="2"/>
          </p:cNvCxnSpPr>
          <p:nvPr/>
        </p:nvCxnSpPr>
        <p:spPr>
          <a:xfrm flipV="1">
            <a:off x="9218509" y="3653281"/>
            <a:ext cx="853932" cy="5885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>
            <a:stCxn id="52" idx="6"/>
            <a:endCxn id="56" idx="2"/>
          </p:cNvCxnSpPr>
          <p:nvPr/>
        </p:nvCxnSpPr>
        <p:spPr>
          <a:xfrm>
            <a:off x="7578511" y="1671389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53" idx="6"/>
            <a:endCxn id="56" idx="2"/>
          </p:cNvCxnSpPr>
          <p:nvPr/>
        </p:nvCxnSpPr>
        <p:spPr>
          <a:xfrm>
            <a:off x="7568119" y="2263213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>
            <a:stCxn id="46" idx="6"/>
            <a:endCxn id="56" idx="2"/>
          </p:cNvCxnSpPr>
          <p:nvPr/>
        </p:nvCxnSpPr>
        <p:spPr>
          <a:xfrm flipV="1">
            <a:off x="7567359" y="3061457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>
            <a:stCxn id="47" idx="6"/>
            <a:endCxn id="56" idx="2"/>
          </p:cNvCxnSpPr>
          <p:nvPr/>
        </p:nvCxnSpPr>
        <p:spPr>
          <a:xfrm flipV="1">
            <a:off x="7556967" y="3061457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>
            <a:stCxn id="46" idx="6"/>
            <a:endCxn id="57" idx="2"/>
          </p:cNvCxnSpPr>
          <p:nvPr/>
        </p:nvCxnSpPr>
        <p:spPr>
          <a:xfrm>
            <a:off x="7567359" y="3439077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>
            <a:stCxn id="45" idx="6"/>
            <a:endCxn id="57" idx="2"/>
          </p:cNvCxnSpPr>
          <p:nvPr/>
        </p:nvCxnSpPr>
        <p:spPr>
          <a:xfrm>
            <a:off x="7565267" y="2851765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>
            <a:stCxn id="49" idx="6"/>
            <a:endCxn id="57" idx="2"/>
          </p:cNvCxnSpPr>
          <p:nvPr/>
        </p:nvCxnSpPr>
        <p:spPr>
          <a:xfrm flipV="1">
            <a:off x="7575659" y="3653281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/>
          <p:cNvCxnSpPr>
            <a:stCxn id="48" idx="6"/>
            <a:endCxn id="57" idx="2"/>
          </p:cNvCxnSpPr>
          <p:nvPr/>
        </p:nvCxnSpPr>
        <p:spPr>
          <a:xfrm flipV="1">
            <a:off x="7573567" y="3653281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7574647" y="4026389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/>
          <p:nvPr/>
        </p:nvCxnSpPr>
        <p:spPr>
          <a:xfrm>
            <a:off x="7572555" y="3439077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/>
          <p:cNvCxnSpPr/>
          <p:nvPr/>
        </p:nvCxnSpPr>
        <p:spPr>
          <a:xfrm flipV="1">
            <a:off x="7582947" y="4240593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V="1">
            <a:off x="7580855" y="4240593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825789" y="204034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</a:t>
            </a:r>
          </a:p>
        </p:txBody>
      </p:sp>
      <p:cxnSp>
        <p:nvCxnSpPr>
          <p:cNvPr id="14" name="直线箭头连接符 13"/>
          <p:cNvCxnSpPr>
            <a:stCxn id="11" idx="1"/>
          </p:cNvCxnSpPr>
          <p:nvPr/>
        </p:nvCxnSpPr>
        <p:spPr>
          <a:xfrm flipH="1">
            <a:off x="9652097" y="2225013"/>
            <a:ext cx="173692" cy="4373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55"/>
          <p:cNvSpPr txBox="1"/>
          <p:nvPr/>
        </p:nvSpPr>
        <p:spPr>
          <a:xfrm>
            <a:off x="9543601" y="4072796"/>
            <a:ext cx="1614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87310" y="6189103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81" name="组 80"/>
          <p:cNvGrpSpPr/>
          <p:nvPr/>
        </p:nvGrpSpPr>
        <p:grpSpPr>
          <a:xfrm>
            <a:off x="8749563" y="2263588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矩形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矩形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矩形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矩形 86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矩形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 87"/>
          <p:cNvGrpSpPr/>
          <p:nvPr/>
        </p:nvGrpSpPr>
        <p:grpSpPr>
          <a:xfrm>
            <a:off x="10138075" y="2828315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矩形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 89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矩形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文字方塊 55"/>
          <p:cNvSpPr txBox="1"/>
          <p:nvPr/>
        </p:nvSpPr>
        <p:spPr>
          <a:xfrm>
            <a:off x="3218943" y="2632920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字方塊 55"/>
          <p:cNvSpPr txBox="1"/>
          <p:nvPr/>
        </p:nvSpPr>
        <p:spPr>
          <a:xfrm>
            <a:off x="4193380" y="263448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字方塊 55"/>
          <p:cNvSpPr txBox="1"/>
          <p:nvPr/>
        </p:nvSpPr>
        <p:spPr>
          <a:xfrm>
            <a:off x="315087" y="2632920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椭圆形标注 81"/>
          <p:cNvSpPr/>
          <p:nvPr/>
        </p:nvSpPr>
        <p:spPr>
          <a:xfrm>
            <a:off x="8815013" y="1282850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圆角矩形标注 82"/>
          <p:cNvSpPr/>
          <p:nvPr/>
        </p:nvSpPr>
        <p:spPr>
          <a:xfrm>
            <a:off x="7951707" y="78605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9990977" y="2687768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990019" y="736415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617805" y="2069428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588727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5087" y="1488072"/>
            <a:ext cx="275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55241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1397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73155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34478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493210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52392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7847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37204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196386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橢圓 17"/>
          <p:cNvSpPr/>
          <p:nvPr/>
        </p:nvSpPr>
        <p:spPr>
          <a:xfrm>
            <a:off x="8705611" y="3942484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橢圓 17"/>
          <p:cNvSpPr/>
          <p:nvPr/>
        </p:nvSpPr>
        <p:spPr>
          <a:xfrm>
            <a:off x="8716763" y="217479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橢圓 18"/>
          <p:cNvSpPr/>
          <p:nvPr/>
        </p:nvSpPr>
        <p:spPr>
          <a:xfrm>
            <a:off x="8718855" y="2762108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橢圓 19"/>
          <p:cNvSpPr/>
          <p:nvPr/>
        </p:nvSpPr>
        <p:spPr>
          <a:xfrm>
            <a:off x="8708463" y="335393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橢圓 18"/>
          <p:cNvSpPr/>
          <p:nvPr/>
        </p:nvSpPr>
        <p:spPr>
          <a:xfrm>
            <a:off x="10082833" y="2762108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橢圓 19"/>
          <p:cNvSpPr/>
          <p:nvPr/>
        </p:nvSpPr>
        <p:spPr>
          <a:xfrm>
            <a:off x="10072441" y="3353932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箭头连接符 48"/>
          <p:cNvCxnSpPr>
            <a:stCxn id="51" idx="6"/>
            <a:endCxn id="55" idx="2"/>
          </p:cNvCxnSpPr>
          <p:nvPr/>
        </p:nvCxnSpPr>
        <p:spPr>
          <a:xfrm>
            <a:off x="7576419" y="1041214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52" idx="6"/>
            <a:endCxn id="55" idx="2"/>
          </p:cNvCxnSpPr>
          <p:nvPr/>
        </p:nvCxnSpPr>
        <p:spPr>
          <a:xfrm>
            <a:off x="7578511" y="1628526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>
            <a:stCxn id="45" idx="6"/>
            <a:endCxn id="55" idx="2"/>
          </p:cNvCxnSpPr>
          <p:nvPr/>
        </p:nvCxnSpPr>
        <p:spPr>
          <a:xfrm flipV="1">
            <a:off x="7565267" y="2431282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46" idx="6"/>
            <a:endCxn id="55" idx="2"/>
          </p:cNvCxnSpPr>
          <p:nvPr/>
        </p:nvCxnSpPr>
        <p:spPr>
          <a:xfrm flipV="1">
            <a:off x="7567359" y="2431282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55" idx="6"/>
            <a:endCxn id="60" idx="2"/>
          </p:cNvCxnSpPr>
          <p:nvPr/>
        </p:nvCxnSpPr>
        <p:spPr>
          <a:xfrm>
            <a:off x="9229661" y="2431282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/>
          <p:cNvCxnSpPr>
            <a:stCxn id="56" idx="6"/>
            <a:endCxn id="60" idx="2"/>
          </p:cNvCxnSpPr>
          <p:nvPr/>
        </p:nvCxnSpPr>
        <p:spPr>
          <a:xfrm>
            <a:off x="9231753" y="3018594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>
            <a:stCxn id="57" idx="6"/>
            <a:endCxn id="60" idx="2"/>
          </p:cNvCxnSpPr>
          <p:nvPr/>
        </p:nvCxnSpPr>
        <p:spPr>
          <a:xfrm flipV="1">
            <a:off x="9221361" y="3018594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54" idx="6"/>
            <a:endCxn id="60" idx="2"/>
          </p:cNvCxnSpPr>
          <p:nvPr/>
        </p:nvCxnSpPr>
        <p:spPr>
          <a:xfrm flipV="1">
            <a:off x="9218509" y="3018594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/>
          <p:cNvCxnSpPr>
            <a:stCxn id="55" idx="6"/>
            <a:endCxn id="61" idx="2"/>
          </p:cNvCxnSpPr>
          <p:nvPr/>
        </p:nvCxnSpPr>
        <p:spPr>
          <a:xfrm>
            <a:off x="9229661" y="2431282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>
            <a:stCxn id="56" idx="6"/>
            <a:endCxn id="61" idx="2"/>
          </p:cNvCxnSpPr>
          <p:nvPr/>
        </p:nvCxnSpPr>
        <p:spPr>
          <a:xfrm>
            <a:off x="9231753" y="3018594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57" idx="6"/>
            <a:endCxn id="61" idx="2"/>
          </p:cNvCxnSpPr>
          <p:nvPr/>
        </p:nvCxnSpPr>
        <p:spPr>
          <a:xfrm>
            <a:off x="9221361" y="3610418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>
            <a:stCxn id="54" idx="6"/>
            <a:endCxn id="61" idx="2"/>
          </p:cNvCxnSpPr>
          <p:nvPr/>
        </p:nvCxnSpPr>
        <p:spPr>
          <a:xfrm flipV="1">
            <a:off x="9218509" y="3610418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>
            <a:stCxn id="52" idx="6"/>
            <a:endCxn id="56" idx="2"/>
          </p:cNvCxnSpPr>
          <p:nvPr/>
        </p:nvCxnSpPr>
        <p:spPr>
          <a:xfrm>
            <a:off x="7578511" y="1628526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53" idx="6"/>
            <a:endCxn id="56" idx="2"/>
          </p:cNvCxnSpPr>
          <p:nvPr/>
        </p:nvCxnSpPr>
        <p:spPr>
          <a:xfrm>
            <a:off x="7568119" y="2220350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>
            <a:stCxn id="46" idx="6"/>
            <a:endCxn id="56" idx="2"/>
          </p:cNvCxnSpPr>
          <p:nvPr/>
        </p:nvCxnSpPr>
        <p:spPr>
          <a:xfrm flipV="1">
            <a:off x="7567359" y="3018594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>
            <a:stCxn id="47" idx="6"/>
            <a:endCxn id="56" idx="2"/>
          </p:cNvCxnSpPr>
          <p:nvPr/>
        </p:nvCxnSpPr>
        <p:spPr>
          <a:xfrm flipV="1">
            <a:off x="7556967" y="3018594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>
            <a:stCxn id="46" idx="6"/>
            <a:endCxn id="57" idx="2"/>
          </p:cNvCxnSpPr>
          <p:nvPr/>
        </p:nvCxnSpPr>
        <p:spPr>
          <a:xfrm>
            <a:off x="7567359" y="3396214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>
            <a:stCxn id="45" idx="6"/>
            <a:endCxn id="57" idx="2"/>
          </p:cNvCxnSpPr>
          <p:nvPr/>
        </p:nvCxnSpPr>
        <p:spPr>
          <a:xfrm>
            <a:off x="7565267" y="2808902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>
            <a:stCxn id="49" idx="6"/>
            <a:endCxn id="57" idx="2"/>
          </p:cNvCxnSpPr>
          <p:nvPr/>
        </p:nvCxnSpPr>
        <p:spPr>
          <a:xfrm flipV="1">
            <a:off x="7575659" y="3610418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/>
          <p:cNvCxnSpPr>
            <a:stCxn id="48" idx="6"/>
            <a:endCxn id="57" idx="2"/>
          </p:cNvCxnSpPr>
          <p:nvPr/>
        </p:nvCxnSpPr>
        <p:spPr>
          <a:xfrm flipV="1">
            <a:off x="7573567" y="3610418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7574647" y="3983526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/>
          <p:nvPr/>
        </p:nvCxnSpPr>
        <p:spPr>
          <a:xfrm>
            <a:off x="7572555" y="3396214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/>
          <p:cNvCxnSpPr/>
          <p:nvPr/>
        </p:nvCxnSpPr>
        <p:spPr>
          <a:xfrm flipV="1">
            <a:off x="7582947" y="4197730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V="1">
            <a:off x="7580855" y="4197730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988802" y="4735132"/>
            <a:ext cx="5498459" cy="133882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一次卷积，只需学习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大小的参数个数，如上所示的例子，从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只需要学习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25789" y="19974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</a:t>
            </a:r>
          </a:p>
        </p:txBody>
      </p:sp>
      <p:cxnSp>
        <p:nvCxnSpPr>
          <p:cNvPr id="14" name="直线箭头连接符 13"/>
          <p:cNvCxnSpPr>
            <a:stCxn id="11" idx="1"/>
          </p:cNvCxnSpPr>
          <p:nvPr/>
        </p:nvCxnSpPr>
        <p:spPr>
          <a:xfrm flipH="1">
            <a:off x="9652097" y="2182150"/>
            <a:ext cx="173692" cy="4373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567629" y="6159048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未考虑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bias.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2" name="组 81"/>
          <p:cNvGrpSpPr/>
          <p:nvPr/>
        </p:nvGrpSpPr>
        <p:grpSpPr>
          <a:xfrm>
            <a:off x="8749563" y="2220725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矩形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矩形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矩形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矩形 86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矩形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 87"/>
          <p:cNvGrpSpPr/>
          <p:nvPr/>
        </p:nvGrpSpPr>
        <p:grpSpPr>
          <a:xfrm>
            <a:off x="10138075" y="2785452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矩形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 89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矩形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2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字方塊 55"/>
          <p:cNvSpPr txBox="1"/>
          <p:nvPr/>
        </p:nvSpPr>
        <p:spPr>
          <a:xfrm>
            <a:off x="7715512" y="4594262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字方塊 55"/>
          <p:cNvSpPr txBox="1"/>
          <p:nvPr/>
        </p:nvSpPr>
        <p:spPr>
          <a:xfrm>
            <a:off x="5707528" y="6099722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字方塊 55"/>
          <p:cNvSpPr txBox="1"/>
          <p:nvPr/>
        </p:nvSpPr>
        <p:spPr>
          <a:xfrm>
            <a:off x="9543601" y="4029933"/>
            <a:ext cx="1614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字方塊 8"/>
          <p:cNvSpPr txBox="1"/>
          <p:nvPr/>
        </p:nvSpPr>
        <p:spPr>
          <a:xfrm>
            <a:off x="7240566" y="3190045"/>
            <a:ext cx="3292007" cy="830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卷积大大减少了模型所需学习的参数量！！！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椭圆形标注 77"/>
          <p:cNvSpPr/>
          <p:nvPr/>
        </p:nvSpPr>
        <p:spPr>
          <a:xfrm>
            <a:off x="8815013" y="1239987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圆角矩形标注 78"/>
          <p:cNvSpPr/>
          <p:nvPr/>
        </p:nvSpPr>
        <p:spPr>
          <a:xfrm>
            <a:off x="7951707" y="557448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24597" y="1962603"/>
            <a:ext cx="50100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计算机如何能知道图上有什么物体？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检测图像的边缘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r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卷积计算 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特征抽取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068122" y="3711657"/>
            <a:ext cx="2890428" cy="2349004"/>
            <a:chOff x="5331810" y="656116"/>
            <a:chExt cx="3054801" cy="2505350"/>
          </a:xfrm>
        </p:grpSpPr>
        <p:sp>
          <p:nvSpPr>
            <p:cNvPr id="6" name="椭圆 5"/>
            <p:cNvSpPr/>
            <p:nvPr/>
          </p:nvSpPr>
          <p:spPr>
            <a:xfrm>
              <a:off x="5975921" y="1274953"/>
              <a:ext cx="2410690" cy="8497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927" t="27740" r="68140" b="38441"/>
            <a:stretch>
              <a:fillRect/>
            </a:stretch>
          </p:blipFill>
          <p:spPr>
            <a:xfrm>
              <a:off x="6319731" y="656116"/>
              <a:ext cx="1723070" cy="104371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439" r="10628" b="52025"/>
            <a:stretch>
              <a:fillRect/>
            </a:stretch>
          </p:blipFill>
          <p:spPr>
            <a:xfrm>
              <a:off x="5331810" y="1680887"/>
              <a:ext cx="1723070" cy="1480579"/>
            </a:xfrm>
            <a:prstGeom prst="rect">
              <a:avLst/>
            </a:prstGeom>
          </p:spPr>
        </p:pic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020983" y="3924064"/>
          <a:ext cx="2508648" cy="220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679408" y="5018548"/>
          <a:ext cx="1254324" cy="110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081807" y="4646354"/>
          <a:ext cx="1723070" cy="1470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8" name="直接连接符 17"/>
          <p:cNvCxnSpPr/>
          <p:nvPr/>
        </p:nvCxnSpPr>
        <p:spPr>
          <a:xfrm>
            <a:off x="7244090" y="3702779"/>
            <a:ext cx="0" cy="2366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459764" y="3357697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灰度图像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00009" y="4195729"/>
            <a:ext cx="15015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垂直边缘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滤波器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19781" y="4059765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结果图像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3976" y="1460040"/>
            <a:ext cx="7538913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卷积的直觉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73" y="1487166"/>
            <a:ext cx="517314" cy="51731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821010" y="1319952"/>
            <a:ext cx="3848555" cy="2037745"/>
            <a:chOff x="8241875" y="166309"/>
            <a:chExt cx="3848555" cy="2037745"/>
          </a:xfrm>
        </p:grpSpPr>
        <p:sp>
          <p:nvSpPr>
            <p:cNvPr id="30" name="矩形 29"/>
            <p:cNvSpPr/>
            <p:nvPr/>
          </p:nvSpPr>
          <p:spPr>
            <a:xfrm>
              <a:off x="8241875" y="1722191"/>
              <a:ext cx="3792260" cy="481863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卷积：抽取局部模式</a:t>
              </a:r>
              <a:endPara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241875" y="166309"/>
              <a:ext cx="3848555" cy="1647433"/>
              <a:chOff x="1462284" y="1492551"/>
              <a:chExt cx="4179411" cy="2034632"/>
            </a:xfrm>
          </p:grpSpPr>
          <p:pic>
            <p:nvPicPr>
              <p:cNvPr id="25" name="Picture 2" descr="https://timgsa.baidu.com/timg?image&amp;quality=80&amp;size=b9999_10000&amp;sec=1542672967778&amp;di=e34b2d2284f82f3ebe43fb3de01eeb6a&amp;imgtype=0&amp;src=http%3A%2F%2Fdingyue.nosdn.127.net%2FvyO3TsRCL5ZPwISKJ6fx9ZQUxe5u0u3cwNWsgeeEbMwDI1540729733639compressflag.jpg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48" r="15923"/>
              <a:stretch>
                <a:fillRect/>
              </a:stretch>
            </p:blipFill>
            <p:spPr bwMode="auto">
              <a:xfrm>
                <a:off x="1462284" y="1492551"/>
                <a:ext cx="1956900" cy="2034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矩形 25"/>
              <p:cNvSpPr/>
              <p:nvPr/>
            </p:nvSpPr>
            <p:spPr>
              <a:xfrm>
                <a:off x="1963870" y="2047751"/>
                <a:ext cx="953729" cy="924232"/>
              </a:xfrm>
              <a:prstGeom prst="rect">
                <a:avLst/>
              </a:prstGeom>
              <a:noFill/>
              <a:ln w="4762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3684795" y="1492551"/>
                <a:ext cx="1956900" cy="2034632"/>
                <a:chOff x="1462285" y="3793300"/>
                <a:chExt cx="1956900" cy="2034632"/>
              </a:xfrm>
            </p:grpSpPr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17751" t="8781" r="2961" b="8781"/>
                <a:stretch>
                  <a:fillRect/>
                </a:stretch>
              </p:blipFill>
              <p:spPr>
                <a:xfrm>
                  <a:off x="1462285" y="3793300"/>
                  <a:ext cx="1956900" cy="2034632"/>
                </a:xfrm>
                <a:prstGeom prst="rect">
                  <a:avLst/>
                </a:prstGeom>
              </p:spPr>
            </p:pic>
            <p:sp>
              <p:nvSpPr>
                <p:cNvPr id="29" name="矩形 28"/>
                <p:cNvSpPr/>
                <p:nvPr/>
              </p:nvSpPr>
              <p:spPr>
                <a:xfrm>
                  <a:off x="2404321" y="4810658"/>
                  <a:ext cx="953729" cy="924232"/>
                </a:xfrm>
                <a:prstGeom prst="rect">
                  <a:avLst/>
                </a:prstGeom>
                <a:noFill/>
                <a:ln w="47625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31" name="矩形 30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</p:spTree>
    <p:extLst>
      <p:ext uri="{BB962C8B-B14F-4D97-AF65-F5344CB8AC3E}">
        <p14:creationId xmlns:p14="http://schemas.microsoft.com/office/powerpoint/2010/main" val="4148760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9990977" y="2702056"/>
            <a:ext cx="719928" cy="1254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990019" y="750703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617805" y="2083716"/>
            <a:ext cx="719928" cy="25025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588727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6592" y="1468591"/>
            <a:ext cx="275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77353" y="340794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500519" y="3375508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47529" y="330955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56670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15401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74584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35907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494638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53821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79901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38632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197815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橢圓 17"/>
          <p:cNvSpPr/>
          <p:nvPr/>
        </p:nvSpPr>
        <p:spPr>
          <a:xfrm>
            <a:off x="8705611" y="3956772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橢圓 17"/>
          <p:cNvSpPr/>
          <p:nvPr/>
        </p:nvSpPr>
        <p:spPr>
          <a:xfrm>
            <a:off x="8716763" y="2189084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橢圓 18"/>
          <p:cNvSpPr/>
          <p:nvPr/>
        </p:nvSpPr>
        <p:spPr>
          <a:xfrm>
            <a:off x="8718855" y="2776396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橢圓 19"/>
          <p:cNvSpPr/>
          <p:nvPr/>
        </p:nvSpPr>
        <p:spPr>
          <a:xfrm>
            <a:off x="8708463" y="3368220"/>
            <a:ext cx="512898" cy="51297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橢圓 18"/>
          <p:cNvSpPr/>
          <p:nvPr/>
        </p:nvSpPr>
        <p:spPr>
          <a:xfrm>
            <a:off x="10082833" y="2776396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橢圓 19"/>
          <p:cNvSpPr/>
          <p:nvPr/>
        </p:nvSpPr>
        <p:spPr>
          <a:xfrm>
            <a:off x="10072441" y="3368220"/>
            <a:ext cx="512898" cy="5129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箭头连接符 48"/>
          <p:cNvCxnSpPr>
            <a:stCxn id="51" idx="6"/>
            <a:endCxn id="55" idx="2"/>
          </p:cNvCxnSpPr>
          <p:nvPr/>
        </p:nvCxnSpPr>
        <p:spPr>
          <a:xfrm>
            <a:off x="7576419" y="1055502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52" idx="6"/>
            <a:endCxn id="55" idx="2"/>
          </p:cNvCxnSpPr>
          <p:nvPr/>
        </p:nvCxnSpPr>
        <p:spPr>
          <a:xfrm>
            <a:off x="7578511" y="1642814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>
            <a:stCxn id="45" idx="6"/>
            <a:endCxn id="55" idx="2"/>
          </p:cNvCxnSpPr>
          <p:nvPr/>
        </p:nvCxnSpPr>
        <p:spPr>
          <a:xfrm flipV="1">
            <a:off x="7565267" y="2445570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46" idx="6"/>
            <a:endCxn id="55" idx="2"/>
          </p:cNvCxnSpPr>
          <p:nvPr/>
        </p:nvCxnSpPr>
        <p:spPr>
          <a:xfrm flipV="1">
            <a:off x="7567359" y="2445570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55" idx="6"/>
            <a:endCxn id="60" idx="2"/>
          </p:cNvCxnSpPr>
          <p:nvPr/>
        </p:nvCxnSpPr>
        <p:spPr>
          <a:xfrm>
            <a:off x="9229661" y="2445570"/>
            <a:ext cx="853172" cy="587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/>
          <p:cNvCxnSpPr>
            <a:stCxn id="56" idx="6"/>
            <a:endCxn id="60" idx="2"/>
          </p:cNvCxnSpPr>
          <p:nvPr/>
        </p:nvCxnSpPr>
        <p:spPr>
          <a:xfrm>
            <a:off x="9231753" y="3032882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>
            <a:stCxn id="57" idx="6"/>
            <a:endCxn id="60" idx="2"/>
          </p:cNvCxnSpPr>
          <p:nvPr/>
        </p:nvCxnSpPr>
        <p:spPr>
          <a:xfrm flipV="1">
            <a:off x="9221361" y="3032882"/>
            <a:ext cx="861472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54" idx="6"/>
            <a:endCxn id="60" idx="2"/>
          </p:cNvCxnSpPr>
          <p:nvPr/>
        </p:nvCxnSpPr>
        <p:spPr>
          <a:xfrm flipV="1">
            <a:off x="9218509" y="3032882"/>
            <a:ext cx="864324" cy="1180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/>
          <p:cNvCxnSpPr>
            <a:stCxn id="55" idx="6"/>
            <a:endCxn id="61" idx="2"/>
          </p:cNvCxnSpPr>
          <p:nvPr/>
        </p:nvCxnSpPr>
        <p:spPr>
          <a:xfrm>
            <a:off x="9229661" y="2445570"/>
            <a:ext cx="842780" cy="1179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>
            <a:stCxn id="56" idx="6"/>
            <a:endCxn id="61" idx="2"/>
          </p:cNvCxnSpPr>
          <p:nvPr/>
        </p:nvCxnSpPr>
        <p:spPr>
          <a:xfrm>
            <a:off x="9231753" y="3032882"/>
            <a:ext cx="840688" cy="591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57" idx="6"/>
            <a:endCxn id="61" idx="2"/>
          </p:cNvCxnSpPr>
          <p:nvPr/>
        </p:nvCxnSpPr>
        <p:spPr>
          <a:xfrm>
            <a:off x="9221361" y="3624706"/>
            <a:ext cx="851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>
            <a:stCxn id="54" idx="6"/>
            <a:endCxn id="61" idx="2"/>
          </p:cNvCxnSpPr>
          <p:nvPr/>
        </p:nvCxnSpPr>
        <p:spPr>
          <a:xfrm flipV="1">
            <a:off x="9218509" y="3624706"/>
            <a:ext cx="853932" cy="58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>
            <a:stCxn id="52" idx="6"/>
            <a:endCxn id="56" idx="2"/>
          </p:cNvCxnSpPr>
          <p:nvPr/>
        </p:nvCxnSpPr>
        <p:spPr>
          <a:xfrm>
            <a:off x="7578511" y="1642814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>
            <a:stCxn id="53" idx="6"/>
            <a:endCxn id="56" idx="2"/>
          </p:cNvCxnSpPr>
          <p:nvPr/>
        </p:nvCxnSpPr>
        <p:spPr>
          <a:xfrm>
            <a:off x="7568119" y="2234638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>
            <a:stCxn id="46" idx="6"/>
            <a:endCxn id="56" idx="2"/>
          </p:cNvCxnSpPr>
          <p:nvPr/>
        </p:nvCxnSpPr>
        <p:spPr>
          <a:xfrm flipV="1">
            <a:off x="7567359" y="3032882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>
            <a:stCxn id="47" idx="6"/>
            <a:endCxn id="56" idx="2"/>
          </p:cNvCxnSpPr>
          <p:nvPr/>
        </p:nvCxnSpPr>
        <p:spPr>
          <a:xfrm flipV="1">
            <a:off x="7556967" y="3032882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>
            <a:stCxn id="46" idx="6"/>
            <a:endCxn id="57" idx="2"/>
          </p:cNvCxnSpPr>
          <p:nvPr/>
        </p:nvCxnSpPr>
        <p:spPr>
          <a:xfrm>
            <a:off x="7567359" y="3410502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>
            <a:stCxn id="45" idx="6"/>
            <a:endCxn id="57" idx="2"/>
          </p:cNvCxnSpPr>
          <p:nvPr/>
        </p:nvCxnSpPr>
        <p:spPr>
          <a:xfrm>
            <a:off x="7565267" y="2823190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>
            <a:stCxn id="49" idx="6"/>
            <a:endCxn id="57" idx="2"/>
          </p:cNvCxnSpPr>
          <p:nvPr/>
        </p:nvCxnSpPr>
        <p:spPr>
          <a:xfrm flipV="1">
            <a:off x="7575659" y="3624706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/>
          <p:cNvCxnSpPr>
            <a:stCxn id="48" idx="6"/>
            <a:endCxn id="57" idx="2"/>
          </p:cNvCxnSpPr>
          <p:nvPr/>
        </p:nvCxnSpPr>
        <p:spPr>
          <a:xfrm flipV="1">
            <a:off x="7573567" y="3624706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7574647" y="3997814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/>
          <p:nvPr/>
        </p:nvCxnSpPr>
        <p:spPr>
          <a:xfrm>
            <a:off x="7572555" y="3410502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/>
          <p:cNvCxnSpPr/>
          <p:nvPr/>
        </p:nvCxnSpPr>
        <p:spPr>
          <a:xfrm flipV="1">
            <a:off x="7582947" y="4212018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V="1">
            <a:off x="7580855" y="4212018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825789" y="20117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全连接</a:t>
            </a:r>
          </a:p>
        </p:txBody>
      </p:sp>
      <p:cxnSp>
        <p:nvCxnSpPr>
          <p:cNvPr id="14" name="直线箭头连接符 13"/>
          <p:cNvCxnSpPr>
            <a:stCxn id="11" idx="1"/>
          </p:cNvCxnSpPr>
          <p:nvPr/>
        </p:nvCxnSpPr>
        <p:spPr>
          <a:xfrm flipH="1">
            <a:off x="9652097" y="2196438"/>
            <a:ext cx="173692" cy="4373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1665" y="4853793"/>
            <a:ext cx="899000" cy="1078799"/>
          </a:xfrm>
          <a:prstGeom prst="rect">
            <a:avLst/>
          </a:prstGeom>
          <a:noFill/>
        </p:spPr>
      </p:pic>
      <p:sp>
        <p:nvSpPr>
          <p:cNvPr id="82" name="矩形 81"/>
          <p:cNvSpPr/>
          <p:nvPr/>
        </p:nvSpPr>
        <p:spPr>
          <a:xfrm>
            <a:off x="2173302" y="4851441"/>
            <a:ext cx="40944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单个卷积核只能提取单一特征，如何利用卷积核提取更复杂的特征？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87310" y="614624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83" name="组 82"/>
          <p:cNvGrpSpPr/>
          <p:nvPr/>
        </p:nvGrpSpPr>
        <p:grpSpPr>
          <a:xfrm>
            <a:off x="8749563" y="2235013"/>
            <a:ext cx="533998" cy="2163286"/>
            <a:chOff x="8749563" y="2449329"/>
            <a:chExt cx="533998" cy="2163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/>
                <p:cNvSpPr/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矩形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544" y="2449329"/>
                  <a:ext cx="510204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/>
                <p:cNvSpPr/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矩形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037506"/>
                  <a:ext cx="516167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/>
                <p:cNvSpPr/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矩形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563" y="3628380"/>
                  <a:ext cx="516167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矩形 86"/>
                <p:cNvSpPr/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矩形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359" y="4212505"/>
                  <a:ext cx="505202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 87"/>
          <p:cNvGrpSpPr/>
          <p:nvPr/>
        </p:nvGrpSpPr>
        <p:grpSpPr>
          <a:xfrm>
            <a:off x="10138075" y="2799740"/>
            <a:ext cx="504213" cy="997074"/>
            <a:chOff x="10138075" y="3014056"/>
            <a:chExt cx="504213" cy="99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/>
                <p:cNvSpPr/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矩形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48" y="3014056"/>
                  <a:ext cx="490840" cy="40011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 89"/>
                <p:cNvSpPr/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矩形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075" y="3611020"/>
                  <a:ext cx="496803" cy="40011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2" name="文字方塊 55"/>
          <p:cNvSpPr txBox="1"/>
          <p:nvPr/>
        </p:nvSpPr>
        <p:spPr>
          <a:xfrm>
            <a:off x="3218943" y="281866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字方塊 55"/>
          <p:cNvSpPr txBox="1"/>
          <p:nvPr/>
        </p:nvSpPr>
        <p:spPr>
          <a:xfrm>
            <a:off x="4193380" y="282023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字方塊 55"/>
          <p:cNvSpPr txBox="1"/>
          <p:nvPr/>
        </p:nvSpPr>
        <p:spPr>
          <a:xfrm>
            <a:off x="7715512" y="4608550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字方塊 55"/>
          <p:cNvSpPr txBox="1"/>
          <p:nvPr/>
        </p:nvSpPr>
        <p:spPr>
          <a:xfrm>
            <a:off x="5707528" y="6056859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字方塊 55"/>
          <p:cNvSpPr txBox="1"/>
          <p:nvPr/>
        </p:nvSpPr>
        <p:spPr>
          <a:xfrm>
            <a:off x="9543601" y="4044221"/>
            <a:ext cx="1614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椭圆形标注 77"/>
          <p:cNvSpPr/>
          <p:nvPr/>
        </p:nvSpPr>
        <p:spPr>
          <a:xfrm>
            <a:off x="8815013" y="1254275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圆角矩形标注 78"/>
          <p:cNvSpPr/>
          <p:nvPr/>
        </p:nvSpPr>
        <p:spPr>
          <a:xfrm>
            <a:off x="7951707" y="571736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/>
        </p:nvGrpSpPr>
        <p:grpSpPr>
          <a:xfrm>
            <a:off x="8617805" y="2140866"/>
            <a:ext cx="722759" cy="2502568"/>
            <a:chOff x="8617805" y="2298032"/>
            <a:chExt cx="722759" cy="2502568"/>
          </a:xfrm>
        </p:grpSpPr>
        <p:grpSp>
          <p:nvGrpSpPr>
            <p:cNvPr id="84" name="组 83"/>
            <p:cNvGrpSpPr/>
            <p:nvPr/>
          </p:nvGrpSpPr>
          <p:grpSpPr>
            <a:xfrm>
              <a:off x="8617805" y="2298032"/>
              <a:ext cx="719928" cy="2502568"/>
              <a:chOff x="8617805" y="2298032"/>
              <a:chExt cx="719928" cy="2502568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8617805" y="2298032"/>
                <a:ext cx="719928" cy="25025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7" name="橢圓 17"/>
              <p:cNvSpPr/>
              <p:nvPr/>
            </p:nvSpPr>
            <p:spPr>
              <a:xfrm>
                <a:off x="8705611" y="4171088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橢圓 17"/>
              <p:cNvSpPr/>
              <p:nvPr/>
            </p:nvSpPr>
            <p:spPr>
              <a:xfrm>
                <a:off x="8716763" y="2403400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橢圓 18"/>
              <p:cNvSpPr/>
              <p:nvPr/>
            </p:nvSpPr>
            <p:spPr>
              <a:xfrm>
                <a:off x="8718855" y="2990712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橢圓 19"/>
              <p:cNvSpPr/>
              <p:nvPr/>
            </p:nvSpPr>
            <p:spPr>
              <a:xfrm>
                <a:off x="8708463" y="3582536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9" name="组 88"/>
            <p:cNvGrpSpPr/>
            <p:nvPr/>
          </p:nvGrpSpPr>
          <p:grpSpPr>
            <a:xfrm>
              <a:off x="8698042" y="2449329"/>
              <a:ext cx="642522" cy="2163286"/>
              <a:chOff x="8698042" y="2449329"/>
              <a:chExt cx="642522" cy="21632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矩形 89"/>
                  <p:cNvSpPr/>
                  <p:nvPr/>
                </p:nvSpPr>
                <p:spPr>
                  <a:xfrm>
                    <a:off x="8698042" y="2449329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0" name="矩形 8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2" y="2449329"/>
                    <a:ext cx="619208" cy="40011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矩形 90"/>
                  <p:cNvSpPr/>
                  <p:nvPr/>
                </p:nvSpPr>
                <p:spPr>
                  <a:xfrm>
                    <a:off x="8698043" y="3037506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1" name="矩形 9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3" y="3037506"/>
                    <a:ext cx="619208" cy="40011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矩形 91"/>
                  <p:cNvSpPr/>
                  <p:nvPr/>
                </p:nvSpPr>
                <p:spPr>
                  <a:xfrm>
                    <a:off x="8698043" y="3628380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2" name="矩形 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3" y="3628380"/>
                    <a:ext cx="619208" cy="40011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矩形 92"/>
                  <p:cNvSpPr/>
                  <p:nvPr/>
                </p:nvSpPr>
                <p:spPr>
                  <a:xfrm>
                    <a:off x="8721356" y="4212505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3" name="矩形 9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1356" y="4212505"/>
                    <a:ext cx="619208" cy="400110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5" name="矩形 74"/>
          <p:cNvSpPr/>
          <p:nvPr/>
        </p:nvSpPr>
        <p:spPr>
          <a:xfrm>
            <a:off x="6990019" y="807853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588727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2422" y="1474349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23005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5678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53946" y="248050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477112" y="239907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477112" y="239907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24122" y="238211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24122" y="238211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62385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21116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80299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41622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500353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59536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85616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44347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203530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970326" y="5149293"/>
            <a:ext cx="59111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一个卷积核可以提取图像的一种特征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560294" y="33723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表格 81"/>
              <p:cNvGraphicFramePr>
                <a:graphicFrameLocks noGrp="1"/>
              </p:cNvGraphicFramePr>
              <p:nvPr/>
            </p:nvGraphicFramePr>
            <p:xfrm>
              <a:off x="3483460" y="3290944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表格 81"/>
              <p:cNvGraphicFramePr>
                <a:graphicFrameLocks noGrp="1"/>
              </p:cNvGraphicFramePr>
              <p:nvPr/>
            </p:nvGraphicFramePr>
            <p:xfrm>
              <a:off x="3483460" y="3290944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5330470" y="327398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5330470" y="327398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5" name="文本框 84"/>
          <p:cNvSpPr txBox="1"/>
          <p:nvPr/>
        </p:nvSpPr>
        <p:spPr>
          <a:xfrm>
            <a:off x="4562842" y="42606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表格 85"/>
              <p:cNvGraphicFramePr>
                <a:graphicFrameLocks noGrp="1"/>
              </p:cNvGraphicFramePr>
              <p:nvPr/>
            </p:nvGraphicFramePr>
            <p:xfrm>
              <a:off x="3486008" y="417922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表格 85"/>
              <p:cNvGraphicFramePr>
                <a:graphicFrameLocks noGrp="1"/>
              </p:cNvGraphicFramePr>
              <p:nvPr/>
            </p:nvGraphicFramePr>
            <p:xfrm>
              <a:off x="3486008" y="417922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7" name="表格 86"/>
              <p:cNvGraphicFramePr>
                <a:graphicFrameLocks noGrp="1"/>
              </p:cNvGraphicFramePr>
              <p:nvPr/>
            </p:nvGraphicFramePr>
            <p:xfrm>
              <a:off x="5333018" y="4162260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7" name="表格 86"/>
              <p:cNvGraphicFramePr>
                <a:graphicFrameLocks noGrp="1"/>
              </p:cNvGraphicFramePr>
              <p:nvPr/>
            </p:nvGraphicFramePr>
            <p:xfrm>
              <a:off x="5333018" y="4162260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0" name="矩形 19"/>
          <p:cNvSpPr/>
          <p:nvPr/>
        </p:nvSpPr>
        <p:spPr>
          <a:xfrm>
            <a:off x="943822" y="5647001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多个卷积核提取多种特征。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 16"/>
          <p:cNvGrpSpPr/>
          <p:nvPr/>
        </p:nvGrpSpPr>
        <p:grpSpPr>
          <a:xfrm>
            <a:off x="7556967" y="1112652"/>
            <a:ext cx="1161888" cy="4759498"/>
            <a:chOff x="7556967" y="1269818"/>
            <a:chExt cx="1161888" cy="4759498"/>
          </a:xfrm>
        </p:grpSpPr>
        <p:cxnSp>
          <p:nvCxnSpPr>
            <p:cNvPr id="101" name="直线箭头连接符 100"/>
            <p:cNvCxnSpPr/>
            <p:nvPr/>
          </p:nvCxnSpPr>
          <p:spPr>
            <a:xfrm>
              <a:off x="7576419" y="1269818"/>
              <a:ext cx="1140344" cy="13900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箭头连接符 101"/>
            <p:cNvCxnSpPr/>
            <p:nvPr/>
          </p:nvCxnSpPr>
          <p:spPr>
            <a:xfrm>
              <a:off x="7578511" y="1857130"/>
              <a:ext cx="1138252" cy="8027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箭头连接符 102"/>
            <p:cNvCxnSpPr/>
            <p:nvPr/>
          </p:nvCxnSpPr>
          <p:spPr>
            <a:xfrm flipV="1">
              <a:off x="7565267" y="2659886"/>
              <a:ext cx="1151496" cy="3776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箭头连接符 103"/>
            <p:cNvCxnSpPr/>
            <p:nvPr/>
          </p:nvCxnSpPr>
          <p:spPr>
            <a:xfrm flipV="1">
              <a:off x="7567359" y="2659886"/>
              <a:ext cx="1149404" cy="964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箭头连接符 104"/>
            <p:cNvCxnSpPr/>
            <p:nvPr/>
          </p:nvCxnSpPr>
          <p:spPr>
            <a:xfrm>
              <a:off x="7578511" y="1857130"/>
              <a:ext cx="1140344" cy="13900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105"/>
            <p:cNvCxnSpPr/>
            <p:nvPr/>
          </p:nvCxnSpPr>
          <p:spPr>
            <a:xfrm>
              <a:off x="7568119" y="2448954"/>
              <a:ext cx="1150736" cy="7982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/>
            <p:cNvCxnSpPr/>
            <p:nvPr/>
          </p:nvCxnSpPr>
          <p:spPr>
            <a:xfrm flipV="1">
              <a:off x="7567359" y="3247198"/>
              <a:ext cx="1151496" cy="3776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107"/>
            <p:cNvCxnSpPr/>
            <p:nvPr/>
          </p:nvCxnSpPr>
          <p:spPr>
            <a:xfrm flipV="1">
              <a:off x="7556967" y="3247198"/>
              <a:ext cx="1161888" cy="9694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箭头连接符 108"/>
            <p:cNvCxnSpPr/>
            <p:nvPr/>
          </p:nvCxnSpPr>
          <p:spPr>
            <a:xfrm>
              <a:off x="7567359" y="3624818"/>
              <a:ext cx="1141104" cy="214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箭头连接符 109"/>
            <p:cNvCxnSpPr/>
            <p:nvPr/>
          </p:nvCxnSpPr>
          <p:spPr>
            <a:xfrm>
              <a:off x="7565267" y="3037506"/>
              <a:ext cx="1143196" cy="801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线箭头连接符 110"/>
            <p:cNvCxnSpPr/>
            <p:nvPr/>
          </p:nvCxnSpPr>
          <p:spPr>
            <a:xfrm flipV="1">
              <a:off x="7575659" y="3839022"/>
              <a:ext cx="1132804" cy="15781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线箭头连接符 111"/>
            <p:cNvCxnSpPr/>
            <p:nvPr/>
          </p:nvCxnSpPr>
          <p:spPr>
            <a:xfrm flipV="1">
              <a:off x="7573567" y="3839022"/>
              <a:ext cx="1134896" cy="9908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线箭头连接符 112"/>
            <p:cNvCxnSpPr/>
            <p:nvPr/>
          </p:nvCxnSpPr>
          <p:spPr>
            <a:xfrm>
              <a:off x="7574647" y="4212130"/>
              <a:ext cx="1141104" cy="214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箭头连接符 113"/>
            <p:cNvCxnSpPr/>
            <p:nvPr/>
          </p:nvCxnSpPr>
          <p:spPr>
            <a:xfrm>
              <a:off x="7572555" y="3624818"/>
              <a:ext cx="1143196" cy="801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箭头连接符 114"/>
            <p:cNvCxnSpPr/>
            <p:nvPr/>
          </p:nvCxnSpPr>
          <p:spPr>
            <a:xfrm flipV="1">
              <a:off x="7569955" y="4451148"/>
              <a:ext cx="1132804" cy="15781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箭头连接符 115"/>
            <p:cNvCxnSpPr/>
            <p:nvPr/>
          </p:nvCxnSpPr>
          <p:spPr>
            <a:xfrm flipV="1">
              <a:off x="7580855" y="4426334"/>
              <a:ext cx="1134896" cy="9908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椭圆形标注 131"/>
          <p:cNvSpPr/>
          <p:nvPr/>
        </p:nvSpPr>
        <p:spPr>
          <a:xfrm>
            <a:off x="8815013" y="1311425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587310" y="614624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14" name="组 13"/>
          <p:cNvGrpSpPr/>
          <p:nvPr/>
        </p:nvGrpSpPr>
        <p:grpSpPr>
          <a:xfrm>
            <a:off x="8847461" y="2398634"/>
            <a:ext cx="648485" cy="2280660"/>
            <a:chOff x="8847461" y="2555800"/>
            <a:chExt cx="648485" cy="2280660"/>
          </a:xfrm>
        </p:grpSpPr>
        <p:grpSp>
          <p:nvGrpSpPr>
            <p:cNvPr id="122" name="组 121"/>
            <p:cNvGrpSpPr/>
            <p:nvPr/>
          </p:nvGrpSpPr>
          <p:grpSpPr>
            <a:xfrm>
              <a:off x="8858011" y="2555800"/>
              <a:ext cx="526142" cy="2280660"/>
              <a:chOff x="8858011" y="2555800"/>
              <a:chExt cx="526142" cy="2280660"/>
            </a:xfrm>
          </p:grpSpPr>
          <p:sp>
            <p:nvSpPr>
              <p:cNvPr id="123" name="橢圓 17"/>
              <p:cNvSpPr/>
              <p:nvPr/>
            </p:nvSpPr>
            <p:spPr>
              <a:xfrm>
                <a:off x="8858011" y="4323488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橢圓 17"/>
              <p:cNvSpPr/>
              <p:nvPr/>
            </p:nvSpPr>
            <p:spPr>
              <a:xfrm>
                <a:off x="8869163" y="2555800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橢圓 18"/>
              <p:cNvSpPr/>
              <p:nvPr/>
            </p:nvSpPr>
            <p:spPr>
              <a:xfrm>
                <a:off x="8871255" y="3143112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橢圓 19"/>
              <p:cNvSpPr/>
              <p:nvPr/>
            </p:nvSpPr>
            <p:spPr>
              <a:xfrm>
                <a:off x="8860863" y="3734936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矩形 118"/>
                <p:cNvSpPr/>
                <p:nvPr/>
              </p:nvSpPr>
              <p:spPr>
                <a:xfrm>
                  <a:off x="8847461" y="2601729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矩形 1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2601729"/>
                  <a:ext cx="625171" cy="40011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矩形 119"/>
                <p:cNvSpPr/>
                <p:nvPr/>
              </p:nvSpPr>
              <p:spPr>
                <a:xfrm>
                  <a:off x="8847461" y="3189906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0" name="矩形 1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3189906"/>
                  <a:ext cx="625171" cy="40011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/>
                <p:cNvSpPr/>
                <p:nvPr/>
              </p:nvSpPr>
              <p:spPr>
                <a:xfrm>
                  <a:off x="8847461" y="3780780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矩形 1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3780780"/>
                  <a:ext cx="625171" cy="40011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矩形 133"/>
                <p:cNvSpPr/>
                <p:nvPr/>
              </p:nvSpPr>
              <p:spPr>
                <a:xfrm>
                  <a:off x="8870775" y="4364905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4" name="矩形 1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0775" y="4364905"/>
                  <a:ext cx="625171" cy="400110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 14"/>
          <p:cNvGrpSpPr/>
          <p:nvPr/>
        </p:nvGrpSpPr>
        <p:grpSpPr>
          <a:xfrm>
            <a:off x="8999861" y="2551034"/>
            <a:ext cx="648485" cy="2280660"/>
            <a:chOff x="8999861" y="2708200"/>
            <a:chExt cx="648485" cy="2280660"/>
          </a:xfrm>
        </p:grpSpPr>
        <p:grpSp>
          <p:nvGrpSpPr>
            <p:cNvPr id="127" name="组 126"/>
            <p:cNvGrpSpPr/>
            <p:nvPr/>
          </p:nvGrpSpPr>
          <p:grpSpPr>
            <a:xfrm>
              <a:off x="9010411" y="2708200"/>
              <a:ext cx="526142" cy="2280660"/>
              <a:chOff x="9010411" y="2708200"/>
              <a:chExt cx="526142" cy="2280660"/>
            </a:xfrm>
          </p:grpSpPr>
          <p:sp>
            <p:nvSpPr>
              <p:cNvPr id="128" name="橢圓 17"/>
              <p:cNvSpPr/>
              <p:nvPr/>
            </p:nvSpPr>
            <p:spPr>
              <a:xfrm>
                <a:off x="9010411" y="4475888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橢圓 17"/>
              <p:cNvSpPr/>
              <p:nvPr/>
            </p:nvSpPr>
            <p:spPr>
              <a:xfrm>
                <a:off x="9021563" y="2708200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橢圓 18"/>
              <p:cNvSpPr/>
              <p:nvPr/>
            </p:nvSpPr>
            <p:spPr>
              <a:xfrm>
                <a:off x="9023655" y="3295512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橢圓 19"/>
              <p:cNvSpPr/>
              <p:nvPr/>
            </p:nvSpPr>
            <p:spPr>
              <a:xfrm>
                <a:off x="9013263" y="3887336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矩形 142"/>
                <p:cNvSpPr/>
                <p:nvPr/>
              </p:nvSpPr>
              <p:spPr>
                <a:xfrm>
                  <a:off x="8999861" y="2754129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矩形 1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2754129"/>
                  <a:ext cx="625171" cy="40011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矩形 143"/>
                <p:cNvSpPr/>
                <p:nvPr/>
              </p:nvSpPr>
              <p:spPr>
                <a:xfrm>
                  <a:off x="8999861" y="3342306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4" name="矩形 1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3342306"/>
                  <a:ext cx="625171" cy="400110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矩形 144"/>
                <p:cNvSpPr/>
                <p:nvPr/>
              </p:nvSpPr>
              <p:spPr>
                <a:xfrm>
                  <a:off x="8999861" y="3933180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矩形 1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3933180"/>
                  <a:ext cx="625171" cy="400110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矩形 145"/>
                <p:cNvSpPr/>
                <p:nvPr/>
              </p:nvSpPr>
              <p:spPr>
                <a:xfrm>
                  <a:off x="9023175" y="4517305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6" name="矩形 1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3175" y="4517305"/>
                  <a:ext cx="625171" cy="400110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5" name="文字方塊 55"/>
          <p:cNvSpPr txBox="1"/>
          <p:nvPr/>
        </p:nvSpPr>
        <p:spPr>
          <a:xfrm>
            <a:off x="3079026" y="1976233"/>
            <a:ext cx="140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字方塊 55"/>
          <p:cNvSpPr txBox="1"/>
          <p:nvPr/>
        </p:nvSpPr>
        <p:spPr>
          <a:xfrm>
            <a:off x="4174853" y="1977802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文字方塊 55"/>
          <p:cNvSpPr txBox="1"/>
          <p:nvPr/>
        </p:nvSpPr>
        <p:spPr>
          <a:xfrm>
            <a:off x="315087" y="281866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文字方塊 55"/>
          <p:cNvSpPr txBox="1"/>
          <p:nvPr/>
        </p:nvSpPr>
        <p:spPr>
          <a:xfrm>
            <a:off x="7734933" y="4859203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文字方塊 55"/>
          <p:cNvSpPr txBox="1"/>
          <p:nvPr/>
        </p:nvSpPr>
        <p:spPr>
          <a:xfrm>
            <a:off x="5707528" y="6142585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 17"/>
          <p:cNvGrpSpPr/>
          <p:nvPr/>
        </p:nvGrpSpPr>
        <p:grpSpPr>
          <a:xfrm>
            <a:off x="9523309" y="2068922"/>
            <a:ext cx="1634971" cy="2506286"/>
            <a:chOff x="9523309" y="2226088"/>
            <a:chExt cx="1634971" cy="2506286"/>
          </a:xfrm>
        </p:grpSpPr>
        <p:grpSp>
          <p:nvGrpSpPr>
            <p:cNvPr id="16" name="组 15"/>
            <p:cNvGrpSpPr/>
            <p:nvPr/>
          </p:nvGrpSpPr>
          <p:grpSpPr>
            <a:xfrm>
              <a:off x="9523309" y="2226088"/>
              <a:ext cx="1187596" cy="2506286"/>
              <a:chOff x="9523309" y="2226088"/>
              <a:chExt cx="1187596" cy="2506286"/>
            </a:xfrm>
          </p:grpSpPr>
          <p:grpSp>
            <p:nvGrpSpPr>
              <p:cNvPr id="148" name="组 147"/>
              <p:cNvGrpSpPr/>
              <p:nvPr/>
            </p:nvGrpSpPr>
            <p:grpSpPr>
              <a:xfrm>
                <a:off x="9523309" y="2226088"/>
                <a:ext cx="1187596" cy="2506286"/>
                <a:chOff x="9523309" y="2226088"/>
                <a:chExt cx="1187596" cy="2506286"/>
              </a:xfrm>
            </p:grpSpPr>
            <p:sp>
              <p:nvSpPr>
                <p:cNvPr id="149" name="矩形 148"/>
                <p:cNvSpPr/>
                <p:nvPr/>
              </p:nvSpPr>
              <p:spPr>
                <a:xfrm>
                  <a:off x="9990977" y="2916372"/>
                  <a:ext cx="719928" cy="1254716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0" name="橢圓 18"/>
                <p:cNvSpPr/>
                <p:nvPr/>
              </p:nvSpPr>
              <p:spPr>
                <a:xfrm>
                  <a:off x="10082833" y="2990712"/>
                  <a:ext cx="512898" cy="51297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1" name="橢圓 19"/>
                <p:cNvSpPr/>
                <p:nvPr/>
              </p:nvSpPr>
              <p:spPr>
                <a:xfrm>
                  <a:off x="10072441" y="3582536"/>
                  <a:ext cx="512898" cy="51297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2" name="文本框 151"/>
                <p:cNvSpPr txBox="1"/>
                <p:nvPr/>
              </p:nvSpPr>
              <p:spPr>
                <a:xfrm>
                  <a:off x="9825789" y="2226088"/>
                  <a:ext cx="877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全连接</a:t>
                  </a:r>
                </a:p>
              </p:txBody>
            </p:sp>
            <p:cxnSp>
              <p:nvCxnSpPr>
                <p:cNvPr id="153" name="直线箭头连接符 152"/>
                <p:cNvCxnSpPr/>
                <p:nvPr/>
              </p:nvCxnSpPr>
              <p:spPr>
                <a:xfrm flipH="1">
                  <a:off x="9652097" y="2410754"/>
                  <a:ext cx="173692" cy="4373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线箭头连接符 154"/>
                <p:cNvCxnSpPr/>
                <p:nvPr/>
              </p:nvCxnSpPr>
              <p:spPr>
                <a:xfrm>
                  <a:off x="9534461" y="2964686"/>
                  <a:ext cx="548372" cy="28251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线箭头连接符 155"/>
                <p:cNvCxnSpPr/>
                <p:nvPr/>
              </p:nvCxnSpPr>
              <p:spPr>
                <a:xfrm flipV="1">
                  <a:off x="9536553" y="3247198"/>
                  <a:ext cx="546280" cy="3048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线箭头连接符 156"/>
                <p:cNvCxnSpPr/>
                <p:nvPr/>
              </p:nvCxnSpPr>
              <p:spPr>
                <a:xfrm flipV="1">
                  <a:off x="9526161" y="3247198"/>
                  <a:ext cx="556672" cy="8966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线箭头连接符 157"/>
                <p:cNvCxnSpPr/>
                <p:nvPr/>
              </p:nvCxnSpPr>
              <p:spPr>
                <a:xfrm flipV="1">
                  <a:off x="9523309" y="3247198"/>
                  <a:ext cx="559524" cy="148517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线箭头连接符 158"/>
                <p:cNvCxnSpPr/>
                <p:nvPr/>
              </p:nvCxnSpPr>
              <p:spPr>
                <a:xfrm>
                  <a:off x="9534461" y="2964686"/>
                  <a:ext cx="537980" cy="87433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线箭头连接符 159"/>
                <p:cNvCxnSpPr/>
                <p:nvPr/>
              </p:nvCxnSpPr>
              <p:spPr>
                <a:xfrm>
                  <a:off x="9536553" y="3551998"/>
                  <a:ext cx="535888" cy="287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线箭头连接符 160"/>
                <p:cNvCxnSpPr/>
                <p:nvPr/>
              </p:nvCxnSpPr>
              <p:spPr>
                <a:xfrm flipV="1">
                  <a:off x="9526161" y="3839022"/>
                  <a:ext cx="546280" cy="3048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线箭头连接符 161"/>
                <p:cNvCxnSpPr/>
                <p:nvPr/>
              </p:nvCxnSpPr>
              <p:spPr>
                <a:xfrm flipV="1">
                  <a:off x="9523309" y="3839022"/>
                  <a:ext cx="549132" cy="89335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 93"/>
              <p:cNvGrpSpPr/>
              <p:nvPr/>
            </p:nvGrpSpPr>
            <p:grpSpPr>
              <a:xfrm>
                <a:off x="10138075" y="3014056"/>
                <a:ext cx="504213" cy="997074"/>
                <a:chOff x="10138075" y="3014056"/>
                <a:chExt cx="504213" cy="99707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矩形 94"/>
                    <p:cNvSpPr/>
                    <p:nvPr/>
                  </p:nvSpPr>
                  <p:spPr>
                    <a:xfrm>
                      <a:off x="10151448" y="3014056"/>
                      <a:ext cx="490840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5" name="矩形 9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51448" y="3014056"/>
                      <a:ext cx="490840" cy="400110"/>
                    </a:xfrm>
                    <a:prstGeom prst="rect">
                      <a:avLst/>
                    </a:prstGeom>
                    <a:blipFill rotWithShape="1">
                      <a:blip r:embed="rId20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矩形 116"/>
                    <p:cNvSpPr/>
                    <p:nvPr/>
                  </p:nvSpPr>
                  <p:spPr>
                    <a:xfrm>
                      <a:off x="10138075" y="3611020"/>
                      <a:ext cx="496803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17" name="矩形 1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38075" y="3611020"/>
                      <a:ext cx="496803" cy="400110"/>
                    </a:xfrm>
                    <a:prstGeom prst="rect">
                      <a:avLst/>
                    </a:prstGeom>
                    <a:blipFill rotWithShape="1">
                      <a:blip r:embed="rId21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73" name="文字方塊 55"/>
            <p:cNvSpPr txBox="1"/>
            <p:nvPr/>
          </p:nvSpPr>
          <p:spPr>
            <a:xfrm>
              <a:off x="9543601" y="4258537"/>
              <a:ext cx="16146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</a:t>
              </a:r>
              <a:endParaRPr lang="zh-TW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8" name="圆角矩形标注 117"/>
          <p:cNvSpPr/>
          <p:nvPr/>
        </p:nvSpPr>
        <p:spPr>
          <a:xfrm>
            <a:off x="7951707" y="628886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4" grpId="0"/>
      <p:bldP spid="81" grpId="0"/>
      <p:bldP spid="85" grpId="0"/>
      <p:bldP spid="20" grpId="0"/>
      <p:bldP spid="132" grpId="0" animBg="1"/>
      <p:bldP spid="165" grpId="0"/>
      <p:bldP spid="166" grpId="0"/>
      <p:bldP spid="171" grpId="0"/>
      <p:bldP spid="11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/>
        </p:nvGrpSpPr>
        <p:grpSpPr>
          <a:xfrm>
            <a:off x="8617805" y="1983702"/>
            <a:ext cx="722759" cy="2502568"/>
            <a:chOff x="8617805" y="2298032"/>
            <a:chExt cx="722759" cy="2502568"/>
          </a:xfrm>
        </p:grpSpPr>
        <p:grpSp>
          <p:nvGrpSpPr>
            <p:cNvPr id="84" name="组 83"/>
            <p:cNvGrpSpPr/>
            <p:nvPr/>
          </p:nvGrpSpPr>
          <p:grpSpPr>
            <a:xfrm>
              <a:off x="8617805" y="2298032"/>
              <a:ext cx="719928" cy="2502568"/>
              <a:chOff x="8617805" y="2298032"/>
              <a:chExt cx="719928" cy="2502568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8617805" y="2298032"/>
                <a:ext cx="719928" cy="25025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7" name="橢圓 17"/>
              <p:cNvSpPr/>
              <p:nvPr/>
            </p:nvSpPr>
            <p:spPr>
              <a:xfrm>
                <a:off x="8705611" y="4171088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橢圓 17"/>
              <p:cNvSpPr/>
              <p:nvPr/>
            </p:nvSpPr>
            <p:spPr>
              <a:xfrm>
                <a:off x="8716763" y="2403400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橢圓 18"/>
              <p:cNvSpPr/>
              <p:nvPr/>
            </p:nvSpPr>
            <p:spPr>
              <a:xfrm>
                <a:off x="8718855" y="2990712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橢圓 19"/>
              <p:cNvSpPr/>
              <p:nvPr/>
            </p:nvSpPr>
            <p:spPr>
              <a:xfrm>
                <a:off x="8708463" y="3582536"/>
                <a:ext cx="512898" cy="51297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9" name="组 88"/>
            <p:cNvGrpSpPr/>
            <p:nvPr/>
          </p:nvGrpSpPr>
          <p:grpSpPr>
            <a:xfrm>
              <a:off x="8698042" y="2449329"/>
              <a:ext cx="642522" cy="2163286"/>
              <a:chOff x="8698042" y="2449329"/>
              <a:chExt cx="642522" cy="21632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矩形 89"/>
                  <p:cNvSpPr/>
                  <p:nvPr/>
                </p:nvSpPr>
                <p:spPr>
                  <a:xfrm>
                    <a:off x="8698042" y="2449329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0" name="矩形 8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2" y="2449329"/>
                    <a:ext cx="619208" cy="40011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矩形 90"/>
                  <p:cNvSpPr/>
                  <p:nvPr/>
                </p:nvSpPr>
                <p:spPr>
                  <a:xfrm>
                    <a:off x="8698043" y="3037506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1" name="矩形 9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3" y="3037506"/>
                    <a:ext cx="619208" cy="40011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矩形 91"/>
                  <p:cNvSpPr/>
                  <p:nvPr/>
                </p:nvSpPr>
                <p:spPr>
                  <a:xfrm>
                    <a:off x="8698043" y="3628380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2" name="矩形 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8043" y="3628380"/>
                    <a:ext cx="619208" cy="40011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矩形 92"/>
                  <p:cNvSpPr/>
                  <p:nvPr/>
                </p:nvSpPr>
                <p:spPr>
                  <a:xfrm>
                    <a:off x="8721356" y="4212505"/>
                    <a:ext cx="61920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3" name="矩形 9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1356" y="4212505"/>
                    <a:ext cx="619208" cy="400110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5" name="矩形 74"/>
          <p:cNvSpPr/>
          <p:nvPr/>
        </p:nvSpPr>
        <p:spPr>
          <a:xfrm>
            <a:off x="6990019" y="650689"/>
            <a:ext cx="683762" cy="53756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26980" y="3402986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0560" y="1306097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0146" y="3044310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0472" y="33821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553946" y="22947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477112" y="221333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477112" y="2213332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24122" y="2196370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5324122" y="2196370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4" name="橢圓 17"/>
          <p:cNvSpPr/>
          <p:nvPr/>
        </p:nvSpPr>
        <p:spPr>
          <a:xfrm>
            <a:off x="7052369" y="2466690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橢圓 18"/>
          <p:cNvSpPr/>
          <p:nvPr/>
        </p:nvSpPr>
        <p:spPr>
          <a:xfrm>
            <a:off x="7054461" y="305400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橢圓 19"/>
          <p:cNvSpPr/>
          <p:nvPr/>
        </p:nvSpPr>
        <p:spPr>
          <a:xfrm>
            <a:off x="7044069" y="3645826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橢圓 17"/>
          <p:cNvSpPr/>
          <p:nvPr/>
        </p:nvSpPr>
        <p:spPr>
          <a:xfrm>
            <a:off x="7060669" y="425906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橢圓 18"/>
          <p:cNvSpPr/>
          <p:nvPr/>
        </p:nvSpPr>
        <p:spPr>
          <a:xfrm>
            <a:off x="7062761" y="484637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橢圓 19"/>
          <p:cNvSpPr/>
          <p:nvPr/>
        </p:nvSpPr>
        <p:spPr>
          <a:xfrm>
            <a:off x="7052369" y="543819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橢圓 17"/>
          <p:cNvSpPr/>
          <p:nvPr/>
        </p:nvSpPr>
        <p:spPr>
          <a:xfrm>
            <a:off x="7063521" y="699002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橢圓 18"/>
          <p:cNvSpPr/>
          <p:nvPr/>
        </p:nvSpPr>
        <p:spPr>
          <a:xfrm>
            <a:off x="7065613" y="128631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橢圓 19"/>
          <p:cNvSpPr/>
          <p:nvPr/>
        </p:nvSpPr>
        <p:spPr>
          <a:xfrm>
            <a:off x="7055221" y="1878138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560294" y="318663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表格 81"/>
              <p:cNvGraphicFramePr>
                <a:graphicFrameLocks noGrp="1"/>
              </p:cNvGraphicFramePr>
              <p:nvPr/>
            </p:nvGraphicFramePr>
            <p:xfrm>
              <a:off x="3483460" y="310520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表格 81"/>
              <p:cNvGraphicFramePr>
                <a:graphicFrameLocks noGrp="1"/>
              </p:cNvGraphicFramePr>
              <p:nvPr/>
            </p:nvGraphicFramePr>
            <p:xfrm>
              <a:off x="3483460" y="310520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5330470" y="308824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5330470" y="308824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5" name="文本框 84"/>
          <p:cNvSpPr txBox="1"/>
          <p:nvPr/>
        </p:nvSpPr>
        <p:spPr>
          <a:xfrm>
            <a:off x="4562842" y="407490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表格 85"/>
              <p:cNvGraphicFramePr>
                <a:graphicFrameLocks noGrp="1"/>
              </p:cNvGraphicFramePr>
              <p:nvPr/>
            </p:nvGraphicFramePr>
            <p:xfrm>
              <a:off x="3486008" y="399348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表格 85"/>
              <p:cNvGraphicFramePr>
                <a:graphicFrameLocks noGrp="1"/>
              </p:cNvGraphicFramePr>
              <p:nvPr/>
            </p:nvGraphicFramePr>
            <p:xfrm>
              <a:off x="3486008" y="3993481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7" name="表格 86"/>
              <p:cNvGraphicFramePr>
                <a:graphicFrameLocks noGrp="1"/>
              </p:cNvGraphicFramePr>
              <p:nvPr/>
            </p:nvGraphicFramePr>
            <p:xfrm>
              <a:off x="5333018" y="397651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7" name="表格 86"/>
              <p:cNvGraphicFramePr>
                <a:graphicFrameLocks noGrp="1"/>
              </p:cNvGraphicFramePr>
              <p:nvPr/>
            </p:nvGraphicFramePr>
            <p:xfrm>
              <a:off x="5333018" y="3976519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01" name="直线箭头连接符 100"/>
          <p:cNvCxnSpPr/>
          <p:nvPr/>
        </p:nvCxnSpPr>
        <p:spPr>
          <a:xfrm>
            <a:off x="7576419" y="955488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/>
          <p:cNvCxnSpPr/>
          <p:nvPr/>
        </p:nvCxnSpPr>
        <p:spPr>
          <a:xfrm>
            <a:off x="7578511" y="1542800"/>
            <a:ext cx="1138252" cy="802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/>
          <p:cNvCxnSpPr/>
          <p:nvPr/>
        </p:nvCxnSpPr>
        <p:spPr>
          <a:xfrm flipV="1">
            <a:off x="7565267" y="2345556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/>
          <p:cNvCxnSpPr/>
          <p:nvPr/>
        </p:nvCxnSpPr>
        <p:spPr>
          <a:xfrm flipV="1">
            <a:off x="7567359" y="2345556"/>
            <a:ext cx="1149404" cy="9649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箭头连接符 104"/>
          <p:cNvCxnSpPr/>
          <p:nvPr/>
        </p:nvCxnSpPr>
        <p:spPr>
          <a:xfrm>
            <a:off x="7578511" y="1542800"/>
            <a:ext cx="1140344" cy="1390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箭头连接符 105"/>
          <p:cNvCxnSpPr/>
          <p:nvPr/>
        </p:nvCxnSpPr>
        <p:spPr>
          <a:xfrm>
            <a:off x="7568119" y="2134624"/>
            <a:ext cx="1150736" cy="798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/>
          <p:cNvCxnSpPr/>
          <p:nvPr/>
        </p:nvCxnSpPr>
        <p:spPr>
          <a:xfrm flipV="1">
            <a:off x="7567359" y="2932868"/>
            <a:ext cx="1151496" cy="377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/>
          <p:cNvCxnSpPr/>
          <p:nvPr/>
        </p:nvCxnSpPr>
        <p:spPr>
          <a:xfrm flipV="1">
            <a:off x="7556967" y="2932868"/>
            <a:ext cx="1161888" cy="9694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箭头连接符 108"/>
          <p:cNvCxnSpPr/>
          <p:nvPr/>
        </p:nvCxnSpPr>
        <p:spPr>
          <a:xfrm>
            <a:off x="7567359" y="3310488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/>
          <p:cNvCxnSpPr/>
          <p:nvPr/>
        </p:nvCxnSpPr>
        <p:spPr>
          <a:xfrm>
            <a:off x="7565267" y="2723176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/>
          <p:cNvCxnSpPr/>
          <p:nvPr/>
        </p:nvCxnSpPr>
        <p:spPr>
          <a:xfrm flipV="1">
            <a:off x="7575659" y="3524692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/>
          <p:cNvCxnSpPr/>
          <p:nvPr/>
        </p:nvCxnSpPr>
        <p:spPr>
          <a:xfrm flipV="1">
            <a:off x="7573567" y="3524692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/>
          <p:cNvCxnSpPr/>
          <p:nvPr/>
        </p:nvCxnSpPr>
        <p:spPr>
          <a:xfrm>
            <a:off x="7574647" y="3897800"/>
            <a:ext cx="1141104" cy="214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箭头连接符 113"/>
          <p:cNvCxnSpPr/>
          <p:nvPr/>
        </p:nvCxnSpPr>
        <p:spPr>
          <a:xfrm>
            <a:off x="7572555" y="3310488"/>
            <a:ext cx="1143196" cy="801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/>
          <p:cNvCxnSpPr/>
          <p:nvPr/>
        </p:nvCxnSpPr>
        <p:spPr>
          <a:xfrm flipV="1">
            <a:off x="7569955" y="4136818"/>
            <a:ext cx="1132804" cy="15781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箭头连接符 115"/>
          <p:cNvCxnSpPr/>
          <p:nvPr/>
        </p:nvCxnSpPr>
        <p:spPr>
          <a:xfrm flipV="1">
            <a:off x="7580855" y="4112004"/>
            <a:ext cx="1134896" cy="990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椭圆形标注 131"/>
          <p:cNvSpPr/>
          <p:nvPr/>
        </p:nvSpPr>
        <p:spPr>
          <a:xfrm>
            <a:off x="8815013" y="1154261"/>
            <a:ext cx="1895892" cy="629761"/>
          </a:xfrm>
          <a:prstGeom prst="wedgeEllipseCallout">
            <a:avLst>
              <a:gd name="adj1" fmla="val -32539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权重共享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587310" y="618910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grpSp>
        <p:nvGrpSpPr>
          <p:cNvPr id="16" name="组 15"/>
          <p:cNvGrpSpPr/>
          <p:nvPr/>
        </p:nvGrpSpPr>
        <p:grpSpPr>
          <a:xfrm>
            <a:off x="9523309" y="1911758"/>
            <a:ext cx="1187596" cy="2506286"/>
            <a:chOff x="9523309" y="2226088"/>
            <a:chExt cx="1187596" cy="2506286"/>
          </a:xfrm>
        </p:grpSpPr>
        <p:grpSp>
          <p:nvGrpSpPr>
            <p:cNvPr id="148" name="组 147"/>
            <p:cNvGrpSpPr/>
            <p:nvPr/>
          </p:nvGrpSpPr>
          <p:grpSpPr>
            <a:xfrm>
              <a:off x="9523309" y="2226088"/>
              <a:ext cx="1187596" cy="2506286"/>
              <a:chOff x="9523309" y="2226088"/>
              <a:chExt cx="1187596" cy="2506286"/>
            </a:xfrm>
          </p:grpSpPr>
          <p:sp>
            <p:nvSpPr>
              <p:cNvPr id="149" name="矩形 148"/>
              <p:cNvSpPr/>
              <p:nvPr/>
            </p:nvSpPr>
            <p:spPr>
              <a:xfrm>
                <a:off x="9990977" y="2916372"/>
                <a:ext cx="719928" cy="125471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0" name="橢圓 18"/>
              <p:cNvSpPr/>
              <p:nvPr/>
            </p:nvSpPr>
            <p:spPr>
              <a:xfrm>
                <a:off x="10082833" y="2990712"/>
                <a:ext cx="512898" cy="5129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橢圓 19"/>
              <p:cNvSpPr/>
              <p:nvPr/>
            </p:nvSpPr>
            <p:spPr>
              <a:xfrm>
                <a:off x="10072441" y="3582536"/>
                <a:ext cx="512898" cy="5129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文本框 151"/>
              <p:cNvSpPr txBox="1"/>
              <p:nvPr/>
            </p:nvSpPr>
            <p:spPr>
              <a:xfrm>
                <a:off x="9825789" y="2226088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全连接</a:t>
                </a:r>
              </a:p>
            </p:txBody>
          </p:sp>
          <p:cxnSp>
            <p:nvCxnSpPr>
              <p:cNvPr id="153" name="直线箭头连接符 152"/>
              <p:cNvCxnSpPr/>
              <p:nvPr/>
            </p:nvCxnSpPr>
            <p:spPr>
              <a:xfrm flipH="1">
                <a:off x="9652097" y="2410754"/>
                <a:ext cx="173692" cy="4373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线箭头连接符 154"/>
              <p:cNvCxnSpPr/>
              <p:nvPr/>
            </p:nvCxnSpPr>
            <p:spPr>
              <a:xfrm>
                <a:off x="9534461" y="2964686"/>
                <a:ext cx="548372" cy="28251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线箭头连接符 155"/>
              <p:cNvCxnSpPr/>
              <p:nvPr/>
            </p:nvCxnSpPr>
            <p:spPr>
              <a:xfrm flipV="1">
                <a:off x="9536553" y="3247198"/>
                <a:ext cx="54628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线箭头连接符 156"/>
              <p:cNvCxnSpPr/>
              <p:nvPr/>
            </p:nvCxnSpPr>
            <p:spPr>
              <a:xfrm flipV="1">
                <a:off x="9526161" y="3247198"/>
                <a:ext cx="556672" cy="8966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线箭头连接符 157"/>
              <p:cNvCxnSpPr/>
              <p:nvPr/>
            </p:nvCxnSpPr>
            <p:spPr>
              <a:xfrm flipV="1">
                <a:off x="9523309" y="3247198"/>
                <a:ext cx="559524" cy="148517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/>
              <p:cNvCxnSpPr/>
              <p:nvPr/>
            </p:nvCxnSpPr>
            <p:spPr>
              <a:xfrm>
                <a:off x="9534461" y="2964686"/>
                <a:ext cx="537980" cy="8743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线箭头连接符 159"/>
              <p:cNvCxnSpPr/>
              <p:nvPr/>
            </p:nvCxnSpPr>
            <p:spPr>
              <a:xfrm>
                <a:off x="9536553" y="3551998"/>
                <a:ext cx="535888" cy="2870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线箭头连接符 160"/>
              <p:cNvCxnSpPr/>
              <p:nvPr/>
            </p:nvCxnSpPr>
            <p:spPr>
              <a:xfrm flipV="1">
                <a:off x="9526161" y="3839022"/>
                <a:ext cx="54628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线箭头连接符 161"/>
              <p:cNvCxnSpPr/>
              <p:nvPr/>
            </p:nvCxnSpPr>
            <p:spPr>
              <a:xfrm flipV="1">
                <a:off x="9523309" y="3839022"/>
                <a:ext cx="549132" cy="89335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组 93"/>
            <p:cNvGrpSpPr/>
            <p:nvPr/>
          </p:nvGrpSpPr>
          <p:grpSpPr>
            <a:xfrm>
              <a:off x="10138075" y="3014056"/>
              <a:ext cx="504213" cy="997074"/>
              <a:chOff x="10138075" y="3014056"/>
              <a:chExt cx="504213" cy="9970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矩形 94"/>
                  <p:cNvSpPr/>
                  <p:nvPr/>
                </p:nvSpPr>
                <p:spPr>
                  <a:xfrm>
                    <a:off x="10151448" y="3014056"/>
                    <a:ext cx="49084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5" name="矩形 9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1448" y="3014056"/>
                    <a:ext cx="490840" cy="400110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矩形 116"/>
                  <p:cNvSpPr/>
                  <p:nvPr/>
                </p:nvSpPr>
                <p:spPr>
                  <a:xfrm>
                    <a:off x="10138075" y="3611020"/>
                    <a:ext cx="496803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7" name="矩形 1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8075" y="3611020"/>
                    <a:ext cx="496803" cy="400110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" name="组 13"/>
          <p:cNvGrpSpPr/>
          <p:nvPr/>
        </p:nvGrpSpPr>
        <p:grpSpPr>
          <a:xfrm>
            <a:off x="8847461" y="2241470"/>
            <a:ext cx="648485" cy="2280660"/>
            <a:chOff x="8847461" y="2555800"/>
            <a:chExt cx="648485" cy="2280660"/>
          </a:xfrm>
        </p:grpSpPr>
        <p:grpSp>
          <p:nvGrpSpPr>
            <p:cNvPr id="122" name="组 121"/>
            <p:cNvGrpSpPr/>
            <p:nvPr/>
          </p:nvGrpSpPr>
          <p:grpSpPr>
            <a:xfrm>
              <a:off x="8858011" y="2555800"/>
              <a:ext cx="526142" cy="2280660"/>
              <a:chOff x="8858011" y="2555800"/>
              <a:chExt cx="526142" cy="2280660"/>
            </a:xfrm>
          </p:grpSpPr>
          <p:sp>
            <p:nvSpPr>
              <p:cNvPr id="123" name="橢圓 17"/>
              <p:cNvSpPr/>
              <p:nvPr/>
            </p:nvSpPr>
            <p:spPr>
              <a:xfrm>
                <a:off x="8858011" y="4323488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橢圓 17"/>
              <p:cNvSpPr/>
              <p:nvPr/>
            </p:nvSpPr>
            <p:spPr>
              <a:xfrm>
                <a:off x="8869163" y="2555800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橢圓 18"/>
              <p:cNvSpPr/>
              <p:nvPr/>
            </p:nvSpPr>
            <p:spPr>
              <a:xfrm>
                <a:off x="8871255" y="3143112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橢圓 19"/>
              <p:cNvSpPr/>
              <p:nvPr/>
            </p:nvSpPr>
            <p:spPr>
              <a:xfrm>
                <a:off x="8860863" y="3734936"/>
                <a:ext cx="512898" cy="5129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矩形 118"/>
                <p:cNvSpPr/>
                <p:nvPr/>
              </p:nvSpPr>
              <p:spPr>
                <a:xfrm>
                  <a:off x="8847461" y="2601729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矩形 1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2601729"/>
                  <a:ext cx="625171" cy="40011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矩形 119"/>
                <p:cNvSpPr/>
                <p:nvPr/>
              </p:nvSpPr>
              <p:spPr>
                <a:xfrm>
                  <a:off x="8847461" y="3189906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0" name="矩形 1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3189906"/>
                  <a:ext cx="625171" cy="400110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/>
                <p:cNvSpPr/>
                <p:nvPr/>
              </p:nvSpPr>
              <p:spPr>
                <a:xfrm>
                  <a:off x="8847461" y="3780780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矩形 1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461" y="3780780"/>
                  <a:ext cx="625171" cy="40011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矩形 133"/>
                <p:cNvSpPr/>
                <p:nvPr/>
              </p:nvSpPr>
              <p:spPr>
                <a:xfrm>
                  <a:off x="8870775" y="4364905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4" name="矩形 1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0775" y="4364905"/>
                  <a:ext cx="625171" cy="400110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 14"/>
          <p:cNvGrpSpPr/>
          <p:nvPr/>
        </p:nvGrpSpPr>
        <p:grpSpPr>
          <a:xfrm>
            <a:off x="8999861" y="2393870"/>
            <a:ext cx="648485" cy="2280660"/>
            <a:chOff x="8999861" y="2708200"/>
            <a:chExt cx="648485" cy="2280660"/>
          </a:xfrm>
        </p:grpSpPr>
        <p:grpSp>
          <p:nvGrpSpPr>
            <p:cNvPr id="127" name="组 126"/>
            <p:cNvGrpSpPr/>
            <p:nvPr/>
          </p:nvGrpSpPr>
          <p:grpSpPr>
            <a:xfrm>
              <a:off x="9010411" y="2708200"/>
              <a:ext cx="526142" cy="2280660"/>
              <a:chOff x="9010411" y="2708200"/>
              <a:chExt cx="526142" cy="2280660"/>
            </a:xfrm>
          </p:grpSpPr>
          <p:sp>
            <p:nvSpPr>
              <p:cNvPr id="128" name="橢圓 17"/>
              <p:cNvSpPr/>
              <p:nvPr/>
            </p:nvSpPr>
            <p:spPr>
              <a:xfrm>
                <a:off x="9010411" y="4475888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橢圓 17"/>
              <p:cNvSpPr/>
              <p:nvPr/>
            </p:nvSpPr>
            <p:spPr>
              <a:xfrm>
                <a:off x="9021563" y="2708200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橢圓 18"/>
              <p:cNvSpPr/>
              <p:nvPr/>
            </p:nvSpPr>
            <p:spPr>
              <a:xfrm>
                <a:off x="9023655" y="3295512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橢圓 19"/>
              <p:cNvSpPr/>
              <p:nvPr/>
            </p:nvSpPr>
            <p:spPr>
              <a:xfrm>
                <a:off x="9013263" y="3887336"/>
                <a:ext cx="512898" cy="512972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矩形 142"/>
                <p:cNvSpPr/>
                <p:nvPr/>
              </p:nvSpPr>
              <p:spPr>
                <a:xfrm>
                  <a:off x="8999861" y="2754129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矩形 1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2754129"/>
                  <a:ext cx="625171" cy="400110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矩形 143"/>
                <p:cNvSpPr/>
                <p:nvPr/>
              </p:nvSpPr>
              <p:spPr>
                <a:xfrm>
                  <a:off x="8999861" y="3342306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4" name="矩形 1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3342306"/>
                  <a:ext cx="625171" cy="400110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矩形 144"/>
                <p:cNvSpPr/>
                <p:nvPr/>
              </p:nvSpPr>
              <p:spPr>
                <a:xfrm>
                  <a:off x="8999861" y="3933180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矩形 1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861" y="3933180"/>
                  <a:ext cx="625171" cy="400110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矩形 145"/>
                <p:cNvSpPr/>
                <p:nvPr/>
              </p:nvSpPr>
              <p:spPr>
                <a:xfrm>
                  <a:off x="9023175" y="4517305"/>
                  <a:ext cx="6251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6" name="矩形 1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3175" y="4517305"/>
                  <a:ext cx="625171" cy="400110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8" name="矩形 117"/>
          <p:cNvSpPr/>
          <p:nvPr/>
        </p:nvSpPr>
        <p:spPr>
          <a:xfrm>
            <a:off x="900469" y="4818521"/>
            <a:ext cx="5616602" cy="133882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对于如上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，如需提取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个特征，卷积层需要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个卷积核，假设卷积核大小为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，则共需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文字方塊 55"/>
          <p:cNvSpPr txBox="1"/>
          <p:nvPr/>
        </p:nvSpPr>
        <p:spPr>
          <a:xfrm>
            <a:off x="4174853" y="1792062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字方塊 55"/>
          <p:cNvSpPr txBox="1"/>
          <p:nvPr/>
        </p:nvSpPr>
        <p:spPr>
          <a:xfrm>
            <a:off x="315087" y="2632920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734933" y="470203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5707528" y="6056859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字方塊 55"/>
          <p:cNvSpPr txBox="1"/>
          <p:nvPr/>
        </p:nvSpPr>
        <p:spPr>
          <a:xfrm>
            <a:off x="9543601" y="3944207"/>
            <a:ext cx="1614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圆角矩形标注 132"/>
          <p:cNvSpPr/>
          <p:nvPr/>
        </p:nvSpPr>
        <p:spPr>
          <a:xfrm>
            <a:off x="7951707" y="471722"/>
            <a:ext cx="1350002" cy="520628"/>
          </a:xfrm>
          <a:prstGeom prst="wedgeRoundRectCallout">
            <a:avLst>
              <a:gd name="adj1" fmla="val -37993"/>
              <a:gd name="adj2" fmla="val 127274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局部连接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字方塊 55"/>
          <p:cNvSpPr txBox="1"/>
          <p:nvPr/>
        </p:nvSpPr>
        <p:spPr>
          <a:xfrm>
            <a:off x="3079026" y="1790492"/>
            <a:ext cx="140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636" y="4371139"/>
            <a:ext cx="899000" cy="1078799"/>
          </a:xfrm>
          <a:prstGeom prst="rect">
            <a:avLst/>
          </a:prstGeom>
          <a:noFill/>
        </p:spPr>
      </p:pic>
      <p:sp>
        <p:nvSpPr>
          <p:cNvPr id="11" name="云形标注 10"/>
          <p:cNvSpPr/>
          <p:nvPr/>
        </p:nvSpPr>
        <p:spPr>
          <a:xfrm>
            <a:off x="3590801" y="1863698"/>
            <a:ext cx="4648782" cy="2373251"/>
          </a:xfrm>
          <a:prstGeom prst="cloudCallout">
            <a:avLst>
              <a:gd name="adj1" fmla="val -31944"/>
              <a:gd name="adj2" fmla="val 61029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118845" y="2459960"/>
            <a:ext cx="3592694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如何对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继续进行卷积操作？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4188" y="1402033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8" name="表格 167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8" name="表格 167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0472" y="1421937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266" y="35809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7019672" y="34808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8" name="文本框 87"/>
          <p:cNvSpPr txBox="1"/>
          <p:nvPr/>
        </p:nvSpPr>
        <p:spPr>
          <a:xfrm>
            <a:off x="585227" y="615928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54313" y="292833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004010" y="2914454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3" name="表格 162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3" name="表格 162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文本框 8"/>
          <p:cNvSpPr txBox="1"/>
          <p:nvPr/>
        </p:nvSpPr>
        <p:spPr>
          <a:xfrm>
            <a:off x="1766276" y="4713241"/>
            <a:ext cx="2704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假设上一个卷积层已得到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maps,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可表示为具有三个通道的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，大小为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3X3X3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4774219" y="4713241"/>
            <a:ext cx="216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的卷积核，可表示为具有三个通道卷积核立方体，大小为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3X2X2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7670965" y="4713241"/>
            <a:ext cx="2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生成一个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</a:p>
        </p:txBody>
      </p:sp>
      <p:cxnSp>
        <p:nvCxnSpPr>
          <p:cNvPr id="17" name="直线箭头连接符 16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立方体 18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9" name="表格 168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9" name="表格 168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0" name="表格 169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0" name="表格 169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blipFill rotWithShape="1">
                <a:blip r:embed="rId8"/>
                <a:stretch>
                  <a:fillRect l="-38" t="-145" r="46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blipFill rotWithShape="1">
                <a:blip r:embed="rId9"/>
                <a:stretch>
                  <a:fillRect l="-58" t="-9" r="1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blipFill rotWithShape="1">
                <a:blip r:embed="rId10"/>
                <a:stretch>
                  <a:fillRect l="-40" t="-105" r="13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箭头连接符 10"/>
          <p:cNvCxnSpPr/>
          <p:nvPr/>
        </p:nvCxnSpPr>
        <p:spPr>
          <a:xfrm flipV="1">
            <a:off x="1766276" y="4113597"/>
            <a:ext cx="427244" cy="1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 flipV="1">
            <a:off x="1766276" y="4312239"/>
            <a:ext cx="570839" cy="172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 flipV="1">
            <a:off x="1746371" y="4474830"/>
            <a:ext cx="734450" cy="288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5" name="表格 164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5" name="表格 164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5872" y="1514075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266" y="35809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7019672" y="34808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8" name="文本框 87"/>
          <p:cNvSpPr txBox="1"/>
          <p:nvPr/>
        </p:nvSpPr>
        <p:spPr>
          <a:xfrm>
            <a:off x="643474" y="615928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54313" y="292833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004010" y="2914454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27" name="直线箭头连接符 26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立方体 27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8" name="直线箭头连接符 7"/>
          <p:cNvCxnSpPr/>
          <p:nvPr/>
        </p:nvCxnSpPr>
        <p:spPr>
          <a:xfrm flipV="1">
            <a:off x="8295257" y="3164762"/>
            <a:ext cx="1355633" cy="4593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立方体 35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650890" y="2791343"/>
            <a:ext cx="191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输出为对应通道在滑动窗口内的卷积的和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74219" y="4713241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的卷积核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670965" y="4713241"/>
            <a:ext cx="2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生成一个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表格 39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表格 39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表格 40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表格 40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表格 41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表格 41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585367" y="3649230"/>
                <a:ext cx="283328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altLang="zh-C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367" y="3649230"/>
                <a:ext cx="2833280" cy="1754326"/>
              </a:xfrm>
              <a:prstGeom prst="rect">
                <a:avLst/>
              </a:prstGeom>
              <a:blipFill rotWithShape="1">
                <a:blip r:embed="rId10"/>
                <a:stretch>
                  <a:fillRect l="-1" t="-30" r="2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blipFill rotWithShape="1">
                <a:blip r:embed="rId11"/>
                <a:stretch>
                  <a:fillRect l="-38" t="-145" r="46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blipFill rotWithShape="1">
                <a:blip r:embed="rId12"/>
                <a:stretch>
                  <a:fillRect l="-58" t="-9" r="1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blipFill rotWithShape="1">
                <a:blip r:embed="rId13"/>
                <a:stretch>
                  <a:fillRect l="-40" t="-105" r="13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线箭头连接符 45"/>
          <p:cNvCxnSpPr/>
          <p:nvPr/>
        </p:nvCxnSpPr>
        <p:spPr>
          <a:xfrm flipV="1">
            <a:off x="1766276" y="4113597"/>
            <a:ext cx="427244" cy="1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/>
          <p:nvPr/>
        </p:nvCxnSpPr>
        <p:spPr>
          <a:xfrm flipV="1">
            <a:off x="1766276" y="4312239"/>
            <a:ext cx="570839" cy="172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/>
          <p:nvPr/>
        </p:nvCxnSpPr>
        <p:spPr>
          <a:xfrm flipV="1">
            <a:off x="1746371" y="4474830"/>
            <a:ext cx="734450" cy="288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5" name="表格 134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5" name="表格 134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4" name="表格 153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4" name="表格 153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7310" y="1453139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266" y="35809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7019672" y="34808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:endParaRPr lang="zh-CN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8" name="文本框 87"/>
          <p:cNvSpPr txBox="1"/>
          <p:nvPr/>
        </p:nvSpPr>
        <p:spPr>
          <a:xfrm>
            <a:off x="587310" y="614624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54313" y="292833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004010" y="2914454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线箭头连接符 20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立方体 21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50890" y="2791343"/>
            <a:ext cx="191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输出为对应通道在滑动窗口内的卷积的和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5" name="直线箭头连接符 24"/>
          <p:cNvCxnSpPr/>
          <p:nvPr/>
        </p:nvCxnSpPr>
        <p:spPr>
          <a:xfrm flipV="1">
            <a:off x="8699500" y="3164762"/>
            <a:ext cx="951390" cy="4161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774219" y="4713241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的卷积核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70965" y="4713241"/>
            <a:ext cx="2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生成一个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表格 28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表格 28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表格 29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表格 29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表格 30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表格 30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blipFill rotWithShape="1">
                <a:blip r:embed="rId9"/>
                <a:stretch>
                  <a:fillRect l="-38" t="-145" r="46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blipFill rotWithShape="1">
                <a:blip r:embed="rId10"/>
                <a:stretch>
                  <a:fillRect l="-58" t="-9" r="1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blipFill rotWithShape="1">
                <a:blip r:embed="rId11"/>
                <a:stretch>
                  <a:fillRect l="-40" t="-105" r="13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线箭头连接符 34"/>
          <p:cNvCxnSpPr/>
          <p:nvPr/>
        </p:nvCxnSpPr>
        <p:spPr>
          <a:xfrm flipV="1">
            <a:off x="1766276" y="4113597"/>
            <a:ext cx="427244" cy="1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V="1">
            <a:off x="1766276" y="4312239"/>
            <a:ext cx="570839" cy="172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/>
          <p:nvPr/>
        </p:nvCxnSpPr>
        <p:spPr>
          <a:xfrm flipV="1">
            <a:off x="1746371" y="4474830"/>
            <a:ext cx="734450" cy="288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altLang="zh-C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/>
                  <a:t>……</a:t>
                </a:r>
                <a:endParaRPr lang="is-IS" altLang="zh-CN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blipFill rotWithShape="1">
                <a:blip r:embed="rId12"/>
                <a:stretch>
                  <a:fillRect l="-1" t="-26" r="2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0472" y="1482057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266" y="35809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7019672" y="34808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8" name="文本框 87"/>
          <p:cNvSpPr txBox="1"/>
          <p:nvPr/>
        </p:nvSpPr>
        <p:spPr>
          <a:xfrm>
            <a:off x="587310" y="6146240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54313" y="292833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004010" y="2914454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线箭头连接符 23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立方体 24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650890" y="2791343"/>
            <a:ext cx="191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输出为对应通道在滑动窗口内的卷积的和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8" name="直线箭头连接符 27"/>
          <p:cNvCxnSpPr/>
          <p:nvPr/>
        </p:nvCxnSpPr>
        <p:spPr>
          <a:xfrm flipV="1">
            <a:off x="8356600" y="3164762"/>
            <a:ext cx="1294290" cy="8392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74219" y="4713241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的卷积核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670965" y="4713241"/>
            <a:ext cx="2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生成一个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表格 31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表格 31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表格 32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表格 32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表格 33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表格 33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blipFill rotWithShape="1">
                <a:blip r:embed="rId9"/>
                <a:stretch>
                  <a:fillRect l="-38" t="-145" r="46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blipFill rotWithShape="1">
                <a:blip r:embed="rId10"/>
                <a:stretch>
                  <a:fillRect l="-58" t="-9" r="1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blipFill rotWithShape="1">
                <a:blip r:embed="rId11"/>
                <a:stretch>
                  <a:fillRect l="-40" t="-105" r="13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/>
          <p:cNvCxnSpPr/>
          <p:nvPr/>
        </p:nvCxnSpPr>
        <p:spPr>
          <a:xfrm flipV="1">
            <a:off x="1766276" y="4113597"/>
            <a:ext cx="427244" cy="1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/>
          <p:cNvCxnSpPr/>
          <p:nvPr/>
        </p:nvCxnSpPr>
        <p:spPr>
          <a:xfrm flipV="1">
            <a:off x="1766276" y="4312239"/>
            <a:ext cx="570839" cy="172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/>
          <p:nvPr/>
        </p:nvCxnSpPr>
        <p:spPr>
          <a:xfrm flipV="1">
            <a:off x="1746371" y="4474830"/>
            <a:ext cx="734450" cy="288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altLang="zh-C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/>
                  <a:t>……</a:t>
                </a:r>
                <a:endParaRPr lang="is-IS" altLang="zh-CN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blipFill rotWithShape="1">
                <a:blip r:embed="rId12"/>
                <a:stretch>
                  <a:fillRect l="-1" t="-26" r="2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2193520" y="31760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2345920" y="33284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2872" y="1545833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266" y="35809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81" name="文本框 80"/>
          <p:cNvSpPr txBox="1"/>
          <p:nvPr/>
        </p:nvSpPr>
        <p:spPr>
          <a:xfrm>
            <a:off x="7019672" y="34808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/>
              <p:cNvGraphicFramePr>
                <a:graphicFrameLocks noGrp="1"/>
              </p:cNvGraphicFramePr>
              <p:nvPr/>
            </p:nvGraphicFramePr>
            <p:xfrm>
              <a:off x="8157382" y="3429363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8" name="文本框 87"/>
          <p:cNvSpPr txBox="1"/>
          <p:nvPr/>
        </p:nvSpPr>
        <p:spPr>
          <a:xfrm>
            <a:off x="587310" y="610337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54313" y="2928331"/>
            <a:ext cx="1283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7004010" y="2914454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1" i="1" kern="1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1" i="1" kern="1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kern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/>
              <p:cNvGraphicFramePr>
                <a:graphicFrameLocks noGrp="1"/>
              </p:cNvGraphicFramePr>
              <p:nvPr/>
            </p:nvGraphicFramePr>
            <p:xfrm>
              <a:off x="2498320" y="3480841"/>
              <a:ext cx="1080000" cy="1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20" name="直线箭头连接符 19"/>
          <p:cNvCxnSpPr/>
          <p:nvPr/>
        </p:nvCxnSpPr>
        <p:spPr>
          <a:xfrm flipV="1">
            <a:off x="6476513" y="2540000"/>
            <a:ext cx="462546" cy="774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立方体 23"/>
          <p:cNvSpPr/>
          <p:nvPr/>
        </p:nvSpPr>
        <p:spPr>
          <a:xfrm>
            <a:off x="6952745" y="1702399"/>
            <a:ext cx="819655" cy="787378"/>
          </a:xfrm>
          <a:prstGeom prst="cube">
            <a:avLst>
              <a:gd name="adj" fmla="val 1665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924801" y="1579056"/>
            <a:ext cx="191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卷积核通常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表示为一个立方体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650890" y="2791343"/>
            <a:ext cx="191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输出为对应通道在滑动窗口内的卷积的和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7" name="直线箭头连接符 26"/>
          <p:cNvCxnSpPr/>
          <p:nvPr/>
        </p:nvCxnSpPr>
        <p:spPr>
          <a:xfrm flipV="1">
            <a:off x="8674100" y="3164762"/>
            <a:ext cx="976790" cy="8392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774219" y="4713241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的卷积核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70965" y="4713241"/>
            <a:ext cx="2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生成一个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2X2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表格 33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表格 33"/>
              <p:cNvGraphicFramePr>
                <a:graphicFrameLocks noGrp="1"/>
              </p:cNvGraphicFramePr>
              <p:nvPr/>
            </p:nvGraphicFramePr>
            <p:xfrm>
              <a:off x="5235889" y="33935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表格 34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表格 34"/>
              <p:cNvGraphicFramePr>
                <a:graphicFrameLocks noGrp="1"/>
              </p:cNvGraphicFramePr>
              <p:nvPr/>
            </p:nvGraphicFramePr>
            <p:xfrm>
              <a:off x="5388289" y="35459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35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35"/>
              <p:cNvGraphicFramePr>
                <a:graphicFrameLocks noGrp="1"/>
              </p:cNvGraphicFramePr>
              <p:nvPr/>
            </p:nvGraphicFramePr>
            <p:xfrm>
              <a:off x="5540689" y="3698397"/>
              <a:ext cx="720000" cy="7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00"/>
                    <a:gridCol w="360000"/>
                  </a:tblGrid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  <a:tr h="360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s-IS" altLang="zh-CN" b="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98" y="4514789"/>
                <a:ext cx="469937" cy="396904"/>
              </a:xfrm>
              <a:prstGeom prst="rect">
                <a:avLst/>
              </a:prstGeom>
              <a:blipFill rotWithShape="1">
                <a:blip r:embed="rId10"/>
                <a:stretch>
                  <a:fillRect l="-38" t="-145" r="46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05" y="4213897"/>
                <a:ext cx="477951" cy="396904"/>
              </a:xfrm>
              <a:prstGeom prst="rect">
                <a:avLst/>
              </a:prstGeom>
              <a:blipFill rotWithShape="1">
                <a:blip r:embed="rId11"/>
                <a:stretch>
                  <a:fillRect l="-58" t="-9" r="1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s-I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s-I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s-IS" altLang="zh-CN" dirty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" y="3933610"/>
                <a:ext cx="477951" cy="398251"/>
              </a:xfrm>
              <a:prstGeom prst="rect">
                <a:avLst/>
              </a:prstGeom>
              <a:blipFill rotWithShape="1">
                <a:blip r:embed="rId12"/>
                <a:stretch>
                  <a:fillRect l="-40" t="-105" r="130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箭头连接符 39"/>
          <p:cNvCxnSpPr/>
          <p:nvPr/>
        </p:nvCxnSpPr>
        <p:spPr>
          <a:xfrm flipV="1">
            <a:off x="1766276" y="4113597"/>
            <a:ext cx="427244" cy="1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/>
          <p:nvPr/>
        </p:nvCxnSpPr>
        <p:spPr>
          <a:xfrm flipV="1">
            <a:off x="1766276" y="4312239"/>
            <a:ext cx="570839" cy="172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/>
          <p:nvPr/>
        </p:nvCxnSpPr>
        <p:spPr>
          <a:xfrm flipV="1">
            <a:off x="1746371" y="4474830"/>
            <a:ext cx="734450" cy="288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+</a:t>
                </a:r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s-IS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cs-CZ" altLang="zh-CN" b="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US" altLang="zh-C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s-I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b="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s-I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sub>
                    </m:sSub>
                  </m:oMath>
                </a14:m>
                <a:endParaRPr lang="is-IS" altLang="zh-CN" dirty="0"/>
              </a:p>
              <a:p>
                <a:r>
                  <a:rPr lang="en-US" altLang="zh-CN" dirty="0"/>
                  <a:t>……</a:t>
                </a:r>
                <a:endParaRPr lang="is-IS" altLang="zh-CN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367" y="3649230"/>
                <a:ext cx="2833280" cy="2031325"/>
              </a:xfrm>
              <a:prstGeom prst="rect">
                <a:avLst/>
              </a:prstGeom>
              <a:blipFill rotWithShape="1">
                <a:blip r:embed="rId13"/>
                <a:stretch>
                  <a:fillRect l="-1" t="-26" r="2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7310" y="1506289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多通道多核卷积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7795" y="355917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192717" y="18022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文本框 80"/>
          <p:cNvSpPr txBox="1"/>
          <p:nvPr/>
        </p:nvSpPr>
        <p:spPr>
          <a:xfrm>
            <a:off x="7019672" y="33157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8142254" y="17978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文本框 87"/>
          <p:cNvSpPr txBox="1"/>
          <p:nvPr/>
        </p:nvSpPr>
        <p:spPr>
          <a:xfrm>
            <a:off x="587310" y="6146241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11141" y="1337012"/>
            <a:ext cx="1502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6963482" y="128296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3" name="表格 162"/>
          <p:cNvGraphicFramePr>
            <a:graphicFrameLocks noGrp="1"/>
          </p:cNvGraphicFramePr>
          <p:nvPr/>
        </p:nvGraphicFramePr>
        <p:xfrm>
          <a:off x="5345117" y="19546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5" name="表格 164"/>
          <p:cNvGraphicFramePr>
            <a:graphicFrameLocks noGrp="1"/>
          </p:cNvGraphicFramePr>
          <p:nvPr/>
        </p:nvGraphicFramePr>
        <p:xfrm>
          <a:off x="5497517" y="21070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6" name="文本框 165"/>
          <p:cNvSpPr txBox="1"/>
          <p:nvPr/>
        </p:nvSpPr>
        <p:spPr>
          <a:xfrm>
            <a:off x="4959472" y="5995299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个卷积核立方体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584661" y="5753913"/>
            <a:ext cx="253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193520" y="31760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345920" y="33284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498320" y="34808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200972" y="31533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353372" y="33057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5505772" y="34581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5169492" y="47965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321892" y="49489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5474292" y="51013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8139908" y="3154973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8139908" y="480416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7019672" y="49381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sp>
        <p:nvSpPr>
          <p:cNvPr id="40" name="文本框 39"/>
          <p:cNvSpPr txBox="1"/>
          <p:nvPr/>
        </p:nvSpPr>
        <p:spPr>
          <a:xfrm>
            <a:off x="7020553" y="189580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 rot="5400000">
            <a:off x="5765800" y="4229100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…</a:t>
            </a:r>
            <a:endParaRPr kumimoji="1" lang="zh-CN" altLang="en-US" sz="2800" dirty="0"/>
          </a:p>
        </p:txBody>
      </p:sp>
      <p:sp>
        <p:nvSpPr>
          <p:cNvPr id="42" name="文本框 41"/>
          <p:cNvSpPr txBox="1"/>
          <p:nvPr/>
        </p:nvSpPr>
        <p:spPr>
          <a:xfrm rot="5400000">
            <a:off x="8356332" y="4229100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…</a:t>
            </a:r>
            <a:endParaRPr kumimoji="1" lang="zh-CN" altLang="en-US" sz="2800" dirty="0"/>
          </a:p>
        </p:txBody>
      </p:sp>
      <p:sp>
        <p:nvSpPr>
          <p:cNvPr id="41" name="文本框 40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1" grpId="0"/>
      <p:bldP spid="137" grpId="0"/>
      <p:bldP spid="138" grpId="0"/>
      <p:bldP spid="166" grpId="0"/>
      <p:bldP spid="167" grpId="0"/>
      <p:bldP spid="39" grpId="0"/>
      <p:bldP spid="40" grpId="0"/>
      <p:bldP spid="4" grpId="0"/>
      <p:bldP spid="4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7310" y="1522474"/>
            <a:ext cx="30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多通道多核卷积</a:t>
            </a:r>
            <a:endParaRPr lang="en-US" altLang="zh-CN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7795" y="355917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192717" y="18022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文本框 80"/>
          <p:cNvSpPr txBox="1"/>
          <p:nvPr/>
        </p:nvSpPr>
        <p:spPr>
          <a:xfrm>
            <a:off x="7019672" y="33157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8142254" y="17978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文本框 87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137" name="文字方塊 55"/>
          <p:cNvSpPr txBox="1"/>
          <p:nvPr/>
        </p:nvSpPr>
        <p:spPr>
          <a:xfrm>
            <a:off x="4911141" y="1337012"/>
            <a:ext cx="1502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字方塊 55"/>
          <p:cNvSpPr txBox="1"/>
          <p:nvPr/>
        </p:nvSpPr>
        <p:spPr>
          <a:xfrm>
            <a:off x="6963482" y="128296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字方塊 55"/>
          <p:cNvSpPr txBox="1"/>
          <p:nvPr/>
        </p:nvSpPr>
        <p:spPr>
          <a:xfrm>
            <a:off x="1138461" y="2764651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maps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3" name="表格 162"/>
          <p:cNvGraphicFramePr>
            <a:graphicFrameLocks noGrp="1"/>
          </p:cNvGraphicFramePr>
          <p:nvPr/>
        </p:nvGraphicFramePr>
        <p:xfrm>
          <a:off x="5345117" y="19546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5" name="表格 164"/>
          <p:cNvGraphicFramePr>
            <a:graphicFrameLocks noGrp="1"/>
          </p:cNvGraphicFramePr>
          <p:nvPr/>
        </p:nvGraphicFramePr>
        <p:xfrm>
          <a:off x="5497517" y="210707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6" name="文本框 165"/>
          <p:cNvSpPr txBox="1"/>
          <p:nvPr/>
        </p:nvSpPr>
        <p:spPr>
          <a:xfrm>
            <a:off x="4959472" y="5995299"/>
            <a:ext cx="21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个卷积核立方体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584661" y="5753913"/>
            <a:ext cx="253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193520" y="31760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345920" y="33284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498320" y="3480841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200972" y="31533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353372" y="33057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5505772" y="3458185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5169492" y="47965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321892" y="49489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5474292" y="510139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8139908" y="3154973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8139908" y="4804168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7019672" y="49381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sp>
        <p:nvSpPr>
          <p:cNvPr id="40" name="文本框 39"/>
          <p:cNvSpPr txBox="1"/>
          <p:nvPr/>
        </p:nvSpPr>
        <p:spPr>
          <a:xfrm>
            <a:off x="7020553" y="189580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 rot="5400000">
            <a:off x="5765800" y="4229100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…</a:t>
            </a:r>
            <a:endParaRPr kumimoji="1" lang="zh-CN" altLang="en-US" sz="2800" dirty="0"/>
          </a:p>
        </p:txBody>
      </p:sp>
      <p:sp>
        <p:nvSpPr>
          <p:cNvPr id="42" name="文本框 41"/>
          <p:cNvSpPr txBox="1"/>
          <p:nvPr/>
        </p:nvSpPr>
        <p:spPr>
          <a:xfrm rot="5400000">
            <a:off x="8356332" y="4229100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…</a:t>
            </a:r>
            <a:endParaRPr kumimoji="1" lang="zh-CN" altLang="en-US" sz="2800" dirty="0"/>
          </a:p>
        </p:txBody>
      </p:sp>
      <p:sp>
        <p:nvSpPr>
          <p:cNvPr id="41" name="文本框 40"/>
          <p:cNvSpPr txBox="1"/>
          <p:nvPr/>
        </p:nvSpPr>
        <p:spPr>
          <a:xfrm>
            <a:off x="1766276" y="4713241"/>
            <a:ext cx="27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3X3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maps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5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36931" y="1896556"/>
            <a:ext cx="899000" cy="1078799"/>
          </a:xfrm>
          <a:prstGeom prst="rect">
            <a:avLst/>
          </a:prstGeom>
          <a:noFill/>
        </p:spPr>
      </p:pic>
      <p:sp>
        <p:nvSpPr>
          <p:cNvPr id="46" name="矩形 45"/>
          <p:cNvSpPr/>
          <p:nvPr/>
        </p:nvSpPr>
        <p:spPr>
          <a:xfrm>
            <a:off x="9000027" y="2987188"/>
            <a:ext cx="3056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=3X3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区域太小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98128" y="1575506"/>
            <a:ext cx="51144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2861" y="2137455"/>
            <a:ext cx="96472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endParaRPr lang="en-US" altLang="zh-CN" sz="2400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卷积神经网络应用示例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3329" y="4488306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4504829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94" y="1581927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21" y="5453213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04387" y="5477054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6587" y="3075389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44989" y="40123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4239" y="38937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35761" y="3615389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32340" y="3463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2625" y="1401774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5"/>
          <p:cNvSpPr txBox="1"/>
          <p:nvPr/>
        </p:nvSpPr>
        <p:spPr>
          <a:xfrm>
            <a:off x="-501627" y="2663999"/>
            <a:ext cx="471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55"/>
          <p:cNvSpPr txBox="1"/>
          <p:nvPr/>
        </p:nvSpPr>
        <p:spPr>
          <a:xfrm>
            <a:off x="3580033" y="2679547"/>
            <a:ext cx="150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字方塊 55"/>
          <p:cNvSpPr txBox="1"/>
          <p:nvPr/>
        </p:nvSpPr>
        <p:spPr>
          <a:xfrm>
            <a:off x="5852046" y="266399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字方塊 55"/>
          <p:cNvSpPr txBox="1"/>
          <p:nvPr/>
        </p:nvSpPr>
        <p:spPr>
          <a:xfrm>
            <a:off x="-89849" y="1868171"/>
            <a:ext cx="1189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通过下采样缩减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尺度。常用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pooling.</a:t>
            </a:r>
          </a:p>
        </p:txBody>
      </p:sp>
      <p:sp>
        <p:nvSpPr>
          <p:cNvPr id="10" name="右箭头 9"/>
          <p:cNvSpPr/>
          <p:nvPr/>
        </p:nvSpPr>
        <p:spPr>
          <a:xfrm>
            <a:off x="8278600" y="4107325"/>
            <a:ext cx="978408" cy="1516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13905" y="3774777"/>
            <a:ext cx="13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Max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pooling</a:t>
            </a:r>
            <a:endParaRPr kumimoji="1" lang="zh-CN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512340" y="376577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文字方塊 55"/>
          <p:cNvSpPr txBox="1"/>
          <p:nvPr/>
        </p:nvSpPr>
        <p:spPr>
          <a:xfrm>
            <a:off x="8358189" y="2698774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下采样后的 </a:t>
            </a:r>
            <a:endParaRPr lang="zh-CN" altLang="en-US" sz="2000" dirty="0"/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 24"/>
          <p:cNvGrpSpPr/>
          <p:nvPr/>
        </p:nvGrpSpPr>
        <p:grpSpPr>
          <a:xfrm>
            <a:off x="6746609" y="5168808"/>
            <a:ext cx="3421224" cy="1002581"/>
            <a:chOff x="6746609" y="5168808"/>
            <a:chExt cx="3421224" cy="10025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09" y="5235389"/>
              <a:ext cx="1239170" cy="936000"/>
            </a:xfrm>
            <a:prstGeom prst="rect">
              <a:avLst/>
            </a:prstGeom>
          </p:spPr>
        </p:pic>
        <p:sp>
          <p:nvSpPr>
            <p:cNvPr id="21" name="右箭头 20"/>
            <p:cNvSpPr/>
            <p:nvPr/>
          </p:nvSpPr>
          <p:spPr>
            <a:xfrm>
              <a:off x="8264745" y="5578695"/>
              <a:ext cx="978408" cy="15162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354819" y="5168808"/>
              <a:ext cx="946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下采样 </a:t>
              </a:r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6844" y="5417452"/>
              <a:ext cx="590989" cy="4464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587310" y="610337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01319" y="6135077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9423335" y="5832835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6587" y="3075389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44989" y="40123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4239" y="38937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35761" y="3615389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32340" y="3463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2243" y="1441145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5"/>
          <p:cNvSpPr txBox="1"/>
          <p:nvPr/>
        </p:nvSpPr>
        <p:spPr>
          <a:xfrm>
            <a:off x="-501627" y="2663999"/>
            <a:ext cx="471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55"/>
          <p:cNvSpPr txBox="1"/>
          <p:nvPr/>
        </p:nvSpPr>
        <p:spPr>
          <a:xfrm>
            <a:off x="3580033" y="2679547"/>
            <a:ext cx="150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字方塊 55"/>
          <p:cNvSpPr txBox="1"/>
          <p:nvPr/>
        </p:nvSpPr>
        <p:spPr>
          <a:xfrm>
            <a:off x="5852046" y="266399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字方塊 55"/>
          <p:cNvSpPr txBox="1"/>
          <p:nvPr/>
        </p:nvSpPr>
        <p:spPr>
          <a:xfrm>
            <a:off x="-89849" y="1868171"/>
            <a:ext cx="1189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通过下采样缩减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尺度。常用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pooling.</a:t>
            </a:r>
          </a:p>
        </p:txBody>
      </p:sp>
      <p:sp>
        <p:nvSpPr>
          <p:cNvPr id="10" name="右箭头 9"/>
          <p:cNvSpPr/>
          <p:nvPr/>
        </p:nvSpPr>
        <p:spPr>
          <a:xfrm>
            <a:off x="8278600" y="4107325"/>
            <a:ext cx="978408" cy="1516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13905" y="3774777"/>
            <a:ext cx="13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Max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pooling</a:t>
            </a:r>
            <a:endParaRPr kumimoji="1" lang="zh-CN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512340" y="376577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文字方塊 55"/>
          <p:cNvSpPr txBox="1"/>
          <p:nvPr/>
        </p:nvSpPr>
        <p:spPr>
          <a:xfrm>
            <a:off x="8358189" y="2698774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下采样后的 </a:t>
            </a:r>
            <a:endParaRPr lang="zh-CN" altLang="en-US" sz="2000" dirty="0"/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 24"/>
          <p:cNvGrpSpPr/>
          <p:nvPr/>
        </p:nvGrpSpPr>
        <p:grpSpPr>
          <a:xfrm>
            <a:off x="6746609" y="5168808"/>
            <a:ext cx="3421224" cy="1002581"/>
            <a:chOff x="6746609" y="5168808"/>
            <a:chExt cx="3421224" cy="10025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09" y="5235389"/>
              <a:ext cx="1239170" cy="936000"/>
            </a:xfrm>
            <a:prstGeom prst="rect">
              <a:avLst/>
            </a:prstGeom>
          </p:spPr>
        </p:pic>
        <p:sp>
          <p:nvSpPr>
            <p:cNvPr id="21" name="右箭头 20"/>
            <p:cNvSpPr/>
            <p:nvPr/>
          </p:nvSpPr>
          <p:spPr>
            <a:xfrm>
              <a:off x="8264745" y="5578695"/>
              <a:ext cx="978408" cy="15162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354819" y="5168808"/>
              <a:ext cx="946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下采样 </a:t>
              </a:r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6844" y="5417452"/>
              <a:ext cx="590989" cy="4464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587310" y="598907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01319" y="6135077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9423335" y="5832835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6587" y="3075389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44989" y="40123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4239" y="38937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35761" y="3615389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32340" y="3463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4654" y="1400866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字方塊 55"/>
          <p:cNvSpPr txBox="1"/>
          <p:nvPr/>
        </p:nvSpPr>
        <p:spPr>
          <a:xfrm>
            <a:off x="-89849" y="1868171"/>
            <a:ext cx="1189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通过下采样缩减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尺度。常用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pooling.</a:t>
            </a:r>
          </a:p>
        </p:txBody>
      </p:sp>
      <p:sp>
        <p:nvSpPr>
          <p:cNvPr id="10" name="右箭头 9"/>
          <p:cNvSpPr/>
          <p:nvPr/>
        </p:nvSpPr>
        <p:spPr>
          <a:xfrm>
            <a:off x="8181615" y="4107325"/>
            <a:ext cx="978408" cy="1516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2340" y="3774777"/>
            <a:ext cx="13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Max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pooling</a:t>
            </a:r>
            <a:endParaRPr kumimoji="1" lang="zh-CN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512340" y="376577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组 16"/>
          <p:cNvGrpSpPr/>
          <p:nvPr/>
        </p:nvGrpSpPr>
        <p:grpSpPr>
          <a:xfrm>
            <a:off x="6746609" y="5168808"/>
            <a:ext cx="3421224" cy="1002581"/>
            <a:chOff x="6746609" y="5168808"/>
            <a:chExt cx="3421224" cy="10025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09" y="5235389"/>
              <a:ext cx="1239170" cy="936000"/>
            </a:xfrm>
            <a:prstGeom prst="rect">
              <a:avLst/>
            </a:prstGeom>
          </p:spPr>
        </p:pic>
        <p:sp>
          <p:nvSpPr>
            <p:cNvPr id="21" name="右箭头 20"/>
            <p:cNvSpPr/>
            <p:nvPr/>
          </p:nvSpPr>
          <p:spPr>
            <a:xfrm>
              <a:off x="8264745" y="5578695"/>
              <a:ext cx="978408" cy="15162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8354819" y="5168808"/>
              <a:ext cx="946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下采样 </a:t>
              </a:r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6844" y="5417452"/>
              <a:ext cx="590989" cy="446400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6" name="文字方塊 55"/>
          <p:cNvSpPr txBox="1"/>
          <p:nvPr/>
        </p:nvSpPr>
        <p:spPr>
          <a:xfrm>
            <a:off x="-501627" y="2663999"/>
            <a:ext cx="471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字方塊 55"/>
          <p:cNvSpPr txBox="1"/>
          <p:nvPr/>
        </p:nvSpPr>
        <p:spPr>
          <a:xfrm>
            <a:off x="3580033" y="2679547"/>
            <a:ext cx="150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字方塊 55"/>
          <p:cNvSpPr txBox="1"/>
          <p:nvPr/>
        </p:nvSpPr>
        <p:spPr>
          <a:xfrm>
            <a:off x="5852046" y="266399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字方塊 55"/>
          <p:cNvSpPr txBox="1"/>
          <p:nvPr/>
        </p:nvSpPr>
        <p:spPr>
          <a:xfrm>
            <a:off x="8358189" y="2698774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下采样后的 </a:t>
            </a:r>
            <a:endParaRPr lang="zh-CN" altLang="en-US" sz="2000" dirty="0"/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01319" y="6135077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9423335" y="5832835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6587" y="3075389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44989" y="40123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4239" y="38937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35761" y="3615389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32340" y="3463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5223" y="1408488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字方塊 55"/>
          <p:cNvSpPr txBox="1"/>
          <p:nvPr/>
        </p:nvSpPr>
        <p:spPr>
          <a:xfrm>
            <a:off x="-89849" y="1868171"/>
            <a:ext cx="1189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通过下采样缩减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尺度。常用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pooling.</a:t>
            </a:r>
          </a:p>
        </p:txBody>
      </p:sp>
      <p:sp>
        <p:nvSpPr>
          <p:cNvPr id="10" name="右箭头 9"/>
          <p:cNvSpPr/>
          <p:nvPr/>
        </p:nvSpPr>
        <p:spPr>
          <a:xfrm>
            <a:off x="8181615" y="4107325"/>
            <a:ext cx="978408" cy="1516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2340" y="3774777"/>
            <a:ext cx="13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Max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pooling</a:t>
            </a:r>
            <a:endParaRPr kumimoji="1" lang="zh-CN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512340" y="376577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组 16"/>
          <p:cNvGrpSpPr/>
          <p:nvPr/>
        </p:nvGrpSpPr>
        <p:grpSpPr>
          <a:xfrm>
            <a:off x="6746609" y="5168808"/>
            <a:ext cx="3421224" cy="1002581"/>
            <a:chOff x="6746609" y="5168808"/>
            <a:chExt cx="3421224" cy="10025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09" y="5235389"/>
              <a:ext cx="1239170" cy="936000"/>
            </a:xfrm>
            <a:prstGeom prst="rect">
              <a:avLst/>
            </a:prstGeom>
          </p:spPr>
        </p:pic>
        <p:sp>
          <p:nvSpPr>
            <p:cNvPr id="21" name="右箭头 20"/>
            <p:cNvSpPr/>
            <p:nvPr/>
          </p:nvSpPr>
          <p:spPr>
            <a:xfrm>
              <a:off x="8264745" y="5578695"/>
              <a:ext cx="978408" cy="15162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8354819" y="5168808"/>
              <a:ext cx="946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下采样 </a:t>
              </a:r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6844" y="5417452"/>
              <a:ext cx="590989" cy="446400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6" name="文字方塊 55"/>
          <p:cNvSpPr txBox="1"/>
          <p:nvPr/>
        </p:nvSpPr>
        <p:spPr>
          <a:xfrm>
            <a:off x="-501627" y="2663999"/>
            <a:ext cx="471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字方塊 55"/>
          <p:cNvSpPr txBox="1"/>
          <p:nvPr/>
        </p:nvSpPr>
        <p:spPr>
          <a:xfrm>
            <a:off x="3580033" y="2679547"/>
            <a:ext cx="150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字方塊 55"/>
          <p:cNvSpPr txBox="1"/>
          <p:nvPr/>
        </p:nvSpPr>
        <p:spPr>
          <a:xfrm>
            <a:off x="5852046" y="266399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字方塊 55"/>
          <p:cNvSpPr txBox="1"/>
          <p:nvPr/>
        </p:nvSpPr>
        <p:spPr>
          <a:xfrm>
            <a:off x="8358189" y="2698774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下采样后的 </a:t>
            </a:r>
            <a:endParaRPr lang="zh-CN" altLang="en-US" sz="2000" dirty="0"/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01319" y="6135077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9423335" y="5832835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6587" y="3075389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44989" y="40123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*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4239" y="389377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=</a:t>
            </a:r>
            <a:endParaRPr kumimoji="1" lang="zh-CN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35761" y="3615389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32340" y="3463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5038" y="1408488"/>
            <a:ext cx="189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字方塊 55"/>
          <p:cNvSpPr txBox="1"/>
          <p:nvPr/>
        </p:nvSpPr>
        <p:spPr>
          <a:xfrm>
            <a:off x="-89849" y="1868171"/>
            <a:ext cx="1189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通过下采样缩减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尺度。常用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pooling.</a:t>
            </a:r>
          </a:p>
        </p:txBody>
      </p:sp>
      <p:sp>
        <p:nvSpPr>
          <p:cNvPr id="10" name="右箭头 9"/>
          <p:cNvSpPr/>
          <p:nvPr/>
        </p:nvSpPr>
        <p:spPr>
          <a:xfrm>
            <a:off x="8181615" y="4107325"/>
            <a:ext cx="978408" cy="1516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2340" y="3774777"/>
            <a:ext cx="13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Max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pooling</a:t>
            </a:r>
            <a:endParaRPr kumimoji="1" lang="zh-CN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512340" y="3765772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组 16"/>
          <p:cNvGrpSpPr/>
          <p:nvPr/>
        </p:nvGrpSpPr>
        <p:grpSpPr>
          <a:xfrm>
            <a:off x="6746609" y="5168808"/>
            <a:ext cx="3421224" cy="1002581"/>
            <a:chOff x="6746609" y="5168808"/>
            <a:chExt cx="3421224" cy="10025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09" y="5235389"/>
              <a:ext cx="1239170" cy="936000"/>
            </a:xfrm>
            <a:prstGeom prst="rect">
              <a:avLst/>
            </a:prstGeom>
          </p:spPr>
        </p:pic>
        <p:sp>
          <p:nvSpPr>
            <p:cNvPr id="21" name="右箭头 20"/>
            <p:cNvSpPr/>
            <p:nvPr/>
          </p:nvSpPr>
          <p:spPr>
            <a:xfrm>
              <a:off x="8264745" y="5578695"/>
              <a:ext cx="978408" cy="15162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8354819" y="5168808"/>
              <a:ext cx="946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下采样 </a:t>
              </a:r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6844" y="5417452"/>
              <a:ext cx="590989" cy="446400"/>
            </a:xfrm>
            <a:prstGeom prst="rect">
              <a:avLst/>
            </a:prstGeom>
          </p:spPr>
        </p:pic>
      </p:grpSp>
      <p:sp>
        <p:nvSpPr>
          <p:cNvPr id="26" name="圆角矩形标注 25"/>
          <p:cNvSpPr/>
          <p:nvPr/>
        </p:nvSpPr>
        <p:spPr>
          <a:xfrm>
            <a:off x="2714394" y="5592386"/>
            <a:ext cx="3137652" cy="700026"/>
          </a:xfrm>
          <a:prstGeom prst="wedgeRoundRectCallout">
            <a:avLst>
              <a:gd name="adj1" fmla="val 62585"/>
              <a:gd name="adj2" fmla="val -150485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可以增大感受野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87310" y="6046228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为卷积操作</a:t>
            </a:r>
          </a:p>
        </p:txBody>
      </p:sp>
      <p:sp>
        <p:nvSpPr>
          <p:cNvPr id="27" name="文字方塊 55"/>
          <p:cNvSpPr txBox="1"/>
          <p:nvPr/>
        </p:nvSpPr>
        <p:spPr>
          <a:xfrm>
            <a:off x="-501627" y="2663999"/>
            <a:ext cx="471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nput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mage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字方塊 55"/>
          <p:cNvSpPr txBox="1"/>
          <p:nvPr/>
        </p:nvSpPr>
        <p:spPr>
          <a:xfrm>
            <a:off x="3580033" y="2679547"/>
            <a:ext cx="150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ernel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字方塊 55"/>
          <p:cNvSpPr txBox="1"/>
          <p:nvPr/>
        </p:nvSpPr>
        <p:spPr>
          <a:xfrm>
            <a:off x="5852046" y="2663999"/>
            <a:ext cx="302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字方塊 55"/>
          <p:cNvSpPr txBox="1"/>
          <p:nvPr/>
        </p:nvSpPr>
        <p:spPr>
          <a:xfrm>
            <a:off x="8358189" y="2698774"/>
            <a:ext cx="302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下采样后的 </a:t>
            </a:r>
            <a:endParaRPr lang="zh-CN" altLang="en-US" sz="2000" dirty="0"/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eature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endParaRPr lang="zh-TW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01319" y="6135077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640x480</a:t>
            </a:r>
            <a:endParaRPr kumimoji="1" lang="zh-CN" altLang="en-US" sz="1600" dirty="0"/>
          </a:p>
        </p:txBody>
      </p:sp>
      <p:sp>
        <p:nvSpPr>
          <p:cNvPr id="32" name="文本框 31"/>
          <p:cNvSpPr txBox="1"/>
          <p:nvPr/>
        </p:nvSpPr>
        <p:spPr>
          <a:xfrm>
            <a:off x="9423335" y="5832835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320x240</a:t>
            </a:r>
            <a:endParaRPr kumimoji="1"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81800" y="1493865"/>
            <a:ext cx="51144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建立模型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6533" y="2055814"/>
            <a:ext cx="96472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卷积神经网络应用示例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67001" y="4406665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损失函数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66" y="4423188"/>
            <a:ext cx="498966" cy="49896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66" y="1500286"/>
            <a:ext cx="498966" cy="4989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93" y="5371572"/>
            <a:ext cx="498966" cy="4989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988059" y="5395413"/>
            <a:ext cx="534303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参数学习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5151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9088" y="1434620"/>
            <a:ext cx="387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卷积神经网络结构</a:t>
            </a:r>
            <a:endParaRPr lang="zh-TW" altLang="en-US" sz="2400" b="1" dirty="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62598" y="2866336"/>
            <a:ext cx="666710" cy="2436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橢圓 17"/>
          <p:cNvSpPr/>
          <p:nvPr/>
        </p:nvSpPr>
        <p:spPr>
          <a:xfrm>
            <a:off x="3058177" y="291777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橢圓 18"/>
          <p:cNvSpPr/>
          <p:nvPr/>
        </p:nvSpPr>
        <p:spPr>
          <a:xfrm>
            <a:off x="3060269" y="3613377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橢圓 19"/>
          <p:cNvSpPr/>
          <p:nvPr/>
        </p:nvSpPr>
        <p:spPr>
          <a:xfrm>
            <a:off x="3049877" y="4710524"/>
            <a:ext cx="512898" cy="512972"/>
          </a:xfrm>
          <a:prstGeom prst="ellipse">
            <a:avLst/>
          </a:prstGeom>
          <a:solidFill>
            <a:srgbClr val="FBC9CC"/>
          </a:solidFill>
          <a:ln>
            <a:solidFill>
              <a:srgbClr val="EB8E98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02" y="3361891"/>
            <a:ext cx="1696710" cy="1281600"/>
          </a:xfrm>
          <a:prstGeom prst="rect">
            <a:avLst/>
          </a:prstGeom>
        </p:spPr>
      </p:pic>
      <p:sp>
        <p:nvSpPr>
          <p:cNvPr id="10" name="文字方塊 20"/>
          <p:cNvSpPr txBox="1"/>
          <p:nvPr/>
        </p:nvSpPr>
        <p:spPr>
          <a:xfrm rot="5400000">
            <a:off x="3047373" y="4197280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字方塊 54"/>
          <p:cNvSpPr txBox="1"/>
          <p:nvPr/>
        </p:nvSpPr>
        <p:spPr>
          <a:xfrm>
            <a:off x="3057527" y="2894429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字方塊 54"/>
          <p:cNvSpPr txBox="1"/>
          <p:nvPr/>
        </p:nvSpPr>
        <p:spPr>
          <a:xfrm>
            <a:off x="3060237" y="3600789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字方塊 54"/>
          <p:cNvSpPr txBox="1"/>
          <p:nvPr/>
        </p:nvSpPr>
        <p:spPr>
          <a:xfrm>
            <a:off x="3064388" y="4655036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線單箭頭接點 35"/>
          <p:cNvCxnSpPr/>
          <p:nvPr/>
        </p:nvCxnSpPr>
        <p:spPr>
          <a:xfrm>
            <a:off x="2408900" y="3865386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35"/>
          <p:cNvCxnSpPr/>
          <p:nvPr/>
        </p:nvCxnSpPr>
        <p:spPr>
          <a:xfrm>
            <a:off x="2408900" y="4966850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54"/>
          <p:cNvSpPr txBox="1"/>
          <p:nvPr/>
        </p:nvSpPr>
        <p:spPr>
          <a:xfrm>
            <a:off x="2403186" y="2694120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字方塊 54"/>
          <p:cNvSpPr txBox="1"/>
          <p:nvPr/>
        </p:nvSpPr>
        <p:spPr>
          <a:xfrm>
            <a:off x="2388388" y="3385593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字方塊 54"/>
          <p:cNvSpPr txBox="1"/>
          <p:nvPr/>
        </p:nvSpPr>
        <p:spPr>
          <a:xfrm>
            <a:off x="2398862" y="4475922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線單箭頭接點 35"/>
          <p:cNvCxnSpPr/>
          <p:nvPr/>
        </p:nvCxnSpPr>
        <p:spPr>
          <a:xfrm>
            <a:off x="2427673" y="3180022"/>
            <a:ext cx="5061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232191" y="2831336"/>
            <a:ext cx="504000" cy="243627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238956" y="3361891"/>
            <a:ext cx="504000" cy="14098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69173" y="2831336"/>
            <a:ext cx="504000" cy="243627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827504" y="3385593"/>
            <a:ext cx="504000" cy="14098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TW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字方塊 20"/>
          <p:cNvSpPr txBox="1"/>
          <p:nvPr/>
        </p:nvSpPr>
        <p:spPr>
          <a:xfrm>
            <a:off x="6011004" y="3804785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線單箭頭接點 35"/>
          <p:cNvCxnSpPr>
            <a:endCxn id="28" idx="1"/>
          </p:cNvCxnSpPr>
          <p:nvPr/>
        </p:nvCxnSpPr>
        <p:spPr>
          <a:xfrm>
            <a:off x="3562775" y="3174263"/>
            <a:ext cx="669416" cy="8752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5"/>
          <p:cNvCxnSpPr>
            <a:endCxn id="28" idx="1"/>
          </p:cNvCxnSpPr>
          <p:nvPr/>
        </p:nvCxnSpPr>
        <p:spPr>
          <a:xfrm>
            <a:off x="3628124" y="3818640"/>
            <a:ext cx="604067" cy="2308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13" idx="3"/>
            <a:endCxn id="28" idx="1"/>
          </p:cNvCxnSpPr>
          <p:nvPr/>
        </p:nvCxnSpPr>
        <p:spPr>
          <a:xfrm flipV="1">
            <a:off x="3628124" y="4049472"/>
            <a:ext cx="604067" cy="839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5"/>
          <p:cNvCxnSpPr/>
          <p:nvPr/>
        </p:nvCxnSpPr>
        <p:spPr>
          <a:xfrm>
            <a:off x="4811158" y="4109867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5"/>
          <p:cNvCxnSpPr/>
          <p:nvPr/>
        </p:nvCxnSpPr>
        <p:spPr>
          <a:xfrm>
            <a:off x="5804068" y="4126349"/>
            <a:ext cx="288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35"/>
          <p:cNvCxnSpPr/>
          <p:nvPr/>
        </p:nvCxnSpPr>
        <p:spPr>
          <a:xfrm>
            <a:off x="7431504" y="4128661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35"/>
          <p:cNvCxnSpPr/>
          <p:nvPr/>
        </p:nvCxnSpPr>
        <p:spPr>
          <a:xfrm>
            <a:off x="6595028" y="4126349"/>
            <a:ext cx="288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781730" y="2817481"/>
            <a:ext cx="504000" cy="243627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全连接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線單箭頭接點 35"/>
          <p:cNvCxnSpPr/>
          <p:nvPr/>
        </p:nvCxnSpPr>
        <p:spPr>
          <a:xfrm>
            <a:off x="8385730" y="4126349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35"/>
          <p:cNvCxnSpPr/>
          <p:nvPr/>
        </p:nvCxnSpPr>
        <p:spPr>
          <a:xfrm>
            <a:off x="9346842" y="4126349"/>
            <a:ext cx="396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9744185" y="2817481"/>
            <a:ext cx="504000" cy="24362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Soft-max</a:t>
            </a:r>
            <a:endParaRPr lang="zh-TW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線單箭頭接點 10"/>
          <p:cNvCxnSpPr/>
          <p:nvPr/>
        </p:nvCxnSpPr>
        <p:spPr>
          <a:xfrm>
            <a:off x="10329289" y="3763612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11"/>
          <p:cNvCxnSpPr/>
          <p:nvPr/>
        </p:nvCxnSpPr>
        <p:spPr>
          <a:xfrm>
            <a:off x="10325344" y="4876731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12"/>
          <p:cNvCxnSpPr/>
          <p:nvPr/>
        </p:nvCxnSpPr>
        <p:spPr>
          <a:xfrm>
            <a:off x="10307954" y="3067803"/>
            <a:ext cx="54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53"/>
          <p:cNvSpPr txBox="1"/>
          <p:nvPr/>
        </p:nvSpPr>
        <p:spPr>
          <a:xfrm rot="5400000">
            <a:off x="10802680" y="4124025"/>
            <a:ext cx="6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字方塊 54"/>
          <p:cNvSpPr txBox="1"/>
          <p:nvPr/>
        </p:nvSpPr>
        <p:spPr>
          <a:xfrm>
            <a:off x="10864450" y="2764161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字方塊 55"/>
          <p:cNvSpPr txBox="1"/>
          <p:nvPr/>
        </p:nvSpPr>
        <p:spPr>
          <a:xfrm>
            <a:off x="10854371" y="3477317"/>
            <a:ext cx="563736" cy="46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字方塊 56"/>
          <p:cNvSpPr txBox="1"/>
          <p:nvPr/>
        </p:nvSpPr>
        <p:spPr>
          <a:xfrm>
            <a:off x="10854369" y="4608611"/>
            <a:ext cx="75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TW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TW" altLang="en-US" sz="28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248779" y="467016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X</a:t>
            </a:r>
            <a:endParaRPr kumimoji="1" lang="zh-CN" altLang="en-US" sz="2400" dirty="0"/>
          </a:p>
        </p:txBody>
      </p:sp>
      <p:sp>
        <p:nvSpPr>
          <p:cNvPr id="63" name="椭圆形标注 62"/>
          <p:cNvSpPr/>
          <p:nvPr/>
        </p:nvSpPr>
        <p:spPr>
          <a:xfrm>
            <a:off x="7835274" y="1789563"/>
            <a:ext cx="2303699" cy="741686"/>
          </a:xfrm>
          <a:prstGeom prst="wedgeEllipseCallout">
            <a:avLst>
              <a:gd name="adj1" fmla="val -43062"/>
              <a:gd name="adj2" fmla="val 1438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卷积层后接一个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3" name="爆炸形 2 2"/>
          <p:cNvSpPr/>
          <p:nvPr/>
        </p:nvSpPr>
        <p:spPr>
          <a:xfrm>
            <a:off x="4628191" y="2144016"/>
            <a:ext cx="2585097" cy="1139213"/>
          </a:xfrm>
          <a:prstGeom prst="irregularSeal2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结构灵活！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  参数少！</a:t>
            </a:r>
          </a:p>
        </p:txBody>
      </p:sp>
      <p:pic>
        <p:nvPicPr>
          <p:cNvPr id="54" name="Picture 4" descr="C:\Users\balan\AppData\Roaming\Tencent\Users\32506426\QQ\WinTemp\RichOle\PK~@QWP67GDO%$R1%[$MUF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2735" y="5425829"/>
            <a:ext cx="899000" cy="1078799"/>
          </a:xfrm>
          <a:prstGeom prst="rect">
            <a:avLst/>
          </a:prstGeom>
          <a:noFill/>
        </p:spPr>
      </p:pic>
      <p:sp>
        <p:nvSpPr>
          <p:cNvPr id="55" name="矩形 54"/>
          <p:cNvSpPr/>
          <p:nvPr/>
        </p:nvSpPr>
        <p:spPr>
          <a:xfrm>
            <a:off x="1823811" y="5686602"/>
            <a:ext cx="4842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每层设置多少个卷积核？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如何选择合适的卷积层数？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标注 55"/>
          <p:cNvSpPr/>
          <p:nvPr/>
        </p:nvSpPr>
        <p:spPr>
          <a:xfrm>
            <a:off x="6291880" y="5739059"/>
            <a:ext cx="2097377" cy="700026"/>
          </a:xfrm>
          <a:prstGeom prst="wedgeRoundRectCallout">
            <a:avLst>
              <a:gd name="adj1" fmla="val -79147"/>
              <a:gd name="adj2" fmla="val -3273"/>
              <a:gd name="adj3" fmla="val 16667"/>
            </a:avLst>
          </a:prstGeom>
          <a:solidFill>
            <a:srgbClr val="92D050"/>
          </a:solidFill>
          <a:ln>
            <a:solidFill>
              <a:srgbClr val="51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视具体任务而定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2" grpId="0" animBg="1"/>
      <p:bldP spid="33" grpId="0"/>
      <p:bldP spid="43" grpId="0" animBg="1"/>
      <p:bldP spid="46" grpId="0" animBg="1"/>
      <p:bldP spid="50" grpId="0"/>
      <p:bldP spid="51" grpId="0"/>
      <p:bldP spid="52" grpId="0"/>
      <p:bldP spid="53" grpId="0"/>
      <p:bldP spid="63" grpId="0" animBg="1"/>
      <p:bldP spid="3" grpId="0" animBg="1"/>
      <p:bldP spid="55" grpId="0"/>
      <p:bldP spid="55" grpId="1"/>
      <p:bldP spid="5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3537" y="1448665"/>
            <a:ext cx="3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经典模型</a:t>
            </a: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(LeNet-5)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37" y="1902222"/>
            <a:ext cx="11363569" cy="3398451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5120" y="1280630"/>
            <a:ext cx="3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经典模型</a:t>
            </a: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(LeNet-5)</a:t>
            </a:r>
          </a:p>
        </p:txBody>
      </p:sp>
      <p:sp>
        <p:nvSpPr>
          <p:cNvPr id="5" name="矩形 4"/>
          <p:cNvSpPr/>
          <p:nvPr/>
        </p:nvSpPr>
        <p:spPr>
          <a:xfrm>
            <a:off x="325120" y="5086367"/>
            <a:ext cx="11684000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层（卷积层）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个卷积核，卷积核大小为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5×5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；则共有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× 25 + 6 = 156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个参数（加了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个偏置）。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层（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pooling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，则共有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× (1+1)= 12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个参数。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（计算过程是：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2×2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单元里的值相加再乘以训练参数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，再加上偏置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1759345"/>
            <a:ext cx="11363569" cy="3398451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6428" y="1325150"/>
            <a:ext cx="3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经典模型</a:t>
            </a: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(LeNet-5)</a:t>
            </a:r>
          </a:p>
        </p:txBody>
      </p:sp>
      <p:sp>
        <p:nvSpPr>
          <p:cNvPr id="5" name="矩形 4"/>
          <p:cNvSpPr/>
          <p:nvPr/>
        </p:nvSpPr>
        <p:spPr>
          <a:xfrm>
            <a:off x="790863" y="5086367"/>
            <a:ext cx="10481606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多通道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核卷积得到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个卷积核（具体如连接表所示），每个卷积核大小为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5×5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；则共有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60 × 25 + 16 = 1516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个参数（加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个偏置）。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，则共有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 × (1+1)= 32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个参数。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（计算过程同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S2)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37" y="1787920"/>
            <a:ext cx="11363569" cy="33984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666" y="83517"/>
            <a:ext cx="5942505" cy="201960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8315326" y="2121085"/>
            <a:ext cx="2380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spc="-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S2</a:t>
            </a:r>
            <a:r>
              <a:rPr lang="zh-CN" altLang="en-US" b="1" spc="-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层到</a:t>
            </a:r>
            <a:r>
              <a:rPr lang="en-US" altLang="zh-CN" b="1" spc="-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C3</a:t>
            </a:r>
            <a:r>
              <a:rPr lang="zh-CN" altLang="en-US" b="1" spc="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b="1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层的连接表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3537" y="1257152"/>
            <a:ext cx="3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经典模型</a:t>
            </a: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(LeNet-5)</a:t>
            </a:r>
          </a:p>
        </p:txBody>
      </p:sp>
      <p:sp>
        <p:nvSpPr>
          <p:cNvPr id="5" name="矩形 4"/>
          <p:cNvSpPr/>
          <p:nvPr/>
        </p:nvSpPr>
        <p:spPr>
          <a:xfrm>
            <a:off x="999194" y="5072070"/>
            <a:ext cx="10481606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C5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10×10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1×1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的所有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之间全部相连，有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 × 16=1920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个卷积核。每个卷积核大小为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5×5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；则共有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1920 × 25 + 120 = 48120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个参数（加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个偏置）。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37" y="1673619"/>
            <a:ext cx="11363569" cy="3398451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3846" y="367001"/>
            <a:ext cx="70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3537" y="1440557"/>
            <a:ext cx="350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经典模型</a:t>
            </a:r>
            <a:r>
              <a:rPr lang="en-US" altLang="zh-CN" sz="2400" b="1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(LeNet-5)</a:t>
            </a:r>
          </a:p>
        </p:txBody>
      </p:sp>
      <p:sp>
        <p:nvSpPr>
          <p:cNvPr id="5" name="矩形 4"/>
          <p:cNvSpPr/>
          <p:nvPr/>
        </p:nvSpPr>
        <p:spPr>
          <a:xfrm>
            <a:off x="999194" y="5300673"/>
            <a:ext cx="10481606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：全连接层，可训练参数为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84 × (120+1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10164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0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输出层由</a:t>
            </a:r>
            <a:r>
              <a:rPr lang="zh-CN" altLang="en-US" sz="2000" spc="3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spc="-7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000" spc="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个欧氏径向基函数组成。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37" y="1902222"/>
            <a:ext cx="11363569" cy="3398451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46606" y="2621748"/>
            <a:ext cx="225553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LeNet</a:t>
            </a:r>
            <a:endParaRPr lang="zh-CN" altLang="en-US" sz="24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2538064" y="917257"/>
            <a:ext cx="2476086" cy="907414"/>
            <a:chOff x="969818" y="1383051"/>
            <a:chExt cx="2476086" cy="907414"/>
          </a:xfrm>
        </p:grpSpPr>
        <p:sp>
          <p:nvSpPr>
            <p:cNvPr id="6" name="文本框 5"/>
            <p:cNvSpPr txBox="1"/>
            <p:nvPr/>
          </p:nvSpPr>
          <p:spPr>
            <a:xfrm>
              <a:off x="969818" y="1828800"/>
              <a:ext cx="2255532" cy="46166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Hubel &amp; Wiesel</a:t>
              </a:r>
              <a:endParaRPr lang="zh-CN" altLang="en-US" sz="2400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57144" y="1383051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早期尝试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07585" y="775595"/>
            <a:ext cx="4090136" cy="2489271"/>
            <a:chOff x="3063183" y="1072648"/>
            <a:chExt cx="4090136" cy="2489271"/>
          </a:xfrm>
        </p:grpSpPr>
        <p:sp>
          <p:nvSpPr>
            <p:cNvPr id="9" name="文本框 8"/>
            <p:cNvSpPr txBox="1"/>
            <p:nvPr/>
          </p:nvSpPr>
          <p:spPr>
            <a:xfrm>
              <a:off x="4733754" y="2500330"/>
              <a:ext cx="2272146" cy="461665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AlexNet</a:t>
              </a:r>
              <a:endParaRPr lang="zh-CN" altLang="en-US" sz="2400" b="1" dirty="0"/>
            </a:p>
          </p:txBody>
        </p:sp>
        <p:sp>
          <p:nvSpPr>
            <p:cNvPr id="10" name="弧形 9"/>
            <p:cNvSpPr/>
            <p:nvPr/>
          </p:nvSpPr>
          <p:spPr>
            <a:xfrm rot="7763864">
              <a:off x="2683126" y="1452705"/>
              <a:ext cx="2489271" cy="1729157"/>
            </a:xfrm>
            <a:prstGeom prst="arc">
              <a:avLst>
                <a:gd name="adj1" fmla="val 16200000"/>
                <a:gd name="adj2" fmla="val 21536748"/>
              </a:avLst>
            </a:prstGeom>
            <a:ln w="38100">
              <a:solidFill>
                <a:srgbClr val="FF99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864559" y="2059724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历史突破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190979" y="2462441"/>
              <a:ext cx="2288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47379" y="2996385"/>
            <a:ext cx="7533699" cy="3555632"/>
            <a:chOff x="2034218" y="3512073"/>
            <a:chExt cx="7533699" cy="3555632"/>
          </a:xfrm>
        </p:grpSpPr>
        <p:grpSp>
          <p:nvGrpSpPr>
            <p:cNvPr id="15" name="组合 14"/>
            <p:cNvGrpSpPr/>
            <p:nvPr/>
          </p:nvGrpSpPr>
          <p:grpSpPr>
            <a:xfrm>
              <a:off x="2034218" y="3964315"/>
              <a:ext cx="7533699" cy="3103390"/>
              <a:chOff x="2034218" y="3964315"/>
              <a:chExt cx="7533699" cy="3103390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4178114" y="4463476"/>
                <a:ext cx="2671678" cy="1421239"/>
                <a:chOff x="5912664" y="4105134"/>
                <a:chExt cx="2920506" cy="1421239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5912664" y="4105134"/>
                  <a:ext cx="2920506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NIN</a:t>
                  </a:r>
                  <a:endParaRPr lang="zh-CN" altLang="en-US" sz="2400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5928206" y="4581592"/>
                  <a:ext cx="2904961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GoogleNet</a:t>
                  </a:r>
                  <a:endParaRPr lang="zh-CN" altLang="en-US" sz="2400" b="1" dirty="0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928207" y="5064708"/>
                  <a:ext cx="2904961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Inception V3,V4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2034218" y="3964315"/>
                <a:ext cx="2068570" cy="941198"/>
                <a:chOff x="2108471" y="3964315"/>
                <a:chExt cx="1994304" cy="941198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2108471" y="4443848"/>
                  <a:ext cx="1994303" cy="46166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VGG</a:t>
                  </a:r>
                  <a:endParaRPr lang="zh-CN" altLang="en-US" sz="2400" b="1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2108471" y="3964315"/>
                  <a:ext cx="1994304" cy="461665"/>
                </a:xfrm>
                <a:prstGeom prst="rect">
                  <a:avLst/>
                </a:prstGeom>
                <a:noFill/>
                <a:ln>
                  <a:solidFill>
                    <a:srgbClr val="A9D18E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网络加深</a:t>
                  </a: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896818" y="3964315"/>
                <a:ext cx="2671099" cy="968115"/>
                <a:chOff x="6831295" y="3975246"/>
                <a:chExt cx="2658268" cy="968115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6831295" y="4481696"/>
                  <a:ext cx="2658268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Inception V2</a:t>
                  </a:r>
                  <a:r>
                    <a:rPr lang="zh-CN" altLang="en-US" sz="2400" b="1" dirty="0"/>
                    <a:t>，</a:t>
                  </a:r>
                  <a:r>
                    <a:rPr lang="en-US" altLang="zh-CN" sz="2400" b="1" dirty="0"/>
                    <a:t>BN</a:t>
                  </a:r>
                  <a:endParaRPr lang="zh-CN" altLang="en-US" sz="2400" b="1" dirty="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6831295" y="3975246"/>
                  <a:ext cx="2658268" cy="461665"/>
                </a:xfrm>
                <a:prstGeom prst="rect">
                  <a:avLst/>
                </a:prstGeom>
                <a:noFill/>
                <a:ln>
                  <a:solidFill>
                    <a:srgbClr val="E2F0D9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增加新的功能单元</a:t>
                  </a:r>
                </a:p>
              </p:txBody>
            </p:sp>
          </p:grpSp>
          <p:sp>
            <p:nvSpPr>
              <p:cNvPr id="22" name="文本框 21"/>
              <p:cNvSpPr txBox="1"/>
              <p:nvPr/>
            </p:nvSpPr>
            <p:spPr>
              <a:xfrm>
                <a:off x="4173089" y="3973738"/>
                <a:ext cx="2676702" cy="461665"/>
              </a:xfrm>
              <a:prstGeom prst="rect">
                <a:avLst/>
              </a:prstGeom>
              <a:noFill/>
              <a:ln>
                <a:solidFill>
                  <a:srgbClr val="C5E0B4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增强卷积模块功能</a:t>
                </a: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3122219" y="6114481"/>
                <a:ext cx="2934339" cy="953224"/>
                <a:chOff x="3389979" y="5964501"/>
                <a:chExt cx="2934339" cy="953224"/>
              </a:xfrm>
            </p:grpSpPr>
            <p:sp>
              <p:nvSpPr>
                <p:cNvPr id="26" name="文本框 25"/>
                <p:cNvSpPr txBox="1"/>
                <p:nvPr/>
              </p:nvSpPr>
              <p:spPr>
                <a:xfrm>
                  <a:off x="3389980" y="6456060"/>
                  <a:ext cx="2934338" cy="46166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ResNet</a:t>
                  </a:r>
                  <a:endParaRPr lang="zh-CN" altLang="en-US" sz="2400" b="1" dirty="0"/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3389979" y="5964501"/>
                  <a:ext cx="2934339" cy="461665"/>
                </a:xfrm>
                <a:prstGeom prst="rect">
                  <a:avLst/>
                </a:prstGeom>
                <a:noFill/>
                <a:ln>
                  <a:solidFill>
                    <a:srgbClr val="A9D18E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融合</a:t>
                  </a:r>
                </a:p>
              </p:txBody>
            </p:sp>
          </p:grpSp>
        </p:grpSp>
        <p:sp>
          <p:nvSpPr>
            <p:cNvPr id="16" name="文本框 15"/>
            <p:cNvSpPr txBox="1"/>
            <p:nvPr/>
          </p:nvSpPr>
          <p:spPr>
            <a:xfrm>
              <a:off x="6774065" y="3512073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/>
                <a:t>发展和演化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551140" y="5063192"/>
              <a:ext cx="0" cy="1006591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111842" y="5877257"/>
              <a:ext cx="0" cy="258906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35" name="直接箭头连接符 34"/>
          <p:cNvCxnSpPr/>
          <p:nvPr/>
        </p:nvCxnSpPr>
        <p:spPr>
          <a:xfrm>
            <a:off x="7470102" y="2621748"/>
            <a:ext cx="0" cy="812367"/>
          </a:xfrm>
          <a:prstGeom prst="straightConnector1">
            <a:avLst/>
          </a:prstGeom>
          <a:ln w="5715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3501787" y="1931834"/>
            <a:ext cx="0" cy="6550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00996" y="279006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46606" y="2621748"/>
            <a:ext cx="225553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LeNet</a:t>
            </a:r>
            <a:endParaRPr lang="zh-CN" altLang="en-US" sz="24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2538064" y="917257"/>
            <a:ext cx="2476086" cy="907414"/>
            <a:chOff x="969818" y="1383051"/>
            <a:chExt cx="2476086" cy="907414"/>
          </a:xfrm>
        </p:grpSpPr>
        <p:sp>
          <p:nvSpPr>
            <p:cNvPr id="6" name="文本框 5"/>
            <p:cNvSpPr txBox="1"/>
            <p:nvPr/>
          </p:nvSpPr>
          <p:spPr>
            <a:xfrm>
              <a:off x="969818" y="1828800"/>
              <a:ext cx="2255532" cy="46166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Hubel &amp; Wiesel</a:t>
              </a:r>
              <a:endParaRPr lang="zh-CN" altLang="en-US" sz="2400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57144" y="1383051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早期尝试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07585" y="775595"/>
            <a:ext cx="4090136" cy="2489271"/>
            <a:chOff x="3063183" y="1072648"/>
            <a:chExt cx="4090136" cy="2489271"/>
          </a:xfrm>
        </p:grpSpPr>
        <p:sp>
          <p:nvSpPr>
            <p:cNvPr id="9" name="文本框 8"/>
            <p:cNvSpPr txBox="1"/>
            <p:nvPr/>
          </p:nvSpPr>
          <p:spPr>
            <a:xfrm>
              <a:off x="4733754" y="2500330"/>
              <a:ext cx="2272146" cy="461665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AlexNet</a:t>
              </a:r>
              <a:endParaRPr lang="zh-CN" altLang="en-US" sz="2400" b="1" dirty="0"/>
            </a:p>
          </p:txBody>
        </p:sp>
        <p:sp>
          <p:nvSpPr>
            <p:cNvPr id="10" name="弧形 9"/>
            <p:cNvSpPr/>
            <p:nvPr/>
          </p:nvSpPr>
          <p:spPr>
            <a:xfrm rot="7763864">
              <a:off x="2683126" y="1452705"/>
              <a:ext cx="2489271" cy="1729157"/>
            </a:xfrm>
            <a:prstGeom prst="arc">
              <a:avLst>
                <a:gd name="adj1" fmla="val 16200000"/>
                <a:gd name="adj2" fmla="val 21536748"/>
              </a:avLst>
            </a:prstGeom>
            <a:ln w="38100">
              <a:solidFill>
                <a:srgbClr val="FF99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864559" y="2059724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历史突破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190979" y="2462441"/>
              <a:ext cx="2288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47379" y="2996385"/>
            <a:ext cx="7533699" cy="3555632"/>
            <a:chOff x="2034218" y="3512073"/>
            <a:chExt cx="7533699" cy="3555632"/>
          </a:xfrm>
        </p:grpSpPr>
        <p:grpSp>
          <p:nvGrpSpPr>
            <p:cNvPr id="15" name="组合 14"/>
            <p:cNvGrpSpPr/>
            <p:nvPr/>
          </p:nvGrpSpPr>
          <p:grpSpPr>
            <a:xfrm>
              <a:off x="2034218" y="3964315"/>
              <a:ext cx="7533699" cy="3103390"/>
              <a:chOff x="2034218" y="3964315"/>
              <a:chExt cx="7533699" cy="3103390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4178114" y="4463476"/>
                <a:ext cx="2671678" cy="1421239"/>
                <a:chOff x="5912664" y="4105134"/>
                <a:chExt cx="2920506" cy="1421239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5912664" y="4105134"/>
                  <a:ext cx="2920506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NIN</a:t>
                  </a:r>
                  <a:endParaRPr lang="zh-CN" altLang="en-US" sz="2400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5928206" y="4581592"/>
                  <a:ext cx="2904961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GoogleNet</a:t>
                  </a:r>
                  <a:endParaRPr lang="zh-CN" altLang="en-US" sz="2400" b="1" dirty="0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928207" y="5064708"/>
                  <a:ext cx="2904961" cy="46166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Inception V3,V4</a:t>
                  </a:r>
                  <a:endParaRPr lang="zh-CN" altLang="en-US" sz="2400" b="1" dirty="0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2034218" y="3964315"/>
                <a:ext cx="2068570" cy="941198"/>
                <a:chOff x="2108471" y="3964315"/>
                <a:chExt cx="1994304" cy="941198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2108471" y="4443848"/>
                  <a:ext cx="1994303" cy="46166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VGG</a:t>
                  </a:r>
                  <a:endParaRPr lang="zh-CN" altLang="en-US" sz="2400" b="1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2108471" y="3964315"/>
                  <a:ext cx="1994304" cy="461665"/>
                </a:xfrm>
                <a:prstGeom prst="rect">
                  <a:avLst/>
                </a:prstGeom>
                <a:noFill/>
                <a:ln>
                  <a:solidFill>
                    <a:srgbClr val="A9D18E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网络加深</a:t>
                  </a: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896818" y="3964315"/>
                <a:ext cx="2671099" cy="958490"/>
                <a:chOff x="6831295" y="3975246"/>
                <a:chExt cx="2658268" cy="958490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6831295" y="4472071"/>
                  <a:ext cx="2636760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Inception V2</a:t>
                  </a:r>
                  <a:r>
                    <a:rPr lang="zh-CN" altLang="en-US" sz="2400" b="1" dirty="0"/>
                    <a:t>，</a:t>
                  </a:r>
                  <a:r>
                    <a:rPr lang="en-US" altLang="zh-CN" sz="2400" b="1" dirty="0"/>
                    <a:t>BN</a:t>
                  </a:r>
                  <a:endParaRPr lang="zh-CN" altLang="en-US" sz="2400" b="1" dirty="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6831295" y="3975246"/>
                  <a:ext cx="2658268" cy="461665"/>
                </a:xfrm>
                <a:prstGeom prst="rect">
                  <a:avLst/>
                </a:prstGeom>
                <a:noFill/>
                <a:ln>
                  <a:solidFill>
                    <a:srgbClr val="E2F0D9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增加新的功能单元</a:t>
                  </a:r>
                </a:p>
              </p:txBody>
            </p:sp>
          </p:grpSp>
          <p:sp>
            <p:nvSpPr>
              <p:cNvPr id="22" name="文本框 21"/>
              <p:cNvSpPr txBox="1"/>
              <p:nvPr/>
            </p:nvSpPr>
            <p:spPr>
              <a:xfrm>
                <a:off x="4173089" y="3973738"/>
                <a:ext cx="2676702" cy="461665"/>
              </a:xfrm>
              <a:prstGeom prst="rect">
                <a:avLst/>
              </a:prstGeom>
              <a:noFill/>
              <a:ln>
                <a:solidFill>
                  <a:srgbClr val="C5E0B4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增强卷积模块功能</a:t>
                </a: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3122219" y="6114481"/>
                <a:ext cx="2934339" cy="953224"/>
                <a:chOff x="3389979" y="5964501"/>
                <a:chExt cx="2934339" cy="953224"/>
              </a:xfrm>
            </p:grpSpPr>
            <p:sp>
              <p:nvSpPr>
                <p:cNvPr id="26" name="文本框 25"/>
                <p:cNvSpPr txBox="1"/>
                <p:nvPr/>
              </p:nvSpPr>
              <p:spPr>
                <a:xfrm>
                  <a:off x="3389980" y="6456060"/>
                  <a:ext cx="2934338" cy="46166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/>
                    <a:t>ResNet</a:t>
                  </a:r>
                  <a:endParaRPr lang="zh-CN" altLang="en-US" sz="2400" b="1" dirty="0"/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3389979" y="5964501"/>
                  <a:ext cx="2934339" cy="461665"/>
                </a:xfrm>
                <a:prstGeom prst="rect">
                  <a:avLst/>
                </a:prstGeom>
                <a:noFill/>
                <a:ln>
                  <a:solidFill>
                    <a:srgbClr val="A9D18E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/>
                    <a:t>融合</a:t>
                  </a:r>
                </a:p>
              </p:txBody>
            </p:sp>
          </p:grpSp>
        </p:grpSp>
        <p:sp>
          <p:nvSpPr>
            <p:cNvPr id="16" name="文本框 15"/>
            <p:cNvSpPr txBox="1"/>
            <p:nvPr/>
          </p:nvSpPr>
          <p:spPr>
            <a:xfrm>
              <a:off x="6774065" y="3512073"/>
              <a:ext cx="2288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b="1" dirty="0"/>
                <a:t>发展和演化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551140" y="5063192"/>
              <a:ext cx="0" cy="1006591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111842" y="5877257"/>
              <a:ext cx="0" cy="258906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35" name="直接箭头连接符 34"/>
          <p:cNvCxnSpPr/>
          <p:nvPr/>
        </p:nvCxnSpPr>
        <p:spPr>
          <a:xfrm>
            <a:off x="7470102" y="2621748"/>
            <a:ext cx="0" cy="812367"/>
          </a:xfrm>
          <a:prstGeom prst="straightConnector1">
            <a:avLst/>
          </a:prstGeom>
          <a:ln w="5715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3501787" y="1931834"/>
            <a:ext cx="0" cy="6550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00996" y="279006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83381" y="2773286"/>
            <a:ext cx="3563796" cy="1015663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使用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MNIST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数据集，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这是最早用于数字识别的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CNN</a:t>
            </a:r>
            <a:endParaRPr lang="zh-CN" altLang="en-US" sz="2000" dirty="0"/>
          </a:p>
        </p:txBody>
      </p:sp>
      <p:sp>
        <p:nvSpPr>
          <p:cNvPr id="38" name="矩形 37"/>
          <p:cNvSpPr/>
          <p:nvPr/>
        </p:nvSpPr>
        <p:spPr>
          <a:xfrm>
            <a:off x="8231649" y="588479"/>
            <a:ext cx="3440400" cy="1477328"/>
          </a:xfrm>
          <a:prstGeom prst="rect">
            <a:avLst/>
          </a:prstGeom>
          <a:ln>
            <a:solidFill>
              <a:srgbClr val="FF9999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2012 ILSVRC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远超第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名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ZF Net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，基于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AlexNet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2013 ILSVRC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冠军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76655" y="3968451"/>
            <a:ext cx="4074434" cy="147732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2014 ILSVRC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，图像识别略差于</a:t>
            </a: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GoogLeNet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，但是在很多图像分析问题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比如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object detection)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上效果好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117981" y="5503938"/>
            <a:ext cx="2917399" cy="1015663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  <a:alpha val="98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2015</a:t>
            </a:r>
            <a:r>
              <a:rPr lang="zh-CN" altLang="en-US" sz="2000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000">
                <a:latin typeface="华文楷体" panose="02010600040101010101" pitchFamily="2" charset="-122"/>
                <a:ea typeface="华文楷体" panose="02010600040101010101" pitchFamily="2" charset="-122"/>
              </a:rPr>
              <a:t>ILSVRC,</a:t>
            </a:r>
            <a:r>
              <a:rPr lang="zh-CN" altLang="en-US" sz="200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Classification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获得第一名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8850302" y="4390772"/>
            <a:ext cx="2294219" cy="510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2014 </a:t>
            </a: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ILSVRC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冠军  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675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640428" y="384062"/>
            <a:ext cx="4199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结构探索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324878" y="1869510"/>
            <a:ext cx="5030967" cy="769711"/>
          </a:xfrm>
          <a:prstGeom prst="roundRect">
            <a:avLst/>
          </a:prstGeom>
          <a:solidFill>
            <a:srgbClr val="F4B183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324877" y="2804641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324877" y="3757829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24877" y="469296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889310"/>
              </p:ext>
            </p:extLst>
          </p:nvPr>
        </p:nvGraphicFramePr>
        <p:xfrm>
          <a:off x="267847" y="1512186"/>
          <a:ext cx="5310378" cy="496167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10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44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Input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227</a:t>
                      </a:r>
                      <a:r>
                        <a:rPr lang="zh-CN" altLang="en-US" sz="1400" dirty="0"/>
                        <a:t>*</a:t>
                      </a:r>
                      <a:r>
                        <a:rPr lang="en-US" altLang="zh-CN" sz="1400" dirty="0"/>
                        <a:t>227</a:t>
                      </a:r>
                      <a:r>
                        <a:rPr lang="zh-CN" altLang="en-US" sz="1400" dirty="0"/>
                        <a:t>*</a:t>
                      </a:r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Conv1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55*55*96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(11*11*3+1)*96=34944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MaxPool1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27*27*96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Norm1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Conv2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27*27*256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(5*5*48+1)*128*2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MaxPool2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13*13*256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Norm2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altLang="en-U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Conv3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13*13*384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/>
                        <a:t>(3*3*256+1)*384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Conv4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13*13*384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(3*3*192+1)*192*2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Conv5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13*13*256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(3*3*192+1)*128</a:t>
                      </a:r>
                      <a:r>
                        <a:rPr lang="zh-CN" altLang="en-US" sz="1400"/>
                        <a:t>*</a:t>
                      </a:r>
                      <a:r>
                        <a:rPr lang="en-US" altLang="zh-CN" sz="140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MaxPool3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6*6*256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Fc6+Dropout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4096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/>
                        <a:t>(6*6*128*2+1)*4096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Fc7+Dropout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4096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/>
                        <a:t>(4096+1)</a:t>
                      </a:r>
                      <a:r>
                        <a:rPr lang="zh-CN" altLang="en-US" sz="1400"/>
                        <a:t>*</a:t>
                      </a:r>
                      <a:r>
                        <a:rPr lang="en-US" altLang="zh-CN" sz="1400" dirty="0"/>
                        <a:t>4096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588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Fc8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1000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400" dirty="0"/>
                        <a:t>(4096+1)</a:t>
                      </a:r>
                      <a:r>
                        <a:rPr lang="zh-CN" altLang="en-US" sz="1400" dirty="0"/>
                        <a:t>*</a:t>
                      </a:r>
                      <a:r>
                        <a:rPr lang="en-US" altLang="zh-CN" sz="1400" dirty="0"/>
                        <a:t>1000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图片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1154"/>
            <a:ext cx="6031992" cy="179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784342" y="1860750"/>
                <a:ext cx="6343650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indent="-342900" defTabSz="914400">
                  <a:lnSpc>
                    <a:spcPct val="120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en-US" altLang="zh-CN" sz="2400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Details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defTabSz="914400">
                  <a:lnSpc>
                    <a:spcPct val="120000"/>
                  </a:lnSpc>
                  <a:defRPr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分组卷积</a:t>
                </a:r>
                <a:endPara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defTabSz="914400">
                  <a:lnSpc>
                    <a:spcPct val="120000"/>
                  </a:lnSpc>
                  <a:defRPr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第一次使用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</a:p>
              <a:p>
                <a:pPr marL="0" lvl="1" defTabSz="914400">
                  <a:lnSpc>
                    <a:spcPct val="120000"/>
                  </a:lnSpc>
                  <a:defRPr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data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augmentation</a:t>
                </a:r>
              </a:p>
              <a:p>
                <a:pPr marL="0" lvl="1" defTabSz="914400">
                  <a:lnSpc>
                    <a:spcPct val="120000"/>
                  </a:lnSpc>
                  <a:defRPr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 = 0.5	</a:t>
                </a:r>
              </a:p>
              <a:p>
                <a:pPr marL="0" lvl="1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batch-size = 128			</a:t>
                </a:r>
              </a:p>
              <a:p>
                <a:pPr marL="0" lvl="1">
                  <a:lnSpc>
                    <a:spcPct val="120000"/>
                  </a:lnSpc>
                  <a:defRPr/>
                </a:pP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SGD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Stochastic Gradient Descent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Momentum = 0.9	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𝜗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		</a:t>
                </a:r>
              </a:p>
              <a:p>
                <a:pPr marL="0" lvl="1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learning-rate = </a:t>
                </a: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1e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-2			</a:t>
                </a:r>
              </a:p>
              <a:p>
                <a:pPr marL="0" lvl="1">
                  <a:lnSpc>
                    <a:spcPct val="120000"/>
                  </a:lnSpc>
                  <a:defRPr/>
                </a:pP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L2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weight-decay = </a:t>
                </a: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5e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-4		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342" y="1860750"/>
                <a:ext cx="6343650" cy="4524315"/>
              </a:xfrm>
              <a:prstGeom prst="rect">
                <a:avLst/>
              </a:prstGeom>
              <a:blipFill rotWithShape="0">
                <a:blip r:embed="rId4"/>
                <a:stretch>
                  <a:fillRect l="-1537" t="-270" r="-768" b="-1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0473" y="971054"/>
            <a:ext cx="6049110" cy="4967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 Convolution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（分组卷积）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2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最早出现于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AlexNet</a:t>
            </a:r>
          </a:p>
          <a:p>
            <a:pPr marL="0" lvl="1">
              <a:lnSpc>
                <a:spcPct val="12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硬件资源有限，卷积操作不能放在同一个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进行处理。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Intuition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：把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feature maps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分给多个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，对多个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的结果进行融合。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 Convolution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的计算量评估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2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的计算量会降低到整个模型的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1/groups^2</a:t>
            </a:r>
          </a:p>
          <a:p>
            <a:pPr marL="0" lvl="1">
              <a:lnSpc>
                <a:spcPct val="12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整体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的计算量会下降为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1/groups</a:t>
            </a:r>
          </a:p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矩形 4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139226" y="2829570"/>
            <a:ext cx="6013131" cy="1805022"/>
            <a:chOff x="6052785" y="4170497"/>
            <a:chExt cx="6013131" cy="1805022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" name="矩形 10"/>
            <p:cNvSpPr/>
            <p:nvPr/>
          </p:nvSpPr>
          <p:spPr>
            <a:xfrm>
              <a:off x="6052785" y="5689982"/>
              <a:ext cx="2764930" cy="2855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Output 256d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052786" y="4170497"/>
              <a:ext cx="2764928" cy="30520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 256d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052785" y="4930239"/>
              <a:ext cx="2764928" cy="305201"/>
            </a:xfrm>
            <a:prstGeom prst="rect">
              <a:avLst/>
            </a:prstGeom>
            <a:solidFill>
              <a:srgbClr val="D7EAD5"/>
            </a:solidFill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3*3*256 filter</a:t>
              </a:r>
              <a:endParaRPr lang="zh-CN" altLang="en-US" dirty="0"/>
            </a:p>
          </p:txBody>
        </p:sp>
        <p:cxnSp>
          <p:nvCxnSpPr>
            <p:cNvPr id="16" name="直接箭头连接符 15"/>
            <p:cNvCxnSpPr>
              <a:stCxn id="12" idx="2"/>
              <a:endCxn id="13" idx="0"/>
            </p:cNvCxnSpPr>
            <p:nvPr/>
          </p:nvCxnSpPr>
          <p:spPr>
            <a:xfrm flipH="1">
              <a:off x="7435249" y="4475698"/>
              <a:ext cx="1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7435246" y="5235439"/>
              <a:ext cx="3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9055805" y="5689982"/>
              <a:ext cx="1505057" cy="2855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Output 128d</a:t>
              </a:r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9055806" y="4170497"/>
              <a:ext cx="1505056" cy="30520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 128d</a:t>
              </a:r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9055805" y="4930239"/>
              <a:ext cx="1505056" cy="305201"/>
            </a:xfrm>
            <a:prstGeom prst="rect">
              <a:avLst/>
            </a:prstGeom>
            <a:solidFill>
              <a:srgbClr val="D7EAD5"/>
            </a:solidFill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3*3*128 filter</a:t>
              </a:r>
              <a:endParaRPr lang="zh-CN" altLang="en-US" dirty="0"/>
            </a:p>
          </p:txBody>
        </p:sp>
        <p:cxnSp>
          <p:nvCxnSpPr>
            <p:cNvPr id="24" name="直接箭头连接符 23"/>
            <p:cNvCxnSpPr>
              <a:stCxn id="22" idx="2"/>
              <a:endCxn id="23" idx="0"/>
            </p:cNvCxnSpPr>
            <p:nvPr/>
          </p:nvCxnSpPr>
          <p:spPr>
            <a:xfrm flipH="1">
              <a:off x="9808333" y="4475698"/>
              <a:ext cx="1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1">
              <a:off x="9804070" y="5235439"/>
              <a:ext cx="1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10560859" y="5689982"/>
              <a:ext cx="1505057" cy="2855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Output 128d</a:t>
              </a:r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10560860" y="4170497"/>
              <a:ext cx="1505056" cy="30520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 128d</a:t>
              </a:r>
              <a:endParaRPr lang="zh-CN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60859" y="4930239"/>
              <a:ext cx="1505056" cy="305201"/>
            </a:xfrm>
            <a:prstGeom prst="rect">
              <a:avLst/>
            </a:prstGeom>
            <a:solidFill>
              <a:srgbClr val="D7EAD5"/>
            </a:solidFill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3*3*128 filter</a:t>
              </a:r>
              <a:endParaRPr lang="zh-CN" altLang="en-US" dirty="0"/>
            </a:p>
          </p:txBody>
        </p:sp>
        <p:cxnSp>
          <p:nvCxnSpPr>
            <p:cNvPr id="34" name="直接箭头连接符 33"/>
            <p:cNvCxnSpPr>
              <a:stCxn id="32" idx="2"/>
              <a:endCxn id="33" idx="0"/>
            </p:cNvCxnSpPr>
            <p:nvPr/>
          </p:nvCxnSpPr>
          <p:spPr>
            <a:xfrm flipH="1">
              <a:off x="11313387" y="4475698"/>
              <a:ext cx="1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>
              <a:off x="11309125" y="5235439"/>
              <a:ext cx="1" cy="45454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424" y="718417"/>
            <a:ext cx="6118746" cy="18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675632" y="5363656"/>
            <a:ext cx="751636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 channel = 256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Output channel = 256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kernel = 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不分组的卷积：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 parameters</a:t>
            </a:r>
          </a:p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组的卷积：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parameters * 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raw.githubusercontent.com/stdcoutzyx/Blogs/master/blogs/imgs/n7-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010" y="286889"/>
            <a:ext cx="4847835" cy="226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006" y="4823003"/>
            <a:ext cx="4765842" cy="142587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28965" y="1030393"/>
                <a:ext cx="6857635" cy="5410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en-US" altLang="zh-CN" sz="2400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</a:t>
                </a:r>
                <a:r>
                  <a:rPr lang="zh-CN" altLang="en-US" sz="24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原理和使用</a:t>
                </a:r>
                <a:r>
                  <a:rPr lang="zh-CN" altLang="en-US" sz="2400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>
                  <a:lnSpc>
                    <a:spcPct val="150000"/>
                  </a:lnSpc>
                  <a:defRPr/>
                </a:pP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>
                  <a:lnSpc>
                    <a:spcPct val="150000"/>
                  </a:lnSpc>
                  <a:defRPr/>
                </a:pP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>
                  <a:lnSpc>
                    <a:spcPct val="150000"/>
                  </a:lnSpc>
                  <a:defRPr/>
                </a:pP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个节点的网络，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 =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同时训练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n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个网络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ensemble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在分类性能上的一个近似，减弱了神经元节点间的联合适应性，在不大幅增加计算量的情形下防止过拟合，增强了泛化能力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 = 0.5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效果最好，随机生成的网络结构最多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5" y="1030393"/>
                <a:ext cx="6857635" cy="5410712"/>
              </a:xfrm>
              <a:prstGeom prst="rect">
                <a:avLst/>
              </a:prstGeom>
              <a:blipFill rotWithShape="0">
                <a:blip r:embed="rId5"/>
                <a:stretch>
                  <a:fillRect l="-1244" r="-889" b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/>
          <p:cNvGrpSpPr/>
          <p:nvPr/>
        </p:nvGrpSpPr>
        <p:grpSpPr>
          <a:xfrm>
            <a:off x="491854" y="1800549"/>
            <a:ext cx="5886344" cy="1661475"/>
            <a:chOff x="963435" y="2004508"/>
            <a:chExt cx="5490520" cy="1661475"/>
          </a:xfrm>
        </p:grpSpPr>
        <p:cxnSp>
          <p:nvCxnSpPr>
            <p:cNvPr id="15" name="直接连接符 14"/>
            <p:cNvCxnSpPr/>
            <p:nvPr/>
          </p:nvCxnSpPr>
          <p:spPr>
            <a:xfrm flipV="1">
              <a:off x="1227998" y="2832037"/>
              <a:ext cx="5225957" cy="3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流程图: 接点 16"/>
            <p:cNvSpPr/>
            <p:nvPr/>
          </p:nvSpPr>
          <p:spPr>
            <a:xfrm>
              <a:off x="963435" y="2059599"/>
              <a:ext cx="426780" cy="501718"/>
            </a:xfrm>
            <a:prstGeom prst="flowChartConnector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/>
                <a:t>1</a:t>
              </a:r>
              <a:endParaRPr lang="zh-CN" altLang="en-US" sz="2400" dirty="0"/>
            </a:p>
          </p:txBody>
        </p:sp>
        <p:sp>
          <p:nvSpPr>
            <p:cNvPr id="18" name="流程图: 接点 17"/>
            <p:cNvSpPr/>
            <p:nvPr/>
          </p:nvSpPr>
          <p:spPr>
            <a:xfrm>
              <a:off x="971964" y="2946937"/>
              <a:ext cx="426780" cy="501718"/>
            </a:xfrm>
            <a:prstGeom prst="flowChartConnector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/>
                <a:t>2</a:t>
              </a:r>
              <a:endParaRPr lang="zh-CN" altLang="en-US" sz="24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05726" y="2004508"/>
              <a:ext cx="47397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引入概率的思想，训练时节点是否存在于网络中是由随机概率决定的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05726" y="2834986"/>
              <a:ext cx="50482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训练时加入随机性，进行反向传播算法。测试时，只是用训练好的参数</a:t>
              </a: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776" y="2833352"/>
            <a:ext cx="4292304" cy="1750957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6396" y="1029498"/>
            <a:ext cx="6255379" cy="585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Augmentation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拟合自然界中常见的噪声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主要用于数据集较小的时候，可以丰富图像训练集、防止过拟合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常用的数据增强方式有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对颜色的数据增强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色彩的饱和度、亮度、对比度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加噪声（高斯噪声）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水平翻转、垂直翻转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随机旋转、随机裁剪（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crop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5" name="矩形 4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953728" y="1233545"/>
            <a:ext cx="5088758" cy="5007957"/>
            <a:chOff x="5548305" y="729041"/>
            <a:chExt cx="5737564" cy="597359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6963" y="729041"/>
              <a:ext cx="5397777" cy="94619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6963" y="1714235"/>
              <a:ext cx="5378726" cy="10097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014" y="3739976"/>
              <a:ext cx="5468317" cy="95889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0342" y="2749332"/>
              <a:ext cx="5327924" cy="96525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9663" y="4698875"/>
              <a:ext cx="5448874" cy="976014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8305" y="5692933"/>
              <a:ext cx="5737564" cy="1009702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2544013" y="6006427"/>
            <a:ext cx="504657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2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https://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github.com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aleju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imgaug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640428" y="384062"/>
            <a:ext cx="4199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结构探索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324878" y="186951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324877" y="2804641"/>
            <a:ext cx="5030967" cy="769711"/>
          </a:xfrm>
          <a:prstGeom prst="roundRect">
            <a:avLst/>
          </a:prstGeom>
          <a:solidFill>
            <a:srgbClr val="F4B183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324877" y="3757829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24877" y="469296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851" y="1923698"/>
            <a:ext cx="4414684" cy="44933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972" y="3439838"/>
            <a:ext cx="5591215" cy="328335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120" y="1195564"/>
            <a:ext cx="7267955" cy="2120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fontAlgn="auto">
              <a:lnSpc>
                <a:spcPct val="110000"/>
              </a:lnSpc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牛津大学计算机视觉组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fontAlgn="auto">
              <a:lnSpc>
                <a:spcPct val="11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深度增加 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&amp;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小卷积核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对识别效果有很大作用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lvl="1" fontAlgn="auto">
              <a:lnSpc>
                <a:spcPct val="110000"/>
              </a:lnSpc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小卷积核：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*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：表示上下、左右、中心这些概念的最小卷积核尺寸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lvl="1" fontAlgn="auto">
              <a:lnSpc>
                <a:spcPct val="110000"/>
              </a:lnSpc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深度：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AlexNet  8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层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  VGG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最深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19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层</a:t>
            </a:r>
          </a:p>
        </p:txBody>
      </p:sp>
      <p:sp>
        <p:nvSpPr>
          <p:cNvPr id="7" name="矩形 6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0428" y="384062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2105" y="1544955"/>
            <a:ext cx="341884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 defTabSz="9144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Details</a:t>
            </a: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4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3*3 conv-filter</a:t>
            </a: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conv-stride = 1</a:t>
            </a: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pad = 1, Same</a:t>
            </a: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2*2 pool-filter</a:t>
            </a: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pool-stride = 2</a:t>
            </a:r>
          </a:p>
          <a:p>
            <a:pPr marL="0" lvl="1" defTabSz="914400">
              <a:lnSpc>
                <a:spcPct val="150000"/>
              </a:lnSpc>
              <a:defRPr/>
            </a:pPr>
            <a:endParaRPr lang="en-US" altLang="zh-CN" sz="24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1" defTabSz="9144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ILSVRC 2014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82" r="13873"/>
          <a:stretch>
            <a:fillRect/>
          </a:stretch>
        </p:blipFill>
        <p:spPr>
          <a:xfrm>
            <a:off x="3750980" y="762747"/>
            <a:ext cx="1791855" cy="6088142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785744" y="130174"/>
          <a:ext cx="4443860" cy="343575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09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36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Input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224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224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Note:</a:t>
                      </a:r>
                      <a:r>
                        <a:rPr lang="zh-CN" altLang="en-US" sz="1200" dirty="0"/>
                        <a:t>未计算偏置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Conv3-64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b="1" dirty="0"/>
                        <a:t>224</a:t>
                      </a:r>
                      <a:r>
                        <a:rPr lang="zh-CN" altLang="en-US" sz="1200" b="1" dirty="0"/>
                        <a:t>*</a:t>
                      </a:r>
                      <a:r>
                        <a:rPr lang="en-US" altLang="zh-CN" sz="1200" b="1" dirty="0"/>
                        <a:t>224</a:t>
                      </a:r>
                      <a:r>
                        <a:rPr lang="zh-CN" altLang="en-US" sz="1200" b="1" dirty="0"/>
                        <a:t>*</a:t>
                      </a:r>
                      <a:r>
                        <a:rPr lang="en-US" altLang="zh-CN" sz="1200" b="1" dirty="0"/>
                        <a:t>64</a:t>
                      </a:r>
                      <a:endParaRPr lang="zh-CN" altLang="en-US" sz="1200" b="1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(3*3*3)*64 = 1728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Conv3-64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/>
                        <a:t>224</a:t>
                      </a:r>
                      <a:r>
                        <a:rPr lang="zh-CN" altLang="en-US" sz="1200" b="1" dirty="0"/>
                        <a:t>*</a:t>
                      </a:r>
                      <a:r>
                        <a:rPr lang="en-US" altLang="zh-CN" sz="1200" b="1" dirty="0"/>
                        <a:t>224</a:t>
                      </a:r>
                      <a:r>
                        <a:rPr lang="zh-CN" altLang="en-US" sz="1200" b="1" dirty="0"/>
                        <a:t>*</a:t>
                      </a:r>
                      <a:r>
                        <a:rPr lang="en-US" altLang="zh-CN" sz="1200" b="1" dirty="0"/>
                        <a:t>64</a:t>
                      </a:r>
                      <a:endParaRPr lang="zh-CN" altLang="en-US" sz="1200" b="1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(3*3*64)*64 = 36864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Pool2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64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>
                    <a:solidFill>
                      <a:srgbClr val="D9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Conv3-128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(3*3*64)*128 = 73728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Conv3-128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112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(3*3*128)*128 = 147456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Pool2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128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(3*3*128</a:t>
                      </a:r>
                      <a:r>
                        <a:rPr lang="en-US" altLang="zh-CN" sz="1200"/>
                        <a:t>)*256 = 294912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(3*3*256</a:t>
                      </a:r>
                      <a:r>
                        <a:rPr lang="en-US" altLang="zh-CN" sz="1200"/>
                        <a:t>)*256 = 589824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56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(3*3*256</a:t>
                      </a:r>
                      <a:r>
                        <a:rPr lang="en-US" altLang="zh-CN" sz="1200"/>
                        <a:t>)*256 = 589824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060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Pool2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28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28</a:t>
                      </a:r>
                      <a:r>
                        <a:rPr lang="zh-CN" altLang="en-US" sz="1200" dirty="0"/>
                        <a:t>*</a:t>
                      </a:r>
                      <a:r>
                        <a:rPr lang="en-US" altLang="zh-CN" sz="1200" dirty="0"/>
                        <a:t>256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0EAF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0</a:t>
                      </a:r>
                    </a:p>
                  </a:txBody>
                  <a:tcPr>
                    <a:solidFill>
                      <a:srgbClr val="F0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785744" y="3565930"/>
          <a:ext cx="4440656" cy="307641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089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674"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Conv3-512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28*28*512</a:t>
                      </a:r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(3*3*256</a:t>
                      </a:r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)*512 = 1179648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4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28*28*512</a:t>
                      </a:r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(3*3*512</a:t>
                      </a:r>
                      <a:r>
                        <a:rPr lang="en-US" altLang="zh-CN" sz="1200"/>
                        <a:t>)*512 = 2359296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28*28*512</a:t>
                      </a:r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(3*3*512)*512 = 2359296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Pool2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14*14*512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>
                    <a:solidFill>
                      <a:srgbClr val="E4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Conv3-512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14*14*512</a:t>
                      </a:r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(3*3*512</a:t>
                      </a:r>
                      <a:r>
                        <a:rPr lang="en-US" altLang="zh-CN" sz="1200"/>
                        <a:t>)*512 = 2359296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14*14*512</a:t>
                      </a:r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(3*3*512</a:t>
                      </a:r>
                      <a:r>
                        <a:rPr lang="en-US" altLang="zh-CN" sz="1200"/>
                        <a:t>)*512 = 2359296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Conv3-512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14*14*512</a:t>
                      </a:r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(3*3*512</a:t>
                      </a:r>
                      <a:r>
                        <a:rPr lang="en-US" altLang="zh-CN" sz="1200"/>
                        <a:t>)*512 = 2359296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Pool2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7*7*512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8DDD6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0</a:t>
                      </a:r>
                    </a:p>
                  </a:txBody>
                  <a:tcPr>
                    <a:solidFill>
                      <a:srgbClr val="F8D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Fc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1*1*4096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/>
                        <a:t>(7*7*512</a:t>
                      </a:r>
                      <a:r>
                        <a:rPr lang="en-US" altLang="zh-CN" sz="1200" b="1"/>
                        <a:t>)*4096</a:t>
                      </a:r>
                      <a:endParaRPr lang="zh-CN" altLang="en-US" sz="1200" b="1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Fc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1*1*4096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4096*4096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674"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Fc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1*1*1000</a:t>
                      </a:r>
                      <a:endParaRPr lang="zh-CN" altLang="en-US" sz="12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200" dirty="0"/>
                        <a:t>4096*1000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8304" y="1077644"/>
            <a:ext cx="8326322" cy="5408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fontAlgn="auto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Small Convolution filter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最早用于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VGG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Inception2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中明确指出该设计准则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AlexNet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用到一些非常大的卷积核，比如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感受野越大、信息多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vs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参数和计算量的增加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Methods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：使用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的卷积核的组合比用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	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效果更佳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&amp;&amp;	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参数量降低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参数量的评估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以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通道的隐层数据为例：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2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	== 	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2*3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 params	5*5*256 params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 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== 	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7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7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3*3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 params	7*7*256 params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6667"/>
          <a:stretch>
            <a:fillRect/>
          </a:stretch>
        </p:blipFill>
        <p:spPr>
          <a:xfrm>
            <a:off x="7573377" y="2307471"/>
            <a:ext cx="4522113" cy="29482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40428" y="125617"/>
            <a:ext cx="2309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640428" y="384062"/>
            <a:ext cx="4199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结构探索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324878" y="186951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324877" y="2804641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324877" y="3757829"/>
            <a:ext cx="5030967" cy="769711"/>
          </a:xfrm>
          <a:prstGeom prst="roundRect">
            <a:avLst/>
          </a:prstGeom>
          <a:solidFill>
            <a:srgbClr val="F4B183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24877" y="469296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l="27202" t="65193" r="16714"/>
          <a:stretch>
            <a:fillRect/>
          </a:stretch>
        </p:blipFill>
        <p:spPr>
          <a:xfrm>
            <a:off x="8607726" y="0"/>
            <a:ext cx="304041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40427" y="384062"/>
            <a:ext cx="5350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3375" y="1254760"/>
            <a:ext cx="8091170" cy="5408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defTabSz="914400" fontAlgn="auto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Google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提出的神经网络，一共有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V1-V4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共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个不同的模型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defTabSz="914400" fontAlgn="auto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使用了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Inception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模块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可以并行执行多个具有不同尺度的卷积运算或池化操作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将多个卷积核卷积的结果拼接成一个非常深的特征</a:t>
            </a:r>
          </a:p>
          <a:p>
            <a:pPr marL="0" lvl="1" indent="0" defTabSz="914400" fontAlgn="auto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使用了大量的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trick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提高网络性能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Bottleneck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（瓶颈）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: 1*1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的卷积核，借鉴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NIN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使用全局平均池化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GAP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代替全连接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在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v2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中，采用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Batch Normalization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（批归一化）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在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v3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中，采用非对称卷积降低运算量</a:t>
            </a:r>
          </a:p>
          <a:p>
            <a:pPr marL="342900" lvl="1" indent="0" defTabSz="914400" fontAlgn="auto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在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v4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中，结合了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ResNet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中的思想，发现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Residual Connections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Wingdings" panose="05000000000000000000" pitchFamily="2" charset="2"/>
              </a:rPr>
              <a:t>貌似只能加快网络收敛速度，是更大的网络规模提高了精度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1261" y="1522634"/>
            <a:ext cx="6929257" cy="463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fontAlgn="auto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Multi-size filters in one layer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Inception Block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最早出现于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Inception-v1/GoogleNet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传统的堆叠式网络，每层仅用一个尺寸的卷积核。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VGG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每层只使用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的卷积核。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Intuition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：信息位置的巨大差异，使得不同尺度的特征结合起来可以得到更好的特征表示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Methods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: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卷积核设为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stride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设为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，可以使用 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pad = 0, 1, 2 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很方便的对齐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结合的方式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：在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depth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维度上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Concatenation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（拼接）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>
              <a:lnSpc>
                <a:spcPct val="150000"/>
              </a:lnSpc>
              <a:defRPr/>
            </a:pP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5782" y="3582525"/>
            <a:ext cx="5269905" cy="293001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783" y="1338181"/>
            <a:ext cx="5076468" cy="171330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9667501" y="2987810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https://unsplash.com/</a:t>
            </a:r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030237" y="3422885"/>
            <a:ext cx="5002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40427" y="384062"/>
            <a:ext cx="5350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295" y="1253676"/>
            <a:ext cx="4637419" cy="283820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41097" y="1364239"/>
            <a:ext cx="7547081" cy="4965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fontAlgn="auto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Bottleneck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最早出现于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Network in Network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在同一层使用多个不同尺寸的卷积核会导致参数过多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Intuition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Network in Network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中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的卷积核的启发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在原来的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Inception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结构中加入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的卷积核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Bottleneck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参数量评估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Input channel = 256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Output channel = 256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卷积核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= 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参数量：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 = 589,824 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卷积核：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32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</a:t>
            </a:r>
          </a:p>
          <a:p>
            <a:pPr marL="0" lvl="1" indent="0" fontAlgn="auto">
              <a:lnSpc>
                <a:spcPct val="12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参数量：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32+32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*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256=81,920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7762259" y="4485130"/>
            <a:ext cx="3821124" cy="1805022"/>
            <a:chOff x="6990733" y="3720161"/>
            <a:chExt cx="3821124" cy="180502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19" name="矩形 18"/>
            <p:cNvSpPr/>
            <p:nvPr/>
          </p:nvSpPr>
          <p:spPr>
            <a:xfrm>
              <a:off x="9216966" y="5239646"/>
              <a:ext cx="1594891" cy="2855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Output 256d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9216967" y="3720161"/>
              <a:ext cx="1594890" cy="3052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 256d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6990733" y="5239646"/>
              <a:ext cx="1594891" cy="2855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Output 256d</a:t>
              </a:r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6990734" y="3720161"/>
              <a:ext cx="1594890" cy="3052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 256d</a:t>
              </a:r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6990733" y="4479903"/>
              <a:ext cx="1594890" cy="305201"/>
            </a:xfrm>
            <a:prstGeom prst="rect">
              <a:avLst/>
            </a:prstGeom>
            <a:solidFill>
              <a:srgbClr val="C9DAF8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3*3*256 filter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9213876" y="4250895"/>
              <a:ext cx="1594890" cy="305201"/>
            </a:xfrm>
            <a:prstGeom prst="rect">
              <a:avLst/>
            </a:prstGeom>
            <a:solidFill>
              <a:srgbClr val="FFF1D0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1*1*32 filter</a:t>
              </a:r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9213876" y="4707173"/>
              <a:ext cx="1594890" cy="305201"/>
            </a:xfrm>
            <a:prstGeom prst="rect">
              <a:avLst/>
            </a:prstGeom>
            <a:solidFill>
              <a:srgbClr val="C9DAF8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3*3*256 filter</a:t>
              </a:r>
              <a:endParaRPr lang="zh-CN" altLang="en-US" dirty="0"/>
            </a:p>
          </p:txBody>
        </p:sp>
        <p:cxnSp>
          <p:nvCxnSpPr>
            <p:cNvPr id="26" name="直接箭头连接符 25"/>
            <p:cNvCxnSpPr>
              <a:stCxn id="22" idx="2"/>
              <a:endCxn id="23" idx="0"/>
            </p:cNvCxnSpPr>
            <p:nvPr/>
          </p:nvCxnSpPr>
          <p:spPr>
            <a:xfrm flipH="1">
              <a:off x="7788178" y="4025362"/>
              <a:ext cx="1" cy="454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H="1">
              <a:off x="7788177" y="4785104"/>
              <a:ext cx="1" cy="454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endCxn id="24" idx="0"/>
            </p:cNvCxnSpPr>
            <p:nvPr/>
          </p:nvCxnSpPr>
          <p:spPr>
            <a:xfrm flipH="1">
              <a:off x="10011321" y="4020991"/>
              <a:ext cx="2" cy="229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10011319" y="5012374"/>
              <a:ext cx="2" cy="229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4" idx="2"/>
            </p:cNvCxnSpPr>
            <p:nvPr/>
          </p:nvCxnSpPr>
          <p:spPr>
            <a:xfrm flipH="1">
              <a:off x="10011319" y="4556096"/>
              <a:ext cx="2" cy="191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/>
          <p:cNvCxnSpPr/>
          <p:nvPr/>
        </p:nvCxnSpPr>
        <p:spPr>
          <a:xfrm flipH="1">
            <a:off x="7172328" y="4245043"/>
            <a:ext cx="5002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640427" y="384062"/>
            <a:ext cx="5350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8750" y="1523365"/>
            <a:ext cx="598297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使用全局平均池化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GAP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代替全连接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多设计几个全连接层可以提升神经网络的分类性能，全连接层一度成为标配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Intuition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：全连接层参数量巨大，特别是与最后一个卷积层相连接的全连接层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Methods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: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全局平均池化 </a:t>
            </a: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Global Average Pooling 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代替全连接</a:t>
            </a:r>
            <a:endParaRPr lang="en-US" altLang="zh-CN" sz="2400" b="1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240" y="5492472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Advantage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：可以实现任意图像大小的输入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6141477" y="1188421"/>
            <a:ext cx="6137381" cy="2159550"/>
            <a:chOff x="6361471" y="1494592"/>
            <a:chExt cx="5930694" cy="194187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/>
            <a:srcRect l="4123" t="16411" r="44240" b="8449"/>
            <a:stretch>
              <a:fillRect/>
            </a:stretch>
          </p:blipFill>
          <p:spPr>
            <a:xfrm>
              <a:off x="6361471" y="1494593"/>
              <a:ext cx="3325144" cy="194187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/>
            <a:srcRect l="61750" t="18666" r="2646" b="19855"/>
            <a:stretch>
              <a:fillRect/>
            </a:stretch>
          </p:blipFill>
          <p:spPr>
            <a:xfrm>
              <a:off x="9686615" y="1494592"/>
              <a:ext cx="2605550" cy="1805563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/>
        </p:nvGrpSpPr>
        <p:grpSpPr>
          <a:xfrm>
            <a:off x="6618278" y="3804787"/>
            <a:ext cx="5290946" cy="1795943"/>
            <a:chOff x="6674448" y="4476918"/>
            <a:chExt cx="5195934" cy="1795405"/>
          </a:xfrm>
          <a:solidFill>
            <a:srgbClr val="8DC641"/>
          </a:solidFill>
        </p:grpSpPr>
        <p:grpSp>
          <p:nvGrpSpPr>
            <p:cNvPr id="38" name="组合 37"/>
            <p:cNvGrpSpPr/>
            <p:nvPr/>
          </p:nvGrpSpPr>
          <p:grpSpPr>
            <a:xfrm>
              <a:off x="6674448" y="4476918"/>
              <a:ext cx="2588257" cy="1795405"/>
              <a:chOff x="6410245" y="4476918"/>
              <a:chExt cx="2588257" cy="1795405"/>
            </a:xfrm>
            <a:grpFill/>
          </p:grpSpPr>
          <p:sp>
            <p:nvSpPr>
              <p:cNvPr id="15" name="矩形 14"/>
              <p:cNvSpPr/>
              <p:nvPr/>
            </p:nvSpPr>
            <p:spPr>
              <a:xfrm>
                <a:off x="6410245" y="5996404"/>
                <a:ext cx="2050392" cy="27591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FC Output 100</a:t>
                </a:r>
                <a:endParaRPr lang="zh-CN" altLang="en-US" sz="1600" dirty="0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410246" y="4476918"/>
                <a:ext cx="2050391" cy="2949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Conv Output 7*7*512</a:t>
                </a:r>
                <a:endParaRPr lang="zh-CN" altLang="en-US" sz="1600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410245" y="5236660"/>
                <a:ext cx="2050391" cy="2949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FC Output 4096</a:t>
                </a:r>
                <a:endParaRPr lang="zh-CN" altLang="en-US" sz="1600" dirty="0"/>
              </a:p>
            </p:txBody>
          </p:sp>
          <p:cxnSp>
            <p:nvCxnSpPr>
              <p:cNvPr id="20" name="直接箭头连接符 19"/>
              <p:cNvCxnSpPr>
                <a:stCxn id="16" idx="2"/>
                <a:endCxn id="17" idx="0"/>
              </p:cNvCxnSpPr>
              <p:nvPr/>
            </p:nvCxnSpPr>
            <p:spPr>
              <a:xfrm flipH="1">
                <a:off x="7435440" y="4771838"/>
                <a:ext cx="1" cy="464823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H="1">
                <a:off x="7426358" y="5541415"/>
                <a:ext cx="1" cy="454541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本框 4"/>
              <p:cNvSpPr txBox="1"/>
              <p:nvPr/>
            </p:nvSpPr>
            <p:spPr>
              <a:xfrm>
                <a:off x="7492091" y="4877833"/>
                <a:ext cx="1506411" cy="2615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/>
                  <a:t>7*7*512*4096 params</a:t>
                </a:r>
                <a:endParaRPr lang="zh-CN" altLang="en-US" sz="1100" dirty="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7492091" y="5615456"/>
                <a:ext cx="1506411" cy="2615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/>
                  <a:t>4096*100 params</a:t>
                </a:r>
                <a:endParaRPr lang="zh-CN" altLang="en-US" sz="1100" dirty="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066787" y="4476918"/>
              <a:ext cx="2803595" cy="1784329"/>
              <a:chOff x="9066787" y="4476918"/>
              <a:chExt cx="2803595" cy="1784329"/>
            </a:xfrm>
            <a:grpFill/>
          </p:grpSpPr>
          <p:sp>
            <p:nvSpPr>
              <p:cNvPr id="25" name="矩形 24"/>
              <p:cNvSpPr/>
              <p:nvPr/>
            </p:nvSpPr>
            <p:spPr>
              <a:xfrm>
                <a:off x="9066787" y="5996403"/>
                <a:ext cx="2050392" cy="26484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sz="1600" dirty="0">
                    <a:solidFill>
                      <a:prstClr val="black"/>
                    </a:solidFill>
                  </a:rPr>
                  <a:t>FC Output 100</a:t>
                </a:r>
                <a:endParaRPr lang="zh-CN" altLang="en-US" sz="16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9066788" y="4476918"/>
                <a:ext cx="2050391" cy="2830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sz="1600" dirty="0">
                    <a:solidFill>
                      <a:prstClr val="black"/>
                    </a:solidFill>
                  </a:rPr>
                  <a:t>Conv Output 7*7*512</a:t>
                </a:r>
                <a:endParaRPr lang="zh-CN" altLang="en-US" sz="16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9066787" y="5236660"/>
                <a:ext cx="2050391" cy="2830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sz="1600" dirty="0">
                    <a:solidFill>
                      <a:prstClr val="black"/>
                    </a:solidFill>
                  </a:rPr>
                  <a:t>GAP Output 1*1*512</a:t>
                </a:r>
                <a:endParaRPr lang="zh-CN" altLang="en-US" sz="1600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28" name="直接箭头连接符 27"/>
              <p:cNvCxnSpPr>
                <a:stCxn id="26" idx="2"/>
                <a:endCxn id="27" idx="0"/>
              </p:cNvCxnSpPr>
              <p:nvPr/>
            </p:nvCxnSpPr>
            <p:spPr>
              <a:xfrm flipH="1">
                <a:off x="10091982" y="4759999"/>
                <a:ext cx="1" cy="476661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 flipH="1">
                <a:off x="10091981" y="5548450"/>
                <a:ext cx="2" cy="421598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10363971" y="4891908"/>
                <a:ext cx="1506411" cy="2615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/>
                  <a:t>0 params</a:t>
                </a:r>
                <a:endParaRPr lang="zh-CN" altLang="en-US" sz="1100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0363971" y="5652982"/>
                <a:ext cx="1506411" cy="2615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/>
                  <a:t>512*100 </a:t>
                </a:r>
                <a:r>
                  <a:rPr lang="en-US" altLang="zh-CN" sz="1100" dirty="0"/>
                  <a:t>params</a:t>
                </a:r>
                <a:endParaRPr lang="zh-CN" altLang="en-US" sz="1100" dirty="0"/>
              </a:p>
            </p:txBody>
          </p:sp>
        </p:grpSp>
      </p:grpSp>
      <p:sp>
        <p:nvSpPr>
          <p:cNvPr id="42" name="文本框 41"/>
          <p:cNvSpPr txBox="1"/>
          <p:nvPr/>
        </p:nvSpPr>
        <p:spPr>
          <a:xfrm>
            <a:off x="6618278" y="5886354"/>
            <a:ext cx="4523969" cy="30777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GAP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参数量（计算量）评估</a:t>
            </a: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6341126" y="3429000"/>
            <a:ext cx="5002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640427" y="384062"/>
            <a:ext cx="5350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7160" y="1217930"/>
            <a:ext cx="7301230" cy="3928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fontAlgn="auto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Batch Normalization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（批归一化）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Inception </a:t>
            </a:r>
            <a:r>
              <a:rPr lang="en-US" altLang="zh-CN" sz="2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v2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fontAlgn="auto">
              <a:lnSpc>
                <a:spcPct val="130000"/>
              </a:lnSpc>
              <a:defRPr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训练的过程中，隐层输入的分布一直在变化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fontAlgn="auto">
              <a:lnSpc>
                <a:spcPct val="130000"/>
              </a:lnSpc>
              <a:defRPr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学习的过程又要使每一层适应输入的分布，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fontAlgn="auto">
              <a:lnSpc>
                <a:spcPct val="130000"/>
              </a:lnSpc>
              <a:defRPr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会导致反向传播时低层神经网络梯度的减少甚至消失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fontAlgn="auto">
              <a:lnSpc>
                <a:spcPct val="130000"/>
              </a:lnSpc>
              <a:defRPr/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这是训练深层神经网络收敛越来越慢的</a:t>
            </a:r>
            <a:r>
              <a:rPr lang="zh-CN" altLang="en-US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本质原因</a:t>
            </a:r>
            <a:endParaRPr lang="en-US" altLang="zh-CN" sz="24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lvl="1" fontAlgn="auto"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Intuition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：在训练过程中强行将每一层的输入，拉回到比较标准的相同的分布，可以防止梯度消失或爆炸，可以加快训练速度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642" y="65475"/>
            <a:ext cx="3153181" cy="226177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7803642" y="2327251"/>
            <a:ext cx="3682673" cy="4396058"/>
            <a:chOff x="8784629" y="946160"/>
            <a:chExt cx="3682673" cy="43960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4"/>
            <a:srcRect l="11413" t="12110" r="5999" b="9100"/>
            <a:stretch>
              <a:fillRect/>
            </a:stretch>
          </p:blipFill>
          <p:spPr>
            <a:xfrm>
              <a:off x="8899600" y="946160"/>
              <a:ext cx="3303946" cy="274674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84629" y="3877924"/>
              <a:ext cx="3682673" cy="1464294"/>
            </a:xfrm>
            <a:prstGeom prst="rect">
              <a:avLst/>
            </a:prstGeom>
          </p:spPr>
        </p:pic>
      </p:grpSp>
      <p:cxnSp>
        <p:nvCxnSpPr>
          <p:cNvPr id="29" name="直接连接符 28"/>
          <p:cNvCxnSpPr/>
          <p:nvPr/>
        </p:nvCxnSpPr>
        <p:spPr>
          <a:xfrm flipV="1">
            <a:off x="7678595" y="1319606"/>
            <a:ext cx="0" cy="5363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678595" y="2320473"/>
            <a:ext cx="331936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640427" y="384062"/>
            <a:ext cx="5350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640428" y="384062"/>
            <a:ext cx="4199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结构探索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324878" y="1869510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324877" y="2804641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VGG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324877" y="3757829"/>
            <a:ext cx="5030967" cy="769711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GoogLeNet/Inception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24877" y="4692960"/>
            <a:ext cx="5030967" cy="769711"/>
          </a:xfrm>
          <a:prstGeom prst="roundRect">
            <a:avLst/>
          </a:prstGeom>
          <a:solidFill>
            <a:srgbClr val="F4B183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0428" y="384062"/>
            <a:ext cx="2793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9135" y="1159633"/>
            <a:ext cx="6734426" cy="3326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微软提出的神经网络，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CVPR</a:t>
            </a: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当年的最佳论文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92075" lvl="3" indent="447675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使用了恒等映射</a:t>
            </a:r>
            <a:endParaRPr lang="en-US" altLang="zh-CN" sz="24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 marL="92075" lvl="4">
              <a:lnSpc>
                <a:spcPct val="11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传统神经网络训练的函数为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F(x)</a:t>
            </a:r>
          </a:p>
          <a:p>
            <a:pPr marL="92075" lvl="4">
              <a:lnSpc>
                <a:spcPct val="11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添加恒等映射后，神经网络训练的函数变为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F(x)+x</a:t>
            </a:r>
          </a:p>
          <a:p>
            <a:pPr marL="92075" lvl="4">
              <a:lnSpc>
                <a:spcPct val="11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作者认为这样训练出来的网络，相当于是在对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作修正，修正的幅度就是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F(x)</a:t>
            </a: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F(x)</a:t>
            </a: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在数学上称为残差，所以作者提出的网络称为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残差网络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4355" y="4609540"/>
            <a:ext cx="3423986" cy="184169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870161" y="1266313"/>
            <a:ext cx="4460181" cy="2713396"/>
            <a:chOff x="6703569" y="1865671"/>
            <a:chExt cx="5248275" cy="3286125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3569" y="1865671"/>
              <a:ext cx="5248275" cy="3286125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10865378" y="4489766"/>
              <a:ext cx="1086466" cy="662030"/>
            </a:xfrm>
            <a:prstGeom prst="ellipse">
              <a:avLst/>
            </a:prstGeom>
            <a:noFill/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13" name="Picture 2" descr="https://ss.csdn.net/p?http://mmbiz.qpic.cn/mmbiz_jpg/iaTa8ut6HiawDvApRvJtwlaSkzfhuiaNRVPrrQKpnic8z5nricMT04qPSO7rZEySP9BNicCcbVx4DDJR4L2c1wp0oDgQ/640?wx_fmt=jpeg&amp;wxfrom=5&amp;wx_lazy=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271" y="4234989"/>
            <a:ext cx="5364534" cy="233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0428" y="384062"/>
            <a:ext cx="2793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0168" y="1221799"/>
            <a:ext cx="61557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两个相同深度网络的比较（训练误差方面）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47" y="2560763"/>
            <a:ext cx="4944069" cy="2687763"/>
          </a:xfrm>
          <a:prstGeom prst="rect">
            <a:avLst/>
          </a:prstGeom>
        </p:spPr>
      </p:pic>
      <p:pic>
        <p:nvPicPr>
          <p:cNvPr id="9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889" y="844387"/>
            <a:ext cx="3918105" cy="5729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40428" y="384062"/>
            <a:ext cx="2793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ResNet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290" y="854921"/>
            <a:ext cx="3918105" cy="5729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71317" y="1030393"/>
            <a:ext cx="6687267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一点直觉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</a:p>
          <a:p>
            <a:pPr marL="0" lvl="1">
              <a:lnSpc>
                <a:spcPct val="110000"/>
              </a:lnSpc>
              <a:defRPr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平凡网络中，为什么深度增加到一定程度后，训练的效果反而下降了？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梯度下降算法本身的缺陷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深度增加后，相比浅一些的网络来说梯度减小。误差传播过程变慢，网络的优化速度就慢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</a:p>
          <a:p>
            <a:pPr marL="0" lvl="1">
              <a:lnSpc>
                <a:spcPct val="110000"/>
              </a:lnSpc>
              <a:defRPr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残差网络中，为什么能够避免这种现象？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恒等映射下，虽然网络的深度加深，但是每层中都会有足够多的由梯度承载的信息量，梯度不会太小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加快了深层网络的收敛速度</a:t>
            </a:r>
            <a:endParaRPr lang="en-US" altLang="zh-CN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905" y="1555667"/>
            <a:ext cx="7750790" cy="457200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40428" y="384062"/>
            <a:ext cx="2793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23031" y="2366011"/>
            <a:ext cx="31950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2834</TotalTime>
  <Words>9606</Words>
  <Application>Microsoft Macintosh PowerPoint</Application>
  <PresentationFormat>宽屏</PresentationFormat>
  <Paragraphs>3151</Paragraphs>
  <Slides>137</Slides>
  <Notes>58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137</vt:i4>
      </vt:variant>
    </vt:vector>
  </HeadingPairs>
  <TitlesOfParts>
    <vt:vector size="153" baseType="lpstr">
      <vt:lpstr>黑体</vt:lpstr>
      <vt:lpstr>华文楷体</vt:lpstr>
      <vt:lpstr>宋体</vt:lpstr>
      <vt:lpstr>微软雅黑</vt:lpstr>
      <vt:lpstr>Arial</vt:lpstr>
      <vt:lpstr>Calibri</vt:lpstr>
      <vt:lpstr>Calibri Light</vt:lpstr>
      <vt:lpstr>Cambria Math</vt:lpstr>
      <vt:lpstr>Constantia</vt:lpstr>
      <vt:lpstr>Tahoma</vt:lpstr>
      <vt:lpstr>Times New Roman</vt:lpstr>
      <vt:lpstr>Wingdings</vt:lpstr>
      <vt:lpstr>Office 主题</vt:lpstr>
      <vt:lpstr>方程式</vt:lpstr>
      <vt:lpstr>公式</vt:lpstr>
      <vt:lpstr>Equation.KSEE3</vt:lpstr>
      <vt:lpstr>人工智能导论第五章  深度学习-CNN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宗霖 李</cp:lastModifiedBy>
  <cp:revision>66</cp:revision>
  <dcterms:created xsi:type="dcterms:W3CDTF">2018-09-09T14:30:00Z</dcterms:created>
  <dcterms:modified xsi:type="dcterms:W3CDTF">2026-04-15T06:55:09Z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063C9B80ABE349C0B88D235B33A875C1</vt:lpwstr>
  </property>
  <property fmtid="{D5CDD505-2E9C-101B-9397-08002B2CF9AE}" pid="3" name="KSOProductBuildVer">
    <vt:lpwstr>2052-11.1.0.11045</vt:lpwstr>
  </property>
</Properties>
</file>