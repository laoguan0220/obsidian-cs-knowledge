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38"/>
  </p:notesMasterIdLst>
  <p:handoutMasterIdLst>
    <p:handoutMasterId r:id="rId40"/>
  </p:handoutMasterIdLst>
  <p:sldIdLst>
    <p:sldId id="280" r:id="rId5"/>
    <p:sldId id="335" r:id="rId6"/>
    <p:sldId id="336" r:id="rId7"/>
    <p:sldId id="284" r:id="rId8"/>
    <p:sldId id="285" r:id="rId9"/>
    <p:sldId id="286" r:id="rId10"/>
    <p:sldId id="287" r:id="rId11"/>
    <p:sldId id="337" r:id="rId12"/>
    <p:sldId id="338" r:id="rId13"/>
    <p:sldId id="292" r:id="rId14"/>
    <p:sldId id="329" r:id="rId15"/>
    <p:sldId id="328" r:id="rId16"/>
    <p:sldId id="304" r:id="rId17"/>
    <p:sldId id="308" r:id="rId18"/>
    <p:sldId id="305" r:id="rId19"/>
    <p:sldId id="330" r:id="rId20"/>
    <p:sldId id="339" r:id="rId21"/>
    <p:sldId id="340" r:id="rId22"/>
    <p:sldId id="311" r:id="rId23"/>
    <p:sldId id="332" r:id="rId24"/>
    <p:sldId id="313" r:id="rId25"/>
    <p:sldId id="314" r:id="rId26"/>
    <p:sldId id="315" r:id="rId27"/>
    <p:sldId id="321" r:id="rId28"/>
    <p:sldId id="316" r:id="rId29"/>
    <p:sldId id="324" r:id="rId30"/>
    <p:sldId id="325" r:id="rId31"/>
    <p:sldId id="331" r:id="rId32"/>
    <p:sldId id="367" r:id="rId33"/>
    <p:sldId id="301" r:id="rId34"/>
    <p:sldId id="326" r:id="rId35"/>
    <p:sldId id="327" r:id="rId36"/>
    <p:sldId id="333" r:id="rId37"/>
    <p:sldId id="334" r:id="rId39"/>
  </p:sldIdLst>
  <p:sldSz cx="9144000" cy="6858000" type="screen4x3"/>
  <p:notesSz cx="6760845" cy="9931400"/>
  <p:custDataLst>
    <p:tags r:id="rId4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FFCC"/>
    <a:srgbClr val="FFFFFF"/>
    <a:srgbClr val="FF3399"/>
    <a:srgbClr val="CC99FF"/>
    <a:srgbClr val="00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0" autoAdjust="0"/>
    <p:restoredTop sz="99663" autoAdjust="0"/>
  </p:normalViewPr>
  <p:slideViewPr>
    <p:cSldViewPr showGuides="1">
      <p:cViewPr varScale="1">
        <p:scale>
          <a:sx n="72" d="100"/>
          <a:sy n="72" d="100"/>
        </p:scale>
        <p:origin x="160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4" Type="http://schemas.openxmlformats.org/officeDocument/2006/relationships/tags" Target="tags/tag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0" Type="http://schemas.openxmlformats.org/officeDocument/2006/relationships/image" Target="../media/image16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8.wmf"/><Relationship Id="rId3" Type="http://schemas.openxmlformats.org/officeDocument/2006/relationships/image" Target="../media/image9.wmf"/><Relationship Id="rId2" Type="http://schemas.openxmlformats.org/officeDocument/2006/relationships/image" Target="../media/image6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4" Type="http://schemas.openxmlformats.org/officeDocument/2006/relationships/image" Target="../media/image28.emf"/><Relationship Id="rId3" Type="http://schemas.openxmlformats.org/officeDocument/2006/relationships/image" Target="../media/image27.emf"/><Relationship Id="rId2" Type="http://schemas.openxmlformats.org/officeDocument/2006/relationships/image" Target="../media/image26.wmf"/><Relationship Id="rId12" Type="http://schemas.openxmlformats.org/officeDocument/2006/relationships/image" Target="../media/image23.wmf"/><Relationship Id="rId11" Type="http://schemas.openxmlformats.org/officeDocument/2006/relationships/image" Target="../media/image31.wmf"/><Relationship Id="rId10" Type="http://schemas.openxmlformats.org/officeDocument/2006/relationships/image" Target="../media/image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23.wmf"/><Relationship Id="rId5" Type="http://schemas.openxmlformats.org/officeDocument/2006/relationships/image" Target="../media/image31.wmf"/><Relationship Id="rId4" Type="http://schemas.openxmlformats.org/officeDocument/2006/relationships/image" Target="../media/image8.wmf"/><Relationship Id="rId3" Type="http://schemas.openxmlformats.org/officeDocument/2006/relationships/image" Target="../media/image9.wmf"/><Relationship Id="rId2" Type="http://schemas.openxmlformats.org/officeDocument/2006/relationships/image" Target="../media/image33.wmf"/><Relationship Id="rId16" Type="http://schemas.openxmlformats.org/officeDocument/2006/relationships/image" Target="../media/image41.wmf"/><Relationship Id="rId15" Type="http://schemas.openxmlformats.org/officeDocument/2006/relationships/image" Target="../media/image40.wmf"/><Relationship Id="rId14" Type="http://schemas.openxmlformats.org/officeDocument/2006/relationships/image" Target="../media/image30.wmf"/><Relationship Id="rId13" Type="http://schemas.openxmlformats.org/officeDocument/2006/relationships/image" Target="../media/image29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7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7" Type="http://schemas.openxmlformats.org/officeDocument/2006/relationships/image" Target="../media/image30.wmf"/><Relationship Id="rId6" Type="http://schemas.openxmlformats.org/officeDocument/2006/relationships/image" Target="../media/image48.wmf"/><Relationship Id="rId5" Type="http://schemas.openxmlformats.org/officeDocument/2006/relationships/image" Target="../media/image8.wmf"/><Relationship Id="rId4" Type="http://schemas.openxmlformats.org/officeDocument/2006/relationships/image" Target="../media/image9.wmf"/><Relationship Id="rId3" Type="http://schemas.openxmlformats.org/officeDocument/2006/relationships/image" Target="../media/image47.emf"/><Relationship Id="rId2" Type="http://schemas.openxmlformats.org/officeDocument/2006/relationships/image" Target="../media/image46.wmf"/><Relationship Id="rId1" Type="http://schemas.openxmlformats.org/officeDocument/2006/relationships/image" Target="../media/image45.e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46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30.wmf"/><Relationship Id="rId7" Type="http://schemas.openxmlformats.org/officeDocument/2006/relationships/image" Target="../media/image59.wmf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image" Target="../media/image66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8.wmf"/><Relationship Id="rId4" Type="http://schemas.openxmlformats.org/officeDocument/2006/relationships/image" Target="../media/image9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0" Type="http://schemas.openxmlformats.org/officeDocument/2006/relationships/image" Target="../media/image68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8.wmf"/><Relationship Id="rId4" Type="http://schemas.openxmlformats.org/officeDocument/2006/relationships/image" Target="../media/image9.wmf"/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4" Type="http://schemas.openxmlformats.org/officeDocument/2006/relationships/image" Target="../media/image91.emf"/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30.wmf"/><Relationship Id="rId6" Type="http://schemas.openxmlformats.org/officeDocument/2006/relationships/image" Target="../media/image96.wmf"/><Relationship Id="rId5" Type="http://schemas.openxmlformats.org/officeDocument/2006/relationships/image" Target="../media/image8.wmf"/><Relationship Id="rId4" Type="http://schemas.openxmlformats.org/officeDocument/2006/relationships/image" Target="../media/image9.wmf"/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3" Type="http://schemas.openxmlformats.org/officeDocument/2006/relationships/image" Target="../media/image102.wmf"/><Relationship Id="rId12" Type="http://schemas.openxmlformats.org/officeDocument/2006/relationships/image" Target="../media/image101.emf"/><Relationship Id="rId11" Type="http://schemas.openxmlformats.org/officeDocument/2006/relationships/image" Target="../media/image100.emf"/><Relationship Id="rId10" Type="http://schemas.openxmlformats.org/officeDocument/2006/relationships/image" Target="../media/image99.emf"/><Relationship Id="rId1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wmf"/><Relationship Id="rId8" Type="http://schemas.openxmlformats.org/officeDocument/2006/relationships/image" Target="../media/image112.wmf"/><Relationship Id="rId7" Type="http://schemas.openxmlformats.org/officeDocument/2006/relationships/image" Target="../media/image111.wmf"/><Relationship Id="rId6" Type="http://schemas.openxmlformats.org/officeDocument/2006/relationships/image" Target="../media/image110.wmf"/><Relationship Id="rId5" Type="http://schemas.openxmlformats.org/officeDocument/2006/relationships/image" Target="../media/image97.wmf"/><Relationship Id="rId4" Type="http://schemas.openxmlformats.org/officeDocument/2006/relationships/image" Target="../media/image30.wmf"/><Relationship Id="rId3" Type="http://schemas.openxmlformats.org/officeDocument/2006/relationships/image" Target="../media/image96.wmf"/><Relationship Id="rId2" Type="http://schemas.openxmlformats.org/officeDocument/2006/relationships/image" Target="../media/image8.wmf"/><Relationship Id="rId13" Type="http://schemas.openxmlformats.org/officeDocument/2006/relationships/image" Target="../media/image116.emf"/><Relationship Id="rId12" Type="http://schemas.openxmlformats.org/officeDocument/2006/relationships/image" Target="../media/image115.wmf"/><Relationship Id="rId11" Type="http://schemas.openxmlformats.org/officeDocument/2006/relationships/image" Target="../media/image114.wmf"/><Relationship Id="rId10" Type="http://schemas.openxmlformats.org/officeDocument/2006/relationships/image" Target="../media/image46.wmf"/><Relationship Id="rId1" Type="http://schemas.openxmlformats.org/officeDocument/2006/relationships/image" Target="../media/image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329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6855189-2729-4081-8887-9A84F515601F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EAC8CC-DFF0-4C78-96F1-3D616113394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9852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275" y="4718050"/>
            <a:ext cx="5408613" cy="44688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050" y="9432925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3FADFB8-12DB-4F99-A432-E17F5B126E8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/>
              <a:t>2. Qn+1=Qn+A+/B</a:t>
            </a:r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E02700-13AB-4862-999C-8E0A7B965D8F}" type="slidenum">
              <a:rPr lang="zh-CN" altLang="en-US" sz="1200" smtClean="0">
                <a:solidFill>
                  <a:srgbClr val="000000"/>
                </a:solidFill>
              </a:rPr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/>
              <a:t>3.D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8265A8-2611-4863-B3F3-AF5D536E35B4}" type="slidenum">
              <a:rPr lang="zh-CN" altLang="en-US" sz="1200" smtClean="0">
                <a:solidFill>
                  <a:srgbClr val="000000"/>
                </a:solidFill>
              </a:rPr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6E62B-AFFF-4CC0-BE52-ADDE5D0407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B2073-4B12-486D-9037-F5668B543C1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4E555-C8FA-4963-A4F7-8CD8916E85F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B8961-DFA3-4EA1-9626-9B2658996DF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4C37F-C4B3-4FD6-A584-CE7A1A0A0B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DC5AF-7A88-4D54-B241-7BBACC09CA4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7EFEF-5B2F-48B4-AFB5-5ACCD6F6D6D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B2FB9-24FE-41E1-AEAE-BEDEB74A68C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F7D81-1547-4414-93BF-89E25632B4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695F8-336C-4194-8023-97738A713DF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66226-4E59-46E2-891B-8490067516F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DA2CF-3ED4-4F99-A741-4FD916E0AC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3025" y="6400800"/>
            <a:ext cx="3200400" cy="2841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825" y="6400800"/>
            <a:ext cx="3733800" cy="2841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AF1C8-72F9-4C0F-AD4E-55F814E48F9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1ADC-B4F4-4D7B-922D-485C3A6988C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29460-300F-4FCC-9EAB-5F9A6F82ED4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53C9B-133E-433F-92D1-C2D29EC23FC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F18C1-6EAD-4A4B-BFAE-01A383EBCD6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02097-32BF-42FC-B12D-D0934A986F92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786063" y="1054100"/>
            <a:ext cx="5903912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706D2-C2A2-40A9-A7B5-0C863FE9D57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0D480-E6E9-4A85-A2BF-F6997CFB1220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6BC8-D71E-4CA0-8C12-E01A1DA39C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5CEF2-7994-4A08-B7AD-5854474765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63DFD-AEB7-44A5-81F9-446021A7A29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FF9B4-226E-411F-A26F-F88D97400A7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A2CC3-A6D7-44BA-9620-55373A60B44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71FC3-5B5D-4F81-87B3-E8FFB0BD063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48CD2D-D9B8-40A8-BEF6-AE81A88167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8BA6A-CC41-46A5-9D6D-A05B85AE5C2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83481-EDB9-4D43-BB82-24C6CDE6833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17710-CCA3-4537-BE91-64AC8DDDDC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1CA0B-9078-4F10-B1F8-455755BC78E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B2908-2F5D-477D-AA49-B3939D9EFD8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5D5B5-F6BC-423C-8333-07EC9B282B1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CDF500-B46B-470C-A04A-DCD7B5AB294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42E28E8E-B6AF-45E8-84CC-42920DE731DA}" type="slidenum">
              <a:rPr lang="zh-CN" altLang="en-US"/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6D019CF-395A-42C8-B765-1BCE98EF08AF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8" Type="http://schemas.openxmlformats.org/officeDocument/2006/relationships/vmlDrawing" Target="../drawings/vmlDrawing1.vml"/><Relationship Id="rId27" Type="http://schemas.openxmlformats.org/officeDocument/2006/relationships/slideLayout" Target="../slideLayouts/slideLayout29.xml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15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14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13.bin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6.wmf"/><Relationship Id="rId19" Type="http://schemas.openxmlformats.org/officeDocument/2006/relationships/image" Target="../media/image13.png"/><Relationship Id="rId18" Type="http://schemas.openxmlformats.org/officeDocument/2006/relationships/oleObject" Target="../embeddings/oleObject11.bin"/><Relationship Id="rId17" Type="http://schemas.openxmlformats.org/officeDocument/2006/relationships/oleObject" Target="../embeddings/oleObject10.bin"/><Relationship Id="rId16" Type="http://schemas.openxmlformats.org/officeDocument/2006/relationships/oleObject" Target="../embeddings/oleObject9.bin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7.wmf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29.xml"/><Relationship Id="rId15" Type="http://schemas.openxmlformats.org/officeDocument/2006/relationships/image" Target="../media/image24.png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8.e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6.bin"/><Relationship Id="rId28" Type="http://schemas.openxmlformats.org/officeDocument/2006/relationships/vmlDrawing" Target="../drawings/vmlDrawing4.vml"/><Relationship Id="rId27" Type="http://schemas.openxmlformats.org/officeDocument/2006/relationships/slideLayout" Target="../slideLayouts/slideLayout29.xml"/><Relationship Id="rId26" Type="http://schemas.openxmlformats.org/officeDocument/2006/relationships/image" Target="../media/image23.wmf"/><Relationship Id="rId25" Type="http://schemas.openxmlformats.org/officeDocument/2006/relationships/oleObject" Target="../embeddings/oleObject38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37.bin"/><Relationship Id="rId22" Type="http://schemas.openxmlformats.org/officeDocument/2006/relationships/oleObject" Target="../embeddings/oleObject36.bin"/><Relationship Id="rId21" Type="http://schemas.openxmlformats.org/officeDocument/2006/relationships/oleObject" Target="../embeddings/oleObject35.bin"/><Relationship Id="rId20" Type="http://schemas.openxmlformats.org/officeDocument/2006/relationships/image" Target="../media/image6.wmf"/><Relationship Id="rId2" Type="http://schemas.openxmlformats.org/officeDocument/2006/relationships/image" Target="../media/image25.wmf"/><Relationship Id="rId19" Type="http://schemas.openxmlformats.org/officeDocument/2006/relationships/oleObject" Target="../embeddings/oleObject34.bin"/><Relationship Id="rId18" Type="http://schemas.openxmlformats.org/officeDocument/2006/relationships/image" Target="../media/image7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32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2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3.wmf"/><Relationship Id="rId36" Type="http://schemas.openxmlformats.org/officeDocument/2006/relationships/vmlDrawing" Target="../drawings/vmlDrawing5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41.wmf"/><Relationship Id="rId33" Type="http://schemas.openxmlformats.org/officeDocument/2006/relationships/oleObject" Target="../embeddings/oleObject56.bin"/><Relationship Id="rId32" Type="http://schemas.openxmlformats.org/officeDocument/2006/relationships/image" Target="../media/image40.wmf"/><Relationship Id="rId31" Type="http://schemas.openxmlformats.org/officeDocument/2006/relationships/oleObject" Target="../embeddings/oleObject55.bin"/><Relationship Id="rId30" Type="http://schemas.openxmlformats.org/officeDocument/2006/relationships/image" Target="../media/image30.wmf"/><Relationship Id="rId3" Type="http://schemas.openxmlformats.org/officeDocument/2006/relationships/oleObject" Target="../embeddings/oleObject40.bin"/><Relationship Id="rId29" Type="http://schemas.openxmlformats.org/officeDocument/2006/relationships/oleObject" Target="../embeddings/oleObject54.bin"/><Relationship Id="rId28" Type="http://schemas.openxmlformats.org/officeDocument/2006/relationships/image" Target="../media/image29.wmf"/><Relationship Id="rId27" Type="http://schemas.openxmlformats.org/officeDocument/2006/relationships/oleObject" Target="../embeddings/oleObject53.bin"/><Relationship Id="rId26" Type="http://schemas.openxmlformats.org/officeDocument/2006/relationships/oleObject" Target="../embeddings/oleObject52.bin"/><Relationship Id="rId25" Type="http://schemas.openxmlformats.org/officeDocument/2006/relationships/oleObject" Target="../embeddings/oleObject51.bin"/><Relationship Id="rId24" Type="http://schemas.openxmlformats.org/officeDocument/2006/relationships/image" Target="../media/image39.wmf"/><Relationship Id="rId23" Type="http://schemas.openxmlformats.org/officeDocument/2006/relationships/oleObject" Target="../embeddings/oleObject50.bin"/><Relationship Id="rId22" Type="http://schemas.openxmlformats.org/officeDocument/2006/relationships/image" Target="../media/image38.wmf"/><Relationship Id="rId21" Type="http://schemas.openxmlformats.org/officeDocument/2006/relationships/oleObject" Target="../embeddings/oleObject49.bin"/><Relationship Id="rId20" Type="http://schemas.openxmlformats.org/officeDocument/2006/relationships/image" Target="../media/image37.wmf"/><Relationship Id="rId2" Type="http://schemas.openxmlformats.org/officeDocument/2006/relationships/image" Target="../media/image32.wmf"/><Relationship Id="rId19" Type="http://schemas.openxmlformats.org/officeDocument/2006/relationships/oleObject" Target="../embeddings/oleObject48.bin"/><Relationship Id="rId18" Type="http://schemas.openxmlformats.org/officeDocument/2006/relationships/image" Target="../media/image36.wmf"/><Relationship Id="rId17" Type="http://schemas.openxmlformats.org/officeDocument/2006/relationships/oleObject" Target="../embeddings/oleObject47.bin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46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45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3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oleObject" Target="../embeddings/oleObject60.bin"/><Relationship Id="rId7" Type="http://schemas.openxmlformats.org/officeDocument/2006/relationships/image" Target="../media/image47.emf"/><Relationship Id="rId6" Type="http://schemas.openxmlformats.org/officeDocument/2006/relationships/oleObject" Target="../embeddings/oleObject59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58.bin"/><Relationship Id="rId3" Type="http://schemas.openxmlformats.org/officeDocument/2006/relationships/image" Target="../media/image45.emf"/><Relationship Id="rId2" Type="http://schemas.openxmlformats.org/officeDocument/2006/relationships/oleObject" Target="../embeddings/oleObject57.bin"/><Relationship Id="rId19" Type="http://schemas.openxmlformats.org/officeDocument/2006/relationships/vmlDrawing" Target="../drawings/vmlDrawing6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49.wmf"/><Relationship Id="rId16" Type="http://schemas.openxmlformats.org/officeDocument/2006/relationships/oleObject" Target="../embeddings/oleObject64.bin"/><Relationship Id="rId15" Type="http://schemas.openxmlformats.org/officeDocument/2006/relationships/image" Target="../media/image30.wmf"/><Relationship Id="rId14" Type="http://schemas.openxmlformats.org/officeDocument/2006/relationships/oleObject" Target="../embeddings/oleObject63.bin"/><Relationship Id="rId13" Type="http://schemas.openxmlformats.org/officeDocument/2006/relationships/image" Target="../media/image48.wmf"/><Relationship Id="rId12" Type="http://schemas.openxmlformats.org/officeDocument/2006/relationships/oleObject" Target="../embeddings/oleObject62.bin"/><Relationship Id="rId11" Type="http://schemas.openxmlformats.org/officeDocument/2006/relationships/image" Target="../media/image8.wmf"/><Relationship Id="rId10" Type="http://schemas.openxmlformats.org/officeDocument/2006/relationships/oleObject" Target="../embeddings/oleObject61.bin"/><Relationship Id="rId1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50.e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72.bin"/><Relationship Id="rId21" Type="http://schemas.openxmlformats.org/officeDocument/2006/relationships/vmlDrawing" Target="../drawings/vmlDrawing8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55.emf"/><Relationship Id="rId19" Type="http://schemas.openxmlformats.org/officeDocument/2006/relationships/image" Target="../media/image61.png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7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64.wmf"/><Relationship Id="rId33" Type="http://schemas.openxmlformats.org/officeDocument/2006/relationships/vmlDrawing" Target="../drawings/vmlDrawing9.vml"/><Relationship Id="rId32" Type="http://schemas.openxmlformats.org/officeDocument/2006/relationships/slideLayout" Target="../slideLayouts/slideLayout29.xml"/><Relationship Id="rId31" Type="http://schemas.openxmlformats.org/officeDocument/2006/relationships/image" Target="../media/image68.wmf"/><Relationship Id="rId30" Type="http://schemas.openxmlformats.org/officeDocument/2006/relationships/oleObject" Target="../embeddings/oleObject100.bin"/><Relationship Id="rId3" Type="http://schemas.openxmlformats.org/officeDocument/2006/relationships/oleObject" Target="../embeddings/oleObject81.bin"/><Relationship Id="rId29" Type="http://schemas.openxmlformats.org/officeDocument/2006/relationships/image" Target="../media/image67.wmf"/><Relationship Id="rId28" Type="http://schemas.openxmlformats.org/officeDocument/2006/relationships/oleObject" Target="../embeddings/oleObject99.bin"/><Relationship Id="rId27" Type="http://schemas.openxmlformats.org/officeDocument/2006/relationships/oleObject" Target="../embeddings/oleObject98.bin"/><Relationship Id="rId26" Type="http://schemas.openxmlformats.org/officeDocument/2006/relationships/oleObject" Target="../embeddings/oleObject97.bin"/><Relationship Id="rId25" Type="http://schemas.openxmlformats.org/officeDocument/2006/relationships/image" Target="../media/image66.wmf"/><Relationship Id="rId24" Type="http://schemas.openxmlformats.org/officeDocument/2006/relationships/oleObject" Target="../embeddings/oleObject96.bin"/><Relationship Id="rId23" Type="http://schemas.openxmlformats.org/officeDocument/2006/relationships/oleObject" Target="../embeddings/oleObject95.bin"/><Relationship Id="rId22" Type="http://schemas.openxmlformats.org/officeDocument/2006/relationships/oleObject" Target="../embeddings/oleObject94.bin"/><Relationship Id="rId21" Type="http://schemas.openxmlformats.org/officeDocument/2006/relationships/oleObject" Target="../embeddings/oleObject93.bin"/><Relationship Id="rId20" Type="http://schemas.openxmlformats.org/officeDocument/2006/relationships/oleObject" Target="../embeddings/oleObject92.bin"/><Relationship Id="rId2" Type="http://schemas.openxmlformats.org/officeDocument/2006/relationships/image" Target="../media/image46.wmf"/><Relationship Id="rId19" Type="http://schemas.openxmlformats.org/officeDocument/2006/relationships/oleObject" Target="../embeddings/oleObject91.bin"/><Relationship Id="rId18" Type="http://schemas.openxmlformats.org/officeDocument/2006/relationships/oleObject" Target="../embeddings/oleObject90.bin"/><Relationship Id="rId17" Type="http://schemas.openxmlformats.org/officeDocument/2006/relationships/oleObject" Target="../embeddings/oleObject89.bin"/><Relationship Id="rId16" Type="http://schemas.openxmlformats.org/officeDocument/2006/relationships/oleObject" Target="../embeddings/oleObject88.bin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8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emf"/><Relationship Id="rId1" Type="http://schemas.openxmlformats.org/officeDocument/2006/relationships/oleObject" Target="../embeddings/oleObject101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emf"/><Relationship Id="rId1" Type="http://schemas.openxmlformats.org/officeDocument/2006/relationships/oleObject" Target="../embeddings/oleObject102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8.png"/><Relationship Id="rId2" Type="http://schemas.openxmlformats.org/officeDocument/2006/relationships/image" Target="../media/image77.emf"/><Relationship Id="rId1" Type="http://schemas.openxmlformats.org/officeDocument/2006/relationships/oleObject" Target="../embeddings/oleObject10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85.e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84.emf"/><Relationship Id="rId3" Type="http://schemas.openxmlformats.org/officeDocument/2006/relationships/oleObject" Target="../embeddings/oleObject107.bin"/><Relationship Id="rId22" Type="http://schemas.openxmlformats.org/officeDocument/2006/relationships/vmlDrawing" Target="../drawings/vmlDrawing14.vml"/><Relationship Id="rId21" Type="http://schemas.openxmlformats.org/officeDocument/2006/relationships/slideLayout" Target="../slideLayouts/slideLayout7.xml"/><Relationship Id="rId20" Type="http://schemas.openxmlformats.org/officeDocument/2006/relationships/oleObject" Target="../embeddings/oleObject116.bin"/><Relationship Id="rId2" Type="http://schemas.openxmlformats.org/officeDocument/2006/relationships/image" Target="../media/image83.emf"/><Relationship Id="rId19" Type="http://schemas.openxmlformats.org/officeDocument/2006/relationships/oleObject" Target="../embeddings/oleObject115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0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91.e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90.e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89.emf"/><Relationship Id="rId3" Type="http://schemas.openxmlformats.org/officeDocument/2006/relationships/oleObject" Target="../embeddings/oleObject118.bin"/><Relationship Id="rId28" Type="http://schemas.openxmlformats.org/officeDocument/2006/relationships/vmlDrawing" Target="../drawings/vmlDrawing15.vml"/><Relationship Id="rId27" Type="http://schemas.openxmlformats.org/officeDocument/2006/relationships/slideLayout" Target="../slideLayouts/slideLayout7.xml"/><Relationship Id="rId26" Type="http://schemas.openxmlformats.org/officeDocument/2006/relationships/oleObject" Target="../embeddings/oleObject133.bin"/><Relationship Id="rId25" Type="http://schemas.openxmlformats.org/officeDocument/2006/relationships/oleObject" Target="../embeddings/oleObject132.bin"/><Relationship Id="rId24" Type="http://schemas.openxmlformats.org/officeDocument/2006/relationships/image" Target="../media/image92.wmf"/><Relationship Id="rId23" Type="http://schemas.openxmlformats.org/officeDocument/2006/relationships/oleObject" Target="../embeddings/oleObject131.bin"/><Relationship Id="rId22" Type="http://schemas.openxmlformats.org/officeDocument/2006/relationships/oleObject" Target="../embeddings/oleObject130.bin"/><Relationship Id="rId21" Type="http://schemas.openxmlformats.org/officeDocument/2006/relationships/oleObject" Target="../embeddings/oleObject129.bin"/><Relationship Id="rId20" Type="http://schemas.openxmlformats.org/officeDocument/2006/relationships/oleObject" Target="../embeddings/oleObject128.bin"/><Relationship Id="rId2" Type="http://schemas.openxmlformats.org/officeDocument/2006/relationships/image" Target="../media/image88.emf"/><Relationship Id="rId19" Type="http://schemas.openxmlformats.org/officeDocument/2006/relationships/oleObject" Target="../embeddings/oleObject127.bin"/><Relationship Id="rId18" Type="http://schemas.openxmlformats.org/officeDocument/2006/relationships/oleObject" Target="../embeddings/oleObject126.bin"/><Relationship Id="rId17" Type="http://schemas.openxmlformats.org/officeDocument/2006/relationships/oleObject" Target="../embeddings/oleObject125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124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1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95.e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94.emf"/><Relationship Id="rId33" Type="http://schemas.openxmlformats.org/officeDocument/2006/relationships/vmlDrawing" Target="../drawings/vmlDrawing16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102.wmf"/><Relationship Id="rId30" Type="http://schemas.openxmlformats.org/officeDocument/2006/relationships/oleObject" Target="../embeddings/oleObject151.bin"/><Relationship Id="rId3" Type="http://schemas.openxmlformats.org/officeDocument/2006/relationships/oleObject" Target="../embeddings/oleObject135.bin"/><Relationship Id="rId29" Type="http://schemas.openxmlformats.org/officeDocument/2006/relationships/oleObject" Target="../embeddings/oleObject150.bin"/><Relationship Id="rId28" Type="http://schemas.openxmlformats.org/officeDocument/2006/relationships/oleObject" Target="../embeddings/oleObject149.bin"/><Relationship Id="rId27" Type="http://schemas.openxmlformats.org/officeDocument/2006/relationships/oleObject" Target="../embeddings/oleObject148.bin"/><Relationship Id="rId26" Type="http://schemas.openxmlformats.org/officeDocument/2006/relationships/oleObject" Target="../embeddings/oleObject147.bin"/><Relationship Id="rId25" Type="http://schemas.openxmlformats.org/officeDocument/2006/relationships/oleObject" Target="../embeddings/oleObject146.bin"/><Relationship Id="rId24" Type="http://schemas.openxmlformats.org/officeDocument/2006/relationships/image" Target="../media/image101.emf"/><Relationship Id="rId23" Type="http://schemas.openxmlformats.org/officeDocument/2006/relationships/oleObject" Target="../embeddings/oleObject145.bin"/><Relationship Id="rId22" Type="http://schemas.openxmlformats.org/officeDocument/2006/relationships/image" Target="../media/image100.emf"/><Relationship Id="rId21" Type="http://schemas.openxmlformats.org/officeDocument/2006/relationships/oleObject" Target="../embeddings/oleObject144.bin"/><Relationship Id="rId20" Type="http://schemas.openxmlformats.org/officeDocument/2006/relationships/image" Target="../media/image99.emf"/><Relationship Id="rId2" Type="http://schemas.openxmlformats.org/officeDocument/2006/relationships/image" Target="../media/image93.emf"/><Relationship Id="rId19" Type="http://schemas.openxmlformats.org/officeDocument/2006/relationships/oleObject" Target="../embeddings/oleObject143.bin"/><Relationship Id="rId18" Type="http://schemas.openxmlformats.org/officeDocument/2006/relationships/image" Target="../media/image98.wmf"/><Relationship Id="rId17" Type="http://schemas.openxmlformats.org/officeDocument/2006/relationships/oleObject" Target="../embeddings/oleObject142.bin"/><Relationship Id="rId16" Type="http://schemas.openxmlformats.org/officeDocument/2006/relationships/image" Target="../media/image97.wmf"/><Relationship Id="rId15" Type="http://schemas.openxmlformats.org/officeDocument/2006/relationships/oleObject" Target="../embeddings/oleObject141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140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139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3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png"/><Relationship Id="rId8" Type="http://schemas.openxmlformats.org/officeDocument/2006/relationships/image" Target="../media/image106.png"/><Relationship Id="rId7" Type="http://schemas.openxmlformats.org/officeDocument/2006/relationships/image" Target="../media/image105.wmf"/><Relationship Id="rId6" Type="http://schemas.openxmlformats.org/officeDocument/2006/relationships/oleObject" Target="../embeddings/oleObject154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153.bin"/><Relationship Id="rId3" Type="http://schemas.openxmlformats.org/officeDocument/2006/relationships/image" Target="../media/image46.wmf"/><Relationship Id="rId2" Type="http://schemas.openxmlformats.org/officeDocument/2006/relationships/oleObject" Target="../embeddings/oleObject152.bin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8.wmf"/><Relationship Id="rId34" Type="http://schemas.openxmlformats.org/officeDocument/2006/relationships/vmlDrawing" Target="../drawings/vmlDrawing18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116.emf"/><Relationship Id="rId31" Type="http://schemas.openxmlformats.org/officeDocument/2006/relationships/oleObject" Target="../embeddings/oleObject173.bin"/><Relationship Id="rId30" Type="http://schemas.openxmlformats.org/officeDocument/2006/relationships/image" Target="../media/image115.wmf"/><Relationship Id="rId3" Type="http://schemas.openxmlformats.org/officeDocument/2006/relationships/oleObject" Target="../embeddings/oleObject156.bin"/><Relationship Id="rId29" Type="http://schemas.openxmlformats.org/officeDocument/2006/relationships/oleObject" Target="../embeddings/oleObject172.bin"/><Relationship Id="rId28" Type="http://schemas.openxmlformats.org/officeDocument/2006/relationships/image" Target="../media/image114.wmf"/><Relationship Id="rId27" Type="http://schemas.openxmlformats.org/officeDocument/2006/relationships/oleObject" Target="../embeddings/oleObject171.bin"/><Relationship Id="rId26" Type="http://schemas.openxmlformats.org/officeDocument/2006/relationships/oleObject" Target="../embeddings/oleObject170.bin"/><Relationship Id="rId25" Type="http://schemas.openxmlformats.org/officeDocument/2006/relationships/oleObject" Target="../embeddings/oleObject169.bin"/><Relationship Id="rId24" Type="http://schemas.openxmlformats.org/officeDocument/2006/relationships/oleObject" Target="../embeddings/oleObject168.bin"/><Relationship Id="rId23" Type="http://schemas.openxmlformats.org/officeDocument/2006/relationships/oleObject" Target="../embeddings/oleObject167.bin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166.bin"/><Relationship Id="rId20" Type="http://schemas.openxmlformats.org/officeDocument/2006/relationships/oleObject" Target="../embeddings/oleObject165.bin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64.bin"/><Relationship Id="rId18" Type="http://schemas.openxmlformats.org/officeDocument/2006/relationships/image" Target="../media/image113.wmf"/><Relationship Id="rId17" Type="http://schemas.openxmlformats.org/officeDocument/2006/relationships/oleObject" Target="../embeddings/oleObject163.bin"/><Relationship Id="rId16" Type="http://schemas.openxmlformats.org/officeDocument/2006/relationships/image" Target="../media/image112.wmf"/><Relationship Id="rId15" Type="http://schemas.openxmlformats.org/officeDocument/2006/relationships/oleObject" Target="../embeddings/oleObject162.bin"/><Relationship Id="rId14" Type="http://schemas.openxmlformats.org/officeDocument/2006/relationships/image" Target="../media/image111.w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10.w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55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2.emf"/><Relationship Id="rId3" Type="http://schemas.openxmlformats.org/officeDocument/2006/relationships/image" Target="../media/image121.wmf"/><Relationship Id="rId2" Type="http://schemas.openxmlformats.org/officeDocument/2006/relationships/oleObject" Target="../embeddings/oleObject174.bin"/><Relationship Id="rId1" Type="http://schemas.openxmlformats.org/officeDocument/2006/relationships/image" Target="../media/image1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xfrm>
            <a:off x="1571625" y="3571875"/>
            <a:ext cx="6286500" cy="1054100"/>
          </a:xfrm>
          <a:prstGeom prst="roundRect">
            <a:avLst>
              <a:gd name="adj" fmla="val 25079"/>
            </a:avLst>
          </a:prstGeom>
        </p:spPr>
        <p:txBody>
          <a:bodyPr/>
          <a:lstStyle/>
          <a:p>
            <a:pPr marL="914400" indent="-914400" eaLnBrk="1" hangingPunct="1"/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章 集成触发器</a:t>
            </a:r>
            <a:endParaRPr lang="zh-CN" altLang="en-US" b="1">
              <a:solidFill>
                <a:srgbClr val="008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" name="AutoShape 7"/>
          <p:cNvSpPr>
            <a:spLocks noChangeArrowheads="1"/>
          </p:cNvSpPr>
          <p:nvPr/>
        </p:nvSpPr>
        <p:spPr bwMode="auto">
          <a:xfrm>
            <a:off x="611188" y="1004888"/>
            <a:ext cx="6697662" cy="911225"/>
          </a:xfrm>
          <a:prstGeom prst="roundRect">
            <a:avLst>
              <a:gd name="adj" fmla="val 2507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b"/>
          <a:lstStyle>
            <a:lvl1pPr marL="914400" indent="-9144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48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数字逻辑设计</a:t>
            </a:r>
            <a:endParaRPr lang="en-US" altLang="zh-CN" sz="4800" b="1">
              <a:solidFill>
                <a:srgbClr val="FF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0"/>
          <p:cNvSpPr>
            <a:spLocks noChangeArrowheads="1"/>
          </p:cNvSpPr>
          <p:nvPr/>
        </p:nvSpPr>
        <p:spPr bwMode="auto">
          <a:xfrm>
            <a:off x="431800" y="139700"/>
            <a:ext cx="179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概述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27"/>
          <p:cNvGrpSpPr/>
          <p:nvPr/>
        </p:nvGrpSpPr>
        <p:grpSpPr bwMode="auto">
          <a:xfrm>
            <a:off x="684213" y="908050"/>
            <a:ext cx="7858125" cy="928688"/>
            <a:chOff x="571472" y="714356"/>
            <a:chExt cx="7858180" cy="928688"/>
          </a:xfrm>
        </p:grpSpPr>
        <p:sp>
          <p:nvSpPr>
            <p:cNvPr id="22536" name="Rectangle 16"/>
            <p:cNvSpPr>
              <a:spLocks noChangeArrowheads="1"/>
            </p:cNvSpPr>
            <p:nvPr/>
          </p:nvSpPr>
          <p:spPr bwMode="auto">
            <a:xfrm>
              <a:off x="571472" y="714356"/>
              <a:ext cx="7858180" cy="928688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37" name="Rectangle 5"/>
            <p:cNvSpPr>
              <a:spLocks noChangeArrowheads="1"/>
            </p:cNvSpPr>
            <p:nvPr/>
          </p:nvSpPr>
          <p:spPr bwMode="auto">
            <a:xfrm>
              <a:off x="684213" y="765175"/>
              <a:ext cx="76327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触发器是构成时序逻辑电路的基本单元。它是一种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具有记忆功能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，能储存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位二进制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信息的逻辑电路。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500063" y="2070100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触发器的特点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323850" y="2555875"/>
            <a:ext cx="8351838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具有两个稳定的状态，用来表示电路的两个逻辑状态；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②在输入信号作用下，可以被置成“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状态或“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状态；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③当输入信号撤消后，所置成的状态能够保持不变。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00063" y="4405313"/>
            <a:ext cx="189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状态说明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568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029200"/>
            <a:ext cx="80676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90"/>
          <p:cNvSpPr>
            <a:spLocks noChangeArrowheads="1"/>
          </p:cNvSpPr>
          <p:nvPr/>
        </p:nvSpPr>
        <p:spPr bwMode="auto">
          <a:xfrm>
            <a:off x="325438" y="71438"/>
            <a:ext cx="42465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§5.1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基本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RS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触发器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84213" y="836613"/>
            <a:ext cx="4116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一、电路结构和工作原理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91"/>
          <p:cNvGrpSpPr/>
          <p:nvPr/>
        </p:nvGrpSpPr>
        <p:grpSpPr bwMode="auto">
          <a:xfrm>
            <a:off x="5072063" y="1323975"/>
            <a:ext cx="3429000" cy="2962275"/>
            <a:chOff x="5214942" y="714356"/>
            <a:chExt cx="3429024" cy="2961995"/>
          </a:xfrm>
        </p:grpSpPr>
        <p:grpSp>
          <p:nvGrpSpPr>
            <p:cNvPr id="1140" name="组合 87"/>
            <p:cNvGrpSpPr/>
            <p:nvPr/>
          </p:nvGrpSpPr>
          <p:grpSpPr bwMode="auto">
            <a:xfrm>
              <a:off x="5214942" y="1176021"/>
              <a:ext cx="3429024" cy="2500330"/>
              <a:chOff x="5214942" y="1714488"/>
              <a:chExt cx="3429024" cy="2500330"/>
            </a:xfrm>
          </p:grpSpPr>
          <p:grpSp>
            <p:nvGrpSpPr>
              <p:cNvPr id="1142" name="组合 85"/>
              <p:cNvGrpSpPr/>
              <p:nvPr/>
            </p:nvGrpSpPr>
            <p:grpSpPr bwMode="auto">
              <a:xfrm>
                <a:off x="5214942" y="1714488"/>
                <a:ext cx="3429024" cy="2500330"/>
                <a:chOff x="5214942" y="1714488"/>
                <a:chExt cx="3000396" cy="2500330"/>
              </a:xfrm>
            </p:grpSpPr>
            <p:cxnSp>
              <p:nvCxnSpPr>
                <p:cNvPr id="73" name="直接连接符 72"/>
                <p:cNvCxnSpPr/>
                <p:nvPr/>
              </p:nvCxnSpPr>
              <p:spPr>
                <a:xfrm>
                  <a:off x="5214942" y="1714742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>
                  <a:off x="5214942" y="2213170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5214942" y="2714773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5214942" y="3213201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5214942" y="3714803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5214942" y="4213231"/>
                  <a:ext cx="3000396" cy="158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" name="直接连接符 78"/>
              <p:cNvCxnSpPr/>
              <p:nvPr/>
            </p:nvCxnSpPr>
            <p:spPr>
              <a:xfrm rot="5400000">
                <a:off x="4965830" y="2963986"/>
                <a:ext cx="2500076" cy="158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037" name="Object 14"/>
              <p:cNvGraphicFramePr>
                <a:graphicFrameLocks noChangeAspect="1"/>
              </p:cNvGraphicFramePr>
              <p:nvPr/>
            </p:nvGraphicFramePr>
            <p:xfrm>
              <a:off x="5286380" y="1785926"/>
              <a:ext cx="298450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75" name="公式" r:id="rId1" imgW="152400" imgH="203200" progId="Equation.3">
                      <p:embed/>
                    </p:oleObj>
                  </mc:Choice>
                  <mc:Fallback>
                    <p:oleObj name="公式" r:id="rId1" imgW="152400" imgH="20320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6380" y="1785926"/>
                            <a:ext cx="298450" cy="4016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8" name="Object 15"/>
              <p:cNvGraphicFramePr>
                <a:graphicFrameLocks noChangeAspect="1"/>
              </p:cNvGraphicFramePr>
              <p:nvPr/>
            </p:nvGraphicFramePr>
            <p:xfrm>
              <a:off x="5786446" y="1785926"/>
              <a:ext cx="274637" cy="4270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76" name="公式" r:id="rId3" imgW="139700" imgH="215900" progId="Equation.3">
                      <p:embed/>
                    </p:oleObj>
                  </mc:Choice>
                  <mc:Fallback>
                    <p:oleObj name="公式" r:id="rId3" imgW="139700" imgH="2159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86446" y="1785926"/>
                            <a:ext cx="274637" cy="4270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9" name="Object 16"/>
              <p:cNvGraphicFramePr>
                <a:graphicFrameLocks noChangeAspect="1"/>
              </p:cNvGraphicFramePr>
              <p:nvPr/>
            </p:nvGraphicFramePr>
            <p:xfrm>
              <a:off x="6429388" y="1785926"/>
              <a:ext cx="298450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77" name="公式" r:id="rId5" imgW="152400" imgH="203200" progId="Equation.3">
                      <p:embed/>
                    </p:oleObj>
                  </mc:Choice>
                  <mc:Fallback>
                    <p:oleObj name="公式" r:id="rId5" imgW="152400" imgH="2032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29388" y="1785926"/>
                            <a:ext cx="298450" cy="401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0" name="Object 17"/>
              <p:cNvGraphicFramePr>
                <a:graphicFrameLocks noChangeAspect="1"/>
              </p:cNvGraphicFramePr>
              <p:nvPr/>
            </p:nvGraphicFramePr>
            <p:xfrm>
              <a:off x="6929454" y="1714488"/>
              <a:ext cx="2984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78" name="公式" r:id="rId7" imgW="152400" imgH="241300" progId="Equation.3">
                      <p:embed/>
                    </p:oleObj>
                  </mc:Choice>
                  <mc:Fallback>
                    <p:oleObj name="公式" r:id="rId7" imgW="152400" imgH="2413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9454" y="1714488"/>
                            <a:ext cx="2984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85" name="直接连接符 84"/>
              <p:cNvCxnSpPr/>
              <p:nvPr/>
            </p:nvCxnSpPr>
            <p:spPr>
              <a:xfrm rot="5400000">
                <a:off x="6108838" y="2963986"/>
                <a:ext cx="2500076" cy="158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5" name="矩形 86"/>
              <p:cNvSpPr>
                <a:spLocks noChangeArrowheads="1"/>
              </p:cNvSpPr>
              <p:nvPr/>
            </p:nvSpPr>
            <p:spPr bwMode="auto">
              <a:xfrm>
                <a:off x="7643834" y="1735126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说明</a:t>
                </a: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" name="矩形 88"/>
            <p:cNvSpPr>
              <a:spLocks noChangeArrowheads="1"/>
            </p:cNvSpPr>
            <p:nvPr/>
          </p:nvSpPr>
          <p:spPr bwMode="auto">
            <a:xfrm>
              <a:off x="6143636" y="714356"/>
              <a:ext cx="14189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功能表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126"/>
          <p:cNvGrpSpPr/>
          <p:nvPr/>
        </p:nvGrpSpPr>
        <p:grpSpPr bwMode="auto">
          <a:xfrm>
            <a:off x="1244600" y="4095750"/>
            <a:ext cx="2481263" cy="461963"/>
            <a:chOff x="1142976" y="4396095"/>
            <a:chExt cx="2481694" cy="461665"/>
          </a:xfrm>
        </p:grpSpPr>
        <p:sp>
          <p:nvSpPr>
            <p:cNvPr id="1138" name="矩形 93"/>
            <p:cNvSpPr>
              <a:spLocks noChangeArrowheads="1"/>
            </p:cNvSpPr>
            <p:nvPr/>
          </p:nvSpPr>
          <p:spPr bwMode="auto">
            <a:xfrm>
              <a:off x="328611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9" name="矩形 94"/>
            <p:cNvSpPr>
              <a:spLocks noChangeArrowheads="1"/>
            </p:cNvSpPr>
            <p:nvPr/>
          </p:nvSpPr>
          <p:spPr bwMode="auto">
            <a:xfrm>
              <a:off x="114297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97"/>
          <p:cNvGrpSpPr/>
          <p:nvPr/>
        </p:nvGrpSpPr>
        <p:grpSpPr bwMode="auto">
          <a:xfrm>
            <a:off x="5143500" y="2298700"/>
            <a:ext cx="785813" cy="461963"/>
            <a:chOff x="5286380" y="2285992"/>
            <a:chExt cx="785818" cy="461665"/>
          </a:xfrm>
        </p:grpSpPr>
        <p:sp>
          <p:nvSpPr>
            <p:cNvPr id="1136" name="矩形 95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" name="矩形 96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98"/>
          <p:cNvGrpSpPr/>
          <p:nvPr/>
        </p:nvGrpSpPr>
        <p:grpSpPr bwMode="auto">
          <a:xfrm>
            <a:off x="6286500" y="2298700"/>
            <a:ext cx="785813" cy="461963"/>
            <a:chOff x="5286380" y="2285992"/>
            <a:chExt cx="785818" cy="461665"/>
          </a:xfrm>
        </p:grpSpPr>
        <p:sp>
          <p:nvSpPr>
            <p:cNvPr id="1134" name="矩形 99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5" name="矩形 100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" name="矩形 101"/>
          <p:cNvSpPr>
            <a:spLocks noChangeArrowheads="1"/>
          </p:cNvSpPr>
          <p:nvPr/>
        </p:nvSpPr>
        <p:spPr bwMode="auto">
          <a:xfrm>
            <a:off x="7426325" y="2311400"/>
            <a:ext cx="957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置“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/>
          <p:cNvSpPr>
            <a:spLocks noChangeArrowheads="1"/>
          </p:cNvSpPr>
          <p:nvPr/>
        </p:nvSpPr>
        <p:spPr bwMode="auto">
          <a:xfrm>
            <a:off x="7429500" y="2819400"/>
            <a:ext cx="957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置“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组合 103"/>
          <p:cNvGrpSpPr/>
          <p:nvPr/>
        </p:nvGrpSpPr>
        <p:grpSpPr bwMode="auto">
          <a:xfrm>
            <a:off x="5143500" y="2811463"/>
            <a:ext cx="785813" cy="461962"/>
            <a:chOff x="5286380" y="2285992"/>
            <a:chExt cx="785818" cy="461665"/>
          </a:xfrm>
        </p:grpSpPr>
        <p:sp>
          <p:nvSpPr>
            <p:cNvPr id="1132" name="矩形 104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3" name="矩形 105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组合 106"/>
          <p:cNvGrpSpPr/>
          <p:nvPr/>
        </p:nvGrpSpPr>
        <p:grpSpPr bwMode="auto">
          <a:xfrm>
            <a:off x="6286500" y="2811463"/>
            <a:ext cx="785813" cy="461962"/>
            <a:chOff x="5286380" y="2285992"/>
            <a:chExt cx="785818" cy="461665"/>
          </a:xfrm>
        </p:grpSpPr>
        <p:sp>
          <p:nvSpPr>
            <p:cNvPr id="1130" name="矩形 107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1" name="矩形 108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0" name="矩形 109"/>
          <p:cNvSpPr>
            <a:spLocks noChangeArrowheads="1"/>
          </p:cNvSpPr>
          <p:nvPr/>
        </p:nvSpPr>
        <p:spPr bwMode="auto">
          <a:xfrm>
            <a:off x="7429500" y="3332163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保持原值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10"/>
          <p:cNvGrpSpPr/>
          <p:nvPr/>
        </p:nvGrpSpPr>
        <p:grpSpPr bwMode="auto">
          <a:xfrm>
            <a:off x="5143500" y="3324225"/>
            <a:ext cx="785813" cy="461963"/>
            <a:chOff x="5286380" y="2285992"/>
            <a:chExt cx="785818" cy="461665"/>
          </a:xfrm>
        </p:grpSpPr>
        <p:sp>
          <p:nvSpPr>
            <p:cNvPr id="1128" name="矩形 111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9" name="矩形 112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13"/>
          <p:cNvGrpSpPr/>
          <p:nvPr/>
        </p:nvGrpSpPr>
        <p:grpSpPr bwMode="auto">
          <a:xfrm>
            <a:off x="6286500" y="3324225"/>
            <a:ext cx="803275" cy="461963"/>
            <a:chOff x="5286380" y="2285992"/>
            <a:chExt cx="803425" cy="461665"/>
          </a:xfrm>
        </p:grpSpPr>
        <p:sp>
          <p:nvSpPr>
            <p:cNvPr id="1126" name="矩形 114"/>
            <p:cNvSpPr>
              <a:spLocks noChangeArrowheads="1"/>
            </p:cNvSpPr>
            <p:nvPr/>
          </p:nvSpPr>
          <p:spPr bwMode="auto">
            <a:xfrm>
              <a:off x="5286380" y="2285992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不变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" name="矩形 115"/>
            <p:cNvSpPr>
              <a:spLocks noChangeArrowheads="1"/>
            </p:cNvSpPr>
            <p:nvPr/>
          </p:nvSpPr>
          <p:spPr bwMode="auto">
            <a:xfrm>
              <a:off x="5733644" y="2285992"/>
              <a:ext cx="1847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7" name="矩形 116"/>
          <p:cNvSpPr>
            <a:spLocks noChangeArrowheads="1"/>
          </p:cNvSpPr>
          <p:nvPr/>
        </p:nvSpPr>
        <p:spPr bwMode="auto">
          <a:xfrm>
            <a:off x="7429500" y="3832225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不允许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组合 117"/>
          <p:cNvGrpSpPr/>
          <p:nvPr/>
        </p:nvGrpSpPr>
        <p:grpSpPr bwMode="auto">
          <a:xfrm>
            <a:off x="5143500" y="3824288"/>
            <a:ext cx="785813" cy="461962"/>
            <a:chOff x="5286380" y="2285992"/>
            <a:chExt cx="785818" cy="461665"/>
          </a:xfrm>
        </p:grpSpPr>
        <p:sp>
          <p:nvSpPr>
            <p:cNvPr id="1124" name="矩形 118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5" name="矩形 119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矩形 123"/>
          <p:cNvSpPr>
            <a:spLocks noChangeArrowheads="1"/>
          </p:cNvSpPr>
          <p:nvPr/>
        </p:nvSpPr>
        <p:spPr bwMode="auto">
          <a:xfrm>
            <a:off x="3244850" y="198596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" name="矩形 124"/>
          <p:cNvSpPr>
            <a:spLocks noChangeArrowheads="1"/>
          </p:cNvSpPr>
          <p:nvPr/>
        </p:nvSpPr>
        <p:spPr bwMode="auto">
          <a:xfrm>
            <a:off x="1335088" y="198596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组合 127"/>
          <p:cNvGrpSpPr/>
          <p:nvPr/>
        </p:nvGrpSpPr>
        <p:grpSpPr bwMode="auto">
          <a:xfrm>
            <a:off x="1244600" y="4095750"/>
            <a:ext cx="2481263" cy="461963"/>
            <a:chOff x="1142976" y="4396095"/>
            <a:chExt cx="2481694" cy="461665"/>
          </a:xfrm>
        </p:grpSpPr>
        <p:sp>
          <p:nvSpPr>
            <p:cNvPr id="1122" name="矩形 128"/>
            <p:cNvSpPr>
              <a:spLocks noChangeArrowheads="1"/>
            </p:cNvSpPr>
            <p:nvPr/>
          </p:nvSpPr>
          <p:spPr bwMode="auto">
            <a:xfrm>
              <a:off x="328611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3" name="矩形 129"/>
            <p:cNvSpPr>
              <a:spLocks noChangeArrowheads="1"/>
            </p:cNvSpPr>
            <p:nvPr/>
          </p:nvSpPr>
          <p:spPr bwMode="auto">
            <a:xfrm>
              <a:off x="114297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1" name="矩形 130"/>
          <p:cNvSpPr>
            <a:spLocks noChangeArrowheads="1"/>
          </p:cNvSpPr>
          <p:nvPr/>
        </p:nvSpPr>
        <p:spPr bwMode="auto">
          <a:xfrm>
            <a:off x="3263900" y="198596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矩形 131"/>
          <p:cNvSpPr>
            <a:spLocks noChangeArrowheads="1"/>
          </p:cNvSpPr>
          <p:nvPr/>
        </p:nvSpPr>
        <p:spPr bwMode="auto">
          <a:xfrm>
            <a:off x="1352550" y="198596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" name="组合 132"/>
          <p:cNvGrpSpPr/>
          <p:nvPr/>
        </p:nvGrpSpPr>
        <p:grpSpPr bwMode="auto">
          <a:xfrm>
            <a:off x="1244600" y="4095750"/>
            <a:ext cx="2481263" cy="461963"/>
            <a:chOff x="1142976" y="4396095"/>
            <a:chExt cx="2481694" cy="461665"/>
          </a:xfrm>
        </p:grpSpPr>
        <p:sp>
          <p:nvSpPr>
            <p:cNvPr id="1120" name="矩形 133"/>
            <p:cNvSpPr>
              <a:spLocks noChangeArrowheads="1"/>
            </p:cNvSpPr>
            <p:nvPr/>
          </p:nvSpPr>
          <p:spPr bwMode="auto">
            <a:xfrm>
              <a:off x="328611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1" name="矩形 134"/>
            <p:cNvSpPr>
              <a:spLocks noChangeArrowheads="1"/>
            </p:cNvSpPr>
            <p:nvPr/>
          </p:nvSpPr>
          <p:spPr bwMode="auto">
            <a:xfrm>
              <a:off x="114297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6" name="矩形 135"/>
          <p:cNvSpPr>
            <a:spLocks noChangeArrowheads="1"/>
          </p:cNvSpPr>
          <p:nvPr/>
        </p:nvSpPr>
        <p:spPr bwMode="auto">
          <a:xfrm>
            <a:off x="1958975" y="1700213"/>
            <a:ext cx="1114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输出状态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自行保持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组合 136"/>
          <p:cNvGrpSpPr/>
          <p:nvPr/>
        </p:nvGrpSpPr>
        <p:grpSpPr bwMode="auto">
          <a:xfrm>
            <a:off x="6286500" y="3824288"/>
            <a:ext cx="785813" cy="461962"/>
            <a:chOff x="5286380" y="2285992"/>
            <a:chExt cx="785818" cy="461665"/>
          </a:xfrm>
        </p:grpSpPr>
        <p:sp>
          <p:nvSpPr>
            <p:cNvPr id="1118" name="矩形 137"/>
            <p:cNvSpPr>
              <a:spLocks noChangeArrowheads="1"/>
            </p:cNvSpPr>
            <p:nvPr/>
          </p:nvSpPr>
          <p:spPr bwMode="auto">
            <a:xfrm>
              <a:off x="5286380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9" name="矩形 138"/>
            <p:cNvSpPr>
              <a:spLocks noChangeArrowheads="1"/>
            </p:cNvSpPr>
            <p:nvPr/>
          </p:nvSpPr>
          <p:spPr bwMode="auto">
            <a:xfrm>
              <a:off x="5733644" y="228599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41"/>
          <p:cNvGrpSpPr/>
          <p:nvPr/>
        </p:nvGrpSpPr>
        <p:grpSpPr bwMode="auto">
          <a:xfrm>
            <a:off x="1352550" y="1985963"/>
            <a:ext cx="2249488" cy="461962"/>
            <a:chOff x="1251686" y="5896293"/>
            <a:chExt cx="2248744" cy="461665"/>
          </a:xfrm>
        </p:grpSpPr>
        <p:sp>
          <p:nvSpPr>
            <p:cNvPr id="1116" name="矩形 139"/>
            <p:cNvSpPr>
              <a:spLocks noChangeArrowheads="1"/>
            </p:cNvSpPr>
            <p:nvPr/>
          </p:nvSpPr>
          <p:spPr bwMode="auto">
            <a:xfrm>
              <a:off x="3161876" y="589629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7" name="矩形 140"/>
            <p:cNvSpPr>
              <a:spLocks noChangeArrowheads="1"/>
            </p:cNvSpPr>
            <p:nvPr/>
          </p:nvSpPr>
          <p:spPr bwMode="auto">
            <a:xfrm>
              <a:off x="1251686" y="589629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9" name="组合 146"/>
          <p:cNvGrpSpPr/>
          <p:nvPr/>
        </p:nvGrpSpPr>
        <p:grpSpPr bwMode="auto">
          <a:xfrm>
            <a:off x="815975" y="5500688"/>
            <a:ext cx="3500438" cy="928687"/>
            <a:chOff x="928662" y="5286388"/>
            <a:chExt cx="3500462" cy="928688"/>
          </a:xfrm>
        </p:grpSpPr>
        <p:sp>
          <p:nvSpPr>
            <p:cNvPr id="1114" name="矩形 142"/>
            <p:cNvSpPr>
              <a:spLocks noChangeArrowheads="1"/>
            </p:cNvSpPr>
            <p:nvPr/>
          </p:nvSpPr>
          <p:spPr bwMode="auto">
            <a:xfrm>
              <a:off x="1142976" y="5500702"/>
              <a:ext cx="15716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约束条件：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36" name="Object 19"/>
            <p:cNvGraphicFramePr>
              <a:graphicFrameLocks noChangeAspect="1"/>
            </p:cNvGraphicFramePr>
            <p:nvPr/>
          </p:nvGraphicFramePr>
          <p:xfrm>
            <a:off x="2714612" y="5489573"/>
            <a:ext cx="1495197" cy="511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9" name="公式" r:id="rId9" imgW="583565" imgH="215900" progId="Equation.3">
                    <p:embed/>
                  </p:oleObj>
                </mc:Choice>
                <mc:Fallback>
                  <p:oleObj name="公式" r:id="rId9" imgW="583565" imgH="2159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4612" y="5489573"/>
                          <a:ext cx="1495197" cy="511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5" name="Rectangle 16"/>
            <p:cNvSpPr>
              <a:spLocks noChangeArrowheads="1"/>
            </p:cNvSpPr>
            <p:nvPr/>
          </p:nvSpPr>
          <p:spPr bwMode="auto">
            <a:xfrm>
              <a:off x="928662" y="5286388"/>
              <a:ext cx="3500462" cy="928688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48"/>
          <p:cNvGrpSpPr/>
          <p:nvPr/>
        </p:nvGrpSpPr>
        <p:grpSpPr bwMode="auto">
          <a:xfrm>
            <a:off x="5202238" y="844550"/>
            <a:ext cx="2428875" cy="1928813"/>
            <a:chOff x="2357422" y="1357298"/>
            <a:chExt cx="2428892" cy="1928826"/>
          </a:xfrm>
        </p:grpSpPr>
        <p:sp>
          <p:nvSpPr>
            <p:cNvPr id="150" name="圆角矩形标注 149"/>
            <p:cNvSpPr/>
            <p:nvPr/>
          </p:nvSpPr>
          <p:spPr>
            <a:xfrm>
              <a:off x="2357422" y="1357298"/>
              <a:ext cx="2428892" cy="1071570"/>
            </a:xfrm>
            <a:prstGeom prst="wedgeRoundRectCallout">
              <a:avLst>
                <a:gd name="adj1" fmla="val -4624"/>
                <a:gd name="adj2" fmla="val 90944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3286115" y="2857496"/>
              <a:ext cx="1071571" cy="428628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35" name="Object 20"/>
            <p:cNvGraphicFramePr>
              <a:graphicFrameLocks noChangeAspect="1"/>
            </p:cNvGraphicFramePr>
            <p:nvPr/>
          </p:nvGraphicFramePr>
          <p:xfrm>
            <a:off x="2857488" y="1428736"/>
            <a:ext cx="1506537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0" name="公式" r:id="rId11" imgW="748665" imgH="241300" progId="Equation.3">
                    <p:embed/>
                  </p:oleObj>
                </mc:Choice>
                <mc:Fallback>
                  <p:oleObj name="公式" r:id="rId11" imgW="748665" imgH="2413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488" y="1428736"/>
                          <a:ext cx="1506537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3" name="矩形 152"/>
            <p:cNvSpPr>
              <a:spLocks noChangeArrowheads="1"/>
            </p:cNvSpPr>
            <p:nvPr/>
          </p:nvSpPr>
          <p:spPr bwMode="auto">
            <a:xfrm>
              <a:off x="2675535" y="1928802"/>
              <a:ext cx="20393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称为“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0”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态。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153"/>
          <p:cNvGrpSpPr/>
          <p:nvPr/>
        </p:nvGrpSpPr>
        <p:grpSpPr bwMode="auto">
          <a:xfrm>
            <a:off x="5214938" y="1331913"/>
            <a:ext cx="2428875" cy="1928812"/>
            <a:chOff x="6143636" y="1357298"/>
            <a:chExt cx="2428892" cy="1928826"/>
          </a:xfrm>
        </p:grpSpPr>
        <p:grpSp>
          <p:nvGrpSpPr>
            <p:cNvPr id="1106" name="组合 10"/>
            <p:cNvGrpSpPr/>
            <p:nvPr/>
          </p:nvGrpSpPr>
          <p:grpSpPr bwMode="auto">
            <a:xfrm>
              <a:off x="6143636" y="1357298"/>
              <a:ext cx="2428892" cy="1928826"/>
              <a:chOff x="2285984" y="1357298"/>
              <a:chExt cx="2428892" cy="1928826"/>
            </a:xfrm>
          </p:grpSpPr>
          <p:sp>
            <p:nvSpPr>
              <p:cNvPr id="159" name="圆角矩形标注 158"/>
              <p:cNvSpPr/>
              <p:nvPr/>
            </p:nvSpPr>
            <p:spPr>
              <a:xfrm>
                <a:off x="2285984" y="1357298"/>
                <a:ext cx="2428892" cy="1071570"/>
              </a:xfrm>
              <a:prstGeom prst="wedgeRoundRectCallout">
                <a:avLst>
                  <a:gd name="adj1" fmla="val -4624"/>
                  <a:gd name="adj2" fmla="val 90944"/>
                  <a:gd name="adj3" fmla="val 16667"/>
                </a:avLst>
              </a:prstGeom>
              <a:solidFill>
                <a:srgbClr val="FFFF00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0" name="椭圆 159"/>
              <p:cNvSpPr/>
              <p:nvPr/>
            </p:nvSpPr>
            <p:spPr>
              <a:xfrm>
                <a:off x="3214677" y="2857496"/>
                <a:ext cx="1071571" cy="428628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07" name="组合 6"/>
            <p:cNvGrpSpPr/>
            <p:nvPr/>
          </p:nvGrpSpPr>
          <p:grpSpPr bwMode="auto">
            <a:xfrm>
              <a:off x="6461749" y="1357313"/>
              <a:ext cx="2039341" cy="961716"/>
              <a:chOff x="6461749" y="1357313"/>
              <a:chExt cx="2039341" cy="961716"/>
            </a:xfrm>
          </p:grpSpPr>
          <p:graphicFrame>
            <p:nvGraphicFramePr>
              <p:cNvPr id="1034" name="Object 21"/>
              <p:cNvGraphicFramePr>
                <a:graphicFrameLocks noChangeAspect="1"/>
              </p:cNvGraphicFramePr>
              <p:nvPr/>
            </p:nvGraphicFramePr>
            <p:xfrm>
              <a:off x="6643688" y="1357313"/>
              <a:ext cx="1506537" cy="4476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1" name="公式" r:id="rId13" imgW="748665" imgH="241300" progId="Equation.3">
                      <p:embed/>
                    </p:oleObj>
                  </mc:Choice>
                  <mc:Fallback>
                    <p:oleObj name="公式" r:id="rId13" imgW="748665" imgH="2413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43688" y="1357313"/>
                            <a:ext cx="1506537" cy="4476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8" name="矩形 157"/>
              <p:cNvSpPr>
                <a:spLocks noChangeArrowheads="1"/>
              </p:cNvSpPr>
              <p:nvPr/>
            </p:nvSpPr>
            <p:spPr bwMode="auto">
              <a:xfrm>
                <a:off x="6461749" y="1857364"/>
                <a:ext cx="203934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称为“</a:t>
                </a: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1”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态。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4" name="组合 160"/>
          <p:cNvGrpSpPr/>
          <p:nvPr/>
        </p:nvGrpSpPr>
        <p:grpSpPr bwMode="auto">
          <a:xfrm>
            <a:off x="1244600" y="4095750"/>
            <a:ext cx="2481263" cy="461963"/>
            <a:chOff x="1142976" y="4396095"/>
            <a:chExt cx="2481694" cy="461665"/>
          </a:xfrm>
        </p:grpSpPr>
        <p:sp>
          <p:nvSpPr>
            <p:cNvPr id="1104" name="矩形 161"/>
            <p:cNvSpPr>
              <a:spLocks noChangeArrowheads="1"/>
            </p:cNvSpPr>
            <p:nvPr/>
          </p:nvSpPr>
          <p:spPr bwMode="auto">
            <a:xfrm>
              <a:off x="328611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5" name="矩形 162"/>
            <p:cNvSpPr>
              <a:spLocks noChangeArrowheads="1"/>
            </p:cNvSpPr>
            <p:nvPr/>
          </p:nvSpPr>
          <p:spPr bwMode="auto">
            <a:xfrm>
              <a:off x="1142976" y="439609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5" name="组合 141"/>
          <p:cNvGrpSpPr/>
          <p:nvPr/>
        </p:nvGrpSpPr>
        <p:grpSpPr bwMode="auto">
          <a:xfrm>
            <a:off x="1409700" y="1557338"/>
            <a:ext cx="2171700" cy="3429000"/>
            <a:chOff x="1409678" y="1857375"/>
            <a:chExt cx="2171715" cy="3429000"/>
          </a:xfrm>
        </p:grpSpPr>
        <p:grpSp>
          <p:nvGrpSpPr>
            <p:cNvPr id="1079" name="组合 70"/>
            <p:cNvGrpSpPr/>
            <p:nvPr/>
          </p:nvGrpSpPr>
          <p:grpSpPr bwMode="auto">
            <a:xfrm>
              <a:off x="1425902" y="1857375"/>
              <a:ext cx="2128827" cy="3429000"/>
              <a:chOff x="857224" y="1928802"/>
              <a:chExt cx="2071702" cy="3643338"/>
            </a:xfrm>
          </p:grpSpPr>
          <p:cxnSp>
            <p:nvCxnSpPr>
              <p:cNvPr id="30" name="直接连接符 29"/>
              <p:cNvCxnSpPr/>
              <p:nvPr/>
            </p:nvCxnSpPr>
            <p:spPr>
              <a:xfrm rot="5400000">
                <a:off x="464252" y="4561859"/>
                <a:ext cx="1071073" cy="154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5400000">
                <a:off x="2271113" y="4569449"/>
                <a:ext cx="1032279" cy="15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5400000">
                <a:off x="943050" y="4356921"/>
                <a:ext cx="688186" cy="154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5400000">
                <a:off x="2175904" y="4388970"/>
                <a:ext cx="651078" cy="154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5400000">
                <a:off x="2165387" y="2905489"/>
                <a:ext cx="956376" cy="154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93" name="组合 69"/>
              <p:cNvGrpSpPr/>
              <p:nvPr/>
            </p:nvGrpSpPr>
            <p:grpSpPr bwMode="auto">
              <a:xfrm>
                <a:off x="1285852" y="2857496"/>
                <a:ext cx="1357322" cy="1858976"/>
                <a:chOff x="1500166" y="2857496"/>
                <a:chExt cx="1357322" cy="1858976"/>
              </a:xfrm>
            </p:grpSpPr>
            <p:cxnSp>
              <p:nvCxnSpPr>
                <p:cNvPr id="34" name="直接连接符 33"/>
                <p:cNvCxnSpPr/>
                <p:nvPr/>
              </p:nvCxnSpPr>
              <p:spPr>
                <a:xfrm rot="10800000">
                  <a:off x="1499139" y="4715281"/>
                  <a:ext cx="214742" cy="1686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 rot="10800000">
                  <a:off x="2642374" y="2858190"/>
                  <a:ext cx="214742" cy="1687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 rot="5400000">
                  <a:off x="1249582" y="3322489"/>
                  <a:ext cx="1857091" cy="928492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4" name="组合 68"/>
              <p:cNvGrpSpPr/>
              <p:nvPr/>
            </p:nvGrpSpPr>
            <p:grpSpPr bwMode="auto">
              <a:xfrm>
                <a:off x="1142976" y="2857496"/>
                <a:ext cx="1357322" cy="1858976"/>
                <a:chOff x="1357290" y="2857496"/>
                <a:chExt cx="1357322" cy="1858976"/>
              </a:xfrm>
            </p:grpSpPr>
            <p:cxnSp>
              <p:nvCxnSpPr>
                <p:cNvPr id="44" name="直接连接符 43"/>
                <p:cNvCxnSpPr/>
                <p:nvPr/>
              </p:nvCxnSpPr>
              <p:spPr>
                <a:xfrm>
                  <a:off x="2500242" y="4715281"/>
                  <a:ext cx="214742" cy="1686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V="1">
                  <a:off x="1357008" y="2858190"/>
                  <a:ext cx="214742" cy="1687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 rot="16200000" flipH="1">
                  <a:off x="1107451" y="3322489"/>
                  <a:ext cx="1857091" cy="928492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>
              <a:xfrm rot="5400000">
                <a:off x="665278" y="2905489"/>
                <a:ext cx="956376" cy="15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椭圆 62"/>
              <p:cNvSpPr/>
              <p:nvPr/>
            </p:nvSpPr>
            <p:spPr>
              <a:xfrm>
                <a:off x="1105616" y="2832890"/>
                <a:ext cx="71066" cy="708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605725" y="2824455"/>
                <a:ext cx="71066" cy="725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030" name="Object 10"/>
              <p:cNvGraphicFramePr>
                <a:graphicFrameLocks noChangeAspect="1"/>
              </p:cNvGraphicFramePr>
              <p:nvPr/>
            </p:nvGraphicFramePr>
            <p:xfrm>
              <a:off x="857224" y="5145103"/>
              <a:ext cx="274637" cy="4270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2" name="公式" r:id="rId15" imgW="139700" imgH="215900" progId="Equation.3">
                      <p:embed/>
                    </p:oleObj>
                  </mc:Choice>
                  <mc:Fallback>
                    <p:oleObj name="公式" r:id="rId15" imgW="139700" imgH="2159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7224" y="5145103"/>
                            <a:ext cx="274637" cy="4270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1" name="Object 11"/>
              <p:cNvGraphicFramePr>
                <a:graphicFrameLocks noChangeAspect="1"/>
              </p:cNvGraphicFramePr>
              <p:nvPr/>
            </p:nvGraphicFramePr>
            <p:xfrm>
              <a:off x="2630476" y="5143512"/>
              <a:ext cx="298450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3" name="公式" r:id="rId16" imgW="152400" imgH="203200" progId="Equation.3">
                      <p:embed/>
                    </p:oleObj>
                  </mc:Choice>
                  <mc:Fallback>
                    <p:oleObj name="公式" r:id="rId16" imgW="152400" imgH="2032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0476" y="5143512"/>
                            <a:ext cx="298450" cy="4016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" name="Object 12"/>
              <p:cNvGraphicFramePr>
                <a:graphicFrameLocks noChangeAspect="1"/>
              </p:cNvGraphicFramePr>
              <p:nvPr/>
            </p:nvGraphicFramePr>
            <p:xfrm>
              <a:off x="2500298" y="1928802"/>
              <a:ext cx="2984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4" name="公式" r:id="rId17" imgW="152400" imgH="241300" progId="Equation.3">
                      <p:embed/>
                    </p:oleObj>
                  </mc:Choice>
                  <mc:Fallback>
                    <p:oleObj name="公式" r:id="rId17" imgW="152400" imgH="2413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0298" y="1928802"/>
                            <a:ext cx="2984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3" name="Object 13"/>
              <p:cNvGraphicFramePr>
                <a:graphicFrameLocks noChangeAspect="1"/>
              </p:cNvGraphicFramePr>
              <p:nvPr/>
            </p:nvGraphicFramePr>
            <p:xfrm>
              <a:off x="989011" y="2012950"/>
              <a:ext cx="298450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5" name="公式" r:id="rId18" imgW="152400" imgH="203200" progId="Equation.3">
                      <p:embed/>
                    </p:oleObj>
                  </mc:Choice>
                  <mc:Fallback>
                    <p:oleObj name="公式" r:id="rId18" imgW="152400" imgH="2032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89011" y="2012950"/>
                            <a:ext cx="298450" cy="401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80" name="组合 132"/>
            <p:cNvGrpSpPr/>
            <p:nvPr/>
          </p:nvGrpSpPr>
          <p:grpSpPr bwMode="auto">
            <a:xfrm>
              <a:off x="1409678" y="3202448"/>
              <a:ext cx="642942" cy="655180"/>
              <a:chOff x="1928794" y="1345060"/>
              <a:chExt cx="642942" cy="655180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1928794" y="1500174"/>
                <a:ext cx="642942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 bwMode="auto">
              <a:xfrm rot="16200000">
                <a:off x="2171683" y="1344600"/>
                <a:ext cx="144463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7" name="矩形 136"/>
              <p:cNvSpPr>
                <a:spLocks noChangeArrowheads="1"/>
              </p:cNvSpPr>
              <p:nvPr/>
            </p:nvSpPr>
            <p:spPr bwMode="auto">
              <a:xfrm>
                <a:off x="2037406" y="1571612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81" name="组合 137"/>
            <p:cNvGrpSpPr/>
            <p:nvPr/>
          </p:nvGrpSpPr>
          <p:grpSpPr bwMode="auto">
            <a:xfrm>
              <a:off x="2938451" y="3202448"/>
              <a:ext cx="642942" cy="655180"/>
              <a:chOff x="1928794" y="1345060"/>
              <a:chExt cx="642942" cy="655180"/>
            </a:xfrm>
          </p:grpSpPr>
          <p:sp>
            <p:nvSpPr>
              <p:cNvPr id="139" name="矩形 138"/>
              <p:cNvSpPr/>
              <p:nvPr/>
            </p:nvSpPr>
            <p:spPr>
              <a:xfrm>
                <a:off x="1928795" y="1500174"/>
                <a:ext cx="642941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 bwMode="auto">
              <a:xfrm rot="16200000">
                <a:off x="2181209" y="1344599"/>
                <a:ext cx="144463" cy="14446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4" name="矩形 140"/>
              <p:cNvSpPr>
                <a:spLocks noChangeArrowheads="1"/>
              </p:cNvSpPr>
              <p:nvPr/>
            </p:nvSpPr>
            <p:spPr bwMode="auto">
              <a:xfrm>
                <a:off x="2037406" y="1571612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41" name="组合 144"/>
          <p:cNvGrpSpPr/>
          <p:nvPr/>
        </p:nvGrpSpPr>
        <p:grpSpPr bwMode="auto">
          <a:xfrm>
            <a:off x="5857875" y="4429125"/>
            <a:ext cx="1728788" cy="2319338"/>
            <a:chOff x="5857875" y="4429125"/>
            <a:chExt cx="1728788" cy="2319338"/>
          </a:xfrm>
        </p:grpSpPr>
        <p:sp>
          <p:nvSpPr>
            <p:cNvPr id="1076" name="矩形 90"/>
            <p:cNvSpPr>
              <a:spLocks noChangeArrowheads="1"/>
            </p:cNvSpPr>
            <p:nvPr/>
          </p:nvSpPr>
          <p:spPr bwMode="auto">
            <a:xfrm>
              <a:off x="5857875" y="4429125"/>
              <a:ext cx="1728788" cy="461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逻辑符号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77" name="组合 143"/>
            <p:cNvGrpSpPr/>
            <p:nvPr/>
          </p:nvGrpSpPr>
          <p:grpSpPr bwMode="auto">
            <a:xfrm>
              <a:off x="6143698" y="4889695"/>
              <a:ext cx="1190923" cy="1858768"/>
              <a:chOff x="6143698" y="4889695"/>
              <a:chExt cx="1190923" cy="1858768"/>
            </a:xfrm>
          </p:grpSpPr>
          <p:pic>
            <p:nvPicPr>
              <p:cNvPr id="1078" name="Picture 18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43698" y="4889695"/>
                <a:ext cx="1190923" cy="1858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028" name="Object 131"/>
              <p:cNvGraphicFramePr>
                <a:graphicFrameLocks noChangeAspect="1"/>
              </p:cNvGraphicFramePr>
              <p:nvPr/>
            </p:nvGraphicFramePr>
            <p:xfrm>
              <a:off x="7029467" y="5500702"/>
              <a:ext cx="163803" cy="2394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6" name="公式" r:id="rId20" imgW="152400" imgH="241300" progId="Equation.3">
                      <p:embed/>
                    </p:oleObj>
                  </mc:Choice>
                  <mc:Fallback>
                    <p:oleObj name="公式" r:id="rId20" imgW="152400" imgH="241300" progId="Equation.3">
                      <p:embed/>
                      <p:pic>
                        <p:nvPicPr>
                          <p:cNvPr id="0" name="Object 1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29467" y="5500702"/>
                            <a:ext cx="163803" cy="2394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9" name="Object 132"/>
              <p:cNvGraphicFramePr>
                <a:graphicFrameLocks noChangeAspect="1"/>
              </p:cNvGraphicFramePr>
              <p:nvPr/>
            </p:nvGraphicFramePr>
            <p:xfrm>
              <a:off x="6286500" y="5519738"/>
              <a:ext cx="163513" cy="201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7" name="公式" r:id="rId21" imgW="152400" imgH="203200" progId="Equation.3">
                      <p:embed/>
                    </p:oleObj>
                  </mc:Choice>
                  <mc:Fallback>
                    <p:oleObj name="公式" r:id="rId21" imgW="152400" imgH="203200" progId="Equation.3">
                      <p:embed/>
                      <p:pic>
                        <p:nvPicPr>
                          <p:cNvPr id="0" name="Object 1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86500" y="5519738"/>
                            <a:ext cx="163513" cy="201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43" name="组合 171"/>
          <p:cNvGrpSpPr/>
          <p:nvPr/>
        </p:nvGrpSpPr>
        <p:grpSpPr bwMode="auto">
          <a:xfrm>
            <a:off x="1597025" y="3825875"/>
            <a:ext cx="7286625" cy="2941638"/>
            <a:chOff x="1714480" y="3844928"/>
            <a:chExt cx="7286676" cy="2941658"/>
          </a:xfrm>
        </p:grpSpPr>
        <p:sp>
          <p:nvSpPr>
            <p:cNvPr id="173" name="圆角矩形标注 172"/>
            <p:cNvSpPr/>
            <p:nvPr/>
          </p:nvSpPr>
          <p:spPr>
            <a:xfrm>
              <a:off x="1714480" y="5357826"/>
              <a:ext cx="7286676" cy="1428760"/>
            </a:xfrm>
            <a:prstGeom prst="wedgeRoundRectCallout">
              <a:avLst>
                <a:gd name="adj1" fmla="val 19593"/>
                <a:gd name="adj2" fmla="val -125944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椭圆 173"/>
            <p:cNvSpPr/>
            <p:nvPr/>
          </p:nvSpPr>
          <p:spPr>
            <a:xfrm>
              <a:off x="6227775" y="3844928"/>
              <a:ext cx="1071569" cy="428628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74" name="组合 23"/>
            <p:cNvGrpSpPr/>
            <p:nvPr/>
          </p:nvGrpSpPr>
          <p:grpSpPr bwMode="auto">
            <a:xfrm>
              <a:off x="2143108" y="5500702"/>
              <a:ext cx="6572296" cy="1200329"/>
              <a:chOff x="928662" y="3214686"/>
              <a:chExt cx="6572296" cy="1200329"/>
            </a:xfrm>
          </p:grpSpPr>
          <p:graphicFrame>
            <p:nvGraphicFramePr>
              <p:cNvPr id="1026" name="Object 24"/>
              <p:cNvGraphicFramePr>
                <a:graphicFrameLocks noChangeAspect="1"/>
              </p:cNvGraphicFramePr>
              <p:nvPr/>
            </p:nvGraphicFramePr>
            <p:xfrm>
              <a:off x="1071538" y="3857628"/>
              <a:ext cx="1455738" cy="4476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8" name="公式" r:id="rId23" imgW="723900" imgH="241300" progId="Equation.3">
                      <p:embed/>
                    </p:oleObj>
                  </mc:Choice>
                  <mc:Fallback>
                    <p:oleObj name="公式" r:id="rId23" imgW="723900" imgH="2413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1538" y="3857628"/>
                            <a:ext cx="1455738" cy="4476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5" name="矩形 176"/>
              <p:cNvSpPr>
                <a:spLocks noChangeArrowheads="1"/>
              </p:cNvSpPr>
              <p:nvPr/>
            </p:nvSpPr>
            <p:spPr bwMode="auto">
              <a:xfrm>
                <a:off x="928662" y="3214686"/>
                <a:ext cx="6572296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当有效信号撤消时，即                      ，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的状态不能自行保持，称为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无效态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027" name="Object 25"/>
              <p:cNvGraphicFramePr>
                <a:graphicFrameLocks noChangeAspect="1"/>
              </p:cNvGraphicFramePr>
              <p:nvPr/>
            </p:nvGraphicFramePr>
            <p:xfrm>
              <a:off x="4186246" y="3275015"/>
              <a:ext cx="1528762" cy="511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89" name="公式" r:id="rId25" imgW="596900" imgH="215900" progId="Equation.3">
                      <p:embed/>
                    </p:oleObj>
                  </mc:Choice>
                  <mc:Fallback>
                    <p:oleObj name="公式" r:id="rId25" imgW="596900" imgH="2159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6246" y="3275015"/>
                            <a:ext cx="1528762" cy="511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1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2" grpId="0"/>
      <p:bldP spid="103" grpId="0"/>
      <p:bldP spid="110" grpId="0"/>
      <p:bldP spid="117" grpId="0"/>
      <p:bldP spid="124" grpId="0"/>
      <p:bldP spid="124" grpId="1"/>
      <p:bldP spid="125" grpId="0"/>
      <p:bldP spid="125" grpId="1"/>
      <p:bldP spid="131" grpId="0"/>
      <p:bldP spid="131" grpId="1"/>
      <p:bldP spid="132" grpId="0"/>
      <p:bldP spid="132" grpId="1"/>
      <p:bldP spid="136" grpId="0"/>
      <p:bldP spid="13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612775" y="542925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）状态转移真值表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Text Box 13"/>
          <p:cNvSpPr txBox="1">
            <a:spLocks noChangeArrowheads="1"/>
          </p:cNvSpPr>
          <p:nvPr/>
        </p:nvSpPr>
        <p:spPr bwMode="auto">
          <a:xfrm>
            <a:off x="569913" y="71438"/>
            <a:ext cx="4578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的功能描述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 flipH="1">
            <a:off x="2357438" y="2327275"/>
            <a:ext cx="3929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基本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器的状态表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9"/>
          <p:cNvGrpSpPr/>
          <p:nvPr/>
        </p:nvGrpSpPr>
        <p:grpSpPr bwMode="auto">
          <a:xfrm>
            <a:off x="571500" y="1014413"/>
            <a:ext cx="8072438" cy="1200150"/>
            <a:chOff x="571472" y="1014225"/>
            <a:chExt cx="8072494" cy="1200329"/>
          </a:xfrm>
        </p:grpSpPr>
        <p:sp>
          <p:nvSpPr>
            <p:cNvPr id="16391" name="Text Box 14"/>
            <p:cNvSpPr txBox="1">
              <a:spLocks noChangeArrowheads="1"/>
            </p:cNvSpPr>
            <p:nvPr/>
          </p:nvSpPr>
          <p:spPr bwMode="auto">
            <a:xfrm>
              <a:off x="612775" y="1014225"/>
              <a:ext cx="788831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将触发器的次态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5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n+1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与现态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5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，以及输入信号之间的逻辑关系用表格的形式表示出来，称为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状态转移真值表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，简称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状态表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2" name="Rectangle 16"/>
            <p:cNvSpPr>
              <a:spLocks noChangeArrowheads="1"/>
            </p:cNvSpPr>
            <p:nvPr/>
          </p:nvSpPr>
          <p:spPr bwMode="auto">
            <a:xfrm>
              <a:off x="571472" y="1014225"/>
              <a:ext cx="8072494" cy="1143008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2786063"/>
            <a:ext cx="4533900" cy="384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7"/>
          <p:cNvGrpSpPr/>
          <p:nvPr/>
        </p:nvGrpSpPr>
        <p:grpSpPr bwMode="auto">
          <a:xfrm>
            <a:off x="1714500" y="2643188"/>
            <a:ext cx="4857750" cy="2089150"/>
            <a:chOff x="1714480" y="2643188"/>
            <a:chExt cx="4857770" cy="2089150"/>
          </a:xfrm>
        </p:grpSpPr>
        <p:pic>
          <p:nvPicPr>
            <p:cNvPr id="1742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7363" y="2643188"/>
              <a:ext cx="4814887" cy="2089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23" name="组合 16"/>
            <p:cNvGrpSpPr/>
            <p:nvPr/>
          </p:nvGrpSpPr>
          <p:grpSpPr bwMode="auto">
            <a:xfrm>
              <a:off x="1714480" y="3155948"/>
              <a:ext cx="511175" cy="642942"/>
              <a:chOff x="1714480" y="3155948"/>
              <a:chExt cx="511175" cy="64294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714480" y="3155950"/>
                <a:ext cx="466727" cy="6429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17425" name="Object 7"/>
              <p:cNvGraphicFramePr>
                <a:graphicFrameLocks noChangeAspect="1"/>
              </p:cNvGraphicFramePr>
              <p:nvPr/>
            </p:nvGraphicFramePr>
            <p:xfrm>
              <a:off x="1798618" y="3189286"/>
              <a:ext cx="427037" cy="450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34" name="公式" r:id="rId2" imgW="215900" imgH="228600" progId="Equation.3">
                      <p:embed/>
                    </p:oleObj>
                  </mc:Choice>
                  <mc:Fallback>
                    <p:oleObj name="公式" r:id="rId2" imgW="215900" imgH="228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8618" y="3189286"/>
                            <a:ext cx="427037" cy="450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411" name="Text Box 13"/>
          <p:cNvSpPr txBox="1">
            <a:spLocks noChangeArrowheads="1"/>
          </p:cNvSpPr>
          <p:nvPr/>
        </p:nvSpPr>
        <p:spPr bwMode="auto">
          <a:xfrm>
            <a:off x="539750" y="285750"/>
            <a:ext cx="2389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）特性方程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4"/>
          <p:cNvGrpSpPr/>
          <p:nvPr/>
        </p:nvGrpSpPr>
        <p:grpSpPr bwMode="auto">
          <a:xfrm>
            <a:off x="714375" y="928688"/>
            <a:ext cx="7715250" cy="985837"/>
            <a:chOff x="571472" y="928670"/>
            <a:chExt cx="7715304" cy="986015"/>
          </a:xfrm>
        </p:grpSpPr>
        <p:sp>
          <p:nvSpPr>
            <p:cNvPr id="17420" name="Text Box 14"/>
            <p:cNvSpPr txBox="1">
              <a:spLocks noChangeArrowheads="1"/>
            </p:cNvSpPr>
            <p:nvPr/>
          </p:nvSpPr>
          <p:spPr bwMode="auto">
            <a:xfrm>
              <a:off x="612775" y="1036638"/>
              <a:ext cx="7674001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描述触发器逻辑功能的函数表达式称为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特性方程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，又称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状态方程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次态方程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21" name="Rectangle 16"/>
            <p:cNvSpPr>
              <a:spLocks noChangeArrowheads="1"/>
            </p:cNvSpPr>
            <p:nvPr/>
          </p:nvSpPr>
          <p:spPr bwMode="auto">
            <a:xfrm>
              <a:off x="571472" y="928670"/>
              <a:ext cx="7715304" cy="98601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612900" y="2143125"/>
            <a:ext cx="3244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次态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的卡诺图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6"/>
          <p:cNvSpPr>
            <a:spLocks noChangeArrowheads="1"/>
          </p:cNvSpPr>
          <p:nvPr/>
        </p:nvSpPr>
        <p:spPr bwMode="auto">
          <a:xfrm>
            <a:off x="4929188" y="4181475"/>
            <a:ext cx="1152525" cy="360363"/>
          </a:xfrm>
          <a:prstGeom prst="flowChartAlternateProcess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grpSp>
        <p:nvGrpSpPr>
          <p:cNvPr id="5" name="组合 12"/>
          <p:cNvGrpSpPr/>
          <p:nvPr/>
        </p:nvGrpSpPr>
        <p:grpSpPr bwMode="auto">
          <a:xfrm>
            <a:off x="2786063" y="3500438"/>
            <a:ext cx="3643312" cy="1077912"/>
            <a:chOff x="2786050" y="3500438"/>
            <a:chExt cx="3643338" cy="1077914"/>
          </a:xfrm>
        </p:grpSpPr>
        <p:sp>
          <p:nvSpPr>
            <p:cNvPr id="17418" name="AutoShape 18"/>
            <p:cNvSpPr/>
            <p:nvPr/>
          </p:nvSpPr>
          <p:spPr bwMode="auto">
            <a:xfrm>
              <a:off x="5715008" y="3500438"/>
              <a:ext cx="714380" cy="1077914"/>
            </a:xfrm>
            <a:prstGeom prst="leftBracket">
              <a:avLst>
                <a:gd name="adj" fmla="val 12490"/>
              </a:avLst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  <p:sp>
          <p:nvSpPr>
            <p:cNvPr id="17419" name="AutoShape 18"/>
            <p:cNvSpPr/>
            <p:nvPr/>
          </p:nvSpPr>
          <p:spPr bwMode="auto">
            <a:xfrm flipH="1">
              <a:off x="2786050" y="3500438"/>
              <a:ext cx="714380" cy="1077914"/>
            </a:xfrm>
            <a:prstGeom prst="leftBracket">
              <a:avLst>
                <a:gd name="adj" fmla="val 12490"/>
              </a:avLst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</p:grp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071688" y="5429250"/>
          <a:ext cx="37147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公式" r:id="rId4" imgW="2305050" imgH="651510" progId="Equation.3">
                  <p:embed/>
                </p:oleObj>
              </mc:Choice>
              <mc:Fallback>
                <p:oleObj name="公式" r:id="rId4" imgW="2305050" imgH="6515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429250"/>
                        <a:ext cx="37147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612900" y="4897438"/>
            <a:ext cx="50307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基本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器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的特性方程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5"/>
          <p:cNvSpPr txBox="1">
            <a:spLocks noChangeArrowheads="1"/>
          </p:cNvSpPr>
          <p:nvPr/>
        </p:nvSpPr>
        <p:spPr bwMode="auto">
          <a:xfrm>
            <a:off x="539750" y="357188"/>
            <a:ext cx="439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）状态转换图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714375" y="1014413"/>
            <a:ext cx="7715250" cy="985837"/>
            <a:chOff x="714348" y="1014225"/>
            <a:chExt cx="7715304" cy="986015"/>
          </a:xfrm>
        </p:grpSpPr>
        <p:sp>
          <p:nvSpPr>
            <p:cNvPr id="18461" name="Text Box 3"/>
            <p:cNvSpPr txBox="1">
              <a:spLocks noChangeArrowheads="1"/>
            </p:cNvSpPr>
            <p:nvPr/>
          </p:nvSpPr>
          <p:spPr bwMode="auto">
            <a:xfrm>
              <a:off x="755650" y="1125538"/>
              <a:ext cx="76327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描述触发器的状态转换关系及转换条件的图形称为状态转换图，简称</a:t>
              </a: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状态图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endPara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462" name="Rectangle 16"/>
            <p:cNvSpPr>
              <a:spLocks noChangeArrowheads="1"/>
            </p:cNvSpPr>
            <p:nvPr/>
          </p:nvSpPr>
          <p:spPr bwMode="auto">
            <a:xfrm>
              <a:off x="714348" y="1014225"/>
              <a:ext cx="7715304" cy="98601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2655888" y="3209925"/>
            <a:ext cx="762000" cy="6858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0066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rc 12"/>
          <p:cNvSpPr/>
          <p:nvPr/>
        </p:nvSpPr>
        <p:spPr bwMode="auto">
          <a:xfrm flipH="1">
            <a:off x="2216150" y="3225800"/>
            <a:ext cx="630238" cy="609600"/>
          </a:xfrm>
          <a:custGeom>
            <a:avLst/>
            <a:gdLst>
              <a:gd name="T0" fmla="*/ 0 w 24856"/>
              <a:gd name="T1" fmla="*/ 2147483647 h 43199"/>
              <a:gd name="T2" fmla="*/ 2147483647 w 24856"/>
              <a:gd name="T3" fmla="*/ 2147483647 h 43199"/>
              <a:gd name="T4" fmla="*/ 2147483647 w 24856"/>
              <a:gd name="T5" fmla="*/ 2147483647 h 43199"/>
              <a:gd name="T6" fmla="*/ 0 60000 65536"/>
              <a:gd name="T7" fmla="*/ 0 60000 65536"/>
              <a:gd name="T8" fmla="*/ 0 60000 65536"/>
              <a:gd name="T9" fmla="*/ 0 w 24856"/>
              <a:gd name="T10" fmla="*/ 0 h 43199"/>
              <a:gd name="T11" fmla="*/ 24856 w 24856"/>
              <a:gd name="T12" fmla="*/ 43199 h 43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56" h="43199" fill="none" extrusionOk="0">
                <a:moveTo>
                  <a:pt x="-1" y="246"/>
                </a:moveTo>
                <a:cubicBezTo>
                  <a:pt x="1077" y="82"/>
                  <a:pt x="2165" y="-1"/>
                  <a:pt x="3256" y="0"/>
                </a:cubicBezTo>
                <a:cubicBezTo>
                  <a:pt x="15185" y="0"/>
                  <a:pt x="24856" y="9670"/>
                  <a:pt x="24856" y="21600"/>
                </a:cubicBezTo>
                <a:cubicBezTo>
                  <a:pt x="24856" y="33455"/>
                  <a:pt x="15300" y="43094"/>
                  <a:pt x="3446" y="43199"/>
                </a:cubicBezTo>
              </a:path>
              <a:path w="24856" h="43199" stroke="0" extrusionOk="0">
                <a:moveTo>
                  <a:pt x="-1" y="246"/>
                </a:moveTo>
                <a:cubicBezTo>
                  <a:pt x="1077" y="82"/>
                  <a:pt x="2165" y="-1"/>
                  <a:pt x="3256" y="0"/>
                </a:cubicBezTo>
                <a:cubicBezTo>
                  <a:pt x="15185" y="0"/>
                  <a:pt x="24856" y="9670"/>
                  <a:pt x="24856" y="21600"/>
                </a:cubicBezTo>
                <a:cubicBezTo>
                  <a:pt x="24856" y="33455"/>
                  <a:pt x="15300" y="43094"/>
                  <a:pt x="3446" y="43199"/>
                </a:cubicBezTo>
                <a:lnTo>
                  <a:pt x="3256" y="21600"/>
                </a:lnTo>
                <a:lnTo>
                  <a:pt x="-1" y="246"/>
                </a:lnTo>
                <a:close/>
              </a:path>
            </a:pathLst>
          </a:custGeom>
          <a:noFill/>
          <a:ln w="381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13"/>
          <p:cNvSpPr>
            <a:spLocks noChangeArrowheads="1"/>
          </p:cNvSpPr>
          <p:nvPr/>
        </p:nvSpPr>
        <p:spPr bwMode="auto">
          <a:xfrm>
            <a:off x="5399088" y="3133725"/>
            <a:ext cx="762000" cy="6858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Freeform 14"/>
          <p:cNvSpPr/>
          <p:nvPr/>
        </p:nvSpPr>
        <p:spPr bwMode="auto">
          <a:xfrm>
            <a:off x="3241675" y="2887663"/>
            <a:ext cx="2209800" cy="381000"/>
          </a:xfrm>
          <a:custGeom>
            <a:avLst/>
            <a:gdLst>
              <a:gd name="T0" fmla="*/ 0 w 1392"/>
              <a:gd name="T1" fmla="*/ 2147483647 h 192"/>
              <a:gd name="T2" fmla="*/ 2147483647 w 1392"/>
              <a:gd name="T3" fmla="*/ 0 h 192"/>
              <a:gd name="T4" fmla="*/ 2147483647 w 1392"/>
              <a:gd name="T5" fmla="*/ 2147483647 h 192"/>
              <a:gd name="T6" fmla="*/ 0 60000 65536"/>
              <a:gd name="T7" fmla="*/ 0 60000 65536"/>
              <a:gd name="T8" fmla="*/ 0 60000 65536"/>
              <a:gd name="T9" fmla="*/ 0 w 1392"/>
              <a:gd name="T10" fmla="*/ 0 h 192"/>
              <a:gd name="T11" fmla="*/ 1392 w 139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2" h="192">
                <a:moveTo>
                  <a:pt x="0" y="192"/>
                </a:moveTo>
                <a:cubicBezTo>
                  <a:pt x="268" y="96"/>
                  <a:pt x="536" y="0"/>
                  <a:pt x="768" y="0"/>
                </a:cubicBezTo>
                <a:cubicBezTo>
                  <a:pt x="1000" y="0"/>
                  <a:pt x="1196" y="96"/>
                  <a:pt x="1392" y="192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5"/>
          <p:cNvSpPr/>
          <p:nvPr/>
        </p:nvSpPr>
        <p:spPr bwMode="auto">
          <a:xfrm flipH="1" flipV="1">
            <a:off x="3359150" y="3743325"/>
            <a:ext cx="2209800" cy="381000"/>
          </a:xfrm>
          <a:custGeom>
            <a:avLst/>
            <a:gdLst>
              <a:gd name="T0" fmla="*/ 0 w 1392"/>
              <a:gd name="T1" fmla="*/ 2147483647 h 192"/>
              <a:gd name="T2" fmla="*/ 2147483647 w 1392"/>
              <a:gd name="T3" fmla="*/ 0 h 192"/>
              <a:gd name="T4" fmla="*/ 2147483647 w 1392"/>
              <a:gd name="T5" fmla="*/ 2147483647 h 192"/>
              <a:gd name="T6" fmla="*/ 0 60000 65536"/>
              <a:gd name="T7" fmla="*/ 0 60000 65536"/>
              <a:gd name="T8" fmla="*/ 0 60000 65536"/>
              <a:gd name="T9" fmla="*/ 0 w 1392"/>
              <a:gd name="T10" fmla="*/ 0 h 192"/>
              <a:gd name="T11" fmla="*/ 1392 w 139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2" h="192">
                <a:moveTo>
                  <a:pt x="0" y="192"/>
                </a:moveTo>
                <a:cubicBezTo>
                  <a:pt x="268" y="96"/>
                  <a:pt x="536" y="0"/>
                  <a:pt x="768" y="0"/>
                </a:cubicBezTo>
                <a:cubicBezTo>
                  <a:pt x="1000" y="0"/>
                  <a:pt x="1196" y="96"/>
                  <a:pt x="1392" y="192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rc 16"/>
          <p:cNvSpPr/>
          <p:nvPr/>
        </p:nvSpPr>
        <p:spPr bwMode="auto">
          <a:xfrm>
            <a:off x="5911850" y="3133725"/>
            <a:ext cx="630238" cy="609600"/>
          </a:xfrm>
          <a:custGeom>
            <a:avLst/>
            <a:gdLst>
              <a:gd name="T0" fmla="*/ 0 w 24856"/>
              <a:gd name="T1" fmla="*/ 2147483647 h 43199"/>
              <a:gd name="T2" fmla="*/ 2147483647 w 24856"/>
              <a:gd name="T3" fmla="*/ 2147483647 h 43199"/>
              <a:gd name="T4" fmla="*/ 2147483647 w 24856"/>
              <a:gd name="T5" fmla="*/ 2147483647 h 43199"/>
              <a:gd name="T6" fmla="*/ 0 60000 65536"/>
              <a:gd name="T7" fmla="*/ 0 60000 65536"/>
              <a:gd name="T8" fmla="*/ 0 60000 65536"/>
              <a:gd name="T9" fmla="*/ 0 w 24856"/>
              <a:gd name="T10" fmla="*/ 0 h 43199"/>
              <a:gd name="T11" fmla="*/ 24856 w 24856"/>
              <a:gd name="T12" fmla="*/ 43199 h 43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56" h="43199" fill="none" extrusionOk="0">
                <a:moveTo>
                  <a:pt x="-1" y="246"/>
                </a:moveTo>
                <a:cubicBezTo>
                  <a:pt x="1077" y="82"/>
                  <a:pt x="2165" y="-1"/>
                  <a:pt x="3256" y="0"/>
                </a:cubicBezTo>
                <a:cubicBezTo>
                  <a:pt x="15185" y="0"/>
                  <a:pt x="24856" y="9670"/>
                  <a:pt x="24856" y="21600"/>
                </a:cubicBezTo>
                <a:cubicBezTo>
                  <a:pt x="24856" y="33455"/>
                  <a:pt x="15300" y="43094"/>
                  <a:pt x="3446" y="43199"/>
                </a:cubicBezTo>
              </a:path>
              <a:path w="24856" h="43199" stroke="0" extrusionOk="0">
                <a:moveTo>
                  <a:pt x="-1" y="246"/>
                </a:moveTo>
                <a:cubicBezTo>
                  <a:pt x="1077" y="82"/>
                  <a:pt x="2165" y="-1"/>
                  <a:pt x="3256" y="0"/>
                </a:cubicBezTo>
                <a:cubicBezTo>
                  <a:pt x="15185" y="0"/>
                  <a:pt x="24856" y="9670"/>
                  <a:pt x="24856" y="21600"/>
                </a:cubicBezTo>
                <a:cubicBezTo>
                  <a:pt x="24856" y="33455"/>
                  <a:pt x="15300" y="43094"/>
                  <a:pt x="3446" y="43199"/>
                </a:cubicBezTo>
                <a:lnTo>
                  <a:pt x="3256" y="21600"/>
                </a:lnTo>
                <a:lnTo>
                  <a:pt x="-1" y="246"/>
                </a:lnTo>
                <a:close/>
              </a:path>
            </a:pathLst>
          </a:custGeom>
          <a:noFill/>
          <a:ln w="381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61"/>
          <p:cNvGrpSpPr/>
          <p:nvPr/>
        </p:nvGrpSpPr>
        <p:grpSpPr bwMode="auto">
          <a:xfrm>
            <a:off x="1214438" y="3143250"/>
            <a:ext cx="928687" cy="830263"/>
            <a:chOff x="314" y="1913"/>
            <a:chExt cx="585" cy="523"/>
          </a:xfrm>
        </p:grpSpPr>
        <p:sp>
          <p:nvSpPr>
            <p:cNvPr id="18458" name="Text Box 17"/>
            <p:cNvSpPr txBox="1">
              <a:spLocks noChangeArrowheads="1"/>
            </p:cNvSpPr>
            <p:nvPr/>
          </p:nvSpPr>
          <p:spPr bwMode="auto">
            <a:xfrm>
              <a:off x="314" y="1913"/>
              <a:ext cx="58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R=×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S=1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9" name="Line 46"/>
            <p:cNvSpPr>
              <a:spLocks noChangeShapeType="1"/>
            </p:cNvSpPr>
            <p:nvPr/>
          </p:nvSpPr>
          <p:spPr bwMode="auto">
            <a:xfrm>
              <a:off x="404" y="1961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47"/>
            <p:cNvSpPr>
              <a:spLocks noChangeShapeType="1"/>
            </p:cNvSpPr>
            <p:nvPr/>
          </p:nvSpPr>
          <p:spPr bwMode="auto">
            <a:xfrm>
              <a:off x="386" y="2207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0"/>
          <p:cNvGrpSpPr/>
          <p:nvPr/>
        </p:nvGrpSpPr>
        <p:grpSpPr bwMode="auto">
          <a:xfrm>
            <a:off x="6659563" y="3027363"/>
            <a:ext cx="1152525" cy="830262"/>
            <a:chOff x="4195" y="1842"/>
            <a:chExt cx="726" cy="523"/>
          </a:xfrm>
        </p:grpSpPr>
        <p:sp>
          <p:nvSpPr>
            <p:cNvPr id="18455" name="Text Box 48"/>
            <p:cNvSpPr txBox="1">
              <a:spLocks noChangeArrowheads="1"/>
            </p:cNvSpPr>
            <p:nvPr/>
          </p:nvSpPr>
          <p:spPr bwMode="auto">
            <a:xfrm>
              <a:off x="4195" y="1842"/>
              <a:ext cx="72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R=1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S=×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6" name="Line 49"/>
            <p:cNvSpPr>
              <a:spLocks noChangeShapeType="1"/>
            </p:cNvSpPr>
            <p:nvPr/>
          </p:nvSpPr>
          <p:spPr bwMode="auto">
            <a:xfrm>
              <a:off x="4265" y="1887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50"/>
            <p:cNvSpPr>
              <a:spLocks noChangeShapeType="1"/>
            </p:cNvSpPr>
            <p:nvPr/>
          </p:nvSpPr>
          <p:spPr bwMode="auto">
            <a:xfrm>
              <a:off x="4267" y="2136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8"/>
          <p:cNvGrpSpPr/>
          <p:nvPr/>
        </p:nvGrpSpPr>
        <p:grpSpPr bwMode="auto">
          <a:xfrm>
            <a:off x="3708400" y="4149725"/>
            <a:ext cx="1792288" cy="534988"/>
            <a:chOff x="2154" y="2704"/>
            <a:chExt cx="998" cy="337"/>
          </a:xfrm>
        </p:grpSpPr>
        <p:sp>
          <p:nvSpPr>
            <p:cNvPr id="18452" name="Text Box 51"/>
            <p:cNvSpPr txBox="1">
              <a:spLocks noChangeArrowheads="1"/>
            </p:cNvSpPr>
            <p:nvPr/>
          </p:nvSpPr>
          <p:spPr bwMode="auto">
            <a:xfrm>
              <a:off x="2154" y="2704"/>
              <a:ext cx="998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R=0,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S=1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3" name="Line 53"/>
            <p:cNvSpPr>
              <a:spLocks noChangeShapeType="1"/>
            </p:cNvSpPr>
            <p:nvPr/>
          </p:nvSpPr>
          <p:spPr bwMode="auto">
            <a:xfrm>
              <a:off x="2584" y="2782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54"/>
            <p:cNvSpPr>
              <a:spLocks noChangeShapeType="1"/>
            </p:cNvSpPr>
            <p:nvPr/>
          </p:nvSpPr>
          <p:spPr bwMode="auto">
            <a:xfrm>
              <a:off x="2209" y="2774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9"/>
          <p:cNvGrpSpPr/>
          <p:nvPr/>
        </p:nvGrpSpPr>
        <p:grpSpPr bwMode="auto">
          <a:xfrm>
            <a:off x="3779838" y="2276475"/>
            <a:ext cx="1935162" cy="496888"/>
            <a:chOff x="2245" y="1434"/>
            <a:chExt cx="953" cy="313"/>
          </a:xfrm>
        </p:grpSpPr>
        <p:sp>
          <p:nvSpPr>
            <p:cNvPr id="18449" name="Text Box 55"/>
            <p:cNvSpPr txBox="1">
              <a:spLocks noChangeArrowheads="1"/>
            </p:cNvSpPr>
            <p:nvPr/>
          </p:nvSpPr>
          <p:spPr bwMode="auto">
            <a:xfrm>
              <a:off x="2245" y="1434"/>
              <a:ext cx="953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R=1,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S=0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0" name="Line 56"/>
            <p:cNvSpPr>
              <a:spLocks noChangeShapeType="1"/>
            </p:cNvSpPr>
            <p:nvPr/>
          </p:nvSpPr>
          <p:spPr bwMode="auto">
            <a:xfrm>
              <a:off x="2635" y="1514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57"/>
            <p:cNvSpPr>
              <a:spLocks noChangeShapeType="1"/>
            </p:cNvSpPr>
            <p:nvPr/>
          </p:nvSpPr>
          <p:spPr bwMode="auto">
            <a:xfrm>
              <a:off x="2300" y="1496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AutoShape 62"/>
          <p:cNvSpPr>
            <a:spLocks noChangeArrowheads="1"/>
          </p:cNvSpPr>
          <p:nvPr/>
        </p:nvSpPr>
        <p:spPr bwMode="auto">
          <a:xfrm>
            <a:off x="2071688" y="4883150"/>
            <a:ext cx="2000250" cy="487363"/>
          </a:xfrm>
          <a:prstGeom prst="wedgeRoundRectCallout">
            <a:avLst>
              <a:gd name="adj1" fmla="val -4458"/>
              <a:gd name="adj2" fmla="val -25113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00FF"/>
                </a:solidFill>
              </a:rPr>
              <a:t>圆圈表示状态</a:t>
            </a:r>
            <a:endParaRPr lang="zh-CN" altLang="en-US" sz="2000" b="1">
              <a:solidFill>
                <a:srgbClr val="FF00FF"/>
              </a:solidFill>
            </a:endParaRPr>
          </a:p>
        </p:txBody>
      </p:sp>
      <p:sp>
        <p:nvSpPr>
          <p:cNvPr id="29" name="AutoShape 63"/>
          <p:cNvSpPr>
            <a:spLocks noChangeArrowheads="1"/>
          </p:cNvSpPr>
          <p:nvPr/>
        </p:nvSpPr>
        <p:spPr bwMode="auto">
          <a:xfrm>
            <a:off x="5292725" y="4941888"/>
            <a:ext cx="2779713" cy="487362"/>
          </a:xfrm>
          <a:prstGeom prst="wedgeRoundRectCallout">
            <a:avLst>
              <a:gd name="adj1" fmla="val -59250"/>
              <a:gd name="adj2" fmla="val -241963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00FF"/>
                </a:solidFill>
              </a:rPr>
              <a:t>箭头表示转移方向</a:t>
            </a:r>
            <a:endParaRPr lang="zh-CN" altLang="en-US" sz="2000" b="1">
              <a:solidFill>
                <a:srgbClr val="FF00FF"/>
              </a:solidFill>
            </a:endParaRPr>
          </a:p>
        </p:txBody>
      </p:sp>
      <p:sp>
        <p:nvSpPr>
          <p:cNvPr id="30" name="AutoShape 64"/>
          <p:cNvSpPr>
            <a:spLocks noChangeArrowheads="1"/>
          </p:cNvSpPr>
          <p:nvPr/>
        </p:nvSpPr>
        <p:spPr bwMode="auto">
          <a:xfrm>
            <a:off x="3714750" y="5781675"/>
            <a:ext cx="2357438" cy="504825"/>
          </a:xfrm>
          <a:prstGeom prst="wedgeRoundRectCallout">
            <a:avLst>
              <a:gd name="adj1" fmla="val -14972"/>
              <a:gd name="adj2" fmla="val -270824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00FF"/>
                </a:solidFill>
              </a:rPr>
              <a:t>标注为转移条件</a:t>
            </a:r>
            <a:endParaRPr lang="zh-CN" altLang="en-US" sz="2000" b="1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62"/>
          <p:cNvSpPr txBox="1">
            <a:spLocks noChangeArrowheads="1"/>
          </p:cNvSpPr>
          <p:nvPr/>
        </p:nvSpPr>
        <p:spPr bwMode="auto">
          <a:xfrm>
            <a:off x="539750" y="428625"/>
            <a:ext cx="439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）波形图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714375" y="1014413"/>
            <a:ext cx="7715250" cy="985837"/>
            <a:chOff x="714348" y="1014225"/>
            <a:chExt cx="7715304" cy="986015"/>
          </a:xfrm>
        </p:grpSpPr>
        <p:sp>
          <p:nvSpPr>
            <p:cNvPr id="19513" name="Text Box 61"/>
            <p:cNvSpPr txBox="1">
              <a:spLocks noChangeArrowheads="1"/>
            </p:cNvSpPr>
            <p:nvPr/>
          </p:nvSpPr>
          <p:spPr bwMode="auto">
            <a:xfrm>
              <a:off x="755650" y="1052513"/>
              <a:ext cx="76327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工作波形图又称为</a:t>
              </a: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时序图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，是描述触发器输出状态随时间和输入信号变化规律的图形。</a:t>
              </a:r>
              <a:endPara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514" name="Rectangle 16"/>
            <p:cNvSpPr>
              <a:spLocks noChangeArrowheads="1"/>
            </p:cNvSpPr>
            <p:nvPr/>
          </p:nvSpPr>
          <p:spPr bwMode="auto">
            <a:xfrm>
              <a:off x="714348" y="1014225"/>
              <a:ext cx="7715304" cy="98601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460" name="Rectangle 36"/>
          <p:cNvSpPr>
            <a:spLocks noChangeArrowheads="1"/>
          </p:cNvSpPr>
          <p:nvPr/>
        </p:nvSpPr>
        <p:spPr bwMode="auto">
          <a:xfrm>
            <a:off x="685800" y="2390775"/>
            <a:ext cx="7848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7" name="Freeform 10"/>
          <p:cNvSpPr/>
          <p:nvPr/>
        </p:nvSpPr>
        <p:spPr bwMode="auto">
          <a:xfrm>
            <a:off x="1295400" y="3228975"/>
            <a:ext cx="7086600" cy="533400"/>
          </a:xfrm>
          <a:custGeom>
            <a:avLst/>
            <a:gdLst>
              <a:gd name="T0" fmla="*/ 0 w 4464"/>
              <a:gd name="T1" fmla="*/ 2147483647 h 336"/>
              <a:gd name="T2" fmla="*/ 2147483647 w 4464"/>
              <a:gd name="T3" fmla="*/ 2147483647 h 336"/>
              <a:gd name="T4" fmla="*/ 2147483647 w 4464"/>
              <a:gd name="T5" fmla="*/ 0 h 336"/>
              <a:gd name="T6" fmla="*/ 2147483647 w 4464"/>
              <a:gd name="T7" fmla="*/ 0 h 336"/>
              <a:gd name="T8" fmla="*/ 2147483647 w 4464"/>
              <a:gd name="T9" fmla="*/ 2147483647 h 336"/>
              <a:gd name="T10" fmla="*/ 2147483647 w 4464"/>
              <a:gd name="T11" fmla="*/ 2147483647 h 336"/>
              <a:gd name="T12" fmla="*/ 2147483647 w 4464"/>
              <a:gd name="T13" fmla="*/ 0 h 336"/>
              <a:gd name="T14" fmla="*/ 2147483647 w 4464"/>
              <a:gd name="T15" fmla="*/ 0 h 336"/>
              <a:gd name="T16" fmla="*/ 2147483647 w 4464"/>
              <a:gd name="T17" fmla="*/ 2147483647 h 336"/>
              <a:gd name="T18" fmla="*/ 2147483647 w 4464"/>
              <a:gd name="T19" fmla="*/ 2147483647 h 336"/>
              <a:gd name="T20" fmla="*/ 2147483647 w 4464"/>
              <a:gd name="T21" fmla="*/ 0 h 336"/>
              <a:gd name="T22" fmla="*/ 2147483647 w 4464"/>
              <a:gd name="T23" fmla="*/ 0 h 336"/>
              <a:gd name="T24" fmla="*/ 2147483647 w 4464"/>
              <a:gd name="T25" fmla="*/ 2147483647 h 336"/>
              <a:gd name="T26" fmla="*/ 2147483647 w 4464"/>
              <a:gd name="T27" fmla="*/ 2147483647 h 3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464"/>
              <a:gd name="T43" fmla="*/ 0 h 336"/>
              <a:gd name="T44" fmla="*/ 4464 w 4464"/>
              <a:gd name="T45" fmla="*/ 336 h 3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464" h="336">
                <a:moveTo>
                  <a:pt x="0" y="336"/>
                </a:moveTo>
                <a:lnTo>
                  <a:pt x="384" y="336"/>
                </a:lnTo>
                <a:lnTo>
                  <a:pt x="384" y="0"/>
                </a:lnTo>
                <a:lnTo>
                  <a:pt x="960" y="0"/>
                </a:lnTo>
                <a:lnTo>
                  <a:pt x="960" y="336"/>
                </a:lnTo>
                <a:lnTo>
                  <a:pt x="1440" y="336"/>
                </a:lnTo>
                <a:lnTo>
                  <a:pt x="1440" y="0"/>
                </a:lnTo>
                <a:lnTo>
                  <a:pt x="2112" y="0"/>
                </a:lnTo>
                <a:lnTo>
                  <a:pt x="2112" y="336"/>
                </a:lnTo>
                <a:lnTo>
                  <a:pt x="3312" y="336"/>
                </a:lnTo>
                <a:lnTo>
                  <a:pt x="3312" y="0"/>
                </a:lnTo>
                <a:lnTo>
                  <a:pt x="3888" y="0"/>
                </a:lnTo>
                <a:lnTo>
                  <a:pt x="3888" y="336"/>
                </a:lnTo>
                <a:lnTo>
                  <a:pt x="446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20" descr="宽上对角线"/>
          <p:cNvSpPr>
            <a:spLocks noChangeArrowheads="1"/>
          </p:cNvSpPr>
          <p:nvPr/>
        </p:nvSpPr>
        <p:spPr bwMode="auto">
          <a:xfrm>
            <a:off x="6553200" y="3914775"/>
            <a:ext cx="935038" cy="533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9" name="Freeform 23"/>
          <p:cNvSpPr/>
          <p:nvPr/>
        </p:nvSpPr>
        <p:spPr bwMode="auto">
          <a:xfrm>
            <a:off x="1295400" y="2543175"/>
            <a:ext cx="7010400" cy="533400"/>
          </a:xfrm>
          <a:custGeom>
            <a:avLst/>
            <a:gdLst>
              <a:gd name="T0" fmla="*/ 0 w 4416"/>
              <a:gd name="T1" fmla="*/ 0 h 336"/>
              <a:gd name="T2" fmla="*/ 2147483647 w 4416"/>
              <a:gd name="T3" fmla="*/ 0 h 336"/>
              <a:gd name="T4" fmla="*/ 2147483647 w 4416"/>
              <a:gd name="T5" fmla="*/ 2147483647 h 336"/>
              <a:gd name="T6" fmla="*/ 2147483647 w 4416"/>
              <a:gd name="T7" fmla="*/ 2147483647 h 336"/>
              <a:gd name="T8" fmla="*/ 2147483647 w 4416"/>
              <a:gd name="T9" fmla="*/ 0 h 336"/>
              <a:gd name="T10" fmla="*/ 2147483647 w 4416"/>
              <a:gd name="T11" fmla="*/ 0 h 336"/>
              <a:gd name="T12" fmla="*/ 2147483647 w 4416"/>
              <a:gd name="T13" fmla="*/ 2147483647 h 336"/>
              <a:gd name="T14" fmla="*/ 2147483647 w 4416"/>
              <a:gd name="T15" fmla="*/ 2147483647 h 336"/>
              <a:gd name="T16" fmla="*/ 2147483647 w 4416"/>
              <a:gd name="T17" fmla="*/ 0 h 336"/>
              <a:gd name="T18" fmla="*/ 2147483647 w 4416"/>
              <a:gd name="T19" fmla="*/ 0 h 3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416"/>
              <a:gd name="T31" fmla="*/ 0 h 336"/>
              <a:gd name="T32" fmla="*/ 4416 w 4416"/>
              <a:gd name="T33" fmla="*/ 336 h 3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416" h="336">
                <a:moveTo>
                  <a:pt x="0" y="0"/>
                </a:moveTo>
                <a:lnTo>
                  <a:pt x="1440" y="0"/>
                </a:lnTo>
                <a:lnTo>
                  <a:pt x="1440" y="336"/>
                </a:lnTo>
                <a:lnTo>
                  <a:pt x="2112" y="336"/>
                </a:lnTo>
                <a:lnTo>
                  <a:pt x="2112" y="0"/>
                </a:lnTo>
                <a:lnTo>
                  <a:pt x="2832" y="0"/>
                </a:lnTo>
                <a:lnTo>
                  <a:pt x="2832" y="336"/>
                </a:lnTo>
                <a:lnTo>
                  <a:pt x="3312" y="336"/>
                </a:lnTo>
                <a:lnTo>
                  <a:pt x="3312" y="0"/>
                </a:lnTo>
                <a:lnTo>
                  <a:pt x="441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24" descr="宽上对角线"/>
          <p:cNvSpPr>
            <a:spLocks noChangeArrowheads="1"/>
          </p:cNvSpPr>
          <p:nvPr/>
        </p:nvSpPr>
        <p:spPr bwMode="auto">
          <a:xfrm>
            <a:off x="6553200" y="4600575"/>
            <a:ext cx="935038" cy="533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grpSp>
        <p:nvGrpSpPr>
          <p:cNvPr id="3" name="Group 63"/>
          <p:cNvGrpSpPr/>
          <p:nvPr/>
        </p:nvGrpSpPr>
        <p:grpSpPr bwMode="auto">
          <a:xfrm>
            <a:off x="539750" y="2543175"/>
            <a:ext cx="936625" cy="457200"/>
            <a:chOff x="340" y="1440"/>
            <a:chExt cx="590" cy="288"/>
          </a:xfrm>
        </p:grpSpPr>
        <p:sp>
          <p:nvSpPr>
            <p:cNvPr id="19511" name="Text Box 26"/>
            <p:cNvSpPr txBox="1">
              <a:spLocks noChangeArrowheads="1"/>
            </p:cNvSpPr>
            <p:nvPr/>
          </p:nvSpPr>
          <p:spPr bwMode="auto">
            <a:xfrm>
              <a:off x="340" y="1440"/>
              <a:ext cx="5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R</a:t>
              </a:r>
              <a:endParaRPr kumimoji="1"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9512" name="Line 27"/>
            <p:cNvSpPr>
              <a:spLocks noChangeShapeType="1"/>
            </p:cNvSpPr>
            <p:nvPr/>
          </p:nvSpPr>
          <p:spPr bwMode="auto">
            <a:xfrm>
              <a:off x="535" y="1488"/>
              <a:ext cx="1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64"/>
          <p:cNvGrpSpPr/>
          <p:nvPr/>
        </p:nvGrpSpPr>
        <p:grpSpPr bwMode="auto">
          <a:xfrm>
            <a:off x="684213" y="3305175"/>
            <a:ext cx="641350" cy="457200"/>
            <a:chOff x="431" y="1920"/>
            <a:chExt cx="404" cy="288"/>
          </a:xfrm>
        </p:grpSpPr>
        <p:sp>
          <p:nvSpPr>
            <p:cNvPr id="19509" name="Text Box 30"/>
            <p:cNvSpPr txBox="1">
              <a:spLocks noChangeArrowheads="1"/>
            </p:cNvSpPr>
            <p:nvPr/>
          </p:nvSpPr>
          <p:spPr bwMode="auto">
            <a:xfrm>
              <a:off x="431" y="1920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  <a:endParaRPr kumimoji="1"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9510" name="Line 31"/>
            <p:cNvSpPr>
              <a:spLocks noChangeShapeType="1"/>
            </p:cNvSpPr>
            <p:nvPr/>
          </p:nvSpPr>
          <p:spPr bwMode="auto">
            <a:xfrm>
              <a:off x="535" y="1968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65"/>
          <p:cNvGrpSpPr/>
          <p:nvPr/>
        </p:nvGrpSpPr>
        <p:grpSpPr bwMode="auto">
          <a:xfrm>
            <a:off x="762000" y="4765675"/>
            <a:ext cx="457200" cy="457200"/>
            <a:chOff x="480" y="2840"/>
            <a:chExt cx="288" cy="288"/>
          </a:xfrm>
        </p:grpSpPr>
        <p:sp>
          <p:nvSpPr>
            <p:cNvPr id="19507" name="Text Box 33"/>
            <p:cNvSpPr txBox="1">
              <a:spLocks noChangeArrowheads="1"/>
            </p:cNvSpPr>
            <p:nvPr/>
          </p:nvSpPr>
          <p:spPr bwMode="auto">
            <a:xfrm>
              <a:off x="480" y="28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508" name="Line 34"/>
            <p:cNvSpPr>
              <a:spLocks noChangeShapeType="1"/>
            </p:cNvSpPr>
            <p:nvPr/>
          </p:nvSpPr>
          <p:spPr bwMode="auto">
            <a:xfrm>
              <a:off x="535" y="2887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Text Box 35"/>
          <p:cNvSpPr txBox="1">
            <a:spLocks noChangeArrowheads="1"/>
          </p:cNvSpPr>
          <p:nvPr/>
        </p:nvSpPr>
        <p:spPr bwMode="auto">
          <a:xfrm>
            <a:off x="762000" y="39147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Q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1905000" y="2466975"/>
            <a:ext cx="1588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38"/>
          <p:cNvSpPr>
            <a:spLocks noChangeShapeType="1"/>
          </p:cNvSpPr>
          <p:nvPr/>
        </p:nvSpPr>
        <p:spPr bwMode="auto">
          <a:xfrm>
            <a:off x="2817813" y="2466975"/>
            <a:ext cx="1587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39"/>
          <p:cNvSpPr>
            <a:spLocks noChangeShapeType="1"/>
          </p:cNvSpPr>
          <p:nvPr/>
        </p:nvSpPr>
        <p:spPr bwMode="auto">
          <a:xfrm>
            <a:off x="3579813" y="2466975"/>
            <a:ext cx="1587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40"/>
          <p:cNvSpPr>
            <a:spLocks noChangeShapeType="1"/>
          </p:cNvSpPr>
          <p:nvPr/>
        </p:nvSpPr>
        <p:spPr bwMode="auto">
          <a:xfrm>
            <a:off x="4646613" y="2466975"/>
            <a:ext cx="1587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>
            <a:off x="5789613" y="2466975"/>
            <a:ext cx="1587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42"/>
          <p:cNvSpPr>
            <a:spLocks noChangeShapeType="1"/>
          </p:cNvSpPr>
          <p:nvPr/>
        </p:nvSpPr>
        <p:spPr bwMode="auto">
          <a:xfrm>
            <a:off x="7466013" y="2466975"/>
            <a:ext cx="1587" cy="39624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45"/>
          <p:cNvSpPr>
            <a:spLocks noChangeShapeType="1"/>
          </p:cNvSpPr>
          <p:nvPr/>
        </p:nvSpPr>
        <p:spPr bwMode="auto">
          <a:xfrm>
            <a:off x="1295400" y="3762375"/>
            <a:ext cx="609600" cy="158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46"/>
          <p:cNvSpPr>
            <a:spLocks noChangeShapeType="1"/>
          </p:cNvSpPr>
          <p:nvPr/>
        </p:nvSpPr>
        <p:spPr bwMode="auto">
          <a:xfrm>
            <a:off x="2819400" y="3762375"/>
            <a:ext cx="7620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47"/>
          <p:cNvSpPr>
            <a:spLocks noChangeShapeType="1"/>
          </p:cNvSpPr>
          <p:nvPr/>
        </p:nvSpPr>
        <p:spPr bwMode="auto">
          <a:xfrm>
            <a:off x="4648200" y="3762375"/>
            <a:ext cx="11430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48"/>
          <p:cNvSpPr>
            <a:spLocks noChangeShapeType="1"/>
          </p:cNvSpPr>
          <p:nvPr/>
        </p:nvSpPr>
        <p:spPr bwMode="auto">
          <a:xfrm>
            <a:off x="7467600" y="3762375"/>
            <a:ext cx="914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49"/>
          <p:cNvSpPr>
            <a:spLocks noChangeShapeType="1"/>
          </p:cNvSpPr>
          <p:nvPr/>
        </p:nvSpPr>
        <p:spPr bwMode="auto">
          <a:xfrm>
            <a:off x="3581400" y="3076575"/>
            <a:ext cx="1066800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50"/>
          <p:cNvSpPr txBox="1">
            <a:spLocks noChangeArrowheads="1"/>
          </p:cNvSpPr>
          <p:nvPr/>
        </p:nvSpPr>
        <p:spPr bwMode="auto">
          <a:xfrm>
            <a:off x="1143000" y="5667375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置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" name="Text Box 51"/>
          <p:cNvSpPr txBox="1">
            <a:spLocks noChangeArrowheads="1"/>
          </p:cNvSpPr>
          <p:nvPr/>
        </p:nvSpPr>
        <p:spPr bwMode="auto">
          <a:xfrm>
            <a:off x="3751263" y="5667375"/>
            <a:ext cx="685800" cy="466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置</a:t>
            </a:r>
            <a:r>
              <a:rPr kumimoji="1" lang="en-US" altLang="zh-CN" sz="2400">
                <a:latin typeface="Times New Roman" panose="02020603050405020304" pitchFamily="18" charset="0"/>
              </a:rPr>
              <a:t>0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4" name="Text Box 52"/>
          <p:cNvSpPr txBox="1">
            <a:spLocks noChangeArrowheads="1"/>
          </p:cNvSpPr>
          <p:nvPr/>
        </p:nvSpPr>
        <p:spPr bwMode="auto">
          <a:xfrm>
            <a:off x="2854325" y="5667375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置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5" name="Text Box 53"/>
          <p:cNvSpPr txBox="1">
            <a:spLocks noChangeArrowheads="1"/>
          </p:cNvSpPr>
          <p:nvPr/>
        </p:nvSpPr>
        <p:spPr bwMode="auto">
          <a:xfrm>
            <a:off x="4876800" y="5667375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置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6" name="Text Box 54"/>
          <p:cNvSpPr txBox="1">
            <a:spLocks noChangeArrowheads="1"/>
          </p:cNvSpPr>
          <p:nvPr/>
        </p:nvSpPr>
        <p:spPr bwMode="auto">
          <a:xfrm>
            <a:off x="7620000" y="5667375"/>
            <a:ext cx="6858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置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7" name="Text Box 57"/>
          <p:cNvSpPr txBox="1">
            <a:spLocks noChangeArrowheads="1"/>
          </p:cNvSpPr>
          <p:nvPr/>
        </p:nvSpPr>
        <p:spPr bwMode="auto">
          <a:xfrm>
            <a:off x="1922463" y="5667375"/>
            <a:ext cx="914400" cy="4572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保持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8" name="Text Box 59"/>
          <p:cNvSpPr txBox="1">
            <a:spLocks noChangeArrowheads="1"/>
          </p:cNvSpPr>
          <p:nvPr/>
        </p:nvSpPr>
        <p:spPr bwMode="auto">
          <a:xfrm>
            <a:off x="5943600" y="5667375"/>
            <a:ext cx="12954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不允许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9" name="Line 66"/>
          <p:cNvSpPr>
            <a:spLocks noChangeShapeType="1"/>
          </p:cNvSpPr>
          <p:nvPr/>
        </p:nvSpPr>
        <p:spPr bwMode="auto">
          <a:xfrm>
            <a:off x="1258888" y="3902075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67"/>
          <p:cNvSpPr>
            <a:spLocks noChangeShapeType="1"/>
          </p:cNvSpPr>
          <p:nvPr/>
        </p:nvSpPr>
        <p:spPr bwMode="auto">
          <a:xfrm>
            <a:off x="1258888" y="5140325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68"/>
          <p:cNvSpPr>
            <a:spLocks noChangeShapeType="1"/>
          </p:cNvSpPr>
          <p:nvPr/>
        </p:nvSpPr>
        <p:spPr bwMode="auto">
          <a:xfrm>
            <a:off x="1908175" y="3902075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69"/>
          <p:cNvSpPr>
            <a:spLocks noChangeShapeType="1"/>
          </p:cNvSpPr>
          <p:nvPr/>
        </p:nvSpPr>
        <p:spPr bwMode="auto">
          <a:xfrm>
            <a:off x="1908175" y="5140325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70"/>
          <p:cNvSpPr>
            <a:spLocks noChangeShapeType="1"/>
          </p:cNvSpPr>
          <p:nvPr/>
        </p:nvSpPr>
        <p:spPr bwMode="auto">
          <a:xfrm>
            <a:off x="2843213" y="3902075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71"/>
          <p:cNvSpPr>
            <a:spLocks noChangeShapeType="1"/>
          </p:cNvSpPr>
          <p:nvPr/>
        </p:nvSpPr>
        <p:spPr bwMode="auto">
          <a:xfrm>
            <a:off x="2828925" y="5140325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72"/>
          <p:cNvSpPr>
            <a:spLocks noChangeShapeType="1"/>
          </p:cNvSpPr>
          <p:nvPr/>
        </p:nvSpPr>
        <p:spPr bwMode="auto">
          <a:xfrm>
            <a:off x="3563938" y="4435475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74"/>
          <p:cNvSpPr>
            <a:spLocks noChangeShapeType="1"/>
          </p:cNvSpPr>
          <p:nvPr/>
        </p:nvSpPr>
        <p:spPr bwMode="auto">
          <a:xfrm>
            <a:off x="3565525" y="4608513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75"/>
          <p:cNvSpPr>
            <a:spLocks noChangeShapeType="1"/>
          </p:cNvSpPr>
          <p:nvPr/>
        </p:nvSpPr>
        <p:spPr bwMode="auto">
          <a:xfrm>
            <a:off x="4643438" y="3902075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76"/>
          <p:cNvSpPr>
            <a:spLocks noChangeShapeType="1"/>
          </p:cNvSpPr>
          <p:nvPr/>
        </p:nvSpPr>
        <p:spPr bwMode="auto">
          <a:xfrm>
            <a:off x="4643438" y="5140325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795963" y="3902075"/>
            <a:ext cx="720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78"/>
          <p:cNvSpPr>
            <a:spLocks noChangeShapeType="1"/>
          </p:cNvSpPr>
          <p:nvPr/>
        </p:nvSpPr>
        <p:spPr bwMode="auto">
          <a:xfrm>
            <a:off x="5795963" y="4592638"/>
            <a:ext cx="720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79"/>
          <p:cNvSpPr>
            <a:spLocks noChangeShapeType="1"/>
          </p:cNvSpPr>
          <p:nvPr/>
        </p:nvSpPr>
        <p:spPr bwMode="auto">
          <a:xfrm>
            <a:off x="7466013" y="3930650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80"/>
          <p:cNvSpPr>
            <a:spLocks noChangeShapeType="1"/>
          </p:cNvSpPr>
          <p:nvPr/>
        </p:nvSpPr>
        <p:spPr bwMode="auto">
          <a:xfrm>
            <a:off x="7496175" y="5154613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81"/>
          <p:cNvSpPr>
            <a:spLocks noChangeShapeType="1"/>
          </p:cNvSpPr>
          <p:nvPr/>
        </p:nvSpPr>
        <p:spPr bwMode="auto">
          <a:xfrm>
            <a:off x="6559550" y="2462213"/>
            <a:ext cx="1588" cy="3962400"/>
          </a:xfrm>
          <a:prstGeom prst="line">
            <a:avLst/>
          </a:prstGeom>
          <a:noFill/>
          <a:ln w="9525">
            <a:solidFill>
              <a:srgbClr val="CC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82"/>
          <p:cNvSpPr>
            <a:spLocks noChangeShapeType="1"/>
          </p:cNvSpPr>
          <p:nvPr/>
        </p:nvSpPr>
        <p:spPr bwMode="auto">
          <a:xfrm>
            <a:off x="3578225" y="3902075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83"/>
          <p:cNvSpPr>
            <a:spLocks noChangeShapeType="1"/>
          </p:cNvSpPr>
          <p:nvPr/>
        </p:nvSpPr>
        <p:spPr bwMode="auto">
          <a:xfrm>
            <a:off x="3563938" y="4621213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84"/>
          <p:cNvSpPr>
            <a:spLocks noChangeShapeType="1"/>
          </p:cNvSpPr>
          <p:nvPr/>
        </p:nvSpPr>
        <p:spPr bwMode="auto">
          <a:xfrm>
            <a:off x="4643438" y="3916363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85"/>
          <p:cNvSpPr>
            <a:spLocks noChangeShapeType="1"/>
          </p:cNvSpPr>
          <p:nvPr/>
        </p:nvSpPr>
        <p:spPr bwMode="auto">
          <a:xfrm>
            <a:off x="4643438" y="4621213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86"/>
          <p:cNvSpPr>
            <a:spLocks noChangeShapeType="1"/>
          </p:cNvSpPr>
          <p:nvPr/>
        </p:nvSpPr>
        <p:spPr bwMode="auto">
          <a:xfrm>
            <a:off x="5795963" y="4621213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 autoUpdateAnimBg="0"/>
      <p:bldP spid="33" grpId="0" animBg="1" autoUpdateAnimBg="0"/>
      <p:bldP spid="34" grpId="0" animBg="1" autoUpdateAnimBg="0"/>
      <p:bldP spid="35" grpId="0" animBg="1" autoUpdateAnimBg="0"/>
      <p:bldP spid="36" grpId="0" animBg="1" autoUpdateAnimBg="0"/>
      <p:bldP spid="37" grpId="0" animBg="1" autoUpdateAnimBg="0"/>
      <p:bldP spid="38" grpId="0" animBg="1" autoUpdateAnimBg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8"/>
          <p:cNvGrpSpPr/>
          <p:nvPr/>
        </p:nvGrpSpPr>
        <p:grpSpPr bwMode="auto">
          <a:xfrm>
            <a:off x="1000125" y="2857500"/>
            <a:ext cx="2500313" cy="3786188"/>
            <a:chOff x="1000101" y="2857496"/>
            <a:chExt cx="2500312" cy="3786192"/>
          </a:xfrm>
        </p:grpSpPr>
        <p:grpSp>
          <p:nvGrpSpPr>
            <p:cNvPr id="3099" name="组合 82"/>
            <p:cNvGrpSpPr/>
            <p:nvPr/>
          </p:nvGrpSpPr>
          <p:grpSpPr bwMode="auto">
            <a:xfrm>
              <a:off x="1000101" y="2857496"/>
              <a:ext cx="2500312" cy="3786192"/>
              <a:chOff x="1071513" y="2857492"/>
              <a:chExt cx="2500330" cy="3786218"/>
            </a:xfrm>
          </p:grpSpPr>
          <p:grpSp>
            <p:nvGrpSpPr>
              <p:cNvPr id="3116" name="组合 7"/>
              <p:cNvGrpSpPr/>
              <p:nvPr/>
            </p:nvGrpSpPr>
            <p:grpSpPr bwMode="auto">
              <a:xfrm>
                <a:off x="1071513" y="2857492"/>
                <a:ext cx="2500330" cy="3786218"/>
                <a:chOff x="1000075" y="857228"/>
                <a:chExt cx="2500330" cy="4210072"/>
              </a:xfrm>
            </p:grpSpPr>
            <p:grpSp>
              <p:nvGrpSpPr>
                <p:cNvPr id="3118" name="组合 1"/>
                <p:cNvGrpSpPr/>
                <p:nvPr/>
              </p:nvGrpSpPr>
              <p:grpSpPr bwMode="auto">
                <a:xfrm>
                  <a:off x="1285853" y="857228"/>
                  <a:ext cx="2000266" cy="2588224"/>
                  <a:chOff x="640232" y="1928802"/>
                  <a:chExt cx="2514326" cy="3299991"/>
                </a:xfrm>
              </p:grpSpPr>
              <p:cxnSp>
                <p:nvCxnSpPr>
                  <p:cNvPr id="36" name="直接连接符 35"/>
                  <p:cNvCxnSpPr/>
                  <p:nvPr/>
                </p:nvCxnSpPr>
                <p:spPr>
                  <a:xfrm rot="5400000">
                    <a:off x="490609" y="4665745"/>
                    <a:ext cx="1019555" cy="199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 rot="5400000">
                    <a:off x="2250695" y="4691628"/>
                    <a:ext cx="1071319" cy="1995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 rot="5400000">
                    <a:off x="1006531" y="4437175"/>
                    <a:ext cx="560418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 rot="5400000">
                    <a:off x="2220790" y="4436177"/>
                    <a:ext cx="560418" cy="199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 rot="5400000">
                    <a:off x="2211420" y="2860707"/>
                    <a:ext cx="866509" cy="199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131" name="组合 69"/>
                  <p:cNvGrpSpPr/>
                  <p:nvPr/>
                </p:nvGrpSpPr>
                <p:grpSpPr bwMode="auto">
                  <a:xfrm>
                    <a:off x="1285852" y="2857496"/>
                    <a:ext cx="1357322" cy="1858976"/>
                    <a:chOff x="1500166" y="2857496"/>
                    <a:chExt cx="1357322" cy="1858976"/>
                  </a:xfrm>
                </p:grpSpPr>
                <p:cxnSp>
                  <p:nvCxnSpPr>
                    <p:cNvPr id="53" name="直接连接符 21"/>
                    <p:cNvCxnSpPr/>
                    <p:nvPr/>
                  </p:nvCxnSpPr>
                  <p:spPr>
                    <a:xfrm rot="10800000">
                      <a:off x="1501053" y="4708381"/>
                      <a:ext cx="213519" cy="2250"/>
                    </a:xfrm>
                    <a:prstGeom prst="line">
                      <a:avLst/>
                    </a:prstGeom>
                    <a:ln w="254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直接连接符 53"/>
                    <p:cNvCxnSpPr/>
                    <p:nvPr/>
                  </p:nvCxnSpPr>
                  <p:spPr>
                    <a:xfrm rot="10800000">
                      <a:off x="2644472" y="2856078"/>
                      <a:ext cx="213517" cy="2251"/>
                    </a:xfrm>
                    <a:prstGeom prst="line">
                      <a:avLst/>
                    </a:prstGeom>
                    <a:ln w="254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直接连接符 54"/>
                    <p:cNvCxnSpPr/>
                    <p:nvPr/>
                  </p:nvCxnSpPr>
                  <p:spPr>
                    <a:xfrm rot="5400000">
                      <a:off x="1253371" y="3317279"/>
                      <a:ext cx="1852303" cy="929900"/>
                    </a:xfrm>
                    <a:prstGeom prst="line">
                      <a:avLst/>
                    </a:prstGeom>
                    <a:ln w="254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32" name="组合 68"/>
                  <p:cNvGrpSpPr/>
                  <p:nvPr/>
                </p:nvGrpSpPr>
                <p:grpSpPr bwMode="auto">
                  <a:xfrm>
                    <a:off x="1142976" y="2857496"/>
                    <a:ext cx="1357322" cy="1858976"/>
                    <a:chOff x="1357290" y="2857496"/>
                    <a:chExt cx="1357322" cy="1858976"/>
                  </a:xfrm>
                </p:grpSpPr>
                <p:cxnSp>
                  <p:nvCxnSpPr>
                    <p:cNvPr id="50" name="直接连接符 49"/>
                    <p:cNvCxnSpPr/>
                    <p:nvPr/>
                  </p:nvCxnSpPr>
                  <p:spPr>
                    <a:xfrm>
                      <a:off x="2500797" y="4708381"/>
                      <a:ext cx="213517" cy="225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/>
                    <p:cNvCxnSpPr/>
                    <p:nvPr/>
                  </p:nvCxnSpPr>
                  <p:spPr>
                    <a:xfrm flipV="1">
                      <a:off x="1357378" y="2856078"/>
                      <a:ext cx="213519" cy="2251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直接连接符 51"/>
                    <p:cNvCxnSpPr/>
                    <p:nvPr/>
                  </p:nvCxnSpPr>
                  <p:spPr>
                    <a:xfrm rot="16200000" flipH="1">
                      <a:off x="1109695" y="3317279"/>
                      <a:ext cx="1852303" cy="92990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3" name="直接连接符 42"/>
                  <p:cNvCxnSpPr/>
                  <p:nvPr/>
                </p:nvCxnSpPr>
                <p:spPr>
                  <a:xfrm rot="5400000">
                    <a:off x="710808" y="2860707"/>
                    <a:ext cx="866509" cy="199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椭圆 43"/>
                  <p:cNvSpPr/>
                  <p:nvPr/>
                </p:nvSpPr>
                <p:spPr>
                  <a:xfrm>
                    <a:off x="1105150" y="2831322"/>
                    <a:ext cx="71838" cy="7202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5" name="椭圆 44"/>
                  <p:cNvSpPr/>
                  <p:nvPr/>
                </p:nvSpPr>
                <p:spPr>
                  <a:xfrm>
                    <a:off x="2605762" y="2824569"/>
                    <a:ext cx="71838" cy="7202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aphicFrame>
                <p:nvGraphicFramePr>
                  <p:cNvPr id="3077" name="Object 2"/>
                  <p:cNvGraphicFramePr>
                    <a:graphicFrameLocks noChangeAspect="1"/>
                  </p:cNvGraphicFramePr>
                  <p:nvPr/>
                </p:nvGraphicFramePr>
                <p:xfrm>
                  <a:off x="640232" y="4507520"/>
                  <a:ext cx="274636" cy="42703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9175" name="公式" r:id="rId1" imgW="139700" imgH="215900" progId="Equation.3">
                          <p:embed/>
                        </p:oleObj>
                      </mc:Choice>
                      <mc:Fallback>
                        <p:oleObj name="公式" r:id="rId1" imgW="139700" imgH="215900" progId="Equation.3">
                          <p:embed/>
                          <p:pic>
                            <p:nvPicPr>
                              <p:cNvPr id="0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232" y="4507520"/>
                                <a:ext cx="274636" cy="42703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078" name="Object 3"/>
                  <p:cNvGraphicFramePr>
                    <a:graphicFrameLocks noChangeAspect="1"/>
                  </p:cNvGraphicFramePr>
                  <p:nvPr/>
                </p:nvGraphicFramePr>
                <p:xfrm>
                  <a:off x="2856108" y="4479140"/>
                  <a:ext cx="298450" cy="40163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9176" name="公式" r:id="rId3" imgW="152400" imgH="203200" progId="Equation.3">
                          <p:embed/>
                        </p:oleObj>
                      </mc:Choice>
                      <mc:Fallback>
                        <p:oleObj name="公式" r:id="rId3" imgW="152400" imgH="203200" progId="Equation.3">
                          <p:embed/>
                          <p:pic>
                            <p:nvPicPr>
                              <p:cNvPr id="0" name="Object 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56108" y="4479140"/>
                                <a:ext cx="298450" cy="40163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079" name="Object 4"/>
                  <p:cNvGraphicFramePr>
                    <a:graphicFrameLocks noChangeAspect="1"/>
                  </p:cNvGraphicFramePr>
                  <p:nvPr/>
                </p:nvGraphicFramePr>
                <p:xfrm>
                  <a:off x="2500298" y="1928802"/>
                  <a:ext cx="298450" cy="4762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9177" name="公式" r:id="rId5" imgW="152400" imgH="241300" progId="Equation.3">
                          <p:embed/>
                        </p:oleObj>
                      </mc:Choice>
                      <mc:Fallback>
                        <p:oleObj name="公式" r:id="rId5" imgW="152400" imgH="241300" progId="Equation.3">
                          <p:embed/>
                          <p:pic>
                            <p:nvPicPr>
                              <p:cNvPr id="0" name="Object 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00298" y="1928802"/>
                                <a:ext cx="298450" cy="4762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080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989011" y="2012950"/>
                  <a:ext cx="298450" cy="40163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9178" name="公式" r:id="rId7" imgW="152400" imgH="203200" progId="Equation.3">
                          <p:embed/>
                        </p:oleObj>
                      </mc:Choice>
                      <mc:Fallback>
                        <p:oleObj name="公式" r:id="rId7" imgW="152400" imgH="203200" progId="Equation.3">
                          <p:embed/>
                          <p:pic>
                            <p:nvPicPr>
                              <p:cNvPr id="0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89011" y="2012950"/>
                                <a:ext cx="298450" cy="40163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11" name="直接连接符 10"/>
                <p:cNvCxnSpPr/>
                <p:nvPr/>
              </p:nvCxnSpPr>
              <p:spPr>
                <a:xfrm rot="5400000">
                  <a:off x="1134508" y="4433671"/>
                  <a:ext cx="640778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/>
                <p:nvPr/>
              </p:nvCxnSpPr>
              <p:spPr>
                <a:xfrm rot="5400000">
                  <a:off x="2790283" y="4433671"/>
                  <a:ext cx="640778" cy="158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 rot="5400000">
                  <a:off x="1502651" y="4294130"/>
                  <a:ext cx="36010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rot="5400000">
                  <a:off x="2690903" y="4293336"/>
                  <a:ext cx="360107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rot="5400000">
                  <a:off x="2107581" y="4640203"/>
                  <a:ext cx="35834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 rot="10800000" flipV="1">
                  <a:off x="1677943" y="4465356"/>
                  <a:ext cx="118745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3074" name="Object 6"/>
                <p:cNvGraphicFramePr>
                  <a:graphicFrameLocks noChangeAspect="1"/>
                </p:cNvGraphicFramePr>
                <p:nvPr/>
              </p:nvGraphicFramePr>
              <p:xfrm>
                <a:off x="1323952" y="4792663"/>
                <a:ext cx="215900" cy="274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179" name="公式" r:id="rId9" imgW="139700" imgH="177800" progId="Equation.3">
                        <p:embed/>
                      </p:oleObj>
                    </mc:Choice>
                    <mc:Fallback>
                      <p:oleObj name="公式" r:id="rId9" imgW="139700" imgH="177800" progId="Equation.3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23952" y="4792663"/>
                              <a:ext cx="215900" cy="2746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075" name="Object 7"/>
                <p:cNvGraphicFramePr>
                  <a:graphicFrameLocks noChangeAspect="1"/>
                </p:cNvGraphicFramePr>
                <p:nvPr/>
              </p:nvGraphicFramePr>
              <p:xfrm>
                <a:off x="3000375" y="4789488"/>
                <a:ext cx="236538" cy="2555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180" name="公式" r:id="rId11" imgW="152400" imgH="165100" progId="Equation.3">
                        <p:embed/>
                      </p:oleObj>
                    </mc:Choice>
                    <mc:Fallback>
                      <p:oleObj name="公式" r:id="rId11" imgW="152400" imgH="165100" progId="Equation.3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0375" y="4789488"/>
                              <a:ext cx="236538" cy="2555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076" name="Object 8"/>
                <p:cNvGraphicFramePr>
                  <a:graphicFrameLocks noChangeAspect="1"/>
                </p:cNvGraphicFramePr>
                <p:nvPr/>
              </p:nvGraphicFramePr>
              <p:xfrm>
                <a:off x="2097070" y="4786322"/>
                <a:ext cx="374650" cy="274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181" name="公式" r:id="rId13" imgW="241300" imgH="177800" progId="Equation.3">
                        <p:embed/>
                      </p:oleObj>
                    </mc:Choice>
                    <mc:Fallback>
                      <p:oleObj name="公式" r:id="rId13" imgW="241300" imgH="177800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97070" y="4786322"/>
                              <a:ext cx="374650" cy="2746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1" name="直接连接符 20"/>
                <p:cNvCxnSpPr/>
                <p:nvPr/>
              </p:nvCxnSpPr>
              <p:spPr>
                <a:xfrm rot="10800000" flipV="1">
                  <a:off x="1000075" y="3213809"/>
                  <a:ext cx="2500330" cy="0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椭圆 81"/>
              <p:cNvSpPr/>
              <p:nvPr/>
            </p:nvSpPr>
            <p:spPr>
              <a:xfrm>
                <a:off x="2324060" y="6084906"/>
                <a:ext cx="5715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100" name="组合 85"/>
            <p:cNvGrpSpPr/>
            <p:nvPr/>
          </p:nvGrpSpPr>
          <p:grpSpPr bwMode="auto">
            <a:xfrm>
              <a:off x="1366815" y="3786190"/>
              <a:ext cx="642942" cy="655180"/>
              <a:chOff x="1409678" y="3202448"/>
              <a:chExt cx="642942" cy="65518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1409677" y="3358018"/>
                <a:ext cx="642937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 bwMode="auto">
              <a:xfrm rot="16200000">
                <a:off x="1652565" y="3202442"/>
                <a:ext cx="144462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15" name="矩形 84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01" name="组合 86"/>
            <p:cNvGrpSpPr/>
            <p:nvPr/>
          </p:nvGrpSpPr>
          <p:grpSpPr bwMode="auto">
            <a:xfrm>
              <a:off x="2562211" y="3786190"/>
              <a:ext cx="642942" cy="655180"/>
              <a:chOff x="1409678" y="3202448"/>
              <a:chExt cx="642942" cy="655180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409667" y="3358018"/>
                <a:ext cx="642938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 bwMode="auto">
              <a:xfrm rot="16200000">
                <a:off x="1652555" y="3202443"/>
                <a:ext cx="144462" cy="1444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12" name="矩形 89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02" name="组合 90"/>
            <p:cNvGrpSpPr/>
            <p:nvPr/>
          </p:nvGrpSpPr>
          <p:grpSpPr bwMode="auto">
            <a:xfrm>
              <a:off x="1252514" y="5143512"/>
              <a:ext cx="642942" cy="655180"/>
              <a:chOff x="1409678" y="3202448"/>
              <a:chExt cx="642942" cy="655180"/>
            </a:xfrm>
          </p:grpSpPr>
          <p:sp>
            <p:nvSpPr>
              <p:cNvPr id="92" name="矩形 91"/>
              <p:cNvSpPr/>
              <p:nvPr/>
            </p:nvSpPr>
            <p:spPr>
              <a:xfrm>
                <a:off x="1409678" y="3358009"/>
                <a:ext cx="642937" cy="5000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 bwMode="auto">
              <a:xfrm rot="16200000">
                <a:off x="1652565" y="3202434"/>
                <a:ext cx="144463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09" name="矩形 93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03" name="组合 94"/>
            <p:cNvGrpSpPr/>
            <p:nvPr/>
          </p:nvGrpSpPr>
          <p:grpSpPr bwMode="auto">
            <a:xfrm>
              <a:off x="2676512" y="5143512"/>
              <a:ext cx="642942" cy="655180"/>
              <a:chOff x="1409678" y="3202448"/>
              <a:chExt cx="642942" cy="65518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1409666" y="3358009"/>
                <a:ext cx="642938" cy="5000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 bwMode="auto">
              <a:xfrm rot="16200000">
                <a:off x="1652553" y="3202435"/>
                <a:ext cx="144463" cy="1444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06" name="矩形 97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81" name="矩形 80"/>
          <p:cNvSpPr/>
          <p:nvPr/>
        </p:nvSpPr>
        <p:spPr>
          <a:xfrm>
            <a:off x="4143375" y="2786063"/>
            <a:ext cx="4572000" cy="1785937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Box 24"/>
          <p:cNvSpPr txBox="1">
            <a:spLocks noChangeArrowheads="1"/>
          </p:cNvSpPr>
          <p:nvPr/>
        </p:nvSpPr>
        <p:spPr bwMode="auto">
          <a:xfrm>
            <a:off x="757238" y="2357438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电路结构和工作原理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4" name="矩形 4"/>
          <p:cNvSpPr>
            <a:spLocks noChangeArrowheads="1"/>
          </p:cNvSpPr>
          <p:nvPr/>
        </p:nvSpPr>
        <p:spPr bwMode="auto">
          <a:xfrm>
            <a:off x="428625" y="44450"/>
            <a:ext cx="56245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§5.2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同步（钟控）触发器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6"/>
          <p:cNvGrpSpPr/>
          <p:nvPr/>
        </p:nvGrpSpPr>
        <p:grpSpPr bwMode="auto">
          <a:xfrm>
            <a:off x="428625" y="785813"/>
            <a:ext cx="8286750" cy="987425"/>
            <a:chOff x="500034" y="785795"/>
            <a:chExt cx="8286808" cy="987010"/>
          </a:xfrm>
        </p:grpSpPr>
        <p:sp>
          <p:nvSpPr>
            <p:cNvPr id="3097" name="Rectangle 25"/>
            <p:cNvSpPr>
              <a:spLocks noChangeArrowheads="1"/>
            </p:cNvSpPr>
            <p:nvPr/>
          </p:nvSpPr>
          <p:spPr bwMode="auto">
            <a:xfrm>
              <a:off x="539750" y="804865"/>
              <a:ext cx="8135938" cy="904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同步触发器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就是要求只有在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同步信号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到达时，触发器的状态才能发生变化。而这个同步信号叫做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时钟信号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（时钟脉冲），用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表示。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8" name="Rectangle 16"/>
            <p:cNvSpPr>
              <a:spLocks noChangeArrowheads="1"/>
            </p:cNvSpPr>
            <p:nvPr/>
          </p:nvSpPr>
          <p:spPr bwMode="auto">
            <a:xfrm>
              <a:off x="500034" y="785795"/>
              <a:ext cx="8286808" cy="987010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59"/>
          <p:cNvGrpSpPr/>
          <p:nvPr/>
        </p:nvGrpSpPr>
        <p:grpSpPr bwMode="auto">
          <a:xfrm>
            <a:off x="4394200" y="2786063"/>
            <a:ext cx="4392613" cy="868362"/>
            <a:chOff x="2562" y="754"/>
            <a:chExt cx="2767" cy="547"/>
          </a:xfrm>
        </p:grpSpPr>
        <p:sp>
          <p:nvSpPr>
            <p:cNvPr id="3147" name="Text Box 12"/>
            <p:cNvSpPr txBox="1">
              <a:spLocks noChangeArrowheads="1"/>
            </p:cNvSpPr>
            <p:nvPr/>
          </p:nvSpPr>
          <p:spPr bwMode="auto">
            <a:xfrm>
              <a:off x="2562" y="754"/>
              <a:ext cx="2767" cy="5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①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＝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R=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=1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36195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保持原来状态不变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5" name="Line 18"/>
            <p:cNvSpPr>
              <a:spLocks noChangeShapeType="1"/>
            </p:cNvSpPr>
            <p:nvPr/>
          </p:nvSpPr>
          <p:spPr bwMode="auto">
            <a:xfrm>
              <a:off x="4051" y="808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6" name="Line 19"/>
            <p:cNvSpPr>
              <a:spLocks noChangeShapeType="1"/>
            </p:cNvSpPr>
            <p:nvPr/>
          </p:nvSpPr>
          <p:spPr bwMode="auto">
            <a:xfrm>
              <a:off x="3765" y="808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4" name="Text Box 15"/>
          <p:cNvSpPr txBox="1">
            <a:spLocks noChangeArrowheads="1"/>
          </p:cNvSpPr>
          <p:nvPr/>
        </p:nvSpPr>
        <p:spPr bwMode="auto">
          <a:xfrm>
            <a:off x="4381500" y="3722688"/>
            <a:ext cx="43926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61950" marR="0" lvl="0" indent="-36195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时，工作情况与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相同。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矩形 79"/>
          <p:cNvSpPr>
            <a:spLocks noChangeArrowheads="1"/>
          </p:cNvSpPr>
          <p:nvPr/>
        </p:nvSpPr>
        <p:spPr bwMode="auto">
          <a:xfrm>
            <a:off x="4357688" y="4610100"/>
            <a:ext cx="172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逻辑符号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149" name="Picture 7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5000625"/>
            <a:ext cx="1490662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组合 82"/>
          <p:cNvGrpSpPr/>
          <p:nvPr/>
        </p:nvGrpSpPr>
        <p:grpSpPr bwMode="auto">
          <a:xfrm>
            <a:off x="3478213" y="5429250"/>
            <a:ext cx="5237162" cy="1000125"/>
            <a:chOff x="3500430" y="5429264"/>
            <a:chExt cx="5237047" cy="1000132"/>
          </a:xfrm>
        </p:grpSpPr>
        <p:sp>
          <p:nvSpPr>
            <p:cNvPr id="78" name="圆角矩形标注 77"/>
            <p:cNvSpPr/>
            <p:nvPr/>
          </p:nvSpPr>
          <p:spPr>
            <a:xfrm>
              <a:off x="3500430" y="5429264"/>
              <a:ext cx="5214822" cy="1000132"/>
            </a:xfrm>
            <a:prstGeom prst="wedgeRoundRectCallout">
              <a:avLst>
                <a:gd name="adj1" fmla="val -72597"/>
                <a:gd name="adj2" fmla="val 35833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3" name="矩形 78"/>
            <p:cNvSpPr>
              <a:spLocks noChangeArrowheads="1"/>
            </p:cNvSpPr>
            <p:nvPr/>
          </p:nvSpPr>
          <p:spPr bwMode="auto">
            <a:xfrm>
              <a:off x="3571868" y="5500703"/>
              <a:ext cx="5165609" cy="831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＝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期间，输入信号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起作用，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因此称为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电平触发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Text Box 13"/>
          <p:cNvSpPr txBox="1">
            <a:spLocks noChangeArrowheads="1"/>
          </p:cNvSpPr>
          <p:nvPr/>
        </p:nvSpPr>
        <p:spPr bwMode="auto">
          <a:xfrm>
            <a:off x="569913" y="1825625"/>
            <a:ext cx="8323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一、同步（钟控）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--- RS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锁存器（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Latch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3" grpId="0"/>
      <p:bldP spid="74" grpId="0"/>
      <p:bldP spid="80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矩形 2"/>
          <p:cNvSpPr>
            <a:spLocks noChangeArrowheads="1"/>
          </p:cNvSpPr>
          <p:nvPr/>
        </p:nvSpPr>
        <p:spPr bwMode="auto">
          <a:xfrm>
            <a:off x="357188" y="142875"/>
            <a:ext cx="6203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二、同步（钟控）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---D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锁存器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685800" y="714375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电路结构和工作原理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86"/>
          <p:cNvGrpSpPr/>
          <p:nvPr/>
        </p:nvGrpSpPr>
        <p:grpSpPr bwMode="auto">
          <a:xfrm>
            <a:off x="4286250" y="1071563"/>
            <a:ext cx="4392613" cy="868362"/>
            <a:chOff x="4429124" y="1428736"/>
            <a:chExt cx="4392612" cy="868362"/>
          </a:xfrm>
        </p:grpSpPr>
        <p:sp>
          <p:nvSpPr>
            <p:cNvPr id="3" name="Text Box 12"/>
            <p:cNvSpPr txBox="1">
              <a:spLocks noChangeArrowheads="1"/>
            </p:cNvSpPr>
            <p:nvPr/>
          </p:nvSpPr>
          <p:spPr bwMode="auto">
            <a:xfrm>
              <a:off x="4429124" y="1428736"/>
              <a:ext cx="4392612" cy="8683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①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＝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                   ，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26670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保持原来状态不变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11" name="Object 10"/>
            <p:cNvGraphicFramePr>
              <a:graphicFrameLocks noChangeAspect="1"/>
            </p:cNvGraphicFramePr>
            <p:nvPr/>
          </p:nvGraphicFramePr>
          <p:xfrm>
            <a:off x="6286512" y="1428736"/>
            <a:ext cx="1344609" cy="4359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0" name="公式" r:id="rId1" imgW="596900" imgH="215900" progId="Equation.3">
                    <p:embed/>
                  </p:oleObj>
                </mc:Choice>
                <mc:Fallback>
                  <p:oleObj name="公式" r:id="rId1" imgW="596900" imgH="2159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6512" y="1428736"/>
                          <a:ext cx="1344609" cy="4359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93"/>
          <p:cNvGrpSpPr/>
          <p:nvPr/>
        </p:nvGrpSpPr>
        <p:grpSpPr bwMode="auto">
          <a:xfrm>
            <a:off x="4286250" y="2000250"/>
            <a:ext cx="4392613" cy="1330325"/>
            <a:chOff x="4500562" y="2500306"/>
            <a:chExt cx="4392612" cy="1331063"/>
          </a:xfrm>
        </p:grpSpPr>
        <p:grpSp>
          <p:nvGrpSpPr>
            <p:cNvPr id="4176" name="组合 88"/>
            <p:cNvGrpSpPr/>
            <p:nvPr/>
          </p:nvGrpSpPr>
          <p:grpSpPr bwMode="auto">
            <a:xfrm>
              <a:off x="4500562" y="2500306"/>
              <a:ext cx="4392612" cy="487363"/>
              <a:chOff x="4500562" y="2500306"/>
              <a:chExt cx="4392612" cy="487363"/>
            </a:xfrm>
          </p:grpSpPr>
          <p:sp>
            <p:nvSpPr>
              <p:cNvPr id="4178" name="Text Box 15"/>
              <p:cNvSpPr txBox="1">
                <a:spLocks noChangeArrowheads="1"/>
              </p:cNvSpPr>
              <p:nvPr/>
            </p:nvSpPr>
            <p:spPr bwMode="auto">
              <a:xfrm>
                <a:off x="4500562" y="2500306"/>
                <a:ext cx="43926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CP</a:t>
                </a: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＝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                         ，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110" name="Object 11"/>
              <p:cNvGraphicFramePr>
                <a:graphicFrameLocks noChangeAspect="1"/>
              </p:cNvGraphicFramePr>
              <p:nvPr/>
            </p:nvGraphicFramePr>
            <p:xfrm>
              <a:off x="6357950" y="2500306"/>
              <a:ext cx="1887537" cy="487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21" name="公式" r:id="rId3" imgW="838200" imgH="241300" progId="Equation.3">
                      <p:embed/>
                    </p:oleObj>
                  </mc:Choice>
                  <mc:Fallback>
                    <p:oleObj name="公式" r:id="rId3" imgW="838200" imgH="2413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57950" y="2500306"/>
                            <a:ext cx="1887537" cy="487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77" name="Text Box 24"/>
            <p:cNvSpPr txBox="1">
              <a:spLocks noChangeArrowheads="1"/>
            </p:cNvSpPr>
            <p:nvPr/>
          </p:nvSpPr>
          <p:spPr bwMode="auto">
            <a:xfrm>
              <a:off x="4786314" y="3000372"/>
              <a:ext cx="360045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代入到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基本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的特性方程中，可得：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6876" name="Object 12"/>
          <p:cNvGraphicFramePr>
            <a:graphicFrameLocks noChangeAspect="1"/>
          </p:cNvGraphicFramePr>
          <p:nvPr/>
        </p:nvGraphicFramePr>
        <p:xfrm>
          <a:off x="4732338" y="3357563"/>
          <a:ext cx="3911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2" name="公式" r:id="rId5" imgW="2592705" imgH="338455" progId="Equation.3">
                  <p:embed/>
                </p:oleObj>
              </mc:Choice>
              <mc:Fallback>
                <p:oleObj name="公式" r:id="rId5" imgW="2592705" imgH="33845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3357563"/>
                        <a:ext cx="3911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94"/>
          <p:cNvGrpSpPr/>
          <p:nvPr/>
        </p:nvGrpSpPr>
        <p:grpSpPr bwMode="auto">
          <a:xfrm>
            <a:off x="4286250" y="3857625"/>
            <a:ext cx="3189288" cy="968375"/>
            <a:chOff x="4286250" y="3857625"/>
            <a:chExt cx="3188693" cy="968375"/>
          </a:xfrm>
        </p:grpSpPr>
        <p:sp>
          <p:nvSpPr>
            <p:cNvPr id="4175" name="矩形 90"/>
            <p:cNvSpPr>
              <a:spLocks noChangeArrowheads="1"/>
            </p:cNvSpPr>
            <p:nvPr/>
          </p:nvSpPr>
          <p:spPr bwMode="auto">
            <a:xfrm>
              <a:off x="4286250" y="3857625"/>
              <a:ext cx="31886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的特性方程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6877" name="Object 13"/>
            <p:cNvGraphicFramePr>
              <a:graphicFrameLocks noChangeAspect="1"/>
            </p:cNvGraphicFramePr>
            <p:nvPr/>
          </p:nvGraphicFramePr>
          <p:xfrm>
            <a:off x="5286375" y="4286250"/>
            <a:ext cx="1335088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3" name="公式" r:id="rId7" imgW="763905" imgH="338455" progId="Equation.3">
                    <p:embed/>
                  </p:oleObj>
                </mc:Choice>
                <mc:Fallback>
                  <p:oleObj name="公式" r:id="rId7" imgW="763905" imgH="33845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75" y="4286250"/>
                          <a:ext cx="1335088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" name="矩形 80"/>
          <p:cNvSpPr>
            <a:spLocks noChangeArrowheads="1"/>
          </p:cNvSpPr>
          <p:nvPr/>
        </p:nvSpPr>
        <p:spPr bwMode="auto">
          <a:xfrm>
            <a:off x="4286250" y="4824413"/>
            <a:ext cx="1728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逻辑符号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组合 82"/>
          <p:cNvGrpSpPr/>
          <p:nvPr/>
        </p:nvGrpSpPr>
        <p:grpSpPr bwMode="auto">
          <a:xfrm>
            <a:off x="6072188" y="5072063"/>
            <a:ext cx="1285875" cy="1643062"/>
            <a:chOff x="5286380" y="4071944"/>
            <a:chExt cx="1500198" cy="1928825"/>
          </a:xfrm>
        </p:grpSpPr>
        <p:graphicFrame>
          <p:nvGraphicFramePr>
            <p:cNvPr id="4105" name="Object 8"/>
            <p:cNvGraphicFramePr>
              <a:graphicFrameLocks noChangeAspect="1"/>
            </p:cNvGraphicFramePr>
            <p:nvPr/>
          </p:nvGraphicFramePr>
          <p:xfrm>
            <a:off x="6286512" y="4572008"/>
            <a:ext cx="238125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4" name="公式" r:id="rId9" imgW="152400" imgH="241300" progId="Equation.3">
                    <p:embed/>
                  </p:oleObj>
                </mc:Choice>
                <mc:Fallback>
                  <p:oleObj name="公式" r:id="rId9" imgW="1524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6512" y="4572008"/>
                          <a:ext cx="238125" cy="373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" name="Object 83"/>
            <p:cNvGraphicFramePr>
              <a:graphicFrameLocks noChangeAspect="1"/>
            </p:cNvGraphicFramePr>
            <p:nvPr/>
          </p:nvGraphicFramePr>
          <p:xfrm>
            <a:off x="5572132" y="4614873"/>
            <a:ext cx="236537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5" name="公式" r:id="rId11" imgW="152400" imgH="203200" progId="Equation.3">
                    <p:embed/>
                  </p:oleObj>
                </mc:Choice>
                <mc:Fallback>
                  <p:oleObj name="公式" r:id="rId11" imgW="152400" imgH="203200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614873"/>
                          <a:ext cx="236537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矩形 85"/>
            <p:cNvSpPr/>
            <p:nvPr/>
          </p:nvSpPr>
          <p:spPr>
            <a:xfrm>
              <a:off x="5286380" y="4571389"/>
              <a:ext cx="1500198" cy="10715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107" name="Object 84"/>
            <p:cNvGraphicFramePr>
              <a:graphicFrameLocks noChangeAspect="1"/>
            </p:cNvGraphicFramePr>
            <p:nvPr/>
          </p:nvGraphicFramePr>
          <p:xfrm>
            <a:off x="5562600" y="5314950"/>
            <a:ext cx="255588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6" name="公式" r:id="rId13" imgW="165100" imgH="165100" progId="Equation.3">
                    <p:embed/>
                  </p:oleObj>
                </mc:Choice>
                <mc:Fallback>
                  <p:oleObj name="公式" r:id="rId13" imgW="165100" imgH="16510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5314950"/>
                          <a:ext cx="255588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Object 85"/>
            <p:cNvGraphicFramePr>
              <a:graphicFrameLocks noChangeAspect="1"/>
            </p:cNvGraphicFramePr>
            <p:nvPr/>
          </p:nvGraphicFramePr>
          <p:xfrm>
            <a:off x="5910263" y="5305425"/>
            <a:ext cx="37465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7" name="公式" r:id="rId15" imgW="241300" imgH="177800" progId="Equation.3">
                    <p:embed/>
                  </p:oleObj>
                </mc:Choice>
                <mc:Fallback>
                  <p:oleObj name="公式" r:id="rId15" imgW="241300" imgH="17780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0263" y="5305425"/>
                          <a:ext cx="374650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椭圆 88"/>
            <p:cNvSpPr/>
            <p:nvPr/>
          </p:nvSpPr>
          <p:spPr bwMode="auto">
            <a:xfrm rot="16200000">
              <a:off x="6346268" y="4432993"/>
              <a:ext cx="141634" cy="1426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 bwMode="auto">
            <a:xfrm rot="16200000" flipH="1">
              <a:off x="6242855" y="4258304"/>
              <a:ext cx="3429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 bwMode="auto">
            <a:xfrm rot="5400000">
              <a:off x="5465855" y="5820937"/>
              <a:ext cx="357811" cy="18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 bwMode="auto">
            <a:xfrm rot="16200000" flipH="1">
              <a:off x="5894615" y="5821863"/>
              <a:ext cx="35781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 bwMode="auto">
            <a:xfrm rot="5400000">
              <a:off x="5465423" y="4320734"/>
              <a:ext cx="4975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14"/>
          <p:cNvGrpSpPr/>
          <p:nvPr/>
        </p:nvGrpSpPr>
        <p:grpSpPr bwMode="auto">
          <a:xfrm>
            <a:off x="928688" y="1285875"/>
            <a:ext cx="2500312" cy="5214938"/>
            <a:chOff x="928688" y="1285875"/>
            <a:chExt cx="2500312" cy="5214938"/>
          </a:xfrm>
        </p:grpSpPr>
        <p:grpSp>
          <p:nvGrpSpPr>
            <p:cNvPr id="4120" name="组合 77"/>
            <p:cNvGrpSpPr/>
            <p:nvPr/>
          </p:nvGrpSpPr>
          <p:grpSpPr bwMode="auto">
            <a:xfrm>
              <a:off x="928688" y="1285875"/>
              <a:ext cx="2500312" cy="5214938"/>
              <a:chOff x="1071538" y="1285855"/>
              <a:chExt cx="2500330" cy="5214979"/>
            </a:xfrm>
          </p:grpSpPr>
          <p:grpSp>
            <p:nvGrpSpPr>
              <p:cNvPr id="4141" name="组合 1"/>
              <p:cNvGrpSpPr/>
              <p:nvPr/>
            </p:nvGrpSpPr>
            <p:grpSpPr bwMode="auto">
              <a:xfrm>
                <a:off x="1285853" y="1285855"/>
                <a:ext cx="2000266" cy="2383719"/>
                <a:chOff x="640232" y="1928802"/>
                <a:chExt cx="2514326" cy="3379482"/>
              </a:xfrm>
            </p:grpSpPr>
            <p:cxnSp>
              <p:nvCxnSpPr>
                <p:cNvPr id="32" name="直接连接符 31"/>
                <p:cNvCxnSpPr/>
                <p:nvPr/>
              </p:nvCxnSpPr>
              <p:spPr>
                <a:xfrm rot="5400000">
                  <a:off x="489515" y="4797412"/>
                  <a:ext cx="1021805" cy="199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 rot="5400000">
                  <a:off x="2275483" y="4795162"/>
                  <a:ext cx="1021805" cy="199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 rot="5400000">
                  <a:off x="1071832" y="4500196"/>
                  <a:ext cx="42987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 rot="5400000">
                  <a:off x="2286091" y="4499197"/>
                  <a:ext cx="429878" cy="199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 rot="5400000">
                  <a:off x="2159685" y="2912474"/>
                  <a:ext cx="970040" cy="199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58" name="组合 69"/>
                <p:cNvGrpSpPr/>
                <p:nvPr/>
              </p:nvGrpSpPr>
              <p:grpSpPr bwMode="auto">
                <a:xfrm>
                  <a:off x="1285852" y="2857496"/>
                  <a:ext cx="1357322" cy="1858976"/>
                  <a:chOff x="1500166" y="2857496"/>
                  <a:chExt cx="1357322" cy="1858976"/>
                </a:xfrm>
              </p:grpSpPr>
              <p:cxnSp>
                <p:nvCxnSpPr>
                  <p:cNvPr id="49" name="直接连接符 21"/>
                  <p:cNvCxnSpPr/>
                  <p:nvPr/>
                </p:nvCxnSpPr>
                <p:spPr>
                  <a:xfrm rot="10800000">
                    <a:off x="1501085" y="4715135"/>
                    <a:ext cx="213519" cy="2251"/>
                  </a:xfrm>
                  <a:prstGeom prst="line">
                    <a:avLst/>
                  </a:prstGeom>
                  <a:ln w="254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/>
                  <p:cNvCxnSpPr/>
                  <p:nvPr/>
                </p:nvCxnSpPr>
                <p:spPr>
                  <a:xfrm rot="10800000">
                    <a:off x="2644504" y="2856080"/>
                    <a:ext cx="213517" cy="2251"/>
                  </a:xfrm>
                  <a:prstGeom prst="line">
                    <a:avLst/>
                  </a:prstGeom>
                  <a:ln w="254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连接符 50"/>
                  <p:cNvCxnSpPr/>
                  <p:nvPr/>
                </p:nvCxnSpPr>
                <p:spPr>
                  <a:xfrm rot="5400000">
                    <a:off x="1250026" y="3320657"/>
                    <a:ext cx="1859055" cy="929900"/>
                  </a:xfrm>
                  <a:prstGeom prst="line">
                    <a:avLst/>
                  </a:prstGeom>
                  <a:ln w="254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59" name="组合 68"/>
                <p:cNvGrpSpPr/>
                <p:nvPr/>
              </p:nvGrpSpPr>
              <p:grpSpPr bwMode="auto">
                <a:xfrm>
                  <a:off x="1142976" y="2857496"/>
                  <a:ext cx="1357322" cy="1858976"/>
                  <a:chOff x="1357290" y="2857496"/>
                  <a:chExt cx="1357322" cy="1858976"/>
                </a:xfrm>
              </p:grpSpPr>
              <p:cxnSp>
                <p:nvCxnSpPr>
                  <p:cNvPr id="46" name="直接连接符 45"/>
                  <p:cNvCxnSpPr/>
                  <p:nvPr/>
                </p:nvCxnSpPr>
                <p:spPr>
                  <a:xfrm>
                    <a:off x="2500828" y="4715135"/>
                    <a:ext cx="213517" cy="2251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连接符 46"/>
                  <p:cNvCxnSpPr/>
                  <p:nvPr/>
                </p:nvCxnSpPr>
                <p:spPr>
                  <a:xfrm flipV="1">
                    <a:off x="1357409" y="2856080"/>
                    <a:ext cx="213519" cy="2251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接连接符 47"/>
                  <p:cNvCxnSpPr/>
                  <p:nvPr/>
                </p:nvCxnSpPr>
                <p:spPr>
                  <a:xfrm rot="16200000" flipH="1">
                    <a:off x="1106350" y="3320657"/>
                    <a:ext cx="1859055" cy="929900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" name="直接连接符 38"/>
                <p:cNvCxnSpPr/>
                <p:nvPr/>
              </p:nvCxnSpPr>
              <p:spPr>
                <a:xfrm rot="5400000">
                  <a:off x="659073" y="2912474"/>
                  <a:ext cx="970040" cy="199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椭圆 39"/>
                <p:cNvSpPr/>
                <p:nvPr/>
              </p:nvSpPr>
              <p:spPr>
                <a:xfrm>
                  <a:off x="1105182" y="2831322"/>
                  <a:ext cx="71838" cy="720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2605794" y="2824570"/>
                  <a:ext cx="71838" cy="720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4101" name="Object 3"/>
                <p:cNvGraphicFramePr>
                  <a:graphicFrameLocks noChangeAspect="1"/>
                </p:cNvGraphicFramePr>
                <p:nvPr/>
              </p:nvGraphicFramePr>
              <p:xfrm>
                <a:off x="640232" y="4507520"/>
                <a:ext cx="274636" cy="4270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0228" name="公式" r:id="rId17" imgW="139700" imgH="215900" progId="Equation.3">
                        <p:embed/>
                      </p:oleObj>
                    </mc:Choice>
                    <mc:Fallback>
                      <p:oleObj name="公式" r:id="rId17" imgW="139700" imgH="215900" progId="Equation.3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40232" y="4507520"/>
                              <a:ext cx="274636" cy="4270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02" name="Object 4"/>
                <p:cNvGraphicFramePr>
                  <a:graphicFrameLocks noChangeAspect="1"/>
                </p:cNvGraphicFramePr>
                <p:nvPr/>
              </p:nvGraphicFramePr>
              <p:xfrm>
                <a:off x="2856108" y="4479140"/>
                <a:ext cx="298450" cy="401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0229" name="公式" r:id="rId19" imgW="152400" imgH="203200" progId="Equation.3">
                        <p:embed/>
                      </p:oleObj>
                    </mc:Choice>
                    <mc:Fallback>
                      <p:oleObj name="公式" r:id="rId19" imgW="152400" imgH="203200" progId="Equation.3">
                        <p:embed/>
                        <p:pic>
                          <p:nvPicPr>
                            <p:cNvPr id="0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56108" y="4479140"/>
                              <a:ext cx="298450" cy="4016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03" name="Object 5"/>
                <p:cNvGraphicFramePr>
                  <a:graphicFrameLocks noChangeAspect="1"/>
                </p:cNvGraphicFramePr>
                <p:nvPr/>
              </p:nvGraphicFramePr>
              <p:xfrm>
                <a:off x="2500298" y="1928802"/>
                <a:ext cx="298450" cy="476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0230" name="公式" r:id="rId21" imgW="152400" imgH="241300" progId="Equation.3">
                        <p:embed/>
                      </p:oleObj>
                    </mc:Choice>
                    <mc:Fallback>
                      <p:oleObj name="公式" r:id="rId21" imgW="152400" imgH="241300" progId="Equation.3">
                        <p:embed/>
                        <p:pic>
                          <p:nvPicPr>
                            <p:cNvPr id="0" name="Object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0298" y="1928802"/>
                              <a:ext cx="298450" cy="4762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04" name="Object 6"/>
                <p:cNvGraphicFramePr>
                  <a:graphicFrameLocks noChangeAspect="1"/>
                </p:cNvGraphicFramePr>
                <p:nvPr/>
              </p:nvGraphicFramePr>
              <p:xfrm>
                <a:off x="989011" y="2012950"/>
                <a:ext cx="298450" cy="401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0231" name="公式" r:id="rId22" imgW="152400" imgH="203200" progId="Equation.3">
                        <p:embed/>
                      </p:oleObj>
                    </mc:Choice>
                    <mc:Fallback>
                      <p:oleObj name="公式" r:id="rId22" imgW="152400" imgH="203200" progId="Equation.3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89011" y="2012950"/>
                              <a:ext cx="298450" cy="401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7" name="直接连接符 6"/>
              <p:cNvCxnSpPr/>
              <p:nvPr/>
            </p:nvCxnSpPr>
            <p:spPr>
              <a:xfrm rot="5400000">
                <a:off x="442882" y="5227649"/>
                <a:ext cx="1973279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 rot="16200000" flipH="1">
                <a:off x="2874950" y="4478343"/>
                <a:ext cx="47307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rot="5400000">
                <a:off x="1531122" y="4391823"/>
                <a:ext cx="30321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rot="5400000">
                <a:off x="2720168" y="4391823"/>
                <a:ext cx="301627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rot="5400000">
                <a:off x="1443014" y="5370525"/>
                <a:ext cx="168752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rot="10800000" flipV="1">
                <a:off x="1677967" y="4540256"/>
                <a:ext cx="11874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099" name="Object 7"/>
              <p:cNvGraphicFramePr>
                <a:graphicFrameLocks noChangeAspect="1"/>
              </p:cNvGraphicFramePr>
              <p:nvPr/>
            </p:nvGraphicFramePr>
            <p:xfrm>
              <a:off x="1304925" y="6270646"/>
              <a:ext cx="254000" cy="230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32" name="公式" r:id="rId23" imgW="165100" imgH="165100" progId="Equation.3">
                      <p:embed/>
                    </p:oleObj>
                  </mc:Choice>
                  <mc:Fallback>
                    <p:oleObj name="公式" r:id="rId23" imgW="165100" imgH="1651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4925" y="6270646"/>
                            <a:ext cx="254000" cy="230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0" name="Object 9"/>
              <p:cNvGraphicFramePr>
                <a:graphicFrameLocks noChangeAspect="1"/>
              </p:cNvGraphicFramePr>
              <p:nvPr/>
            </p:nvGraphicFramePr>
            <p:xfrm>
              <a:off x="2097070" y="6253846"/>
              <a:ext cx="374650" cy="246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33" name="公式" r:id="rId25" imgW="241300" imgH="177800" progId="Equation.3">
                      <p:embed/>
                    </p:oleObj>
                  </mc:Choice>
                  <mc:Fallback>
                    <p:oleObj name="公式" r:id="rId25" imgW="241300" imgH="1778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97070" y="6253846"/>
                            <a:ext cx="374650" cy="246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7" name="直接连接符 16"/>
              <p:cNvCxnSpPr/>
              <p:nvPr/>
            </p:nvCxnSpPr>
            <p:spPr>
              <a:xfrm rot="10800000" flipV="1">
                <a:off x="1071538" y="3405185"/>
                <a:ext cx="2500330" cy="0"/>
              </a:xfrm>
              <a:prstGeom prst="line">
                <a:avLst/>
              </a:prstGeom>
              <a:ln w="254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6200000" flipH="1">
                <a:off x="2881300" y="5464189"/>
                <a:ext cx="47307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0800000">
                <a:off x="1428728" y="5702315"/>
                <a:ext cx="1687525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椭圆 75"/>
              <p:cNvSpPr/>
              <p:nvPr/>
            </p:nvSpPr>
            <p:spPr>
              <a:xfrm>
                <a:off x="1385865" y="5664214"/>
                <a:ext cx="71438" cy="714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252647" y="4513268"/>
                <a:ext cx="5715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121" name="组合 94"/>
            <p:cNvGrpSpPr/>
            <p:nvPr/>
          </p:nvGrpSpPr>
          <p:grpSpPr bwMode="auto">
            <a:xfrm>
              <a:off x="1223939" y="2285992"/>
              <a:ext cx="642942" cy="655180"/>
              <a:chOff x="1409678" y="3202448"/>
              <a:chExt cx="642942" cy="65518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1409702" y="3358031"/>
                <a:ext cx="642937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 bwMode="auto">
              <a:xfrm rot="16200000">
                <a:off x="1652589" y="3202456"/>
                <a:ext cx="144463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40" name="矩形 97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22" name="组合 98"/>
            <p:cNvGrpSpPr/>
            <p:nvPr/>
          </p:nvGrpSpPr>
          <p:grpSpPr bwMode="auto">
            <a:xfrm>
              <a:off x="2419335" y="2285992"/>
              <a:ext cx="642942" cy="655180"/>
              <a:chOff x="1409678" y="3202448"/>
              <a:chExt cx="642942" cy="655180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1409693" y="3358031"/>
                <a:ext cx="642938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 bwMode="auto">
              <a:xfrm rot="16200000">
                <a:off x="1652580" y="3202457"/>
                <a:ext cx="144463" cy="1444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37" name="矩形 101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23" name="组合 102"/>
            <p:cNvGrpSpPr/>
            <p:nvPr/>
          </p:nvGrpSpPr>
          <p:grpSpPr bwMode="auto">
            <a:xfrm>
              <a:off x="1104876" y="3631076"/>
              <a:ext cx="642942" cy="655180"/>
              <a:chOff x="1409678" y="3202448"/>
              <a:chExt cx="642942" cy="655180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1409702" y="3357560"/>
                <a:ext cx="642938" cy="5000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 bwMode="auto">
              <a:xfrm rot="16200000">
                <a:off x="1652590" y="3201985"/>
                <a:ext cx="144462" cy="1444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34" name="矩形 105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24" name="组合 106"/>
            <p:cNvGrpSpPr/>
            <p:nvPr/>
          </p:nvGrpSpPr>
          <p:grpSpPr bwMode="auto">
            <a:xfrm>
              <a:off x="2538398" y="3631076"/>
              <a:ext cx="642942" cy="655180"/>
              <a:chOff x="1409678" y="3202448"/>
              <a:chExt cx="642942" cy="655180"/>
            </a:xfrm>
          </p:grpSpPr>
          <p:sp>
            <p:nvSpPr>
              <p:cNvPr id="108" name="矩形 107"/>
              <p:cNvSpPr/>
              <p:nvPr/>
            </p:nvSpPr>
            <p:spPr>
              <a:xfrm>
                <a:off x="1409693" y="3357560"/>
                <a:ext cx="642937" cy="5000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椭圆 108"/>
              <p:cNvSpPr/>
              <p:nvPr/>
            </p:nvSpPr>
            <p:spPr bwMode="auto">
              <a:xfrm rot="16200000">
                <a:off x="1652581" y="3201984"/>
                <a:ext cx="144462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31" name="矩形 109"/>
              <p:cNvSpPr>
                <a:spLocks noChangeArrowheads="1"/>
              </p:cNvSpPr>
              <p:nvPr/>
            </p:nvSpPr>
            <p:spPr bwMode="auto">
              <a:xfrm>
                <a:off x="1518290" y="3429000"/>
                <a:ext cx="39145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＆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25" name="组合 110"/>
            <p:cNvGrpSpPr/>
            <p:nvPr/>
          </p:nvGrpSpPr>
          <p:grpSpPr bwMode="auto">
            <a:xfrm>
              <a:off x="2652699" y="4714884"/>
              <a:ext cx="642942" cy="655180"/>
              <a:chOff x="1409678" y="3202448"/>
              <a:chExt cx="642942" cy="655180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1409692" y="3358014"/>
                <a:ext cx="642937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 bwMode="auto">
              <a:xfrm rot="16200000">
                <a:off x="1652579" y="3202439"/>
                <a:ext cx="144463" cy="14446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8" name="矩形 113"/>
              <p:cNvSpPr>
                <a:spLocks noChangeArrowheads="1"/>
              </p:cNvSpPr>
              <p:nvPr/>
            </p:nvSpPr>
            <p:spPr bwMode="auto">
              <a:xfrm>
                <a:off x="1589148" y="3429000"/>
                <a:ext cx="28725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8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83"/>
          <p:cNvGrpSpPr/>
          <p:nvPr/>
        </p:nvGrpSpPr>
        <p:grpSpPr bwMode="auto">
          <a:xfrm>
            <a:off x="4500563" y="3155950"/>
            <a:ext cx="4429125" cy="1630363"/>
            <a:chOff x="4500562" y="3594774"/>
            <a:chExt cx="4429124" cy="2763184"/>
          </a:xfrm>
        </p:grpSpPr>
        <p:sp>
          <p:nvSpPr>
            <p:cNvPr id="181" name="矩形 180"/>
            <p:cNvSpPr/>
            <p:nvPr/>
          </p:nvSpPr>
          <p:spPr>
            <a:xfrm>
              <a:off x="4500562" y="4286243"/>
              <a:ext cx="4429124" cy="2071715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646" name="矩形 181"/>
            <p:cNvSpPr>
              <a:spLocks noChangeArrowheads="1"/>
            </p:cNvSpPr>
            <p:nvPr/>
          </p:nvSpPr>
          <p:spPr bwMode="auto">
            <a:xfrm>
              <a:off x="4572000" y="3594774"/>
              <a:ext cx="1418978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注意：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22531" name="Text Box 24"/>
          <p:cNvSpPr txBox="1">
            <a:spLocks noChangeArrowheads="1"/>
          </p:cNvSpPr>
          <p:nvPr/>
        </p:nvSpPr>
        <p:spPr bwMode="auto">
          <a:xfrm>
            <a:off x="500063" y="142875"/>
            <a:ext cx="4357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带有异步控制端的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68"/>
          <p:cNvGrpSpPr/>
          <p:nvPr/>
        </p:nvGrpSpPr>
        <p:grpSpPr bwMode="auto">
          <a:xfrm>
            <a:off x="1517650" y="2571750"/>
            <a:ext cx="3024188" cy="2249488"/>
            <a:chOff x="1518182" y="2572538"/>
            <a:chExt cx="3023652" cy="2249103"/>
          </a:xfrm>
        </p:grpSpPr>
        <p:graphicFrame>
          <p:nvGraphicFramePr>
            <p:cNvPr id="22635" name="Object 9"/>
            <p:cNvGraphicFramePr>
              <a:graphicFrameLocks noChangeAspect="1"/>
            </p:cNvGraphicFramePr>
            <p:nvPr/>
          </p:nvGraphicFramePr>
          <p:xfrm>
            <a:off x="4143372" y="2714620"/>
            <a:ext cx="398462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19" name="公式" r:id="rId1" imgW="203200" imgH="215900" progId="Equation.3">
                    <p:embed/>
                  </p:oleObj>
                </mc:Choice>
                <mc:Fallback>
                  <p:oleObj name="公式" r:id="rId1" imgW="2032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372" y="2714620"/>
                          <a:ext cx="398462" cy="350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36" name="组合 100"/>
            <p:cNvGrpSpPr/>
            <p:nvPr/>
          </p:nvGrpSpPr>
          <p:grpSpPr bwMode="auto">
            <a:xfrm>
              <a:off x="1518182" y="2572538"/>
              <a:ext cx="2625190" cy="2249103"/>
              <a:chOff x="1518182" y="2572538"/>
              <a:chExt cx="2625190" cy="2249103"/>
            </a:xfrm>
          </p:grpSpPr>
          <p:cxnSp>
            <p:nvCxnSpPr>
              <p:cNvPr id="72" name="直接连接符 71"/>
              <p:cNvCxnSpPr/>
              <p:nvPr/>
            </p:nvCxnSpPr>
            <p:spPr>
              <a:xfrm rot="16200000" flipH="1">
                <a:off x="1176927" y="4429596"/>
                <a:ext cx="714253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6200000" flipH="1">
                <a:off x="2981596" y="4435945"/>
                <a:ext cx="701555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5400000">
                <a:off x="2964138" y="2750308"/>
                <a:ext cx="357127" cy="158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rot="10800000">
                <a:off x="3149843" y="2929665"/>
                <a:ext cx="993599" cy="158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rot="10800000">
                <a:off x="1518182" y="4786722"/>
                <a:ext cx="2268136" cy="158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rot="5400000">
                <a:off x="2857789" y="3858194"/>
                <a:ext cx="1857057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椭圆 95"/>
              <p:cNvSpPr/>
              <p:nvPr/>
            </p:nvSpPr>
            <p:spPr>
              <a:xfrm>
                <a:off x="3286344" y="4762913"/>
                <a:ext cx="71425" cy="5872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3748225" y="2891571"/>
                <a:ext cx="90471" cy="825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5" name="组合 167"/>
          <p:cNvGrpSpPr/>
          <p:nvPr/>
        </p:nvGrpSpPr>
        <p:grpSpPr bwMode="auto">
          <a:xfrm>
            <a:off x="285750" y="2571750"/>
            <a:ext cx="2941638" cy="2020888"/>
            <a:chOff x="285720" y="2571744"/>
            <a:chExt cx="2941658" cy="2021297"/>
          </a:xfrm>
        </p:grpSpPr>
        <p:graphicFrame>
          <p:nvGraphicFramePr>
            <p:cNvPr id="22625" name="Object 8"/>
            <p:cNvGraphicFramePr>
              <a:graphicFrameLocks noChangeAspect="1"/>
            </p:cNvGraphicFramePr>
            <p:nvPr/>
          </p:nvGraphicFramePr>
          <p:xfrm>
            <a:off x="285720" y="2714620"/>
            <a:ext cx="374650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0" name="公式" r:id="rId3" imgW="190500" imgH="215900" progId="Equation.3">
                    <p:embed/>
                  </p:oleObj>
                </mc:Choice>
                <mc:Fallback>
                  <p:oleObj name="公式" r:id="rId3" imgW="1905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20" y="2714620"/>
                          <a:ext cx="374650" cy="350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26" name="组合 99"/>
            <p:cNvGrpSpPr/>
            <p:nvPr/>
          </p:nvGrpSpPr>
          <p:grpSpPr bwMode="auto">
            <a:xfrm>
              <a:off x="642910" y="2571744"/>
              <a:ext cx="2584468" cy="2021297"/>
              <a:chOff x="642910" y="2571744"/>
              <a:chExt cx="2584468" cy="2021297"/>
            </a:xfrm>
          </p:grpSpPr>
          <p:cxnSp>
            <p:nvCxnSpPr>
              <p:cNvPr id="71" name="直接连接符 70"/>
              <p:cNvCxnSpPr/>
              <p:nvPr/>
            </p:nvCxnSpPr>
            <p:spPr>
              <a:xfrm rot="5400000">
                <a:off x="1178647" y="4320729"/>
                <a:ext cx="500163" cy="3175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5400000">
                <a:off x="2983648" y="4328669"/>
                <a:ext cx="487461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5400000">
                <a:off x="179196" y="3749908"/>
                <a:ext cx="1643395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5400000">
                <a:off x="1465206" y="2749580"/>
                <a:ext cx="357260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0800000">
                <a:off x="642910" y="2929004"/>
                <a:ext cx="993782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rot="10800000">
                <a:off x="1000099" y="4572399"/>
                <a:ext cx="2214578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椭圆 88"/>
              <p:cNvSpPr/>
              <p:nvPr/>
            </p:nvSpPr>
            <p:spPr>
              <a:xfrm>
                <a:off x="1395390" y="4534291"/>
                <a:ext cx="71437" cy="5875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54062" y="2882957"/>
                <a:ext cx="90488" cy="8415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7" name="组合 101"/>
          <p:cNvGrpSpPr/>
          <p:nvPr/>
        </p:nvGrpSpPr>
        <p:grpSpPr bwMode="auto">
          <a:xfrm>
            <a:off x="1150938" y="642938"/>
            <a:ext cx="2579687" cy="6072187"/>
            <a:chOff x="1304925" y="1285855"/>
            <a:chExt cx="2052629" cy="5214979"/>
          </a:xfrm>
        </p:grpSpPr>
        <p:grpSp>
          <p:nvGrpSpPr>
            <p:cNvPr id="22562" name="组合 1"/>
            <p:cNvGrpSpPr/>
            <p:nvPr/>
          </p:nvGrpSpPr>
          <p:grpSpPr bwMode="auto">
            <a:xfrm>
              <a:off x="1428729" y="1285855"/>
              <a:ext cx="1714515" cy="2216878"/>
              <a:chOff x="819827" y="1928802"/>
              <a:chExt cx="2155139" cy="3142950"/>
            </a:xfrm>
          </p:grpSpPr>
          <p:grpSp>
            <p:nvGrpSpPr>
              <p:cNvPr id="22593" name="组合 20"/>
              <p:cNvGrpSpPr/>
              <p:nvPr/>
            </p:nvGrpSpPr>
            <p:grpSpPr bwMode="auto">
              <a:xfrm rot="-5400000">
                <a:off x="614053" y="3426337"/>
                <a:ext cx="1056078" cy="644530"/>
                <a:chOff x="856430" y="3429000"/>
                <a:chExt cx="1056078" cy="644530"/>
              </a:xfrm>
            </p:grpSpPr>
            <p:grpSp>
              <p:nvGrpSpPr>
                <p:cNvPr id="22619" name="组合 18"/>
                <p:cNvGrpSpPr/>
                <p:nvPr/>
              </p:nvGrpSpPr>
              <p:grpSpPr bwMode="auto">
                <a:xfrm>
                  <a:off x="856430" y="3429000"/>
                  <a:ext cx="858050" cy="644530"/>
                  <a:chOff x="856430" y="3286124"/>
                  <a:chExt cx="1429554" cy="787406"/>
                </a:xfrm>
              </p:grpSpPr>
              <p:sp>
                <p:nvSpPr>
                  <p:cNvPr id="162" name="弧形 161"/>
                  <p:cNvSpPr/>
                  <p:nvPr/>
                </p:nvSpPr>
                <p:spPr>
                  <a:xfrm>
                    <a:off x="1299717" y="3286103"/>
                    <a:ext cx="1001532" cy="785600"/>
                  </a:xfrm>
                  <a:prstGeom prst="arc">
                    <a:avLst>
                      <a:gd name="adj1" fmla="val 16200000"/>
                      <a:gd name="adj2" fmla="val 5524654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163" name="直接连接符 162"/>
                  <p:cNvCxnSpPr>
                    <a:endCxn id="162" idx="0"/>
                  </p:cNvCxnSpPr>
                  <p:nvPr/>
                </p:nvCxnSpPr>
                <p:spPr>
                  <a:xfrm>
                    <a:off x="871407" y="3286103"/>
                    <a:ext cx="930686" cy="193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直接连接符 34"/>
                  <p:cNvCxnSpPr/>
                  <p:nvPr/>
                </p:nvCxnSpPr>
                <p:spPr>
                  <a:xfrm>
                    <a:off x="871406" y="4071703"/>
                    <a:ext cx="930686" cy="194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直接连接符 35"/>
                  <p:cNvCxnSpPr/>
                  <p:nvPr/>
                </p:nvCxnSpPr>
                <p:spPr>
                  <a:xfrm rot="5400000">
                    <a:off x="413228" y="3679873"/>
                    <a:ext cx="787540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1" name="椭圆 160"/>
                <p:cNvSpPr/>
                <p:nvPr/>
              </p:nvSpPr>
              <p:spPr>
                <a:xfrm>
                  <a:off x="1737174" y="3668737"/>
                  <a:ext cx="175896" cy="1444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22594" name="组合 21"/>
              <p:cNvGrpSpPr/>
              <p:nvPr/>
            </p:nvGrpSpPr>
            <p:grpSpPr bwMode="auto">
              <a:xfrm rot="-5400000">
                <a:off x="2128746" y="3431918"/>
                <a:ext cx="1047909" cy="644530"/>
                <a:chOff x="856430" y="3429000"/>
                <a:chExt cx="1047909" cy="644530"/>
              </a:xfrm>
            </p:grpSpPr>
            <p:grpSp>
              <p:nvGrpSpPr>
                <p:cNvPr id="22613" name="组合 18"/>
                <p:cNvGrpSpPr/>
                <p:nvPr/>
              </p:nvGrpSpPr>
              <p:grpSpPr bwMode="auto">
                <a:xfrm>
                  <a:off x="856430" y="3429000"/>
                  <a:ext cx="858050" cy="644530"/>
                  <a:chOff x="856430" y="3286124"/>
                  <a:chExt cx="1429554" cy="787406"/>
                </a:xfrm>
              </p:grpSpPr>
              <p:sp>
                <p:nvSpPr>
                  <p:cNvPr id="156" name="弧形 24"/>
                  <p:cNvSpPr/>
                  <p:nvPr/>
                </p:nvSpPr>
                <p:spPr>
                  <a:xfrm>
                    <a:off x="1308651" y="3285334"/>
                    <a:ext cx="1049837" cy="785601"/>
                  </a:xfrm>
                  <a:prstGeom prst="arc">
                    <a:avLst>
                      <a:gd name="adj1" fmla="val 16200000"/>
                      <a:gd name="adj2" fmla="val 5524654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157" name="直接连接符 27"/>
                  <p:cNvCxnSpPr/>
                  <p:nvPr/>
                </p:nvCxnSpPr>
                <p:spPr>
                  <a:xfrm>
                    <a:off x="906106" y="3285335"/>
                    <a:ext cx="930685" cy="194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接连接符 28"/>
                  <p:cNvCxnSpPr/>
                  <p:nvPr/>
                </p:nvCxnSpPr>
                <p:spPr>
                  <a:xfrm>
                    <a:off x="906107" y="4070937"/>
                    <a:ext cx="930685" cy="193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直接连接符 29"/>
                  <p:cNvCxnSpPr/>
                  <p:nvPr/>
                </p:nvCxnSpPr>
                <p:spPr>
                  <a:xfrm rot="5400000">
                    <a:off x="447928" y="3640310"/>
                    <a:ext cx="787540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5" name="椭圆 154"/>
                <p:cNvSpPr/>
                <p:nvPr/>
              </p:nvSpPr>
              <p:spPr>
                <a:xfrm>
                  <a:off x="1758000" y="3668111"/>
                  <a:ext cx="175896" cy="1429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36" name="直接连接符 135"/>
              <p:cNvCxnSpPr/>
              <p:nvPr/>
            </p:nvCxnSpPr>
            <p:spPr>
              <a:xfrm rot="5400000">
                <a:off x="607636" y="4678572"/>
                <a:ext cx="784771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 rot="5400000">
                <a:off x="2392926" y="4677605"/>
                <a:ext cx="78670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33"/>
              <p:cNvCxnSpPr/>
              <p:nvPr/>
            </p:nvCxnSpPr>
            <p:spPr>
              <a:xfrm rot="5400000">
                <a:off x="1071267" y="4498809"/>
                <a:ext cx="429111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34"/>
              <p:cNvCxnSpPr/>
              <p:nvPr/>
            </p:nvCxnSpPr>
            <p:spPr>
              <a:xfrm rot="5400000">
                <a:off x="2285921" y="4498808"/>
                <a:ext cx="429111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rot="5400000">
                <a:off x="2250992" y="2821023"/>
                <a:ext cx="784771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600" name="组合 69"/>
              <p:cNvGrpSpPr/>
              <p:nvPr/>
            </p:nvGrpSpPr>
            <p:grpSpPr bwMode="auto">
              <a:xfrm>
                <a:off x="1285852" y="2857496"/>
                <a:ext cx="1357322" cy="1858976"/>
                <a:chOff x="1500166" y="2857496"/>
                <a:chExt cx="1357322" cy="1858976"/>
              </a:xfrm>
            </p:grpSpPr>
            <p:cxnSp>
              <p:nvCxnSpPr>
                <p:cNvPr id="151" name="直接连接符 21"/>
                <p:cNvCxnSpPr/>
                <p:nvPr/>
              </p:nvCxnSpPr>
              <p:spPr>
                <a:xfrm rot="10800000">
                  <a:off x="1469175" y="4716091"/>
                  <a:ext cx="244519" cy="193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 rot="10800000">
                  <a:off x="2642547" y="2858542"/>
                  <a:ext cx="214351" cy="193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rot="5400000">
                  <a:off x="1249346" y="3322889"/>
                  <a:ext cx="1857549" cy="92885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01" name="组合 68"/>
              <p:cNvGrpSpPr/>
              <p:nvPr/>
            </p:nvGrpSpPr>
            <p:grpSpPr bwMode="auto">
              <a:xfrm>
                <a:off x="1142976" y="2857496"/>
                <a:ext cx="1357322" cy="1858976"/>
                <a:chOff x="1357290" y="2857496"/>
                <a:chExt cx="1357322" cy="1858976"/>
              </a:xfrm>
            </p:grpSpPr>
            <p:cxnSp>
              <p:nvCxnSpPr>
                <p:cNvPr id="148" name="直接连接符 147"/>
                <p:cNvCxnSpPr/>
                <p:nvPr/>
              </p:nvCxnSpPr>
              <p:spPr>
                <a:xfrm>
                  <a:off x="2499647" y="4716091"/>
                  <a:ext cx="214351" cy="193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 flipV="1">
                  <a:off x="1326275" y="2858542"/>
                  <a:ext cx="214350" cy="193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 rot="16200000" flipH="1">
                  <a:off x="1091362" y="3307806"/>
                  <a:ext cx="1857549" cy="95902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3" name="直接连接符 142"/>
              <p:cNvCxnSpPr/>
              <p:nvPr/>
            </p:nvCxnSpPr>
            <p:spPr>
              <a:xfrm rot="5400000">
                <a:off x="750537" y="2821023"/>
                <a:ext cx="784771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椭圆 143"/>
              <p:cNvSpPr/>
              <p:nvPr/>
            </p:nvSpPr>
            <p:spPr>
              <a:xfrm>
                <a:off x="1104022" y="2831481"/>
                <a:ext cx="73038" cy="715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45" name="椭圆 40"/>
              <p:cNvSpPr/>
              <p:nvPr/>
            </p:nvSpPr>
            <p:spPr>
              <a:xfrm>
                <a:off x="2604477" y="2823749"/>
                <a:ext cx="71450" cy="715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22605" name="Object 10"/>
              <p:cNvGraphicFramePr>
                <a:graphicFrameLocks noChangeAspect="1"/>
              </p:cNvGraphicFramePr>
              <p:nvPr/>
            </p:nvGraphicFramePr>
            <p:xfrm>
              <a:off x="2500298" y="1928802"/>
              <a:ext cx="2984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21" name="公式" r:id="rId5" imgW="152400" imgH="241300" progId="Equation.3">
                      <p:embed/>
                    </p:oleObj>
                  </mc:Choice>
                  <mc:Fallback>
                    <p:oleObj name="公式" r:id="rId5" imgW="152400" imgH="2413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0298" y="1928802"/>
                            <a:ext cx="2984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606" name="Object 11"/>
              <p:cNvGraphicFramePr>
                <a:graphicFrameLocks noChangeAspect="1"/>
              </p:cNvGraphicFramePr>
              <p:nvPr/>
            </p:nvGraphicFramePr>
            <p:xfrm>
              <a:off x="989011" y="2012950"/>
              <a:ext cx="298450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22" name="公式" r:id="rId7" imgW="152400" imgH="203200" progId="Equation.3">
                      <p:embed/>
                    </p:oleObj>
                  </mc:Choice>
                  <mc:Fallback>
                    <p:oleObj name="公式" r:id="rId7" imgW="152400" imgH="2032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89011" y="2012950"/>
                            <a:ext cx="298450" cy="401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563" name="组合 20"/>
            <p:cNvGrpSpPr/>
            <p:nvPr/>
          </p:nvGrpSpPr>
          <p:grpSpPr bwMode="auto">
            <a:xfrm rot="-5400000">
              <a:off x="1203905" y="3606160"/>
              <a:ext cx="743357" cy="512754"/>
              <a:chOff x="856430" y="3429000"/>
              <a:chExt cx="1053883" cy="644530"/>
            </a:xfrm>
          </p:grpSpPr>
          <p:grpSp>
            <p:nvGrpSpPr>
              <p:cNvPr id="22587" name="组合 18"/>
              <p:cNvGrpSpPr/>
              <p:nvPr/>
            </p:nvGrpSpPr>
            <p:grpSpPr bwMode="auto">
              <a:xfrm>
                <a:off x="856430" y="3429000"/>
                <a:ext cx="858050" cy="644530"/>
                <a:chOff x="856430" y="3286124"/>
                <a:chExt cx="1429554" cy="787406"/>
              </a:xfrm>
            </p:grpSpPr>
            <p:sp>
              <p:nvSpPr>
                <p:cNvPr id="130" name="弧形 129"/>
                <p:cNvSpPr/>
                <p:nvPr/>
              </p:nvSpPr>
              <p:spPr>
                <a:xfrm>
                  <a:off x="1308944" y="3285530"/>
                  <a:ext cx="1046617" cy="785601"/>
                </a:xfrm>
                <a:prstGeom prst="arc">
                  <a:avLst>
                    <a:gd name="adj1" fmla="val 16200000"/>
                    <a:gd name="adj2" fmla="val 5524654"/>
                  </a:avLst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cxnSp>
              <p:nvCxnSpPr>
                <p:cNvPr id="131" name="直接连接符 130"/>
                <p:cNvCxnSpPr>
                  <a:endCxn id="130" idx="0"/>
                </p:cNvCxnSpPr>
                <p:nvPr/>
              </p:nvCxnSpPr>
              <p:spPr>
                <a:xfrm>
                  <a:off x="854875" y="3285530"/>
                  <a:ext cx="927462" cy="194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27"/>
                <p:cNvCxnSpPr/>
                <p:nvPr/>
              </p:nvCxnSpPr>
              <p:spPr>
                <a:xfrm>
                  <a:off x="854876" y="4071131"/>
                  <a:ext cx="927462" cy="193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 rot="5400000">
                  <a:off x="461105" y="3679300"/>
                  <a:ext cx="78754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椭圆 128"/>
              <p:cNvSpPr/>
              <p:nvPr/>
            </p:nvSpPr>
            <p:spPr>
              <a:xfrm>
                <a:off x="1763974" y="3668270"/>
                <a:ext cx="175896" cy="1429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05" name="直接连接符 104"/>
            <p:cNvCxnSpPr/>
            <p:nvPr/>
          </p:nvCxnSpPr>
          <p:spPr>
            <a:xfrm rot="5400000">
              <a:off x="442931" y="5227475"/>
              <a:ext cx="1972830" cy="126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>
              <a:endCxn id="120" idx="7"/>
            </p:cNvCxnSpPr>
            <p:nvPr/>
          </p:nvCxnSpPr>
          <p:spPr>
            <a:xfrm rot="16200000" flipH="1">
              <a:off x="2764255" y="4588676"/>
              <a:ext cx="69396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rot="5400000">
              <a:off x="1531903" y="4391033"/>
              <a:ext cx="302673" cy="12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rot="5400000">
              <a:off x="2719952" y="4391715"/>
              <a:ext cx="301309" cy="12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rot="5400000">
              <a:off x="1443770" y="5370632"/>
              <a:ext cx="1686517" cy="12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rot="10800000" flipV="1">
              <a:off x="1677556" y="4538911"/>
              <a:ext cx="118736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70" name="组合 20"/>
            <p:cNvGrpSpPr/>
            <p:nvPr/>
          </p:nvGrpSpPr>
          <p:grpSpPr bwMode="auto">
            <a:xfrm rot="-5400000">
              <a:off x="2627196" y="3615576"/>
              <a:ext cx="738442" cy="512754"/>
              <a:chOff x="856430" y="3429000"/>
              <a:chExt cx="1046914" cy="644530"/>
            </a:xfrm>
          </p:grpSpPr>
          <p:grpSp>
            <p:nvGrpSpPr>
              <p:cNvPr id="22581" name="组合 18"/>
              <p:cNvGrpSpPr/>
              <p:nvPr/>
            </p:nvGrpSpPr>
            <p:grpSpPr bwMode="auto">
              <a:xfrm>
                <a:off x="856430" y="3429000"/>
                <a:ext cx="858050" cy="644530"/>
                <a:chOff x="856430" y="3286124"/>
                <a:chExt cx="1429554" cy="787406"/>
              </a:xfrm>
            </p:grpSpPr>
            <p:sp>
              <p:nvSpPr>
                <p:cNvPr id="124" name="弧形 123"/>
                <p:cNvSpPr/>
                <p:nvPr/>
              </p:nvSpPr>
              <p:spPr>
                <a:xfrm>
                  <a:off x="1283514" y="3285864"/>
                  <a:ext cx="998310" cy="785600"/>
                </a:xfrm>
                <a:prstGeom prst="arc">
                  <a:avLst>
                    <a:gd name="adj1" fmla="val 16200000"/>
                    <a:gd name="adj2" fmla="val 5524654"/>
                  </a:avLst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cxnSp>
              <p:nvCxnSpPr>
                <p:cNvPr id="125" name="直接连接符 124"/>
                <p:cNvCxnSpPr>
                  <a:endCxn id="124" idx="0"/>
                </p:cNvCxnSpPr>
                <p:nvPr/>
              </p:nvCxnSpPr>
              <p:spPr>
                <a:xfrm>
                  <a:off x="855207" y="3285865"/>
                  <a:ext cx="927462" cy="193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21"/>
                <p:cNvCxnSpPr/>
                <p:nvPr/>
              </p:nvCxnSpPr>
              <p:spPr>
                <a:xfrm>
                  <a:off x="855206" y="4071464"/>
                  <a:ext cx="927462" cy="194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 rot="5400000">
                  <a:off x="461436" y="3679635"/>
                  <a:ext cx="78754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3" name="椭圆 122"/>
              <p:cNvSpPr/>
              <p:nvPr/>
            </p:nvSpPr>
            <p:spPr>
              <a:xfrm>
                <a:off x="1748709" y="3668542"/>
                <a:ext cx="175897" cy="1444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aphicFrame>
          <p:nvGraphicFramePr>
            <p:cNvPr id="22571" name="Object 12"/>
            <p:cNvGraphicFramePr>
              <a:graphicFrameLocks noChangeAspect="1"/>
            </p:cNvGraphicFramePr>
            <p:nvPr/>
          </p:nvGraphicFramePr>
          <p:xfrm>
            <a:off x="1304925" y="6270646"/>
            <a:ext cx="254000" cy="230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3" name="公式" r:id="rId9" imgW="165100" imgH="165100" progId="Equation.3">
                    <p:embed/>
                  </p:oleObj>
                </mc:Choice>
                <mc:Fallback>
                  <p:oleObj name="公式" r:id="rId9" imgW="165100" imgH="1651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925" y="6270646"/>
                          <a:ext cx="254000" cy="230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2" name="Object 13"/>
            <p:cNvGraphicFramePr>
              <a:graphicFrameLocks noChangeAspect="1"/>
            </p:cNvGraphicFramePr>
            <p:nvPr/>
          </p:nvGraphicFramePr>
          <p:xfrm>
            <a:off x="2097070" y="6253846"/>
            <a:ext cx="374650" cy="246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4" name="公式" r:id="rId11" imgW="241300" imgH="177800" progId="Equation.3">
                    <p:embed/>
                  </p:oleObj>
                </mc:Choice>
                <mc:Fallback>
                  <p:oleObj name="公式" r:id="rId11" imgW="241300" imgH="177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7070" y="6253846"/>
                          <a:ext cx="374650" cy="246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4" name="直接连接符 113"/>
            <p:cNvCxnSpPr/>
            <p:nvPr/>
          </p:nvCxnSpPr>
          <p:spPr>
            <a:xfrm rot="10800000">
              <a:off x="1355451" y="3433199"/>
              <a:ext cx="1932630" cy="1364"/>
            </a:xfrm>
            <a:prstGeom prst="line">
              <a:avLst/>
            </a:prstGeom>
            <a:ln w="254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74" name="组合 68"/>
            <p:cNvGrpSpPr/>
            <p:nvPr/>
          </p:nvGrpSpPr>
          <p:grpSpPr bwMode="auto">
            <a:xfrm>
              <a:off x="2857488" y="4920370"/>
              <a:ext cx="500066" cy="537468"/>
              <a:chOff x="2870188" y="5012446"/>
              <a:chExt cx="500066" cy="53746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3072149" y="5011374"/>
                <a:ext cx="107369" cy="1077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21" name="等腰三角形 120"/>
              <p:cNvSpPr/>
              <p:nvPr/>
            </p:nvSpPr>
            <p:spPr>
              <a:xfrm>
                <a:off x="2870044" y="5120446"/>
                <a:ext cx="500210" cy="429469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16" name="直接连接符 115"/>
            <p:cNvCxnSpPr/>
            <p:nvPr/>
          </p:nvCxnSpPr>
          <p:spPr>
            <a:xfrm rot="16200000" flipH="1">
              <a:off x="2996212" y="5579181"/>
              <a:ext cx="242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rot="10800000">
              <a:off x="1428714" y="5701886"/>
              <a:ext cx="1687577" cy="1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>
            <a:xfrm>
              <a:off x="1385767" y="5663711"/>
              <a:ext cx="72000" cy="7226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2252292" y="4513007"/>
              <a:ext cx="56842" cy="5044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20" name="组合 173"/>
          <p:cNvGrpSpPr/>
          <p:nvPr/>
        </p:nvGrpSpPr>
        <p:grpSpPr bwMode="auto">
          <a:xfrm>
            <a:off x="5589588" y="1000125"/>
            <a:ext cx="2697162" cy="1000125"/>
            <a:chOff x="5589613" y="1214438"/>
            <a:chExt cx="2697163" cy="1000125"/>
          </a:xfrm>
        </p:grpSpPr>
        <p:graphicFrame>
          <p:nvGraphicFramePr>
            <p:cNvPr id="22560" name="Object 14"/>
            <p:cNvGraphicFramePr>
              <a:graphicFrameLocks noChangeAspect="1"/>
            </p:cNvGraphicFramePr>
            <p:nvPr/>
          </p:nvGraphicFramePr>
          <p:xfrm>
            <a:off x="5595938" y="1214438"/>
            <a:ext cx="2676525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5" name="公式" r:id="rId13" imgW="1066800" imgH="241300" progId="Equation.3">
                    <p:embed/>
                  </p:oleObj>
                </mc:Choice>
                <mc:Fallback>
                  <p:oleObj name="公式" r:id="rId13" imgW="1066800" imgH="241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5938" y="1214438"/>
                          <a:ext cx="2676525" cy="50006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1" name="Object 15"/>
            <p:cNvGraphicFramePr>
              <a:graphicFrameLocks noChangeAspect="1"/>
            </p:cNvGraphicFramePr>
            <p:nvPr/>
          </p:nvGraphicFramePr>
          <p:xfrm>
            <a:off x="5589613" y="1752600"/>
            <a:ext cx="2697163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6" name="公式" r:id="rId15" imgW="1168400" imgH="241300" progId="Equation.3">
                    <p:embed/>
                  </p:oleObj>
                </mc:Choice>
                <mc:Fallback>
                  <p:oleObj name="公式" r:id="rId15" imgW="1168400" imgH="241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9613" y="1752600"/>
                          <a:ext cx="2697163" cy="4619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174"/>
          <p:cNvGrpSpPr/>
          <p:nvPr/>
        </p:nvGrpSpPr>
        <p:grpSpPr bwMode="auto">
          <a:xfrm>
            <a:off x="5572125" y="2143125"/>
            <a:ext cx="2697163" cy="1000125"/>
            <a:chOff x="5572132" y="2357437"/>
            <a:chExt cx="2697162" cy="1000125"/>
          </a:xfrm>
        </p:grpSpPr>
        <p:graphicFrame>
          <p:nvGraphicFramePr>
            <p:cNvPr id="22558" name="Object 16"/>
            <p:cNvGraphicFramePr>
              <a:graphicFrameLocks noChangeAspect="1"/>
            </p:cNvGraphicFramePr>
            <p:nvPr/>
          </p:nvGraphicFramePr>
          <p:xfrm>
            <a:off x="5578482" y="2357437"/>
            <a:ext cx="2676525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7" name="公式" r:id="rId17" imgW="1066800" imgH="241300" progId="Equation.3">
                    <p:embed/>
                  </p:oleObj>
                </mc:Choice>
                <mc:Fallback>
                  <p:oleObj name="公式" r:id="rId17" imgW="1066800" imgH="2413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8482" y="2357437"/>
                          <a:ext cx="2676525" cy="500062"/>
                        </a:xfrm>
                        <a:prstGeom prst="rect">
                          <a:avLst/>
                        </a:prstGeom>
                        <a:solidFill>
                          <a:srgbClr val="FF66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9" name="Object 17"/>
            <p:cNvGraphicFramePr>
              <a:graphicFrameLocks noChangeAspect="1"/>
            </p:cNvGraphicFramePr>
            <p:nvPr/>
          </p:nvGraphicFramePr>
          <p:xfrm>
            <a:off x="5572132" y="2895599"/>
            <a:ext cx="269716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28" name="公式" r:id="rId19" imgW="1168400" imgH="241300" progId="Equation.3">
                    <p:embed/>
                  </p:oleObj>
                </mc:Choice>
                <mc:Fallback>
                  <p:oleObj name="公式" r:id="rId19" imgW="1168400" imgH="2413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2895599"/>
                          <a:ext cx="2697162" cy="461963"/>
                        </a:xfrm>
                        <a:prstGeom prst="rect">
                          <a:avLst/>
                        </a:prstGeom>
                        <a:solidFill>
                          <a:srgbClr val="FF66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6" name="矩形 175"/>
          <p:cNvSpPr>
            <a:spLocks noChangeArrowheads="1"/>
          </p:cNvSpPr>
          <p:nvPr/>
        </p:nvSpPr>
        <p:spPr bwMode="auto">
          <a:xfrm>
            <a:off x="5392738" y="500063"/>
            <a:ext cx="2965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异步控制端的功能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aphicFrame>
        <p:nvGraphicFramePr>
          <p:cNvPr id="38930" name="Object 18"/>
          <p:cNvGraphicFramePr>
            <a:graphicFrameLocks noChangeAspect="1"/>
          </p:cNvGraphicFramePr>
          <p:nvPr/>
        </p:nvGraphicFramePr>
        <p:xfrm>
          <a:off x="4714875" y="3714750"/>
          <a:ext cx="41433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9" name="公式" r:id="rId21" imgW="1651000" imgH="241300" progId="Equation.3">
                  <p:embed/>
                </p:oleObj>
              </mc:Choice>
              <mc:Fallback>
                <p:oleObj name="公式" r:id="rId21" imgW="1651000" imgH="241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3714750"/>
                        <a:ext cx="41433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4683125" y="4214813"/>
          <a:ext cx="39195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0" name="公式" r:id="rId23" imgW="1562100" imgH="241300" progId="Equation.3">
                  <p:embed/>
                </p:oleObj>
              </mc:Choice>
              <mc:Fallback>
                <p:oleObj name="公式" r:id="rId23" imgW="1562100" imgH="241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4214813"/>
                        <a:ext cx="391953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矩形 100"/>
          <p:cNvSpPr>
            <a:spLocks noChangeArrowheads="1"/>
          </p:cNvSpPr>
          <p:nvPr/>
        </p:nvSpPr>
        <p:spPr bwMode="auto">
          <a:xfrm>
            <a:off x="4557713" y="4895850"/>
            <a:ext cx="172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逻辑符号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22" name="组合 101"/>
          <p:cNvGrpSpPr/>
          <p:nvPr/>
        </p:nvGrpSpPr>
        <p:grpSpPr bwMode="auto">
          <a:xfrm>
            <a:off x="5929313" y="5000625"/>
            <a:ext cx="2286000" cy="1785938"/>
            <a:chOff x="4799015" y="4071943"/>
            <a:chExt cx="2474929" cy="1928826"/>
          </a:xfrm>
        </p:grpSpPr>
        <p:graphicFrame>
          <p:nvGraphicFramePr>
            <p:cNvPr id="22542" name="Object 101"/>
            <p:cNvGraphicFramePr>
              <a:graphicFrameLocks noChangeAspect="1"/>
            </p:cNvGraphicFramePr>
            <p:nvPr/>
          </p:nvGraphicFramePr>
          <p:xfrm>
            <a:off x="6286512" y="4572008"/>
            <a:ext cx="238125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1" name="公式" r:id="rId25" imgW="152400" imgH="241300" progId="Equation.3">
                    <p:embed/>
                  </p:oleObj>
                </mc:Choice>
                <mc:Fallback>
                  <p:oleObj name="公式" r:id="rId25" imgW="152400" imgH="241300" progId="Equation.3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6512" y="4572008"/>
                          <a:ext cx="238125" cy="373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102"/>
            <p:cNvGraphicFramePr>
              <a:graphicFrameLocks noChangeAspect="1"/>
            </p:cNvGraphicFramePr>
            <p:nvPr/>
          </p:nvGraphicFramePr>
          <p:xfrm>
            <a:off x="5572132" y="4614873"/>
            <a:ext cx="236537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2" name="公式" r:id="rId26" imgW="152400" imgH="203200" progId="Equation.3">
                    <p:embed/>
                  </p:oleObj>
                </mc:Choice>
                <mc:Fallback>
                  <p:oleObj name="公式" r:id="rId26" imgW="152400" imgH="203200" progId="Equation.3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614873"/>
                          <a:ext cx="236537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" name="矩形 110"/>
            <p:cNvSpPr/>
            <p:nvPr/>
          </p:nvSpPr>
          <p:spPr>
            <a:xfrm>
              <a:off x="5287126" y="4572580"/>
              <a:ext cx="1498707" cy="10715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aphicFrame>
          <p:nvGraphicFramePr>
            <p:cNvPr id="22545" name="Object 103"/>
            <p:cNvGraphicFramePr>
              <a:graphicFrameLocks noChangeAspect="1"/>
            </p:cNvGraphicFramePr>
            <p:nvPr/>
          </p:nvGraphicFramePr>
          <p:xfrm>
            <a:off x="5562600" y="5314950"/>
            <a:ext cx="255588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3" name="公式" r:id="rId27" imgW="165100" imgH="165100" progId="Equation.3">
                    <p:embed/>
                  </p:oleObj>
                </mc:Choice>
                <mc:Fallback>
                  <p:oleObj name="公式" r:id="rId27" imgW="165100" imgH="165100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5314950"/>
                          <a:ext cx="255588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04"/>
            <p:cNvGraphicFramePr>
              <a:graphicFrameLocks noChangeAspect="1"/>
            </p:cNvGraphicFramePr>
            <p:nvPr/>
          </p:nvGraphicFramePr>
          <p:xfrm>
            <a:off x="5910263" y="5305425"/>
            <a:ext cx="37465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4" name="公式" r:id="rId29" imgW="241300" imgH="177800" progId="Equation.3">
                    <p:embed/>
                  </p:oleObj>
                </mc:Choice>
                <mc:Fallback>
                  <p:oleObj name="公式" r:id="rId29" imgW="241300" imgH="177800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0263" y="5305425"/>
                          <a:ext cx="374650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" name="椭圆 114"/>
            <p:cNvSpPr/>
            <p:nvPr/>
          </p:nvSpPr>
          <p:spPr bwMode="auto">
            <a:xfrm rot="16200000">
              <a:off x="6346019" y="4433532"/>
              <a:ext cx="142304" cy="1426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22" name="直接连接符 121"/>
            <p:cNvCxnSpPr/>
            <p:nvPr/>
          </p:nvCxnSpPr>
          <p:spPr bwMode="auto">
            <a:xfrm rot="16200000" flipH="1">
              <a:off x="6258610" y="4243394"/>
              <a:ext cx="3429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 bwMode="auto">
            <a:xfrm rot="5400000">
              <a:off x="5465447" y="5821600"/>
              <a:ext cx="356618" cy="17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 bwMode="auto">
            <a:xfrm rot="16200000" flipH="1">
              <a:off x="5895982" y="5822460"/>
              <a:ext cx="3566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 bwMode="auto">
            <a:xfrm rot="5400000">
              <a:off x="5465620" y="4321405"/>
              <a:ext cx="49892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552" name="Object 105"/>
            <p:cNvGraphicFramePr>
              <a:graphicFrameLocks noChangeAspect="1"/>
            </p:cNvGraphicFramePr>
            <p:nvPr/>
          </p:nvGraphicFramePr>
          <p:xfrm>
            <a:off x="5357818" y="4929198"/>
            <a:ext cx="357190" cy="378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5" name="公式" r:id="rId31" imgW="203200" imgH="215900" progId="Equation.3">
                    <p:embed/>
                  </p:oleObj>
                </mc:Choice>
                <mc:Fallback>
                  <p:oleObj name="公式" r:id="rId31" imgW="203200" imgH="215900" progId="Equation.3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7818" y="4929198"/>
                          <a:ext cx="357190" cy="378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3" name="Object 106"/>
            <p:cNvGraphicFramePr>
              <a:graphicFrameLocks noChangeAspect="1"/>
            </p:cNvGraphicFramePr>
            <p:nvPr/>
          </p:nvGraphicFramePr>
          <p:xfrm>
            <a:off x="6345435" y="4929198"/>
            <a:ext cx="360165" cy="406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6" name="公式" r:id="rId33" imgW="190500" imgH="215900" progId="Equation.3">
                    <p:embed/>
                  </p:oleObj>
                </mc:Choice>
                <mc:Fallback>
                  <p:oleObj name="公式" r:id="rId33" imgW="190500" imgH="215900" progId="Equation.3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5435" y="4929198"/>
                          <a:ext cx="360165" cy="406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" name="椭圆 145"/>
            <p:cNvSpPr/>
            <p:nvPr/>
          </p:nvSpPr>
          <p:spPr bwMode="auto">
            <a:xfrm rot="16200000">
              <a:off x="6786866" y="5049896"/>
              <a:ext cx="142304" cy="14437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 bwMode="auto">
            <a:xfrm rot="16200000">
              <a:off x="5143789" y="5046467"/>
              <a:ext cx="142304" cy="14437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4" name="直接连接符 153"/>
            <p:cNvCxnSpPr/>
            <p:nvPr/>
          </p:nvCxnSpPr>
          <p:spPr bwMode="auto">
            <a:xfrm rot="10800000" flipV="1">
              <a:off x="4799015" y="5131511"/>
              <a:ext cx="32999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 bwMode="auto">
            <a:xfrm rot="10800000" flipV="1">
              <a:off x="6943953" y="5131511"/>
              <a:ext cx="32999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2"/>
          <p:cNvGrpSpPr/>
          <p:nvPr/>
        </p:nvGrpSpPr>
        <p:grpSpPr bwMode="auto">
          <a:xfrm>
            <a:off x="857250" y="1071563"/>
            <a:ext cx="2581275" cy="4981575"/>
            <a:chOff x="857250" y="1071563"/>
            <a:chExt cx="2581275" cy="4981575"/>
          </a:xfrm>
        </p:grpSpPr>
        <p:grpSp>
          <p:nvGrpSpPr>
            <p:cNvPr id="26635" name="组合 28"/>
            <p:cNvGrpSpPr/>
            <p:nvPr/>
          </p:nvGrpSpPr>
          <p:grpSpPr bwMode="auto">
            <a:xfrm>
              <a:off x="857250" y="1071563"/>
              <a:ext cx="2581275" cy="4981575"/>
              <a:chOff x="857250" y="1071563"/>
              <a:chExt cx="2581275" cy="4981575"/>
            </a:xfrm>
          </p:grpSpPr>
          <p:pic>
            <p:nvPicPr>
              <p:cNvPr id="26639" name="Picture 2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250" y="1071563"/>
                <a:ext cx="2581275" cy="4981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椭圆 12"/>
              <p:cNvSpPr/>
              <p:nvPr/>
            </p:nvSpPr>
            <p:spPr>
              <a:xfrm>
                <a:off x="2862263" y="1817688"/>
                <a:ext cx="73025" cy="714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62263" y="2343150"/>
                <a:ext cx="73025" cy="7143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2862263" y="2859088"/>
                <a:ext cx="73025" cy="714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2862263" y="3370263"/>
                <a:ext cx="73025" cy="714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2871788" y="3886200"/>
                <a:ext cx="71437" cy="7302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2871788" y="4411663"/>
                <a:ext cx="71437" cy="714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871788" y="4929188"/>
                <a:ext cx="71437" cy="714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2871788" y="5438775"/>
                <a:ext cx="71437" cy="7143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2520950" y="1743075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2520950" y="2260600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2520950" y="2778125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520950" y="3294063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2522538" y="3817938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2522538" y="4330700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2522538" y="4846638"/>
                <a:ext cx="53975" cy="53975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1887538" y="1123950"/>
              <a:ext cx="287337" cy="360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178050" y="1268413"/>
              <a:ext cx="73025" cy="7302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8" name="矩形 31"/>
            <p:cNvSpPr>
              <a:spLocks noChangeArrowheads="1"/>
            </p:cNvSpPr>
            <p:nvPr/>
          </p:nvSpPr>
          <p:spPr bwMode="auto">
            <a:xfrm>
              <a:off x="1907704" y="1124744"/>
              <a:ext cx="2616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27" name="Text Box 24"/>
          <p:cNvSpPr txBox="1">
            <a:spLocks noChangeArrowheads="1"/>
          </p:cNvSpPr>
          <p:nvPr/>
        </p:nvSpPr>
        <p:spPr bwMode="auto">
          <a:xfrm>
            <a:off x="500063" y="180975"/>
            <a:ext cx="435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集成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锁存器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74LS373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6"/>
          <p:cNvGrpSpPr/>
          <p:nvPr/>
        </p:nvGrpSpPr>
        <p:grpSpPr bwMode="auto">
          <a:xfrm>
            <a:off x="1357313" y="6081713"/>
            <a:ext cx="4897437" cy="642937"/>
            <a:chOff x="1785918" y="2714620"/>
            <a:chExt cx="4896798" cy="642942"/>
          </a:xfrm>
        </p:grpSpPr>
        <p:sp>
          <p:nvSpPr>
            <p:cNvPr id="7" name="圆角矩形标注 6"/>
            <p:cNvSpPr/>
            <p:nvPr/>
          </p:nvSpPr>
          <p:spPr>
            <a:xfrm>
              <a:off x="1785918" y="2714620"/>
              <a:ext cx="4857116" cy="642942"/>
            </a:xfrm>
            <a:prstGeom prst="wedgeRoundRectCallout">
              <a:avLst>
                <a:gd name="adj1" fmla="val -52597"/>
                <a:gd name="adj2" fmla="val -94042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4" name="矩形 5"/>
            <p:cNvSpPr>
              <a:spLocks noChangeArrowheads="1"/>
            </p:cNvSpPr>
            <p:nvPr/>
          </p:nvSpPr>
          <p:spPr bwMode="auto">
            <a:xfrm>
              <a:off x="1857356" y="2786058"/>
              <a:ext cx="48253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作用：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高电平接收，低电平锁存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10"/>
          <p:cNvGrpSpPr/>
          <p:nvPr/>
        </p:nvGrpSpPr>
        <p:grpSpPr bwMode="auto">
          <a:xfrm>
            <a:off x="3143250" y="285750"/>
            <a:ext cx="5514975" cy="642938"/>
            <a:chOff x="1938318" y="3357562"/>
            <a:chExt cx="5515557" cy="642942"/>
          </a:xfrm>
        </p:grpSpPr>
        <p:sp>
          <p:nvSpPr>
            <p:cNvPr id="10" name="圆角矩形标注 9"/>
            <p:cNvSpPr/>
            <p:nvPr/>
          </p:nvSpPr>
          <p:spPr>
            <a:xfrm>
              <a:off x="1938318" y="3357562"/>
              <a:ext cx="5348852" cy="642942"/>
            </a:xfrm>
            <a:prstGeom prst="wedgeRoundRectCallout">
              <a:avLst>
                <a:gd name="adj1" fmla="val -79821"/>
                <a:gd name="adj2" fmla="val 107439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2" name="矩形 9"/>
            <p:cNvSpPr>
              <a:spLocks noChangeArrowheads="1"/>
            </p:cNvSpPr>
            <p:nvPr/>
          </p:nvSpPr>
          <p:spPr bwMode="auto">
            <a:xfrm>
              <a:off x="2009756" y="3429000"/>
              <a:ext cx="54441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作用：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控制三态门输出，低电平有效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071688"/>
            <a:ext cx="4572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33"/>
          <p:cNvGrpSpPr/>
          <p:nvPr/>
        </p:nvGrpSpPr>
        <p:grpSpPr bwMode="auto">
          <a:xfrm>
            <a:off x="3357563" y="285750"/>
            <a:ext cx="2286000" cy="2857500"/>
            <a:chOff x="2214546" y="1000108"/>
            <a:chExt cx="2286016" cy="2857520"/>
          </a:xfrm>
        </p:grpSpPr>
        <p:sp>
          <p:nvSpPr>
            <p:cNvPr id="2" name="矩形 1"/>
            <p:cNvSpPr/>
            <p:nvPr/>
          </p:nvSpPr>
          <p:spPr>
            <a:xfrm>
              <a:off x="2643174" y="1357299"/>
              <a:ext cx="1428760" cy="250032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19" name="矩形 2"/>
            <p:cNvSpPr>
              <a:spLocks noChangeArrowheads="1"/>
            </p:cNvSpPr>
            <p:nvPr/>
          </p:nvSpPr>
          <p:spPr bwMode="auto">
            <a:xfrm>
              <a:off x="2643174" y="1357298"/>
              <a:ext cx="401072" cy="222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aseline="-25000">
                <a:solidFill>
                  <a:srgbClr val="0000FF"/>
                </a:solidFill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2214546" y="1522400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214546" y="1785927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214546" y="2020878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2214546" y="2284405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2214546" y="2522532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2214546" y="2786059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214546" y="3022597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214546" y="328612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28" name="矩形 18"/>
            <p:cNvSpPr>
              <a:spLocks noChangeArrowheads="1"/>
            </p:cNvSpPr>
            <p:nvPr/>
          </p:nvSpPr>
          <p:spPr bwMode="auto">
            <a:xfrm>
              <a:off x="3670862" y="1357298"/>
              <a:ext cx="413896" cy="222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600" baseline="-25000">
                <a:solidFill>
                  <a:srgbClr val="0000FF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aseline="-25000">
                <a:solidFill>
                  <a:srgbClr val="0000FF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4071934" y="1520812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071934" y="1784338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071934" y="2019290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071934" y="2282817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071934" y="252094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071934" y="2784470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071934" y="3021010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071934" y="3284537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37" name="矩形 27"/>
            <p:cNvSpPr>
              <a:spLocks noChangeArrowheads="1"/>
            </p:cNvSpPr>
            <p:nvPr/>
          </p:nvSpPr>
          <p:spPr bwMode="auto">
            <a:xfrm>
              <a:off x="2643174" y="3481388"/>
              <a:ext cx="50847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 </a:t>
              </a:r>
              <a:endParaRPr lang="zh-CN" altLang="en-US" sz="1600"/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2214546" y="3643315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39" name="矩形 29"/>
            <p:cNvSpPr>
              <a:spLocks noChangeArrowheads="1"/>
            </p:cNvSpPr>
            <p:nvPr/>
          </p:nvSpPr>
          <p:spPr bwMode="auto">
            <a:xfrm>
              <a:off x="3590714" y="3481388"/>
              <a:ext cx="4812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OE</a:t>
              </a:r>
              <a:endParaRPr lang="zh-CN" altLang="en-US" sz="1600"/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4071934" y="3643315"/>
              <a:ext cx="42862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41" name="矩形 32"/>
            <p:cNvSpPr>
              <a:spLocks noChangeArrowheads="1"/>
            </p:cNvSpPr>
            <p:nvPr/>
          </p:nvSpPr>
          <p:spPr bwMode="auto">
            <a:xfrm>
              <a:off x="2857488" y="1000108"/>
              <a:ext cx="99899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74LS373 </a:t>
              </a:r>
              <a:endParaRPr lang="zh-CN" altLang="en-US" sz="1600">
                <a:solidFill>
                  <a:srgbClr val="002060"/>
                </a:solidFill>
              </a:endParaRPr>
            </a:p>
          </p:txBody>
        </p:sp>
      </p:grpSp>
      <p:grpSp>
        <p:nvGrpSpPr>
          <p:cNvPr id="7" name="组合 38"/>
          <p:cNvGrpSpPr/>
          <p:nvPr/>
        </p:nvGrpSpPr>
        <p:grpSpPr bwMode="auto">
          <a:xfrm>
            <a:off x="1500188" y="804863"/>
            <a:ext cx="1785937" cy="1763712"/>
            <a:chOff x="1500166" y="947720"/>
            <a:chExt cx="1785950" cy="1764000"/>
          </a:xfrm>
        </p:grpSpPr>
        <p:sp>
          <p:nvSpPr>
            <p:cNvPr id="35" name="左大括号 34"/>
            <p:cNvSpPr/>
            <p:nvPr/>
          </p:nvSpPr>
          <p:spPr>
            <a:xfrm>
              <a:off x="2857488" y="947720"/>
              <a:ext cx="428628" cy="1764000"/>
            </a:xfrm>
            <a:prstGeom prst="leftBrace">
              <a:avLst>
                <a:gd name="adj1" fmla="val 50555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17" name="矩形 36"/>
            <p:cNvSpPr>
              <a:spLocks noChangeArrowheads="1"/>
            </p:cNvSpPr>
            <p:nvPr/>
          </p:nvSpPr>
          <p:spPr bwMode="auto">
            <a:xfrm>
              <a:off x="1500166" y="1643050"/>
              <a:ext cx="13211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en-US" sz="1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位数据输入</a:t>
              </a:r>
              <a:endParaRPr lang="zh-CN" altLang="en-US" sz="1600">
                <a:solidFill>
                  <a:srgbClr val="0000FF"/>
                </a:solidFill>
              </a:endParaRPr>
            </a:p>
          </p:txBody>
        </p:sp>
      </p:grpSp>
      <p:grpSp>
        <p:nvGrpSpPr>
          <p:cNvPr id="8" name="组合 39"/>
          <p:cNvGrpSpPr/>
          <p:nvPr/>
        </p:nvGrpSpPr>
        <p:grpSpPr bwMode="auto">
          <a:xfrm>
            <a:off x="5715000" y="804863"/>
            <a:ext cx="1785938" cy="1763712"/>
            <a:chOff x="5715008" y="947720"/>
            <a:chExt cx="1785950" cy="1764000"/>
          </a:xfrm>
        </p:grpSpPr>
        <p:sp>
          <p:nvSpPr>
            <p:cNvPr id="36" name="左大括号 35"/>
            <p:cNvSpPr/>
            <p:nvPr/>
          </p:nvSpPr>
          <p:spPr>
            <a:xfrm flipH="1">
              <a:off x="5715008" y="947720"/>
              <a:ext cx="428628" cy="1764000"/>
            </a:xfrm>
            <a:prstGeom prst="leftBrace">
              <a:avLst>
                <a:gd name="adj1" fmla="val 50555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15" name="矩形 37"/>
            <p:cNvSpPr>
              <a:spLocks noChangeArrowheads="1"/>
            </p:cNvSpPr>
            <p:nvPr/>
          </p:nvSpPr>
          <p:spPr bwMode="auto">
            <a:xfrm>
              <a:off x="6179762" y="1643050"/>
              <a:ext cx="13211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en-US" sz="16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位数据输出</a:t>
              </a:r>
              <a:endParaRPr lang="zh-CN" altLang="en-US" sz="1600">
                <a:solidFill>
                  <a:srgbClr val="006600"/>
                </a:solidFill>
              </a:endParaRPr>
            </a:p>
          </p:txBody>
        </p:sp>
      </p:grp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1357313" y="4243388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LE:</a:t>
            </a:r>
            <a:r>
              <a:rPr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锁存允许。</a:t>
            </a:r>
            <a:r>
              <a:rPr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6600"/>
              </a:solidFill>
            </a:endParaRPr>
          </a:p>
        </p:txBody>
      </p:sp>
      <p:grpSp>
        <p:nvGrpSpPr>
          <p:cNvPr id="9" name="组合 48"/>
          <p:cNvGrpSpPr/>
          <p:nvPr/>
        </p:nvGrpSpPr>
        <p:grpSpPr bwMode="auto">
          <a:xfrm>
            <a:off x="3714750" y="4143375"/>
            <a:ext cx="1571625" cy="430213"/>
            <a:chOff x="3500430" y="4000504"/>
            <a:chExt cx="1571636" cy="430216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500430" y="4429132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rot="5400000">
              <a:off x="3715538" y="421402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4643438" y="4429132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3929058" y="4000504"/>
              <a:ext cx="72073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5400000">
              <a:off x="4429918" y="421402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5400000">
              <a:off x="4536281" y="4177511"/>
              <a:ext cx="215902" cy="158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rot="16200000" flipV="1">
              <a:off x="3821901" y="4248950"/>
              <a:ext cx="215902" cy="158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57"/>
          <p:cNvGrpSpPr/>
          <p:nvPr/>
        </p:nvGrpSpPr>
        <p:grpSpPr bwMode="auto">
          <a:xfrm>
            <a:off x="2286000" y="3571875"/>
            <a:ext cx="1643063" cy="500063"/>
            <a:chOff x="2071670" y="3429000"/>
            <a:chExt cx="1643074" cy="500066"/>
          </a:xfrm>
        </p:grpSpPr>
        <p:sp>
          <p:nvSpPr>
            <p:cNvPr id="51" name="圆角矩形标注 50"/>
            <p:cNvSpPr/>
            <p:nvPr/>
          </p:nvSpPr>
          <p:spPr>
            <a:xfrm>
              <a:off x="2071670" y="3429000"/>
              <a:ext cx="1643074" cy="500066"/>
            </a:xfrm>
            <a:prstGeom prst="wedgeRoundRectCallout">
              <a:avLst>
                <a:gd name="adj1" fmla="val 62065"/>
                <a:gd name="adj2" fmla="val 83452"/>
                <a:gd name="adj3" fmla="val 16667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06" name="矩形 49"/>
            <p:cNvSpPr>
              <a:spLocks noChangeArrowheads="1"/>
            </p:cNvSpPr>
            <p:nvPr/>
          </p:nvSpPr>
          <p:spPr bwMode="auto">
            <a:xfrm>
              <a:off x="2214546" y="3500438"/>
              <a:ext cx="14253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上升沿开启。</a:t>
              </a:r>
              <a:endParaRPr lang="zh-CN" altLang="en-US" sz="1600"/>
            </a:p>
          </p:txBody>
        </p:sp>
      </p:grpSp>
      <p:grpSp>
        <p:nvGrpSpPr>
          <p:cNvPr id="11" name="组合 56"/>
          <p:cNvGrpSpPr/>
          <p:nvPr/>
        </p:nvGrpSpPr>
        <p:grpSpPr bwMode="auto">
          <a:xfrm>
            <a:off x="4052888" y="3429000"/>
            <a:ext cx="1643062" cy="500063"/>
            <a:chOff x="3857620" y="3286124"/>
            <a:chExt cx="1643074" cy="500066"/>
          </a:xfrm>
        </p:grpSpPr>
        <p:sp>
          <p:nvSpPr>
            <p:cNvPr id="52" name="圆角矩形标注 51"/>
            <p:cNvSpPr/>
            <p:nvPr/>
          </p:nvSpPr>
          <p:spPr>
            <a:xfrm>
              <a:off x="3857620" y="3286124"/>
              <a:ext cx="1643074" cy="500066"/>
            </a:xfrm>
            <a:prstGeom prst="wedgeRoundRectCallout">
              <a:avLst>
                <a:gd name="adj1" fmla="val -21413"/>
                <a:gd name="adj2" fmla="val 91071"/>
                <a:gd name="adj3" fmla="val 16667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04" name="矩形 52"/>
            <p:cNvSpPr>
              <a:spLocks noChangeArrowheads="1"/>
            </p:cNvSpPr>
            <p:nvPr/>
          </p:nvSpPr>
          <p:spPr bwMode="auto">
            <a:xfrm>
              <a:off x="4000496" y="3357562"/>
              <a:ext cx="142539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高电平接收。</a:t>
              </a:r>
              <a:endParaRPr lang="zh-CN" altLang="en-US" sz="1600"/>
            </a:p>
          </p:txBody>
        </p:sp>
      </p:grpSp>
      <p:grpSp>
        <p:nvGrpSpPr>
          <p:cNvPr id="12" name="组合 55"/>
          <p:cNvGrpSpPr/>
          <p:nvPr/>
        </p:nvGrpSpPr>
        <p:grpSpPr bwMode="auto">
          <a:xfrm>
            <a:off x="5857875" y="3571875"/>
            <a:ext cx="1643063" cy="500063"/>
            <a:chOff x="5643570" y="3429000"/>
            <a:chExt cx="1643074" cy="500066"/>
          </a:xfrm>
        </p:grpSpPr>
        <p:sp>
          <p:nvSpPr>
            <p:cNvPr id="54" name="圆角矩形标注 53"/>
            <p:cNvSpPr/>
            <p:nvPr/>
          </p:nvSpPr>
          <p:spPr>
            <a:xfrm>
              <a:off x="5643570" y="3429000"/>
              <a:ext cx="1643074" cy="500066"/>
            </a:xfrm>
            <a:prstGeom prst="wedgeRoundRectCallout">
              <a:avLst>
                <a:gd name="adj1" fmla="val -110687"/>
                <a:gd name="adj2" fmla="val 96785"/>
                <a:gd name="adj3" fmla="val 16667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02" name="矩形 54"/>
            <p:cNvSpPr>
              <a:spLocks noChangeArrowheads="1"/>
            </p:cNvSpPr>
            <p:nvPr/>
          </p:nvSpPr>
          <p:spPr bwMode="auto">
            <a:xfrm>
              <a:off x="5786446" y="3500438"/>
              <a:ext cx="14253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下降沿锁存。</a:t>
              </a:r>
              <a:endParaRPr lang="zh-CN" altLang="en-US" sz="1600"/>
            </a:p>
          </p:txBody>
        </p:sp>
      </p:grp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1357313" y="5600700"/>
            <a:ext cx="2122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OE:</a:t>
            </a:r>
            <a:r>
              <a:rPr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输出允许。</a:t>
            </a:r>
            <a:r>
              <a:rPr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6600"/>
              </a:solidFill>
            </a:endParaRPr>
          </a:p>
        </p:txBody>
      </p:sp>
      <p:grpSp>
        <p:nvGrpSpPr>
          <p:cNvPr id="32" name="组合 59"/>
          <p:cNvGrpSpPr/>
          <p:nvPr/>
        </p:nvGrpSpPr>
        <p:grpSpPr bwMode="auto">
          <a:xfrm>
            <a:off x="3714750" y="5499100"/>
            <a:ext cx="1571625" cy="430213"/>
            <a:chOff x="3500430" y="4000504"/>
            <a:chExt cx="1571636" cy="430216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3500430" y="4429132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5400000">
              <a:off x="3715538" y="421402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4643438" y="4429132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929058" y="4000504"/>
              <a:ext cx="72073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5400000">
              <a:off x="4429918" y="4214024"/>
              <a:ext cx="42862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5400000">
              <a:off x="4536281" y="4177511"/>
              <a:ext cx="215902" cy="158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rot="16200000" flipV="1">
              <a:off x="3821901" y="4248950"/>
              <a:ext cx="215902" cy="158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67"/>
          <p:cNvGrpSpPr/>
          <p:nvPr/>
        </p:nvGrpSpPr>
        <p:grpSpPr bwMode="auto">
          <a:xfrm>
            <a:off x="2286000" y="4927600"/>
            <a:ext cx="1643063" cy="500063"/>
            <a:chOff x="2071670" y="3429000"/>
            <a:chExt cx="1643074" cy="500066"/>
          </a:xfrm>
        </p:grpSpPr>
        <p:sp>
          <p:nvSpPr>
            <p:cNvPr id="69" name="圆角矩形标注 68"/>
            <p:cNvSpPr/>
            <p:nvPr/>
          </p:nvSpPr>
          <p:spPr>
            <a:xfrm>
              <a:off x="2071670" y="3429000"/>
              <a:ext cx="1643074" cy="500066"/>
            </a:xfrm>
            <a:prstGeom prst="wedgeRoundRectCallout">
              <a:avLst>
                <a:gd name="adj1" fmla="val 62065"/>
                <a:gd name="adj2" fmla="val 83452"/>
                <a:gd name="adj3" fmla="val 16667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93" name="矩形 69"/>
            <p:cNvSpPr>
              <a:spLocks noChangeArrowheads="1"/>
            </p:cNvSpPr>
            <p:nvPr/>
          </p:nvSpPr>
          <p:spPr bwMode="auto">
            <a:xfrm>
              <a:off x="2214546" y="3500438"/>
              <a:ext cx="14253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上升沿开启。</a:t>
              </a:r>
              <a:endParaRPr lang="zh-CN" altLang="en-US" sz="1600"/>
            </a:p>
          </p:txBody>
        </p:sp>
      </p:grpSp>
      <p:grpSp>
        <p:nvGrpSpPr>
          <p:cNvPr id="39" name="组合 73"/>
          <p:cNvGrpSpPr/>
          <p:nvPr/>
        </p:nvGrpSpPr>
        <p:grpSpPr bwMode="auto">
          <a:xfrm>
            <a:off x="5286375" y="4929188"/>
            <a:ext cx="1643063" cy="642937"/>
            <a:chOff x="5072066" y="4643446"/>
            <a:chExt cx="1643074" cy="642942"/>
          </a:xfrm>
        </p:grpSpPr>
        <p:sp>
          <p:nvSpPr>
            <p:cNvPr id="72" name="圆角矩形标注 71"/>
            <p:cNvSpPr/>
            <p:nvPr/>
          </p:nvSpPr>
          <p:spPr>
            <a:xfrm>
              <a:off x="5072066" y="4643446"/>
              <a:ext cx="1643074" cy="642942"/>
            </a:xfrm>
            <a:prstGeom prst="wedgeRoundRectCallout">
              <a:avLst>
                <a:gd name="adj1" fmla="val -75905"/>
                <a:gd name="adj2" fmla="val 56150"/>
                <a:gd name="adj3" fmla="val 16667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91" name="矩形 72"/>
            <p:cNvSpPr>
              <a:spLocks noChangeArrowheads="1"/>
            </p:cNvSpPr>
            <p:nvPr/>
          </p:nvSpPr>
          <p:spPr bwMode="auto">
            <a:xfrm>
              <a:off x="5214942" y="4681546"/>
              <a:ext cx="142539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下降沿封锁，</a:t>
              </a:r>
              <a:endPara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输出高阻。</a:t>
              </a:r>
              <a:endParaRPr lang="zh-CN" alt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0"/>
          <p:cNvSpPr>
            <a:spLocks noChangeArrowheads="1"/>
          </p:cNvSpPr>
          <p:nvPr/>
        </p:nvSpPr>
        <p:spPr bwMode="auto">
          <a:xfrm>
            <a:off x="0" y="71438"/>
            <a:ext cx="36567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§5.3  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主从触发器</a:t>
            </a:r>
            <a:r>
              <a:rPr lang="zh-CN" altLang="en-US" sz="36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36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00063" y="690563"/>
            <a:ext cx="3289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一、主从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7"/>
          <p:cNvGrpSpPr/>
          <p:nvPr/>
        </p:nvGrpSpPr>
        <p:grpSpPr bwMode="auto">
          <a:xfrm>
            <a:off x="500063" y="1785938"/>
            <a:ext cx="5548312" cy="2424112"/>
            <a:chOff x="1500166" y="1928802"/>
            <a:chExt cx="6048375" cy="2781300"/>
          </a:xfrm>
        </p:grpSpPr>
        <p:pic>
          <p:nvPicPr>
            <p:cNvPr id="25640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166" y="1928802"/>
              <a:ext cx="6048375" cy="278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41" name="矩形 5"/>
            <p:cNvSpPr>
              <a:spLocks noChangeArrowheads="1"/>
            </p:cNvSpPr>
            <p:nvPr/>
          </p:nvSpPr>
          <p:spPr bwMode="auto">
            <a:xfrm>
              <a:off x="3071802" y="4214818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25642" name="矩形 6"/>
            <p:cNvSpPr>
              <a:spLocks noChangeArrowheads="1"/>
            </p:cNvSpPr>
            <p:nvPr/>
          </p:nvSpPr>
          <p:spPr bwMode="auto">
            <a:xfrm>
              <a:off x="5715008" y="4214818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从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785813" y="1214438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电路结构和工作原理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28625" y="4300538"/>
            <a:ext cx="542925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①CLK=1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输入信号；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被封锁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，输出状态保持不变。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28625" y="5514975"/>
            <a:ext cx="600075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②CLK=0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被封锁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，保持不变；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主触发器的状态送往输出端。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23"/>
          <p:cNvGrpSpPr/>
          <p:nvPr/>
        </p:nvGrpSpPr>
        <p:grpSpPr bwMode="auto">
          <a:xfrm>
            <a:off x="6000750" y="1000125"/>
            <a:ext cx="2500313" cy="785813"/>
            <a:chOff x="6286512" y="1000113"/>
            <a:chExt cx="2500330" cy="785813"/>
          </a:xfrm>
        </p:grpSpPr>
        <p:sp>
          <p:nvSpPr>
            <p:cNvPr id="23" name="椭圆形标注 22"/>
            <p:cNvSpPr/>
            <p:nvPr/>
          </p:nvSpPr>
          <p:spPr bwMode="auto">
            <a:xfrm>
              <a:off x="6286512" y="1000113"/>
              <a:ext cx="2500330" cy="785813"/>
            </a:xfrm>
            <a:prstGeom prst="wedgeEllipseCallout">
              <a:avLst>
                <a:gd name="adj1" fmla="val 19700"/>
                <a:gd name="adj2" fmla="val 74506"/>
              </a:avLst>
            </a:prstGeom>
            <a:solidFill>
              <a:srgbClr val="FFFF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aphicFrame>
          <p:nvGraphicFramePr>
            <p:cNvPr id="25639" name="Object 2"/>
            <p:cNvGraphicFramePr>
              <a:graphicFrameLocks noChangeAspect="1"/>
            </p:cNvGraphicFramePr>
            <p:nvPr/>
          </p:nvGraphicFramePr>
          <p:xfrm>
            <a:off x="6557990" y="1142984"/>
            <a:ext cx="1943100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5" name="公式" r:id="rId2" imgW="1177290" imgH="200660" progId="Equation.3">
                    <p:embed/>
                  </p:oleObj>
                </mc:Choice>
                <mc:Fallback>
                  <p:oleObj name="公式" r:id="rId2" imgW="1177290" imgH="20066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7990" y="1142984"/>
                          <a:ext cx="1943100" cy="446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78"/>
          <p:cNvGrpSpPr/>
          <p:nvPr/>
        </p:nvGrpSpPr>
        <p:grpSpPr bwMode="auto">
          <a:xfrm>
            <a:off x="6572250" y="2000250"/>
            <a:ext cx="2143125" cy="715963"/>
            <a:chOff x="6715140" y="1785926"/>
            <a:chExt cx="2143140" cy="715968"/>
          </a:xfrm>
        </p:grpSpPr>
        <p:grpSp>
          <p:nvGrpSpPr>
            <p:cNvPr id="25629" name="组合 69"/>
            <p:cNvGrpSpPr/>
            <p:nvPr/>
          </p:nvGrpSpPr>
          <p:grpSpPr bwMode="auto">
            <a:xfrm>
              <a:off x="6929455" y="1785926"/>
              <a:ext cx="1928827" cy="715968"/>
              <a:chOff x="1428728" y="5286388"/>
              <a:chExt cx="3786212" cy="715968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1428728" y="6000768"/>
                <a:ext cx="1071981" cy="15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4142957" y="6000768"/>
                <a:ext cx="1071981" cy="15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rot="5400000">
                <a:off x="2144312" y="5644373"/>
                <a:ext cx="712792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rot="5400000">
                <a:off x="3787325" y="5642020"/>
                <a:ext cx="714380" cy="311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500709" y="5286388"/>
                <a:ext cx="1642249" cy="15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rot="5400000">
                <a:off x="3965920" y="5534863"/>
                <a:ext cx="357189" cy="3117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>
                <a:off x="2322113" y="5750735"/>
                <a:ext cx="357190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5630" name="Object 18"/>
            <p:cNvGraphicFramePr>
              <a:graphicFrameLocks noChangeAspect="1"/>
            </p:cNvGraphicFramePr>
            <p:nvPr/>
          </p:nvGraphicFramePr>
          <p:xfrm>
            <a:off x="6715140" y="2214554"/>
            <a:ext cx="515937" cy="234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6" name="公式" r:id="rId4" imgW="354965" imgH="177800" progId="Equation.3">
                    <p:embed/>
                  </p:oleObj>
                </mc:Choice>
                <mc:Fallback>
                  <p:oleObj name="公式" r:id="rId4" imgW="354965" imgH="177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5140" y="2214554"/>
                          <a:ext cx="515937" cy="234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26"/>
          <p:cNvGrpSpPr/>
          <p:nvPr/>
        </p:nvGrpSpPr>
        <p:grpSpPr bwMode="auto">
          <a:xfrm>
            <a:off x="5786438" y="3143250"/>
            <a:ext cx="3143250" cy="1500188"/>
            <a:chOff x="5786446" y="3143248"/>
            <a:chExt cx="3143272" cy="1500198"/>
          </a:xfrm>
        </p:grpSpPr>
        <p:sp>
          <p:nvSpPr>
            <p:cNvPr id="25" name="椭圆形标注 24"/>
            <p:cNvSpPr/>
            <p:nvPr/>
          </p:nvSpPr>
          <p:spPr bwMode="auto">
            <a:xfrm>
              <a:off x="5786446" y="3143248"/>
              <a:ext cx="3143272" cy="1500198"/>
            </a:xfrm>
            <a:prstGeom prst="wedgeEllipseCallout">
              <a:avLst>
                <a:gd name="adj1" fmla="val 27076"/>
                <a:gd name="adj2" fmla="val -75303"/>
              </a:avLst>
            </a:prstGeom>
            <a:solidFill>
              <a:srgbClr val="FFFF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aphicFrame>
          <p:nvGraphicFramePr>
            <p:cNvPr id="25628" name="Object 7"/>
            <p:cNvGraphicFramePr>
              <a:graphicFrameLocks noChangeAspect="1"/>
            </p:cNvGraphicFramePr>
            <p:nvPr/>
          </p:nvGraphicFramePr>
          <p:xfrm>
            <a:off x="6215074" y="3348044"/>
            <a:ext cx="2320925" cy="108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7" name="公式" r:id="rId6" imgW="1428115" imgH="651510" progId="Equation.3">
                    <p:embed/>
                  </p:oleObj>
                </mc:Choice>
                <mc:Fallback>
                  <p:oleObj name="公式" r:id="rId6" imgW="1428115" imgH="65151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5074" y="3348044"/>
                          <a:ext cx="2320925" cy="108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矩形 105"/>
          <p:cNvSpPr>
            <a:spLocks noChangeArrowheads="1"/>
          </p:cNvSpPr>
          <p:nvPr/>
        </p:nvSpPr>
        <p:spPr bwMode="auto">
          <a:xfrm>
            <a:off x="6272213" y="1643063"/>
            <a:ext cx="17287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逻辑符号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12" name="组合 28"/>
          <p:cNvGrpSpPr/>
          <p:nvPr/>
        </p:nvGrpSpPr>
        <p:grpSpPr bwMode="auto">
          <a:xfrm>
            <a:off x="6343650" y="2571750"/>
            <a:ext cx="2300288" cy="1500188"/>
            <a:chOff x="3286115" y="3571870"/>
            <a:chExt cx="2300288" cy="1500188"/>
          </a:xfrm>
        </p:grpSpPr>
        <p:grpSp>
          <p:nvGrpSpPr>
            <p:cNvPr id="25613" name="组合 21"/>
            <p:cNvGrpSpPr/>
            <p:nvPr/>
          </p:nvGrpSpPr>
          <p:grpSpPr bwMode="auto">
            <a:xfrm>
              <a:off x="3943344" y="3571873"/>
              <a:ext cx="1071565" cy="1500190"/>
              <a:chOff x="2143115" y="2500306"/>
              <a:chExt cx="1071565" cy="1500198"/>
            </a:xfrm>
          </p:grpSpPr>
          <p:graphicFrame>
            <p:nvGraphicFramePr>
              <p:cNvPr id="25622" name="Object 25"/>
              <p:cNvGraphicFramePr>
                <a:graphicFrameLocks noChangeAspect="1"/>
              </p:cNvGraphicFramePr>
              <p:nvPr/>
            </p:nvGraphicFramePr>
            <p:xfrm>
              <a:off x="2928926" y="2643182"/>
              <a:ext cx="238125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78" name="公式" r:id="rId8" imgW="152400" imgH="241300" progId="Equation.3">
                      <p:embed/>
                    </p:oleObj>
                  </mc:Choice>
                  <mc:Fallback>
                    <p:oleObj name="公式" r:id="rId8" imgW="152400" imgH="2413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26" y="2643182"/>
                            <a:ext cx="238125" cy="3730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3" name="Object 26"/>
              <p:cNvGraphicFramePr>
                <a:graphicFrameLocks noChangeAspect="1"/>
              </p:cNvGraphicFramePr>
              <p:nvPr/>
            </p:nvGraphicFramePr>
            <p:xfrm>
              <a:off x="2928926" y="3500438"/>
              <a:ext cx="236537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79" name="公式" r:id="rId10" imgW="152400" imgH="203200" progId="Equation.3">
                      <p:embed/>
                    </p:oleObj>
                  </mc:Choice>
                  <mc:Fallback>
                    <p:oleObj name="公式" r:id="rId10" imgW="152400" imgH="2032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26" y="3500438"/>
                            <a:ext cx="236537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矩形 40"/>
              <p:cNvSpPr/>
              <p:nvPr/>
            </p:nvSpPr>
            <p:spPr>
              <a:xfrm rot="5400000">
                <a:off x="1928795" y="2714619"/>
                <a:ext cx="1500196" cy="10715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25625" name="Object 27"/>
              <p:cNvGraphicFramePr>
                <a:graphicFrameLocks noChangeAspect="1"/>
              </p:cNvGraphicFramePr>
              <p:nvPr/>
            </p:nvGraphicFramePr>
            <p:xfrm>
              <a:off x="2233613" y="3521081"/>
              <a:ext cx="215900" cy="2746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80" name="公式" r:id="rId12" imgW="139700" imgH="177800" progId="Equation.3">
                      <p:embed/>
                    </p:oleObj>
                  </mc:Choice>
                  <mc:Fallback>
                    <p:oleObj name="公式" r:id="rId12" imgW="139700" imgH="1778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3613" y="3521081"/>
                            <a:ext cx="215900" cy="2746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6" name="Object 28"/>
              <p:cNvGraphicFramePr>
                <a:graphicFrameLocks noChangeAspect="1"/>
              </p:cNvGraphicFramePr>
              <p:nvPr/>
            </p:nvGraphicFramePr>
            <p:xfrm>
              <a:off x="2339962" y="3154374"/>
              <a:ext cx="374650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81" name="公式" r:id="rId14" imgW="241300" imgH="177800" progId="Equation.3">
                      <p:embed/>
                    </p:oleObj>
                  </mc:Choice>
                  <mc:Fallback>
                    <p:oleObj name="公式" r:id="rId14" imgW="241300" imgH="1778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9962" y="3154374"/>
                            <a:ext cx="374650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1" name="直接连接符 4"/>
            <p:cNvCxnSpPr/>
            <p:nvPr/>
          </p:nvCxnSpPr>
          <p:spPr bwMode="auto">
            <a:xfrm rot="10800000">
              <a:off x="5014903" y="3929058"/>
              <a:ext cx="57150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 bwMode="auto">
            <a:xfrm rot="10800000">
              <a:off x="5014903" y="4714870"/>
              <a:ext cx="5715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 bwMode="auto">
            <a:xfrm rot="5400000">
              <a:off x="3906034" y="4250527"/>
              <a:ext cx="249237" cy="1778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 bwMode="auto">
            <a:xfrm rot="5400000">
              <a:off x="3833803" y="4286245"/>
              <a:ext cx="107950" cy="1079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5" name="直接连接符 34"/>
            <p:cNvCxnSpPr/>
            <p:nvPr/>
          </p:nvCxnSpPr>
          <p:spPr bwMode="auto">
            <a:xfrm rot="10800000">
              <a:off x="3286115" y="4332283"/>
              <a:ext cx="539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 bwMode="auto">
            <a:xfrm rot="10800000">
              <a:off x="3300403" y="4714870"/>
              <a:ext cx="64293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5620" name="Object 12"/>
            <p:cNvGraphicFramePr>
              <a:graphicFrameLocks noChangeAspect="1"/>
            </p:cNvGraphicFramePr>
            <p:nvPr/>
          </p:nvGraphicFramePr>
          <p:xfrm>
            <a:off x="4051298" y="3806825"/>
            <a:ext cx="23495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2" name="公式" r:id="rId16" imgW="152400" imgH="165100" progId="Equation.3">
                    <p:embed/>
                  </p:oleObj>
                </mc:Choice>
                <mc:Fallback>
                  <p:oleObj name="公式" r:id="rId16" imgW="152400" imgH="1651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1298" y="3806825"/>
                          <a:ext cx="234950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直接连接符 37"/>
            <p:cNvCxnSpPr/>
            <p:nvPr/>
          </p:nvCxnSpPr>
          <p:spPr bwMode="auto">
            <a:xfrm rot="10800000">
              <a:off x="3286115" y="3929058"/>
              <a:ext cx="64293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1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4"/>
          <p:cNvSpPr txBox="1">
            <a:spLocks noChangeArrowheads="1"/>
          </p:cNvSpPr>
          <p:nvPr/>
        </p:nvSpPr>
        <p:spPr bwMode="auto">
          <a:xfrm>
            <a:off x="450850" y="142875"/>
            <a:ext cx="4214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主从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触发器的动作特点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53"/>
          <p:cNvGrpSpPr/>
          <p:nvPr/>
        </p:nvGrpSpPr>
        <p:grpSpPr bwMode="auto">
          <a:xfrm>
            <a:off x="950913" y="2071688"/>
            <a:ext cx="5872162" cy="469900"/>
            <a:chOff x="1000100" y="2000240"/>
            <a:chExt cx="5872190" cy="469900"/>
          </a:xfrm>
        </p:grpSpPr>
        <p:graphicFrame>
          <p:nvGraphicFramePr>
            <p:cNvPr id="26685" name="Object 12"/>
            <p:cNvGraphicFramePr>
              <a:graphicFrameLocks noChangeAspect="1"/>
            </p:cNvGraphicFramePr>
            <p:nvPr/>
          </p:nvGraphicFramePr>
          <p:xfrm>
            <a:off x="4929190" y="2000240"/>
            <a:ext cx="1943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1" name="公式" r:id="rId1" imgW="1177290" imgH="225425" progId="Equation.3">
                    <p:embed/>
                  </p:oleObj>
                </mc:Choice>
                <mc:Fallback>
                  <p:oleObj name="公式" r:id="rId1" imgW="1177290" imgH="22542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9190" y="2000240"/>
                          <a:ext cx="1943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86" name="矩形 5"/>
            <p:cNvSpPr>
              <a:spLocks noChangeArrowheads="1"/>
            </p:cNvSpPr>
            <p:nvPr/>
          </p:nvSpPr>
          <p:spPr bwMode="auto">
            <a:xfrm>
              <a:off x="1000100" y="2000240"/>
              <a:ext cx="40847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主从</a:t>
              </a: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R-S</a:t>
              </a: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触发器的特性方程：</a:t>
              </a:r>
              <a:endPara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 rot="16200000" flipH="1">
            <a:off x="1226344" y="4607719"/>
            <a:ext cx="378618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93"/>
          <p:cNvGrpSpPr/>
          <p:nvPr/>
        </p:nvGrpSpPr>
        <p:grpSpPr bwMode="auto">
          <a:xfrm>
            <a:off x="836613" y="5888038"/>
            <a:ext cx="1042987" cy="411162"/>
            <a:chOff x="885826" y="5745135"/>
            <a:chExt cx="1042968" cy="411209"/>
          </a:xfrm>
        </p:grpSpPr>
        <p:cxnSp>
          <p:nvCxnSpPr>
            <p:cNvPr id="50" name="直接连接符 49"/>
            <p:cNvCxnSpPr/>
            <p:nvPr/>
          </p:nvCxnSpPr>
          <p:spPr bwMode="auto">
            <a:xfrm>
              <a:off x="1149346" y="6143643"/>
              <a:ext cx="779448" cy="158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683" name="Object 8"/>
            <p:cNvGraphicFramePr>
              <a:graphicFrameLocks noChangeAspect="1"/>
            </p:cNvGraphicFramePr>
            <p:nvPr/>
          </p:nvGraphicFramePr>
          <p:xfrm>
            <a:off x="885826" y="5908694"/>
            <a:ext cx="25715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2" name="公式" r:id="rId3" imgW="215900" imgH="203200" progId="Equation.3">
                    <p:embed/>
                  </p:oleObj>
                </mc:Choice>
                <mc:Fallback>
                  <p:oleObj name="公式" r:id="rId3" imgW="215900" imgH="203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826" y="5908694"/>
                          <a:ext cx="25715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84" name="矩形 51"/>
            <p:cNvSpPr>
              <a:spLocks noChangeArrowheads="1"/>
            </p:cNvSpPr>
            <p:nvPr/>
          </p:nvSpPr>
          <p:spPr bwMode="auto">
            <a:xfrm>
              <a:off x="1086688" y="5745135"/>
              <a:ext cx="6992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endParaRPr lang="zh-CN" altLang="en-US" sz="2000"/>
            </a:p>
          </p:txBody>
        </p:sp>
      </p:grpSp>
      <p:grpSp>
        <p:nvGrpSpPr>
          <p:cNvPr id="4" name="组合 65"/>
          <p:cNvGrpSpPr/>
          <p:nvPr/>
        </p:nvGrpSpPr>
        <p:grpSpPr bwMode="auto">
          <a:xfrm>
            <a:off x="736600" y="2928938"/>
            <a:ext cx="3214688" cy="2676525"/>
            <a:chOff x="785786" y="2786058"/>
            <a:chExt cx="3214710" cy="2676542"/>
          </a:xfrm>
        </p:grpSpPr>
        <p:grpSp>
          <p:nvGrpSpPr>
            <p:cNvPr id="26660" name="组合 69"/>
            <p:cNvGrpSpPr/>
            <p:nvPr/>
          </p:nvGrpSpPr>
          <p:grpSpPr bwMode="auto">
            <a:xfrm>
              <a:off x="1107257" y="2786058"/>
              <a:ext cx="2893229" cy="588744"/>
              <a:chOff x="1428728" y="5286388"/>
              <a:chExt cx="3786212" cy="715968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429767" y="6000696"/>
                <a:ext cx="1071985" cy="193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142968" y="6000696"/>
                <a:ext cx="1071985" cy="193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rot="5400000">
                <a:off x="2145563" y="5644507"/>
                <a:ext cx="712378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rot="5400000">
                <a:off x="3787892" y="5641465"/>
                <a:ext cx="714308" cy="415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2501752" y="5286388"/>
                <a:ext cx="1641217" cy="193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rot="5400000">
                <a:off x="3966469" y="5534317"/>
                <a:ext cx="357155" cy="4155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rot="5400000">
                <a:off x="2323174" y="5750689"/>
                <a:ext cx="357153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 bwMode="auto">
            <a:xfrm flipV="1">
              <a:off x="1089001" y="4025903"/>
              <a:ext cx="141129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auto">
            <a:xfrm rot="5400000">
              <a:off x="2207402" y="3725070"/>
              <a:ext cx="58579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auto">
            <a:xfrm rot="5400000">
              <a:off x="2494742" y="3725070"/>
              <a:ext cx="58579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auto">
            <a:xfrm>
              <a:off x="2500298" y="3428999"/>
              <a:ext cx="2873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 bwMode="auto">
            <a:xfrm>
              <a:off x="2787638" y="4019553"/>
              <a:ext cx="1212858" cy="158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666" name="Object 18"/>
            <p:cNvGraphicFramePr>
              <a:graphicFrameLocks noChangeAspect="1"/>
            </p:cNvGraphicFramePr>
            <p:nvPr/>
          </p:nvGraphicFramePr>
          <p:xfrm>
            <a:off x="785786" y="3138831"/>
            <a:ext cx="500066" cy="218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3" name="公式" r:id="rId5" imgW="354965" imgH="177800" progId="Equation.3">
                    <p:embed/>
                  </p:oleObj>
                </mc:Choice>
                <mc:Fallback>
                  <p:oleObj name="公式" r:id="rId5" imgW="354965" imgH="177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786" y="3138831"/>
                          <a:ext cx="500066" cy="2187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7" name="Object 4"/>
            <p:cNvGraphicFramePr>
              <a:graphicFrameLocks noChangeAspect="1"/>
            </p:cNvGraphicFramePr>
            <p:nvPr/>
          </p:nvGraphicFramePr>
          <p:xfrm>
            <a:off x="899031" y="3781772"/>
            <a:ext cx="243946" cy="218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4" name="公式" r:id="rId7" imgW="139700" imgH="177800" progId="Equation.3">
                    <p:embed/>
                  </p:oleObj>
                </mc:Choice>
                <mc:Fallback>
                  <p:oleObj name="公式" r:id="rId7" imgW="139700" imgH="177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031" y="3781772"/>
                          <a:ext cx="243946" cy="2187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8" name="Object 5"/>
            <p:cNvGraphicFramePr>
              <a:graphicFrameLocks noChangeAspect="1"/>
            </p:cNvGraphicFramePr>
            <p:nvPr/>
          </p:nvGraphicFramePr>
          <p:xfrm>
            <a:off x="893638" y="4522142"/>
            <a:ext cx="249338" cy="20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5" name="公式" r:id="rId9" imgW="152400" imgH="165100" progId="Equation.3">
                    <p:embed/>
                  </p:oleObj>
                </mc:Choice>
                <mc:Fallback>
                  <p:oleObj name="公式" r:id="rId9" imgW="152400" imgH="1651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3638" y="4522142"/>
                          <a:ext cx="249338" cy="202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连接符 27"/>
            <p:cNvCxnSpPr/>
            <p:nvPr/>
          </p:nvCxnSpPr>
          <p:spPr bwMode="auto">
            <a:xfrm>
              <a:off x="1089001" y="4722820"/>
              <a:ext cx="2911495" cy="158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 bwMode="auto">
            <a:xfrm flipV="1">
              <a:off x="1133451" y="5429262"/>
              <a:ext cx="86678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671" name="Object 7"/>
            <p:cNvGraphicFramePr>
              <a:graphicFrameLocks noChangeAspect="1"/>
            </p:cNvGraphicFramePr>
            <p:nvPr/>
          </p:nvGraphicFramePr>
          <p:xfrm>
            <a:off x="893763" y="5214950"/>
            <a:ext cx="182562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6" name="公式" r:id="rId11" imgW="152400" imgH="203200" progId="Equation.3">
                    <p:embed/>
                  </p:oleObj>
                </mc:Choice>
                <mc:Fallback>
                  <p:oleObj name="公式" r:id="rId11" imgW="1524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3763" y="5214950"/>
                          <a:ext cx="182562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2" name="矩形 46"/>
            <p:cNvSpPr>
              <a:spLocks noChangeArrowheads="1"/>
            </p:cNvSpPr>
            <p:nvPr/>
          </p:nvSpPr>
          <p:spPr bwMode="auto">
            <a:xfrm>
              <a:off x="1086688" y="3643314"/>
              <a:ext cx="6992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endParaRPr lang="zh-CN" altLang="en-US" sz="2000"/>
            </a:p>
          </p:txBody>
        </p:sp>
        <p:sp>
          <p:nvSpPr>
            <p:cNvPr id="26673" name="矩形 47"/>
            <p:cNvSpPr>
              <a:spLocks noChangeArrowheads="1"/>
            </p:cNvSpPr>
            <p:nvPr/>
          </p:nvSpPr>
          <p:spPr bwMode="auto">
            <a:xfrm>
              <a:off x="1086688" y="4314774"/>
              <a:ext cx="6992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endParaRPr lang="zh-CN" altLang="en-US" sz="2000"/>
            </a:p>
          </p:txBody>
        </p:sp>
        <p:sp>
          <p:nvSpPr>
            <p:cNvPr id="26674" name="矩形 52"/>
            <p:cNvSpPr>
              <a:spLocks noChangeArrowheads="1"/>
            </p:cNvSpPr>
            <p:nvPr/>
          </p:nvSpPr>
          <p:spPr bwMode="auto">
            <a:xfrm>
              <a:off x="1071538" y="5029154"/>
              <a:ext cx="6992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endParaRPr lang="zh-CN" altLang="en-US" sz="2000"/>
            </a:p>
          </p:txBody>
        </p:sp>
      </p:grpSp>
      <p:grpSp>
        <p:nvGrpSpPr>
          <p:cNvPr id="6" name="组合 62"/>
          <p:cNvGrpSpPr/>
          <p:nvPr/>
        </p:nvGrpSpPr>
        <p:grpSpPr bwMode="auto">
          <a:xfrm>
            <a:off x="3094038" y="5143500"/>
            <a:ext cx="857250" cy="428625"/>
            <a:chOff x="3214678" y="5000636"/>
            <a:chExt cx="857256" cy="428645"/>
          </a:xfrm>
        </p:grpSpPr>
        <p:cxnSp>
          <p:nvCxnSpPr>
            <p:cNvPr id="46" name="直接连接符 45"/>
            <p:cNvCxnSpPr/>
            <p:nvPr/>
          </p:nvCxnSpPr>
          <p:spPr bwMode="auto">
            <a:xfrm flipV="1">
              <a:off x="3238490" y="5429281"/>
              <a:ext cx="833444" cy="0"/>
            </a:xfrm>
            <a:prstGeom prst="line">
              <a:avLst/>
            </a:prstGeom>
            <a:ln w="317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59" name="矩形 55"/>
            <p:cNvSpPr>
              <a:spLocks noChangeArrowheads="1"/>
            </p:cNvSpPr>
            <p:nvPr/>
          </p:nvSpPr>
          <p:spPr bwMode="auto">
            <a:xfrm>
              <a:off x="3214678" y="5000636"/>
              <a:ext cx="6992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</p:grpSp>
      <p:cxnSp>
        <p:nvCxnSpPr>
          <p:cNvPr id="58" name="直接连接符 57"/>
          <p:cNvCxnSpPr/>
          <p:nvPr/>
        </p:nvCxnSpPr>
        <p:spPr>
          <a:xfrm rot="16200000" flipH="1">
            <a:off x="-13494" y="4607719"/>
            <a:ext cx="3786188" cy="0"/>
          </a:xfrm>
          <a:prstGeom prst="line">
            <a:avLst/>
          </a:prstGeom>
          <a:ln w="158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94"/>
          <p:cNvGrpSpPr/>
          <p:nvPr/>
        </p:nvGrpSpPr>
        <p:grpSpPr bwMode="auto">
          <a:xfrm>
            <a:off x="1905000" y="5173663"/>
            <a:ext cx="1214438" cy="400050"/>
            <a:chOff x="1954194" y="5029154"/>
            <a:chExt cx="1214446" cy="400110"/>
          </a:xfrm>
        </p:grpSpPr>
        <p:cxnSp>
          <p:nvCxnSpPr>
            <p:cNvPr id="60" name="直接连接符 59"/>
            <p:cNvCxnSpPr/>
            <p:nvPr/>
          </p:nvCxnSpPr>
          <p:spPr bwMode="auto">
            <a:xfrm flipV="1">
              <a:off x="1954194" y="5427676"/>
              <a:ext cx="121444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57" name="矩形 61"/>
            <p:cNvSpPr>
              <a:spLocks noChangeArrowheads="1"/>
            </p:cNvSpPr>
            <p:nvPr/>
          </p:nvSpPr>
          <p:spPr bwMode="auto">
            <a:xfrm>
              <a:off x="2238859" y="5029154"/>
              <a:ext cx="1847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cxnSp>
        <p:nvCxnSpPr>
          <p:cNvPr id="69" name="直接连接符 68"/>
          <p:cNvCxnSpPr/>
          <p:nvPr/>
        </p:nvCxnSpPr>
        <p:spPr bwMode="auto">
          <a:xfrm>
            <a:off x="1879600" y="6286500"/>
            <a:ext cx="5715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rot="16200000" flipH="1">
            <a:off x="545306" y="4607719"/>
            <a:ext cx="3786188" cy="0"/>
          </a:xfrm>
          <a:prstGeom prst="line">
            <a:avLst/>
          </a:prstGeom>
          <a:ln w="15875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7"/>
          <p:cNvGrpSpPr/>
          <p:nvPr/>
        </p:nvGrpSpPr>
        <p:grpSpPr bwMode="auto">
          <a:xfrm>
            <a:off x="2451100" y="5715000"/>
            <a:ext cx="642938" cy="585788"/>
            <a:chOff x="2571736" y="5572140"/>
            <a:chExt cx="642942" cy="586132"/>
          </a:xfrm>
        </p:grpSpPr>
        <p:cxnSp>
          <p:nvCxnSpPr>
            <p:cNvPr id="75" name="直接连接符 74"/>
            <p:cNvCxnSpPr/>
            <p:nvPr/>
          </p:nvCxnSpPr>
          <p:spPr bwMode="auto">
            <a:xfrm rot="5400000">
              <a:off x="2278670" y="5865206"/>
              <a:ext cx="586132" cy="0"/>
            </a:xfrm>
            <a:prstGeom prst="line">
              <a:avLst/>
            </a:prstGeom>
            <a:ln w="3175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 bwMode="auto">
            <a:xfrm>
              <a:off x="2571736" y="5572140"/>
              <a:ext cx="642942" cy="1589"/>
            </a:xfrm>
            <a:prstGeom prst="line">
              <a:avLst/>
            </a:prstGeom>
            <a:ln w="3175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2"/>
          <p:cNvGrpSpPr/>
          <p:nvPr/>
        </p:nvGrpSpPr>
        <p:grpSpPr bwMode="auto">
          <a:xfrm>
            <a:off x="3119438" y="4986338"/>
            <a:ext cx="831850" cy="585787"/>
            <a:chOff x="3227378" y="4843132"/>
            <a:chExt cx="831856" cy="586132"/>
          </a:xfrm>
        </p:grpSpPr>
        <p:cxnSp>
          <p:nvCxnSpPr>
            <p:cNvPr id="79" name="直接连接符 78"/>
            <p:cNvCxnSpPr/>
            <p:nvPr/>
          </p:nvCxnSpPr>
          <p:spPr bwMode="auto">
            <a:xfrm rot="5400000">
              <a:off x="2934311" y="5136199"/>
              <a:ext cx="586132" cy="0"/>
            </a:xfrm>
            <a:prstGeom prst="line">
              <a:avLst/>
            </a:prstGeom>
            <a:ln w="3175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 bwMode="auto">
            <a:xfrm>
              <a:off x="3227378" y="4843132"/>
              <a:ext cx="831856" cy="0"/>
            </a:xfrm>
            <a:prstGeom prst="line">
              <a:avLst/>
            </a:prstGeom>
            <a:ln w="3175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直接连接符 90"/>
          <p:cNvCxnSpPr/>
          <p:nvPr/>
        </p:nvCxnSpPr>
        <p:spPr bwMode="auto">
          <a:xfrm>
            <a:off x="3127375" y="5715000"/>
            <a:ext cx="823913" cy="1588"/>
          </a:xfrm>
          <a:prstGeom prst="line">
            <a:avLst/>
          </a:prstGeom>
          <a:ln w="31750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101"/>
          <p:cNvGrpSpPr/>
          <p:nvPr/>
        </p:nvGrpSpPr>
        <p:grpSpPr bwMode="auto">
          <a:xfrm>
            <a:off x="522288" y="2643188"/>
            <a:ext cx="8358187" cy="3929062"/>
            <a:chOff x="571472" y="2500306"/>
            <a:chExt cx="8358246" cy="3929090"/>
          </a:xfrm>
        </p:grpSpPr>
        <p:grpSp>
          <p:nvGrpSpPr>
            <p:cNvPr id="26648" name="组合 100"/>
            <p:cNvGrpSpPr/>
            <p:nvPr/>
          </p:nvGrpSpPr>
          <p:grpSpPr bwMode="auto">
            <a:xfrm>
              <a:off x="4857752" y="2500306"/>
              <a:ext cx="4071966" cy="1214446"/>
              <a:chOff x="4857752" y="2714620"/>
              <a:chExt cx="4071966" cy="1214446"/>
            </a:xfrm>
          </p:grpSpPr>
          <p:sp>
            <p:nvSpPr>
              <p:cNvPr id="100" name="圆角矩形标注 99"/>
              <p:cNvSpPr/>
              <p:nvPr/>
            </p:nvSpPr>
            <p:spPr>
              <a:xfrm>
                <a:off x="4857752" y="2714620"/>
                <a:ext cx="4071966" cy="1214446"/>
              </a:xfrm>
              <a:prstGeom prst="wedgeRoundRectCallout">
                <a:avLst>
                  <a:gd name="adj1" fmla="val -65121"/>
                  <a:gd name="adj2" fmla="val 46814"/>
                  <a:gd name="adj3" fmla="val 16667"/>
                </a:avLst>
              </a:prstGeom>
              <a:solidFill>
                <a:srgbClr val="FFFF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6651" name="矩形 97"/>
              <p:cNvSpPr>
                <a:spLocks noChangeArrowheads="1"/>
              </p:cNvSpPr>
              <p:nvPr/>
            </p:nvSpPr>
            <p:spPr bwMode="auto">
              <a:xfrm>
                <a:off x="4929190" y="2841965"/>
                <a:ext cx="3929090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输出端</a:t>
                </a:r>
                <a:r>
                  <a:rPr lang="en-US" altLang="zh-CN" sz="20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en-US" sz="20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的状态更新取决于整个脉冲期间输入信号的变化，称为</a:t>
                </a:r>
                <a:r>
                  <a:rPr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脉冲触发方式</a:t>
                </a:r>
                <a:r>
                  <a:rPr lang="zh-CN" alt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zh-CN" altLang="en-US" sz="2000"/>
              </a:p>
            </p:txBody>
          </p:sp>
        </p:grpSp>
        <p:sp>
          <p:nvSpPr>
            <p:cNvPr id="99" name="矩形 98"/>
            <p:cNvSpPr/>
            <p:nvPr/>
          </p:nvSpPr>
          <p:spPr>
            <a:xfrm>
              <a:off x="571472" y="2500306"/>
              <a:ext cx="3643338" cy="3929090"/>
            </a:xfrm>
            <a:prstGeom prst="rect">
              <a:avLst/>
            </a:prstGeom>
            <a:noFill/>
            <a:ln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04" name="矩形 103"/>
          <p:cNvSpPr>
            <a:spLocks noChangeArrowheads="1"/>
          </p:cNvSpPr>
          <p:nvPr/>
        </p:nvSpPr>
        <p:spPr bwMode="auto">
          <a:xfrm>
            <a:off x="4808538" y="4643438"/>
            <a:ext cx="4192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CLK=1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期间，需保持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不变。</a:t>
            </a:r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105" name="矩形 104"/>
          <p:cNvSpPr>
            <a:spLocks noChangeArrowheads="1"/>
          </p:cNvSpPr>
          <p:nvPr/>
        </p:nvSpPr>
        <p:spPr bwMode="auto">
          <a:xfrm>
            <a:off x="4808538" y="5100638"/>
            <a:ext cx="3700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仍然存在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RS=0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的约束条件。</a:t>
            </a:r>
            <a:endParaRPr lang="zh-CN" altLang="en-US" sz="2000"/>
          </a:p>
        </p:txBody>
      </p:sp>
      <p:grpSp>
        <p:nvGrpSpPr>
          <p:cNvPr id="20" name="组合 106"/>
          <p:cNvGrpSpPr/>
          <p:nvPr/>
        </p:nvGrpSpPr>
        <p:grpSpPr bwMode="auto">
          <a:xfrm>
            <a:off x="450850" y="642938"/>
            <a:ext cx="8215313" cy="1285875"/>
            <a:chOff x="500063" y="642918"/>
            <a:chExt cx="8215341" cy="1285873"/>
          </a:xfrm>
        </p:grpSpPr>
        <p:sp>
          <p:nvSpPr>
            <p:cNvPr id="26646" name="Text Box 7"/>
            <p:cNvSpPr txBox="1">
              <a:spLocks noChangeArrowheads="1"/>
            </p:cNvSpPr>
            <p:nvPr/>
          </p:nvSpPr>
          <p:spPr bwMode="auto">
            <a:xfrm>
              <a:off x="571472" y="714356"/>
              <a:ext cx="80010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CLK=1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期间，主触发器的状态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随输入信号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的变化而变化；而输出端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的状态更新发生在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下降沿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到来的时刻，但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输出的状态不一定按此刻输入信号的状态来确定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47" name="Rectangle 16"/>
            <p:cNvSpPr>
              <a:spLocks noChangeArrowheads="1"/>
            </p:cNvSpPr>
            <p:nvPr/>
          </p:nvSpPr>
          <p:spPr bwMode="auto">
            <a:xfrm>
              <a:off x="500063" y="642918"/>
              <a:ext cx="8215341" cy="1285873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108"/>
          <p:cNvGrpSpPr/>
          <p:nvPr/>
        </p:nvGrpSpPr>
        <p:grpSpPr bwMode="auto">
          <a:xfrm>
            <a:off x="4522788" y="4000500"/>
            <a:ext cx="4429125" cy="1643063"/>
            <a:chOff x="4572000" y="3857628"/>
            <a:chExt cx="4429156" cy="1643074"/>
          </a:xfrm>
        </p:grpSpPr>
        <p:sp>
          <p:nvSpPr>
            <p:cNvPr id="26644" name="矩形 102"/>
            <p:cNvSpPr>
              <a:spLocks noChangeArrowheads="1"/>
            </p:cNvSpPr>
            <p:nvPr/>
          </p:nvSpPr>
          <p:spPr bwMode="auto">
            <a:xfrm>
              <a:off x="4572000" y="3857628"/>
              <a:ext cx="37721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主从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RS</a:t>
              </a: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触发器的缺点：</a:t>
              </a:r>
              <a:endParaRPr lang="zh-CN" altLang="en-US" sz="2400">
                <a:solidFill>
                  <a:srgbClr val="006600"/>
                </a:solidFill>
              </a:endParaRPr>
            </a:p>
          </p:txBody>
        </p:sp>
        <p:sp>
          <p:nvSpPr>
            <p:cNvPr id="26645" name="Rectangle 16"/>
            <p:cNvSpPr>
              <a:spLocks noChangeArrowheads="1"/>
            </p:cNvSpPr>
            <p:nvPr/>
          </p:nvSpPr>
          <p:spPr bwMode="auto">
            <a:xfrm>
              <a:off x="4857752" y="4357694"/>
              <a:ext cx="4143404" cy="1143008"/>
            </a:xfrm>
            <a:prstGeom prst="rect">
              <a:avLst/>
            </a:prstGeom>
            <a:noFill/>
            <a:ln w="57150" cmpd="thickThin">
              <a:solidFill>
                <a:srgbClr val="00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矩形 1"/>
          <p:cNvSpPr>
            <a:spLocks noChangeArrowheads="1"/>
          </p:cNvSpPr>
          <p:nvPr/>
        </p:nvSpPr>
        <p:spPr bwMode="auto">
          <a:xfrm>
            <a:off x="285750" y="34925"/>
            <a:ext cx="3167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二、主从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24"/>
          <p:cNvSpPr txBox="1">
            <a:spLocks noChangeArrowheads="1"/>
          </p:cNvSpPr>
          <p:nvPr/>
        </p:nvSpPr>
        <p:spPr bwMode="auto">
          <a:xfrm>
            <a:off x="614363" y="606425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电路结构和工作原理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5"/>
          <p:cNvGrpSpPr/>
          <p:nvPr/>
        </p:nvGrpSpPr>
        <p:grpSpPr bwMode="auto">
          <a:xfrm>
            <a:off x="1143000" y="4125913"/>
            <a:ext cx="2589213" cy="517525"/>
            <a:chOff x="1214385" y="4125921"/>
            <a:chExt cx="2589223" cy="517525"/>
          </a:xfrm>
        </p:grpSpPr>
        <p:graphicFrame>
          <p:nvGraphicFramePr>
            <p:cNvPr id="27689" name="Object 4"/>
            <p:cNvGraphicFramePr>
              <a:graphicFrameLocks noChangeAspect="1"/>
            </p:cNvGraphicFramePr>
            <p:nvPr/>
          </p:nvGraphicFramePr>
          <p:xfrm>
            <a:off x="1214385" y="4125921"/>
            <a:ext cx="113665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7" name="公式" r:id="rId1" imgW="638810" imgH="250825" progId="Equation.3">
                    <p:embed/>
                  </p:oleObj>
                </mc:Choice>
                <mc:Fallback>
                  <p:oleObj name="公式" r:id="rId1" imgW="638810" imgH="25082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385" y="4125921"/>
                          <a:ext cx="1136650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0" name="Object 5"/>
            <p:cNvGraphicFramePr>
              <a:graphicFrameLocks noChangeAspect="1"/>
            </p:cNvGraphicFramePr>
            <p:nvPr/>
          </p:nvGraphicFramePr>
          <p:xfrm>
            <a:off x="2643145" y="4173546"/>
            <a:ext cx="116046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8" name="公式" r:id="rId3" imgW="651510" imgH="225425" progId="Equation.3">
                    <p:embed/>
                  </p:oleObj>
                </mc:Choice>
                <mc:Fallback>
                  <p:oleObj name="公式" r:id="rId3" imgW="651510" imgH="22542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3145" y="4173546"/>
                          <a:ext cx="116046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14375" y="3643313"/>
            <a:ext cx="5319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在主从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触发器的基础上演变而来</a:t>
            </a:r>
            <a:endParaRPr lang="zh-CN" altLang="en-US" sz="2400"/>
          </a:p>
        </p:txBody>
      </p:sp>
      <p:grpSp>
        <p:nvGrpSpPr>
          <p:cNvPr id="6" name="组合 14"/>
          <p:cNvGrpSpPr/>
          <p:nvPr/>
        </p:nvGrpSpPr>
        <p:grpSpPr bwMode="auto">
          <a:xfrm>
            <a:off x="925513" y="6215063"/>
            <a:ext cx="5337175" cy="515937"/>
            <a:chOff x="996943" y="6215082"/>
            <a:chExt cx="5337871" cy="515938"/>
          </a:xfrm>
        </p:grpSpPr>
        <p:graphicFrame>
          <p:nvGraphicFramePr>
            <p:cNvPr id="27687" name="Object 8"/>
            <p:cNvGraphicFramePr>
              <a:graphicFrameLocks noChangeAspect="1"/>
            </p:cNvGraphicFramePr>
            <p:nvPr/>
          </p:nvGraphicFramePr>
          <p:xfrm>
            <a:off x="996943" y="6215082"/>
            <a:ext cx="2574925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9" name="公式" r:id="rId5" imgW="1590675" imgH="250825" progId="Equation.3">
                    <p:embed/>
                  </p:oleObj>
                </mc:Choice>
                <mc:Fallback>
                  <p:oleObj name="公式" r:id="rId5" imgW="1590675" imgH="25082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943" y="6215082"/>
                          <a:ext cx="2574925" cy="515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8" name="矩形 11"/>
            <p:cNvSpPr>
              <a:spLocks noChangeArrowheads="1"/>
            </p:cNvSpPr>
            <p:nvPr/>
          </p:nvSpPr>
          <p:spPr bwMode="auto">
            <a:xfrm>
              <a:off x="3857854" y="6253483"/>
              <a:ext cx="24769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zh-CN" altLang="en-US" sz="24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4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en-US" sz="24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无约束条件</a:t>
              </a:r>
              <a:endParaRPr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16"/>
          <p:cNvGrpSpPr/>
          <p:nvPr/>
        </p:nvGrpSpPr>
        <p:grpSpPr bwMode="auto">
          <a:xfrm>
            <a:off x="857250" y="4643438"/>
            <a:ext cx="4357688" cy="1500187"/>
            <a:chOff x="928659" y="4643446"/>
            <a:chExt cx="4357721" cy="1500199"/>
          </a:xfrm>
        </p:grpSpPr>
        <p:graphicFrame>
          <p:nvGraphicFramePr>
            <p:cNvPr id="27684" name="Object 12"/>
            <p:cNvGraphicFramePr>
              <a:graphicFrameLocks noChangeAspect="1"/>
            </p:cNvGraphicFramePr>
            <p:nvPr/>
          </p:nvGraphicFramePr>
          <p:xfrm>
            <a:off x="1155704" y="5120656"/>
            <a:ext cx="3773486" cy="1022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0" name="公式" r:id="rId7" imgW="2530475" imgH="651510" progId="Equation.3">
                    <p:embed/>
                  </p:oleObj>
                </mc:Choice>
                <mc:Fallback>
                  <p:oleObj name="公式" r:id="rId7" imgW="2530475" imgH="65151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704" y="5120656"/>
                          <a:ext cx="3773486" cy="1022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Rectangle 16"/>
            <p:cNvSpPr>
              <a:spLocks noChangeArrowheads="1"/>
            </p:cNvSpPr>
            <p:nvPr/>
          </p:nvSpPr>
          <p:spPr bwMode="auto">
            <a:xfrm>
              <a:off x="928659" y="4643446"/>
              <a:ext cx="4357721" cy="1500199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86" name="矩形 13"/>
            <p:cNvSpPr>
              <a:spLocks noChangeArrowheads="1"/>
            </p:cNvSpPr>
            <p:nvPr/>
          </p:nvSpPr>
          <p:spPr bwMode="auto">
            <a:xfrm>
              <a:off x="1071538" y="4671964"/>
              <a:ext cx="408316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主从</a:t>
              </a:r>
              <a:r>
                <a:rPr lang="en-US" altLang="zh-CN" sz="24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JK</a:t>
              </a:r>
              <a:r>
                <a:rPr lang="zh-CN" altLang="en-US" sz="24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触发器的特性方程：</a:t>
              </a:r>
              <a:endParaRPr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33"/>
          <p:cNvGrpSpPr/>
          <p:nvPr/>
        </p:nvGrpSpPr>
        <p:grpSpPr bwMode="auto">
          <a:xfrm>
            <a:off x="6500813" y="1143000"/>
            <a:ext cx="2300287" cy="2286000"/>
            <a:chOff x="6572264" y="1142990"/>
            <a:chExt cx="2300288" cy="2286005"/>
          </a:xfrm>
        </p:grpSpPr>
        <p:sp>
          <p:nvSpPr>
            <p:cNvPr id="27668" name="矩形 105"/>
            <p:cNvSpPr>
              <a:spLocks noChangeArrowheads="1"/>
            </p:cNvSpPr>
            <p:nvPr/>
          </p:nvSpPr>
          <p:spPr bwMode="auto">
            <a:xfrm>
              <a:off x="6572264" y="1142990"/>
              <a:ext cx="1728784" cy="461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逻辑符号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pSp>
          <p:nvGrpSpPr>
            <p:cNvPr id="27669" name="组合 18"/>
            <p:cNvGrpSpPr/>
            <p:nvPr/>
          </p:nvGrpSpPr>
          <p:grpSpPr bwMode="auto">
            <a:xfrm>
              <a:off x="6572264" y="1928805"/>
              <a:ext cx="2300288" cy="1500190"/>
              <a:chOff x="3286115" y="3571873"/>
              <a:chExt cx="2300288" cy="1500190"/>
            </a:xfrm>
          </p:grpSpPr>
          <p:grpSp>
            <p:nvGrpSpPr>
              <p:cNvPr id="27670" name="组合 21"/>
              <p:cNvGrpSpPr/>
              <p:nvPr/>
            </p:nvGrpSpPr>
            <p:grpSpPr bwMode="auto">
              <a:xfrm>
                <a:off x="3943344" y="3571873"/>
                <a:ext cx="1071565" cy="1500190"/>
                <a:chOff x="2143115" y="2500306"/>
                <a:chExt cx="1071565" cy="1500198"/>
              </a:xfrm>
            </p:grpSpPr>
            <p:graphicFrame>
              <p:nvGraphicFramePr>
                <p:cNvPr id="27679" name="Object 25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31" name="公式" r:id="rId9" imgW="152400" imgH="241300" progId="Equation.3">
                        <p:embed/>
                      </p:oleObj>
                    </mc:Choice>
                    <mc:Fallback>
                      <p:oleObj name="公式" r:id="rId9" imgW="152400" imgH="24130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0" name="Object 26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32" name="公式" r:id="rId11" imgW="152400" imgH="203200" progId="Equation.3">
                        <p:embed/>
                      </p:oleObj>
                    </mc:Choice>
                    <mc:Fallback>
                      <p:oleObj name="公式" r:id="rId11" imgW="152400" imgH="203200" progId="Equation.3">
                        <p:embed/>
                        <p:pic>
                          <p:nvPicPr>
                            <p:cNvPr id="0" name="Object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1" name="矩形 30"/>
                <p:cNvSpPr/>
                <p:nvPr/>
              </p:nvSpPr>
              <p:spPr>
                <a:xfrm rot="5400000">
                  <a:off x="1928793" y="2714625"/>
                  <a:ext cx="1500198" cy="10715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graphicFrame>
              <p:nvGraphicFramePr>
                <p:cNvPr id="27682" name="Object 27"/>
                <p:cNvGraphicFramePr>
                  <a:graphicFrameLocks noChangeAspect="1"/>
                </p:cNvGraphicFramePr>
                <p:nvPr/>
              </p:nvGraphicFramePr>
              <p:xfrm>
                <a:off x="2233613" y="3521081"/>
                <a:ext cx="215900" cy="2746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33" name="公式" r:id="rId13" imgW="139700" imgH="177800" progId="Equation.3">
                        <p:embed/>
                      </p:oleObj>
                    </mc:Choice>
                    <mc:Fallback>
                      <p:oleObj name="公式" r:id="rId13" imgW="139700" imgH="177800" progId="Equation.3">
                        <p:embed/>
                        <p:pic>
                          <p:nvPicPr>
                            <p:cNvPr id="0" name="Object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33613" y="3521081"/>
                              <a:ext cx="215900" cy="27463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3" name="Object 28"/>
                <p:cNvGraphicFramePr>
                  <a:graphicFrameLocks noChangeAspect="1"/>
                </p:cNvGraphicFramePr>
                <p:nvPr/>
              </p:nvGraphicFramePr>
              <p:xfrm>
                <a:off x="2339962" y="3154374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34" name="公式" r:id="rId15" imgW="241300" imgH="177800" progId="Equation.3">
                        <p:embed/>
                      </p:oleObj>
                    </mc:Choice>
                    <mc:Fallback>
                      <p:oleObj name="公式" r:id="rId15" imgW="241300" imgH="177800" progId="Equation.3">
                        <p:embed/>
                        <p:pic>
                          <p:nvPicPr>
                            <p:cNvPr id="0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9962" y="3154374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21" name="直接连接符 4"/>
              <p:cNvCxnSpPr/>
              <p:nvPr/>
            </p:nvCxnSpPr>
            <p:spPr bwMode="auto">
              <a:xfrm rot="10800000">
                <a:off x="5014903" y="3929061"/>
                <a:ext cx="571500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 bwMode="auto">
              <a:xfrm rot="10800000">
                <a:off x="5014903" y="4714875"/>
                <a:ext cx="571500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/>
              <p:cNvSpPr/>
              <p:nvPr/>
            </p:nvSpPr>
            <p:spPr bwMode="auto">
              <a:xfrm rot="5400000">
                <a:off x="3906033" y="4250530"/>
                <a:ext cx="249238" cy="1778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 bwMode="auto">
              <a:xfrm rot="5400000">
                <a:off x="3833802" y="4286250"/>
                <a:ext cx="107950" cy="10795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 bwMode="auto">
              <a:xfrm rot="10800000">
                <a:off x="3286115" y="4332287"/>
                <a:ext cx="539750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auto">
              <a:xfrm rot="10800000">
                <a:off x="3300402" y="4714875"/>
                <a:ext cx="642938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7677" name="Object 13"/>
              <p:cNvGraphicFramePr>
                <a:graphicFrameLocks noChangeAspect="1"/>
              </p:cNvGraphicFramePr>
              <p:nvPr/>
            </p:nvGraphicFramePr>
            <p:xfrm>
              <a:off x="4041751" y="3806831"/>
              <a:ext cx="255588" cy="2555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35" name="公式" r:id="rId17" imgW="165100" imgH="165100" progId="Equation.3">
                      <p:embed/>
                    </p:oleObj>
                  </mc:Choice>
                  <mc:Fallback>
                    <p:oleObj name="公式" r:id="rId17" imgW="165100" imgH="1651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1751" y="3806831"/>
                            <a:ext cx="255588" cy="2555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8" name="直接连接符 27"/>
              <p:cNvCxnSpPr/>
              <p:nvPr/>
            </p:nvCxnSpPr>
            <p:spPr bwMode="auto">
              <a:xfrm rot="10800000">
                <a:off x="3286115" y="3929061"/>
                <a:ext cx="642937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51"/>
          <p:cNvGrpSpPr/>
          <p:nvPr/>
        </p:nvGrpSpPr>
        <p:grpSpPr bwMode="auto">
          <a:xfrm>
            <a:off x="642938" y="1035050"/>
            <a:ext cx="5214937" cy="2608263"/>
            <a:chOff x="714319" y="1035812"/>
            <a:chExt cx="5215003" cy="2607502"/>
          </a:xfrm>
        </p:grpSpPr>
        <p:pic>
          <p:nvPicPr>
            <p:cNvPr id="27658" name="Picture 3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319" y="1035812"/>
              <a:ext cx="5215003" cy="260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659" name="组合 43"/>
            <p:cNvGrpSpPr/>
            <p:nvPr/>
          </p:nvGrpSpPr>
          <p:grpSpPr bwMode="auto">
            <a:xfrm>
              <a:off x="1655742" y="1189022"/>
              <a:ext cx="3585394" cy="1370816"/>
              <a:chOff x="1655742" y="1189022"/>
              <a:chExt cx="3585394" cy="1370816"/>
            </a:xfrm>
          </p:grpSpPr>
          <p:cxnSp>
            <p:nvCxnSpPr>
              <p:cNvPr id="36" name="直接连接符 35"/>
              <p:cNvCxnSpPr/>
              <p:nvPr/>
            </p:nvCxnSpPr>
            <p:spPr>
              <a:xfrm rot="5400000" flipH="1" flipV="1">
                <a:off x="4562674" y="1880115"/>
                <a:ext cx="1356916" cy="15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5400000" flipH="1" flipV="1">
                <a:off x="1507334" y="1350839"/>
                <a:ext cx="323756" cy="15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1668418" y="1202451"/>
                <a:ext cx="3571920" cy="158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1655718" y="1521445"/>
                <a:ext cx="107951" cy="15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接连接符 44"/>
            <p:cNvCxnSpPr/>
            <p:nvPr/>
          </p:nvCxnSpPr>
          <p:spPr>
            <a:xfrm rot="5400000" flipH="1" flipV="1">
              <a:off x="4680147" y="2321312"/>
              <a:ext cx="1331523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V="1">
              <a:off x="1668418" y="2975171"/>
              <a:ext cx="3671934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5400000" flipH="1" flipV="1">
              <a:off x="1525585" y="2832337"/>
              <a:ext cx="28725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668418" y="2681570"/>
              <a:ext cx="107951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285875"/>
            <a:ext cx="305752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24"/>
          <p:cNvSpPr txBox="1">
            <a:spLocks noChangeArrowheads="1"/>
          </p:cNvSpPr>
          <p:nvPr/>
        </p:nvSpPr>
        <p:spPr bwMode="auto">
          <a:xfrm>
            <a:off x="500063" y="285750"/>
            <a:ext cx="445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主从触发器简介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28638" y="785813"/>
            <a:ext cx="2027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）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74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LS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71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4787900" y="785813"/>
            <a:ext cx="2027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）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74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LS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72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2" name="组合 52"/>
          <p:cNvGrpSpPr/>
          <p:nvPr/>
        </p:nvGrpSpPr>
        <p:grpSpPr bwMode="auto">
          <a:xfrm>
            <a:off x="6380163" y="1214438"/>
            <a:ext cx="1906587" cy="1042987"/>
            <a:chOff x="6429388" y="1285860"/>
            <a:chExt cx="1907126" cy="1043052"/>
          </a:xfrm>
        </p:grpSpPr>
        <p:sp>
          <p:nvSpPr>
            <p:cNvPr id="48" name="椭圆形标注 47"/>
            <p:cNvSpPr/>
            <p:nvPr/>
          </p:nvSpPr>
          <p:spPr>
            <a:xfrm>
              <a:off x="6429388" y="1285860"/>
              <a:ext cx="1143323" cy="428652"/>
            </a:xfrm>
            <a:prstGeom prst="wedgeEllipseCallout">
              <a:avLst>
                <a:gd name="adj1" fmla="val 45833"/>
                <a:gd name="adj2" fmla="val 92129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8702" name="矩形 48"/>
            <p:cNvSpPr>
              <a:spLocks noChangeArrowheads="1"/>
            </p:cNvSpPr>
            <p:nvPr/>
          </p:nvSpPr>
          <p:spPr bwMode="auto">
            <a:xfrm>
              <a:off x="7000892" y="1928802"/>
              <a:ext cx="1335622" cy="40011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en-US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i="1" baseline="-2500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53"/>
          <p:cNvGrpSpPr/>
          <p:nvPr/>
        </p:nvGrpSpPr>
        <p:grpSpPr bwMode="auto">
          <a:xfrm>
            <a:off x="6000750" y="3071813"/>
            <a:ext cx="1804988" cy="1114425"/>
            <a:chOff x="6143636" y="2957452"/>
            <a:chExt cx="1805440" cy="1114490"/>
          </a:xfrm>
        </p:grpSpPr>
        <p:sp>
          <p:nvSpPr>
            <p:cNvPr id="28699" name="矩形 50"/>
            <p:cNvSpPr>
              <a:spLocks noChangeArrowheads="1"/>
            </p:cNvSpPr>
            <p:nvPr/>
          </p:nvSpPr>
          <p:spPr bwMode="auto">
            <a:xfrm>
              <a:off x="6786578" y="2957452"/>
              <a:ext cx="1162498" cy="40011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zh-CN" altLang="en-US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=J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i="1" baseline="-25000">
                <a:solidFill>
                  <a:srgbClr val="000000"/>
                </a:solidFill>
              </a:endParaRPr>
            </a:p>
          </p:txBody>
        </p:sp>
        <p:sp>
          <p:nvSpPr>
            <p:cNvPr id="52" name="椭圆形标注 51"/>
            <p:cNvSpPr/>
            <p:nvPr/>
          </p:nvSpPr>
          <p:spPr>
            <a:xfrm>
              <a:off x="6143636" y="3643292"/>
              <a:ext cx="1143286" cy="428650"/>
            </a:xfrm>
            <a:prstGeom prst="wedgeEllipseCallout">
              <a:avLst>
                <a:gd name="adj1" fmla="val 45833"/>
                <a:gd name="adj2" fmla="val -11527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组合 57"/>
          <p:cNvGrpSpPr/>
          <p:nvPr/>
        </p:nvGrpSpPr>
        <p:grpSpPr bwMode="auto">
          <a:xfrm>
            <a:off x="742950" y="4286250"/>
            <a:ext cx="3543300" cy="2286000"/>
            <a:chOff x="857224" y="4286256"/>
            <a:chExt cx="3543322" cy="2286016"/>
          </a:xfrm>
        </p:grpSpPr>
        <p:sp>
          <p:nvSpPr>
            <p:cNvPr id="28694" name="矩形 58"/>
            <p:cNvSpPr>
              <a:spLocks noChangeArrowheads="1"/>
            </p:cNvSpPr>
            <p:nvPr/>
          </p:nvSpPr>
          <p:spPr bwMode="auto">
            <a:xfrm>
              <a:off x="857224" y="4286256"/>
              <a:ext cx="17363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6600"/>
                  </a:solidFill>
                </a:rPr>
                <a:t> 功能特点</a:t>
              </a:r>
              <a:endParaRPr lang="zh-CN" altLang="en-US" sz="2400" b="1">
                <a:solidFill>
                  <a:srgbClr val="006600"/>
                </a:solidFill>
              </a:endParaRPr>
            </a:p>
          </p:txBody>
        </p:sp>
        <p:sp>
          <p:nvSpPr>
            <p:cNvPr id="28695" name="矩形 59"/>
            <p:cNvSpPr>
              <a:spLocks noChangeArrowheads="1"/>
            </p:cNvSpPr>
            <p:nvPr/>
          </p:nvSpPr>
          <p:spPr bwMode="auto">
            <a:xfrm>
              <a:off x="1127527" y="5386361"/>
              <a:ext cx="17299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下降沿触发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  <p:sp>
          <p:nvSpPr>
            <p:cNvPr id="28696" name="矩形 60"/>
            <p:cNvSpPr>
              <a:spLocks noChangeArrowheads="1"/>
            </p:cNvSpPr>
            <p:nvPr/>
          </p:nvSpPr>
          <p:spPr bwMode="auto">
            <a:xfrm>
              <a:off x="1142976" y="4957727"/>
              <a:ext cx="3026810" cy="40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多输入端，单</a:t>
              </a: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RS</a:t>
              </a: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  <p:sp>
          <p:nvSpPr>
            <p:cNvPr id="28697" name="矩形 61"/>
            <p:cNvSpPr>
              <a:spLocks noChangeArrowheads="1"/>
            </p:cNvSpPr>
            <p:nvPr/>
          </p:nvSpPr>
          <p:spPr bwMode="auto">
            <a:xfrm>
              <a:off x="1122993" y="5814972"/>
              <a:ext cx="30203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带有异步复位、置位端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低电平有效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928662" y="4857760"/>
              <a:ext cx="3471884" cy="1714512"/>
            </a:xfrm>
            <a:prstGeom prst="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5" name="组合 63"/>
          <p:cNvGrpSpPr/>
          <p:nvPr/>
        </p:nvGrpSpPr>
        <p:grpSpPr bwMode="auto">
          <a:xfrm>
            <a:off x="4957763" y="4286250"/>
            <a:ext cx="3624262" cy="2286000"/>
            <a:chOff x="5072066" y="4286256"/>
            <a:chExt cx="3624477" cy="2286016"/>
          </a:xfrm>
        </p:grpSpPr>
        <p:sp>
          <p:nvSpPr>
            <p:cNvPr id="28689" name="矩形 64"/>
            <p:cNvSpPr>
              <a:spLocks noChangeArrowheads="1"/>
            </p:cNvSpPr>
            <p:nvPr/>
          </p:nvSpPr>
          <p:spPr bwMode="auto">
            <a:xfrm>
              <a:off x="5072066" y="4286256"/>
              <a:ext cx="18743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6600"/>
                  </a:solidFill>
                </a:rPr>
                <a:t> 功能特点</a:t>
              </a:r>
              <a:endParaRPr lang="zh-CN" altLang="en-US" sz="2400" b="1">
                <a:solidFill>
                  <a:srgbClr val="006600"/>
                </a:solidFill>
              </a:endParaRPr>
            </a:p>
          </p:txBody>
        </p:sp>
        <p:sp>
          <p:nvSpPr>
            <p:cNvPr id="28690" name="矩形 65"/>
            <p:cNvSpPr>
              <a:spLocks noChangeArrowheads="1"/>
            </p:cNvSpPr>
            <p:nvPr/>
          </p:nvSpPr>
          <p:spPr bwMode="auto">
            <a:xfrm>
              <a:off x="5363855" y="5386361"/>
              <a:ext cx="17299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下降沿触发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  <p:sp>
          <p:nvSpPr>
            <p:cNvPr id="28691" name="矩形 66"/>
            <p:cNvSpPr>
              <a:spLocks noChangeArrowheads="1"/>
            </p:cNvSpPr>
            <p:nvPr/>
          </p:nvSpPr>
          <p:spPr bwMode="auto">
            <a:xfrm>
              <a:off x="5380532" y="4957730"/>
              <a:ext cx="308930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多输入端，单</a:t>
              </a: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JK</a:t>
              </a: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5149858" y="4857760"/>
              <a:ext cx="3546685" cy="1714512"/>
            </a:xfrm>
            <a:prstGeom prst="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8693" name="矩形 68"/>
            <p:cNvSpPr>
              <a:spLocks noChangeArrowheads="1"/>
            </p:cNvSpPr>
            <p:nvPr/>
          </p:nvSpPr>
          <p:spPr bwMode="auto">
            <a:xfrm>
              <a:off x="5357818" y="5826286"/>
              <a:ext cx="30203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带有异步复位、置位端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低电平有效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</p:grpSp>
      <p:pic>
        <p:nvPicPr>
          <p:cNvPr id="2972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266825"/>
            <a:ext cx="3165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2"/>
          <p:cNvGrpSpPr/>
          <p:nvPr/>
        </p:nvGrpSpPr>
        <p:grpSpPr bwMode="auto">
          <a:xfrm>
            <a:off x="2243138" y="1223963"/>
            <a:ext cx="1906587" cy="1042987"/>
            <a:chOff x="6429388" y="1285860"/>
            <a:chExt cx="1907508" cy="1043077"/>
          </a:xfrm>
        </p:grpSpPr>
        <p:sp>
          <p:nvSpPr>
            <p:cNvPr id="28" name="椭圆形标注 27"/>
            <p:cNvSpPr/>
            <p:nvPr/>
          </p:nvSpPr>
          <p:spPr>
            <a:xfrm>
              <a:off x="6429388" y="1285860"/>
              <a:ext cx="1143552" cy="428662"/>
            </a:xfrm>
            <a:prstGeom prst="wedgeEllipseCallout">
              <a:avLst>
                <a:gd name="adj1" fmla="val 45833"/>
                <a:gd name="adj2" fmla="val 92129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8688" name="矩形 48"/>
            <p:cNvSpPr>
              <a:spLocks noChangeArrowheads="1"/>
            </p:cNvSpPr>
            <p:nvPr/>
          </p:nvSpPr>
          <p:spPr bwMode="auto">
            <a:xfrm>
              <a:off x="7000896" y="1928802"/>
              <a:ext cx="1336000" cy="40013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=R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i="1" baseline="-2500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组合 53"/>
          <p:cNvGrpSpPr/>
          <p:nvPr/>
        </p:nvGrpSpPr>
        <p:grpSpPr bwMode="auto">
          <a:xfrm>
            <a:off x="1824038" y="3052763"/>
            <a:ext cx="1863725" cy="1114425"/>
            <a:chOff x="6143636" y="2957452"/>
            <a:chExt cx="1863460" cy="1114490"/>
          </a:xfrm>
        </p:grpSpPr>
        <p:sp>
          <p:nvSpPr>
            <p:cNvPr id="28685" name="矩形 50"/>
            <p:cNvSpPr>
              <a:spLocks noChangeArrowheads="1"/>
            </p:cNvSpPr>
            <p:nvPr/>
          </p:nvSpPr>
          <p:spPr bwMode="auto">
            <a:xfrm>
              <a:off x="6786584" y="2957452"/>
              <a:ext cx="1220512" cy="40013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en-US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i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i="1" baseline="-25000">
                <a:solidFill>
                  <a:srgbClr val="000000"/>
                </a:solidFill>
              </a:endParaRPr>
            </a:p>
          </p:txBody>
        </p:sp>
        <p:sp>
          <p:nvSpPr>
            <p:cNvPr id="34" name="椭圆形标注 33"/>
            <p:cNvSpPr/>
            <p:nvPr/>
          </p:nvSpPr>
          <p:spPr>
            <a:xfrm>
              <a:off x="6143636" y="3643292"/>
              <a:ext cx="1142837" cy="428650"/>
            </a:xfrm>
            <a:prstGeom prst="wedgeEllipseCallout">
              <a:avLst>
                <a:gd name="adj1" fmla="val 45833"/>
                <a:gd name="adj2" fmla="val -11527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0"/>
          <p:cNvGrpSpPr/>
          <p:nvPr/>
        </p:nvGrpSpPr>
        <p:grpSpPr bwMode="auto">
          <a:xfrm>
            <a:off x="581025" y="654050"/>
            <a:ext cx="7858125" cy="857250"/>
            <a:chOff x="642910" y="428604"/>
            <a:chExt cx="7768098" cy="857257"/>
          </a:xfrm>
        </p:grpSpPr>
        <p:sp>
          <p:nvSpPr>
            <p:cNvPr id="9297" name="矩形 77"/>
            <p:cNvSpPr>
              <a:spLocks noChangeArrowheads="1"/>
            </p:cNvSpPr>
            <p:nvPr/>
          </p:nvSpPr>
          <p:spPr bwMode="auto">
            <a:xfrm>
              <a:off x="712725" y="428604"/>
              <a:ext cx="762765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触发器的状态更新仅发生在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边沿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，且输出状态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仅取决于该时刻输入信号的状态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298" name="Rectangle 16"/>
            <p:cNvSpPr>
              <a:spLocks noChangeArrowheads="1"/>
            </p:cNvSpPr>
            <p:nvPr/>
          </p:nvSpPr>
          <p:spPr bwMode="auto">
            <a:xfrm>
              <a:off x="642910" y="428605"/>
              <a:ext cx="7768098" cy="857256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240" name="矩形 2"/>
          <p:cNvSpPr>
            <a:spLocks noChangeArrowheads="1"/>
          </p:cNvSpPr>
          <p:nvPr/>
        </p:nvSpPr>
        <p:spPr bwMode="auto">
          <a:xfrm>
            <a:off x="509588" y="0"/>
            <a:ext cx="6289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§5.4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边沿触发器（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flip-flop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Text Box 24"/>
          <p:cNvSpPr txBox="1">
            <a:spLocks noChangeArrowheads="1"/>
          </p:cNvSpPr>
          <p:nvPr/>
        </p:nvSpPr>
        <p:spPr bwMode="auto">
          <a:xfrm>
            <a:off x="571500" y="1549400"/>
            <a:ext cx="558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边沿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电路结构和工作原理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642938" y="5726113"/>
            <a:ext cx="80010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期间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1" indent="1778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主触发器保存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下降沿时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的取值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，其输出端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保持此值不变。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1" indent="2667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从触发器被选通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，其输出端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Qs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跟随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>
            <a:spLocks noChangeArrowheads="1"/>
          </p:cNvSpPr>
          <p:nvPr/>
        </p:nvSpPr>
        <p:spPr bwMode="auto">
          <a:xfrm>
            <a:off x="642938" y="4716463"/>
            <a:ext cx="7929562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 = 1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期间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主触发器被选通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，其输出端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跟随输入端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的变化而变化。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从触发器被封锁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保持原值。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78"/>
          <p:cNvGrpSpPr/>
          <p:nvPr/>
        </p:nvGrpSpPr>
        <p:grpSpPr bwMode="auto">
          <a:xfrm>
            <a:off x="6500813" y="1868488"/>
            <a:ext cx="2143125" cy="715962"/>
            <a:chOff x="6715140" y="1785926"/>
            <a:chExt cx="2143140" cy="715968"/>
          </a:xfrm>
        </p:grpSpPr>
        <p:grpSp>
          <p:nvGrpSpPr>
            <p:cNvPr id="9289" name="组合 69"/>
            <p:cNvGrpSpPr/>
            <p:nvPr/>
          </p:nvGrpSpPr>
          <p:grpSpPr bwMode="auto">
            <a:xfrm>
              <a:off x="6929454" y="1785926"/>
              <a:ext cx="1928826" cy="715968"/>
              <a:chOff x="1428728" y="5286388"/>
              <a:chExt cx="3786214" cy="715968"/>
            </a:xfrm>
          </p:grpSpPr>
          <p:cxnSp>
            <p:nvCxnSpPr>
              <p:cNvPr id="71" name="直接连接符 70"/>
              <p:cNvCxnSpPr/>
              <p:nvPr/>
            </p:nvCxnSpPr>
            <p:spPr>
              <a:xfrm>
                <a:off x="1428726" y="6000769"/>
                <a:ext cx="1071981" cy="158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4142959" y="6000769"/>
                <a:ext cx="1071981" cy="158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5400000">
                <a:off x="2144310" y="5644372"/>
                <a:ext cx="71279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5400000">
                <a:off x="3787326" y="5642021"/>
                <a:ext cx="714381" cy="311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2500707" y="5286388"/>
                <a:ext cx="1642251" cy="158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5400000">
                <a:off x="3965922" y="5534863"/>
                <a:ext cx="357191" cy="3115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5400000">
                <a:off x="2322111" y="5750736"/>
                <a:ext cx="357190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9238" name="Object 18"/>
            <p:cNvGraphicFramePr>
              <a:graphicFrameLocks noChangeAspect="1"/>
            </p:cNvGraphicFramePr>
            <p:nvPr/>
          </p:nvGraphicFramePr>
          <p:xfrm>
            <a:off x="6715140" y="2214554"/>
            <a:ext cx="515937" cy="234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5" name="公式" r:id="rId1" imgW="354965" imgH="177800" progId="Equation.3">
                    <p:embed/>
                  </p:oleObj>
                </mc:Choice>
                <mc:Fallback>
                  <p:oleObj name="公式" r:id="rId1" imgW="354965" imgH="177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5140" y="2214554"/>
                          <a:ext cx="515937" cy="234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81"/>
          <p:cNvGrpSpPr/>
          <p:nvPr/>
        </p:nvGrpSpPr>
        <p:grpSpPr bwMode="auto">
          <a:xfrm>
            <a:off x="6500813" y="868363"/>
            <a:ext cx="1785937" cy="785812"/>
            <a:chOff x="6715140" y="785794"/>
            <a:chExt cx="1785950" cy="785818"/>
          </a:xfrm>
        </p:grpSpPr>
        <p:sp>
          <p:nvSpPr>
            <p:cNvPr id="80" name="椭圆形标注 79"/>
            <p:cNvSpPr/>
            <p:nvPr/>
          </p:nvSpPr>
          <p:spPr>
            <a:xfrm>
              <a:off x="6715140" y="785794"/>
              <a:ext cx="1785950" cy="785818"/>
            </a:xfrm>
            <a:prstGeom prst="wedgeEllipseCallout">
              <a:avLst>
                <a:gd name="adj1" fmla="val 19700"/>
                <a:gd name="adj2" fmla="val 74506"/>
              </a:avLst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237" name="Object 19"/>
            <p:cNvGraphicFramePr>
              <a:graphicFrameLocks noChangeAspect="1"/>
            </p:cNvGraphicFramePr>
            <p:nvPr/>
          </p:nvGraphicFramePr>
          <p:xfrm>
            <a:off x="7072330" y="928670"/>
            <a:ext cx="1099678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6" name="公式" r:id="rId3" imgW="494665" imgH="203200" progId="Equation.3">
                    <p:embed/>
                  </p:oleObj>
                </mc:Choice>
                <mc:Fallback>
                  <p:oleObj name="公式" r:id="rId3" imgW="494665" imgH="20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2330" y="928670"/>
                          <a:ext cx="1099678" cy="411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85"/>
          <p:cNvGrpSpPr/>
          <p:nvPr/>
        </p:nvGrpSpPr>
        <p:grpSpPr bwMode="auto">
          <a:xfrm>
            <a:off x="6572250" y="2797175"/>
            <a:ext cx="2000250" cy="785813"/>
            <a:chOff x="6786578" y="2714620"/>
            <a:chExt cx="2000264" cy="785818"/>
          </a:xfrm>
        </p:grpSpPr>
        <p:sp>
          <p:nvSpPr>
            <p:cNvPr id="84" name="椭圆形标注 83"/>
            <p:cNvSpPr/>
            <p:nvPr/>
          </p:nvSpPr>
          <p:spPr>
            <a:xfrm>
              <a:off x="6786578" y="2714620"/>
              <a:ext cx="2000264" cy="785818"/>
            </a:xfrm>
            <a:prstGeom prst="wedgeEllipseCallout">
              <a:avLst>
                <a:gd name="adj1" fmla="val 25414"/>
                <a:gd name="adj2" fmla="val -116200"/>
              </a:avLst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236" name="Object 20"/>
            <p:cNvGraphicFramePr>
              <a:graphicFrameLocks noChangeAspect="1"/>
            </p:cNvGraphicFramePr>
            <p:nvPr/>
          </p:nvGraphicFramePr>
          <p:xfrm>
            <a:off x="6929454" y="2928934"/>
            <a:ext cx="172085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7" name="公式" r:id="rId5" imgW="774065" imgH="203200" progId="Equation.3">
                    <p:embed/>
                  </p:oleObj>
                </mc:Choice>
                <mc:Fallback>
                  <p:oleObj name="公式" r:id="rId5" imgW="774065" imgH="203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9454" y="2928934"/>
                          <a:ext cx="1720850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88"/>
          <p:cNvGrpSpPr/>
          <p:nvPr/>
        </p:nvGrpSpPr>
        <p:grpSpPr bwMode="auto">
          <a:xfrm>
            <a:off x="6286500" y="3797300"/>
            <a:ext cx="2428875" cy="1071563"/>
            <a:chOff x="6500826" y="3714752"/>
            <a:chExt cx="2428892" cy="1071570"/>
          </a:xfrm>
        </p:grpSpPr>
        <p:sp>
          <p:nvSpPr>
            <p:cNvPr id="88" name="圆角矩形标注 87"/>
            <p:cNvSpPr/>
            <p:nvPr/>
          </p:nvSpPr>
          <p:spPr>
            <a:xfrm>
              <a:off x="6500826" y="3714752"/>
              <a:ext cx="2428892" cy="1071570"/>
            </a:xfrm>
            <a:prstGeom prst="wedgeRoundRectCallout">
              <a:avLst>
                <a:gd name="adj1" fmla="val -71552"/>
                <a:gd name="adj2" fmla="val -66684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86" name="矩形 86"/>
            <p:cNvSpPr>
              <a:spLocks noChangeArrowheads="1"/>
            </p:cNvSpPr>
            <p:nvPr/>
          </p:nvSpPr>
          <p:spPr bwMode="auto">
            <a:xfrm>
              <a:off x="6715140" y="3714752"/>
              <a:ext cx="2071702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作为一个整体，可视为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下降沿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触发的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触发器。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104"/>
          <p:cNvGrpSpPr/>
          <p:nvPr/>
        </p:nvGrpSpPr>
        <p:grpSpPr bwMode="auto">
          <a:xfrm>
            <a:off x="6343650" y="1797050"/>
            <a:ext cx="2371725" cy="2428875"/>
            <a:chOff x="4572258" y="1000108"/>
            <a:chExt cx="2371730" cy="2428892"/>
          </a:xfrm>
        </p:grpSpPr>
        <p:sp>
          <p:nvSpPr>
            <p:cNvPr id="9275" name="矩形 105"/>
            <p:cNvSpPr>
              <a:spLocks noChangeArrowheads="1"/>
            </p:cNvSpPr>
            <p:nvPr/>
          </p:nvSpPr>
          <p:spPr bwMode="auto">
            <a:xfrm>
              <a:off x="4572258" y="1000108"/>
              <a:ext cx="17287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逻辑符号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276" name="组合 2"/>
            <p:cNvGrpSpPr/>
            <p:nvPr/>
          </p:nvGrpSpPr>
          <p:grpSpPr bwMode="auto">
            <a:xfrm>
              <a:off x="4643438" y="1928802"/>
              <a:ext cx="2300550" cy="1500198"/>
              <a:chOff x="6343416" y="3643314"/>
              <a:chExt cx="2300550" cy="1500198"/>
            </a:xfrm>
          </p:grpSpPr>
          <p:grpSp>
            <p:nvGrpSpPr>
              <p:cNvPr id="9277" name="组合 21"/>
              <p:cNvGrpSpPr/>
              <p:nvPr/>
            </p:nvGrpSpPr>
            <p:grpSpPr bwMode="auto">
              <a:xfrm>
                <a:off x="7000892" y="3643314"/>
                <a:ext cx="1071570" cy="1500198"/>
                <a:chOff x="2143108" y="2500306"/>
                <a:chExt cx="1071570" cy="1500198"/>
              </a:xfrm>
            </p:grpSpPr>
            <p:graphicFrame>
              <p:nvGraphicFramePr>
                <p:cNvPr id="9232" name="Object 25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68" name="公式" r:id="rId7" imgW="152400" imgH="241300" progId="Equation.3">
                        <p:embed/>
                      </p:oleObj>
                    </mc:Choice>
                    <mc:Fallback>
                      <p:oleObj name="公式" r:id="rId7" imgW="152400" imgH="24130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33" name="Object 26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69" name="公式" r:id="rId9" imgW="152400" imgH="203200" progId="Equation.3">
                        <p:embed/>
                      </p:oleObj>
                    </mc:Choice>
                    <mc:Fallback>
                      <p:oleObj name="公式" r:id="rId9" imgW="152400" imgH="203200" progId="Equation.3">
                        <p:embed/>
                        <p:pic>
                          <p:nvPicPr>
                            <p:cNvPr id="0" name="Object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7" name="矩形 116"/>
                <p:cNvSpPr/>
                <p:nvPr/>
              </p:nvSpPr>
              <p:spPr>
                <a:xfrm rot="5400000">
                  <a:off x="1928799" y="2714624"/>
                  <a:ext cx="1500197" cy="10715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9234" name="Object 27"/>
                <p:cNvGraphicFramePr>
                  <a:graphicFrameLocks noChangeAspect="1"/>
                </p:cNvGraphicFramePr>
                <p:nvPr/>
              </p:nvGraphicFramePr>
              <p:xfrm>
                <a:off x="2214546" y="3530602"/>
                <a:ext cx="255588" cy="255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0" name="公式" r:id="rId11" imgW="165100" imgH="165100" progId="Equation.3">
                        <p:embed/>
                      </p:oleObj>
                    </mc:Choice>
                    <mc:Fallback>
                      <p:oleObj name="公式" r:id="rId11" imgW="165100" imgH="165100" progId="Equation.3">
                        <p:embed/>
                        <p:pic>
                          <p:nvPicPr>
                            <p:cNvPr id="0" name="Object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530602"/>
                              <a:ext cx="255588" cy="2555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35" name="Object 28"/>
                <p:cNvGraphicFramePr>
                  <a:graphicFrameLocks noChangeAspect="1"/>
                </p:cNvGraphicFramePr>
                <p:nvPr/>
              </p:nvGraphicFramePr>
              <p:xfrm>
                <a:off x="2339962" y="3071810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1" name="公式" r:id="rId13" imgW="241300" imgH="177800" progId="Equation.3">
                        <p:embed/>
                      </p:oleObj>
                    </mc:Choice>
                    <mc:Fallback>
                      <p:oleObj name="公式" r:id="rId13" imgW="241300" imgH="177800" progId="Equation.3">
                        <p:embed/>
                        <p:pic>
                          <p:nvPicPr>
                            <p:cNvPr id="0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9962" y="3071810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09" name="直接连接符 4"/>
              <p:cNvCxnSpPr/>
              <p:nvPr/>
            </p:nvCxnSpPr>
            <p:spPr bwMode="auto">
              <a:xfrm rot="10800000">
                <a:off x="8072465" y="4000504"/>
                <a:ext cx="571501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 bwMode="auto">
              <a:xfrm rot="10800000">
                <a:off x="8072465" y="4786323"/>
                <a:ext cx="571501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等腰三角形 110"/>
              <p:cNvSpPr/>
              <p:nvPr/>
            </p:nvSpPr>
            <p:spPr>
              <a:xfrm rot="5400000">
                <a:off x="6963593" y="4250538"/>
                <a:ext cx="249239" cy="1778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 bwMode="auto">
              <a:xfrm rot="5400000">
                <a:off x="6891362" y="4286257"/>
                <a:ext cx="107951" cy="10795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113" name="直接连接符 112"/>
              <p:cNvCxnSpPr/>
              <p:nvPr/>
            </p:nvCxnSpPr>
            <p:spPr bwMode="auto">
              <a:xfrm rot="10800000">
                <a:off x="6343674" y="4332295"/>
                <a:ext cx="539751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 bwMode="auto">
              <a:xfrm rot="10800000">
                <a:off x="6357961" y="4786323"/>
                <a:ext cx="642939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85"/>
          <p:cNvGrpSpPr/>
          <p:nvPr/>
        </p:nvGrpSpPr>
        <p:grpSpPr bwMode="auto">
          <a:xfrm>
            <a:off x="714375" y="2082800"/>
            <a:ext cx="5453063" cy="2571750"/>
            <a:chOff x="714375" y="1928813"/>
            <a:chExt cx="5453063" cy="2571750"/>
          </a:xfrm>
        </p:grpSpPr>
        <p:grpSp>
          <p:nvGrpSpPr>
            <p:cNvPr id="9250" name="组合 65"/>
            <p:cNvGrpSpPr/>
            <p:nvPr/>
          </p:nvGrpSpPr>
          <p:grpSpPr bwMode="auto">
            <a:xfrm>
              <a:off x="714375" y="1928813"/>
              <a:ext cx="5453063" cy="2571750"/>
              <a:chOff x="282575" y="1357298"/>
              <a:chExt cx="5813434" cy="3000396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1286176" y="1357298"/>
                <a:ext cx="4357959" cy="3000396"/>
              </a:xfrm>
              <a:prstGeom prst="rect">
                <a:avLst/>
              </a:prstGeom>
              <a:noFill/>
              <a:ln w="19050">
                <a:solidFill>
                  <a:srgbClr val="FF006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6" name="直接连接符 35"/>
              <p:cNvCxnSpPr/>
              <p:nvPr/>
            </p:nvCxnSpPr>
            <p:spPr bwMode="auto">
              <a:xfrm rot="5400000">
                <a:off x="680011" y="3250220"/>
                <a:ext cx="1498346" cy="16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 bwMode="auto">
              <a:xfrm rot="10800000">
                <a:off x="785222" y="4000240"/>
                <a:ext cx="1501168" cy="185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58" name="组合 20"/>
              <p:cNvGrpSpPr/>
              <p:nvPr/>
            </p:nvGrpSpPr>
            <p:grpSpPr bwMode="auto">
              <a:xfrm>
                <a:off x="2000232" y="1785926"/>
                <a:ext cx="1071570" cy="1500198"/>
                <a:chOff x="2143108" y="2500306"/>
                <a:chExt cx="1071570" cy="1500198"/>
              </a:xfrm>
            </p:grpSpPr>
            <p:graphicFrame>
              <p:nvGraphicFramePr>
                <p:cNvPr id="9228" name="Object 2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2" name="公式" r:id="rId15" imgW="152400" imgH="241300" progId="Equation.3">
                        <p:embed/>
                      </p:oleObj>
                    </mc:Choice>
                    <mc:Fallback>
                      <p:oleObj name="公式" r:id="rId15" imgW="152400" imgH="241300" progId="Equation.3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29" name="Object 3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3" name="公式" r:id="rId16" imgW="152400" imgH="203200" progId="Equation.3">
                        <p:embed/>
                      </p:oleObj>
                    </mc:Choice>
                    <mc:Fallback>
                      <p:oleObj name="公式" r:id="rId16" imgW="152400" imgH="203200" progId="Equation.3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" name="矩形 6"/>
                <p:cNvSpPr/>
                <p:nvPr/>
              </p:nvSpPr>
              <p:spPr>
                <a:xfrm rot="5400000">
                  <a:off x="1928798" y="2713964"/>
                  <a:ext cx="1500198" cy="107129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9230" name="Object 4"/>
                <p:cNvGraphicFramePr>
                  <a:graphicFrameLocks noChangeAspect="1"/>
                </p:cNvGraphicFramePr>
                <p:nvPr/>
              </p:nvGraphicFramePr>
              <p:xfrm>
                <a:off x="2214546" y="3530602"/>
                <a:ext cx="255588" cy="255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4" name="公式" r:id="rId17" imgW="165100" imgH="165100" progId="Equation.3">
                        <p:embed/>
                      </p:oleObj>
                    </mc:Choice>
                    <mc:Fallback>
                      <p:oleObj name="公式" r:id="rId17" imgW="165100" imgH="165100" progId="Equation.3">
                        <p:embed/>
                        <p:pic>
                          <p:nvPicPr>
                            <p:cNvPr id="0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530602"/>
                              <a:ext cx="255588" cy="2555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31" name="Object 5"/>
                <p:cNvGraphicFramePr>
                  <a:graphicFrameLocks noChangeAspect="1"/>
                </p:cNvGraphicFramePr>
                <p:nvPr/>
              </p:nvGraphicFramePr>
              <p:xfrm>
                <a:off x="2214546" y="3071810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5" name="公式" r:id="rId18" imgW="241300" imgH="177800" progId="Equation.3">
                        <p:embed/>
                      </p:oleObj>
                    </mc:Choice>
                    <mc:Fallback>
                      <p:oleObj name="公式" r:id="rId18" imgW="241300" imgH="177800" progId="Equation.3">
                        <p:embed/>
                        <p:pic>
                          <p:nvPicPr>
                            <p:cNvPr id="0" name="Object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071810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4" name="直接连接符 13"/>
              <p:cNvCxnSpPr/>
              <p:nvPr/>
            </p:nvCxnSpPr>
            <p:spPr bwMode="auto">
              <a:xfrm rot="5400000">
                <a:off x="2893686" y="3250220"/>
                <a:ext cx="1498346" cy="16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椭圆 16"/>
              <p:cNvSpPr/>
              <p:nvPr/>
            </p:nvSpPr>
            <p:spPr bwMode="auto">
              <a:xfrm rot="16200000">
                <a:off x="1369470" y="3942299"/>
                <a:ext cx="109273" cy="10662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 bwMode="auto">
              <a:xfrm rot="10800000">
                <a:off x="2824577" y="4002092"/>
                <a:ext cx="83266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 bwMode="auto">
              <a:xfrm rot="10800000">
                <a:off x="3071669" y="2929728"/>
                <a:ext cx="11423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63" name="组合 21"/>
              <p:cNvGrpSpPr/>
              <p:nvPr/>
            </p:nvGrpSpPr>
            <p:grpSpPr bwMode="auto">
              <a:xfrm>
                <a:off x="4214810" y="1785926"/>
                <a:ext cx="1071570" cy="1500198"/>
                <a:chOff x="2143108" y="2500306"/>
                <a:chExt cx="1071570" cy="1500198"/>
              </a:xfrm>
            </p:grpSpPr>
            <p:graphicFrame>
              <p:nvGraphicFramePr>
                <p:cNvPr id="9224" name="Object 8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6" name="公式" r:id="rId19" imgW="152400" imgH="241300" progId="Equation.3">
                        <p:embed/>
                      </p:oleObj>
                    </mc:Choice>
                    <mc:Fallback>
                      <p:oleObj name="公式" r:id="rId19" imgW="152400" imgH="241300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25" name="Object 9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7" name="公式" r:id="rId20" imgW="152400" imgH="203200" progId="Equation.3">
                        <p:embed/>
                      </p:oleObj>
                    </mc:Choice>
                    <mc:Fallback>
                      <p:oleObj name="公式" r:id="rId20" imgW="152400" imgH="203200" progId="Equation.3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矩形 24"/>
                <p:cNvSpPr/>
                <p:nvPr/>
              </p:nvSpPr>
              <p:spPr>
                <a:xfrm rot="5400000">
                  <a:off x="1927895" y="2713964"/>
                  <a:ext cx="1500198" cy="107129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9226" name="Object 10"/>
                <p:cNvGraphicFramePr>
                  <a:graphicFrameLocks noChangeAspect="1"/>
                </p:cNvGraphicFramePr>
                <p:nvPr/>
              </p:nvGraphicFramePr>
              <p:xfrm>
                <a:off x="2214546" y="3530602"/>
                <a:ext cx="255588" cy="255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8" name="公式" r:id="rId21" imgW="165100" imgH="165100" progId="Equation.3">
                        <p:embed/>
                      </p:oleObj>
                    </mc:Choice>
                    <mc:Fallback>
                      <p:oleObj name="公式" r:id="rId21" imgW="165100" imgH="165100" progId="Equation.3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530602"/>
                              <a:ext cx="255588" cy="2555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27" name="Object 11"/>
                <p:cNvGraphicFramePr>
                  <a:graphicFrameLocks noChangeAspect="1"/>
                </p:cNvGraphicFramePr>
                <p:nvPr/>
              </p:nvGraphicFramePr>
              <p:xfrm>
                <a:off x="2214546" y="3071810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79" name="公式" r:id="rId22" imgW="241300" imgH="177800" progId="Equation.3">
                        <p:embed/>
                      </p:oleObj>
                    </mc:Choice>
                    <mc:Fallback>
                      <p:oleObj name="公式" r:id="rId22" imgW="241300" imgH="17780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071810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34" name="直接连接符 33"/>
              <p:cNvCxnSpPr/>
              <p:nvPr/>
            </p:nvCxnSpPr>
            <p:spPr bwMode="auto">
              <a:xfrm rot="10800000">
                <a:off x="3643704" y="2500042"/>
                <a:ext cx="57034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auto">
              <a:xfrm rot="10800000">
                <a:off x="1428338" y="2500042"/>
                <a:ext cx="572035" cy="185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 rot="10800000">
                <a:off x="785222" y="2929728"/>
                <a:ext cx="121515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auto">
              <a:xfrm rot="10800000">
                <a:off x="5287036" y="2142587"/>
                <a:ext cx="570342" cy="185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 bwMode="auto">
              <a:xfrm rot="10800000">
                <a:off x="5287036" y="2929728"/>
                <a:ext cx="57034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69" name="矩形 54"/>
              <p:cNvSpPr>
                <a:spLocks noChangeArrowheads="1"/>
              </p:cNvSpPr>
              <p:nvPr/>
            </p:nvSpPr>
            <p:spPr bwMode="auto">
              <a:xfrm>
                <a:off x="2071670" y="1428736"/>
                <a:ext cx="91403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D-Latch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70" name="矩形 55"/>
              <p:cNvSpPr>
                <a:spLocks noChangeArrowheads="1"/>
              </p:cNvSpPr>
              <p:nvPr/>
            </p:nvSpPr>
            <p:spPr bwMode="auto">
              <a:xfrm>
                <a:off x="4300909" y="1428736"/>
                <a:ext cx="91403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D-Latch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9218" name="Object 12"/>
              <p:cNvGraphicFramePr>
                <a:graphicFrameLocks noChangeAspect="1"/>
              </p:cNvGraphicFramePr>
              <p:nvPr/>
            </p:nvGraphicFramePr>
            <p:xfrm>
              <a:off x="282575" y="3848366"/>
              <a:ext cx="550030" cy="274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0" name="公式" r:id="rId23" imgW="354965" imgH="177800" progId="Equation.3">
                      <p:embed/>
                    </p:oleObj>
                  </mc:Choice>
                  <mc:Fallback>
                    <p:oleObj name="公式" r:id="rId23" imgW="354965" imgH="177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575" y="3848366"/>
                            <a:ext cx="550030" cy="274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19" name="Object 13"/>
              <p:cNvGraphicFramePr>
                <a:graphicFrameLocks noChangeAspect="1"/>
              </p:cNvGraphicFramePr>
              <p:nvPr/>
            </p:nvGraphicFramePr>
            <p:xfrm>
              <a:off x="483974" y="2785270"/>
              <a:ext cx="255552" cy="2555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1" name="公式" r:id="rId24" imgW="165100" imgH="165100" progId="Equation.3">
                      <p:embed/>
                    </p:oleObj>
                  </mc:Choice>
                  <mc:Fallback>
                    <p:oleObj name="公式" r:id="rId24" imgW="165100" imgH="1651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974" y="2785270"/>
                            <a:ext cx="255552" cy="2555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0" name="Object 14"/>
              <p:cNvGraphicFramePr>
                <a:graphicFrameLocks noChangeAspect="1"/>
              </p:cNvGraphicFramePr>
              <p:nvPr/>
            </p:nvGraphicFramePr>
            <p:xfrm>
              <a:off x="5857884" y="1928802"/>
              <a:ext cx="238125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2" name="公式" r:id="rId26" imgW="152400" imgH="241300" progId="Equation.3">
                      <p:embed/>
                    </p:oleObj>
                  </mc:Choice>
                  <mc:Fallback>
                    <p:oleObj name="公式" r:id="rId26" imgW="152400" imgH="24130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57884" y="1928802"/>
                            <a:ext cx="238125" cy="3730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1" name="Object 15"/>
              <p:cNvGraphicFramePr>
                <a:graphicFrameLocks noChangeAspect="1"/>
              </p:cNvGraphicFramePr>
              <p:nvPr/>
            </p:nvGraphicFramePr>
            <p:xfrm>
              <a:off x="5857884" y="2786058"/>
              <a:ext cx="236537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3" name="公式" r:id="rId27" imgW="152400" imgH="203200" progId="Equation.3">
                      <p:embed/>
                    </p:oleObj>
                  </mc:Choice>
                  <mc:Fallback>
                    <p:oleObj name="公式" r:id="rId27" imgW="152400" imgH="2032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57884" y="2786058"/>
                            <a:ext cx="236537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2" name="Object 16"/>
              <p:cNvGraphicFramePr>
                <a:graphicFrameLocks noChangeAspect="1"/>
              </p:cNvGraphicFramePr>
              <p:nvPr/>
            </p:nvGraphicFramePr>
            <p:xfrm>
              <a:off x="5305650" y="2929732"/>
              <a:ext cx="296171" cy="3130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4" name="公式" r:id="rId28" imgW="190500" imgH="203200" progId="Equation.3">
                      <p:embed/>
                    </p:oleObj>
                  </mc:Choice>
                  <mc:Fallback>
                    <p:oleObj name="公式" r:id="rId28" imgW="190500" imgH="2032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05650" y="2929732"/>
                            <a:ext cx="296171" cy="3130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3" name="Object 17"/>
              <p:cNvGraphicFramePr>
                <a:graphicFrameLocks noChangeAspect="1"/>
              </p:cNvGraphicFramePr>
              <p:nvPr/>
            </p:nvGraphicFramePr>
            <p:xfrm>
              <a:off x="3144455" y="2929732"/>
              <a:ext cx="333402" cy="3130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5" name="公式" r:id="rId30" imgW="215900" imgH="203200" progId="Equation.3">
                      <p:embed/>
                    </p:oleObj>
                  </mc:Choice>
                  <mc:Fallback>
                    <p:oleObj name="公式" r:id="rId30" imgW="215900" imgH="2032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44455" y="2929732"/>
                            <a:ext cx="333402" cy="3130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71" name="矩形 63"/>
              <p:cNvSpPr>
                <a:spLocks noChangeArrowheads="1"/>
              </p:cNvSpPr>
              <p:nvPr/>
            </p:nvSpPr>
            <p:spPr bwMode="auto">
              <a:xfrm>
                <a:off x="4643438" y="2357430"/>
                <a:ext cx="442750" cy="40011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</a:t>
                </a: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72" name="矩形 64"/>
              <p:cNvSpPr>
                <a:spLocks noChangeArrowheads="1"/>
              </p:cNvSpPr>
              <p:nvPr/>
            </p:nvSpPr>
            <p:spPr bwMode="auto">
              <a:xfrm>
                <a:off x="2414738" y="2357430"/>
                <a:ext cx="442750" cy="40011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主</a:t>
                </a: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251" name="组合 80"/>
            <p:cNvGrpSpPr/>
            <p:nvPr/>
          </p:nvGrpSpPr>
          <p:grpSpPr bwMode="auto">
            <a:xfrm>
              <a:off x="2571736" y="3941304"/>
              <a:ext cx="545029" cy="500066"/>
              <a:chOff x="1409678" y="3357562"/>
              <a:chExt cx="545029" cy="500066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1409692" y="3358021"/>
                <a:ext cx="428625" cy="5000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 bwMode="auto">
              <a:xfrm rot="16200000">
                <a:off x="1846255" y="3554871"/>
                <a:ext cx="107950" cy="10795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54" name="矩形 84"/>
              <p:cNvSpPr>
                <a:spLocks noChangeArrowheads="1"/>
              </p:cNvSpPr>
              <p:nvPr/>
            </p:nvSpPr>
            <p:spPr bwMode="auto">
              <a:xfrm>
                <a:off x="1489715" y="3429000"/>
                <a:ext cx="28725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4"/>
          <p:cNvSpPr txBox="1">
            <a:spLocks noChangeArrowheads="1"/>
          </p:cNvSpPr>
          <p:nvPr/>
        </p:nvSpPr>
        <p:spPr bwMode="auto">
          <a:xfrm>
            <a:off x="642938" y="214313"/>
            <a:ext cx="445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集成边沿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触发器简介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44525" y="714375"/>
            <a:ext cx="2027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 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74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LS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74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672013" y="714375"/>
            <a:ext cx="2103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 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74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LS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76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2" name="组合 8"/>
          <p:cNvGrpSpPr/>
          <p:nvPr/>
        </p:nvGrpSpPr>
        <p:grpSpPr bwMode="auto">
          <a:xfrm>
            <a:off x="742950" y="4214813"/>
            <a:ext cx="3357563" cy="2286000"/>
            <a:chOff x="857224" y="4286256"/>
            <a:chExt cx="3357586" cy="2286016"/>
          </a:xfrm>
        </p:grpSpPr>
        <p:sp>
          <p:nvSpPr>
            <p:cNvPr id="29710" name="矩形 9"/>
            <p:cNvSpPr>
              <a:spLocks noChangeArrowheads="1"/>
            </p:cNvSpPr>
            <p:nvPr/>
          </p:nvSpPr>
          <p:spPr bwMode="auto">
            <a:xfrm>
              <a:off x="857224" y="4286256"/>
              <a:ext cx="17363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功能特点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1" name="矩形 10"/>
            <p:cNvSpPr>
              <a:spLocks noChangeArrowheads="1"/>
            </p:cNvSpPr>
            <p:nvPr/>
          </p:nvSpPr>
          <p:spPr bwMode="auto">
            <a:xfrm>
              <a:off x="1127527" y="5357826"/>
              <a:ext cx="17299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上升沿触发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2" name="矩形 11"/>
            <p:cNvSpPr>
              <a:spLocks noChangeArrowheads="1"/>
            </p:cNvSpPr>
            <p:nvPr/>
          </p:nvSpPr>
          <p:spPr bwMode="auto">
            <a:xfrm>
              <a:off x="1142976" y="4857760"/>
              <a:ext cx="16578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双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3" name="矩形 12"/>
            <p:cNvSpPr>
              <a:spLocks noChangeArrowheads="1"/>
            </p:cNvSpPr>
            <p:nvPr/>
          </p:nvSpPr>
          <p:spPr bwMode="auto">
            <a:xfrm>
              <a:off x="1122993" y="5814972"/>
              <a:ext cx="30203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带有异步复位、置位端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低电平有效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28662" y="4857760"/>
              <a:ext cx="3286148" cy="1714512"/>
            </a:xfrm>
            <a:prstGeom prst="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14"/>
          <p:cNvGrpSpPr/>
          <p:nvPr/>
        </p:nvGrpSpPr>
        <p:grpSpPr bwMode="auto">
          <a:xfrm>
            <a:off x="4886325" y="4214813"/>
            <a:ext cx="3429000" cy="2286000"/>
            <a:chOff x="5072066" y="4286256"/>
            <a:chExt cx="3429232" cy="2286016"/>
          </a:xfrm>
        </p:grpSpPr>
        <p:sp>
          <p:nvSpPr>
            <p:cNvPr id="29705" name="矩形 15"/>
            <p:cNvSpPr>
              <a:spLocks noChangeArrowheads="1"/>
            </p:cNvSpPr>
            <p:nvPr/>
          </p:nvSpPr>
          <p:spPr bwMode="auto">
            <a:xfrm>
              <a:off x="5072066" y="4286256"/>
              <a:ext cx="18743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功能特点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06" name="矩形 16"/>
            <p:cNvSpPr>
              <a:spLocks noChangeArrowheads="1"/>
            </p:cNvSpPr>
            <p:nvPr/>
          </p:nvSpPr>
          <p:spPr bwMode="auto">
            <a:xfrm>
              <a:off x="5363855" y="5357825"/>
              <a:ext cx="1730078" cy="40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下降沿触发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07" name="矩形 17"/>
            <p:cNvSpPr>
              <a:spLocks noChangeArrowheads="1"/>
            </p:cNvSpPr>
            <p:nvPr/>
          </p:nvSpPr>
          <p:spPr bwMode="auto">
            <a:xfrm>
              <a:off x="5380532" y="4857760"/>
              <a:ext cx="1799012" cy="40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双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JK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触发器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149859" y="4857760"/>
              <a:ext cx="3351439" cy="1714512"/>
            </a:xfrm>
            <a:prstGeom prst="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09" name="矩形 19"/>
            <p:cNvSpPr>
              <a:spLocks noChangeArrowheads="1"/>
            </p:cNvSpPr>
            <p:nvPr/>
          </p:nvSpPr>
          <p:spPr bwMode="auto">
            <a:xfrm>
              <a:off x="5357818" y="5826286"/>
              <a:ext cx="30203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带有异步复位、置位端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低电平有效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39" name="Picture 1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285875"/>
            <a:ext cx="30765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0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3" y="1376363"/>
            <a:ext cx="28575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90"/>
          <p:cNvSpPr>
            <a:spLocks noChangeArrowheads="1"/>
          </p:cNvSpPr>
          <p:nvPr/>
        </p:nvSpPr>
        <p:spPr bwMode="auto">
          <a:xfrm>
            <a:off x="122238" y="71438"/>
            <a:ext cx="7350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§5.5  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触发器的逻辑功能与描述方法</a:t>
            </a:r>
            <a:r>
              <a:rPr lang="zh-CN" altLang="en-US" sz="36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36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71500" y="690563"/>
            <a:ext cx="2447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 flipH="1">
            <a:off x="6286500" y="1214438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7"/>
          <p:cNvGrpSpPr/>
          <p:nvPr/>
        </p:nvGrpSpPr>
        <p:grpSpPr bwMode="auto">
          <a:xfrm>
            <a:off x="1143000" y="1785938"/>
            <a:ext cx="2536825" cy="892175"/>
            <a:chOff x="1357290" y="1360488"/>
            <a:chExt cx="2536848" cy="892175"/>
          </a:xfrm>
        </p:grpSpPr>
        <p:graphicFrame>
          <p:nvGraphicFramePr>
            <p:cNvPr id="32778" name="Object 12"/>
            <p:cNvGraphicFramePr>
              <a:graphicFrameLocks noChangeAspect="1"/>
            </p:cNvGraphicFramePr>
            <p:nvPr/>
          </p:nvGraphicFramePr>
          <p:xfrm>
            <a:off x="1622425" y="1360488"/>
            <a:ext cx="2271713" cy="892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4" name="公式" r:id="rId1" imgW="1390650" imgH="525780" progId="Equation.3">
                    <p:embed/>
                  </p:oleObj>
                </mc:Choice>
                <mc:Fallback>
                  <p:oleObj name="公式" r:id="rId1" imgW="1390650" imgH="5257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425" y="1360488"/>
                          <a:ext cx="2271713" cy="892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左大括号 6"/>
            <p:cNvSpPr/>
            <p:nvPr/>
          </p:nvSpPr>
          <p:spPr>
            <a:xfrm>
              <a:off x="1357290" y="1500188"/>
              <a:ext cx="214315" cy="642937"/>
            </a:xfrm>
            <a:prstGeom prst="leftBrace">
              <a:avLst>
                <a:gd name="adj1" fmla="val 23571"/>
                <a:gd name="adj2" fmla="val 5254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928688" y="12144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特性方程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1714500"/>
            <a:ext cx="281940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795713"/>
            <a:ext cx="450056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Box 15"/>
          <p:cNvSpPr txBox="1">
            <a:spLocks noChangeArrowheads="1"/>
          </p:cNvSpPr>
          <p:nvPr/>
        </p:nvSpPr>
        <p:spPr bwMode="auto">
          <a:xfrm flipH="1">
            <a:off x="928688" y="3252788"/>
            <a:ext cx="2286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"/>
          <p:cNvSpPr>
            <a:spLocks noChangeArrowheads="1"/>
          </p:cNvSpPr>
          <p:nvPr/>
        </p:nvSpPr>
        <p:spPr bwMode="auto">
          <a:xfrm>
            <a:off x="428625" y="357188"/>
            <a:ext cx="2446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 flipH="1">
            <a:off x="6429375" y="1106488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1071563" y="1606550"/>
          <a:ext cx="23225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公式" r:id="rId1" imgW="1415415" imgH="238125" progId="Equation.3">
                  <p:embed/>
                </p:oleObj>
              </mc:Choice>
              <mc:Fallback>
                <p:oleObj name="公式" r:id="rId1" imgW="1415415" imgH="2381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606550"/>
                        <a:ext cx="23225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85813" y="110648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特性方程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 flipH="1">
            <a:off x="785813" y="2928938"/>
            <a:ext cx="2286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606550"/>
            <a:ext cx="2790825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005263"/>
            <a:ext cx="41275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22"/>
          <p:cNvSpPr>
            <a:spLocks noChangeArrowheads="1"/>
          </p:cNvSpPr>
          <p:nvPr/>
        </p:nvSpPr>
        <p:spPr bwMode="auto">
          <a:xfrm>
            <a:off x="500063" y="357188"/>
            <a:ext cx="2247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 flipH="1">
            <a:off x="6357938" y="11509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1285875" y="1676400"/>
          <a:ext cx="11620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公式" r:id="rId1" imgW="651510" imgH="225425" progId="Equation.3">
                  <p:embed/>
                </p:oleObj>
              </mc:Choice>
              <mc:Fallback>
                <p:oleObj name="公式" r:id="rId1" imgW="651510" imgH="2254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676400"/>
                        <a:ext cx="11620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857250" y="11509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特性方程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 flipH="1">
            <a:off x="857250" y="2857500"/>
            <a:ext cx="228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Group 140"/>
          <p:cNvGraphicFramePr>
            <a:graphicFrameLocks noGrp="1"/>
          </p:cNvGraphicFramePr>
          <p:nvPr/>
        </p:nvGraphicFramePr>
        <p:xfrm>
          <a:off x="6072188" y="1771650"/>
          <a:ext cx="2286000" cy="1571625"/>
        </p:xfrm>
        <a:graphic>
          <a:graphicData uri="http://schemas.openxmlformats.org/drawingml/2006/table">
            <a:tbl>
              <a:tblPr/>
              <a:tblGrid>
                <a:gridCol w="1144587"/>
                <a:gridCol w="1141413"/>
              </a:tblGrid>
              <a:tr h="523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5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  <a:endParaRPr kumimoji="0" lang="en-US" altLang="zh-CN" sz="2000" b="1" i="0" u="none" strike="noStrike" cap="none" normalizeH="0" baseline="50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5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438525"/>
            <a:ext cx="5457825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1"/>
          <p:cNvSpPr>
            <a:spLocks noChangeArrowheads="1"/>
          </p:cNvSpPr>
          <p:nvPr/>
        </p:nvSpPr>
        <p:spPr bwMode="auto">
          <a:xfrm>
            <a:off x="357188" y="285750"/>
            <a:ext cx="2227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 flipH="1">
            <a:off x="6072188" y="1357313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14375" y="1363663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特性方程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 flipH="1">
            <a:off x="714375" y="2705100"/>
            <a:ext cx="228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857250" y="823913"/>
            <a:ext cx="8215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相连作为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输入端就构成了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触发器。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857375"/>
            <a:ext cx="2776537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143250"/>
            <a:ext cx="4246563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ctangle 48"/>
          <p:cNvSpPr>
            <a:spLocks noChangeArrowheads="1"/>
          </p:cNvSpPr>
          <p:nvPr/>
        </p:nvSpPr>
        <p:spPr bwMode="auto">
          <a:xfrm>
            <a:off x="630238" y="5000625"/>
            <a:ext cx="685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当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触发器的输入端为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时，称为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触发器。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41"/>
          <p:cNvGrpSpPr/>
          <p:nvPr/>
        </p:nvGrpSpPr>
        <p:grpSpPr bwMode="auto">
          <a:xfrm>
            <a:off x="1003300" y="5643563"/>
            <a:ext cx="3425825" cy="500062"/>
            <a:chOff x="1142976" y="5500688"/>
            <a:chExt cx="3425840" cy="500080"/>
          </a:xfrm>
        </p:grpSpPr>
        <p:sp>
          <p:nvSpPr>
            <p:cNvPr id="35855" name="矩形 39"/>
            <p:cNvSpPr>
              <a:spLocks noChangeArrowheads="1"/>
            </p:cNvSpPr>
            <p:nvPr/>
          </p:nvSpPr>
          <p:spPr bwMode="auto">
            <a:xfrm>
              <a:off x="1142976" y="5539103"/>
              <a:ext cx="20409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特性方程为：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graphicFrame>
          <p:nvGraphicFramePr>
            <p:cNvPr id="35856" name="Object 6"/>
            <p:cNvGraphicFramePr>
              <a:graphicFrameLocks noChangeAspect="1"/>
            </p:cNvGraphicFramePr>
            <p:nvPr/>
          </p:nvGraphicFramePr>
          <p:xfrm>
            <a:off x="3286116" y="5500688"/>
            <a:ext cx="1282700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65" name="公式" r:id="rId3" imgW="647700" imgH="254000" progId="Equation.3">
                    <p:embed/>
                  </p:oleObj>
                </mc:Choice>
                <mc:Fallback>
                  <p:oleObj name="公式" r:id="rId3" imgW="647700" imgH="254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116" y="5500688"/>
                          <a:ext cx="1282700" cy="500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1071563" y="1857375"/>
          <a:ext cx="24145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公式" r:id="rId5" imgW="1218565" imgH="254000" progId="Equation.3">
                  <p:embed/>
                </p:oleObj>
              </mc:Choice>
              <mc:Fallback>
                <p:oleObj name="公式" r:id="rId5" imgW="1218565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857375"/>
                        <a:ext cx="24145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45"/>
          <p:cNvGrpSpPr/>
          <p:nvPr/>
        </p:nvGrpSpPr>
        <p:grpSpPr bwMode="auto">
          <a:xfrm>
            <a:off x="4500563" y="5681663"/>
            <a:ext cx="4572000" cy="461962"/>
            <a:chOff x="4572000" y="5681979"/>
            <a:chExt cx="4572000" cy="461665"/>
          </a:xfrm>
        </p:grpSpPr>
        <p:sp>
          <p:nvSpPr>
            <p:cNvPr id="35853" name="矩形 43"/>
            <p:cNvSpPr>
              <a:spLocks noChangeArrowheads="1"/>
            </p:cNvSpPr>
            <p:nvPr/>
          </p:nvSpPr>
          <p:spPr bwMode="auto">
            <a:xfrm>
              <a:off x="4895721" y="5681979"/>
              <a:ext cx="4248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T′</a:t>
              </a:r>
              <a:r>
                <a:rPr kumimoji="1" lang="zh-CN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触发器也称为</a:t>
              </a:r>
              <a:r>
                <a:rPr lang="zh-CN" altLang="en-US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“翻转器”</a:t>
              </a:r>
              <a:r>
                <a:rPr lang="zh-CN" altLang="en-US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i="1"/>
            </a:p>
          </p:txBody>
        </p:sp>
        <p:sp>
          <p:nvSpPr>
            <p:cNvPr id="45" name="右箭头 44"/>
            <p:cNvSpPr/>
            <p:nvPr/>
          </p:nvSpPr>
          <p:spPr>
            <a:xfrm>
              <a:off x="4572000" y="5786687"/>
              <a:ext cx="357187" cy="214174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9" grpId="0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0"/>
          <p:cNvSpPr>
            <a:spLocks noChangeArrowheads="1"/>
          </p:cNvSpPr>
          <p:nvPr/>
        </p:nvSpPr>
        <p:spPr bwMode="auto">
          <a:xfrm>
            <a:off x="211138" y="71438"/>
            <a:ext cx="80425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§5.6 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不同类型触发器之间的转换及应用</a:t>
            </a:r>
            <a:endParaRPr lang="zh-CN" altLang="en-US" sz="36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747" name="矩形 2"/>
          <p:cNvSpPr>
            <a:spLocks noChangeArrowheads="1"/>
          </p:cNvSpPr>
          <p:nvPr/>
        </p:nvSpPr>
        <p:spPr bwMode="auto">
          <a:xfrm>
            <a:off x="668338" y="714375"/>
            <a:ext cx="6215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一、由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触发器转换为其他类型触发器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025525" y="1363663"/>
            <a:ext cx="3892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3" name="组合 67"/>
          <p:cNvGrpSpPr/>
          <p:nvPr/>
        </p:nvGrpSpPr>
        <p:grpSpPr bwMode="auto">
          <a:xfrm>
            <a:off x="1311275" y="1928813"/>
            <a:ext cx="3192463" cy="1041400"/>
            <a:chOff x="1142976" y="1928802"/>
            <a:chExt cx="3191899" cy="1041404"/>
          </a:xfrm>
        </p:grpSpPr>
        <p:sp>
          <p:nvSpPr>
            <p:cNvPr id="36935" name="矩形 4"/>
            <p:cNvSpPr>
              <a:spLocks noChangeArrowheads="1"/>
            </p:cNvSpPr>
            <p:nvPr/>
          </p:nvSpPr>
          <p:spPr bwMode="auto">
            <a:xfrm>
              <a:off x="1142976" y="1928802"/>
              <a:ext cx="31918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触发器的特性方程：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36936" name="Object 2"/>
            <p:cNvGraphicFramePr>
              <a:graphicFrameLocks noChangeAspect="1"/>
            </p:cNvGraphicFramePr>
            <p:nvPr/>
          </p:nvGraphicFramePr>
          <p:xfrm>
            <a:off x="2071670" y="2500306"/>
            <a:ext cx="11620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1" name="公式" r:id="rId1" imgW="651510" imgH="225425" progId="Equation.3">
                    <p:embed/>
                  </p:oleObj>
                </mc:Choice>
                <mc:Fallback>
                  <p:oleObj name="公式" r:id="rId1" imgW="651510" imgH="225425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670" y="2500306"/>
                          <a:ext cx="116205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5632450" y="2482850"/>
          <a:ext cx="23225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公式" r:id="rId3" imgW="1428115" imgH="250825" progId="Equation.3">
                  <p:embed/>
                </p:oleObj>
              </mc:Choice>
              <mc:Fallback>
                <p:oleObj name="公式" r:id="rId3" imgW="1428115" imgH="2508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2482850"/>
                        <a:ext cx="23225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240338" y="1928813"/>
            <a:ext cx="3362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097338" y="2571750"/>
            <a:ext cx="1000125" cy="357188"/>
          </a:xfrm>
          <a:prstGeom prst="rightArrow">
            <a:avLst/>
          </a:prstGeom>
          <a:solidFill>
            <a:srgbClr val="FF3399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" name="组合 11"/>
          <p:cNvGrpSpPr/>
          <p:nvPr/>
        </p:nvGrpSpPr>
        <p:grpSpPr bwMode="auto">
          <a:xfrm>
            <a:off x="1454150" y="3340100"/>
            <a:ext cx="2884488" cy="517525"/>
            <a:chOff x="1285852" y="3340103"/>
            <a:chExt cx="2884511" cy="517525"/>
          </a:xfrm>
        </p:grpSpPr>
        <p:sp>
          <p:nvSpPr>
            <p:cNvPr id="36933" name="矩形 9"/>
            <p:cNvSpPr>
              <a:spLocks noChangeArrowheads="1"/>
            </p:cNvSpPr>
            <p:nvPr/>
          </p:nvSpPr>
          <p:spPr bwMode="auto">
            <a:xfrm>
              <a:off x="1285852" y="3357562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令：</a:t>
              </a:r>
              <a:endParaRPr lang="zh-CN" altLang="en-US" sz="2400"/>
            </a:p>
          </p:txBody>
        </p:sp>
        <p:graphicFrame>
          <p:nvGraphicFramePr>
            <p:cNvPr id="36934" name="Object 6"/>
            <p:cNvGraphicFramePr>
              <a:graphicFrameLocks noChangeAspect="1"/>
            </p:cNvGraphicFramePr>
            <p:nvPr/>
          </p:nvGraphicFramePr>
          <p:xfrm>
            <a:off x="2151063" y="3340103"/>
            <a:ext cx="20193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3" name="公式" r:id="rId5" imgW="1227455" imgH="250825" progId="Equation.3">
                    <p:embed/>
                  </p:oleObj>
                </mc:Choice>
                <mc:Fallback>
                  <p:oleObj name="公式" r:id="rId5" imgW="1227455" imgH="25082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063" y="3340103"/>
                          <a:ext cx="2019300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74"/>
          <p:cNvGrpSpPr/>
          <p:nvPr/>
        </p:nvGrpSpPr>
        <p:grpSpPr bwMode="auto">
          <a:xfrm>
            <a:off x="1714500" y="4214813"/>
            <a:ext cx="6303963" cy="2286000"/>
            <a:chOff x="1641454" y="4214818"/>
            <a:chExt cx="6303336" cy="2286016"/>
          </a:xfrm>
        </p:grpSpPr>
        <p:grpSp>
          <p:nvGrpSpPr>
            <p:cNvPr id="36875" name="组合 12"/>
            <p:cNvGrpSpPr/>
            <p:nvPr/>
          </p:nvGrpSpPr>
          <p:grpSpPr bwMode="auto">
            <a:xfrm>
              <a:off x="1641454" y="4214818"/>
              <a:ext cx="6001741" cy="2286016"/>
              <a:chOff x="2071670" y="2857496"/>
              <a:chExt cx="6226744" cy="2359042"/>
            </a:xfrm>
          </p:grpSpPr>
          <p:cxnSp>
            <p:nvCxnSpPr>
              <p:cNvPr id="20" name="直接连接符 19"/>
              <p:cNvCxnSpPr/>
              <p:nvPr/>
            </p:nvCxnSpPr>
            <p:spPr bwMode="auto">
              <a:xfrm rot="10800000">
                <a:off x="3351274" y="4630054"/>
                <a:ext cx="540167" cy="16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881" name="组合 20"/>
              <p:cNvGrpSpPr/>
              <p:nvPr/>
            </p:nvGrpSpPr>
            <p:grpSpPr bwMode="auto">
              <a:xfrm>
                <a:off x="6429384" y="3143246"/>
                <a:ext cx="1071561" cy="1500186"/>
                <a:chOff x="2143108" y="2500306"/>
                <a:chExt cx="1071570" cy="1500198"/>
              </a:xfrm>
            </p:grpSpPr>
            <p:graphicFrame>
              <p:nvGraphicFramePr>
                <p:cNvPr id="36928" name="Object 8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984" name="公式" r:id="rId7" imgW="152400" imgH="241300" progId="Equation.3">
                        <p:embed/>
                      </p:oleObj>
                    </mc:Choice>
                    <mc:Fallback>
                      <p:oleObj name="公式" r:id="rId7" imgW="152400" imgH="241300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29" name="Object 9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985" name="公式" r:id="rId9" imgW="152400" imgH="203200" progId="Equation.3">
                        <p:embed/>
                      </p:oleObj>
                    </mc:Choice>
                    <mc:Fallback>
                      <p:oleObj name="公式" r:id="rId9" imgW="152400" imgH="203200" progId="Equation.3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5" name="矩形 4"/>
                <p:cNvSpPr/>
                <p:nvPr/>
              </p:nvSpPr>
              <p:spPr>
                <a:xfrm rot="5400000">
                  <a:off x="1927881" y="2714688"/>
                  <a:ext cx="1500625" cy="10704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graphicFrame>
              <p:nvGraphicFramePr>
                <p:cNvPr id="36931" name="Object 4"/>
                <p:cNvGraphicFramePr>
                  <a:graphicFrameLocks noChangeAspect="1"/>
                </p:cNvGraphicFramePr>
                <p:nvPr/>
              </p:nvGraphicFramePr>
              <p:xfrm>
                <a:off x="2214546" y="3530602"/>
                <a:ext cx="255588" cy="255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986" name="公式" r:id="rId11" imgW="165100" imgH="165100" progId="Equation.3">
                        <p:embed/>
                      </p:oleObj>
                    </mc:Choice>
                    <mc:Fallback>
                      <p:oleObj name="公式" r:id="rId11" imgW="165100" imgH="165100" progId="Equation.3">
                        <p:embed/>
                        <p:pic>
                          <p:nvPicPr>
                            <p:cNvPr id="0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530602"/>
                              <a:ext cx="255588" cy="2555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32" name="Object 10"/>
                <p:cNvGraphicFramePr>
                  <a:graphicFrameLocks noChangeAspect="1"/>
                </p:cNvGraphicFramePr>
                <p:nvPr/>
              </p:nvGraphicFramePr>
              <p:xfrm>
                <a:off x="2214546" y="3071810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987" name="公式" r:id="rId13" imgW="241300" imgH="177800" progId="Equation.3">
                        <p:embed/>
                      </p:oleObj>
                    </mc:Choice>
                    <mc:Fallback>
                      <p:oleObj name="公式" r:id="rId13" imgW="241300" imgH="177800" progId="Equation.3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071810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2" name="组合 21"/>
              <p:cNvGrpSpPr/>
              <p:nvPr/>
            </p:nvGrpSpPr>
            <p:grpSpPr bwMode="auto">
              <a:xfrm>
                <a:off x="5209991" y="4130687"/>
                <a:ext cx="647790" cy="441325"/>
                <a:chOff x="848336" y="3429002"/>
                <a:chExt cx="1058673" cy="644531"/>
              </a:xfrm>
            </p:grpSpPr>
            <p:grpSp>
              <p:nvGrpSpPr>
                <p:cNvPr id="36922" name="组合 18"/>
                <p:cNvGrpSpPr/>
                <p:nvPr/>
              </p:nvGrpSpPr>
              <p:grpSpPr bwMode="auto">
                <a:xfrm>
                  <a:off x="848336" y="3429002"/>
                  <a:ext cx="866514" cy="644531"/>
                  <a:chOff x="842939" y="3286125"/>
                  <a:chExt cx="1443656" cy="787407"/>
                </a:xfrm>
              </p:grpSpPr>
              <p:sp>
                <p:nvSpPr>
                  <p:cNvPr id="59" name="弧形 24"/>
                  <p:cNvSpPr/>
                  <p:nvPr/>
                </p:nvSpPr>
                <p:spPr>
                  <a:xfrm>
                    <a:off x="1283946" y="3285604"/>
                    <a:ext cx="999943" cy="786262"/>
                  </a:xfrm>
                  <a:prstGeom prst="arc">
                    <a:avLst>
                      <a:gd name="adj1" fmla="val 16200000"/>
                      <a:gd name="adj2" fmla="val 5524654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60" name="直接连接符 59"/>
                  <p:cNvCxnSpPr/>
                  <p:nvPr/>
                </p:nvCxnSpPr>
                <p:spPr>
                  <a:xfrm>
                    <a:off x="840027" y="3285604"/>
                    <a:ext cx="932681" cy="292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/>
                  <p:cNvCxnSpPr/>
                  <p:nvPr/>
                </p:nvCxnSpPr>
                <p:spPr>
                  <a:xfrm>
                    <a:off x="840027" y="4071866"/>
                    <a:ext cx="932681" cy="292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连接符 61"/>
                  <p:cNvCxnSpPr/>
                  <p:nvPr/>
                </p:nvCxnSpPr>
                <p:spPr>
                  <a:xfrm rot="5400000">
                    <a:off x="445434" y="3680197"/>
                    <a:ext cx="78918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椭圆 57"/>
                <p:cNvSpPr/>
                <p:nvPr/>
              </p:nvSpPr>
              <p:spPr>
                <a:xfrm>
                  <a:off x="1726683" y="3655867"/>
                  <a:ext cx="180326" cy="16269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36883" name="组合 21"/>
              <p:cNvGrpSpPr/>
              <p:nvPr/>
            </p:nvGrpSpPr>
            <p:grpSpPr bwMode="auto">
              <a:xfrm>
                <a:off x="3884854" y="3735585"/>
                <a:ext cx="648858" cy="440683"/>
                <a:chOff x="846455" y="3429275"/>
                <a:chExt cx="1060419" cy="643593"/>
              </a:xfrm>
            </p:grpSpPr>
            <p:grpSp>
              <p:nvGrpSpPr>
                <p:cNvPr id="36916" name="组合 18"/>
                <p:cNvGrpSpPr/>
                <p:nvPr/>
              </p:nvGrpSpPr>
              <p:grpSpPr bwMode="auto">
                <a:xfrm>
                  <a:off x="846455" y="3429275"/>
                  <a:ext cx="866638" cy="643593"/>
                  <a:chOff x="839801" y="3286458"/>
                  <a:chExt cx="1443862" cy="786261"/>
                </a:xfrm>
              </p:grpSpPr>
              <p:sp>
                <p:nvSpPr>
                  <p:cNvPr id="53" name="弧形 24"/>
                  <p:cNvSpPr/>
                  <p:nvPr/>
                </p:nvSpPr>
                <p:spPr>
                  <a:xfrm>
                    <a:off x="1283717" y="3286456"/>
                    <a:ext cx="999943" cy="783337"/>
                  </a:xfrm>
                  <a:prstGeom prst="arc">
                    <a:avLst>
                      <a:gd name="adj1" fmla="val 16200000"/>
                      <a:gd name="adj2" fmla="val 5524654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54" name="直接连接符 53"/>
                  <p:cNvCxnSpPr/>
                  <p:nvPr/>
                </p:nvCxnSpPr>
                <p:spPr>
                  <a:xfrm>
                    <a:off x="839798" y="3286456"/>
                    <a:ext cx="932681" cy="292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/>
                  <p:cNvCxnSpPr/>
                  <p:nvPr/>
                </p:nvCxnSpPr>
                <p:spPr>
                  <a:xfrm>
                    <a:off x="839798" y="4069793"/>
                    <a:ext cx="932681" cy="292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/>
                  <p:cNvCxnSpPr/>
                  <p:nvPr/>
                </p:nvCxnSpPr>
                <p:spPr>
                  <a:xfrm rot="5400000">
                    <a:off x="482540" y="3679587"/>
                    <a:ext cx="786259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椭圆 51"/>
                <p:cNvSpPr/>
                <p:nvPr/>
              </p:nvSpPr>
              <p:spPr>
                <a:xfrm>
                  <a:off x="1726548" y="3656564"/>
                  <a:ext cx="180326" cy="1626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36884" name="组合 21"/>
              <p:cNvGrpSpPr/>
              <p:nvPr/>
            </p:nvGrpSpPr>
            <p:grpSpPr bwMode="auto">
              <a:xfrm>
                <a:off x="3884854" y="4487526"/>
                <a:ext cx="648858" cy="442321"/>
                <a:chOff x="846455" y="3428497"/>
                <a:chExt cx="1060419" cy="645986"/>
              </a:xfrm>
            </p:grpSpPr>
            <p:grpSp>
              <p:nvGrpSpPr>
                <p:cNvPr id="36910" name="组合 18"/>
                <p:cNvGrpSpPr/>
                <p:nvPr/>
              </p:nvGrpSpPr>
              <p:grpSpPr bwMode="auto">
                <a:xfrm>
                  <a:off x="846455" y="3428497"/>
                  <a:ext cx="866638" cy="645986"/>
                  <a:chOff x="839801" y="3285510"/>
                  <a:chExt cx="1443862" cy="789185"/>
                </a:xfrm>
              </p:grpSpPr>
              <p:sp>
                <p:nvSpPr>
                  <p:cNvPr id="47" name="弧形 46"/>
                  <p:cNvSpPr/>
                  <p:nvPr/>
                </p:nvSpPr>
                <p:spPr>
                  <a:xfrm>
                    <a:off x="1283717" y="3285514"/>
                    <a:ext cx="999943" cy="786261"/>
                  </a:xfrm>
                  <a:prstGeom prst="arc">
                    <a:avLst>
                      <a:gd name="adj1" fmla="val 16200000"/>
                      <a:gd name="adj2" fmla="val 5524654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48" name="直接连接符 47"/>
                  <p:cNvCxnSpPr/>
                  <p:nvPr/>
                </p:nvCxnSpPr>
                <p:spPr>
                  <a:xfrm>
                    <a:off x="839798" y="3285514"/>
                    <a:ext cx="932681" cy="292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/>
                  <p:cNvCxnSpPr/>
                  <p:nvPr/>
                </p:nvCxnSpPr>
                <p:spPr>
                  <a:xfrm>
                    <a:off x="839798" y="4071775"/>
                    <a:ext cx="932681" cy="292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/>
                  <p:cNvCxnSpPr/>
                  <p:nvPr/>
                </p:nvCxnSpPr>
                <p:spPr>
                  <a:xfrm rot="5400000">
                    <a:off x="481078" y="3680106"/>
                    <a:ext cx="78918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" name="椭圆 45"/>
                <p:cNvSpPr/>
                <p:nvPr/>
              </p:nvSpPr>
              <p:spPr>
                <a:xfrm>
                  <a:off x="1726548" y="3655792"/>
                  <a:ext cx="180326" cy="1626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36885" name="组合 40"/>
              <p:cNvGrpSpPr/>
              <p:nvPr/>
            </p:nvGrpSpPr>
            <p:grpSpPr bwMode="auto">
              <a:xfrm rot="5400000">
                <a:off x="2894005" y="4388837"/>
                <a:ext cx="525870" cy="464422"/>
                <a:chOff x="2857890" y="4655503"/>
                <a:chExt cx="500451" cy="569364"/>
              </a:xfrm>
            </p:grpSpPr>
            <p:sp>
              <p:nvSpPr>
                <p:cNvPr id="43" name="椭圆 42"/>
                <p:cNvSpPr/>
                <p:nvPr/>
              </p:nvSpPr>
              <p:spPr bwMode="auto">
                <a:xfrm>
                  <a:off x="3059001" y="4655504"/>
                  <a:ext cx="106014" cy="13729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4" name="等腰三角形 43"/>
                <p:cNvSpPr/>
                <p:nvPr/>
              </p:nvSpPr>
              <p:spPr bwMode="auto">
                <a:xfrm>
                  <a:off x="2857886" y="4817022"/>
                  <a:ext cx="500450" cy="430041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9" name="直接连接符 18"/>
              <p:cNvCxnSpPr/>
              <p:nvPr/>
            </p:nvCxnSpPr>
            <p:spPr bwMode="auto">
              <a:xfrm rot="10800000">
                <a:off x="3642766" y="5214899"/>
                <a:ext cx="4357568" cy="16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 bwMode="auto">
              <a:xfrm rot="10800000">
                <a:off x="5857781" y="4345003"/>
                <a:ext cx="571457" cy="16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 bwMode="auto">
              <a:xfrm rot="10800000">
                <a:off x="4527125" y="3955106"/>
                <a:ext cx="26843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 bwMode="auto">
              <a:xfrm rot="10800000">
                <a:off x="4795561" y="4213945"/>
                <a:ext cx="401832" cy="16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 bwMode="auto">
              <a:xfrm rot="10800000">
                <a:off x="4795561" y="4458040"/>
                <a:ext cx="401832" cy="16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auto">
              <a:xfrm rot="10800000">
                <a:off x="2356576" y="4618586"/>
                <a:ext cx="576398" cy="16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auto">
              <a:xfrm rot="5400000">
                <a:off x="3442976" y="5000288"/>
                <a:ext cx="427576" cy="16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auto">
              <a:xfrm rot="5400000">
                <a:off x="7572762" y="4785680"/>
                <a:ext cx="856790" cy="16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65319" y="4085340"/>
                <a:ext cx="258839" cy="164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669440" y="4585817"/>
                <a:ext cx="260477" cy="16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 bwMode="auto">
              <a:xfrm rot="10800000">
                <a:off x="4525478" y="4705412"/>
                <a:ext cx="2700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0800000" flipV="1">
                <a:off x="7499691" y="4358109"/>
                <a:ext cx="79872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0800000">
                <a:off x="3649353" y="4785685"/>
                <a:ext cx="251969" cy="16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 bwMode="auto">
              <a:xfrm rot="10800000">
                <a:off x="3644413" y="2857496"/>
                <a:ext cx="4355920" cy="16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10800000">
                <a:off x="2356576" y="4071419"/>
                <a:ext cx="1544746" cy="16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auto">
              <a:xfrm rot="10800000">
                <a:off x="7499691" y="3507870"/>
                <a:ext cx="79872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 bwMode="auto">
              <a:xfrm rot="5400000">
                <a:off x="7679246" y="3178584"/>
                <a:ext cx="643821" cy="16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auto">
              <a:xfrm rot="5400000">
                <a:off x="3157106" y="3356331"/>
                <a:ext cx="999316" cy="16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 bwMode="auto">
              <a:xfrm rot="10800000">
                <a:off x="3642766" y="3856812"/>
                <a:ext cx="251969" cy="16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6905" name="Object 11"/>
              <p:cNvGraphicFramePr>
                <a:graphicFrameLocks noChangeAspect="1"/>
              </p:cNvGraphicFramePr>
              <p:nvPr/>
            </p:nvGraphicFramePr>
            <p:xfrm>
              <a:off x="2090738" y="3940180"/>
              <a:ext cx="215900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988" name="公式" r:id="rId15" imgW="139700" imgH="177800" progId="Equation.3">
                      <p:embed/>
                    </p:oleObj>
                  </mc:Choice>
                  <mc:Fallback>
                    <p:oleObj name="公式" r:id="rId15" imgW="139700" imgH="1778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90738" y="3940180"/>
                            <a:ext cx="215900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906" name="Object 12"/>
              <p:cNvGraphicFramePr>
                <a:graphicFrameLocks noChangeAspect="1"/>
              </p:cNvGraphicFramePr>
              <p:nvPr/>
            </p:nvGraphicFramePr>
            <p:xfrm>
              <a:off x="2071670" y="4459298"/>
              <a:ext cx="255586" cy="2555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989" name="公式" r:id="rId17" imgW="165100" imgH="165100" progId="Equation.3">
                      <p:embed/>
                    </p:oleObj>
                  </mc:Choice>
                  <mc:Fallback>
                    <p:oleObj name="公式" r:id="rId17" imgW="165100" imgH="1651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1670" y="4459298"/>
                            <a:ext cx="255586" cy="2555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矩形 41"/>
              <p:cNvSpPr/>
              <p:nvPr/>
            </p:nvSpPr>
            <p:spPr>
              <a:xfrm>
                <a:off x="2713942" y="3499680"/>
                <a:ext cx="3428744" cy="157269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aphicFrame>
          <p:nvGraphicFramePr>
            <p:cNvPr id="36876" name="Object 13"/>
            <p:cNvGraphicFramePr>
              <a:graphicFrameLocks noChangeAspect="1"/>
            </p:cNvGraphicFramePr>
            <p:nvPr/>
          </p:nvGraphicFramePr>
          <p:xfrm>
            <a:off x="7715272" y="4643446"/>
            <a:ext cx="229518" cy="361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0" name="公式" r:id="rId19" imgW="152400" imgH="241300" progId="Equation.3">
                    <p:embed/>
                  </p:oleObj>
                </mc:Choice>
                <mc:Fallback>
                  <p:oleObj name="公式" r:id="rId19" imgW="152400" imgH="241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5272" y="4643446"/>
                          <a:ext cx="229518" cy="361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14"/>
            <p:cNvGraphicFramePr>
              <a:graphicFrameLocks noChangeAspect="1"/>
            </p:cNvGraphicFramePr>
            <p:nvPr/>
          </p:nvGraphicFramePr>
          <p:xfrm>
            <a:off x="7643834" y="5500702"/>
            <a:ext cx="227988" cy="304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1" name="公式" r:id="rId20" imgW="152400" imgH="203200" progId="Equation.3">
                    <p:embed/>
                  </p:oleObj>
                </mc:Choice>
                <mc:Fallback>
                  <p:oleObj name="公式" r:id="rId20" imgW="152400" imgH="203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3834" y="5500702"/>
                          <a:ext cx="227988" cy="304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椭圆 72"/>
            <p:cNvSpPr/>
            <p:nvPr/>
          </p:nvSpPr>
          <p:spPr>
            <a:xfrm>
              <a:off x="7319377" y="5627703"/>
              <a:ext cx="7143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7319377" y="4799022"/>
              <a:ext cx="7143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4" grpId="0"/>
      <p:bldP spid="8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1"/>
          <p:cNvSpPr>
            <a:spLocks noChangeArrowheads="1"/>
          </p:cNvSpPr>
          <p:nvPr/>
        </p:nvSpPr>
        <p:spPr bwMode="auto">
          <a:xfrm>
            <a:off x="696913" y="285750"/>
            <a:ext cx="438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2" name="组合 2"/>
          <p:cNvGrpSpPr/>
          <p:nvPr/>
        </p:nvGrpSpPr>
        <p:grpSpPr bwMode="auto">
          <a:xfrm>
            <a:off x="982663" y="928688"/>
            <a:ext cx="3192462" cy="1041400"/>
            <a:chOff x="1142976" y="1928802"/>
            <a:chExt cx="3191899" cy="1041404"/>
          </a:xfrm>
        </p:grpSpPr>
        <p:sp>
          <p:nvSpPr>
            <p:cNvPr id="37947" name="矩形 3"/>
            <p:cNvSpPr>
              <a:spLocks noChangeArrowheads="1"/>
            </p:cNvSpPr>
            <p:nvPr/>
          </p:nvSpPr>
          <p:spPr bwMode="auto">
            <a:xfrm>
              <a:off x="1142976" y="1928802"/>
              <a:ext cx="31918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触发器的特性方程：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37948" name="Object 2"/>
            <p:cNvGraphicFramePr>
              <a:graphicFrameLocks noChangeAspect="1"/>
            </p:cNvGraphicFramePr>
            <p:nvPr/>
          </p:nvGraphicFramePr>
          <p:xfrm>
            <a:off x="2071670" y="2500306"/>
            <a:ext cx="11620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7" name="公式" r:id="rId1" imgW="651510" imgH="225425" progId="Equation.3">
                    <p:embed/>
                  </p:oleObj>
                </mc:Choice>
                <mc:Fallback>
                  <p:oleObj name="公式" r:id="rId1" imgW="651510" imgH="225425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670" y="2500306"/>
                          <a:ext cx="116205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5121275" y="1482725"/>
          <a:ext cx="34337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8" name="公式" r:id="rId3" imgW="2154555" imgH="250825" progId="Equation.3">
                  <p:embed/>
                </p:oleObj>
              </mc:Choice>
              <mc:Fallback>
                <p:oleObj name="公式" r:id="rId3" imgW="2154555" imgH="25082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1482725"/>
                        <a:ext cx="34337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911725" y="928688"/>
            <a:ext cx="317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768725" y="1571625"/>
            <a:ext cx="1000125" cy="357188"/>
          </a:xfrm>
          <a:prstGeom prst="rightArrow">
            <a:avLst/>
          </a:prstGeom>
          <a:solidFill>
            <a:srgbClr val="FF3399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12"/>
          <p:cNvGrpSpPr/>
          <p:nvPr/>
        </p:nvGrpSpPr>
        <p:grpSpPr bwMode="auto">
          <a:xfrm>
            <a:off x="1125538" y="2357438"/>
            <a:ext cx="2205037" cy="500062"/>
            <a:chOff x="1285852" y="2357430"/>
            <a:chExt cx="2205043" cy="500066"/>
          </a:xfrm>
        </p:grpSpPr>
        <p:sp>
          <p:nvSpPr>
            <p:cNvPr id="37945" name="矩形 9"/>
            <p:cNvSpPr>
              <a:spLocks noChangeArrowheads="1"/>
            </p:cNvSpPr>
            <p:nvPr/>
          </p:nvSpPr>
          <p:spPr bwMode="auto">
            <a:xfrm>
              <a:off x="1285852" y="2357430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令：</a:t>
              </a:r>
              <a:endParaRPr lang="zh-CN" altLang="en-US" sz="2400"/>
            </a:p>
          </p:txBody>
        </p:sp>
        <p:graphicFrame>
          <p:nvGraphicFramePr>
            <p:cNvPr id="37946" name="Object 17"/>
            <p:cNvGraphicFramePr>
              <a:graphicFrameLocks noChangeAspect="1"/>
            </p:cNvGraphicFramePr>
            <p:nvPr/>
          </p:nvGraphicFramePr>
          <p:xfrm>
            <a:off x="2000232" y="2387596"/>
            <a:ext cx="149066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9" name="公式" r:id="rId5" imgW="876935" imgH="225425" progId="Equation.3">
                    <p:embed/>
                  </p:oleObj>
                </mc:Choice>
                <mc:Fallback>
                  <p:oleObj name="公式" r:id="rId5" imgW="876935" imgH="22542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0232" y="2387596"/>
                          <a:ext cx="149066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11"/>
          <p:cNvGraphicFramePr>
            <a:graphicFrameLocks noChangeAspect="1"/>
          </p:cNvGraphicFramePr>
          <p:nvPr/>
        </p:nvGraphicFramePr>
        <p:xfrm>
          <a:off x="5840413" y="2911475"/>
          <a:ext cx="12874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0" name="公式" r:id="rId7" imgW="739140" imgH="250825" progId="Equation.3">
                  <p:embed/>
                </p:oleObj>
              </mc:Choice>
              <mc:Fallback>
                <p:oleObj name="公式" r:id="rId7" imgW="739140" imgH="2508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13" y="2911475"/>
                        <a:ext cx="12874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4911725" y="2357438"/>
            <a:ext cx="3338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C00000"/>
              </a:solidFill>
            </a:endParaRPr>
          </a:p>
        </p:txBody>
      </p:sp>
      <p:grpSp>
        <p:nvGrpSpPr>
          <p:cNvPr id="4" name="组合 63"/>
          <p:cNvGrpSpPr/>
          <p:nvPr/>
        </p:nvGrpSpPr>
        <p:grpSpPr bwMode="auto">
          <a:xfrm>
            <a:off x="5259388" y="3786188"/>
            <a:ext cx="3009900" cy="1714500"/>
            <a:chOff x="5419731" y="3786190"/>
            <a:chExt cx="3009921" cy="1714498"/>
          </a:xfrm>
        </p:grpSpPr>
        <p:grpSp>
          <p:nvGrpSpPr>
            <p:cNvPr id="37928" name="组合 38"/>
            <p:cNvGrpSpPr/>
            <p:nvPr/>
          </p:nvGrpSpPr>
          <p:grpSpPr bwMode="auto">
            <a:xfrm>
              <a:off x="5419731" y="3786190"/>
              <a:ext cx="2786082" cy="1714498"/>
              <a:chOff x="2919401" y="571480"/>
              <a:chExt cx="2786082" cy="1714498"/>
            </a:xfrm>
          </p:grpSpPr>
          <p:grpSp>
            <p:nvGrpSpPr>
              <p:cNvPr id="37933" name="组合 20"/>
              <p:cNvGrpSpPr/>
              <p:nvPr/>
            </p:nvGrpSpPr>
            <p:grpSpPr bwMode="auto">
              <a:xfrm>
                <a:off x="3767126" y="785792"/>
                <a:ext cx="1071561" cy="1500186"/>
                <a:chOff x="2143108" y="2500306"/>
                <a:chExt cx="1071570" cy="1500198"/>
              </a:xfrm>
            </p:grpSpPr>
            <p:graphicFrame>
              <p:nvGraphicFramePr>
                <p:cNvPr id="37940" name="Object 12"/>
                <p:cNvGraphicFramePr>
                  <a:graphicFrameLocks noChangeAspect="1"/>
                </p:cNvGraphicFramePr>
                <p:nvPr/>
              </p:nvGraphicFramePr>
              <p:xfrm>
                <a:off x="2928926" y="2643182"/>
                <a:ext cx="238125" cy="3730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021" name="公式" r:id="rId9" imgW="152400" imgH="241300" progId="Equation.3">
                        <p:embed/>
                      </p:oleObj>
                    </mc:Choice>
                    <mc:Fallback>
                      <p:oleObj name="公式" r:id="rId9" imgW="152400" imgH="241300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2643182"/>
                              <a:ext cx="238125" cy="3730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7941" name="Object 13"/>
                <p:cNvGraphicFramePr>
                  <a:graphicFrameLocks noChangeAspect="1"/>
                </p:cNvGraphicFramePr>
                <p:nvPr/>
              </p:nvGraphicFramePr>
              <p:xfrm>
                <a:off x="2928926" y="3500438"/>
                <a:ext cx="236537" cy="314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022" name="公式" r:id="rId11" imgW="152400" imgH="203200" progId="Equation.3">
                        <p:embed/>
                      </p:oleObj>
                    </mc:Choice>
                    <mc:Fallback>
                      <p:oleObj name="公式" r:id="rId11" imgW="152400" imgH="20320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8926" y="3500438"/>
                              <a:ext cx="236537" cy="314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9" name="矩形 48"/>
                <p:cNvSpPr/>
                <p:nvPr/>
              </p:nvSpPr>
              <p:spPr>
                <a:xfrm rot="5400000">
                  <a:off x="1928804" y="2714616"/>
                  <a:ext cx="1500198" cy="10715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graphicFrame>
              <p:nvGraphicFramePr>
                <p:cNvPr id="37943" name="Object 14"/>
                <p:cNvGraphicFramePr>
                  <a:graphicFrameLocks noChangeAspect="1"/>
                </p:cNvGraphicFramePr>
                <p:nvPr/>
              </p:nvGraphicFramePr>
              <p:xfrm>
                <a:off x="2214546" y="3530602"/>
                <a:ext cx="255588" cy="255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023" name="公式" r:id="rId13" imgW="165100" imgH="165100" progId="Equation.3">
                        <p:embed/>
                      </p:oleObj>
                    </mc:Choice>
                    <mc:Fallback>
                      <p:oleObj name="公式" r:id="rId13" imgW="165100" imgH="165100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530602"/>
                              <a:ext cx="255588" cy="2555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7944" name="Object 15"/>
                <p:cNvGraphicFramePr>
                  <a:graphicFrameLocks noChangeAspect="1"/>
                </p:cNvGraphicFramePr>
                <p:nvPr/>
              </p:nvGraphicFramePr>
              <p:xfrm>
                <a:off x="2214546" y="3071810"/>
                <a:ext cx="37465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024" name="公式" r:id="rId15" imgW="241300" imgH="177800" progId="Equation.3">
                        <p:embed/>
                      </p:oleObj>
                    </mc:Choice>
                    <mc:Fallback>
                      <p:oleObj name="公式" r:id="rId15" imgW="241300" imgH="177800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14546" y="3071810"/>
                              <a:ext cx="374650" cy="2746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41" name="直接连接符 40"/>
              <p:cNvCxnSpPr/>
              <p:nvPr/>
            </p:nvCxnSpPr>
            <p:spPr bwMode="auto">
              <a:xfrm rot="10800000">
                <a:off x="4848226" y="1142979"/>
                <a:ext cx="857256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 bwMode="auto">
              <a:xfrm rot="10800000">
                <a:off x="3298816" y="1998640"/>
                <a:ext cx="46831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auto">
              <a:xfrm rot="10800000">
                <a:off x="3286116" y="571480"/>
                <a:ext cx="2071702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auto">
              <a:xfrm rot="5400000">
                <a:off x="2580473" y="1285060"/>
                <a:ext cx="1428748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 rot="5400000">
                <a:off x="5072068" y="857229"/>
                <a:ext cx="571499" cy="317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10800000">
                <a:off x="2919401" y="1500166"/>
                <a:ext cx="85725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椭圆 54"/>
            <p:cNvSpPr/>
            <p:nvPr/>
          </p:nvSpPr>
          <p:spPr>
            <a:xfrm>
              <a:off x="7824810" y="4311651"/>
              <a:ext cx="71438" cy="714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57" name="直接连接符 56"/>
            <p:cNvCxnSpPr/>
            <p:nvPr/>
          </p:nvCxnSpPr>
          <p:spPr bwMode="auto">
            <a:xfrm rot="10800000">
              <a:off x="7348556" y="5194300"/>
              <a:ext cx="857256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7931" name="Object 18"/>
            <p:cNvGraphicFramePr>
              <a:graphicFrameLocks noChangeAspect="1"/>
            </p:cNvGraphicFramePr>
            <p:nvPr/>
          </p:nvGraphicFramePr>
          <p:xfrm>
            <a:off x="8191529" y="4143380"/>
            <a:ext cx="238123" cy="373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5" name="公式" r:id="rId17" imgW="152400" imgH="241300" progId="Equation.3">
                    <p:embed/>
                  </p:oleObj>
                </mc:Choice>
                <mc:Fallback>
                  <p:oleObj name="公式" r:id="rId17" imgW="152400" imgH="2413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1529" y="4143380"/>
                          <a:ext cx="238123" cy="3730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2" name="Object 19"/>
            <p:cNvGraphicFramePr>
              <a:graphicFrameLocks noChangeAspect="1"/>
            </p:cNvGraphicFramePr>
            <p:nvPr/>
          </p:nvGraphicFramePr>
          <p:xfrm>
            <a:off x="8193117" y="5000636"/>
            <a:ext cx="236535" cy="314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6" name="公式" r:id="rId18" imgW="152400" imgH="203200" progId="Equation.3">
                    <p:embed/>
                  </p:oleObj>
                </mc:Choice>
                <mc:Fallback>
                  <p:oleObj name="公式" r:id="rId18" imgW="152400" imgH="20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3117" y="5000636"/>
                          <a:ext cx="236535" cy="314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65"/>
          <p:cNvGrpSpPr/>
          <p:nvPr/>
        </p:nvGrpSpPr>
        <p:grpSpPr bwMode="auto">
          <a:xfrm>
            <a:off x="571500" y="3643313"/>
            <a:ext cx="3911600" cy="1858962"/>
            <a:chOff x="731812" y="3643312"/>
            <a:chExt cx="3911626" cy="1858978"/>
          </a:xfrm>
        </p:grpSpPr>
        <p:grpSp>
          <p:nvGrpSpPr>
            <p:cNvPr id="37900" name="组合 62"/>
            <p:cNvGrpSpPr/>
            <p:nvPr/>
          </p:nvGrpSpPr>
          <p:grpSpPr bwMode="auto">
            <a:xfrm>
              <a:off x="731812" y="3643312"/>
              <a:ext cx="3911626" cy="1858978"/>
              <a:chOff x="731812" y="3643312"/>
              <a:chExt cx="3911626" cy="1858978"/>
            </a:xfrm>
          </p:grpSpPr>
          <p:grpSp>
            <p:nvGrpSpPr>
              <p:cNvPr id="37902" name="组合 52"/>
              <p:cNvGrpSpPr/>
              <p:nvPr/>
            </p:nvGrpSpPr>
            <p:grpSpPr bwMode="auto">
              <a:xfrm>
                <a:off x="731812" y="3643312"/>
                <a:ext cx="3625875" cy="1858978"/>
                <a:chOff x="731812" y="3643312"/>
                <a:chExt cx="3625875" cy="1858978"/>
              </a:xfrm>
            </p:grpSpPr>
            <p:grpSp>
              <p:nvGrpSpPr>
                <p:cNvPr id="37906" name="组合 13"/>
                <p:cNvGrpSpPr/>
                <p:nvPr/>
              </p:nvGrpSpPr>
              <p:grpSpPr bwMode="auto">
                <a:xfrm>
                  <a:off x="731812" y="3643312"/>
                  <a:ext cx="3624286" cy="1858978"/>
                  <a:chOff x="4376738" y="3143246"/>
                  <a:chExt cx="3624286" cy="1858978"/>
                </a:xfrm>
              </p:grpSpPr>
              <p:grpSp>
                <p:nvGrpSpPr>
                  <p:cNvPr id="37908" name="组合 8"/>
                  <p:cNvGrpSpPr/>
                  <p:nvPr/>
                </p:nvGrpSpPr>
                <p:grpSpPr bwMode="auto">
                  <a:xfrm>
                    <a:off x="4525911" y="4071942"/>
                    <a:ext cx="1402788" cy="571510"/>
                    <a:chOff x="3954406" y="2071678"/>
                    <a:chExt cx="1402788" cy="571510"/>
                  </a:xfrm>
                </p:grpSpPr>
                <p:grpSp>
                  <p:nvGrpSpPr>
                    <p:cNvPr id="37923" name="组合 50"/>
                    <p:cNvGrpSpPr/>
                    <p:nvPr/>
                  </p:nvGrpSpPr>
                  <p:grpSpPr bwMode="auto">
                    <a:xfrm>
                      <a:off x="3954406" y="2071688"/>
                      <a:ext cx="1402788" cy="571500"/>
                      <a:chOff x="3785794" y="4572007"/>
                      <a:chExt cx="1500029" cy="571504"/>
                    </a:xfrm>
                  </p:grpSpPr>
                  <p:sp>
                    <p:nvSpPr>
                      <p:cNvPr id="32" name="弧形 31"/>
                      <p:cNvSpPr/>
                      <p:nvPr/>
                    </p:nvSpPr>
                    <p:spPr>
                      <a:xfrm>
                        <a:off x="3785851" y="4571996"/>
                        <a:ext cx="1500640" cy="571509"/>
                      </a:xfrm>
                      <a:prstGeom prst="arc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zh-CN" altLang="en-US" i="1"/>
                      </a:p>
                    </p:txBody>
                  </p:sp>
                  <p:sp>
                    <p:nvSpPr>
                      <p:cNvPr id="33" name="弧形 32"/>
                      <p:cNvSpPr/>
                      <p:nvPr/>
                    </p:nvSpPr>
                    <p:spPr>
                      <a:xfrm flipV="1">
                        <a:off x="3785851" y="4571996"/>
                        <a:ext cx="1500640" cy="571509"/>
                      </a:xfrm>
                      <a:prstGeom prst="arc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zh-CN" altLang="en-US" i="1"/>
                      </a:p>
                    </p:txBody>
                  </p:sp>
                  <p:sp>
                    <p:nvSpPr>
                      <p:cNvPr id="34" name="弧形 33"/>
                      <p:cNvSpPr/>
                      <p:nvPr/>
                    </p:nvSpPr>
                    <p:spPr>
                      <a:xfrm>
                        <a:off x="4381693" y="4571996"/>
                        <a:ext cx="334418" cy="571509"/>
                      </a:xfrm>
                      <a:prstGeom prst="arc">
                        <a:avLst>
                          <a:gd name="adj1" fmla="val 16200000"/>
                          <a:gd name="adj2" fmla="val 5186173"/>
                        </a:avLst>
                      </a:prstGeom>
                      <a:solidFill>
                        <a:schemeClr val="bg1"/>
                      </a:solidFill>
                      <a:ln w="254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zh-CN" altLang="en-US" i="1"/>
                      </a:p>
                    </p:txBody>
                  </p:sp>
                </p:grpSp>
                <p:sp>
                  <p:nvSpPr>
                    <p:cNvPr id="31" name="弧形 30"/>
                    <p:cNvSpPr/>
                    <p:nvPr/>
                  </p:nvSpPr>
                  <p:spPr bwMode="auto">
                    <a:xfrm>
                      <a:off x="4429125" y="2071677"/>
                      <a:ext cx="312739" cy="571505"/>
                    </a:xfrm>
                    <a:prstGeom prst="arc">
                      <a:avLst>
                        <a:gd name="adj1" fmla="val 16200000"/>
                        <a:gd name="adj2" fmla="val 5186173"/>
                      </a:avLst>
                    </a:prstGeom>
                    <a:solidFill>
                      <a:schemeClr val="bg1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 i="1"/>
                    </a:p>
                  </p:txBody>
                </p:sp>
              </p:grpSp>
              <p:grpSp>
                <p:nvGrpSpPr>
                  <p:cNvPr id="37909" name="组合 20"/>
                  <p:cNvGrpSpPr/>
                  <p:nvPr/>
                </p:nvGrpSpPr>
                <p:grpSpPr bwMode="auto">
                  <a:xfrm>
                    <a:off x="6429384" y="3143246"/>
                    <a:ext cx="1071561" cy="1500186"/>
                    <a:chOff x="2143108" y="2500306"/>
                    <a:chExt cx="1071570" cy="1500198"/>
                  </a:xfrm>
                </p:grpSpPr>
                <p:graphicFrame>
                  <p:nvGraphicFramePr>
                    <p:cNvPr id="37918" name="Object 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928926" y="2643182"/>
                    <a:ext cx="238125" cy="37306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8027" name="公式" r:id="rId19" imgW="152400" imgH="241300" progId="Equation.3">
                            <p:embed/>
                          </p:oleObj>
                        </mc:Choice>
                        <mc:Fallback>
                          <p:oleObj name="公式" r:id="rId19" imgW="152400" imgH="241300" progId="Equation.3">
                            <p:embed/>
                            <p:pic>
                              <p:nvPicPr>
                                <p:cNvPr id="0" name="Object 8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928926" y="2643182"/>
                                  <a:ext cx="238125" cy="373063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chemeClr val="bg2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7919" name="Object 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928926" y="3500438"/>
                    <a:ext cx="236537" cy="314325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8028" name="公式" r:id="rId20" imgW="152400" imgH="203200" progId="Equation.3">
                            <p:embed/>
                          </p:oleObj>
                        </mc:Choice>
                        <mc:Fallback>
                          <p:oleObj name="公式" r:id="rId20" imgW="152400" imgH="203200" progId="Equation.3">
                            <p:embed/>
                            <p:pic>
                              <p:nvPicPr>
                                <p:cNvPr id="0" name="Object 9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928926" y="3500438"/>
                                  <a:ext cx="236537" cy="314325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chemeClr val="bg2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7" name="矩形 26"/>
                    <p:cNvSpPr/>
                    <p:nvPr/>
                  </p:nvSpPr>
                  <p:spPr>
                    <a:xfrm rot="5400000">
                      <a:off x="1928797" y="2714624"/>
                      <a:ext cx="1500212" cy="1071578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  <p:graphicFrame>
                  <p:nvGraphicFramePr>
                    <p:cNvPr id="37921" name="Object 4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214546" y="3530602"/>
                    <a:ext cx="255588" cy="25558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8029" name="公式" r:id="rId21" imgW="165100" imgH="165100" progId="Equation.3">
                            <p:embed/>
                          </p:oleObj>
                        </mc:Choice>
                        <mc:Fallback>
                          <p:oleObj name="公式" r:id="rId21" imgW="165100" imgH="165100" progId="Equation.3">
                            <p:embed/>
                            <p:pic>
                              <p:nvPicPr>
                                <p:cNvPr id="0" name="Object 4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214546" y="3530602"/>
                                  <a:ext cx="255588" cy="2555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chemeClr val="bg2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7922" name="Object 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214546" y="3071810"/>
                    <a:ext cx="374650" cy="27463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8030" name="公式" r:id="rId22" imgW="241300" imgH="177800" progId="Equation.3">
                            <p:embed/>
                          </p:oleObj>
                        </mc:Choice>
                        <mc:Fallback>
                          <p:oleObj name="公式" r:id="rId22" imgW="241300" imgH="177800" progId="Equation.3">
                            <p:embed/>
                            <p:pic>
                              <p:nvPicPr>
                                <p:cNvPr id="0" name="Object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214546" y="3071810"/>
                                  <a:ext cx="374650" cy="27463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chemeClr val="bg2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cxnSp>
                <p:nvCxnSpPr>
                  <p:cNvPr id="17" name="直接连接符 16"/>
                  <p:cNvCxnSpPr/>
                  <p:nvPr/>
                </p:nvCxnSpPr>
                <p:spPr bwMode="auto">
                  <a:xfrm rot="10800000">
                    <a:off x="7500959" y="4357693"/>
                    <a:ext cx="500066" cy="1588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 bwMode="auto">
                  <a:xfrm rot="10800000">
                    <a:off x="5929323" y="4356106"/>
                    <a:ext cx="500066" cy="158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 bwMode="auto">
                  <a:xfrm rot="10800000">
                    <a:off x="4857754" y="5000637"/>
                    <a:ext cx="2859106" cy="158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 bwMode="auto">
                  <a:xfrm rot="10800000">
                    <a:off x="4857754" y="4500570"/>
                    <a:ext cx="500065" cy="1588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 bwMode="auto">
                  <a:xfrm rot="5400000">
                    <a:off x="7396182" y="4678371"/>
                    <a:ext cx="642944" cy="1588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 bwMode="auto">
                  <a:xfrm rot="5400000">
                    <a:off x="4608514" y="4749810"/>
                    <a:ext cx="500067" cy="158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 bwMode="auto">
                  <a:xfrm rot="10800000">
                    <a:off x="4643440" y="4214817"/>
                    <a:ext cx="714380" cy="1588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aphicFrame>
                <p:nvGraphicFramePr>
                  <p:cNvPr id="37917" name="Object 10"/>
                  <p:cNvGraphicFramePr>
                    <a:graphicFrameLocks noChangeAspect="1"/>
                  </p:cNvGraphicFramePr>
                  <p:nvPr/>
                </p:nvGraphicFramePr>
                <p:xfrm>
                  <a:off x="4376738" y="4071938"/>
                  <a:ext cx="215900" cy="25558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8031" name="公式" r:id="rId23" imgW="139700" imgH="165100" progId="Equation.3">
                          <p:embed/>
                        </p:oleObj>
                      </mc:Choice>
                      <mc:Fallback>
                        <p:oleObj name="公式" r:id="rId23" imgW="139700" imgH="165100" progId="Equation.3">
                          <p:embed/>
                          <p:pic>
                            <p:nvPicPr>
                              <p:cNvPr id="0" name="Object 1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376738" y="4071938"/>
                                <a:ext cx="215900" cy="25558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52" name="直接连接符 51"/>
                <p:cNvCxnSpPr/>
                <p:nvPr/>
              </p:nvCxnSpPr>
              <p:spPr bwMode="auto">
                <a:xfrm rot="10800000">
                  <a:off x="3857621" y="3929064"/>
                  <a:ext cx="500065" cy="158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37903" name="Object 16"/>
              <p:cNvGraphicFramePr>
                <a:graphicFrameLocks noChangeAspect="1"/>
              </p:cNvGraphicFramePr>
              <p:nvPr/>
            </p:nvGraphicFramePr>
            <p:xfrm>
              <a:off x="4405315" y="3770320"/>
              <a:ext cx="238123" cy="3730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32" name="公式" r:id="rId25" imgW="152400" imgH="241300" progId="Equation.3">
                      <p:embed/>
                    </p:oleObj>
                  </mc:Choice>
                  <mc:Fallback>
                    <p:oleObj name="公式" r:id="rId25" imgW="152400" imgH="2413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5315" y="3770320"/>
                            <a:ext cx="238123" cy="3730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4" name="Object 17"/>
              <p:cNvGraphicFramePr>
                <a:graphicFrameLocks noChangeAspect="1"/>
              </p:cNvGraphicFramePr>
              <p:nvPr/>
            </p:nvGraphicFramePr>
            <p:xfrm>
              <a:off x="4406903" y="4643446"/>
              <a:ext cx="236535" cy="314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33" name="公式" r:id="rId26" imgW="152400" imgH="203200" progId="Equation.3">
                      <p:embed/>
                    </p:oleObj>
                  </mc:Choice>
                  <mc:Fallback>
                    <p:oleObj name="公式" r:id="rId26" imgW="152400" imgH="2032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6903" y="4643446"/>
                            <a:ext cx="236535" cy="3143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2" name="直接连接符 61"/>
              <p:cNvCxnSpPr/>
              <p:nvPr/>
            </p:nvCxnSpPr>
            <p:spPr bwMode="auto">
              <a:xfrm rot="10800000">
                <a:off x="1928795" y="4357693"/>
                <a:ext cx="857256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椭圆 64"/>
            <p:cNvSpPr/>
            <p:nvPr/>
          </p:nvSpPr>
          <p:spPr>
            <a:xfrm>
              <a:off x="4038597" y="4824422"/>
              <a:ext cx="71437" cy="714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"/>
          <p:cNvSpPr>
            <a:spLocks noChangeArrowheads="1"/>
          </p:cNvSpPr>
          <p:nvPr/>
        </p:nvSpPr>
        <p:spPr bwMode="auto">
          <a:xfrm>
            <a:off x="285750" y="214313"/>
            <a:ext cx="6413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二、由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触发器转换为其他类型触发器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2938" y="863600"/>
            <a:ext cx="3892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JK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28688" y="1428750"/>
            <a:ext cx="336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1214438" y="3244850"/>
          <a:ext cx="11620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0" name="公式" r:id="rId1" imgW="651510" imgH="225425" progId="Equation.3">
                  <p:embed/>
                </p:oleObj>
              </mc:Choice>
              <mc:Fallback>
                <p:oleObj name="公式" r:id="rId1" imgW="651510" imgH="2254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3244850"/>
                        <a:ext cx="11620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177925" y="1982788"/>
          <a:ext cx="23225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1" name="公式" r:id="rId3" imgW="1428115" imgH="250825" progId="Equation.3">
                  <p:embed/>
                </p:oleObj>
              </mc:Choice>
              <mc:Fallback>
                <p:oleObj name="公式" r:id="rId3" imgW="1428115" imgH="2508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1982788"/>
                        <a:ext cx="23225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28688" y="2673350"/>
            <a:ext cx="3192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C00000"/>
              </a:solidFill>
            </a:endParaRPr>
          </a:p>
        </p:txBody>
      </p:sp>
      <p:grpSp>
        <p:nvGrpSpPr>
          <p:cNvPr id="4" name="组合 9"/>
          <p:cNvGrpSpPr/>
          <p:nvPr/>
        </p:nvGrpSpPr>
        <p:grpSpPr bwMode="auto">
          <a:xfrm>
            <a:off x="1071563" y="3929063"/>
            <a:ext cx="2652712" cy="465137"/>
            <a:chOff x="1285852" y="3357562"/>
            <a:chExt cx="2652718" cy="465142"/>
          </a:xfrm>
        </p:grpSpPr>
        <p:sp>
          <p:nvSpPr>
            <p:cNvPr id="38966" name="矩形 10"/>
            <p:cNvSpPr>
              <a:spLocks noChangeArrowheads="1"/>
            </p:cNvSpPr>
            <p:nvPr/>
          </p:nvSpPr>
          <p:spPr bwMode="auto">
            <a:xfrm>
              <a:off x="1285852" y="3357562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令：</a:t>
              </a:r>
              <a:endParaRPr lang="zh-CN" altLang="en-US" sz="2400"/>
            </a:p>
          </p:txBody>
        </p:sp>
        <p:graphicFrame>
          <p:nvGraphicFramePr>
            <p:cNvPr id="38967" name="Object 19"/>
            <p:cNvGraphicFramePr>
              <a:graphicFrameLocks noChangeAspect="1"/>
            </p:cNvGraphicFramePr>
            <p:nvPr/>
          </p:nvGraphicFramePr>
          <p:xfrm>
            <a:off x="2071670" y="3375029"/>
            <a:ext cx="186690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2" name="公式" r:id="rId5" imgW="1127125" imgH="200660" progId="Equation.3">
                    <p:embed/>
                  </p:oleObj>
                </mc:Choice>
                <mc:Fallback>
                  <p:oleObj name="公式" r:id="rId5" imgW="1127125" imgH="20066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670" y="3375029"/>
                          <a:ext cx="1866900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12"/>
          <p:cNvGrpSpPr/>
          <p:nvPr/>
        </p:nvGrpSpPr>
        <p:grpSpPr bwMode="auto">
          <a:xfrm>
            <a:off x="785813" y="4714875"/>
            <a:ext cx="3600450" cy="1500188"/>
            <a:chOff x="3552825" y="3643312"/>
            <a:chExt cx="3599969" cy="1500186"/>
          </a:xfrm>
        </p:grpSpPr>
        <p:cxnSp>
          <p:nvCxnSpPr>
            <p:cNvPr id="18" name="直接连接符 17"/>
            <p:cNvCxnSpPr/>
            <p:nvPr/>
          </p:nvCxnSpPr>
          <p:spPr bwMode="auto">
            <a:xfrm rot="10800000" flipV="1">
              <a:off x="4919479" y="4841873"/>
              <a:ext cx="5809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948" name="组合 20"/>
            <p:cNvGrpSpPr/>
            <p:nvPr/>
          </p:nvGrpSpPr>
          <p:grpSpPr bwMode="auto">
            <a:xfrm>
              <a:off x="5500690" y="3643312"/>
              <a:ext cx="1071561" cy="1500186"/>
              <a:chOff x="2143108" y="2500306"/>
              <a:chExt cx="1071570" cy="1500198"/>
            </a:xfrm>
          </p:grpSpPr>
          <p:graphicFrame>
            <p:nvGraphicFramePr>
              <p:cNvPr id="38961" name="Object 8"/>
              <p:cNvGraphicFramePr>
                <a:graphicFrameLocks noChangeAspect="1"/>
              </p:cNvGraphicFramePr>
              <p:nvPr/>
            </p:nvGraphicFramePr>
            <p:xfrm>
              <a:off x="2928931" y="3484575"/>
              <a:ext cx="238125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43" name="公式" r:id="rId7" imgW="152400" imgH="241300" progId="Equation.3">
                      <p:embed/>
                    </p:oleObj>
                  </mc:Choice>
                  <mc:Fallback>
                    <p:oleObj name="公式" r:id="rId7" imgW="152400" imgH="2413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31" y="3484575"/>
                            <a:ext cx="238125" cy="3730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62" name="Object 9"/>
              <p:cNvGraphicFramePr>
                <a:graphicFrameLocks noChangeAspect="1"/>
              </p:cNvGraphicFramePr>
              <p:nvPr/>
            </p:nvGraphicFramePr>
            <p:xfrm>
              <a:off x="2928926" y="2686050"/>
              <a:ext cx="236537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44" name="公式" r:id="rId9" imgW="152400" imgH="203200" progId="Equation.3">
                      <p:embed/>
                    </p:oleObj>
                  </mc:Choice>
                  <mc:Fallback>
                    <p:oleObj name="公式" r:id="rId9" imgW="152400" imgH="203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26" y="2686050"/>
                            <a:ext cx="236537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矩形 4"/>
              <p:cNvSpPr/>
              <p:nvPr/>
            </p:nvSpPr>
            <p:spPr>
              <a:xfrm rot="5400000">
                <a:off x="1928461" y="2714690"/>
                <a:ext cx="1500198" cy="1071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38964" name="Object 7"/>
              <p:cNvGraphicFramePr>
                <a:graphicFrameLocks noChangeAspect="1"/>
              </p:cNvGraphicFramePr>
              <p:nvPr/>
            </p:nvGraphicFramePr>
            <p:xfrm>
              <a:off x="2214546" y="3530602"/>
              <a:ext cx="255588" cy="2555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45" name="公式" r:id="rId11" imgW="165100" imgH="165100" progId="Equation.3">
                      <p:embed/>
                    </p:oleObj>
                  </mc:Choice>
                  <mc:Fallback>
                    <p:oleObj name="公式" r:id="rId11" imgW="165100" imgH="1651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4546" y="3530602"/>
                            <a:ext cx="255588" cy="2555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65" name="Object 5"/>
              <p:cNvGraphicFramePr>
                <a:graphicFrameLocks noChangeAspect="1"/>
              </p:cNvGraphicFramePr>
              <p:nvPr/>
            </p:nvGraphicFramePr>
            <p:xfrm>
              <a:off x="2214546" y="3154369"/>
              <a:ext cx="374650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46" name="公式" r:id="rId13" imgW="241300" imgH="177800" progId="Equation.3">
                      <p:embed/>
                    </p:oleObj>
                  </mc:Choice>
                  <mc:Fallback>
                    <p:oleObj name="公式" r:id="rId13" imgW="241300" imgH="1778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4546" y="3154369"/>
                            <a:ext cx="374650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8949" name="Object 10"/>
            <p:cNvGraphicFramePr>
              <a:graphicFrameLocks noChangeAspect="1"/>
            </p:cNvGraphicFramePr>
            <p:nvPr/>
          </p:nvGraphicFramePr>
          <p:xfrm>
            <a:off x="5621338" y="3848100"/>
            <a:ext cx="21590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7" name="公式" r:id="rId15" imgW="139700" imgH="177800" progId="Equation.3">
                    <p:embed/>
                  </p:oleObj>
                </mc:Choice>
                <mc:Fallback>
                  <p:oleObj name="公式" r:id="rId15" imgW="139700" imgH="177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1338" y="3848100"/>
                          <a:ext cx="215900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950" name="组合 40"/>
            <p:cNvGrpSpPr/>
            <p:nvPr/>
          </p:nvGrpSpPr>
          <p:grpSpPr bwMode="auto">
            <a:xfrm rot="5400000">
              <a:off x="4465485" y="4611723"/>
              <a:ext cx="525462" cy="446020"/>
              <a:chOff x="2857488" y="4667225"/>
              <a:chExt cx="500063" cy="546806"/>
            </a:xfrm>
          </p:grpSpPr>
          <p:sp>
            <p:nvSpPr>
              <p:cNvPr id="27" name="等腰三角形 26"/>
              <p:cNvSpPr/>
              <p:nvPr/>
            </p:nvSpPr>
            <p:spPr bwMode="auto">
              <a:xfrm>
                <a:off x="2857485" y="4764525"/>
                <a:ext cx="500062" cy="428112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 bwMode="auto">
              <a:xfrm>
                <a:off x="3058416" y="4645821"/>
                <a:ext cx="102732" cy="1323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7" name="直接连接符 16"/>
            <p:cNvCxnSpPr/>
            <p:nvPr/>
          </p:nvCxnSpPr>
          <p:spPr bwMode="auto">
            <a:xfrm rot="10800000">
              <a:off x="3857584" y="4000500"/>
              <a:ext cx="1642842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auto">
            <a:xfrm rot="10800000" flipV="1">
              <a:off x="4214724" y="4845048"/>
              <a:ext cx="29523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auto">
            <a:xfrm rot="10800000" flipV="1">
              <a:off x="6571847" y="4000500"/>
              <a:ext cx="5809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auto">
            <a:xfrm rot="10800000" flipV="1">
              <a:off x="6571847" y="4824410"/>
              <a:ext cx="5809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auto">
            <a:xfrm rot="5400000">
              <a:off x="3786893" y="4429917"/>
              <a:ext cx="85724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956" name="Object 14"/>
            <p:cNvGraphicFramePr>
              <a:graphicFrameLocks noChangeAspect="1"/>
            </p:cNvGraphicFramePr>
            <p:nvPr/>
          </p:nvGraphicFramePr>
          <p:xfrm>
            <a:off x="3552825" y="3867150"/>
            <a:ext cx="255588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8" name="公式" r:id="rId17" imgW="165100" imgH="165100" progId="Equation.3">
                    <p:embed/>
                  </p:oleObj>
                </mc:Choice>
                <mc:Fallback>
                  <p:oleObj name="公式" r:id="rId17" imgW="165100" imgH="1651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825" y="3867150"/>
                          <a:ext cx="255588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/>
            <p:cNvCxnSpPr/>
            <p:nvPr/>
          </p:nvCxnSpPr>
          <p:spPr bwMode="auto">
            <a:xfrm rot="10800000" flipV="1">
              <a:off x="4929003" y="4429124"/>
              <a:ext cx="5809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176629" y="3962400"/>
              <a:ext cx="71428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34" name="直接连接符 33"/>
          <p:cNvCxnSpPr/>
          <p:nvPr/>
        </p:nvCxnSpPr>
        <p:spPr>
          <a:xfrm rot="5400000">
            <a:off x="1821657" y="3750469"/>
            <a:ext cx="5645150" cy="1587"/>
          </a:xfrm>
          <a:prstGeom prst="lin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822825" y="838200"/>
            <a:ext cx="3875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JK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触发器转换为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5108575" y="1403350"/>
            <a:ext cx="336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aphicFrame>
        <p:nvGraphicFramePr>
          <p:cNvPr id="37" name="Object 11"/>
          <p:cNvGraphicFramePr>
            <a:graphicFrameLocks noChangeAspect="1"/>
          </p:cNvGraphicFramePr>
          <p:nvPr/>
        </p:nvGraphicFramePr>
        <p:xfrm>
          <a:off x="5357813" y="1957388"/>
          <a:ext cx="23225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9" name="公式" r:id="rId19" imgW="1428115" imgH="250825" progId="Equation.3">
                  <p:embed/>
                </p:oleObj>
              </mc:Choice>
              <mc:Fallback>
                <p:oleObj name="公式" r:id="rId19" imgW="1428115" imgH="2508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1957388"/>
                        <a:ext cx="23225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5108575" y="2647950"/>
            <a:ext cx="317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触发器的特性方程：</a:t>
            </a:r>
            <a:endParaRPr lang="zh-CN" altLang="en-US" sz="2400">
              <a:solidFill>
                <a:srgbClr val="C00000"/>
              </a:solidFill>
            </a:endParaRPr>
          </a:p>
        </p:txBody>
      </p:sp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5357813" y="3143250"/>
          <a:ext cx="2247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50" name="公式" r:id="rId21" imgW="1377950" imgH="250825" progId="Equation.3">
                  <p:embed/>
                </p:oleObj>
              </mc:Choice>
              <mc:Fallback>
                <p:oleObj name="公式" r:id="rId21" imgW="1377950" imgH="2508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3143250"/>
                        <a:ext cx="22479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39"/>
          <p:cNvGrpSpPr/>
          <p:nvPr/>
        </p:nvGrpSpPr>
        <p:grpSpPr bwMode="auto">
          <a:xfrm>
            <a:off x="5062538" y="3925888"/>
            <a:ext cx="2374900" cy="461962"/>
            <a:chOff x="1285852" y="3357562"/>
            <a:chExt cx="2374884" cy="461665"/>
          </a:xfrm>
        </p:grpSpPr>
        <p:sp>
          <p:nvSpPr>
            <p:cNvPr id="38945" name="矩形 40"/>
            <p:cNvSpPr>
              <a:spLocks noChangeArrowheads="1"/>
            </p:cNvSpPr>
            <p:nvPr/>
          </p:nvSpPr>
          <p:spPr bwMode="auto">
            <a:xfrm>
              <a:off x="1285852" y="3357562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令：</a:t>
              </a:r>
              <a:endParaRPr lang="zh-CN" altLang="en-US" sz="2400"/>
            </a:p>
          </p:txBody>
        </p:sp>
        <p:graphicFrame>
          <p:nvGraphicFramePr>
            <p:cNvPr id="38946" name="Object 14"/>
            <p:cNvGraphicFramePr>
              <a:graphicFrameLocks noChangeAspect="1"/>
            </p:cNvGraphicFramePr>
            <p:nvPr/>
          </p:nvGraphicFramePr>
          <p:xfrm>
            <a:off x="2349461" y="3433760"/>
            <a:ext cx="13112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51" name="公式" r:id="rId23" imgW="751840" imgH="125095" progId="Equation.3">
                    <p:embed/>
                  </p:oleObj>
                </mc:Choice>
                <mc:Fallback>
                  <p:oleObj name="公式" r:id="rId23" imgW="751840" imgH="12509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461" y="3433760"/>
                          <a:ext cx="131127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42"/>
          <p:cNvGrpSpPr/>
          <p:nvPr/>
        </p:nvGrpSpPr>
        <p:grpSpPr bwMode="auto">
          <a:xfrm>
            <a:off x="5062538" y="4714875"/>
            <a:ext cx="3581400" cy="1500188"/>
            <a:chOff x="3571366" y="3643312"/>
            <a:chExt cx="3581428" cy="1500186"/>
          </a:xfrm>
        </p:grpSpPr>
        <p:grpSp>
          <p:nvGrpSpPr>
            <p:cNvPr id="38930" name="组合 20"/>
            <p:cNvGrpSpPr/>
            <p:nvPr/>
          </p:nvGrpSpPr>
          <p:grpSpPr bwMode="auto">
            <a:xfrm>
              <a:off x="5500690" y="3643312"/>
              <a:ext cx="1071561" cy="1500186"/>
              <a:chOff x="2143108" y="2500306"/>
              <a:chExt cx="1071570" cy="1500198"/>
            </a:xfrm>
          </p:grpSpPr>
          <p:graphicFrame>
            <p:nvGraphicFramePr>
              <p:cNvPr id="38940" name="Object 15"/>
              <p:cNvGraphicFramePr>
                <a:graphicFrameLocks noChangeAspect="1"/>
              </p:cNvGraphicFramePr>
              <p:nvPr/>
            </p:nvGraphicFramePr>
            <p:xfrm>
              <a:off x="2928931" y="3484575"/>
              <a:ext cx="238125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52" name="公式" r:id="rId25" imgW="152400" imgH="241300" progId="Equation.3">
                      <p:embed/>
                    </p:oleObj>
                  </mc:Choice>
                  <mc:Fallback>
                    <p:oleObj name="公式" r:id="rId25" imgW="152400" imgH="2413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31" y="3484575"/>
                            <a:ext cx="238125" cy="3730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1" name="Object 16"/>
              <p:cNvGraphicFramePr>
                <a:graphicFrameLocks noChangeAspect="1"/>
              </p:cNvGraphicFramePr>
              <p:nvPr/>
            </p:nvGraphicFramePr>
            <p:xfrm>
              <a:off x="2928926" y="2686050"/>
              <a:ext cx="236537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53" name="公式" r:id="rId26" imgW="152400" imgH="203200" progId="Equation.3">
                      <p:embed/>
                    </p:oleObj>
                  </mc:Choice>
                  <mc:Fallback>
                    <p:oleObj name="公式" r:id="rId26" imgW="152400" imgH="2032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926" y="2686050"/>
                            <a:ext cx="236537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矩形 4"/>
              <p:cNvSpPr/>
              <p:nvPr/>
            </p:nvSpPr>
            <p:spPr>
              <a:xfrm rot="5400000">
                <a:off x="1928302" y="2714614"/>
                <a:ext cx="1500198" cy="10715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38943" name="Object 17"/>
              <p:cNvGraphicFramePr>
                <a:graphicFrameLocks noChangeAspect="1"/>
              </p:cNvGraphicFramePr>
              <p:nvPr/>
            </p:nvGraphicFramePr>
            <p:xfrm>
              <a:off x="2214546" y="3530602"/>
              <a:ext cx="255588" cy="2555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54" name="公式" r:id="rId27" imgW="165100" imgH="165100" progId="Equation.3">
                      <p:embed/>
                    </p:oleObj>
                  </mc:Choice>
                  <mc:Fallback>
                    <p:oleObj name="公式" r:id="rId27" imgW="165100" imgH="1651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4546" y="3530602"/>
                            <a:ext cx="255588" cy="2555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4" name="Object 18"/>
              <p:cNvGraphicFramePr>
                <a:graphicFrameLocks noChangeAspect="1"/>
              </p:cNvGraphicFramePr>
              <p:nvPr/>
            </p:nvGraphicFramePr>
            <p:xfrm>
              <a:off x="2214546" y="3154369"/>
              <a:ext cx="374650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55" name="公式" r:id="rId28" imgW="241300" imgH="177800" progId="Equation.3">
                      <p:embed/>
                    </p:oleObj>
                  </mc:Choice>
                  <mc:Fallback>
                    <p:oleObj name="公式" r:id="rId28" imgW="241300" imgH="1778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4546" y="3154369"/>
                            <a:ext cx="374650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8931" name="Object 19"/>
            <p:cNvGraphicFramePr>
              <a:graphicFrameLocks noChangeAspect="1"/>
            </p:cNvGraphicFramePr>
            <p:nvPr/>
          </p:nvGraphicFramePr>
          <p:xfrm>
            <a:off x="5621338" y="3848100"/>
            <a:ext cx="21590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56" name="公式" r:id="rId29" imgW="139700" imgH="177800" progId="Equation.3">
                    <p:embed/>
                  </p:oleObj>
                </mc:Choice>
                <mc:Fallback>
                  <p:oleObj name="公式" r:id="rId29" imgW="139700" imgH="177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1338" y="3848100"/>
                          <a:ext cx="215900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7" name="直接连接符 46"/>
            <p:cNvCxnSpPr/>
            <p:nvPr/>
          </p:nvCxnSpPr>
          <p:spPr bwMode="auto">
            <a:xfrm rot="10800000">
              <a:off x="3857118" y="4000500"/>
              <a:ext cx="164307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 bwMode="auto">
            <a:xfrm rot="10800000" flipV="1">
              <a:off x="4581024" y="4857748"/>
              <a:ext cx="9191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 bwMode="auto">
            <a:xfrm rot="10800000" flipV="1">
              <a:off x="6571764" y="4000500"/>
              <a:ext cx="58103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 bwMode="auto">
            <a:xfrm rot="10800000" flipV="1">
              <a:off x="6571764" y="4824410"/>
              <a:ext cx="58103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 bwMode="auto">
            <a:xfrm rot="5400000">
              <a:off x="4153193" y="4429917"/>
              <a:ext cx="85724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937" name="Object 20"/>
            <p:cNvGraphicFramePr>
              <a:graphicFrameLocks noChangeAspect="1"/>
            </p:cNvGraphicFramePr>
            <p:nvPr/>
          </p:nvGraphicFramePr>
          <p:xfrm>
            <a:off x="3571366" y="3867143"/>
            <a:ext cx="215900" cy="25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57" name="公式" r:id="rId30" imgW="139700" imgH="165100" progId="Equation.3">
                    <p:embed/>
                  </p:oleObj>
                </mc:Choice>
                <mc:Fallback>
                  <p:oleObj name="公式" r:id="rId30" imgW="139700" imgH="1651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366" y="3867143"/>
                          <a:ext cx="215900" cy="255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" name="直接连接符 53"/>
            <p:cNvCxnSpPr/>
            <p:nvPr/>
          </p:nvCxnSpPr>
          <p:spPr bwMode="auto">
            <a:xfrm rot="10800000" flipV="1">
              <a:off x="4928689" y="4429124"/>
              <a:ext cx="58103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/>
            <p:cNvSpPr/>
            <p:nvPr/>
          </p:nvSpPr>
          <p:spPr>
            <a:xfrm>
              <a:off x="4541336" y="3962400"/>
              <a:ext cx="73026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35" grpId="0"/>
      <p:bldP spid="36" grpId="0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85"/>
          <p:cNvGrpSpPr/>
          <p:nvPr/>
        </p:nvGrpSpPr>
        <p:grpSpPr bwMode="auto">
          <a:xfrm>
            <a:off x="1071563" y="1214438"/>
            <a:ext cx="5786437" cy="1870075"/>
            <a:chOff x="1071563" y="1214438"/>
            <a:chExt cx="5786437" cy="1870075"/>
          </a:xfrm>
        </p:grpSpPr>
        <p:grpSp>
          <p:nvGrpSpPr>
            <p:cNvPr id="40099" name="组合 207"/>
            <p:cNvGrpSpPr/>
            <p:nvPr/>
          </p:nvGrpSpPr>
          <p:grpSpPr bwMode="auto">
            <a:xfrm>
              <a:off x="1071563" y="1214438"/>
              <a:ext cx="5786437" cy="1870075"/>
              <a:chOff x="1214414" y="1214422"/>
              <a:chExt cx="5786478" cy="1869530"/>
            </a:xfrm>
          </p:grpSpPr>
          <p:pic>
            <p:nvPicPr>
              <p:cNvPr id="40102" name="Picture 1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4414" y="1214422"/>
                <a:ext cx="5786478" cy="1512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103" name="矩形 118"/>
              <p:cNvSpPr>
                <a:spLocks noChangeArrowheads="1"/>
              </p:cNvSpPr>
              <p:nvPr/>
            </p:nvSpPr>
            <p:spPr bwMode="auto">
              <a:xfrm>
                <a:off x="2393339" y="2714620"/>
                <a:ext cx="11785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74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rPr>
                  <a:t>LS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74-1</a:t>
                </a:r>
                <a:endParaRPr kumimoji="1" lang="en-US" altLang="zh-CN" sz="1800" b="1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40104" name="矩形 119"/>
              <p:cNvSpPr>
                <a:spLocks noChangeArrowheads="1"/>
              </p:cNvSpPr>
              <p:nvPr/>
            </p:nvSpPr>
            <p:spPr bwMode="auto">
              <a:xfrm>
                <a:off x="5143504" y="2714620"/>
                <a:ext cx="11785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74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rPr>
                  <a:t>LS</a:t>
                </a:r>
                <a:r>
                  <a:rPr kumimoji="1" lang="en-US" altLang="zh-CN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74-2</a:t>
                </a:r>
                <a:endParaRPr kumimoji="1" lang="en-US" altLang="zh-CN" sz="1800" b="1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179" name="等腰三角形 178"/>
            <p:cNvSpPr/>
            <p:nvPr/>
          </p:nvSpPr>
          <p:spPr>
            <a:xfrm rot="5400000">
              <a:off x="2384426" y="1990725"/>
              <a:ext cx="144462" cy="71437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2" name="等腰三角形 181"/>
            <p:cNvSpPr/>
            <p:nvPr/>
          </p:nvSpPr>
          <p:spPr>
            <a:xfrm rot="5400000">
              <a:off x="5080795" y="1993106"/>
              <a:ext cx="144462" cy="73025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" name="组合 220"/>
          <p:cNvGrpSpPr/>
          <p:nvPr/>
        </p:nvGrpSpPr>
        <p:grpSpPr bwMode="auto">
          <a:xfrm>
            <a:off x="1927225" y="3286125"/>
            <a:ext cx="5503863" cy="3287713"/>
            <a:chOff x="1856562" y="3857628"/>
            <a:chExt cx="5503108" cy="2501124"/>
          </a:xfrm>
        </p:grpSpPr>
        <p:cxnSp>
          <p:nvCxnSpPr>
            <p:cNvPr id="222" name="直接连接符 221"/>
            <p:cNvCxnSpPr/>
            <p:nvPr/>
          </p:nvCxnSpPr>
          <p:spPr>
            <a:xfrm rot="5400000">
              <a:off x="607397" y="5108001"/>
              <a:ext cx="2499916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5400000">
              <a:off x="1393103" y="5106793"/>
              <a:ext cx="2499916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5400000">
              <a:off x="2180395" y="5106793"/>
              <a:ext cx="2499916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5400000">
              <a:off x="2966099" y="5106792"/>
              <a:ext cx="2499916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5400000">
              <a:off x="3751804" y="5106793"/>
              <a:ext cx="2499916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5400000">
              <a:off x="4537508" y="5106792"/>
              <a:ext cx="2499916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5400000">
              <a:off x="5323213" y="5106793"/>
              <a:ext cx="2499916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5400000">
              <a:off x="6108918" y="5106792"/>
              <a:ext cx="2499916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940" name="矩形 1"/>
          <p:cNvSpPr>
            <a:spLocks noChangeArrowheads="1"/>
          </p:cNvSpPr>
          <p:nvPr/>
        </p:nvSpPr>
        <p:spPr bwMode="auto">
          <a:xfrm>
            <a:off x="642938" y="142875"/>
            <a:ext cx="3430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三、触发器应用实例</a:t>
            </a:r>
            <a:endParaRPr lang="zh-CN" altLang="en-US" sz="2800">
              <a:solidFill>
                <a:srgbClr val="0066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965200" y="681038"/>
            <a:ext cx="1420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分频器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5" name="组合 208"/>
          <p:cNvGrpSpPr/>
          <p:nvPr/>
        </p:nvGrpSpPr>
        <p:grpSpPr bwMode="auto">
          <a:xfrm>
            <a:off x="714375" y="3502025"/>
            <a:ext cx="7286625" cy="573088"/>
            <a:chOff x="714348" y="3501232"/>
            <a:chExt cx="7286675" cy="573087"/>
          </a:xfrm>
        </p:grpSpPr>
        <p:graphicFrame>
          <p:nvGraphicFramePr>
            <p:cNvPr id="40025" name="Object 2"/>
            <p:cNvGraphicFramePr>
              <a:graphicFrameLocks noChangeAspect="1"/>
            </p:cNvGraphicFramePr>
            <p:nvPr/>
          </p:nvGraphicFramePr>
          <p:xfrm>
            <a:off x="714348" y="3715546"/>
            <a:ext cx="714380" cy="358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7" name="公式" r:id="rId2" imgW="354965" imgH="177800" progId="Equation.3">
                    <p:embed/>
                  </p:oleObj>
                </mc:Choice>
                <mc:Fallback>
                  <p:oleObj name="公式" r:id="rId2" imgW="354965" imgH="177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348" y="3715546"/>
                          <a:ext cx="714380" cy="358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026" name="组合 99"/>
            <p:cNvGrpSpPr/>
            <p:nvPr/>
          </p:nvGrpSpPr>
          <p:grpSpPr bwMode="auto">
            <a:xfrm>
              <a:off x="1285852" y="3501232"/>
              <a:ext cx="5143536" cy="573087"/>
              <a:chOff x="2357422" y="4071942"/>
              <a:chExt cx="5143536" cy="573087"/>
            </a:xfrm>
          </p:grpSpPr>
          <p:grpSp>
            <p:nvGrpSpPr>
              <p:cNvPr id="40043" name="组合 69"/>
              <p:cNvGrpSpPr/>
              <p:nvPr/>
            </p:nvGrpSpPr>
            <p:grpSpPr bwMode="auto">
              <a:xfrm>
                <a:off x="2357422" y="4071942"/>
                <a:ext cx="1214447" cy="573087"/>
                <a:chOff x="-636482" y="5286388"/>
                <a:chExt cx="5851420" cy="715968"/>
              </a:xfrm>
            </p:grpSpPr>
            <p:cxnSp>
              <p:nvCxnSpPr>
                <p:cNvPr id="51" name="直接连接符 50"/>
                <p:cNvCxnSpPr/>
                <p:nvPr/>
              </p:nvCxnSpPr>
              <p:spPr>
                <a:xfrm>
                  <a:off x="-636482" y="6000372"/>
                  <a:ext cx="3136051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/>
                <p:nvPr/>
              </p:nvCxnSpPr>
              <p:spPr>
                <a:xfrm>
                  <a:off x="4144086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/>
                <p:nvPr/>
              </p:nvCxnSpPr>
              <p:spPr>
                <a:xfrm rot="5400000">
                  <a:off x="2143569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 rot="5400000">
                  <a:off x="3787094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>
                  <a:off x="2499569" y="5286388"/>
                  <a:ext cx="164451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rot="5400000">
                  <a:off x="3965590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rot="5400000">
                  <a:off x="2321073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44" name="组合 69"/>
              <p:cNvGrpSpPr/>
              <p:nvPr/>
            </p:nvGrpSpPr>
            <p:grpSpPr bwMode="auto">
              <a:xfrm>
                <a:off x="3571868" y="4071942"/>
                <a:ext cx="785818" cy="573087"/>
                <a:chOff x="1428728" y="5286388"/>
                <a:chExt cx="3786210" cy="715968"/>
              </a:xfrm>
            </p:grpSpPr>
            <p:cxnSp>
              <p:nvCxnSpPr>
                <p:cNvPr id="60" name="直接连接符 59"/>
                <p:cNvCxnSpPr/>
                <p:nvPr/>
              </p:nvCxnSpPr>
              <p:spPr>
                <a:xfrm>
                  <a:off x="1428728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4144087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 rot="5400000">
                  <a:off x="2143575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 rot="5400000">
                  <a:off x="3787095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/>
                <p:nvPr/>
              </p:nvCxnSpPr>
              <p:spPr>
                <a:xfrm>
                  <a:off x="2499575" y="5286388"/>
                  <a:ext cx="1644512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 rot="5400000">
                  <a:off x="3965591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 rot="5400000">
                  <a:off x="2321079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45" name="组合 69"/>
              <p:cNvGrpSpPr/>
              <p:nvPr/>
            </p:nvGrpSpPr>
            <p:grpSpPr bwMode="auto">
              <a:xfrm>
                <a:off x="4357686" y="4071942"/>
                <a:ext cx="785818" cy="573087"/>
                <a:chOff x="1428728" y="5286388"/>
                <a:chExt cx="3786210" cy="715968"/>
              </a:xfrm>
            </p:grpSpPr>
            <p:cxnSp>
              <p:nvCxnSpPr>
                <p:cNvPr id="68" name="直接连接符 67"/>
                <p:cNvCxnSpPr/>
                <p:nvPr/>
              </p:nvCxnSpPr>
              <p:spPr>
                <a:xfrm>
                  <a:off x="1428728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4144091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 rot="5400000">
                  <a:off x="2143575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 rot="5400000">
                  <a:off x="3787099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2499575" y="5286388"/>
                  <a:ext cx="164451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 rot="5400000">
                  <a:off x="3965595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 rot="5400000">
                  <a:off x="2321079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46" name="组合 69"/>
              <p:cNvGrpSpPr/>
              <p:nvPr/>
            </p:nvGrpSpPr>
            <p:grpSpPr bwMode="auto">
              <a:xfrm>
                <a:off x="5143503" y="4071942"/>
                <a:ext cx="785818" cy="573087"/>
                <a:chOff x="1428728" y="5286388"/>
                <a:chExt cx="3786210" cy="715968"/>
              </a:xfrm>
            </p:grpSpPr>
            <p:cxnSp>
              <p:nvCxnSpPr>
                <p:cNvPr id="76" name="直接连接符 75"/>
                <p:cNvCxnSpPr/>
                <p:nvPr/>
              </p:nvCxnSpPr>
              <p:spPr>
                <a:xfrm>
                  <a:off x="1428733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4144091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 rot="5400000">
                  <a:off x="2143579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 rot="5400000">
                  <a:off x="3787099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2499579" y="5286388"/>
                  <a:ext cx="1644512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 rot="5400000">
                  <a:off x="3965595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 rot="5400000">
                  <a:off x="2321083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47" name="组合 69"/>
              <p:cNvGrpSpPr/>
              <p:nvPr/>
            </p:nvGrpSpPr>
            <p:grpSpPr bwMode="auto">
              <a:xfrm>
                <a:off x="5929323" y="4071942"/>
                <a:ext cx="785818" cy="573087"/>
                <a:chOff x="1428728" y="5286388"/>
                <a:chExt cx="3786210" cy="715968"/>
              </a:xfrm>
            </p:grpSpPr>
            <p:cxnSp>
              <p:nvCxnSpPr>
                <p:cNvPr id="84" name="直接连接符 83"/>
                <p:cNvCxnSpPr/>
                <p:nvPr/>
              </p:nvCxnSpPr>
              <p:spPr>
                <a:xfrm>
                  <a:off x="1428718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4144082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 rot="5400000">
                  <a:off x="2143565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 rot="5400000">
                  <a:off x="3787090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2499565" y="5286388"/>
                  <a:ext cx="164451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/>
              </p:nvCxnSpPr>
              <p:spPr>
                <a:xfrm rot="5400000">
                  <a:off x="3965586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/>
                <p:cNvCxnSpPr/>
                <p:nvPr/>
              </p:nvCxnSpPr>
              <p:spPr>
                <a:xfrm rot="5400000">
                  <a:off x="2321069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48" name="组合 69"/>
              <p:cNvGrpSpPr/>
              <p:nvPr/>
            </p:nvGrpSpPr>
            <p:grpSpPr bwMode="auto">
              <a:xfrm>
                <a:off x="6715140" y="4071942"/>
                <a:ext cx="785818" cy="573087"/>
                <a:chOff x="1428728" y="5286388"/>
                <a:chExt cx="3786210" cy="715968"/>
              </a:xfrm>
            </p:grpSpPr>
            <p:cxnSp>
              <p:nvCxnSpPr>
                <p:cNvPr id="92" name="直接连接符 91"/>
                <p:cNvCxnSpPr/>
                <p:nvPr/>
              </p:nvCxnSpPr>
              <p:spPr>
                <a:xfrm>
                  <a:off x="1428728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>
                  <a:off x="4144087" y="6000372"/>
                  <a:ext cx="1070847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 rot="5400000">
                  <a:off x="2143575" y="5644372"/>
                  <a:ext cx="712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 rot="5400000">
                  <a:off x="3787095" y="5643380"/>
                  <a:ext cx="71398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2499575" y="5286388"/>
                  <a:ext cx="1644512" cy="19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/>
                <p:cNvCxnSpPr/>
                <p:nvPr/>
              </p:nvCxnSpPr>
              <p:spPr>
                <a:xfrm rot="5400000">
                  <a:off x="3965591" y="5536282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 rot="5400000">
                  <a:off x="2321079" y="5750478"/>
                  <a:ext cx="35699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0027" name="组合 69"/>
            <p:cNvGrpSpPr/>
            <p:nvPr/>
          </p:nvGrpSpPr>
          <p:grpSpPr bwMode="auto">
            <a:xfrm>
              <a:off x="6429388" y="3501232"/>
              <a:ext cx="785818" cy="573087"/>
              <a:chOff x="1428728" y="5286388"/>
              <a:chExt cx="3786210" cy="715968"/>
            </a:xfrm>
          </p:grpSpPr>
          <p:cxnSp>
            <p:nvCxnSpPr>
              <p:cNvPr id="102" name="直接连接符 101"/>
              <p:cNvCxnSpPr/>
              <p:nvPr/>
            </p:nvCxnSpPr>
            <p:spPr>
              <a:xfrm>
                <a:off x="1428723" y="6000372"/>
                <a:ext cx="1070847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4144087" y="6000372"/>
                <a:ext cx="1070847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rot="5400000">
                <a:off x="2143570" y="5644372"/>
                <a:ext cx="712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rot="5400000">
                <a:off x="3787095" y="5643380"/>
                <a:ext cx="7139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2499570" y="5286388"/>
                <a:ext cx="1644517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rot="5400000">
                <a:off x="3965591" y="5536282"/>
                <a:ext cx="3569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rot="5400000">
                <a:off x="2321074" y="5750478"/>
                <a:ext cx="3569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028" name="组合 69"/>
            <p:cNvGrpSpPr/>
            <p:nvPr/>
          </p:nvGrpSpPr>
          <p:grpSpPr bwMode="auto">
            <a:xfrm>
              <a:off x="7215205" y="3501232"/>
              <a:ext cx="785818" cy="573087"/>
              <a:chOff x="1428728" y="5286388"/>
              <a:chExt cx="3786210" cy="715968"/>
            </a:xfrm>
          </p:grpSpPr>
          <p:cxnSp>
            <p:nvCxnSpPr>
              <p:cNvPr id="110" name="直接连接符 109"/>
              <p:cNvCxnSpPr/>
              <p:nvPr/>
            </p:nvCxnSpPr>
            <p:spPr>
              <a:xfrm>
                <a:off x="1428733" y="6000372"/>
                <a:ext cx="1070847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4144091" y="6000372"/>
                <a:ext cx="1070847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5400000">
                <a:off x="2143579" y="5644372"/>
                <a:ext cx="712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rot="5400000">
                <a:off x="3787099" y="5643380"/>
                <a:ext cx="7139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499579" y="5286388"/>
                <a:ext cx="1644512" cy="19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rot="5400000">
                <a:off x="3965595" y="5536282"/>
                <a:ext cx="3569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rot="5400000">
                <a:off x="2321083" y="5750478"/>
                <a:ext cx="3569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943" name="组合 215"/>
          <p:cNvGrpSpPr/>
          <p:nvPr/>
        </p:nvGrpSpPr>
        <p:grpSpPr bwMode="auto">
          <a:xfrm>
            <a:off x="1928813" y="4573588"/>
            <a:ext cx="0" cy="571500"/>
            <a:chOff x="1928794" y="4573760"/>
            <a:chExt cx="0" cy="570545"/>
          </a:xfrm>
        </p:grpSpPr>
        <p:cxnSp>
          <p:nvCxnSpPr>
            <p:cNvPr id="125" name="直接连接符 124"/>
            <p:cNvCxnSpPr/>
            <p:nvPr/>
          </p:nvCxnSpPr>
          <p:spPr bwMode="auto">
            <a:xfrm rot="5400000">
              <a:off x="2147483647" y="4859033"/>
              <a:ext cx="570545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 bwMode="auto">
            <a:xfrm rot="5400000">
              <a:off x="2147483647" y="4930350"/>
              <a:ext cx="285273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直接连接符 140"/>
          <p:cNvCxnSpPr/>
          <p:nvPr/>
        </p:nvCxnSpPr>
        <p:spPr bwMode="auto">
          <a:xfrm rot="5400000">
            <a:off x="1643063" y="5930900"/>
            <a:ext cx="571500" cy="0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 bwMode="auto">
          <a:xfrm>
            <a:off x="1928813" y="4573588"/>
            <a:ext cx="785812" cy="1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 bwMode="auto">
          <a:xfrm>
            <a:off x="1928813" y="5645150"/>
            <a:ext cx="785812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 bwMode="auto">
          <a:xfrm rot="5400000">
            <a:off x="2147483482" y="4858544"/>
            <a:ext cx="569912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 bwMode="auto">
          <a:xfrm>
            <a:off x="2714625" y="5645150"/>
            <a:ext cx="785813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 bwMode="auto">
          <a:xfrm>
            <a:off x="2714625" y="5143500"/>
            <a:ext cx="785813" cy="1588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 bwMode="auto">
          <a:xfrm rot="5400000">
            <a:off x="2147483482" y="4858544"/>
            <a:ext cx="569912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 bwMode="auto">
          <a:xfrm rot="5400000">
            <a:off x="3215481" y="5930107"/>
            <a:ext cx="569913" cy="0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>
            <a:off x="3500438" y="4573588"/>
            <a:ext cx="785812" cy="1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 bwMode="auto">
          <a:xfrm>
            <a:off x="3500438" y="6216650"/>
            <a:ext cx="785812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 bwMode="auto">
          <a:xfrm>
            <a:off x="4286250" y="6216650"/>
            <a:ext cx="785813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 bwMode="auto">
          <a:xfrm rot="5400000">
            <a:off x="2147483482" y="4858544"/>
            <a:ext cx="569912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 bwMode="auto">
          <a:xfrm>
            <a:off x="4286250" y="5145088"/>
            <a:ext cx="785813" cy="1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219"/>
          <p:cNvGrpSpPr/>
          <p:nvPr/>
        </p:nvGrpSpPr>
        <p:grpSpPr bwMode="auto">
          <a:xfrm>
            <a:off x="5072063" y="4573588"/>
            <a:ext cx="3143250" cy="1644650"/>
            <a:chOff x="5072066" y="4572802"/>
            <a:chExt cx="3143272" cy="1644662"/>
          </a:xfrm>
        </p:grpSpPr>
        <p:cxnSp>
          <p:nvCxnSpPr>
            <p:cNvPr id="159" name="直接连接符 158"/>
            <p:cNvCxnSpPr/>
            <p:nvPr/>
          </p:nvCxnSpPr>
          <p:spPr bwMode="auto">
            <a:xfrm rot="5400000">
              <a:off x="4787108" y="4857760"/>
              <a:ext cx="5699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 bwMode="auto">
            <a:xfrm rot="5400000">
              <a:off x="4929190" y="4928405"/>
              <a:ext cx="285752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 bwMode="auto">
            <a:xfrm>
              <a:off x="5072066" y="4572802"/>
              <a:ext cx="785817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 bwMode="auto">
            <a:xfrm rot="5400000">
              <a:off x="4787107" y="5929331"/>
              <a:ext cx="569917" cy="0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 bwMode="auto">
            <a:xfrm>
              <a:off x="5072066" y="5644372"/>
              <a:ext cx="785817" cy="1588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 bwMode="auto">
            <a:xfrm>
              <a:off x="5857883" y="5644372"/>
              <a:ext cx="785819" cy="1588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 bwMode="auto">
            <a:xfrm rot="5400000">
              <a:off x="6358743" y="5929331"/>
              <a:ext cx="569917" cy="0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 bwMode="auto">
            <a:xfrm>
              <a:off x="6643702" y="6215876"/>
              <a:ext cx="785817" cy="1588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 bwMode="auto">
            <a:xfrm>
              <a:off x="7429519" y="6215876"/>
              <a:ext cx="785819" cy="1588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 bwMode="auto">
            <a:xfrm rot="5400000">
              <a:off x="6358744" y="4857760"/>
              <a:ext cx="5699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 bwMode="auto">
            <a:xfrm rot="5400000">
              <a:off x="6500826" y="4928405"/>
              <a:ext cx="285752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 bwMode="auto">
            <a:xfrm>
              <a:off x="6643702" y="4572802"/>
              <a:ext cx="785817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 bwMode="auto">
            <a:xfrm rot="5400000">
              <a:off x="7144561" y="4857760"/>
              <a:ext cx="5699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 bwMode="auto">
            <a:xfrm rot="5400000">
              <a:off x="7286643" y="4787116"/>
              <a:ext cx="285752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 bwMode="auto">
            <a:xfrm>
              <a:off x="7429519" y="5144306"/>
              <a:ext cx="785819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 bwMode="auto">
            <a:xfrm rot="5400000">
              <a:off x="5572925" y="4857760"/>
              <a:ext cx="56991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 bwMode="auto">
            <a:xfrm rot="5400000">
              <a:off x="5715007" y="4787116"/>
              <a:ext cx="285752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 bwMode="auto">
            <a:xfrm>
              <a:off x="5857883" y="5144306"/>
              <a:ext cx="785819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93"/>
          <p:cNvGrpSpPr/>
          <p:nvPr/>
        </p:nvGrpSpPr>
        <p:grpSpPr bwMode="auto">
          <a:xfrm>
            <a:off x="1927225" y="5143500"/>
            <a:ext cx="1573213" cy="369888"/>
            <a:chOff x="1856562" y="5285594"/>
            <a:chExt cx="1572430" cy="370126"/>
          </a:xfrm>
        </p:grpSpPr>
        <p:cxnSp>
          <p:nvCxnSpPr>
            <p:cNvPr id="187" name="直接连接符 186"/>
            <p:cNvCxnSpPr/>
            <p:nvPr/>
          </p:nvCxnSpPr>
          <p:spPr>
            <a:xfrm rot="5400000">
              <a:off x="1714389" y="5427767"/>
              <a:ext cx="285934" cy="1587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 rot="5400000">
              <a:off x="3285231" y="5427767"/>
              <a:ext cx="285934" cy="1587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02" name="矩形 188"/>
            <p:cNvSpPr>
              <a:spLocks noChangeArrowheads="1"/>
            </p:cNvSpPr>
            <p:nvPr/>
          </p:nvSpPr>
          <p:spPr bwMode="auto">
            <a:xfrm>
              <a:off x="2285984" y="5286388"/>
              <a:ext cx="5892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kumimoji="1" lang="en-US" altLang="zh-CN" sz="1800" b="1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T</a:t>
              </a:r>
              <a:r>
                <a:rPr kumimoji="1" lang="en-US" altLang="zh-CN" sz="18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Q1</a:t>
              </a:r>
              <a:endParaRPr kumimoji="1" lang="en-US" altLang="zh-CN" sz="18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cxnSp>
          <p:nvCxnSpPr>
            <p:cNvPr id="191" name="直接箭头连接符 190"/>
            <p:cNvCxnSpPr/>
            <p:nvPr/>
          </p:nvCxnSpPr>
          <p:spPr>
            <a:xfrm>
              <a:off x="3071982" y="5428561"/>
              <a:ext cx="357010" cy="158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/>
            <p:nvPr/>
          </p:nvCxnSpPr>
          <p:spPr>
            <a:xfrm flipH="1">
              <a:off x="1858149" y="5428561"/>
              <a:ext cx="357009" cy="158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203"/>
          <p:cNvGrpSpPr/>
          <p:nvPr/>
        </p:nvGrpSpPr>
        <p:grpSpPr bwMode="auto">
          <a:xfrm>
            <a:off x="1928813" y="6203950"/>
            <a:ext cx="3144837" cy="369888"/>
            <a:chOff x="1857356" y="6345816"/>
            <a:chExt cx="3144860" cy="369332"/>
          </a:xfrm>
        </p:grpSpPr>
        <p:cxnSp>
          <p:nvCxnSpPr>
            <p:cNvPr id="196" name="直接连接符 195"/>
            <p:cNvCxnSpPr/>
            <p:nvPr/>
          </p:nvCxnSpPr>
          <p:spPr>
            <a:xfrm rot="5400000">
              <a:off x="1715490" y="6487682"/>
              <a:ext cx="285320" cy="1587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rot="5400000">
              <a:off x="4858763" y="6500363"/>
              <a:ext cx="285320" cy="1587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箭头连接符 198"/>
            <p:cNvCxnSpPr/>
            <p:nvPr/>
          </p:nvCxnSpPr>
          <p:spPr>
            <a:xfrm flipV="1">
              <a:off x="3857621" y="6490062"/>
              <a:ext cx="1143008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/>
            <p:cNvCxnSpPr/>
            <p:nvPr/>
          </p:nvCxnSpPr>
          <p:spPr>
            <a:xfrm rot="10800000">
              <a:off x="1858943" y="6501157"/>
              <a:ext cx="1212859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99" name="矩形 202"/>
            <p:cNvSpPr>
              <a:spLocks noChangeArrowheads="1"/>
            </p:cNvSpPr>
            <p:nvPr/>
          </p:nvSpPr>
          <p:spPr bwMode="auto">
            <a:xfrm>
              <a:off x="3143240" y="6345816"/>
              <a:ext cx="5892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kumimoji="1" lang="en-US" altLang="zh-CN" sz="1800" b="1">
                  <a:solidFill>
                    <a:srgbClr val="00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T</a:t>
              </a:r>
              <a:r>
                <a:rPr kumimoji="1" lang="en-US" altLang="zh-CN" sz="1800" b="1" baseline="-25000">
                  <a:solidFill>
                    <a:srgbClr val="00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Q2</a:t>
              </a:r>
              <a:endParaRPr kumimoji="1" lang="en-US" altLang="zh-CN" sz="1800" b="1" baseline="-25000">
                <a:solidFill>
                  <a:srgbClr val="0066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19" name="组合 206"/>
          <p:cNvGrpSpPr/>
          <p:nvPr/>
        </p:nvGrpSpPr>
        <p:grpSpPr bwMode="auto">
          <a:xfrm>
            <a:off x="1571625" y="4073525"/>
            <a:ext cx="1500188" cy="369888"/>
            <a:chOff x="1500166" y="4214818"/>
            <a:chExt cx="1500198" cy="370126"/>
          </a:xfrm>
        </p:grpSpPr>
        <p:grpSp>
          <p:nvGrpSpPr>
            <p:cNvPr id="39989" name="组合 185"/>
            <p:cNvGrpSpPr/>
            <p:nvPr/>
          </p:nvGrpSpPr>
          <p:grpSpPr bwMode="auto">
            <a:xfrm>
              <a:off x="1857356" y="4214818"/>
              <a:ext cx="788200" cy="370126"/>
              <a:chOff x="7355699" y="570686"/>
              <a:chExt cx="788200" cy="370126"/>
            </a:xfrm>
          </p:grpSpPr>
          <p:sp>
            <p:nvSpPr>
              <p:cNvPr id="39992" name="矩形 182"/>
              <p:cNvSpPr>
                <a:spLocks noChangeArrowheads="1"/>
              </p:cNvSpPr>
              <p:nvPr/>
            </p:nvSpPr>
            <p:spPr bwMode="auto">
              <a:xfrm>
                <a:off x="7358082" y="571480"/>
                <a:ext cx="7255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r>
                  <a:rPr kumimoji="1" lang="en-US" altLang="zh-CN" sz="1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T</a:t>
                </a:r>
                <a:r>
                  <a:rPr kumimoji="1" lang="en-US" altLang="zh-CN" sz="18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CLK</a:t>
                </a:r>
                <a:endParaRPr kumimoji="1" lang="en-US" altLang="zh-CN" sz="18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cxnSp>
            <p:nvCxnSpPr>
              <p:cNvPr id="184" name="直接连接符 183"/>
              <p:cNvCxnSpPr/>
              <p:nvPr/>
            </p:nvCxnSpPr>
            <p:spPr>
              <a:xfrm rot="5400000">
                <a:off x="7213526" y="712859"/>
                <a:ext cx="285934" cy="1587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rot="5400000">
                <a:off x="8000931" y="712859"/>
                <a:ext cx="285934" cy="1587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5" name="直接箭头连接符 204"/>
            <p:cNvCxnSpPr/>
            <p:nvPr/>
          </p:nvCxnSpPr>
          <p:spPr>
            <a:xfrm flipH="1">
              <a:off x="2643174" y="4357785"/>
              <a:ext cx="357190" cy="158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/>
            <p:cNvCxnSpPr/>
            <p:nvPr/>
          </p:nvCxnSpPr>
          <p:spPr>
            <a:xfrm>
              <a:off x="1500166" y="4357785"/>
              <a:ext cx="357190" cy="158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3"/>
          <p:cNvGrpSpPr/>
          <p:nvPr/>
        </p:nvGrpSpPr>
        <p:grpSpPr bwMode="auto">
          <a:xfrm>
            <a:off x="857250" y="4716463"/>
            <a:ext cx="1079500" cy="469900"/>
            <a:chOff x="857224" y="4715678"/>
            <a:chExt cx="1079744" cy="470754"/>
          </a:xfrm>
        </p:grpSpPr>
        <p:grpSp>
          <p:nvGrpSpPr>
            <p:cNvPr id="39985" name="组合 209"/>
            <p:cNvGrpSpPr/>
            <p:nvPr/>
          </p:nvGrpSpPr>
          <p:grpSpPr bwMode="auto">
            <a:xfrm>
              <a:off x="857224" y="4715678"/>
              <a:ext cx="1079744" cy="428628"/>
              <a:chOff x="857224" y="4715678"/>
              <a:chExt cx="1079744" cy="428628"/>
            </a:xfrm>
          </p:grpSpPr>
          <p:graphicFrame>
            <p:nvGraphicFramePr>
              <p:cNvPr id="39987" name="Object 17"/>
              <p:cNvGraphicFramePr>
                <a:graphicFrameLocks noChangeAspect="1"/>
              </p:cNvGraphicFramePr>
              <p:nvPr/>
            </p:nvGraphicFramePr>
            <p:xfrm>
              <a:off x="857224" y="4715678"/>
              <a:ext cx="326140" cy="345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18" name="公式" r:id="rId4" imgW="190500" imgH="203200" progId="Equation.3">
                      <p:embed/>
                    </p:oleObj>
                  </mc:Choice>
                  <mc:Fallback>
                    <p:oleObj name="公式" r:id="rId4" imgW="190500" imgH="2032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7224" y="4715678"/>
                            <a:ext cx="326140" cy="345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18" name="直接连接符 117"/>
              <p:cNvCxnSpPr/>
              <p:nvPr/>
            </p:nvCxnSpPr>
            <p:spPr bwMode="auto">
              <a:xfrm>
                <a:off x="1285946" y="5141902"/>
                <a:ext cx="651022" cy="159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986" name="矩形 211"/>
            <p:cNvSpPr>
              <a:spLocks noChangeArrowheads="1"/>
            </p:cNvSpPr>
            <p:nvPr/>
          </p:nvSpPr>
          <p:spPr bwMode="auto">
            <a:xfrm>
              <a:off x="1357290" y="478632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/>
            </a:p>
          </p:txBody>
        </p:sp>
      </p:grpSp>
      <p:grpSp>
        <p:nvGrpSpPr>
          <p:cNvPr id="24" name="组合 214"/>
          <p:cNvGrpSpPr/>
          <p:nvPr/>
        </p:nvGrpSpPr>
        <p:grpSpPr bwMode="auto">
          <a:xfrm>
            <a:off x="846138" y="5859463"/>
            <a:ext cx="1090612" cy="427037"/>
            <a:chOff x="846138" y="5858671"/>
            <a:chExt cx="1090830" cy="427849"/>
          </a:xfrm>
        </p:grpSpPr>
        <p:grpSp>
          <p:nvGrpSpPr>
            <p:cNvPr id="39981" name="组合 210"/>
            <p:cNvGrpSpPr/>
            <p:nvPr/>
          </p:nvGrpSpPr>
          <p:grpSpPr bwMode="auto">
            <a:xfrm>
              <a:off x="846138" y="5858671"/>
              <a:ext cx="1090830" cy="357205"/>
              <a:chOff x="846138" y="5858671"/>
              <a:chExt cx="1090830" cy="357205"/>
            </a:xfrm>
          </p:grpSpPr>
          <p:graphicFrame>
            <p:nvGraphicFramePr>
              <p:cNvPr id="39983" name="Object 18"/>
              <p:cNvGraphicFramePr>
                <a:graphicFrameLocks noChangeAspect="1"/>
              </p:cNvGraphicFramePr>
              <p:nvPr/>
            </p:nvGraphicFramePr>
            <p:xfrm>
              <a:off x="846138" y="5858671"/>
              <a:ext cx="347663" cy="3460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19" name="公式" r:id="rId6" imgW="203200" imgH="203200" progId="Equation.3">
                      <p:embed/>
                    </p:oleObj>
                  </mc:Choice>
                  <mc:Fallback>
                    <p:oleObj name="公式" r:id="rId6" imgW="203200" imgH="2032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6138" y="5858671"/>
                            <a:ext cx="347663" cy="3460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22" name="直接连接符 121"/>
              <p:cNvCxnSpPr/>
              <p:nvPr/>
            </p:nvCxnSpPr>
            <p:spPr bwMode="auto">
              <a:xfrm>
                <a:off x="1285963" y="6214947"/>
                <a:ext cx="651005" cy="1590"/>
              </a:xfrm>
              <a:prstGeom prst="line">
                <a:avLst/>
              </a:prstGeom>
              <a:ln w="254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982" name="矩形 212"/>
            <p:cNvSpPr>
              <a:spLocks noChangeArrowheads="1"/>
            </p:cNvSpPr>
            <p:nvPr/>
          </p:nvSpPr>
          <p:spPr bwMode="auto">
            <a:xfrm>
              <a:off x="1357290" y="588641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</p:grpSp>
      <p:grpSp>
        <p:nvGrpSpPr>
          <p:cNvPr id="26" name="组合 245"/>
          <p:cNvGrpSpPr/>
          <p:nvPr/>
        </p:nvGrpSpPr>
        <p:grpSpPr bwMode="auto">
          <a:xfrm>
            <a:off x="5786438" y="357188"/>
            <a:ext cx="3214687" cy="1571625"/>
            <a:chOff x="5786446" y="357166"/>
            <a:chExt cx="3214710" cy="1571636"/>
          </a:xfrm>
        </p:grpSpPr>
        <p:sp>
          <p:nvSpPr>
            <p:cNvPr id="245" name="椭圆形标注 244"/>
            <p:cNvSpPr/>
            <p:nvPr/>
          </p:nvSpPr>
          <p:spPr>
            <a:xfrm>
              <a:off x="5786446" y="357166"/>
              <a:ext cx="3214710" cy="1571636"/>
            </a:xfrm>
            <a:prstGeom prst="wedgeEllipseCallout">
              <a:avLst>
                <a:gd name="adj1" fmla="val -16487"/>
                <a:gd name="adj2" fmla="val 66243"/>
              </a:avLst>
            </a:prstGeom>
            <a:solidFill>
              <a:schemeClr val="bg1"/>
            </a:solidFill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39980" name="Picture 1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0312" y="676256"/>
              <a:ext cx="2357454" cy="946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组合 250"/>
          <p:cNvGrpSpPr/>
          <p:nvPr/>
        </p:nvGrpSpPr>
        <p:grpSpPr bwMode="auto">
          <a:xfrm>
            <a:off x="2571750" y="357188"/>
            <a:ext cx="2714625" cy="1428750"/>
            <a:chOff x="2571736" y="357166"/>
            <a:chExt cx="2714644" cy="1428760"/>
          </a:xfrm>
        </p:grpSpPr>
        <p:sp>
          <p:nvSpPr>
            <p:cNvPr id="248" name="椭圆形标注 247"/>
            <p:cNvSpPr/>
            <p:nvPr/>
          </p:nvSpPr>
          <p:spPr>
            <a:xfrm>
              <a:off x="2571736" y="357166"/>
              <a:ext cx="2714644" cy="1428760"/>
            </a:xfrm>
            <a:prstGeom prst="wedgeEllipseCallout">
              <a:avLst>
                <a:gd name="adj1" fmla="val -7037"/>
                <a:gd name="adj2" fmla="val 60991"/>
              </a:avLst>
            </a:prstGeom>
            <a:solidFill>
              <a:schemeClr val="bg1"/>
            </a:solidFill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39978" name="Picture 1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1802" y="571480"/>
              <a:ext cx="1842036" cy="966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组合 178"/>
          <p:cNvGrpSpPr/>
          <p:nvPr/>
        </p:nvGrpSpPr>
        <p:grpSpPr bwMode="auto">
          <a:xfrm>
            <a:off x="1928813" y="4572000"/>
            <a:ext cx="0" cy="569913"/>
            <a:chOff x="1928794" y="4572008"/>
            <a:chExt cx="0" cy="569912"/>
          </a:xfrm>
        </p:grpSpPr>
        <p:cxnSp>
          <p:nvCxnSpPr>
            <p:cNvPr id="174" name="直接连接符 173"/>
            <p:cNvCxnSpPr/>
            <p:nvPr/>
          </p:nvCxnSpPr>
          <p:spPr bwMode="auto">
            <a:xfrm rot="5400000">
              <a:off x="1643838" y="4856964"/>
              <a:ext cx="569912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 bwMode="auto">
            <a:xfrm rot="5400000">
              <a:off x="1785919" y="4927607"/>
              <a:ext cx="285749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181"/>
          <p:cNvGrpSpPr/>
          <p:nvPr/>
        </p:nvGrpSpPr>
        <p:grpSpPr bwMode="auto">
          <a:xfrm>
            <a:off x="2714625" y="4572000"/>
            <a:ext cx="0" cy="569913"/>
            <a:chOff x="2714612" y="4572008"/>
            <a:chExt cx="0" cy="569912"/>
          </a:xfrm>
        </p:grpSpPr>
        <p:cxnSp>
          <p:nvCxnSpPr>
            <p:cNvPr id="180" name="直接连接符 179"/>
            <p:cNvCxnSpPr/>
            <p:nvPr/>
          </p:nvCxnSpPr>
          <p:spPr bwMode="auto">
            <a:xfrm rot="5400000">
              <a:off x="2429656" y="4856964"/>
              <a:ext cx="569912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 bwMode="auto">
            <a:xfrm rot="5400000">
              <a:off x="2571737" y="4786321"/>
              <a:ext cx="285749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00"/>
          <p:cNvGrpSpPr/>
          <p:nvPr/>
        </p:nvGrpSpPr>
        <p:grpSpPr bwMode="auto">
          <a:xfrm>
            <a:off x="3500438" y="4572000"/>
            <a:ext cx="0" cy="569913"/>
            <a:chOff x="3500430" y="4572008"/>
            <a:chExt cx="8" cy="569912"/>
          </a:xfrm>
        </p:grpSpPr>
        <p:cxnSp>
          <p:nvCxnSpPr>
            <p:cNvPr id="183" name="直接连接符 182"/>
            <p:cNvCxnSpPr/>
            <p:nvPr/>
          </p:nvCxnSpPr>
          <p:spPr bwMode="auto">
            <a:xfrm rot="5400000">
              <a:off x="3215482" y="4856957"/>
              <a:ext cx="569912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rot="5400000">
              <a:off x="3357563" y="4929188"/>
              <a:ext cx="285749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203"/>
          <p:cNvGrpSpPr/>
          <p:nvPr/>
        </p:nvGrpSpPr>
        <p:grpSpPr bwMode="auto">
          <a:xfrm>
            <a:off x="4286250" y="4572000"/>
            <a:ext cx="0" cy="569913"/>
            <a:chOff x="4286248" y="4572008"/>
            <a:chExt cx="0" cy="569912"/>
          </a:xfrm>
        </p:grpSpPr>
        <p:cxnSp>
          <p:nvCxnSpPr>
            <p:cNvPr id="202" name="直接连接符 201"/>
            <p:cNvCxnSpPr/>
            <p:nvPr/>
          </p:nvCxnSpPr>
          <p:spPr bwMode="auto">
            <a:xfrm rot="5400000">
              <a:off x="4001292" y="4856964"/>
              <a:ext cx="569912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 bwMode="auto">
            <a:xfrm rot="5400000">
              <a:off x="4143373" y="4787908"/>
              <a:ext cx="285749" cy="0"/>
            </a:xfrm>
            <a:prstGeom prst="line">
              <a:avLst/>
            </a:prstGeom>
            <a:ln w="25400">
              <a:solidFill>
                <a:srgbClr val="0000FF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31"/>
          <p:cNvSpPr>
            <a:spLocks noChangeArrowheads="1"/>
          </p:cNvSpPr>
          <p:nvPr/>
        </p:nvSpPr>
        <p:spPr bwMode="auto">
          <a:xfrm>
            <a:off x="500063" y="142875"/>
            <a:ext cx="2039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四路抢答器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36" name="矩形 135"/>
          <p:cNvSpPr>
            <a:spLocks noChangeArrowheads="1"/>
          </p:cNvSpPr>
          <p:nvPr/>
        </p:nvSpPr>
        <p:spPr bwMode="auto">
          <a:xfrm>
            <a:off x="785813" y="642938"/>
            <a:ext cx="76438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以</a:t>
            </a:r>
            <a:r>
              <a:rPr lang="zh-CN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四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触发器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74LS175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为核心设计一个四路抢答电路。四人参加比赛，每人一个按钮，其中最先按下按钮者，相应的指示灯亮；其他人再按按钮不起作用。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37"/>
          <p:cNvGrpSpPr/>
          <p:nvPr/>
        </p:nvGrpSpPr>
        <p:grpSpPr bwMode="auto">
          <a:xfrm>
            <a:off x="2143125" y="2071688"/>
            <a:ext cx="4572000" cy="4117975"/>
            <a:chOff x="2500298" y="2210922"/>
            <a:chExt cx="4572032" cy="4118518"/>
          </a:xfrm>
        </p:grpSpPr>
        <p:pic>
          <p:nvPicPr>
            <p:cNvPr id="40965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298" y="2210922"/>
              <a:ext cx="4572032" cy="3646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6" name="矩形 136"/>
            <p:cNvSpPr>
              <a:spLocks noChangeArrowheads="1"/>
            </p:cNvSpPr>
            <p:nvPr/>
          </p:nvSpPr>
          <p:spPr bwMode="auto">
            <a:xfrm>
              <a:off x="3296103" y="5929330"/>
              <a:ext cx="32047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74LS175</a:t>
              </a: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引脚及内部结构图</a:t>
              </a:r>
              <a:endParaRPr lang="zh-CN" altLang="en-US" sz="2000"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28"/>
          <p:cNvSpPr>
            <a:spLocks noChangeArrowheads="1"/>
          </p:cNvSpPr>
          <p:nvPr/>
        </p:nvSpPr>
        <p:spPr bwMode="auto">
          <a:xfrm>
            <a:off x="642938" y="71438"/>
            <a:ext cx="3275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四路抢答器电路构成</a:t>
            </a:r>
            <a:endParaRPr lang="zh-CN" altLang="en-US" sz="2400">
              <a:solidFill>
                <a:srgbClr val="0000FF"/>
              </a:solidFill>
            </a:endParaRPr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571500"/>
            <a:ext cx="701992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6"/>
          <p:cNvGrpSpPr/>
          <p:nvPr/>
        </p:nvGrpSpPr>
        <p:grpSpPr bwMode="auto">
          <a:xfrm>
            <a:off x="357188" y="5362575"/>
            <a:ext cx="2506662" cy="571500"/>
            <a:chOff x="357158" y="5572140"/>
            <a:chExt cx="2507418" cy="571504"/>
          </a:xfrm>
        </p:grpSpPr>
        <p:sp>
          <p:nvSpPr>
            <p:cNvPr id="5" name="圆角矩形标注 4"/>
            <p:cNvSpPr/>
            <p:nvPr/>
          </p:nvSpPr>
          <p:spPr>
            <a:xfrm>
              <a:off x="357158" y="5572140"/>
              <a:ext cx="2358148" cy="571504"/>
            </a:xfrm>
            <a:prstGeom prst="wedgeRoundRectCallout">
              <a:avLst>
                <a:gd name="adj1" fmla="val 61250"/>
                <a:gd name="adj2" fmla="val -52371"/>
                <a:gd name="adj3" fmla="val 1666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18" name="矩形 5"/>
            <p:cNvSpPr>
              <a:spLocks noChangeArrowheads="1"/>
            </p:cNvSpPr>
            <p:nvPr/>
          </p:nvSpPr>
          <p:spPr bwMode="auto">
            <a:xfrm>
              <a:off x="357158" y="5643578"/>
              <a:ext cx="25074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抢答前电路先清零。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12"/>
          <p:cNvGrpSpPr/>
          <p:nvPr/>
        </p:nvGrpSpPr>
        <p:grpSpPr bwMode="auto">
          <a:xfrm>
            <a:off x="4572000" y="1362075"/>
            <a:ext cx="812800" cy="4400550"/>
            <a:chOff x="4572000" y="1571612"/>
            <a:chExt cx="812972" cy="4400638"/>
          </a:xfrm>
        </p:grpSpPr>
        <p:sp>
          <p:nvSpPr>
            <p:cNvPr id="42012" name="矩形 7"/>
            <p:cNvSpPr>
              <a:spLocks noChangeArrowheads="1"/>
            </p:cNvSpPr>
            <p:nvPr/>
          </p:nvSpPr>
          <p:spPr bwMode="auto">
            <a:xfrm>
              <a:off x="5072066" y="157161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42013" name="矩形 8"/>
            <p:cNvSpPr>
              <a:spLocks noChangeArrowheads="1"/>
            </p:cNvSpPr>
            <p:nvPr/>
          </p:nvSpPr>
          <p:spPr bwMode="auto">
            <a:xfrm>
              <a:off x="5072066" y="242886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42014" name="矩形 9"/>
            <p:cNvSpPr>
              <a:spLocks noChangeArrowheads="1"/>
            </p:cNvSpPr>
            <p:nvPr/>
          </p:nvSpPr>
          <p:spPr bwMode="auto">
            <a:xfrm>
              <a:off x="5072066" y="3205161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42015" name="矩形 10"/>
            <p:cNvSpPr>
              <a:spLocks noChangeArrowheads="1"/>
            </p:cNvSpPr>
            <p:nvPr/>
          </p:nvSpPr>
          <p:spPr bwMode="auto">
            <a:xfrm>
              <a:off x="5072066" y="400050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42016" name="矩形 11"/>
            <p:cNvSpPr>
              <a:spLocks noChangeArrowheads="1"/>
            </p:cNvSpPr>
            <p:nvPr/>
          </p:nvSpPr>
          <p:spPr bwMode="auto">
            <a:xfrm>
              <a:off x="4572000" y="557214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组合 13"/>
          <p:cNvGrpSpPr/>
          <p:nvPr/>
        </p:nvGrpSpPr>
        <p:grpSpPr bwMode="auto">
          <a:xfrm>
            <a:off x="5500688" y="3362325"/>
            <a:ext cx="2500312" cy="571500"/>
            <a:chOff x="357158" y="5572140"/>
            <a:chExt cx="2500330" cy="571504"/>
          </a:xfrm>
        </p:grpSpPr>
        <p:sp>
          <p:nvSpPr>
            <p:cNvPr id="15" name="圆角矩形标注 14"/>
            <p:cNvSpPr/>
            <p:nvPr/>
          </p:nvSpPr>
          <p:spPr>
            <a:xfrm>
              <a:off x="357158" y="5572140"/>
              <a:ext cx="2500330" cy="571504"/>
            </a:xfrm>
            <a:prstGeom prst="wedgeRoundRectCallout">
              <a:avLst>
                <a:gd name="adj1" fmla="val -92273"/>
                <a:gd name="adj2" fmla="val 137628"/>
                <a:gd name="adj3" fmla="val 1666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011" name="矩形 15"/>
            <p:cNvSpPr>
              <a:spLocks noChangeArrowheads="1"/>
            </p:cNvSpPr>
            <p:nvPr/>
          </p:nvSpPr>
          <p:spPr bwMode="auto">
            <a:xfrm>
              <a:off x="381434" y="5643578"/>
              <a:ext cx="228940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脉冲被封锁。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  <p:cxnSp>
        <p:nvCxnSpPr>
          <p:cNvPr id="18" name="直接箭头连接符 17"/>
          <p:cNvCxnSpPr/>
          <p:nvPr/>
        </p:nvCxnSpPr>
        <p:spPr>
          <a:xfrm rot="5400000" flipH="1" flipV="1">
            <a:off x="3572669" y="5218906"/>
            <a:ext cx="1428750" cy="1588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rot="5400000">
            <a:off x="2356644" y="1075532"/>
            <a:ext cx="428625" cy="158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32"/>
          <p:cNvGrpSpPr/>
          <p:nvPr/>
        </p:nvGrpSpPr>
        <p:grpSpPr bwMode="auto">
          <a:xfrm>
            <a:off x="4500563" y="4319588"/>
            <a:ext cx="1455737" cy="1443037"/>
            <a:chOff x="4500562" y="4529088"/>
            <a:chExt cx="1455914" cy="1443162"/>
          </a:xfrm>
        </p:grpSpPr>
        <p:grpSp>
          <p:nvGrpSpPr>
            <p:cNvPr id="42004" name="组合 30"/>
            <p:cNvGrpSpPr/>
            <p:nvPr/>
          </p:nvGrpSpPr>
          <p:grpSpPr bwMode="auto">
            <a:xfrm>
              <a:off x="4616284" y="5000636"/>
              <a:ext cx="1340192" cy="971614"/>
              <a:chOff x="4616284" y="5000636"/>
              <a:chExt cx="1340192" cy="971614"/>
            </a:xfrm>
          </p:grpSpPr>
          <p:sp>
            <p:nvSpPr>
              <p:cNvPr id="42006" name="矩形 26"/>
              <p:cNvSpPr>
                <a:spLocks noChangeArrowheads="1"/>
              </p:cNvSpPr>
              <p:nvPr/>
            </p:nvSpPr>
            <p:spPr bwMode="auto">
              <a:xfrm>
                <a:off x="5643570" y="5000636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42007" name="组合 23"/>
              <p:cNvGrpSpPr/>
              <p:nvPr/>
            </p:nvGrpSpPr>
            <p:grpSpPr bwMode="auto">
              <a:xfrm>
                <a:off x="4616284" y="5572140"/>
                <a:ext cx="312906" cy="400110"/>
                <a:chOff x="5786446" y="857232"/>
                <a:chExt cx="312906" cy="40011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5858072" y="928701"/>
                  <a:ext cx="214338" cy="2857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2009" name="矩形 29"/>
                <p:cNvSpPr>
                  <a:spLocks noChangeArrowheads="1"/>
                </p:cNvSpPr>
                <p:nvPr/>
              </p:nvSpPr>
              <p:spPr bwMode="auto">
                <a:xfrm>
                  <a:off x="5786446" y="857232"/>
                  <a:ext cx="31290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200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42005" name="矩形 31"/>
            <p:cNvSpPr>
              <a:spLocks noChangeArrowheads="1"/>
            </p:cNvSpPr>
            <p:nvPr/>
          </p:nvSpPr>
          <p:spPr bwMode="auto">
            <a:xfrm>
              <a:off x="4500562" y="452908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组合 34"/>
          <p:cNvGrpSpPr/>
          <p:nvPr/>
        </p:nvGrpSpPr>
        <p:grpSpPr bwMode="auto">
          <a:xfrm>
            <a:off x="5072063" y="890588"/>
            <a:ext cx="1604962" cy="828675"/>
            <a:chOff x="5072066" y="1100064"/>
            <a:chExt cx="1604974" cy="828738"/>
          </a:xfrm>
        </p:grpSpPr>
        <p:grpSp>
          <p:nvGrpSpPr>
            <p:cNvPr id="41998" name="组合 24"/>
            <p:cNvGrpSpPr/>
            <p:nvPr/>
          </p:nvGrpSpPr>
          <p:grpSpPr bwMode="auto">
            <a:xfrm>
              <a:off x="5072066" y="1100064"/>
              <a:ext cx="312906" cy="828738"/>
              <a:chOff x="5072066" y="1100064"/>
              <a:chExt cx="312906" cy="828738"/>
            </a:xfrm>
          </p:grpSpPr>
          <p:sp>
            <p:nvSpPr>
              <p:cNvPr id="42000" name="矩形 20"/>
              <p:cNvSpPr>
                <a:spLocks noChangeArrowheads="1"/>
              </p:cNvSpPr>
              <p:nvPr/>
            </p:nvSpPr>
            <p:spPr bwMode="auto">
              <a:xfrm>
                <a:off x="5072066" y="1100064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42001" name="组合 23"/>
              <p:cNvGrpSpPr/>
              <p:nvPr/>
            </p:nvGrpSpPr>
            <p:grpSpPr bwMode="auto">
              <a:xfrm>
                <a:off x="5072066" y="1528692"/>
                <a:ext cx="312906" cy="400110"/>
                <a:chOff x="5786446" y="857232"/>
                <a:chExt cx="312906" cy="40011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5857883" y="928704"/>
                  <a:ext cx="214314" cy="28577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2003" name="矩形 21"/>
                <p:cNvSpPr>
                  <a:spLocks noChangeArrowheads="1"/>
                </p:cNvSpPr>
                <p:nvPr/>
              </p:nvSpPr>
              <p:spPr bwMode="auto">
                <a:xfrm>
                  <a:off x="5786446" y="857232"/>
                  <a:ext cx="31290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200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34" name="等腰三角形 33"/>
            <p:cNvSpPr/>
            <p:nvPr/>
          </p:nvSpPr>
          <p:spPr>
            <a:xfrm rot="5400000">
              <a:off x="6353174" y="1347741"/>
              <a:ext cx="395318" cy="252414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2" name="组合 35"/>
          <p:cNvGrpSpPr/>
          <p:nvPr/>
        </p:nvGrpSpPr>
        <p:grpSpPr bwMode="auto">
          <a:xfrm>
            <a:off x="5500688" y="6005513"/>
            <a:ext cx="2571750" cy="571500"/>
            <a:chOff x="357158" y="5572140"/>
            <a:chExt cx="2571768" cy="571504"/>
          </a:xfrm>
        </p:grpSpPr>
        <p:sp>
          <p:nvSpPr>
            <p:cNvPr id="37" name="圆角矩形标注 36"/>
            <p:cNvSpPr/>
            <p:nvPr/>
          </p:nvSpPr>
          <p:spPr>
            <a:xfrm>
              <a:off x="357158" y="5572140"/>
              <a:ext cx="2500329" cy="571504"/>
            </a:xfrm>
            <a:prstGeom prst="wedgeRoundRectCallout">
              <a:avLst>
                <a:gd name="adj1" fmla="val -75892"/>
                <a:gd name="adj2" fmla="val -17370"/>
                <a:gd name="adj3" fmla="val 1666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1997" name="矩形 37"/>
            <p:cNvSpPr>
              <a:spLocks noChangeArrowheads="1"/>
            </p:cNvSpPr>
            <p:nvPr/>
          </p:nvSpPr>
          <p:spPr bwMode="auto">
            <a:xfrm>
              <a:off x="381434" y="5643578"/>
              <a:ext cx="25474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连续脉冲输入。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xit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46" name="直接连接符 145"/>
          <p:cNvCxnSpPr/>
          <p:nvPr/>
        </p:nvCxnSpPr>
        <p:spPr bwMode="auto">
          <a:xfrm rot="5400000">
            <a:off x="2147483481" y="4858544"/>
            <a:ext cx="56991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 bwMode="auto">
          <a:xfrm rot="5400000">
            <a:off x="2147483481" y="4858544"/>
            <a:ext cx="56991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 bwMode="auto">
          <a:xfrm rot="5400000">
            <a:off x="2147483481" y="4858544"/>
            <a:ext cx="56991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85"/>
          <p:cNvGrpSpPr/>
          <p:nvPr/>
        </p:nvGrpSpPr>
        <p:grpSpPr>
          <a:xfrm>
            <a:off x="898525" y="1196975"/>
            <a:ext cx="4206875" cy="1873250"/>
            <a:chOff x="3101975" y="3643330"/>
            <a:chExt cx="4206329" cy="1873901"/>
          </a:xfrm>
        </p:grpSpPr>
        <p:grpSp>
          <p:nvGrpSpPr>
            <p:cNvPr id="34927" name="组合 62"/>
            <p:cNvGrpSpPr/>
            <p:nvPr/>
          </p:nvGrpSpPr>
          <p:grpSpPr>
            <a:xfrm>
              <a:off x="3267075" y="4017043"/>
              <a:ext cx="3771866" cy="1500188"/>
              <a:chOff x="5053757" y="4714873"/>
              <a:chExt cx="3771866" cy="1500188"/>
            </a:xfrm>
          </p:grpSpPr>
          <p:grpSp>
            <p:nvGrpSpPr>
              <p:cNvPr id="34948" name="组合 42"/>
              <p:cNvGrpSpPr/>
              <p:nvPr/>
            </p:nvGrpSpPr>
            <p:grpSpPr>
              <a:xfrm>
                <a:off x="5053757" y="4714873"/>
                <a:ext cx="3771866" cy="1500188"/>
                <a:chOff x="3562585" y="3643310"/>
                <a:chExt cx="3771897" cy="1500186"/>
              </a:xfrm>
            </p:grpSpPr>
            <p:grpSp>
              <p:nvGrpSpPr>
                <p:cNvPr id="34950" name="组合 20"/>
                <p:cNvGrpSpPr/>
                <p:nvPr/>
              </p:nvGrpSpPr>
              <p:grpSpPr>
                <a:xfrm>
                  <a:off x="5500194" y="3643310"/>
                  <a:ext cx="1071571" cy="1500186"/>
                  <a:chOff x="2142612" y="2500304"/>
                  <a:chExt cx="1071580" cy="1500198"/>
                </a:xfrm>
              </p:grpSpPr>
              <p:graphicFrame>
                <p:nvGraphicFramePr>
                  <p:cNvPr id="34959" name="Object 2"/>
                  <p:cNvGraphicFramePr>
                    <a:graphicFrameLocks noChangeAspect="1"/>
                  </p:cNvGraphicFramePr>
                  <p:nvPr/>
                </p:nvGraphicFramePr>
                <p:xfrm>
                  <a:off x="2928931" y="3484575"/>
                  <a:ext cx="238125" cy="37306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5" name="" r:id="rId1" imgW="152400" imgH="241300" progId="Equation.DSMT4">
                          <p:embed/>
                        </p:oleObj>
                      </mc:Choice>
                      <mc:Fallback>
                        <p:oleObj name="" r:id="rId1" imgW="152400" imgH="241300" progId="Equation.DSMT4">
                          <p:embed/>
                          <p:pic>
                            <p:nvPicPr>
                              <p:cNvPr id="0" name="图片 3174"/>
                              <p:cNvPicPr/>
                              <p:nvPr/>
                            </p:nvPicPr>
                            <p:blipFill>
                              <a:blip r:embed="rId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928931" y="3484575"/>
                                <a:ext cx="238125" cy="373063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4960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2928927" y="2606051"/>
                  <a:ext cx="236537" cy="31432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6" name="" r:id="rId3" imgW="152400" imgH="203200" progId="Equation.DSMT4">
                          <p:embed/>
                        </p:oleObj>
                      </mc:Choice>
                      <mc:Fallback>
                        <p:oleObj name="" r:id="rId3" imgW="152400" imgH="203200" progId="Equation.DSMT4">
                          <p:embed/>
                          <p:pic>
                            <p:nvPicPr>
                              <p:cNvPr id="0" name="图片 3175"/>
                              <p:cNvPicPr/>
                              <p:nvPr/>
                            </p:nvPicPr>
                            <p:blipFill>
                              <a:blip r:embed="rId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928927" y="2606051"/>
                                <a:ext cx="236537" cy="314325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42" name="矩形 4"/>
                  <p:cNvSpPr/>
                  <p:nvPr/>
                </p:nvSpPr>
                <p:spPr>
                  <a:xfrm rot="5400000">
                    <a:off x="1928445" y="2714422"/>
                    <a:ext cx="1500718" cy="107144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graphicFrame>
                <p:nvGraphicFramePr>
                  <p:cNvPr id="34962" name="Object 4"/>
                  <p:cNvGraphicFramePr>
                    <a:graphicFrameLocks noChangeAspect="1"/>
                  </p:cNvGraphicFramePr>
                  <p:nvPr/>
                </p:nvGraphicFramePr>
                <p:xfrm>
                  <a:off x="2214546" y="3530602"/>
                  <a:ext cx="255588" cy="2555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7" name="" r:id="rId5" imgW="165100" imgH="165100" progId="Equation.3">
                          <p:embed/>
                        </p:oleObj>
                      </mc:Choice>
                      <mc:Fallback>
                        <p:oleObj name="" r:id="rId5" imgW="165100" imgH="165100" progId="Equation.3">
                          <p:embed/>
                          <p:pic>
                            <p:nvPicPr>
                              <p:cNvPr id="0" name="图片 3176"/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14546" y="3530602"/>
                                <a:ext cx="255588" cy="255588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4963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2349016" y="3154369"/>
                  <a:ext cx="374650" cy="27463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8" name="" r:id="rId7" imgW="241300" imgH="177800" progId="Equation.3">
                          <p:embed/>
                        </p:oleObj>
                      </mc:Choice>
                      <mc:Fallback>
                        <p:oleObj name="" r:id="rId7" imgW="241300" imgH="177800" progId="Equation.3">
                          <p:embed/>
                          <p:pic>
                            <p:nvPicPr>
                              <p:cNvPr id="0" name="图片 3177"/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349016" y="3154369"/>
                                <a:ext cx="374650" cy="274638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34951" name="Object 6"/>
                <p:cNvGraphicFramePr>
                  <a:graphicFrameLocks noChangeAspect="1"/>
                </p:cNvGraphicFramePr>
                <p:nvPr/>
              </p:nvGraphicFramePr>
              <p:xfrm>
                <a:off x="5621338" y="3775347"/>
                <a:ext cx="215900" cy="274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4" name="" r:id="rId9" imgW="139700" imgH="177800" progId="Equation.DSMT4">
                        <p:embed/>
                      </p:oleObj>
                    </mc:Choice>
                    <mc:Fallback>
                      <p:oleObj name="" r:id="rId9" imgW="139700" imgH="177800" progId="Equation.DSMT4">
                        <p:embed/>
                        <p:pic>
                          <p:nvPicPr>
                            <p:cNvPr id="0" name="图片 3173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621338" y="3775347"/>
                              <a:ext cx="215900" cy="27463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33" name="直接连接符 232"/>
                <p:cNvCxnSpPr/>
                <p:nvPr/>
              </p:nvCxnSpPr>
              <p:spPr bwMode="auto">
                <a:xfrm rot="10800000">
                  <a:off x="4924473" y="3919110"/>
                  <a:ext cx="57619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连接符 233"/>
                <p:cNvCxnSpPr/>
                <p:nvPr/>
              </p:nvCxnSpPr>
              <p:spPr bwMode="auto">
                <a:xfrm rot="10800000" flipV="1">
                  <a:off x="4581615" y="4857647"/>
                  <a:ext cx="91905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连接符 234"/>
                <p:cNvCxnSpPr/>
                <p:nvPr/>
              </p:nvCxnSpPr>
              <p:spPr bwMode="auto">
                <a:xfrm rot="10800000" flipV="1">
                  <a:off x="6578447" y="3919110"/>
                  <a:ext cx="71904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/>
                <p:cNvCxnSpPr/>
                <p:nvPr/>
              </p:nvCxnSpPr>
              <p:spPr bwMode="auto">
                <a:xfrm rot="10800000" flipV="1">
                  <a:off x="6578447" y="4824299"/>
                  <a:ext cx="75555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34956" name="Object 7"/>
                <p:cNvGraphicFramePr>
                  <a:graphicFrameLocks noChangeAspect="1"/>
                </p:cNvGraphicFramePr>
                <p:nvPr/>
              </p:nvGraphicFramePr>
              <p:xfrm>
                <a:off x="3562585" y="3866480"/>
                <a:ext cx="234952" cy="2555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9" name="" r:id="rId11" imgW="152400" imgH="165100" progId="Equation.DSMT4">
                        <p:embed/>
                      </p:oleObj>
                    </mc:Choice>
                    <mc:Fallback>
                      <p:oleObj name="" r:id="rId11" imgW="152400" imgH="165100" progId="Equation.DSMT4">
                        <p:embed/>
                        <p:pic>
                          <p:nvPicPr>
                            <p:cNvPr id="0" name="图片 3178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62585" y="3866480"/>
                              <a:ext cx="234952" cy="25558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38" name="直接连接符 237"/>
                <p:cNvCxnSpPr/>
                <p:nvPr/>
              </p:nvCxnSpPr>
              <p:spPr bwMode="auto">
                <a:xfrm rot="10800000" flipV="1">
                  <a:off x="3889549" y="4428874"/>
                  <a:ext cx="162064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9" name="椭圆 238"/>
                <p:cNvSpPr/>
                <p:nvPr/>
              </p:nvSpPr>
              <p:spPr>
                <a:xfrm>
                  <a:off x="4540345" y="3961987"/>
                  <a:ext cx="73016" cy="7146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0" name="等腰三角形 3"/>
              <p:cNvSpPr/>
              <p:nvPr/>
            </p:nvSpPr>
            <p:spPr>
              <a:xfrm rot="5400000">
                <a:off x="6975095" y="5394885"/>
                <a:ext cx="252501" cy="215872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928" name="组合 76"/>
            <p:cNvGrpSpPr/>
            <p:nvPr/>
          </p:nvGrpSpPr>
          <p:grpSpPr>
            <a:xfrm>
              <a:off x="4139952" y="4051194"/>
              <a:ext cx="539998" cy="500063"/>
              <a:chOff x="2123728" y="3717032"/>
              <a:chExt cx="539998" cy="500063"/>
            </a:xfrm>
          </p:grpSpPr>
          <p:sp>
            <p:nvSpPr>
              <p:cNvPr id="218" name="矩形 217"/>
              <p:cNvSpPr/>
              <p:nvPr/>
            </p:nvSpPr>
            <p:spPr bwMode="auto">
              <a:xfrm>
                <a:off x="2123841" y="3717298"/>
                <a:ext cx="428569" cy="5002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946" name="矩形 81"/>
              <p:cNvSpPr/>
              <p:nvPr/>
            </p:nvSpPr>
            <p:spPr>
              <a:xfrm>
                <a:off x="2221614" y="3717032"/>
                <a:ext cx="391454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＆</a:t>
                </a:r>
                <a:endParaRPr lang="zh-CN" alt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0" name="椭圆 219"/>
              <p:cNvSpPr/>
              <p:nvPr/>
            </p:nvSpPr>
            <p:spPr bwMode="auto">
              <a:xfrm rot="16200000">
                <a:off x="2555559" y="3906302"/>
                <a:ext cx="107988" cy="10793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cxnSp>
          <p:nvCxnSpPr>
            <p:cNvPr id="192" name="直接连接符 191"/>
            <p:cNvCxnSpPr/>
            <p:nvPr/>
          </p:nvCxnSpPr>
          <p:spPr bwMode="auto">
            <a:xfrm rot="5400000">
              <a:off x="5958735" y="4416712"/>
              <a:ext cx="154835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椭圆 193"/>
            <p:cNvSpPr/>
            <p:nvPr/>
          </p:nvSpPr>
          <p:spPr bwMode="auto">
            <a:xfrm>
              <a:off x="6698783" y="5166272"/>
              <a:ext cx="71428" cy="714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95" name="直接连接符 194"/>
            <p:cNvCxnSpPr/>
            <p:nvPr/>
          </p:nvCxnSpPr>
          <p:spPr bwMode="auto">
            <a:xfrm rot="10800000">
              <a:off x="3744829" y="3644919"/>
              <a:ext cx="29872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 bwMode="auto">
            <a:xfrm rot="5400000">
              <a:off x="3462154" y="3932357"/>
              <a:ext cx="576462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 bwMode="auto">
            <a:xfrm rot="10800000">
              <a:off x="3743242" y="4221381"/>
              <a:ext cx="396823" cy="158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 rot="10800000" flipV="1">
              <a:off x="3559116" y="4381775"/>
              <a:ext cx="5809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35" name="组合 88"/>
            <p:cNvGrpSpPr/>
            <p:nvPr/>
          </p:nvGrpSpPr>
          <p:grpSpPr>
            <a:xfrm>
              <a:off x="4139952" y="4982665"/>
              <a:ext cx="507790" cy="500063"/>
              <a:chOff x="2339752" y="5301208"/>
              <a:chExt cx="507790" cy="500063"/>
            </a:xfrm>
          </p:grpSpPr>
          <p:sp>
            <p:nvSpPr>
              <p:cNvPr id="216" name="矩形 215"/>
              <p:cNvSpPr/>
              <p:nvPr/>
            </p:nvSpPr>
            <p:spPr bwMode="auto">
              <a:xfrm>
                <a:off x="2339865" y="5300601"/>
                <a:ext cx="428569" cy="5002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944" name="矩形 65"/>
              <p:cNvSpPr/>
              <p:nvPr/>
            </p:nvSpPr>
            <p:spPr>
              <a:xfrm>
                <a:off x="2443264" y="5301208"/>
                <a:ext cx="404278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endParaRPr lang="zh-CN" alt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209" name="直接连接符 208"/>
            <p:cNvCxnSpPr/>
            <p:nvPr/>
          </p:nvCxnSpPr>
          <p:spPr bwMode="auto">
            <a:xfrm rot="10800000">
              <a:off x="3568639" y="5139275"/>
              <a:ext cx="576187" cy="158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 bwMode="auto">
            <a:xfrm rot="10800000" flipV="1">
              <a:off x="3563877" y="5301256"/>
              <a:ext cx="5809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938" name="Object 11"/>
            <p:cNvGraphicFramePr>
              <a:graphicFrameLocks noChangeAspect="1"/>
            </p:cNvGraphicFramePr>
            <p:nvPr/>
          </p:nvGraphicFramePr>
          <p:xfrm>
            <a:off x="3257550" y="4973638"/>
            <a:ext cx="234950" cy="25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13" imgW="152400" imgH="165100" progId="Equation.DSMT4">
                    <p:embed/>
                  </p:oleObj>
                </mc:Choice>
                <mc:Fallback>
                  <p:oleObj name="" r:id="rId13" imgW="152400" imgH="165100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57550" y="4973638"/>
                          <a:ext cx="234950" cy="2555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39" name="Object 12"/>
            <p:cNvGraphicFramePr>
              <a:graphicFrameLocks noChangeAspect="1"/>
            </p:cNvGraphicFramePr>
            <p:nvPr/>
          </p:nvGraphicFramePr>
          <p:xfrm>
            <a:off x="3256930" y="5219700"/>
            <a:ext cx="234950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15" imgW="152400" imgH="177800" progId="Equation.DSMT4">
                    <p:embed/>
                  </p:oleObj>
                </mc:Choice>
                <mc:Fallback>
                  <p:oleObj name="" r:id="rId15" imgW="152400" imgH="177800" progId="Equation.DSMT4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256930" y="5219700"/>
                          <a:ext cx="234950" cy="276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40" name="Object 13"/>
            <p:cNvGraphicFramePr>
              <a:graphicFrameLocks noChangeAspect="1"/>
            </p:cNvGraphicFramePr>
            <p:nvPr/>
          </p:nvGraphicFramePr>
          <p:xfrm>
            <a:off x="3101975" y="4676775"/>
            <a:ext cx="547688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17" imgW="354965" imgH="177800" progId="Equation.DSMT4">
                    <p:embed/>
                  </p:oleObj>
                </mc:Choice>
                <mc:Fallback>
                  <p:oleObj name="" r:id="rId17" imgW="354965" imgH="1778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101975" y="4676775"/>
                          <a:ext cx="547688" cy="274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41" name="Object 14"/>
            <p:cNvGraphicFramePr>
              <a:graphicFrameLocks noChangeAspect="1"/>
            </p:cNvGraphicFramePr>
            <p:nvPr/>
          </p:nvGraphicFramePr>
          <p:xfrm>
            <a:off x="7071771" y="4122789"/>
            <a:ext cx="236533" cy="314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19" imgW="152400" imgH="203200" progId="Equation.DSMT4">
                    <p:embed/>
                  </p:oleObj>
                </mc:Choice>
                <mc:Fallback>
                  <p:oleObj name="" r:id="rId19" imgW="152400" imgH="203200" progId="Equation.DSMT4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71771" y="4122789"/>
                          <a:ext cx="236533" cy="314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42" name="Object 15"/>
            <p:cNvGraphicFramePr>
              <a:graphicFrameLocks noChangeAspect="1"/>
            </p:cNvGraphicFramePr>
            <p:nvPr/>
          </p:nvGraphicFramePr>
          <p:xfrm>
            <a:off x="7070183" y="5000155"/>
            <a:ext cx="238121" cy="373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20" imgW="152400" imgH="241300" progId="Equation.DSMT4">
                    <p:embed/>
                  </p:oleObj>
                </mc:Choice>
                <mc:Fallback>
                  <p:oleObj name="" r:id="rId20" imgW="152400" imgH="241300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070183" y="5000155"/>
                          <a:ext cx="238121" cy="3730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245"/>
          <p:cNvGrpSpPr/>
          <p:nvPr/>
        </p:nvGrpSpPr>
        <p:grpSpPr>
          <a:xfrm>
            <a:off x="2862263" y="3213100"/>
            <a:ext cx="3146425" cy="3384550"/>
            <a:chOff x="1927225" y="2852935"/>
            <a:chExt cx="3146425" cy="3287715"/>
          </a:xfrm>
        </p:grpSpPr>
        <p:cxnSp>
          <p:nvCxnSpPr>
            <p:cNvPr id="247" name="直接连接符 246"/>
            <p:cNvCxnSpPr/>
            <p:nvPr/>
          </p:nvCxnSpPr>
          <p:spPr bwMode="auto">
            <a:xfrm rot="5400000">
              <a:off x="284933" y="4496770"/>
              <a:ext cx="3286172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 bwMode="auto">
            <a:xfrm rot="5400000">
              <a:off x="1070745" y="4495228"/>
              <a:ext cx="3286173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 bwMode="auto">
            <a:xfrm rot="5400000">
              <a:off x="1858145" y="4495228"/>
              <a:ext cx="3286173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 bwMode="auto">
            <a:xfrm rot="5400000">
              <a:off x="2643958" y="4495228"/>
              <a:ext cx="3286173" cy="158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 bwMode="auto">
            <a:xfrm rot="5400000">
              <a:off x="3429770" y="4495228"/>
              <a:ext cx="3286173" cy="158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136"/>
          <p:cNvGrpSpPr/>
          <p:nvPr/>
        </p:nvGrpSpPr>
        <p:grpSpPr>
          <a:xfrm>
            <a:off x="1763713" y="3357563"/>
            <a:ext cx="4833937" cy="2460625"/>
            <a:chOff x="1908175" y="3429000"/>
            <a:chExt cx="4834155" cy="2460625"/>
          </a:xfrm>
        </p:grpSpPr>
        <p:grpSp>
          <p:nvGrpSpPr>
            <p:cNvPr id="34849" name="组合 252"/>
            <p:cNvGrpSpPr/>
            <p:nvPr/>
          </p:nvGrpSpPr>
          <p:grpSpPr>
            <a:xfrm>
              <a:off x="1908175" y="3429000"/>
              <a:ext cx="4814888" cy="504825"/>
              <a:chOff x="827600" y="3068836"/>
              <a:chExt cx="4815965" cy="573088"/>
            </a:xfrm>
          </p:grpSpPr>
          <p:graphicFrame>
            <p:nvGraphicFramePr>
              <p:cNvPr id="34880" name="Object 2"/>
              <p:cNvGraphicFramePr>
                <a:graphicFrameLocks noChangeAspect="1"/>
              </p:cNvGraphicFramePr>
              <p:nvPr/>
            </p:nvGraphicFramePr>
            <p:xfrm>
              <a:off x="827600" y="3339962"/>
              <a:ext cx="601150" cy="3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4" name="" r:id="rId21" imgW="354965" imgH="177800" progId="Equation.3">
                      <p:embed/>
                    </p:oleObj>
                  </mc:Choice>
                  <mc:Fallback>
                    <p:oleObj name="" r:id="rId21" imgW="354965" imgH="177800" progId="Equation.3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827600" y="3339962"/>
                            <a:ext cx="601150" cy="3016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4881" name="组合 264"/>
              <p:cNvGrpSpPr/>
              <p:nvPr/>
            </p:nvGrpSpPr>
            <p:grpSpPr>
              <a:xfrm>
                <a:off x="1285875" y="3068836"/>
                <a:ext cx="4357690" cy="573088"/>
                <a:chOff x="1285875" y="3068836"/>
                <a:chExt cx="4357690" cy="573088"/>
              </a:xfrm>
            </p:grpSpPr>
            <p:grpSp>
              <p:nvGrpSpPr>
                <p:cNvPr id="34882" name="组合 69"/>
                <p:cNvGrpSpPr/>
                <p:nvPr/>
              </p:nvGrpSpPr>
              <p:grpSpPr>
                <a:xfrm>
                  <a:off x="1285875" y="3068836"/>
                  <a:ext cx="1214439" cy="573088"/>
                  <a:chOff x="-636482" y="5286388"/>
                  <a:chExt cx="5851420" cy="715968"/>
                </a:xfrm>
              </p:grpSpPr>
              <p:cxnSp>
                <p:nvCxnSpPr>
                  <p:cNvPr id="289" name="直接连接符 288"/>
                  <p:cNvCxnSpPr/>
                  <p:nvPr/>
                </p:nvCxnSpPr>
                <p:spPr>
                  <a:xfrm>
                    <a:off x="-633417" y="6000104"/>
                    <a:ext cx="3198101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直接连接符 289"/>
                  <p:cNvCxnSpPr/>
                  <p:nvPr/>
                </p:nvCxnSpPr>
                <p:spPr>
                  <a:xfrm>
                    <a:off x="4217291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直接连接符 290"/>
                  <p:cNvCxnSpPr/>
                  <p:nvPr/>
                </p:nvCxnSpPr>
                <p:spPr>
                  <a:xfrm rot="5400000">
                    <a:off x="2208953" y="5644371"/>
                    <a:ext cx="7114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直接连接符 291"/>
                  <p:cNvCxnSpPr/>
                  <p:nvPr/>
                </p:nvCxnSpPr>
                <p:spPr>
                  <a:xfrm rot="5400000">
                    <a:off x="3860431" y="5643247"/>
                    <a:ext cx="713716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直接连接符 292"/>
                  <p:cNvCxnSpPr/>
                  <p:nvPr/>
                </p:nvCxnSpPr>
                <p:spPr>
                  <a:xfrm>
                    <a:off x="2564684" y="5286388"/>
                    <a:ext cx="1652607" cy="225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直接连接符 293"/>
                  <p:cNvCxnSpPr/>
                  <p:nvPr/>
                </p:nvCxnSpPr>
                <p:spPr>
                  <a:xfrm rot="5400000">
                    <a:off x="4039424" y="5536302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直接连接符 294"/>
                  <p:cNvCxnSpPr/>
                  <p:nvPr/>
                </p:nvCxnSpPr>
                <p:spPr>
                  <a:xfrm rot="5400000">
                    <a:off x="2386817" y="5750191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883" name="组合 69"/>
                <p:cNvGrpSpPr/>
                <p:nvPr/>
              </p:nvGrpSpPr>
              <p:grpSpPr>
                <a:xfrm>
                  <a:off x="2500313" y="3068836"/>
                  <a:ext cx="785813" cy="573088"/>
                  <a:chOff x="1428728" y="5286388"/>
                  <a:chExt cx="3786210" cy="715968"/>
                </a:xfrm>
              </p:grpSpPr>
              <p:cxnSp>
                <p:nvCxnSpPr>
                  <p:cNvPr id="282" name="直接连接符 281"/>
                  <p:cNvCxnSpPr/>
                  <p:nvPr/>
                </p:nvCxnSpPr>
                <p:spPr>
                  <a:xfrm>
                    <a:off x="1502221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直接连接符 282"/>
                  <p:cNvCxnSpPr/>
                  <p:nvPr/>
                </p:nvCxnSpPr>
                <p:spPr>
                  <a:xfrm>
                    <a:off x="4218308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直接连接符 283"/>
                  <p:cNvCxnSpPr/>
                  <p:nvPr/>
                </p:nvCxnSpPr>
                <p:spPr>
                  <a:xfrm rot="5400000">
                    <a:off x="2217623" y="5644371"/>
                    <a:ext cx="7114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直接连接符 284"/>
                  <p:cNvCxnSpPr/>
                  <p:nvPr/>
                </p:nvCxnSpPr>
                <p:spPr>
                  <a:xfrm rot="5400000">
                    <a:off x="3861448" y="5643247"/>
                    <a:ext cx="713716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直接连接符 285"/>
                  <p:cNvCxnSpPr/>
                  <p:nvPr/>
                </p:nvCxnSpPr>
                <p:spPr>
                  <a:xfrm>
                    <a:off x="2573355" y="5286388"/>
                    <a:ext cx="1644954" cy="225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直接连接符 286"/>
                  <p:cNvCxnSpPr/>
                  <p:nvPr/>
                </p:nvCxnSpPr>
                <p:spPr>
                  <a:xfrm rot="5400000">
                    <a:off x="4040441" y="5536302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直接连接符 287"/>
                  <p:cNvCxnSpPr/>
                  <p:nvPr/>
                </p:nvCxnSpPr>
                <p:spPr>
                  <a:xfrm rot="5400000">
                    <a:off x="2395487" y="5750191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884" name="组合 69"/>
                <p:cNvGrpSpPr/>
                <p:nvPr/>
              </p:nvGrpSpPr>
              <p:grpSpPr>
                <a:xfrm>
                  <a:off x="3286125" y="3068836"/>
                  <a:ext cx="785813" cy="573088"/>
                  <a:chOff x="1428728" y="5286388"/>
                  <a:chExt cx="3786210" cy="715968"/>
                </a:xfrm>
              </p:grpSpPr>
              <p:cxnSp>
                <p:nvCxnSpPr>
                  <p:cNvPr id="275" name="直接连接符 274"/>
                  <p:cNvCxnSpPr/>
                  <p:nvPr/>
                </p:nvCxnSpPr>
                <p:spPr>
                  <a:xfrm>
                    <a:off x="1503237" y="6000104"/>
                    <a:ext cx="1002278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直接连接符 275"/>
                  <p:cNvCxnSpPr/>
                  <p:nvPr/>
                </p:nvCxnSpPr>
                <p:spPr>
                  <a:xfrm>
                    <a:off x="4142821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直接连接符 276"/>
                  <p:cNvCxnSpPr/>
                  <p:nvPr/>
                </p:nvCxnSpPr>
                <p:spPr>
                  <a:xfrm rot="5400000">
                    <a:off x="2149784" y="5644371"/>
                    <a:ext cx="7114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直接连接符 277"/>
                  <p:cNvCxnSpPr/>
                  <p:nvPr/>
                </p:nvCxnSpPr>
                <p:spPr>
                  <a:xfrm rot="5400000">
                    <a:off x="3785960" y="5643247"/>
                    <a:ext cx="713716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直接连接符 278"/>
                  <p:cNvCxnSpPr/>
                  <p:nvPr/>
                </p:nvCxnSpPr>
                <p:spPr>
                  <a:xfrm>
                    <a:off x="2505515" y="5286388"/>
                    <a:ext cx="1637305" cy="225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直接连接符 279"/>
                  <p:cNvCxnSpPr/>
                  <p:nvPr/>
                </p:nvCxnSpPr>
                <p:spPr>
                  <a:xfrm rot="5400000">
                    <a:off x="3964953" y="5536302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直接连接符 280"/>
                  <p:cNvCxnSpPr/>
                  <p:nvPr/>
                </p:nvCxnSpPr>
                <p:spPr>
                  <a:xfrm rot="5400000">
                    <a:off x="2327648" y="5750191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885" name="组合 69"/>
                <p:cNvGrpSpPr/>
                <p:nvPr/>
              </p:nvGrpSpPr>
              <p:grpSpPr>
                <a:xfrm>
                  <a:off x="4071937" y="3068836"/>
                  <a:ext cx="785813" cy="573088"/>
                  <a:chOff x="1428728" y="5286388"/>
                  <a:chExt cx="3786210" cy="715968"/>
                </a:xfrm>
              </p:grpSpPr>
              <p:cxnSp>
                <p:nvCxnSpPr>
                  <p:cNvPr id="268" name="直接连接符 267"/>
                  <p:cNvCxnSpPr/>
                  <p:nvPr/>
                </p:nvCxnSpPr>
                <p:spPr>
                  <a:xfrm>
                    <a:off x="1427750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直接连接符 268"/>
                  <p:cNvCxnSpPr/>
                  <p:nvPr/>
                </p:nvCxnSpPr>
                <p:spPr>
                  <a:xfrm>
                    <a:off x="4143838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直接连接符 269"/>
                  <p:cNvCxnSpPr/>
                  <p:nvPr/>
                </p:nvCxnSpPr>
                <p:spPr>
                  <a:xfrm rot="5400000">
                    <a:off x="2143152" y="5644371"/>
                    <a:ext cx="7114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直接连接符 270"/>
                  <p:cNvCxnSpPr/>
                  <p:nvPr/>
                </p:nvCxnSpPr>
                <p:spPr>
                  <a:xfrm rot="5400000">
                    <a:off x="3786977" y="5643247"/>
                    <a:ext cx="713716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直接连接符 271"/>
                  <p:cNvCxnSpPr/>
                  <p:nvPr/>
                </p:nvCxnSpPr>
                <p:spPr>
                  <a:xfrm>
                    <a:off x="2498884" y="5286388"/>
                    <a:ext cx="1644954" cy="225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直接连接符 272"/>
                  <p:cNvCxnSpPr/>
                  <p:nvPr/>
                </p:nvCxnSpPr>
                <p:spPr>
                  <a:xfrm rot="5400000">
                    <a:off x="3965970" y="5536302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直接连接符 273"/>
                  <p:cNvCxnSpPr/>
                  <p:nvPr/>
                </p:nvCxnSpPr>
                <p:spPr>
                  <a:xfrm rot="5400000">
                    <a:off x="2321016" y="5750191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886" name="组合 69"/>
                <p:cNvGrpSpPr/>
                <p:nvPr/>
              </p:nvGrpSpPr>
              <p:grpSpPr>
                <a:xfrm>
                  <a:off x="4857752" y="3068836"/>
                  <a:ext cx="785813" cy="573088"/>
                  <a:chOff x="1428728" y="5286388"/>
                  <a:chExt cx="3786210" cy="715968"/>
                </a:xfrm>
              </p:grpSpPr>
              <p:cxnSp>
                <p:nvCxnSpPr>
                  <p:cNvPr id="261" name="直接连接符 260"/>
                  <p:cNvCxnSpPr/>
                  <p:nvPr/>
                </p:nvCxnSpPr>
                <p:spPr>
                  <a:xfrm>
                    <a:off x="1428752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直接连接符 261"/>
                  <p:cNvCxnSpPr/>
                  <p:nvPr/>
                </p:nvCxnSpPr>
                <p:spPr>
                  <a:xfrm>
                    <a:off x="4144845" y="6000104"/>
                    <a:ext cx="1071134" cy="225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直接连接符 262"/>
                  <p:cNvCxnSpPr/>
                  <p:nvPr/>
                </p:nvCxnSpPr>
                <p:spPr>
                  <a:xfrm rot="5400000">
                    <a:off x="2144155" y="5644371"/>
                    <a:ext cx="7114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直接连接符 263"/>
                  <p:cNvCxnSpPr/>
                  <p:nvPr/>
                </p:nvCxnSpPr>
                <p:spPr>
                  <a:xfrm rot="5400000">
                    <a:off x="3787984" y="5643247"/>
                    <a:ext cx="713716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直接连接符 264"/>
                  <p:cNvCxnSpPr/>
                  <p:nvPr/>
                </p:nvCxnSpPr>
                <p:spPr>
                  <a:xfrm>
                    <a:off x="2499886" y="5286388"/>
                    <a:ext cx="1644959" cy="225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直接连接符 265"/>
                  <p:cNvCxnSpPr/>
                  <p:nvPr/>
                </p:nvCxnSpPr>
                <p:spPr>
                  <a:xfrm rot="5400000">
                    <a:off x="3966977" y="5536302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直接连接符 266"/>
                  <p:cNvCxnSpPr/>
                  <p:nvPr/>
                </p:nvCxnSpPr>
                <p:spPr>
                  <a:xfrm rot="5400000">
                    <a:off x="2322019" y="5750191"/>
                    <a:ext cx="355733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296" name="直接连接符 295"/>
            <p:cNvCxnSpPr/>
            <p:nvPr/>
          </p:nvCxnSpPr>
          <p:spPr bwMode="auto">
            <a:xfrm rot="5400000">
              <a:off x="3007579" y="5017294"/>
              <a:ext cx="493713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 bwMode="auto">
            <a:xfrm>
              <a:off x="3254435" y="4770437"/>
              <a:ext cx="7556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 bwMode="auto">
            <a:xfrm rot="5400000">
              <a:off x="3757707" y="5016500"/>
              <a:ext cx="492125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 bwMode="auto">
            <a:xfrm>
              <a:off x="3995832" y="5264150"/>
              <a:ext cx="100810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 bwMode="auto">
            <a:xfrm rot="5400000">
              <a:off x="4639604" y="4334669"/>
              <a:ext cx="49053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 bwMode="auto">
            <a:xfrm>
              <a:off x="4884872" y="4089400"/>
              <a:ext cx="1079548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 bwMode="auto">
            <a:xfrm rot="5400000">
              <a:off x="4757877" y="5016500"/>
              <a:ext cx="492125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 bwMode="auto">
            <a:xfrm>
              <a:off x="5003939" y="4770437"/>
              <a:ext cx="936667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 bwMode="auto">
            <a:xfrm>
              <a:off x="5940606" y="5267325"/>
              <a:ext cx="785848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 bwMode="auto">
            <a:xfrm rot="5400000">
              <a:off x="5694544" y="5016500"/>
              <a:ext cx="492125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 bwMode="auto">
            <a:xfrm rot="5400000">
              <a:off x="5703276" y="4334669"/>
              <a:ext cx="49053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 bwMode="auto">
            <a:xfrm>
              <a:off x="5950131" y="4581525"/>
              <a:ext cx="792199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 bwMode="auto">
            <a:xfrm>
              <a:off x="2411436" y="5262562"/>
              <a:ext cx="82871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 bwMode="auto">
            <a:xfrm rot="5400000">
              <a:off x="2597987" y="4334669"/>
              <a:ext cx="49053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 bwMode="auto">
            <a:xfrm>
              <a:off x="2843255" y="4089400"/>
              <a:ext cx="78584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 bwMode="auto">
            <a:xfrm rot="5400000">
              <a:off x="3383834" y="4334669"/>
              <a:ext cx="49053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 bwMode="auto">
            <a:xfrm>
              <a:off x="3629102" y="4581525"/>
              <a:ext cx="1260532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 bwMode="auto">
            <a:xfrm>
              <a:off x="2376509" y="4584700"/>
              <a:ext cx="466746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 bwMode="auto">
            <a:xfrm rot="5400000">
              <a:off x="4201433" y="5641181"/>
              <a:ext cx="490538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 bwMode="auto">
            <a:xfrm>
              <a:off x="4446702" y="5395912"/>
              <a:ext cx="115257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 bwMode="auto">
            <a:xfrm rot="5400000">
              <a:off x="5342896" y="5641181"/>
              <a:ext cx="490538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 bwMode="auto">
            <a:xfrm>
              <a:off x="5580228" y="5888037"/>
              <a:ext cx="431819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/>
            <p:cNvCxnSpPr/>
            <p:nvPr/>
          </p:nvCxnSpPr>
          <p:spPr bwMode="auto">
            <a:xfrm rot="5400000">
              <a:off x="5766778" y="5638006"/>
              <a:ext cx="490538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/>
            <p:cNvCxnSpPr/>
            <p:nvPr/>
          </p:nvCxnSpPr>
          <p:spPr bwMode="auto">
            <a:xfrm>
              <a:off x="2405085" y="5395912"/>
              <a:ext cx="78584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/>
            <p:cNvCxnSpPr/>
            <p:nvPr/>
          </p:nvCxnSpPr>
          <p:spPr bwMode="auto">
            <a:xfrm rot="5400000">
              <a:off x="2945664" y="5641181"/>
              <a:ext cx="490538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/>
            <p:cNvCxnSpPr/>
            <p:nvPr/>
          </p:nvCxnSpPr>
          <p:spPr bwMode="auto">
            <a:xfrm>
              <a:off x="3190933" y="5888037"/>
              <a:ext cx="126053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/>
            <p:cNvCxnSpPr/>
            <p:nvPr/>
          </p:nvCxnSpPr>
          <p:spPr bwMode="auto">
            <a:xfrm>
              <a:off x="6012047" y="5392737"/>
              <a:ext cx="720757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877" name="Object 17"/>
            <p:cNvGraphicFramePr>
              <a:graphicFrameLocks noChangeAspect="1"/>
            </p:cNvGraphicFramePr>
            <p:nvPr/>
          </p:nvGraphicFramePr>
          <p:xfrm>
            <a:off x="2105025" y="5057775"/>
            <a:ext cx="23495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23" imgW="152400" imgH="165100" progId="Equation.DSMT4">
                    <p:embed/>
                  </p:oleObj>
                </mc:Choice>
                <mc:Fallback>
                  <p:oleObj name="" r:id="rId23" imgW="152400" imgH="165100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05025" y="5057775"/>
                          <a:ext cx="234950" cy="2555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78" name="Object 18"/>
            <p:cNvGraphicFramePr>
              <a:graphicFrameLocks noChangeAspect="1"/>
            </p:cNvGraphicFramePr>
            <p:nvPr/>
          </p:nvGraphicFramePr>
          <p:xfrm>
            <a:off x="2103438" y="5395913"/>
            <a:ext cx="234950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24" imgW="152400" imgH="177800" progId="Equation.DSMT4">
                    <p:embed/>
                  </p:oleObj>
                </mc:Choice>
                <mc:Fallback>
                  <p:oleObj name="" r:id="rId24" imgW="152400" imgH="177800" progId="Equation.DSMT4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03438" y="5395913"/>
                          <a:ext cx="234950" cy="276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79" name="Object 19"/>
            <p:cNvGraphicFramePr>
              <a:graphicFrameLocks noChangeAspect="1"/>
            </p:cNvGraphicFramePr>
            <p:nvPr/>
          </p:nvGraphicFramePr>
          <p:xfrm>
            <a:off x="2124075" y="4337050"/>
            <a:ext cx="23495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25" imgW="152400" imgH="165100" progId="Equation.DSMT4">
                    <p:embed/>
                  </p:oleObj>
                </mc:Choice>
                <mc:Fallback>
                  <p:oleObj name="" r:id="rId25" imgW="152400" imgH="165100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24075" y="4337050"/>
                          <a:ext cx="234950" cy="2555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38"/>
          <p:cNvGrpSpPr/>
          <p:nvPr/>
        </p:nvGrpSpPr>
        <p:grpSpPr>
          <a:xfrm>
            <a:off x="1979613" y="6237288"/>
            <a:ext cx="892175" cy="314325"/>
            <a:chOff x="2123728" y="6309320"/>
            <a:chExt cx="891834" cy="314325"/>
          </a:xfrm>
        </p:grpSpPr>
        <p:cxnSp>
          <p:nvCxnSpPr>
            <p:cNvPr id="326" name="直接连接符 325"/>
            <p:cNvCxnSpPr/>
            <p:nvPr/>
          </p:nvCxnSpPr>
          <p:spPr bwMode="auto">
            <a:xfrm>
              <a:off x="2403021" y="6525220"/>
              <a:ext cx="612541" cy="1587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848" name="Object 20"/>
            <p:cNvGraphicFramePr>
              <a:graphicFrameLocks noChangeAspect="1"/>
            </p:cNvGraphicFramePr>
            <p:nvPr/>
          </p:nvGraphicFramePr>
          <p:xfrm>
            <a:off x="2123728" y="6309320"/>
            <a:ext cx="236537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26" imgW="152400" imgH="203200" progId="Equation.DSMT4">
                    <p:embed/>
                  </p:oleObj>
                </mc:Choice>
                <mc:Fallback>
                  <p:oleObj name="" r:id="rId26" imgW="152400" imgH="203200" progId="Equation.DSMT4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3728" y="6309320"/>
                          <a:ext cx="236537" cy="314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61" name="矩形 327"/>
          <p:cNvSpPr/>
          <p:nvPr/>
        </p:nvSpPr>
        <p:spPr>
          <a:xfrm>
            <a:off x="346075" y="332423"/>
            <a:ext cx="76104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边沿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触发器构成的电路如图所示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，分析其时序。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37"/>
          <p:cNvGrpSpPr/>
          <p:nvPr/>
        </p:nvGrpSpPr>
        <p:grpSpPr>
          <a:xfrm>
            <a:off x="5786438" y="1196975"/>
            <a:ext cx="2170112" cy="450850"/>
            <a:chOff x="5930725" y="1196975"/>
            <a:chExt cx="2169667" cy="450850"/>
          </a:xfrm>
        </p:grpSpPr>
        <p:graphicFrame>
          <p:nvGraphicFramePr>
            <p:cNvPr id="34845" name="Object 127"/>
            <p:cNvGraphicFramePr>
              <a:graphicFrameLocks noChangeAspect="1"/>
            </p:cNvGraphicFramePr>
            <p:nvPr/>
          </p:nvGraphicFramePr>
          <p:xfrm>
            <a:off x="5930725" y="1196975"/>
            <a:ext cx="944563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27" imgW="609600" imgH="292100" progId="Equation.DSMT4">
                    <p:embed/>
                  </p:oleObj>
                </mc:Choice>
                <mc:Fallback>
                  <p:oleObj name="" r:id="rId27" imgW="609600" imgH="292100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930725" y="1196975"/>
                          <a:ext cx="944563" cy="450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6" name="Object 128"/>
            <p:cNvGraphicFramePr>
              <a:graphicFrameLocks noChangeAspect="1"/>
            </p:cNvGraphicFramePr>
            <p:nvPr/>
          </p:nvGraphicFramePr>
          <p:xfrm>
            <a:off x="7019304" y="1340768"/>
            <a:ext cx="1081088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29" imgW="698500" imgH="177800" progId="Equation.DSMT4">
                    <p:embed/>
                  </p:oleObj>
                </mc:Choice>
                <mc:Fallback>
                  <p:oleObj name="" r:id="rId29" imgW="698500" imgH="177800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019304" y="1340768"/>
                          <a:ext cx="1081088" cy="274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30" name="直接连接符 129"/>
          <p:cNvCxnSpPr/>
          <p:nvPr/>
        </p:nvCxnSpPr>
        <p:spPr bwMode="auto">
          <a:xfrm>
            <a:off x="2860675" y="6453188"/>
            <a:ext cx="792163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39"/>
          <p:cNvGrpSpPr/>
          <p:nvPr/>
        </p:nvGrpSpPr>
        <p:grpSpPr>
          <a:xfrm>
            <a:off x="3643313" y="5962650"/>
            <a:ext cx="803275" cy="490538"/>
            <a:chOff x="3788539" y="6034088"/>
            <a:chExt cx="802209" cy="490537"/>
          </a:xfrm>
        </p:grpSpPr>
        <p:cxnSp>
          <p:nvCxnSpPr>
            <p:cNvPr id="329" name="直接连接符 328"/>
            <p:cNvCxnSpPr/>
            <p:nvPr/>
          </p:nvCxnSpPr>
          <p:spPr bwMode="auto">
            <a:xfrm rot="5400000">
              <a:off x="3543272" y="6279356"/>
              <a:ext cx="490537" cy="0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 bwMode="auto">
            <a:xfrm>
              <a:off x="3798051" y="6038851"/>
              <a:ext cx="792697" cy="1587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140"/>
          <p:cNvGrpSpPr/>
          <p:nvPr/>
        </p:nvGrpSpPr>
        <p:grpSpPr>
          <a:xfrm>
            <a:off x="4435475" y="5962650"/>
            <a:ext cx="793750" cy="492125"/>
            <a:chOff x="4580626" y="6034806"/>
            <a:chExt cx="793584" cy="492126"/>
          </a:xfrm>
        </p:grpSpPr>
        <p:cxnSp>
          <p:nvCxnSpPr>
            <p:cNvPr id="132" name="直接连接符 131"/>
            <p:cNvCxnSpPr/>
            <p:nvPr/>
          </p:nvCxnSpPr>
          <p:spPr bwMode="auto">
            <a:xfrm rot="5400000">
              <a:off x="4335358" y="6280075"/>
              <a:ext cx="490539" cy="0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 bwMode="auto">
            <a:xfrm>
              <a:off x="4582213" y="6525345"/>
              <a:ext cx="791997" cy="1587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直接连接符 133"/>
          <p:cNvCxnSpPr/>
          <p:nvPr/>
        </p:nvCxnSpPr>
        <p:spPr bwMode="auto">
          <a:xfrm>
            <a:off x="5229225" y="6453188"/>
            <a:ext cx="792163" cy="1588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141"/>
          <p:cNvGrpSpPr/>
          <p:nvPr/>
        </p:nvGrpSpPr>
        <p:grpSpPr>
          <a:xfrm>
            <a:off x="6011863" y="5949950"/>
            <a:ext cx="539750" cy="490538"/>
            <a:chOff x="6156176" y="6021288"/>
            <a:chExt cx="540088" cy="490537"/>
          </a:xfrm>
        </p:grpSpPr>
        <p:cxnSp>
          <p:nvCxnSpPr>
            <p:cNvPr id="135" name="直接连接符 134"/>
            <p:cNvCxnSpPr/>
            <p:nvPr/>
          </p:nvCxnSpPr>
          <p:spPr bwMode="auto">
            <a:xfrm rot="5400000">
              <a:off x="5910909" y="6266557"/>
              <a:ext cx="490537" cy="0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 bwMode="auto">
            <a:xfrm>
              <a:off x="6156176" y="6029226"/>
              <a:ext cx="540088" cy="1587"/>
            </a:xfrm>
            <a:prstGeom prst="line">
              <a:avLst/>
            </a:prstGeom>
            <a:ln w="254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5795963" y="1771650"/>
            <a:ext cx="2289175" cy="1296988"/>
            <a:chOff x="5940425" y="1771650"/>
            <a:chExt cx="2289175" cy="1296988"/>
          </a:xfrm>
        </p:grpSpPr>
        <p:graphicFrame>
          <p:nvGraphicFramePr>
            <p:cNvPr id="34834" name="Object 5"/>
            <p:cNvGraphicFramePr>
              <a:graphicFrameLocks noChangeAspect="1"/>
            </p:cNvGraphicFramePr>
            <p:nvPr/>
          </p:nvGraphicFramePr>
          <p:xfrm>
            <a:off x="5940425" y="1771650"/>
            <a:ext cx="2289175" cy="1296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31" imgW="1343025" imgH="790575" progId="Equation.DSMT4">
                    <p:embed/>
                  </p:oleObj>
                </mc:Choice>
                <mc:Fallback>
                  <p:oleObj name="" r:id="rId31" imgW="1343025" imgH="790575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940425" y="1771650"/>
                          <a:ext cx="2289175" cy="12969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7092950" y="2784475"/>
              <a:ext cx="215900" cy="2508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4836" name="组合 5"/>
            <p:cNvGrpSpPr/>
            <p:nvPr/>
          </p:nvGrpSpPr>
          <p:grpSpPr>
            <a:xfrm>
              <a:off x="7155662" y="2789554"/>
              <a:ext cx="180000" cy="180000"/>
              <a:chOff x="7452320" y="3214688"/>
              <a:chExt cx="180000" cy="180000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7453108" y="3214372"/>
                <a:ext cx="179388" cy="18097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7527721" y="3293747"/>
                <a:ext cx="36512" cy="36512"/>
              </a:xfrm>
              <a:prstGeom prst="ellipse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6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7"/>
          <p:cNvGrpSpPr/>
          <p:nvPr/>
        </p:nvGrpSpPr>
        <p:grpSpPr bwMode="auto">
          <a:xfrm>
            <a:off x="3500438" y="2071688"/>
            <a:ext cx="2214562" cy="2857500"/>
            <a:chOff x="3571868" y="2071678"/>
            <a:chExt cx="2214578" cy="2857520"/>
          </a:xfrm>
        </p:grpSpPr>
        <p:sp>
          <p:nvSpPr>
            <p:cNvPr id="13" name="矩形 12"/>
            <p:cNvSpPr/>
            <p:nvPr/>
          </p:nvSpPr>
          <p:spPr>
            <a:xfrm>
              <a:off x="3714744" y="2143115"/>
              <a:ext cx="2000264" cy="2786083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047" name="Text Box 7"/>
            <p:cNvSpPr txBox="1">
              <a:spLocks noChangeArrowheads="1"/>
            </p:cNvSpPr>
            <p:nvPr/>
          </p:nvSpPr>
          <p:spPr bwMode="auto">
            <a:xfrm>
              <a:off x="3571868" y="2071678"/>
              <a:ext cx="2214578" cy="277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基本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RS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结构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同步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RS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结构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主从结构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维持阻塞结构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边沿结构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18"/>
          <p:cNvGrpSpPr/>
          <p:nvPr/>
        </p:nvGrpSpPr>
        <p:grpSpPr bwMode="auto">
          <a:xfrm>
            <a:off x="857250" y="2071688"/>
            <a:ext cx="2000250" cy="2862262"/>
            <a:chOff x="928662" y="2071678"/>
            <a:chExt cx="2000264" cy="2862322"/>
          </a:xfrm>
        </p:grpSpPr>
        <p:sp>
          <p:nvSpPr>
            <p:cNvPr id="14" name="矩形 13"/>
            <p:cNvSpPr/>
            <p:nvPr/>
          </p:nvSpPr>
          <p:spPr>
            <a:xfrm>
              <a:off x="928662" y="2143116"/>
              <a:ext cx="2000264" cy="2786121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045" name="Text Box 8"/>
            <p:cNvSpPr txBox="1">
              <a:spLocks noChangeArrowheads="1"/>
            </p:cNvSpPr>
            <p:nvPr/>
          </p:nvSpPr>
          <p:spPr bwMode="auto">
            <a:xfrm>
              <a:off x="1000100" y="2071678"/>
              <a:ext cx="1714512" cy="2862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RS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JK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T'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触发器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19"/>
          <p:cNvGrpSpPr/>
          <p:nvPr/>
        </p:nvGrpSpPr>
        <p:grpSpPr bwMode="auto">
          <a:xfrm>
            <a:off x="6357938" y="2071688"/>
            <a:ext cx="2000250" cy="2857500"/>
            <a:chOff x="6429388" y="2071678"/>
            <a:chExt cx="2000264" cy="2857520"/>
          </a:xfrm>
        </p:grpSpPr>
        <p:sp>
          <p:nvSpPr>
            <p:cNvPr id="15" name="矩形 14"/>
            <p:cNvSpPr/>
            <p:nvPr/>
          </p:nvSpPr>
          <p:spPr>
            <a:xfrm>
              <a:off x="6429388" y="2143115"/>
              <a:ext cx="2000264" cy="2786083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043" name="Text Box 16"/>
            <p:cNvSpPr txBox="1">
              <a:spLocks noChangeArrowheads="1"/>
            </p:cNvSpPr>
            <p:nvPr/>
          </p:nvSpPr>
          <p:spPr bwMode="auto">
            <a:xfrm>
              <a:off x="6715140" y="2071678"/>
              <a:ext cx="1500198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电平触发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脉冲触发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边沿触发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571875" y="1500188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电路结构</a:t>
            </a:r>
            <a:endParaRPr kumimoji="1"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85813" y="1500188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逻辑功能</a:t>
            </a:r>
            <a:endParaRPr kumimoji="1" lang="zh-CN" altLang="en-US" sz="28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429375" y="1500188"/>
            <a:ext cx="2071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800" b="1">
                <a:solidFill>
                  <a:srgbClr val="00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触发方式</a:t>
            </a:r>
            <a:endParaRPr kumimoji="1" lang="zh-CN" altLang="en-US" sz="2800" b="1">
              <a:solidFill>
                <a:srgbClr val="00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016" name="Rectangle 90"/>
          <p:cNvSpPr>
            <a:spLocks noChangeArrowheads="1"/>
          </p:cNvSpPr>
          <p:nvPr/>
        </p:nvSpPr>
        <p:spPr bwMode="auto">
          <a:xfrm>
            <a:off x="142875" y="71438"/>
            <a:ext cx="46955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§5.7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关于触发器的总结</a:t>
            </a:r>
            <a:endParaRPr lang="zh-CN" altLang="en-US" sz="36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42938" y="785813"/>
            <a:ext cx="7643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一、电路结构、逻辑功能、触发方式的关系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715000" y="1571625"/>
            <a:ext cx="642938" cy="4286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左右箭头 16"/>
          <p:cNvSpPr/>
          <p:nvPr/>
        </p:nvSpPr>
        <p:spPr>
          <a:xfrm>
            <a:off x="2786063" y="1571625"/>
            <a:ext cx="928687" cy="428625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" name="组合 33"/>
          <p:cNvGrpSpPr/>
          <p:nvPr/>
        </p:nvGrpSpPr>
        <p:grpSpPr bwMode="auto">
          <a:xfrm>
            <a:off x="2571750" y="3000375"/>
            <a:ext cx="1357313" cy="1643063"/>
            <a:chOff x="2643174" y="3000372"/>
            <a:chExt cx="1357322" cy="1643074"/>
          </a:xfrm>
        </p:grpSpPr>
        <p:cxnSp>
          <p:nvCxnSpPr>
            <p:cNvPr id="22" name="直接箭头连接符 21"/>
            <p:cNvCxnSpPr/>
            <p:nvPr/>
          </p:nvCxnSpPr>
          <p:spPr>
            <a:xfrm>
              <a:off x="2714612" y="3000372"/>
              <a:ext cx="1143008" cy="158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2714612" y="3152773"/>
              <a:ext cx="1143008" cy="70485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6200000" flipH="1">
              <a:off x="2607456" y="3250405"/>
              <a:ext cx="1428760" cy="135732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34"/>
          <p:cNvGrpSpPr/>
          <p:nvPr/>
        </p:nvGrpSpPr>
        <p:grpSpPr bwMode="auto">
          <a:xfrm>
            <a:off x="2500313" y="3500438"/>
            <a:ext cx="1428750" cy="1143000"/>
            <a:chOff x="2571736" y="3500438"/>
            <a:chExt cx="1428760" cy="1143008"/>
          </a:xfrm>
        </p:grpSpPr>
        <p:cxnSp>
          <p:nvCxnSpPr>
            <p:cNvPr id="28" name="直接箭头连接符 27"/>
            <p:cNvCxnSpPr/>
            <p:nvPr/>
          </p:nvCxnSpPr>
          <p:spPr>
            <a:xfrm>
              <a:off x="2643173" y="3500438"/>
              <a:ext cx="1357323" cy="1587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2571736" y="3643314"/>
              <a:ext cx="1428760" cy="1000132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44"/>
          <p:cNvGrpSpPr/>
          <p:nvPr/>
        </p:nvGrpSpPr>
        <p:grpSpPr bwMode="auto">
          <a:xfrm>
            <a:off x="2500313" y="2428875"/>
            <a:ext cx="1500187" cy="1074738"/>
            <a:chOff x="2571736" y="2428868"/>
            <a:chExt cx="1500198" cy="1073970"/>
          </a:xfrm>
        </p:grpSpPr>
        <p:cxnSp>
          <p:nvCxnSpPr>
            <p:cNvPr id="40" name="直接箭头连接符 39"/>
            <p:cNvCxnSpPr/>
            <p:nvPr/>
          </p:nvCxnSpPr>
          <p:spPr>
            <a:xfrm rot="10800000" flipV="1">
              <a:off x="2786050" y="3499665"/>
              <a:ext cx="1214447" cy="3173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rot="10800000">
              <a:off x="2571736" y="2428868"/>
              <a:ext cx="1500198" cy="928024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54"/>
          <p:cNvGrpSpPr/>
          <p:nvPr/>
        </p:nvGrpSpPr>
        <p:grpSpPr bwMode="auto">
          <a:xfrm>
            <a:off x="5500688" y="2428875"/>
            <a:ext cx="1143000" cy="500063"/>
            <a:chOff x="5572132" y="2428868"/>
            <a:chExt cx="1143008" cy="500066"/>
          </a:xfrm>
        </p:grpSpPr>
        <p:cxnSp>
          <p:nvCxnSpPr>
            <p:cNvPr id="46" name="直接箭头连接符 45"/>
            <p:cNvCxnSpPr/>
            <p:nvPr/>
          </p:nvCxnSpPr>
          <p:spPr>
            <a:xfrm>
              <a:off x="5572132" y="2428868"/>
              <a:ext cx="1143008" cy="158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V="1">
              <a:off x="5572132" y="2500306"/>
              <a:ext cx="1143008" cy="42862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直接箭头连接符 48"/>
          <p:cNvCxnSpPr/>
          <p:nvPr/>
        </p:nvCxnSpPr>
        <p:spPr>
          <a:xfrm flipV="1">
            <a:off x="5429250" y="3000375"/>
            <a:ext cx="1285875" cy="500063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55"/>
          <p:cNvGrpSpPr/>
          <p:nvPr/>
        </p:nvGrpSpPr>
        <p:grpSpPr bwMode="auto">
          <a:xfrm>
            <a:off x="5429250" y="3571875"/>
            <a:ext cx="1357313" cy="1071563"/>
            <a:chOff x="5500694" y="3571876"/>
            <a:chExt cx="1357322" cy="1071570"/>
          </a:xfrm>
        </p:grpSpPr>
        <p:cxnSp>
          <p:nvCxnSpPr>
            <p:cNvPr id="51" name="直接箭头连接符 50"/>
            <p:cNvCxnSpPr/>
            <p:nvPr/>
          </p:nvCxnSpPr>
          <p:spPr>
            <a:xfrm flipV="1">
              <a:off x="5643570" y="3571876"/>
              <a:ext cx="1214446" cy="500066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 flipV="1">
              <a:off x="5500694" y="3643314"/>
              <a:ext cx="1357322" cy="1000132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60"/>
          <p:cNvGrpSpPr/>
          <p:nvPr/>
        </p:nvGrpSpPr>
        <p:grpSpPr bwMode="auto">
          <a:xfrm>
            <a:off x="642938" y="5643563"/>
            <a:ext cx="8072437" cy="928687"/>
            <a:chOff x="714348" y="5643578"/>
            <a:chExt cx="8072494" cy="928694"/>
          </a:xfrm>
        </p:grpSpPr>
        <p:sp>
          <p:nvSpPr>
            <p:cNvPr id="58" name="圆角矩形 57"/>
            <p:cNvSpPr/>
            <p:nvPr/>
          </p:nvSpPr>
          <p:spPr>
            <a:xfrm>
              <a:off x="714348" y="5643578"/>
              <a:ext cx="8072494" cy="928694"/>
            </a:xfrm>
            <a:prstGeom prst="roundRect">
              <a:avLst/>
            </a:prstGeom>
            <a:solidFill>
              <a:srgbClr val="0000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030" name="矩形 56"/>
            <p:cNvSpPr>
              <a:spLocks noChangeArrowheads="1"/>
            </p:cNvSpPr>
            <p:nvPr/>
          </p:nvSpPr>
          <p:spPr bwMode="auto">
            <a:xfrm>
              <a:off x="857224" y="5669837"/>
              <a:ext cx="778674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触发器作为一个独立的功能模块，使用者主要关注触发器的</a:t>
              </a:r>
              <a:r>
                <a:rPr lang="zh-CN" altLang="en-US" sz="2400" b="1">
                  <a:solidFill>
                    <a:srgbClr val="FF3399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逻辑功能和触发方式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。</a:t>
              </a:r>
              <a:endParaRPr lang="zh-CN" altLang="en-US" sz="2400">
                <a:solidFill>
                  <a:srgbClr val="FFFF00"/>
                </a:solidFill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右箭头 58"/>
          <p:cNvSpPr/>
          <p:nvPr/>
        </p:nvSpPr>
        <p:spPr>
          <a:xfrm rot="16200000">
            <a:off x="1535907" y="5107781"/>
            <a:ext cx="642938" cy="428625"/>
          </a:xfrm>
          <a:prstGeom prst="righ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 rot="16200000">
            <a:off x="7108032" y="5107781"/>
            <a:ext cx="642938" cy="428625"/>
          </a:xfrm>
          <a:prstGeom prst="righ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6" grpId="0" animBg="1"/>
      <p:bldP spid="17" grpId="0" animBg="1"/>
      <p:bldP spid="59" grpId="0" animBg="1"/>
      <p:bldP spid="6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3"/>
          <p:cNvSpPr txBox="1">
            <a:spLocks noChangeArrowheads="1"/>
          </p:cNvSpPr>
          <p:nvPr/>
        </p:nvSpPr>
        <p:spPr bwMode="auto">
          <a:xfrm>
            <a:off x="714375" y="214313"/>
            <a:ext cx="7643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二、锁存器与触发器的区别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43000" y="714375"/>
            <a:ext cx="327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二者的触发方式不同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28750" y="1214438"/>
            <a:ext cx="3536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>
                <a:latin typeface="Times New Roman" panose="02020603050405020304" pitchFamily="18" charset="0"/>
              </a:rPr>
              <a:t> 锁存器采用电平触发方式。</a:t>
            </a:r>
            <a:endParaRPr lang="zh-CN" altLang="en-US" sz="20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28750" y="1643063"/>
            <a:ext cx="5343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>
                <a:latin typeface="Times New Roman" panose="02020603050405020304" pitchFamily="18" charset="0"/>
              </a:rPr>
              <a:t> 触发器采用脉冲触发方式和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边沿</a:t>
            </a:r>
            <a:r>
              <a:rPr kumimoji="1" lang="zh-CN" altLang="en-US" sz="2000" b="1">
                <a:latin typeface="Times New Roman" panose="02020603050405020304" pitchFamily="18" charset="0"/>
              </a:rPr>
              <a:t>触发方式。</a:t>
            </a:r>
            <a:endParaRPr lang="zh-CN" altLang="en-US" sz="200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43000" y="2100263"/>
            <a:ext cx="3275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二者的适用场合不同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28750" y="2600325"/>
            <a:ext cx="5084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</a:rPr>
              <a:t> 锁存器适用于多路信号同步锁存的场合。</a:t>
            </a:r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750" y="3028950"/>
            <a:ext cx="5084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</a:rPr>
              <a:t> 触发器适用于可靠动作、抗干扰的场合。</a:t>
            </a:r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714375" y="3548063"/>
            <a:ext cx="7643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三、触发器的动作特点归纳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28750" y="4038600"/>
            <a:ext cx="6384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触发器状态更新发生在触发脉冲边沿时刻；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28750" y="4591050"/>
            <a:ext cx="576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触发器更新后的状态由特性方程决定。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71500" y="5429250"/>
            <a:ext cx="8480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触发器的现态和次态是相对于触发脉冲边沿而言的。</a:t>
            </a:r>
            <a:endParaRPr lang="zh-CN" altLang="en-US" sz="280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658938" y="1428750"/>
            <a:ext cx="598487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正确理解常用触发器的工作原理。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熟练掌握触发器的逻辑功能及动作特点。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重点掌握各种触发器的波形图的画法。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1601788" y="549275"/>
            <a:ext cx="5184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7030A0"/>
                </a:solidFill>
                <a:latin typeface="宋体" panose="02010600030101010101" pitchFamily="2" charset="-122"/>
              </a:rPr>
              <a:t>本章小结</a:t>
            </a:r>
            <a:endParaRPr lang="zh-CN" altLang="en-US" sz="3600" b="1">
              <a:solidFill>
                <a:srgbClr val="7030A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052513"/>
            <a:ext cx="2070100" cy="151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896938"/>
            <a:ext cx="3527425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4" name="TextBox 1"/>
          <p:cNvSpPr txBox="1">
            <a:spLocks noChangeArrowheads="1"/>
          </p:cNvSpPr>
          <p:nvPr/>
        </p:nvSpPr>
        <p:spPr bwMode="auto">
          <a:xfrm>
            <a:off x="250825" y="115888"/>
            <a:ext cx="82089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练习：</a:t>
            </a:r>
            <a:r>
              <a:rPr lang="en-US" altLang="zh-CN" sz="2400">
                <a:solidFill>
                  <a:srgbClr val="000000"/>
                </a:solidFill>
              </a:rPr>
              <a:t>1</a:t>
            </a:r>
            <a:r>
              <a:rPr lang="zh-CN" altLang="en-US" sz="2400">
                <a:solidFill>
                  <a:srgbClr val="000000"/>
                </a:solidFill>
              </a:rPr>
              <a:t>、由或非门组成的</a:t>
            </a:r>
            <a:r>
              <a:rPr lang="en-US" altLang="zh-CN" sz="2400">
                <a:solidFill>
                  <a:srgbClr val="000000"/>
                </a:solidFill>
              </a:rPr>
              <a:t>RS</a:t>
            </a:r>
            <a:r>
              <a:rPr lang="zh-CN" altLang="en-US" sz="2400">
                <a:solidFill>
                  <a:srgbClr val="000000"/>
                </a:solidFill>
              </a:rPr>
              <a:t>触发器如图所示，请根据输入信号的波形画出输出端的波形。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825" y="3233738"/>
            <a:ext cx="82740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  <a:defRPr/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．已知双门锁存器如图所示，试写出该锁存器的特性方程</a:t>
            </a:r>
            <a:r>
              <a:rPr lang="zh-CN" altLang="zh-CN" kern="1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kern="1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608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4025900"/>
            <a:ext cx="2822575" cy="242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2"/>
          <p:cNvSpPr txBox="1">
            <a:spLocks noChangeArrowheads="1"/>
          </p:cNvSpPr>
          <p:nvPr/>
        </p:nvSpPr>
        <p:spPr bwMode="auto">
          <a:xfrm>
            <a:off x="374650" y="2927350"/>
            <a:ext cx="820896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4</a:t>
            </a:r>
            <a:r>
              <a:rPr lang="zh-CN" altLang="en-US" sz="2400">
                <a:solidFill>
                  <a:srgbClr val="000000"/>
                </a:solidFill>
              </a:rPr>
              <a:t>、</a:t>
            </a:r>
            <a:r>
              <a:rPr lang="zh-CN" altLang="zh-CN" sz="2400">
                <a:solidFill>
                  <a:srgbClr val="000000"/>
                </a:solidFill>
              </a:rPr>
              <a:t>试写</a:t>
            </a:r>
            <a:r>
              <a:rPr lang="zh-CN" altLang="en-US" sz="2400">
                <a:solidFill>
                  <a:srgbClr val="000000"/>
                </a:solidFill>
              </a:rPr>
              <a:t>下</a:t>
            </a:r>
            <a:r>
              <a:rPr lang="zh-CN" altLang="zh-CN" sz="2400">
                <a:solidFill>
                  <a:srgbClr val="000000"/>
                </a:solidFill>
              </a:rPr>
              <a:t>图中各个触发器的特性方程</a:t>
            </a:r>
            <a:r>
              <a:rPr lang="en-US" altLang="zh-CN" sz="2400">
                <a:solidFill>
                  <a:srgbClr val="000000"/>
                </a:solidFill>
              </a:rPr>
              <a:t>Q</a:t>
            </a:r>
            <a:r>
              <a:rPr lang="en-US" altLang="zh-CN" sz="2400" baseline="30000">
                <a:solidFill>
                  <a:srgbClr val="000000"/>
                </a:solidFill>
              </a:rPr>
              <a:t>n+1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zh-CN" sz="2400">
                <a:solidFill>
                  <a:srgbClr val="000000"/>
                </a:solidFill>
              </a:rPr>
              <a:t>，并画出在所示</a:t>
            </a:r>
            <a:r>
              <a:rPr lang="en-US" altLang="zh-CN" sz="2400">
                <a:solidFill>
                  <a:srgbClr val="000000"/>
                </a:solidFill>
              </a:rPr>
              <a:t>CP</a:t>
            </a:r>
            <a:r>
              <a:rPr lang="zh-CN" altLang="zh-CN" sz="2400">
                <a:solidFill>
                  <a:srgbClr val="000000"/>
                </a:solidFill>
              </a:rPr>
              <a:t>作用下的输出波形。（各触发器的初态均为“</a:t>
            </a:r>
            <a:r>
              <a:rPr lang="en-US" altLang="zh-CN" sz="2400">
                <a:solidFill>
                  <a:srgbClr val="000000"/>
                </a:solidFill>
              </a:rPr>
              <a:t>0</a:t>
            </a:r>
            <a:r>
              <a:rPr lang="zh-CN" altLang="zh-CN" sz="2400">
                <a:solidFill>
                  <a:srgbClr val="000000"/>
                </a:solidFill>
              </a:rPr>
              <a:t>”</a:t>
            </a:r>
            <a:r>
              <a:rPr lang="en-US" altLang="zh-CN" sz="2400">
                <a:solidFill>
                  <a:srgbClr val="000000"/>
                </a:solidFill>
              </a:rPr>
              <a:t>,</a:t>
            </a:r>
            <a:r>
              <a:rPr lang="zh-CN" altLang="zh-CN" sz="2400">
                <a:solidFill>
                  <a:srgbClr val="000000"/>
                </a:solidFill>
              </a:rPr>
              <a:t>为边沿触发）</a:t>
            </a:r>
            <a:endParaRPr lang="zh-CN" altLang="zh-CN" sz="2400">
              <a:solidFill>
                <a:srgbClr val="000000"/>
              </a:solidFill>
            </a:endParaRPr>
          </a:p>
        </p:txBody>
      </p:sp>
      <p:pic>
        <p:nvPicPr>
          <p:cNvPr id="4710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056063"/>
            <a:ext cx="59055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8" name="TextBox 6"/>
          <p:cNvSpPr txBox="1">
            <a:spLocks noChangeArrowheads="1"/>
          </p:cNvSpPr>
          <p:nvPr/>
        </p:nvSpPr>
        <p:spPr bwMode="auto">
          <a:xfrm>
            <a:off x="395288" y="333375"/>
            <a:ext cx="82804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3.</a:t>
            </a:r>
            <a:r>
              <a:rPr lang="zh-CN" altLang="zh-CN" sz="2400">
                <a:solidFill>
                  <a:srgbClr val="000000"/>
                </a:solidFill>
              </a:rPr>
              <a:t>电路</a:t>
            </a:r>
            <a:r>
              <a:rPr lang="zh-CN" altLang="en-US" sz="2400">
                <a:solidFill>
                  <a:srgbClr val="000000"/>
                </a:solidFill>
              </a:rPr>
              <a:t>如图</a:t>
            </a:r>
            <a:r>
              <a:rPr lang="zh-CN" altLang="zh-CN" sz="2400">
                <a:solidFill>
                  <a:srgbClr val="000000"/>
                </a:solidFill>
              </a:rPr>
              <a:t>所示</a:t>
            </a:r>
            <a:r>
              <a:rPr lang="zh-CN" altLang="en-US" sz="2400">
                <a:solidFill>
                  <a:srgbClr val="000000"/>
                </a:solidFill>
              </a:rPr>
              <a:t>，能</a:t>
            </a:r>
            <a:r>
              <a:rPr lang="zh-CN" altLang="zh-CN" sz="2400">
                <a:solidFill>
                  <a:srgbClr val="000000"/>
                </a:solidFill>
              </a:rPr>
              <a:t>实现</a:t>
            </a:r>
            <a:r>
              <a:rPr lang="en-US" altLang="zh-CN" sz="2400">
                <a:solidFill>
                  <a:srgbClr val="000000"/>
                </a:solidFill>
              </a:rPr>
              <a:t>                       </a:t>
            </a:r>
            <a:r>
              <a:rPr lang="zh-CN" altLang="zh-CN" sz="2400">
                <a:solidFill>
                  <a:srgbClr val="000000"/>
                </a:solidFill>
              </a:rPr>
              <a:t>的电路是 </a:t>
            </a:r>
            <a:r>
              <a:rPr lang="en-US" altLang="zh-CN" sz="2400" u="sng">
                <a:solidFill>
                  <a:srgbClr val="000000"/>
                </a:solidFill>
              </a:rPr>
              <a:t>           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zh-CN" sz="2400">
                <a:solidFill>
                  <a:srgbClr val="000000"/>
                </a:solidFill>
              </a:rPr>
              <a:t>。</a:t>
            </a:r>
            <a:endParaRPr lang="zh-CN" altLang="zh-CN" sz="24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rgbClr val="000000"/>
              </a:solidFill>
            </a:endParaRPr>
          </a:p>
        </p:txBody>
      </p:sp>
      <p:graphicFrame>
        <p:nvGraphicFramePr>
          <p:cNvPr id="47109" name="对象 7"/>
          <p:cNvGraphicFramePr>
            <a:graphicFrameLocks noChangeAspect="1"/>
          </p:cNvGraphicFramePr>
          <p:nvPr/>
        </p:nvGraphicFramePr>
        <p:xfrm>
          <a:off x="3851275" y="260350"/>
          <a:ext cx="18732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5" name="公式" r:id="rId2" imgW="951865" imgH="254000" progId="Equation.3">
                  <p:embed/>
                </p:oleObj>
              </mc:Choice>
              <mc:Fallback>
                <p:oleObj name="公式" r:id="rId2" imgW="951865" imgH="25400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0350"/>
                        <a:ext cx="18732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039813"/>
            <a:ext cx="8274050" cy="160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c2bd0ad-4514-4d05-81e0-260401d795ca"/>
  <p:tag name="COMMONDATA" val="eyJoZGlkIjoiNWIwNzY4NDkwYjhiMWNkNDE5NGNlMjM2N2NmNjdhOTAifQ=="/>
  <p:tag name="commondata" val="eyJoZGlkIjoiNjVkMDAyOWY1NjY4OTJhNTcwYzFhNmVlZTQ0ZmQyMGQifQ==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3351</Words>
  <Application>WPS 演示</Application>
  <PresentationFormat>全屏显示(4:3)</PresentationFormat>
  <Paragraphs>644</Paragraphs>
  <Slides>34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174</vt:i4>
      </vt:variant>
      <vt:variant>
        <vt:lpstr>幻灯片标题</vt:lpstr>
      </vt:variant>
      <vt:variant>
        <vt:i4>34</vt:i4>
      </vt:variant>
    </vt:vector>
  </HeadingPairs>
  <TitlesOfParts>
    <vt:vector size="229" baseType="lpstr">
      <vt:lpstr>Arial</vt:lpstr>
      <vt:lpstr>宋体</vt:lpstr>
      <vt:lpstr>Wingdings</vt:lpstr>
      <vt:lpstr>Franklin Gothic Medium</vt:lpstr>
      <vt:lpstr>Wingdings 2</vt:lpstr>
      <vt:lpstr>Arial</vt:lpstr>
      <vt:lpstr>Times New Roman</vt:lpstr>
      <vt:lpstr>楷体</vt:lpstr>
      <vt:lpstr>Franklin Gothic Book</vt:lpstr>
      <vt:lpstr>楷体_GB2312</vt:lpstr>
      <vt:lpstr>新宋体</vt:lpstr>
      <vt:lpstr>微软雅黑</vt:lpstr>
      <vt:lpstr>Arial Unicode MS</vt:lpstr>
      <vt:lpstr>黑体</vt:lpstr>
      <vt:lpstr>Calibri</vt:lpstr>
      <vt:lpstr>幼圆</vt:lpstr>
      <vt:lpstr>Symbol</vt:lpstr>
      <vt:lpstr>Times New Roman</vt:lpstr>
      <vt:lpstr>默认设计模板</vt:lpstr>
      <vt:lpstr>暗香扑面</vt:lpstr>
      <vt:lpstr>1_默认设计模板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第5章 集成触发器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sdf</dc:creator>
  <cp:lastModifiedBy>石代锋</cp:lastModifiedBy>
  <cp:revision>1409</cp:revision>
  <dcterms:created xsi:type="dcterms:W3CDTF">2113-01-01T00:00:00Z</dcterms:created>
  <dcterms:modified xsi:type="dcterms:W3CDTF">2024-09-26T08:43:47Z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EA42E993C1CB49DCAE875D3D558F0202</vt:lpwstr>
  </property>
  <property fmtid="{D5CDD505-2E9C-101B-9397-08002B2CF9AE}" pid="3" name="KSOProductBuildVer">
    <vt:lpwstr>2052-12.1.0.18276</vt:lpwstr>
  </property>
</Properties>
</file>