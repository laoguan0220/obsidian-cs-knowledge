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</p:sldMasterIdLst>
  <p:notesMasterIdLst>
    <p:notesMasterId r:id="rId41"/>
  </p:notesMasterIdLst>
  <p:handoutMasterIdLst>
    <p:handoutMasterId r:id="rId80"/>
  </p:handoutMasterIdLst>
  <p:sldIdLst>
    <p:sldId id="280" r:id="rId6"/>
    <p:sldId id="278" r:id="rId7"/>
    <p:sldId id="337" r:id="rId8"/>
    <p:sldId id="341" r:id="rId9"/>
    <p:sldId id="342" r:id="rId10"/>
    <p:sldId id="343" r:id="rId11"/>
    <p:sldId id="344" r:id="rId12"/>
    <p:sldId id="414" r:id="rId13"/>
    <p:sldId id="348" r:id="rId14"/>
    <p:sldId id="349" r:id="rId15"/>
    <p:sldId id="405" r:id="rId16"/>
    <p:sldId id="338" r:id="rId17"/>
    <p:sldId id="350" r:id="rId18"/>
    <p:sldId id="351" r:id="rId19"/>
    <p:sldId id="352" r:id="rId20"/>
    <p:sldId id="353" r:id="rId21"/>
    <p:sldId id="354" r:id="rId22"/>
    <p:sldId id="356" r:id="rId23"/>
    <p:sldId id="355" r:id="rId24"/>
    <p:sldId id="357" r:id="rId25"/>
    <p:sldId id="358" r:id="rId26"/>
    <p:sldId id="359" r:id="rId27"/>
    <p:sldId id="361" r:id="rId28"/>
    <p:sldId id="363" r:id="rId29"/>
    <p:sldId id="477" r:id="rId30"/>
    <p:sldId id="478" r:id="rId31"/>
    <p:sldId id="525" r:id="rId32"/>
    <p:sldId id="364" r:id="rId33"/>
    <p:sldId id="366" r:id="rId34"/>
    <p:sldId id="365" r:id="rId35"/>
    <p:sldId id="369" r:id="rId36"/>
    <p:sldId id="367" r:id="rId37"/>
    <p:sldId id="371" r:id="rId38"/>
    <p:sldId id="372" r:id="rId39"/>
    <p:sldId id="373" r:id="rId40"/>
    <p:sldId id="374" r:id="rId42"/>
    <p:sldId id="375" r:id="rId43"/>
    <p:sldId id="376" r:id="rId44"/>
    <p:sldId id="377" r:id="rId45"/>
    <p:sldId id="379" r:id="rId46"/>
    <p:sldId id="380" r:id="rId47"/>
    <p:sldId id="382" r:id="rId48"/>
    <p:sldId id="416" r:id="rId49"/>
    <p:sldId id="383" r:id="rId50"/>
    <p:sldId id="384" r:id="rId51"/>
    <p:sldId id="387" r:id="rId52"/>
    <p:sldId id="388" r:id="rId53"/>
    <p:sldId id="385" r:id="rId54"/>
    <p:sldId id="390" r:id="rId55"/>
    <p:sldId id="409" r:id="rId56"/>
    <p:sldId id="410" r:id="rId57"/>
    <p:sldId id="411" r:id="rId58"/>
    <p:sldId id="339" r:id="rId59"/>
    <p:sldId id="391" r:id="rId60"/>
    <p:sldId id="392" r:id="rId61"/>
    <p:sldId id="406" r:id="rId62"/>
    <p:sldId id="393" r:id="rId63"/>
    <p:sldId id="394" r:id="rId64"/>
    <p:sldId id="404" r:id="rId65"/>
    <p:sldId id="407" r:id="rId66"/>
    <p:sldId id="395" r:id="rId67"/>
    <p:sldId id="412" r:id="rId68"/>
    <p:sldId id="396" r:id="rId69"/>
    <p:sldId id="340" r:id="rId70"/>
    <p:sldId id="389" r:id="rId71"/>
    <p:sldId id="397" r:id="rId72"/>
    <p:sldId id="398" r:id="rId73"/>
    <p:sldId id="399" r:id="rId74"/>
    <p:sldId id="417" r:id="rId75"/>
    <p:sldId id="400" r:id="rId76"/>
    <p:sldId id="401" r:id="rId77"/>
    <p:sldId id="402" r:id="rId78"/>
    <p:sldId id="403" r:id="rId79"/>
  </p:sldIdLst>
  <p:sldSz cx="9144000" cy="6858000" type="screen4x3"/>
  <p:notesSz cx="6760845" cy="9931400"/>
  <p:custDataLst>
    <p:tags r:id="rId8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  <a:srgbClr val="006600"/>
    <a:srgbClr val="0000FF"/>
    <a:srgbClr val="FF66FF"/>
    <a:srgbClr val="33CCCC"/>
    <a:srgbClr val="FF3300"/>
    <a:srgbClr val="FF0066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10" autoAdjust="0"/>
    <p:restoredTop sz="82535" autoAdjust="0"/>
  </p:normalViewPr>
  <p:slideViewPr>
    <p:cSldViewPr showGuides="1">
      <p:cViewPr varScale="1">
        <p:scale>
          <a:sx n="60" d="100"/>
          <a:sy n="60" d="100"/>
        </p:scale>
        <p:origin x="196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4" Type="http://schemas.openxmlformats.org/officeDocument/2006/relationships/tags" Target="tags/tag1.xml"/><Relationship Id="rId83" Type="http://schemas.openxmlformats.org/officeDocument/2006/relationships/tableStyles" Target="tableStyles.xml"/><Relationship Id="rId82" Type="http://schemas.openxmlformats.org/officeDocument/2006/relationships/viewProps" Target="viewProps.xml"/><Relationship Id="rId81" Type="http://schemas.openxmlformats.org/officeDocument/2006/relationships/presProps" Target="presProps.xml"/><Relationship Id="rId80" Type="http://schemas.openxmlformats.org/officeDocument/2006/relationships/handoutMaster" Target="handoutMasters/handoutMaster1.xml"/><Relationship Id="rId8" Type="http://schemas.openxmlformats.org/officeDocument/2006/relationships/slide" Target="slides/slide3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7" Type="http://schemas.openxmlformats.org/officeDocument/2006/relationships/slide" Target="slides/slide2.xml"/><Relationship Id="rId69" Type="http://schemas.openxmlformats.org/officeDocument/2006/relationships/slide" Target="slides/slide63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0" Type="http://schemas.openxmlformats.org/officeDocument/2006/relationships/slide" Target="slides/slide54.xml"/><Relationship Id="rId6" Type="http://schemas.openxmlformats.org/officeDocument/2006/relationships/slide" Target="slides/slide1.xml"/><Relationship Id="rId59" Type="http://schemas.openxmlformats.org/officeDocument/2006/relationships/slide" Target="slides/slide53.xml"/><Relationship Id="rId58" Type="http://schemas.openxmlformats.org/officeDocument/2006/relationships/slide" Target="slides/slide52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2" Type="http://schemas.openxmlformats.org/officeDocument/2006/relationships/slide" Target="slides/slide36.xml"/><Relationship Id="rId41" Type="http://schemas.openxmlformats.org/officeDocument/2006/relationships/notesMaster" Target="notesMasters/notesMaster1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4" Type="http://schemas.openxmlformats.org/officeDocument/2006/relationships/image" Target="../media/image9.wmf"/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4" Type="http://schemas.openxmlformats.org/officeDocument/2006/relationships/image" Target="../media/image23.wmf"/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35.wmf"/><Relationship Id="rId8" Type="http://schemas.openxmlformats.org/officeDocument/2006/relationships/image" Target="../media/image34.wmf"/><Relationship Id="rId7" Type="http://schemas.openxmlformats.org/officeDocument/2006/relationships/image" Target="../media/image33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8" Type="http://schemas.openxmlformats.org/officeDocument/2006/relationships/image" Target="../media/image44.wmf"/><Relationship Id="rId17" Type="http://schemas.openxmlformats.org/officeDocument/2006/relationships/image" Target="../media/image43.wmf"/><Relationship Id="rId16" Type="http://schemas.openxmlformats.org/officeDocument/2006/relationships/image" Target="../media/image42.wmf"/><Relationship Id="rId15" Type="http://schemas.openxmlformats.org/officeDocument/2006/relationships/image" Target="../media/image41.wmf"/><Relationship Id="rId14" Type="http://schemas.openxmlformats.org/officeDocument/2006/relationships/image" Target="../media/image40.wmf"/><Relationship Id="rId13" Type="http://schemas.openxmlformats.org/officeDocument/2006/relationships/image" Target="../media/image39.wmf"/><Relationship Id="rId12" Type="http://schemas.openxmlformats.org/officeDocument/2006/relationships/image" Target="../media/image38.wmf"/><Relationship Id="rId11" Type="http://schemas.openxmlformats.org/officeDocument/2006/relationships/image" Target="../media/image37.wmf"/><Relationship Id="rId10" Type="http://schemas.openxmlformats.org/officeDocument/2006/relationships/image" Target="../media/image36.wmf"/><Relationship Id="rId1" Type="http://schemas.openxmlformats.org/officeDocument/2006/relationships/image" Target="../media/image27.wmf"/></Relationships>
</file>

<file path=ppt/drawings/_rels/vmlDrawing11.vml.rels><?xml version="1.0" encoding="UTF-8" standalone="yes"?>
<Relationships xmlns="http://schemas.openxmlformats.org/package/2006/relationships"><Relationship Id="rId7" Type="http://schemas.openxmlformats.org/officeDocument/2006/relationships/image" Target="../media/image36.wmf"/><Relationship Id="rId6" Type="http://schemas.openxmlformats.org/officeDocument/2006/relationships/image" Target="../media/image35.wmf"/><Relationship Id="rId5" Type="http://schemas.openxmlformats.org/officeDocument/2006/relationships/image" Target="../media/image47.wmf"/><Relationship Id="rId4" Type="http://schemas.openxmlformats.org/officeDocument/2006/relationships/image" Target="../media/image46.wmf"/><Relationship Id="rId3" Type="http://schemas.openxmlformats.org/officeDocument/2006/relationships/image" Target="../media/image34.wmf"/><Relationship Id="rId2" Type="http://schemas.openxmlformats.org/officeDocument/2006/relationships/image" Target="../media/image27.wmf"/><Relationship Id="rId1" Type="http://schemas.openxmlformats.org/officeDocument/2006/relationships/image" Target="../media/image45.emf"/></Relationships>
</file>

<file path=ppt/drawings/_rels/vmlDrawing12.vml.rels><?xml version="1.0" encoding="UTF-8" standalone="yes"?>
<Relationships xmlns="http://schemas.openxmlformats.org/package/2006/relationships"><Relationship Id="rId4" Type="http://schemas.openxmlformats.org/officeDocument/2006/relationships/image" Target="../media/image53.wmf"/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49.wmf"/></Relationships>
</file>

<file path=ppt/drawings/_rels/vmlDrawing13.vml.rels><?xml version="1.0" encoding="UTF-8" standalone="yes"?>
<Relationships xmlns="http://schemas.openxmlformats.org/package/2006/relationships"><Relationship Id="rId5" Type="http://schemas.openxmlformats.org/officeDocument/2006/relationships/image" Target="../media/image47.wmf"/><Relationship Id="rId4" Type="http://schemas.openxmlformats.org/officeDocument/2006/relationships/image" Target="../media/image57.wmf"/><Relationship Id="rId3" Type="http://schemas.openxmlformats.org/officeDocument/2006/relationships/image" Target="../media/image56.wmf"/><Relationship Id="rId2" Type="http://schemas.openxmlformats.org/officeDocument/2006/relationships/image" Target="../media/image27.wmf"/><Relationship Id="rId1" Type="http://schemas.openxmlformats.org/officeDocument/2006/relationships/image" Target="../media/image54.emf"/></Relationships>
</file>

<file path=ppt/drawings/_rels/vmlDrawing14.vml.rels><?xml version="1.0" encoding="UTF-8" standalone="yes"?>
<Relationships xmlns="http://schemas.openxmlformats.org/package/2006/relationships"><Relationship Id="rId4" Type="http://schemas.openxmlformats.org/officeDocument/2006/relationships/image" Target="../media/image61.wmf"/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71.wmf"/><Relationship Id="rId8" Type="http://schemas.openxmlformats.org/officeDocument/2006/relationships/image" Target="../media/image70.wmf"/><Relationship Id="rId7" Type="http://schemas.openxmlformats.org/officeDocument/2006/relationships/image" Target="../media/image69.wmf"/><Relationship Id="rId6" Type="http://schemas.openxmlformats.org/officeDocument/2006/relationships/image" Target="../media/image68.wmf"/><Relationship Id="rId5" Type="http://schemas.openxmlformats.org/officeDocument/2006/relationships/image" Target="../media/image67.wmf"/><Relationship Id="rId4" Type="http://schemas.openxmlformats.org/officeDocument/2006/relationships/image" Target="../media/image66.wmf"/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6" Type="http://schemas.openxmlformats.org/officeDocument/2006/relationships/image" Target="../media/image78.wmf"/><Relationship Id="rId15" Type="http://schemas.openxmlformats.org/officeDocument/2006/relationships/image" Target="../media/image77.wmf"/><Relationship Id="rId14" Type="http://schemas.openxmlformats.org/officeDocument/2006/relationships/image" Target="../media/image76.wmf"/><Relationship Id="rId13" Type="http://schemas.openxmlformats.org/officeDocument/2006/relationships/image" Target="../media/image75.wmf"/><Relationship Id="rId12" Type="http://schemas.openxmlformats.org/officeDocument/2006/relationships/image" Target="../media/image74.wmf"/><Relationship Id="rId11" Type="http://schemas.openxmlformats.org/officeDocument/2006/relationships/image" Target="../media/image73.wmf"/><Relationship Id="rId10" Type="http://schemas.openxmlformats.org/officeDocument/2006/relationships/image" Target="../media/image72.wmf"/><Relationship Id="rId1" Type="http://schemas.openxmlformats.org/officeDocument/2006/relationships/image" Target="../media/image63.wmf"/></Relationships>
</file>

<file path=ppt/drawings/_rels/vmlDrawing16.vml.rels><?xml version="1.0" encoding="UTF-8" standalone="yes"?>
<Relationships xmlns="http://schemas.openxmlformats.org/package/2006/relationships"><Relationship Id="rId9" Type="http://schemas.openxmlformats.org/officeDocument/2006/relationships/image" Target="../media/image89.emf"/><Relationship Id="rId8" Type="http://schemas.openxmlformats.org/officeDocument/2006/relationships/image" Target="../media/image87.wmf"/><Relationship Id="rId7" Type="http://schemas.openxmlformats.org/officeDocument/2006/relationships/image" Target="../media/image86.wmf"/><Relationship Id="rId6" Type="http://schemas.openxmlformats.org/officeDocument/2006/relationships/image" Target="../media/image85.wmf"/><Relationship Id="rId5" Type="http://schemas.openxmlformats.org/officeDocument/2006/relationships/image" Target="../media/image84.wmf"/><Relationship Id="rId4" Type="http://schemas.openxmlformats.org/officeDocument/2006/relationships/image" Target="../media/image83.wmf"/><Relationship Id="rId3" Type="http://schemas.openxmlformats.org/officeDocument/2006/relationships/image" Target="../media/image82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/Relationships>
</file>

<file path=ppt/drawings/_rels/vmlDrawing17.vml.rels><?xml version="1.0" encoding="UTF-8" standalone="yes"?>
<Relationships xmlns="http://schemas.openxmlformats.org/package/2006/relationships"><Relationship Id="rId9" Type="http://schemas.openxmlformats.org/officeDocument/2006/relationships/image" Target="../media/image67.wmf"/><Relationship Id="rId8" Type="http://schemas.openxmlformats.org/officeDocument/2006/relationships/image" Target="../media/image66.wmf"/><Relationship Id="rId7" Type="http://schemas.openxmlformats.org/officeDocument/2006/relationships/image" Target="../media/image65.wmf"/><Relationship Id="rId6" Type="http://schemas.openxmlformats.org/officeDocument/2006/relationships/image" Target="../media/image64.wmf"/><Relationship Id="rId5" Type="http://schemas.openxmlformats.org/officeDocument/2006/relationships/image" Target="../media/image63.wmf"/><Relationship Id="rId4" Type="http://schemas.openxmlformats.org/officeDocument/2006/relationships/image" Target="../media/image94.wmf"/><Relationship Id="rId3" Type="http://schemas.openxmlformats.org/officeDocument/2006/relationships/image" Target="../media/image76.wmf"/><Relationship Id="rId24" Type="http://schemas.openxmlformats.org/officeDocument/2006/relationships/image" Target="../media/image106.wmf"/><Relationship Id="rId23" Type="http://schemas.openxmlformats.org/officeDocument/2006/relationships/image" Target="../media/image105.wmf"/><Relationship Id="rId22" Type="http://schemas.openxmlformats.org/officeDocument/2006/relationships/image" Target="../media/image104.wmf"/><Relationship Id="rId21" Type="http://schemas.openxmlformats.org/officeDocument/2006/relationships/image" Target="../media/image103.wmf"/><Relationship Id="rId20" Type="http://schemas.openxmlformats.org/officeDocument/2006/relationships/image" Target="../media/image102.wmf"/><Relationship Id="rId2" Type="http://schemas.openxmlformats.org/officeDocument/2006/relationships/image" Target="../media/image75.wmf"/><Relationship Id="rId19" Type="http://schemas.openxmlformats.org/officeDocument/2006/relationships/image" Target="../media/image101.wmf"/><Relationship Id="rId18" Type="http://schemas.openxmlformats.org/officeDocument/2006/relationships/image" Target="../media/image100.wmf"/><Relationship Id="rId17" Type="http://schemas.openxmlformats.org/officeDocument/2006/relationships/image" Target="../media/image99.wmf"/><Relationship Id="rId16" Type="http://schemas.openxmlformats.org/officeDocument/2006/relationships/image" Target="../media/image98.wmf"/><Relationship Id="rId15" Type="http://schemas.openxmlformats.org/officeDocument/2006/relationships/image" Target="../media/image97.wmf"/><Relationship Id="rId14" Type="http://schemas.openxmlformats.org/officeDocument/2006/relationships/image" Target="../media/image96.wmf"/><Relationship Id="rId13" Type="http://schemas.openxmlformats.org/officeDocument/2006/relationships/image" Target="../media/image95.wmf"/><Relationship Id="rId12" Type="http://schemas.openxmlformats.org/officeDocument/2006/relationships/image" Target="../media/image70.wmf"/><Relationship Id="rId11" Type="http://schemas.openxmlformats.org/officeDocument/2006/relationships/image" Target="../media/image69.wmf"/><Relationship Id="rId10" Type="http://schemas.openxmlformats.org/officeDocument/2006/relationships/image" Target="../media/image68.wmf"/><Relationship Id="rId1" Type="http://schemas.openxmlformats.org/officeDocument/2006/relationships/image" Target="../media/image71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7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9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wmf"/><Relationship Id="rId1" Type="http://schemas.openxmlformats.org/officeDocument/2006/relationships/image" Target="../media/image121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wmf"/><Relationship Id="rId1" Type="http://schemas.openxmlformats.org/officeDocument/2006/relationships/image" Target="../media/image125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3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emf"/><Relationship Id="rId2" Type="http://schemas.openxmlformats.org/officeDocument/2006/relationships/image" Target="../media/image137.emf"/><Relationship Id="rId1" Type="http://schemas.openxmlformats.org/officeDocument/2006/relationships/image" Target="../media/image136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4.emf"/></Relationships>
</file>

<file path=ppt/drawings/_rels/vmlDrawing2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3.wmf"/><Relationship Id="rId8" Type="http://schemas.openxmlformats.org/officeDocument/2006/relationships/image" Target="../media/image152.wmf"/><Relationship Id="rId7" Type="http://schemas.openxmlformats.org/officeDocument/2006/relationships/image" Target="../media/image151.wmf"/><Relationship Id="rId6" Type="http://schemas.openxmlformats.org/officeDocument/2006/relationships/image" Target="../media/image150.emf"/><Relationship Id="rId5" Type="http://schemas.openxmlformats.org/officeDocument/2006/relationships/image" Target="../media/image149.emf"/><Relationship Id="rId4" Type="http://schemas.openxmlformats.org/officeDocument/2006/relationships/image" Target="../media/image148.emf"/><Relationship Id="rId3" Type="http://schemas.openxmlformats.org/officeDocument/2006/relationships/image" Target="../media/image147.emf"/><Relationship Id="rId2" Type="http://schemas.openxmlformats.org/officeDocument/2006/relationships/image" Target="../media/image146.wmf"/><Relationship Id="rId1" Type="http://schemas.openxmlformats.org/officeDocument/2006/relationships/image" Target="../media/image145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5.e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emf"/><Relationship Id="rId2" Type="http://schemas.openxmlformats.org/officeDocument/2006/relationships/image" Target="../media/image157.wmf"/><Relationship Id="rId1" Type="http://schemas.openxmlformats.org/officeDocument/2006/relationships/image" Target="../media/image156.w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wmf"/><Relationship Id="rId1" Type="http://schemas.openxmlformats.org/officeDocument/2006/relationships/image" Target="../media/image159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1.w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image" Target="../media/image163.png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emf"/><Relationship Id="rId1" Type="http://schemas.openxmlformats.org/officeDocument/2006/relationships/image" Target="../media/image165.e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emf"/><Relationship Id="rId1" Type="http://schemas.openxmlformats.org/officeDocument/2006/relationships/image" Target="../media/image167.e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emf"/><Relationship Id="rId1" Type="http://schemas.openxmlformats.org/officeDocument/2006/relationships/image" Target="../media/image169.e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emf"/><Relationship Id="rId2" Type="http://schemas.openxmlformats.org/officeDocument/2006/relationships/image" Target="../media/image172.emf"/><Relationship Id="rId1" Type="http://schemas.openxmlformats.org/officeDocument/2006/relationships/image" Target="../media/image171.emf"/></Relationships>
</file>

<file path=ppt/drawings/_rels/vmlDrawing35.vml.rels><?xml version="1.0" encoding="UTF-8" standalone="yes"?>
<Relationships xmlns="http://schemas.openxmlformats.org/package/2006/relationships"><Relationship Id="rId4" Type="http://schemas.openxmlformats.org/officeDocument/2006/relationships/image" Target="../media/image177.emf"/><Relationship Id="rId3" Type="http://schemas.openxmlformats.org/officeDocument/2006/relationships/image" Target="../media/image176.emf"/><Relationship Id="rId2" Type="http://schemas.openxmlformats.org/officeDocument/2006/relationships/image" Target="../media/image175.emf"/><Relationship Id="rId1" Type="http://schemas.openxmlformats.org/officeDocument/2006/relationships/image" Target="../media/image174.emf"/></Relationships>
</file>

<file path=ppt/drawings/_rels/vmlDrawing36.vml.rels><?xml version="1.0" encoding="UTF-8" standalone="yes"?>
<Relationships xmlns="http://schemas.openxmlformats.org/package/2006/relationships"><Relationship Id="rId5" Type="http://schemas.openxmlformats.org/officeDocument/2006/relationships/image" Target="../media/image182.emf"/><Relationship Id="rId4" Type="http://schemas.openxmlformats.org/officeDocument/2006/relationships/image" Target="../media/image181.emf"/><Relationship Id="rId3" Type="http://schemas.openxmlformats.org/officeDocument/2006/relationships/image" Target="../media/image180.emf"/><Relationship Id="rId2" Type="http://schemas.openxmlformats.org/officeDocument/2006/relationships/image" Target="../media/image179.emf"/><Relationship Id="rId1" Type="http://schemas.openxmlformats.org/officeDocument/2006/relationships/image" Target="../media/image178.e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3.w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4.e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emf"/><Relationship Id="rId2" Type="http://schemas.openxmlformats.org/officeDocument/2006/relationships/image" Target="../media/image186.emf"/><Relationship Id="rId1" Type="http://schemas.openxmlformats.org/officeDocument/2006/relationships/image" Target="../media/image18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29050" y="0"/>
            <a:ext cx="2930525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925"/>
            <a:ext cx="2930525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29050" y="9432925"/>
            <a:ext cx="2930525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DD05E7E9-25AF-47AB-A99C-B778320A449B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05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29050" y="0"/>
            <a:ext cx="29305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43E2403-9D3E-44E4-830B-FB018C08D7B0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98525" y="744538"/>
            <a:ext cx="4964113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6275" y="4718050"/>
            <a:ext cx="5408613" cy="44688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2925"/>
            <a:ext cx="2930525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29050" y="9432925"/>
            <a:ext cx="2930525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83CE56F-6029-4006-8792-D829587999A8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r>
              <a:rPr lang="en-US" altLang="zh-CN"/>
              <a:t>LT’</a:t>
            </a:r>
            <a:r>
              <a:rPr lang="zh-CN" altLang="en-US"/>
              <a:t>为灯测试输入信号，当其</a:t>
            </a:r>
            <a:r>
              <a:rPr lang="en-US" altLang="zh-CN"/>
              <a:t>=0</a:t>
            </a:r>
            <a:r>
              <a:rPr lang="zh-CN" altLang="en-US"/>
              <a:t>时，数码管的所有段均点亮，用来检查数码管是否能正常发光。</a:t>
            </a:r>
            <a:endParaRPr lang="zh-CN" altLang="en-US"/>
          </a:p>
          <a:p>
            <a:pPr eaLnBrk="1" hangingPunct="1">
              <a:spcBef>
                <a:spcPct val="0"/>
              </a:spcBef>
            </a:pPr>
            <a:r>
              <a:rPr lang="en-US" altLang="zh-CN"/>
              <a:t>RBI’</a:t>
            </a:r>
            <a:r>
              <a:rPr lang="zh-CN" altLang="en-US"/>
              <a:t>为灭零输入信号，当其</a:t>
            </a:r>
            <a:r>
              <a:rPr lang="en-US" altLang="zh-CN"/>
              <a:t>=0</a:t>
            </a:r>
            <a:r>
              <a:rPr lang="zh-CN" altLang="en-US"/>
              <a:t>时，显示零的数码管熄灭。</a:t>
            </a:r>
            <a:endParaRPr lang="zh-CN" altLang="en-US"/>
          </a:p>
          <a:p>
            <a:pPr eaLnBrk="1" hangingPunct="1">
              <a:spcBef>
                <a:spcPct val="0"/>
              </a:spcBef>
            </a:pPr>
            <a:r>
              <a:rPr lang="en-US" altLang="zh-CN"/>
              <a:t>RI’/RBO’</a:t>
            </a:r>
            <a:r>
              <a:rPr lang="zh-CN" altLang="en-US"/>
              <a:t>为灭灯输入</a:t>
            </a:r>
            <a:r>
              <a:rPr lang="en-US" altLang="zh-CN"/>
              <a:t>/</a:t>
            </a:r>
            <a:r>
              <a:rPr lang="zh-CN" altLang="en-US"/>
              <a:t>灭零输出信号，当其作为输入端时，其</a:t>
            </a:r>
            <a:r>
              <a:rPr lang="en-US" altLang="zh-CN"/>
              <a:t>=0</a:t>
            </a:r>
            <a:r>
              <a:rPr lang="zh-CN" altLang="en-US"/>
              <a:t>时，该数码管熄灭；当其作为输出端时，其</a:t>
            </a:r>
            <a:r>
              <a:rPr lang="en-US" altLang="zh-CN"/>
              <a:t>=0</a:t>
            </a:r>
            <a:r>
              <a:rPr lang="zh-CN" altLang="en-US"/>
              <a:t>表示译码器将本来该显示的零熄灭了。</a:t>
            </a:r>
            <a:endParaRPr lang="zh-CN" altLang="en-US"/>
          </a:p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602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5FA3FA6-AA0B-4E62-823B-6E4251D72816}" type="slidenum">
              <a:rPr lang="zh-CN" altLang="en-US" smtClean="0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zh-CN" altLang="en-US"/>
              <a:t>提示：可将</a:t>
            </a:r>
            <a:r>
              <a:rPr lang="en-US" altLang="zh-CN"/>
              <a:t>D2D1D0</a:t>
            </a:r>
            <a:r>
              <a:rPr lang="zh-CN" altLang="en-US"/>
              <a:t>接</a:t>
            </a:r>
            <a:r>
              <a:rPr lang="en-US" altLang="zh-CN"/>
              <a:t>283</a:t>
            </a:r>
            <a:r>
              <a:rPr lang="zh-CN" altLang="en-US"/>
              <a:t>的</a:t>
            </a:r>
            <a:r>
              <a:rPr lang="en-US" altLang="zh-CN"/>
              <a:t>A2A1A0</a:t>
            </a:r>
            <a:r>
              <a:rPr lang="zh-CN" altLang="en-US"/>
              <a:t>和</a:t>
            </a:r>
            <a:r>
              <a:rPr lang="en-US" altLang="zh-CN"/>
              <a:t>B3B2B1</a:t>
            </a:r>
            <a:r>
              <a:rPr lang="zh-CN" altLang="en-US"/>
              <a:t>上，</a:t>
            </a:r>
            <a:r>
              <a:rPr lang="en-US" altLang="zh-CN"/>
              <a:t>A3</a:t>
            </a:r>
            <a:r>
              <a:rPr lang="zh-CN" altLang="en-US"/>
              <a:t>和</a:t>
            </a:r>
            <a:r>
              <a:rPr lang="en-US" altLang="zh-CN"/>
              <a:t>B0</a:t>
            </a:r>
            <a:r>
              <a:rPr lang="zh-CN" altLang="en-US"/>
              <a:t>及</a:t>
            </a:r>
            <a:r>
              <a:rPr lang="en-US" altLang="zh-CN"/>
              <a:t>CI</a:t>
            </a:r>
            <a:r>
              <a:rPr lang="zh-CN" altLang="en-US"/>
              <a:t>接</a:t>
            </a:r>
            <a:r>
              <a:rPr lang="en-US" altLang="zh-CN"/>
              <a:t>0</a:t>
            </a:r>
            <a:r>
              <a:rPr lang="zh-CN" altLang="en-US"/>
              <a:t>，即可实现</a:t>
            </a:r>
            <a:r>
              <a:rPr lang="en-US" altLang="zh-CN"/>
              <a:t>Y=3X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870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8D39AA47-A442-4E4F-B8B6-7CF6F2EE36FB}" type="slidenum">
              <a:rPr lang="zh-CN" altLang="en-US" smtClean="0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9374EE-FF6F-45D0-B412-310684BB0F1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05812D-209C-4FD0-B0AB-B090021F480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C8754E-339A-4D69-A733-DF048EFA1EBC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65E842-8745-4C7C-A753-5DC434D1F0FC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2A7A3E-93B4-449E-88DA-4C25770C925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902273-5A0D-40CB-B1A5-740299D48D8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46A160-07C8-4CFF-89E0-A3C0E7FF1CD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92175F-0147-46DB-9591-2D0AF52144D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DC6910-F656-4179-8DC7-D0C105FB70B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5946D5-7E00-417A-AFCC-C7291DF925D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CC37BF-D47F-413A-98B9-7D1270E2859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85800" y="3197225"/>
            <a:ext cx="77724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1538286"/>
          </a:xfrm>
        </p:spPr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146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C32B33-E490-45A9-A851-BDD3F397E3EB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57200" y="1411288"/>
            <a:ext cx="8229600" cy="17462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73025" y="6400800"/>
            <a:ext cx="3200400" cy="28416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330825" y="6400800"/>
            <a:ext cx="3733800" cy="28416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322409-C284-4D15-811E-DA58B4CC6EE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85800" y="3143250"/>
            <a:ext cx="77724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143248"/>
            <a:ext cx="77724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43061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D54ACE-6F98-4DFE-93C1-18A675B2009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57200" y="1411288"/>
            <a:ext cx="8229600" cy="17462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6D2431-384B-44A1-A389-3F79E78200C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57200" y="1411288"/>
            <a:ext cx="8229600" cy="17462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C62B06-E099-4923-BD9F-25E2D20814EC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57200" y="1411288"/>
            <a:ext cx="8229600" cy="17462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3C255C-B0EC-41DE-B851-2629A5BAC83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30261A-5932-4828-8E83-560FEE5B0487}" type="slidenum">
              <a:rPr lang="zh-CN" altLang="en-US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786063" y="1054100"/>
            <a:ext cx="5903912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86050" y="228600"/>
            <a:ext cx="5900752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6050" y="1142984"/>
            <a:ext cx="5900750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5" y="1142984"/>
            <a:ext cx="2257408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FC6932-AA41-496F-ACB3-452DB6832C9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400800" cy="685800"/>
          </a:xfrm>
        </p:spPr>
        <p:txBody>
          <a:bodyPr/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01552" y="1143000"/>
            <a:ext cx="7223248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62200" y="5410200"/>
            <a:ext cx="5657888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C1C573-65FC-47DD-93E1-2C7382DE8B62}" type="slidenum">
              <a:rPr lang="zh-CN" altLang="en-US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57200" y="1411288"/>
            <a:ext cx="8229600" cy="17462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45D284-35AF-46BC-9661-1A463AB9746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15206" y="274638"/>
            <a:ext cx="1471594" cy="601188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686568" cy="601188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CDF763-B744-48F1-9DAE-D229D6A3C52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107626-3B5A-4BAA-80E9-EBE72C879B3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526419-06BA-45E6-B583-B700786DF74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176148-6DB4-41D5-96AE-B63EF91BAFE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C45F23-7AF7-4435-8954-0599F532C3CF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9670DA-885B-4280-85F9-EECAB9A71BB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122B44-9BA1-47C7-BE45-D0E4836D224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6B8D5C-D919-428C-9BC7-A54D8CD3829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D8B5A9-E5E5-4FF2-9406-974648D8740B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BA3BBA-8B9D-4D9F-BFE0-4D6B0C24AD1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2CC0A7-674A-4406-A5F1-AE331997666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95DD16-A642-4B66-B91A-2D20D673453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E1353E4-EF02-4A5E-B4D6-FDDDB46EFEF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E1353E4-EF02-4A5E-B4D6-FDDDB46EFEF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E1353E4-EF02-4A5E-B4D6-FDDDB46EFEF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E1353E4-EF02-4A5E-B4D6-FDDDB46EFEF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E1353E4-EF02-4A5E-B4D6-FDDDB46EFEF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E1353E4-EF02-4A5E-B4D6-FDDDB46EFEF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E1353E4-EF02-4A5E-B4D6-FDDDB46EFEF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E1353E4-EF02-4A5E-B4D6-FDDDB46EFEF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E1353E4-EF02-4A5E-B4D6-FDDDB46EFEF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E1353E4-EF02-4A5E-B4D6-FDDDB46EFEF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E1353E4-EF02-4A5E-B4D6-FDDDB46EFEF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4714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714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714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00D1A05-6B7D-48E2-A534-2A98109ABA06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613"/>
            <a:ext cx="9144000" cy="179387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051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2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lvl1pPr algn="ctr" eaLnBrk="1" latinLnBrk="0" hangingPunct="1">
              <a:defRPr kumimoji="0" sz="1100" b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6E6799F8-8D35-4683-A52B-5A7AD4826ABF}" type="slidenum">
              <a:rPr lang="zh-CN" altLang="en-US"/>
            </a:fld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795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anose="020B06030201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anose="020B06030201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anose="020B06030201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anose="020B0603020102020204" pitchFamily="34" charset="0"/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ß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Þ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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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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4714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714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714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DEDBAECD-7BA0-4D26-A0AE-CC5DF67B2E70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4714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714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714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E1353E4-EF02-4A5E-B4D6-FDDDB46EFEF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9.wmf"/><Relationship Id="rId7" Type="http://schemas.openxmlformats.org/officeDocument/2006/relationships/oleObject" Target="../embeddings/oleObject5.bin"/><Relationship Id="rId6" Type="http://schemas.openxmlformats.org/officeDocument/2006/relationships/image" Target="../media/image8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7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6.wmf"/><Relationship Id="rId10" Type="http://schemas.openxmlformats.org/officeDocument/2006/relationships/vmlDrawing" Target="../drawings/vmlDrawing2.vml"/><Relationship Id="rId1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2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11.wmf"/><Relationship Id="rId1" Type="http://schemas.openxmlformats.org/officeDocument/2006/relationships/oleObject" Target="../embeddings/oleObject7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6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15.wmf"/><Relationship Id="rId1" Type="http://schemas.openxmlformats.org/officeDocument/2006/relationships/oleObject" Target="../embeddings/oleObject10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wmf"/><Relationship Id="rId1" Type="http://schemas.openxmlformats.org/officeDocument/2006/relationships/oleObject" Target="../embeddings/oleObject12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3.wmf"/><Relationship Id="rId7" Type="http://schemas.openxmlformats.org/officeDocument/2006/relationships/oleObject" Target="../embeddings/oleObject16.bin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21.w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20.emf"/><Relationship Id="rId10" Type="http://schemas.openxmlformats.org/officeDocument/2006/relationships/vmlDrawing" Target="../drawings/vmlDrawing7.vml"/><Relationship Id="rId1" Type="http://schemas.openxmlformats.org/officeDocument/2006/relationships/oleObject" Target="../embeddings/oleObject13.bin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4.emf"/><Relationship Id="rId1" Type="http://schemas.openxmlformats.org/officeDocument/2006/relationships/oleObject" Target="../embeddings/oleObject17.bin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5.wmf"/><Relationship Id="rId1" Type="http://schemas.openxmlformats.org/officeDocument/2006/relationships/oleObject" Target="../embeddings/oleObject18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wmf"/><Relationship Id="rId8" Type="http://schemas.openxmlformats.org/officeDocument/2006/relationships/oleObject" Target="../embeddings/oleObject22.bin"/><Relationship Id="rId7" Type="http://schemas.openxmlformats.org/officeDocument/2006/relationships/image" Target="../media/image29.wmf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8.wmf"/><Relationship Id="rId42" Type="http://schemas.openxmlformats.org/officeDocument/2006/relationships/vmlDrawing" Target="../drawings/vmlDrawing10.vml"/><Relationship Id="rId41" Type="http://schemas.openxmlformats.org/officeDocument/2006/relationships/slideLayout" Target="../slideLayouts/slideLayout7.xml"/><Relationship Id="rId40" Type="http://schemas.openxmlformats.org/officeDocument/2006/relationships/image" Target="../media/image44.wmf"/><Relationship Id="rId4" Type="http://schemas.openxmlformats.org/officeDocument/2006/relationships/oleObject" Target="../embeddings/oleObject20.bin"/><Relationship Id="rId39" Type="http://schemas.openxmlformats.org/officeDocument/2006/relationships/oleObject" Target="../embeddings/oleObject39.bin"/><Relationship Id="rId38" Type="http://schemas.openxmlformats.org/officeDocument/2006/relationships/image" Target="../media/image43.wmf"/><Relationship Id="rId37" Type="http://schemas.openxmlformats.org/officeDocument/2006/relationships/oleObject" Target="../embeddings/oleObject38.bin"/><Relationship Id="rId36" Type="http://schemas.openxmlformats.org/officeDocument/2006/relationships/image" Target="../media/image42.wmf"/><Relationship Id="rId35" Type="http://schemas.openxmlformats.org/officeDocument/2006/relationships/oleObject" Target="../embeddings/oleObject37.bin"/><Relationship Id="rId34" Type="http://schemas.openxmlformats.org/officeDocument/2006/relationships/oleObject" Target="../embeddings/oleObject36.bin"/><Relationship Id="rId33" Type="http://schemas.openxmlformats.org/officeDocument/2006/relationships/image" Target="../media/image41.wmf"/><Relationship Id="rId32" Type="http://schemas.openxmlformats.org/officeDocument/2006/relationships/oleObject" Target="../embeddings/oleObject35.bin"/><Relationship Id="rId31" Type="http://schemas.openxmlformats.org/officeDocument/2006/relationships/oleObject" Target="../embeddings/oleObject34.bin"/><Relationship Id="rId30" Type="http://schemas.openxmlformats.org/officeDocument/2006/relationships/oleObject" Target="../embeddings/oleObject33.bin"/><Relationship Id="rId3" Type="http://schemas.openxmlformats.org/officeDocument/2006/relationships/image" Target="../media/image27.wmf"/><Relationship Id="rId29" Type="http://schemas.openxmlformats.org/officeDocument/2006/relationships/image" Target="../media/image40.wmf"/><Relationship Id="rId28" Type="http://schemas.openxmlformats.org/officeDocument/2006/relationships/oleObject" Target="../embeddings/oleObject32.bin"/><Relationship Id="rId27" Type="http://schemas.openxmlformats.org/officeDocument/2006/relationships/image" Target="../media/image39.wmf"/><Relationship Id="rId26" Type="http://schemas.openxmlformats.org/officeDocument/2006/relationships/oleObject" Target="../embeddings/oleObject31.bin"/><Relationship Id="rId25" Type="http://schemas.openxmlformats.org/officeDocument/2006/relationships/image" Target="../media/image38.wmf"/><Relationship Id="rId24" Type="http://schemas.openxmlformats.org/officeDocument/2006/relationships/oleObject" Target="../embeddings/oleObject30.bin"/><Relationship Id="rId23" Type="http://schemas.openxmlformats.org/officeDocument/2006/relationships/image" Target="../media/image37.wmf"/><Relationship Id="rId22" Type="http://schemas.openxmlformats.org/officeDocument/2006/relationships/oleObject" Target="../embeddings/oleObject29.bin"/><Relationship Id="rId21" Type="http://schemas.openxmlformats.org/officeDocument/2006/relationships/image" Target="../media/image36.wmf"/><Relationship Id="rId20" Type="http://schemas.openxmlformats.org/officeDocument/2006/relationships/oleObject" Target="../embeddings/oleObject28.bin"/><Relationship Id="rId2" Type="http://schemas.openxmlformats.org/officeDocument/2006/relationships/oleObject" Target="../embeddings/oleObject19.bin"/><Relationship Id="rId19" Type="http://schemas.openxmlformats.org/officeDocument/2006/relationships/image" Target="../media/image35.wmf"/><Relationship Id="rId18" Type="http://schemas.openxmlformats.org/officeDocument/2006/relationships/oleObject" Target="../embeddings/oleObject27.bin"/><Relationship Id="rId17" Type="http://schemas.openxmlformats.org/officeDocument/2006/relationships/image" Target="../media/image34.wmf"/><Relationship Id="rId16" Type="http://schemas.openxmlformats.org/officeDocument/2006/relationships/oleObject" Target="../embeddings/oleObject26.bin"/><Relationship Id="rId15" Type="http://schemas.openxmlformats.org/officeDocument/2006/relationships/image" Target="../media/image33.wmf"/><Relationship Id="rId14" Type="http://schemas.openxmlformats.org/officeDocument/2006/relationships/oleObject" Target="../embeddings/oleObject25.bin"/><Relationship Id="rId13" Type="http://schemas.openxmlformats.org/officeDocument/2006/relationships/image" Target="../media/image32.wmf"/><Relationship Id="rId12" Type="http://schemas.openxmlformats.org/officeDocument/2006/relationships/oleObject" Target="../embeddings/oleObject24.bin"/><Relationship Id="rId11" Type="http://schemas.openxmlformats.org/officeDocument/2006/relationships/image" Target="../media/image31.wmf"/><Relationship Id="rId10" Type="http://schemas.openxmlformats.org/officeDocument/2006/relationships/oleObject" Target="../embeddings/oleObject23.bin"/><Relationship Id="rId1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6.wmf"/><Relationship Id="rId8" Type="http://schemas.openxmlformats.org/officeDocument/2006/relationships/oleObject" Target="../embeddings/oleObject44.bin"/><Relationship Id="rId7" Type="http://schemas.openxmlformats.org/officeDocument/2006/relationships/oleObject" Target="../embeddings/oleObject43.bin"/><Relationship Id="rId6" Type="http://schemas.openxmlformats.org/officeDocument/2006/relationships/image" Target="../media/image34.w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27.wmf"/><Relationship Id="rId3" Type="http://schemas.openxmlformats.org/officeDocument/2006/relationships/oleObject" Target="../embeddings/oleObject41.bin"/><Relationship Id="rId22" Type="http://schemas.openxmlformats.org/officeDocument/2006/relationships/vmlDrawing" Target="../drawings/vmlDrawing11.vml"/><Relationship Id="rId21" Type="http://schemas.openxmlformats.org/officeDocument/2006/relationships/slideLayout" Target="../slideLayouts/slideLayout7.xml"/><Relationship Id="rId20" Type="http://schemas.openxmlformats.org/officeDocument/2006/relationships/oleObject" Target="../embeddings/oleObject51.bin"/><Relationship Id="rId2" Type="http://schemas.openxmlformats.org/officeDocument/2006/relationships/image" Target="../media/image45.emf"/><Relationship Id="rId19" Type="http://schemas.openxmlformats.org/officeDocument/2006/relationships/oleObject" Target="../embeddings/oleObject50.bin"/><Relationship Id="rId18" Type="http://schemas.openxmlformats.org/officeDocument/2006/relationships/oleObject" Target="../embeddings/oleObject49.bin"/><Relationship Id="rId17" Type="http://schemas.openxmlformats.org/officeDocument/2006/relationships/oleObject" Target="../embeddings/oleObject48.bin"/><Relationship Id="rId16" Type="http://schemas.openxmlformats.org/officeDocument/2006/relationships/image" Target="../media/image48.png"/><Relationship Id="rId15" Type="http://schemas.openxmlformats.org/officeDocument/2006/relationships/image" Target="../media/image36.wmf"/><Relationship Id="rId14" Type="http://schemas.openxmlformats.org/officeDocument/2006/relationships/oleObject" Target="../embeddings/oleObject47.bin"/><Relationship Id="rId13" Type="http://schemas.openxmlformats.org/officeDocument/2006/relationships/image" Target="../media/image35.wmf"/><Relationship Id="rId12" Type="http://schemas.openxmlformats.org/officeDocument/2006/relationships/oleObject" Target="../embeddings/oleObject46.bin"/><Relationship Id="rId11" Type="http://schemas.openxmlformats.org/officeDocument/2006/relationships/image" Target="../media/image47.wmf"/><Relationship Id="rId10" Type="http://schemas.openxmlformats.org/officeDocument/2006/relationships/oleObject" Target="../embeddings/oleObject45.bin"/><Relationship Id="rId1" Type="http://schemas.openxmlformats.org/officeDocument/2006/relationships/oleObject" Target="../embeddings/oleObject40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wmf"/><Relationship Id="rId8" Type="http://schemas.openxmlformats.org/officeDocument/2006/relationships/oleObject" Target="../embeddings/oleObject55.bin"/><Relationship Id="rId7" Type="http://schemas.openxmlformats.org/officeDocument/2006/relationships/image" Target="../media/image52.wmf"/><Relationship Id="rId6" Type="http://schemas.openxmlformats.org/officeDocument/2006/relationships/oleObject" Target="../embeddings/oleObject54.bin"/><Relationship Id="rId5" Type="http://schemas.openxmlformats.org/officeDocument/2006/relationships/image" Target="../media/image51.wmf"/><Relationship Id="rId4" Type="http://schemas.openxmlformats.org/officeDocument/2006/relationships/oleObject" Target="../embeddings/oleObject53.bin"/><Relationship Id="rId3" Type="http://schemas.openxmlformats.org/officeDocument/2006/relationships/image" Target="../media/image50.png"/><Relationship Id="rId2" Type="http://schemas.openxmlformats.org/officeDocument/2006/relationships/image" Target="../media/image49.wmf"/><Relationship Id="rId11" Type="http://schemas.openxmlformats.org/officeDocument/2006/relationships/vmlDrawing" Target="../drawings/vmlDrawing12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52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7.wmf"/><Relationship Id="rId8" Type="http://schemas.openxmlformats.org/officeDocument/2006/relationships/oleObject" Target="../embeddings/oleObject59.bin"/><Relationship Id="rId7" Type="http://schemas.openxmlformats.org/officeDocument/2006/relationships/image" Target="../media/image56.wmf"/><Relationship Id="rId6" Type="http://schemas.openxmlformats.org/officeDocument/2006/relationships/oleObject" Target="../embeddings/oleObject58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57.bin"/><Relationship Id="rId3" Type="http://schemas.openxmlformats.org/officeDocument/2006/relationships/image" Target="../media/image55.png"/><Relationship Id="rId2" Type="http://schemas.openxmlformats.org/officeDocument/2006/relationships/image" Target="../media/image54.emf"/><Relationship Id="rId13" Type="http://schemas.openxmlformats.org/officeDocument/2006/relationships/vmlDrawing" Target="../drawings/vmlDrawing13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47.wmf"/><Relationship Id="rId10" Type="http://schemas.openxmlformats.org/officeDocument/2006/relationships/oleObject" Target="../embeddings/oleObject60.bin"/><Relationship Id="rId1" Type="http://schemas.openxmlformats.org/officeDocument/2006/relationships/oleObject" Target="../embeddings/oleObject56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1.wmf"/><Relationship Id="rId7" Type="http://schemas.openxmlformats.org/officeDocument/2006/relationships/oleObject" Target="../embeddings/oleObject64.bin"/><Relationship Id="rId6" Type="http://schemas.openxmlformats.org/officeDocument/2006/relationships/image" Target="../media/image60.wmf"/><Relationship Id="rId5" Type="http://schemas.openxmlformats.org/officeDocument/2006/relationships/oleObject" Target="../embeddings/oleObject63.bin"/><Relationship Id="rId4" Type="http://schemas.openxmlformats.org/officeDocument/2006/relationships/image" Target="../media/image59.wmf"/><Relationship Id="rId3" Type="http://schemas.openxmlformats.org/officeDocument/2006/relationships/oleObject" Target="../embeddings/oleObject62.bin"/><Relationship Id="rId2" Type="http://schemas.openxmlformats.org/officeDocument/2006/relationships/image" Target="../media/image58.wmf"/><Relationship Id="rId10" Type="http://schemas.openxmlformats.org/officeDocument/2006/relationships/vmlDrawing" Target="../drawings/vmlDrawing14.vml"/><Relationship Id="rId1" Type="http://schemas.openxmlformats.org/officeDocument/2006/relationships/oleObject" Target="../embeddings/oleObject61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6.wmf"/><Relationship Id="rId8" Type="http://schemas.openxmlformats.org/officeDocument/2006/relationships/oleObject" Target="../embeddings/oleObject68.bin"/><Relationship Id="rId7" Type="http://schemas.openxmlformats.org/officeDocument/2006/relationships/image" Target="../media/image65.wmf"/><Relationship Id="rId6" Type="http://schemas.openxmlformats.org/officeDocument/2006/relationships/oleObject" Target="../embeddings/oleObject67.bin"/><Relationship Id="rId5" Type="http://schemas.openxmlformats.org/officeDocument/2006/relationships/image" Target="../media/image64.wmf"/><Relationship Id="rId4" Type="http://schemas.openxmlformats.org/officeDocument/2006/relationships/oleObject" Target="../embeddings/oleObject66.bin"/><Relationship Id="rId35" Type="http://schemas.openxmlformats.org/officeDocument/2006/relationships/vmlDrawing" Target="../drawings/vmlDrawing15.vml"/><Relationship Id="rId34" Type="http://schemas.openxmlformats.org/officeDocument/2006/relationships/slideLayout" Target="../slideLayouts/slideLayout7.xml"/><Relationship Id="rId33" Type="http://schemas.openxmlformats.org/officeDocument/2006/relationships/image" Target="../media/image78.wmf"/><Relationship Id="rId32" Type="http://schemas.openxmlformats.org/officeDocument/2006/relationships/oleObject" Target="../embeddings/oleObject80.bin"/><Relationship Id="rId31" Type="http://schemas.openxmlformats.org/officeDocument/2006/relationships/image" Target="../media/image77.wmf"/><Relationship Id="rId30" Type="http://schemas.openxmlformats.org/officeDocument/2006/relationships/oleObject" Target="../embeddings/oleObject79.bin"/><Relationship Id="rId3" Type="http://schemas.openxmlformats.org/officeDocument/2006/relationships/image" Target="../media/image63.wmf"/><Relationship Id="rId29" Type="http://schemas.openxmlformats.org/officeDocument/2006/relationships/image" Target="../media/image76.wmf"/><Relationship Id="rId28" Type="http://schemas.openxmlformats.org/officeDocument/2006/relationships/oleObject" Target="../embeddings/oleObject78.bin"/><Relationship Id="rId27" Type="http://schemas.openxmlformats.org/officeDocument/2006/relationships/image" Target="../media/image75.wmf"/><Relationship Id="rId26" Type="http://schemas.openxmlformats.org/officeDocument/2006/relationships/oleObject" Target="../embeddings/oleObject77.bin"/><Relationship Id="rId25" Type="http://schemas.openxmlformats.org/officeDocument/2006/relationships/image" Target="../media/image74.wmf"/><Relationship Id="rId24" Type="http://schemas.openxmlformats.org/officeDocument/2006/relationships/oleObject" Target="../embeddings/oleObject76.bin"/><Relationship Id="rId23" Type="http://schemas.openxmlformats.org/officeDocument/2006/relationships/image" Target="../media/image73.wmf"/><Relationship Id="rId22" Type="http://schemas.openxmlformats.org/officeDocument/2006/relationships/oleObject" Target="../embeddings/oleObject75.bin"/><Relationship Id="rId21" Type="http://schemas.openxmlformats.org/officeDocument/2006/relationships/image" Target="../media/image72.wmf"/><Relationship Id="rId20" Type="http://schemas.openxmlformats.org/officeDocument/2006/relationships/oleObject" Target="../embeddings/oleObject74.bin"/><Relationship Id="rId2" Type="http://schemas.openxmlformats.org/officeDocument/2006/relationships/oleObject" Target="../embeddings/oleObject65.bin"/><Relationship Id="rId19" Type="http://schemas.openxmlformats.org/officeDocument/2006/relationships/image" Target="../media/image71.wmf"/><Relationship Id="rId18" Type="http://schemas.openxmlformats.org/officeDocument/2006/relationships/oleObject" Target="../embeddings/oleObject73.bin"/><Relationship Id="rId17" Type="http://schemas.openxmlformats.org/officeDocument/2006/relationships/image" Target="../media/image70.wmf"/><Relationship Id="rId16" Type="http://schemas.openxmlformats.org/officeDocument/2006/relationships/oleObject" Target="../embeddings/oleObject72.bin"/><Relationship Id="rId15" Type="http://schemas.openxmlformats.org/officeDocument/2006/relationships/image" Target="../media/image69.wmf"/><Relationship Id="rId14" Type="http://schemas.openxmlformats.org/officeDocument/2006/relationships/oleObject" Target="../embeddings/oleObject71.bin"/><Relationship Id="rId13" Type="http://schemas.openxmlformats.org/officeDocument/2006/relationships/image" Target="../media/image68.wmf"/><Relationship Id="rId12" Type="http://schemas.openxmlformats.org/officeDocument/2006/relationships/oleObject" Target="../embeddings/oleObject70.bin"/><Relationship Id="rId11" Type="http://schemas.openxmlformats.org/officeDocument/2006/relationships/image" Target="../media/image67.wmf"/><Relationship Id="rId10" Type="http://schemas.openxmlformats.org/officeDocument/2006/relationships/oleObject" Target="../embeddings/oleObject69.bin"/><Relationship Id="rId1" Type="http://schemas.openxmlformats.org/officeDocument/2006/relationships/image" Target="../media/image62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83.wmf"/><Relationship Id="rId8" Type="http://schemas.openxmlformats.org/officeDocument/2006/relationships/oleObject" Target="../embeddings/oleObject84.bin"/><Relationship Id="rId7" Type="http://schemas.openxmlformats.org/officeDocument/2006/relationships/image" Target="../media/image82.wmf"/><Relationship Id="rId6" Type="http://schemas.openxmlformats.org/officeDocument/2006/relationships/oleObject" Target="../embeddings/oleObject83.bin"/><Relationship Id="rId5" Type="http://schemas.openxmlformats.org/officeDocument/2006/relationships/image" Target="../media/image81.wmf"/><Relationship Id="rId4" Type="http://schemas.openxmlformats.org/officeDocument/2006/relationships/oleObject" Target="../embeddings/oleObject82.bin"/><Relationship Id="rId3" Type="http://schemas.openxmlformats.org/officeDocument/2006/relationships/image" Target="../media/image80.wmf"/><Relationship Id="rId22" Type="http://schemas.openxmlformats.org/officeDocument/2006/relationships/vmlDrawing" Target="../drawings/vmlDrawing16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89.emf"/><Relationship Id="rId2" Type="http://schemas.openxmlformats.org/officeDocument/2006/relationships/oleObject" Target="../embeddings/oleObject81.bin"/><Relationship Id="rId19" Type="http://schemas.openxmlformats.org/officeDocument/2006/relationships/oleObject" Target="../embeddings/oleObject89.bin"/><Relationship Id="rId18" Type="http://schemas.openxmlformats.org/officeDocument/2006/relationships/image" Target="../media/image88.png"/><Relationship Id="rId17" Type="http://schemas.openxmlformats.org/officeDocument/2006/relationships/image" Target="../media/image87.wmf"/><Relationship Id="rId16" Type="http://schemas.openxmlformats.org/officeDocument/2006/relationships/oleObject" Target="../embeddings/oleObject88.bin"/><Relationship Id="rId15" Type="http://schemas.openxmlformats.org/officeDocument/2006/relationships/image" Target="../media/image86.wmf"/><Relationship Id="rId14" Type="http://schemas.openxmlformats.org/officeDocument/2006/relationships/oleObject" Target="../embeddings/oleObject87.bin"/><Relationship Id="rId13" Type="http://schemas.openxmlformats.org/officeDocument/2006/relationships/image" Target="../media/image85.wmf"/><Relationship Id="rId12" Type="http://schemas.openxmlformats.org/officeDocument/2006/relationships/oleObject" Target="../embeddings/oleObject86.bin"/><Relationship Id="rId11" Type="http://schemas.openxmlformats.org/officeDocument/2006/relationships/image" Target="../media/image84.wmf"/><Relationship Id="rId10" Type="http://schemas.openxmlformats.org/officeDocument/2006/relationships/oleObject" Target="../embeddings/oleObject85.bin"/><Relationship Id="rId1" Type="http://schemas.openxmlformats.org/officeDocument/2006/relationships/image" Target="../media/image7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1" Type="http://schemas.openxmlformats.org/officeDocument/2006/relationships/image" Target="../media/image9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2" Type="http://schemas.openxmlformats.org/officeDocument/2006/relationships/image" Target="../media/image92.png"/><Relationship Id="rId1" Type="http://schemas.openxmlformats.org/officeDocument/2006/relationships/image" Target="../media/image91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94.wmf"/><Relationship Id="rId8" Type="http://schemas.openxmlformats.org/officeDocument/2006/relationships/oleObject" Target="../embeddings/oleObject93.bin"/><Relationship Id="rId7" Type="http://schemas.openxmlformats.org/officeDocument/2006/relationships/image" Target="../media/image76.wmf"/><Relationship Id="rId6" Type="http://schemas.openxmlformats.org/officeDocument/2006/relationships/oleObject" Target="../embeddings/oleObject92.bin"/><Relationship Id="rId51" Type="http://schemas.openxmlformats.org/officeDocument/2006/relationships/vmlDrawing" Target="../drawings/vmlDrawing17.vml"/><Relationship Id="rId50" Type="http://schemas.openxmlformats.org/officeDocument/2006/relationships/slideLayout" Target="../slideLayouts/slideLayout7.xml"/><Relationship Id="rId5" Type="http://schemas.openxmlformats.org/officeDocument/2006/relationships/image" Target="../media/image75.wmf"/><Relationship Id="rId49" Type="http://schemas.openxmlformats.org/officeDocument/2006/relationships/image" Target="../media/image106.wmf"/><Relationship Id="rId48" Type="http://schemas.openxmlformats.org/officeDocument/2006/relationships/oleObject" Target="../embeddings/oleObject113.bin"/><Relationship Id="rId47" Type="http://schemas.openxmlformats.org/officeDocument/2006/relationships/image" Target="../media/image105.wmf"/><Relationship Id="rId46" Type="http://schemas.openxmlformats.org/officeDocument/2006/relationships/oleObject" Target="../embeddings/oleObject112.bin"/><Relationship Id="rId45" Type="http://schemas.openxmlformats.org/officeDocument/2006/relationships/image" Target="../media/image104.wmf"/><Relationship Id="rId44" Type="http://schemas.openxmlformats.org/officeDocument/2006/relationships/oleObject" Target="../embeddings/oleObject111.bin"/><Relationship Id="rId43" Type="http://schemas.openxmlformats.org/officeDocument/2006/relationships/image" Target="../media/image103.wmf"/><Relationship Id="rId42" Type="http://schemas.openxmlformats.org/officeDocument/2006/relationships/oleObject" Target="../embeddings/oleObject110.bin"/><Relationship Id="rId41" Type="http://schemas.openxmlformats.org/officeDocument/2006/relationships/image" Target="../media/image102.wmf"/><Relationship Id="rId40" Type="http://schemas.openxmlformats.org/officeDocument/2006/relationships/oleObject" Target="../embeddings/oleObject109.bin"/><Relationship Id="rId4" Type="http://schemas.openxmlformats.org/officeDocument/2006/relationships/oleObject" Target="../embeddings/oleObject91.bin"/><Relationship Id="rId39" Type="http://schemas.openxmlformats.org/officeDocument/2006/relationships/image" Target="../media/image101.wmf"/><Relationship Id="rId38" Type="http://schemas.openxmlformats.org/officeDocument/2006/relationships/oleObject" Target="../embeddings/oleObject108.bin"/><Relationship Id="rId37" Type="http://schemas.openxmlformats.org/officeDocument/2006/relationships/image" Target="../media/image100.wmf"/><Relationship Id="rId36" Type="http://schemas.openxmlformats.org/officeDocument/2006/relationships/oleObject" Target="../embeddings/oleObject107.bin"/><Relationship Id="rId35" Type="http://schemas.openxmlformats.org/officeDocument/2006/relationships/image" Target="../media/image99.wmf"/><Relationship Id="rId34" Type="http://schemas.openxmlformats.org/officeDocument/2006/relationships/oleObject" Target="../embeddings/oleObject106.bin"/><Relationship Id="rId33" Type="http://schemas.openxmlformats.org/officeDocument/2006/relationships/image" Target="../media/image98.wmf"/><Relationship Id="rId32" Type="http://schemas.openxmlformats.org/officeDocument/2006/relationships/oleObject" Target="../embeddings/oleObject105.bin"/><Relationship Id="rId31" Type="http://schemas.openxmlformats.org/officeDocument/2006/relationships/image" Target="../media/image97.wmf"/><Relationship Id="rId30" Type="http://schemas.openxmlformats.org/officeDocument/2006/relationships/oleObject" Target="../embeddings/oleObject104.bin"/><Relationship Id="rId3" Type="http://schemas.openxmlformats.org/officeDocument/2006/relationships/image" Target="../media/image71.wmf"/><Relationship Id="rId29" Type="http://schemas.openxmlformats.org/officeDocument/2006/relationships/image" Target="../media/image96.wmf"/><Relationship Id="rId28" Type="http://schemas.openxmlformats.org/officeDocument/2006/relationships/oleObject" Target="../embeddings/oleObject103.bin"/><Relationship Id="rId27" Type="http://schemas.openxmlformats.org/officeDocument/2006/relationships/image" Target="../media/image95.wmf"/><Relationship Id="rId26" Type="http://schemas.openxmlformats.org/officeDocument/2006/relationships/oleObject" Target="../embeddings/oleObject102.bin"/><Relationship Id="rId25" Type="http://schemas.openxmlformats.org/officeDocument/2006/relationships/image" Target="../media/image70.wmf"/><Relationship Id="rId24" Type="http://schemas.openxmlformats.org/officeDocument/2006/relationships/oleObject" Target="../embeddings/oleObject101.bin"/><Relationship Id="rId23" Type="http://schemas.openxmlformats.org/officeDocument/2006/relationships/image" Target="../media/image69.wmf"/><Relationship Id="rId22" Type="http://schemas.openxmlformats.org/officeDocument/2006/relationships/oleObject" Target="../embeddings/oleObject100.bin"/><Relationship Id="rId21" Type="http://schemas.openxmlformats.org/officeDocument/2006/relationships/image" Target="../media/image68.wmf"/><Relationship Id="rId20" Type="http://schemas.openxmlformats.org/officeDocument/2006/relationships/oleObject" Target="../embeddings/oleObject99.bin"/><Relationship Id="rId2" Type="http://schemas.openxmlformats.org/officeDocument/2006/relationships/oleObject" Target="../embeddings/oleObject90.bin"/><Relationship Id="rId19" Type="http://schemas.openxmlformats.org/officeDocument/2006/relationships/image" Target="../media/image67.wmf"/><Relationship Id="rId18" Type="http://schemas.openxmlformats.org/officeDocument/2006/relationships/oleObject" Target="../embeddings/oleObject98.bin"/><Relationship Id="rId17" Type="http://schemas.openxmlformats.org/officeDocument/2006/relationships/image" Target="../media/image66.wmf"/><Relationship Id="rId16" Type="http://schemas.openxmlformats.org/officeDocument/2006/relationships/oleObject" Target="../embeddings/oleObject97.bin"/><Relationship Id="rId15" Type="http://schemas.openxmlformats.org/officeDocument/2006/relationships/image" Target="../media/image65.wmf"/><Relationship Id="rId14" Type="http://schemas.openxmlformats.org/officeDocument/2006/relationships/oleObject" Target="../embeddings/oleObject96.bin"/><Relationship Id="rId13" Type="http://schemas.openxmlformats.org/officeDocument/2006/relationships/image" Target="../media/image64.wmf"/><Relationship Id="rId12" Type="http://schemas.openxmlformats.org/officeDocument/2006/relationships/oleObject" Target="../embeddings/oleObject95.bin"/><Relationship Id="rId11" Type="http://schemas.openxmlformats.org/officeDocument/2006/relationships/image" Target="../media/image63.wmf"/><Relationship Id="rId10" Type="http://schemas.openxmlformats.org/officeDocument/2006/relationships/oleObject" Target="../embeddings/oleObject94.bin"/><Relationship Id="rId1" Type="http://schemas.openxmlformats.org/officeDocument/2006/relationships/image" Target="../media/image9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9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image" Target="../media/image1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3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4.png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8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17.emf"/><Relationship Id="rId3" Type="http://schemas.openxmlformats.org/officeDocument/2006/relationships/oleObject" Target="../embeddings/oleObject114.bin"/><Relationship Id="rId2" Type="http://schemas.openxmlformats.org/officeDocument/2006/relationships/image" Target="../media/image116.png"/><Relationship Id="rId1" Type="http://schemas.openxmlformats.org/officeDocument/2006/relationships/image" Target="../media/image11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8.png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9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0.png"/><Relationship Id="rId2" Type="http://schemas.openxmlformats.org/officeDocument/2006/relationships/image" Target="../media/image119.emf"/><Relationship Id="rId1" Type="http://schemas.openxmlformats.org/officeDocument/2006/relationships/oleObject" Target="../embeddings/oleObject115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0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wmf"/><Relationship Id="rId3" Type="http://schemas.openxmlformats.org/officeDocument/2006/relationships/oleObject" Target="../embeddings/oleObject117.bin"/><Relationship Id="rId2" Type="http://schemas.openxmlformats.org/officeDocument/2006/relationships/image" Target="../media/image121.wmf"/><Relationship Id="rId1" Type="http://schemas.openxmlformats.org/officeDocument/2006/relationships/oleObject" Target="../embeddings/oleObject116.bin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26.wmf"/><Relationship Id="rId3" Type="http://schemas.openxmlformats.org/officeDocument/2006/relationships/oleObject" Target="../embeddings/oleObject119.bin"/><Relationship Id="rId2" Type="http://schemas.openxmlformats.org/officeDocument/2006/relationships/image" Target="../media/image125.wmf"/><Relationship Id="rId1" Type="http://schemas.openxmlformats.org/officeDocument/2006/relationships/oleObject" Target="../embeddings/oleObject118.bin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.xml"/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image" Target="../media/image127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0.png"/></Relationships>
</file>

<file path=ppt/slides/_rels/slide4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2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33.wmf"/><Relationship Id="rId3" Type="http://schemas.openxmlformats.org/officeDocument/2006/relationships/oleObject" Target="../embeddings/oleObject120.bin"/><Relationship Id="rId2" Type="http://schemas.openxmlformats.org/officeDocument/2006/relationships/image" Target="../media/image132.png"/><Relationship Id="rId1" Type="http://schemas.openxmlformats.org/officeDocument/2006/relationships/image" Target="../media/image131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5.png"/><Relationship Id="rId1" Type="http://schemas.openxmlformats.org/officeDocument/2006/relationships/image" Target="../media/image134.png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3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39.png"/><Relationship Id="rId6" Type="http://schemas.openxmlformats.org/officeDocument/2006/relationships/image" Target="../media/image138.emf"/><Relationship Id="rId5" Type="http://schemas.openxmlformats.org/officeDocument/2006/relationships/oleObject" Target="../embeddings/oleObject123.bin"/><Relationship Id="rId4" Type="http://schemas.openxmlformats.org/officeDocument/2006/relationships/image" Target="../media/image137.emf"/><Relationship Id="rId3" Type="http://schemas.openxmlformats.org/officeDocument/2006/relationships/oleObject" Target="../embeddings/oleObject122.bin"/><Relationship Id="rId2" Type="http://schemas.openxmlformats.org/officeDocument/2006/relationships/image" Target="../media/image136.emf"/><Relationship Id="rId1" Type="http://schemas.openxmlformats.org/officeDocument/2006/relationships/oleObject" Target="../embeddings/oleObject121.bin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1" Type="http://schemas.openxmlformats.org/officeDocument/2006/relationships/image" Target="../media/image141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3.png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4.emf"/><Relationship Id="rId1" Type="http://schemas.openxmlformats.org/officeDocument/2006/relationships/oleObject" Target="../embeddings/oleObject124.bin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9.bin"/><Relationship Id="rId8" Type="http://schemas.openxmlformats.org/officeDocument/2006/relationships/image" Target="../media/image148.emf"/><Relationship Id="rId7" Type="http://schemas.openxmlformats.org/officeDocument/2006/relationships/oleObject" Target="../embeddings/oleObject128.bin"/><Relationship Id="rId6" Type="http://schemas.openxmlformats.org/officeDocument/2006/relationships/image" Target="../media/image147.emf"/><Relationship Id="rId5" Type="http://schemas.openxmlformats.org/officeDocument/2006/relationships/oleObject" Target="../embeddings/oleObject127.bin"/><Relationship Id="rId4" Type="http://schemas.openxmlformats.org/officeDocument/2006/relationships/image" Target="../media/image146.wmf"/><Relationship Id="rId3" Type="http://schemas.openxmlformats.org/officeDocument/2006/relationships/oleObject" Target="../embeddings/oleObject126.bin"/><Relationship Id="rId20" Type="http://schemas.openxmlformats.org/officeDocument/2006/relationships/vmlDrawing" Target="../drawings/vmlDrawing25.vml"/><Relationship Id="rId2" Type="http://schemas.openxmlformats.org/officeDocument/2006/relationships/image" Target="../media/image145.w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153.wmf"/><Relationship Id="rId17" Type="http://schemas.openxmlformats.org/officeDocument/2006/relationships/oleObject" Target="../embeddings/oleObject133.bin"/><Relationship Id="rId16" Type="http://schemas.openxmlformats.org/officeDocument/2006/relationships/image" Target="../media/image152.wmf"/><Relationship Id="rId15" Type="http://schemas.openxmlformats.org/officeDocument/2006/relationships/oleObject" Target="../embeddings/oleObject132.bin"/><Relationship Id="rId14" Type="http://schemas.openxmlformats.org/officeDocument/2006/relationships/image" Target="../media/image151.wmf"/><Relationship Id="rId13" Type="http://schemas.openxmlformats.org/officeDocument/2006/relationships/oleObject" Target="../embeddings/oleObject131.bin"/><Relationship Id="rId12" Type="http://schemas.openxmlformats.org/officeDocument/2006/relationships/image" Target="../media/image150.emf"/><Relationship Id="rId11" Type="http://schemas.openxmlformats.org/officeDocument/2006/relationships/oleObject" Target="../embeddings/oleObject130.bin"/><Relationship Id="rId10" Type="http://schemas.openxmlformats.org/officeDocument/2006/relationships/image" Target="../media/image149.emf"/><Relationship Id="rId1" Type="http://schemas.openxmlformats.org/officeDocument/2006/relationships/oleObject" Target="../embeddings/oleObject125.bin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4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6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5.emf"/><Relationship Id="rId1" Type="http://schemas.openxmlformats.org/officeDocument/2006/relationships/oleObject" Target="../embeddings/oleObject134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7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58.emf"/><Relationship Id="rId5" Type="http://schemas.openxmlformats.org/officeDocument/2006/relationships/oleObject" Target="../embeddings/oleObject137.bin"/><Relationship Id="rId4" Type="http://schemas.openxmlformats.org/officeDocument/2006/relationships/image" Target="../media/image157.wmf"/><Relationship Id="rId3" Type="http://schemas.openxmlformats.org/officeDocument/2006/relationships/oleObject" Target="../embeddings/oleObject136.bin"/><Relationship Id="rId2" Type="http://schemas.openxmlformats.org/officeDocument/2006/relationships/image" Target="../media/image156.wmf"/><Relationship Id="rId1" Type="http://schemas.openxmlformats.org/officeDocument/2006/relationships/oleObject" Target="../embeddings/oleObject135.bin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8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60.wmf"/><Relationship Id="rId3" Type="http://schemas.openxmlformats.org/officeDocument/2006/relationships/oleObject" Target="../embeddings/oleObject139.bin"/><Relationship Id="rId2" Type="http://schemas.openxmlformats.org/officeDocument/2006/relationships/image" Target="../media/image159.emf"/><Relationship Id="rId1" Type="http://schemas.openxmlformats.org/officeDocument/2006/relationships/oleObject" Target="../embeddings/oleObject138.bin"/></Relationships>
</file>

<file path=ppt/slides/_rels/slide6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9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62.png"/><Relationship Id="rId2" Type="http://schemas.openxmlformats.org/officeDocument/2006/relationships/image" Target="../media/image161.wmf"/><Relationship Id="rId1" Type="http://schemas.openxmlformats.org/officeDocument/2006/relationships/oleObject" Target="../embeddings/oleObject140.bin"/></Relationships>
</file>

<file path=ppt/slides/_rels/slide6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vmlDrawing" Target="../drawings/vmlDrawing30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64.png"/><Relationship Id="rId3" Type="http://schemas.openxmlformats.org/officeDocument/2006/relationships/oleObject" Target="../embeddings/oleObject142.bin"/><Relationship Id="rId2" Type="http://schemas.openxmlformats.org/officeDocument/2006/relationships/image" Target="../media/image163.png"/><Relationship Id="rId1" Type="http://schemas.openxmlformats.org/officeDocument/2006/relationships/oleObject" Target="../embeddings/oleObject141.bin"/></Relationships>
</file>

<file path=ppt/slides/_rels/slide6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66.emf"/><Relationship Id="rId3" Type="http://schemas.openxmlformats.org/officeDocument/2006/relationships/oleObject" Target="../embeddings/oleObject144.bin"/><Relationship Id="rId2" Type="http://schemas.openxmlformats.org/officeDocument/2006/relationships/image" Target="../media/image165.emf"/><Relationship Id="rId1" Type="http://schemas.openxmlformats.org/officeDocument/2006/relationships/oleObject" Target="../embeddings/oleObject143.bin"/></Relationships>
</file>

<file path=ppt/slides/_rels/slide6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2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68.emf"/><Relationship Id="rId3" Type="http://schemas.openxmlformats.org/officeDocument/2006/relationships/oleObject" Target="../embeddings/oleObject146.bin"/><Relationship Id="rId2" Type="http://schemas.openxmlformats.org/officeDocument/2006/relationships/image" Target="../media/image167.emf"/><Relationship Id="rId1" Type="http://schemas.openxmlformats.org/officeDocument/2006/relationships/oleObject" Target="../embeddings/oleObject145.bin"/></Relationships>
</file>

<file path=ppt/slides/_rels/slide6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70.emf"/><Relationship Id="rId3" Type="http://schemas.openxmlformats.org/officeDocument/2006/relationships/oleObject" Target="../embeddings/oleObject148.bin"/><Relationship Id="rId2" Type="http://schemas.openxmlformats.org/officeDocument/2006/relationships/image" Target="../media/image169.emf"/><Relationship Id="rId1" Type="http://schemas.openxmlformats.org/officeDocument/2006/relationships/oleObject" Target="../embeddings/oleObject147.bin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4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73.emf"/><Relationship Id="rId5" Type="http://schemas.openxmlformats.org/officeDocument/2006/relationships/oleObject" Target="../embeddings/oleObject151.bin"/><Relationship Id="rId4" Type="http://schemas.openxmlformats.org/officeDocument/2006/relationships/image" Target="../media/image172.emf"/><Relationship Id="rId3" Type="http://schemas.openxmlformats.org/officeDocument/2006/relationships/oleObject" Target="../embeddings/oleObject150.bin"/><Relationship Id="rId2" Type="http://schemas.openxmlformats.org/officeDocument/2006/relationships/image" Target="../media/image171.emf"/><Relationship Id="rId1" Type="http://schemas.openxmlformats.org/officeDocument/2006/relationships/oleObject" Target="../embeddings/oleObject149.bin"/></Relationships>
</file>

<file path=ppt/slides/_rels/slide6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77.emf"/><Relationship Id="rId7" Type="http://schemas.openxmlformats.org/officeDocument/2006/relationships/oleObject" Target="../embeddings/oleObject155.bin"/><Relationship Id="rId6" Type="http://schemas.openxmlformats.org/officeDocument/2006/relationships/image" Target="../media/image176.emf"/><Relationship Id="rId5" Type="http://schemas.openxmlformats.org/officeDocument/2006/relationships/oleObject" Target="../embeddings/oleObject154.bin"/><Relationship Id="rId4" Type="http://schemas.openxmlformats.org/officeDocument/2006/relationships/image" Target="../media/image175.emf"/><Relationship Id="rId3" Type="http://schemas.openxmlformats.org/officeDocument/2006/relationships/oleObject" Target="../embeddings/oleObject153.bin"/><Relationship Id="rId2" Type="http://schemas.openxmlformats.org/officeDocument/2006/relationships/image" Target="../media/image174.emf"/><Relationship Id="rId10" Type="http://schemas.openxmlformats.org/officeDocument/2006/relationships/vmlDrawing" Target="../drawings/vmlDrawing35.vml"/><Relationship Id="rId1" Type="http://schemas.openxmlformats.org/officeDocument/2006/relationships/oleObject" Target="../embeddings/oleObject152.bin"/></Relationships>
</file>

<file path=ppt/slides/_rels/slide6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0.bin"/><Relationship Id="rId8" Type="http://schemas.openxmlformats.org/officeDocument/2006/relationships/image" Target="../media/image181.emf"/><Relationship Id="rId7" Type="http://schemas.openxmlformats.org/officeDocument/2006/relationships/oleObject" Target="../embeddings/oleObject159.bin"/><Relationship Id="rId6" Type="http://schemas.openxmlformats.org/officeDocument/2006/relationships/image" Target="../media/image180.emf"/><Relationship Id="rId5" Type="http://schemas.openxmlformats.org/officeDocument/2006/relationships/oleObject" Target="../embeddings/oleObject158.bin"/><Relationship Id="rId4" Type="http://schemas.openxmlformats.org/officeDocument/2006/relationships/image" Target="../media/image179.emf"/><Relationship Id="rId3" Type="http://schemas.openxmlformats.org/officeDocument/2006/relationships/oleObject" Target="../embeddings/oleObject157.bin"/><Relationship Id="rId2" Type="http://schemas.openxmlformats.org/officeDocument/2006/relationships/image" Target="../media/image178.emf"/><Relationship Id="rId12" Type="http://schemas.openxmlformats.org/officeDocument/2006/relationships/vmlDrawing" Target="../drawings/vmlDrawing36.vml"/><Relationship Id="rId11" Type="http://schemas.openxmlformats.org/officeDocument/2006/relationships/slideLayout" Target="../slideLayouts/slideLayout29.xml"/><Relationship Id="rId10" Type="http://schemas.openxmlformats.org/officeDocument/2006/relationships/image" Target="../media/image182.emf"/><Relationship Id="rId1" Type="http://schemas.openxmlformats.org/officeDocument/2006/relationships/oleObject" Target="../embeddings/oleObject156.bin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7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3.wmf"/><Relationship Id="rId1" Type="http://schemas.openxmlformats.org/officeDocument/2006/relationships/oleObject" Target="../embeddings/oleObject161.bin"/></Relationships>
</file>

<file path=ppt/slides/_rels/slide7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4.emf"/><Relationship Id="rId1" Type="http://schemas.openxmlformats.org/officeDocument/2006/relationships/oleObject" Target="../embeddings/oleObject162.bin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9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87.emf"/><Relationship Id="rId5" Type="http://schemas.openxmlformats.org/officeDocument/2006/relationships/oleObject" Target="../embeddings/oleObject165.bin"/><Relationship Id="rId4" Type="http://schemas.openxmlformats.org/officeDocument/2006/relationships/image" Target="../media/image186.emf"/><Relationship Id="rId3" Type="http://schemas.openxmlformats.org/officeDocument/2006/relationships/oleObject" Target="../embeddings/oleObject164.bin"/><Relationship Id="rId2" Type="http://schemas.openxmlformats.org/officeDocument/2006/relationships/image" Target="../media/image185.emf"/><Relationship Id="rId1" Type="http://schemas.openxmlformats.org/officeDocument/2006/relationships/oleObject" Target="../embeddings/oleObject163.bin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AutoShape 2"/>
          <p:cNvSpPr>
            <a:spLocks noGrp="1" noChangeArrowheads="1"/>
          </p:cNvSpPr>
          <p:nvPr>
            <p:ph type="title"/>
          </p:nvPr>
        </p:nvSpPr>
        <p:spPr>
          <a:xfrm>
            <a:off x="1785938" y="3571875"/>
            <a:ext cx="5857875" cy="1054100"/>
          </a:xfrm>
          <a:prstGeom prst="roundRect">
            <a:avLst>
              <a:gd name="adj" fmla="val 25079"/>
            </a:avLst>
          </a:prstGeom>
        </p:spPr>
        <p:txBody>
          <a:bodyPr/>
          <a:lstStyle/>
          <a:p>
            <a:pPr marL="914400" indent="-914400" eaLnBrk="1" hangingPunct="1"/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章 组合逻辑电路</a:t>
            </a:r>
            <a:endParaRPr lang="zh-CN" altLang="en-US" b="1">
              <a:solidFill>
                <a:srgbClr val="008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315" name="AutoShape 7"/>
          <p:cNvSpPr>
            <a:spLocks noChangeArrowheads="1"/>
          </p:cNvSpPr>
          <p:nvPr/>
        </p:nvSpPr>
        <p:spPr bwMode="auto">
          <a:xfrm>
            <a:off x="611188" y="1004888"/>
            <a:ext cx="6697662" cy="911225"/>
          </a:xfrm>
          <a:prstGeom prst="roundRect">
            <a:avLst>
              <a:gd name="adj" fmla="val 25079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b"/>
          <a:lstStyle>
            <a:lvl1pPr marL="914400" indent="-9144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zh-CN" altLang="en-US" sz="4800" b="1">
                <a:solidFill>
                  <a:srgbClr val="FF0066"/>
                </a:solidFill>
                <a:latin typeface="Arial" panose="020B0604020202020204" pitchFamily="34" charset="0"/>
                <a:ea typeface="楷体_GB2312" pitchFamily="49" charset="-122"/>
              </a:rPr>
              <a:t>数字逻辑设计</a:t>
            </a:r>
            <a:endParaRPr lang="en-US" altLang="zh-CN" sz="4800" b="1">
              <a:solidFill>
                <a:srgbClr val="FF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90"/>
          <p:cNvSpPr>
            <a:spLocks noChangeArrowheads="1"/>
          </p:cNvSpPr>
          <p:nvPr/>
        </p:nvSpPr>
        <p:spPr bwMode="auto">
          <a:xfrm>
            <a:off x="500063" y="46038"/>
            <a:ext cx="24971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§4.1  </a:t>
            </a:r>
            <a:r>
              <a:rPr lang="zh-CN" altLang="en-US" sz="36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概述</a:t>
            </a:r>
            <a:r>
              <a:rPr lang="zh-CN" altLang="en-US" sz="36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endParaRPr lang="zh-CN" altLang="en-US" sz="3600" b="1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28"/>
          <p:cNvGrpSpPr/>
          <p:nvPr/>
        </p:nvGrpSpPr>
        <p:grpSpPr bwMode="auto">
          <a:xfrm>
            <a:off x="795338" y="3286125"/>
            <a:ext cx="7561262" cy="1716088"/>
            <a:chOff x="755650" y="3286124"/>
            <a:chExt cx="7561263" cy="1716088"/>
          </a:xfrm>
        </p:grpSpPr>
        <p:grpSp>
          <p:nvGrpSpPr>
            <p:cNvPr id="14347" name="Group 25"/>
            <p:cNvGrpSpPr/>
            <p:nvPr/>
          </p:nvGrpSpPr>
          <p:grpSpPr bwMode="auto">
            <a:xfrm>
              <a:off x="755650" y="3314711"/>
              <a:ext cx="3959225" cy="1685925"/>
              <a:chOff x="476" y="2160"/>
              <a:chExt cx="2494" cy="1062"/>
            </a:xfrm>
          </p:grpSpPr>
          <p:sp>
            <p:nvSpPr>
              <p:cNvPr id="14351" name="Text Box 8"/>
              <p:cNvSpPr txBox="1">
                <a:spLocks noChangeArrowheads="1"/>
              </p:cNvSpPr>
              <p:nvPr/>
            </p:nvSpPr>
            <p:spPr bwMode="auto">
              <a:xfrm>
                <a:off x="595" y="2640"/>
                <a:ext cx="349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endPara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52" name="Text Box 13"/>
              <p:cNvSpPr txBox="1">
                <a:spLocks noChangeArrowheads="1"/>
              </p:cNvSpPr>
              <p:nvPr/>
            </p:nvSpPr>
            <p:spPr bwMode="auto">
              <a:xfrm>
                <a:off x="521" y="2931"/>
                <a:ext cx="480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zh-CN" sz="2400" b="1" baseline="-25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endPara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53" name="Text Box 5"/>
              <p:cNvSpPr txBox="1">
                <a:spLocks noChangeArrowheads="1"/>
              </p:cNvSpPr>
              <p:nvPr/>
            </p:nvSpPr>
            <p:spPr bwMode="auto">
              <a:xfrm>
                <a:off x="1004" y="2305"/>
                <a:ext cx="1376" cy="863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0" bIns="44280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组合逻辑电路</a:t>
                </a:r>
                <a:endPara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54" name="Line 6"/>
              <p:cNvSpPr>
                <a:spLocks noChangeShapeType="1"/>
              </p:cNvSpPr>
              <p:nvPr/>
            </p:nvSpPr>
            <p:spPr bwMode="auto">
              <a:xfrm>
                <a:off x="476" y="2544"/>
                <a:ext cx="5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55" name="Line 7"/>
              <p:cNvSpPr>
                <a:spLocks noChangeShapeType="1"/>
              </p:cNvSpPr>
              <p:nvPr/>
            </p:nvSpPr>
            <p:spPr bwMode="auto">
              <a:xfrm>
                <a:off x="476" y="2976"/>
                <a:ext cx="5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56" name="Line 9"/>
              <p:cNvSpPr>
                <a:spLocks noChangeShapeType="1"/>
              </p:cNvSpPr>
              <p:nvPr/>
            </p:nvSpPr>
            <p:spPr bwMode="auto">
              <a:xfrm>
                <a:off x="2373" y="2544"/>
                <a:ext cx="5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57" name="Line 10"/>
              <p:cNvSpPr>
                <a:spLocks noChangeShapeType="1"/>
              </p:cNvSpPr>
              <p:nvPr/>
            </p:nvSpPr>
            <p:spPr bwMode="auto">
              <a:xfrm>
                <a:off x="2373" y="2976"/>
                <a:ext cx="5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58" name="Text Box 11"/>
              <p:cNvSpPr txBox="1">
                <a:spLocks noChangeArrowheads="1"/>
              </p:cNvSpPr>
              <p:nvPr/>
            </p:nvSpPr>
            <p:spPr bwMode="auto">
              <a:xfrm>
                <a:off x="2621" y="2648"/>
                <a:ext cx="349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endPara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59" name="Text Box 12"/>
              <p:cNvSpPr txBox="1">
                <a:spLocks noChangeArrowheads="1"/>
              </p:cNvSpPr>
              <p:nvPr/>
            </p:nvSpPr>
            <p:spPr bwMode="auto">
              <a:xfrm>
                <a:off x="524" y="2160"/>
                <a:ext cx="33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zh-CN" sz="2400" b="1" baseline="-25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60" name="Text Box 14"/>
              <p:cNvSpPr txBox="1">
                <a:spLocks noChangeArrowheads="1"/>
              </p:cNvSpPr>
              <p:nvPr/>
            </p:nvSpPr>
            <p:spPr bwMode="auto">
              <a:xfrm>
                <a:off x="2565" y="2208"/>
                <a:ext cx="33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kumimoji="1" lang="en-US" altLang="zh-CN" sz="2400" b="1" baseline="-25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61" name="Text Box 15"/>
              <p:cNvSpPr txBox="1">
                <a:spLocks noChangeArrowheads="1"/>
              </p:cNvSpPr>
              <p:nvPr/>
            </p:nvSpPr>
            <p:spPr bwMode="auto">
              <a:xfrm>
                <a:off x="2517" y="2880"/>
                <a:ext cx="384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kumimoji="1" lang="en-US" altLang="zh-CN" sz="2400" b="1" baseline="-25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endPara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4348" name="Group 24"/>
            <p:cNvGrpSpPr/>
            <p:nvPr/>
          </p:nvGrpSpPr>
          <p:grpSpPr bwMode="auto">
            <a:xfrm>
              <a:off x="5219700" y="3286124"/>
              <a:ext cx="3097213" cy="1716088"/>
              <a:chOff x="3288" y="2137"/>
              <a:chExt cx="1951" cy="1081"/>
            </a:xfrm>
          </p:grpSpPr>
          <p:sp>
            <p:nvSpPr>
              <p:cNvPr id="14349" name="AutoShape 17"/>
              <p:cNvSpPr/>
              <p:nvPr/>
            </p:nvSpPr>
            <p:spPr bwMode="auto">
              <a:xfrm>
                <a:off x="3288" y="2251"/>
                <a:ext cx="240" cy="862"/>
              </a:xfrm>
              <a:prstGeom prst="leftBrace">
                <a:avLst>
                  <a:gd name="adj1" fmla="val 29931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14350" name="Object 4"/>
              <p:cNvGraphicFramePr>
                <a:graphicFrameLocks noChangeAspect="1"/>
              </p:cNvGraphicFramePr>
              <p:nvPr/>
            </p:nvGraphicFramePr>
            <p:xfrm>
              <a:off x="3515" y="2137"/>
              <a:ext cx="1724" cy="10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64" name="公式" r:id="rId1" imgW="1460500" imgH="914400" progId="Equation.3">
                      <p:embed/>
                    </p:oleObj>
                  </mc:Choice>
                  <mc:Fallback>
                    <p:oleObj name="公式" r:id="rId1" imgW="1460500" imgH="914400" progId="Equation.3">
                      <p:embed/>
                      <p:pic>
                        <p:nvPicPr>
                          <p:cNvPr id="0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15" y="2137"/>
                            <a:ext cx="1724" cy="108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2357438" y="5253038"/>
            <a:ext cx="3683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向量函数形式：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Y=F(A)</a:t>
            </a:r>
            <a:endParaRPr kumimoji="1" lang="en-US" altLang="zh-CN" sz="2400" b="1" i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579438" y="1792288"/>
            <a:ext cx="3675062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chemeClr val="hlink"/>
              </a:buClr>
              <a:buSzPct val="120000"/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组合逻辑电路的特点</a:t>
            </a:r>
            <a:endParaRPr lang="zh-CN" altLang="en-US" sz="2400" b="1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>
            <a:spLocks noChangeArrowheads="1"/>
          </p:cNvSpPr>
          <p:nvPr/>
        </p:nvSpPr>
        <p:spPr bwMode="auto">
          <a:xfrm>
            <a:off x="539750" y="5735638"/>
            <a:ext cx="8001000" cy="979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chemeClr val="hlink"/>
              </a:buClr>
              <a:buSzPct val="120000"/>
              <a:buFontTx/>
              <a:buNone/>
            </a:pP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 从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结构上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讲，组合电路都是单纯由逻辑门组成，且输出不存在反馈路径。</a:t>
            </a:r>
            <a:endParaRPr lang="zh-CN" altLang="en-US" sz="240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组合 27"/>
          <p:cNvGrpSpPr/>
          <p:nvPr/>
        </p:nvGrpSpPr>
        <p:grpSpPr bwMode="auto">
          <a:xfrm>
            <a:off x="581025" y="714375"/>
            <a:ext cx="7991475" cy="928688"/>
            <a:chOff x="541338" y="642918"/>
            <a:chExt cx="7991475" cy="928694"/>
          </a:xfrm>
        </p:grpSpPr>
        <p:sp>
          <p:nvSpPr>
            <p:cNvPr id="14345" name="Text Box 3"/>
            <p:cNvSpPr txBox="1">
              <a:spLocks noChangeArrowheads="1"/>
            </p:cNvSpPr>
            <p:nvPr/>
          </p:nvSpPr>
          <p:spPr bwMode="auto">
            <a:xfrm>
              <a:off x="541338" y="669177"/>
              <a:ext cx="7991475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数字电路按其完成逻辑功能的不同特点，可以划分为</a:t>
              </a:r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组合逻辑电路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和</a:t>
              </a:r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时序逻辑电路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两大类。</a:t>
              </a:r>
              <a:endPara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46" name="Rectangle 16"/>
            <p:cNvSpPr>
              <a:spLocks noChangeArrowheads="1"/>
            </p:cNvSpPr>
            <p:nvPr/>
          </p:nvSpPr>
          <p:spPr bwMode="auto">
            <a:xfrm>
              <a:off x="571472" y="642918"/>
              <a:ext cx="7858180" cy="928694"/>
            </a:xfrm>
            <a:prstGeom prst="rect">
              <a:avLst/>
            </a:prstGeom>
            <a:noFill/>
            <a:ln w="57150" cmpd="thickThin">
              <a:solidFill>
                <a:srgbClr val="33CC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7" name="矩形 26"/>
          <p:cNvSpPr>
            <a:spLocks noChangeArrowheads="1"/>
          </p:cNvSpPr>
          <p:nvPr/>
        </p:nvSpPr>
        <p:spPr bwMode="auto">
          <a:xfrm>
            <a:off x="611188" y="2286000"/>
            <a:ext cx="7929562" cy="97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chemeClr val="hlink"/>
              </a:buClr>
              <a:buSzPct val="120000"/>
              <a:buFontTx/>
              <a:buNone/>
            </a:pP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①从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逻辑上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讲，组合电路在任一时刻的输出仅由该时刻的输入决定，而与过去的状态无关，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电路无记忆功能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 </a:t>
            </a:r>
            <a:endParaRPr lang="zh-CN" altLang="en-US" sz="240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5" grpId="0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矩形 1"/>
          <p:cNvSpPr>
            <a:spLocks noChangeArrowheads="1"/>
          </p:cNvSpPr>
          <p:nvPr/>
        </p:nvSpPr>
        <p:spPr bwMode="auto">
          <a:xfrm>
            <a:off x="285750" y="214313"/>
            <a:ext cx="78263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§4.2</a:t>
            </a:r>
            <a:r>
              <a:rPr lang="zh-CN" altLang="en-US" sz="36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36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组合逻辑电路的分析和设计方法</a:t>
            </a:r>
            <a:endParaRPr lang="zh-CN" altLang="en-US" sz="36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714375" y="928688"/>
            <a:ext cx="4873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一、组合逻辑电路的分析方法</a:t>
            </a:r>
            <a:endParaRPr lang="zh-CN" altLang="en-US" sz="2800">
              <a:solidFill>
                <a:srgbClr val="0066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857250" y="2752725"/>
            <a:ext cx="45148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组合逻辑电路分析的一般步骤</a:t>
            </a:r>
            <a:endParaRPr lang="zh-CN" altLang="en-US" sz="240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785813" y="3273425"/>
            <a:ext cx="7572375" cy="20129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812800" indent="-812800" algn="just">
              <a:lnSpc>
                <a:spcPct val="120000"/>
              </a:lnSpc>
              <a:spcBef>
                <a:spcPct val="20000"/>
              </a:spcBef>
              <a:defRPr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）根据给定的逻辑电路，从输入端开始，逐级推导出输出端的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逻辑函数表达式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，并加以化简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ct val="20000"/>
              </a:spcBef>
              <a:defRPr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根据逻辑函数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表达式列出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真值表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 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defRPr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）用文字概括出电路的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逻辑功能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 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19"/>
          <p:cNvGrpSpPr/>
          <p:nvPr/>
        </p:nvGrpSpPr>
        <p:grpSpPr bwMode="auto">
          <a:xfrm>
            <a:off x="785813" y="1500188"/>
            <a:ext cx="7715250" cy="1012825"/>
            <a:chOff x="1142976" y="1500174"/>
            <a:chExt cx="7715304" cy="1012727"/>
          </a:xfrm>
        </p:grpSpPr>
        <p:sp>
          <p:nvSpPr>
            <p:cNvPr id="15375" name="矩形 3"/>
            <p:cNvSpPr>
              <a:spLocks noChangeArrowheads="1"/>
            </p:cNvSpPr>
            <p:nvPr/>
          </p:nvSpPr>
          <p:spPr bwMode="auto">
            <a:xfrm>
              <a:off x="1142976" y="1630455"/>
              <a:ext cx="7715304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组合逻辑电路的分析，就是从给定逻辑电路中找出</a:t>
              </a:r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输出和输入之间的逻辑关系</a:t>
              </a: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，并确定电路的逻辑功能。</a:t>
              </a:r>
              <a:endParaRPr lang="zh-CN" altLang="en-US" sz="24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376" name="Rectangle 16"/>
            <p:cNvSpPr>
              <a:spLocks noChangeArrowheads="1"/>
            </p:cNvSpPr>
            <p:nvPr/>
          </p:nvSpPr>
          <p:spPr bwMode="auto">
            <a:xfrm>
              <a:off x="1142976" y="1500174"/>
              <a:ext cx="7572428" cy="1012727"/>
            </a:xfrm>
            <a:prstGeom prst="rect">
              <a:avLst/>
            </a:prstGeom>
            <a:noFill/>
            <a:ln w="57150" cmpd="thickThin">
              <a:solidFill>
                <a:srgbClr val="33CC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组合 23"/>
          <p:cNvGrpSpPr/>
          <p:nvPr/>
        </p:nvGrpSpPr>
        <p:grpSpPr bwMode="auto">
          <a:xfrm>
            <a:off x="1214438" y="5572125"/>
            <a:ext cx="6916737" cy="830263"/>
            <a:chOff x="1071538" y="5643578"/>
            <a:chExt cx="6916786" cy="830997"/>
          </a:xfrm>
        </p:grpSpPr>
        <p:sp>
          <p:nvSpPr>
            <p:cNvPr id="15368" name="Line 13"/>
            <p:cNvSpPr>
              <a:spLocks noChangeShapeType="1"/>
            </p:cNvSpPr>
            <p:nvPr/>
          </p:nvSpPr>
          <p:spPr bwMode="auto">
            <a:xfrm>
              <a:off x="2189146" y="6072206"/>
              <a:ext cx="7143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69" name="矩形 17"/>
            <p:cNvSpPr>
              <a:spLocks noChangeArrowheads="1"/>
            </p:cNvSpPr>
            <p:nvPr/>
          </p:nvSpPr>
          <p:spPr bwMode="auto">
            <a:xfrm>
              <a:off x="1071538" y="5643578"/>
              <a:ext cx="1112805" cy="830997"/>
            </a:xfrm>
            <a:prstGeom prst="rect">
              <a:avLst/>
            </a:prstGeom>
            <a:noFill/>
            <a:ln w="19050">
              <a:solidFill>
                <a:srgbClr val="7030A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给定</a:t>
              </a:r>
              <a:endPara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逻辑图</a:t>
              </a:r>
              <a:endPara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370" name="矩形 18"/>
            <p:cNvSpPr>
              <a:spLocks noChangeArrowheads="1"/>
            </p:cNvSpPr>
            <p:nvPr/>
          </p:nvSpPr>
          <p:spPr bwMode="auto">
            <a:xfrm>
              <a:off x="2887691" y="5643578"/>
              <a:ext cx="1112805" cy="830997"/>
            </a:xfrm>
            <a:prstGeom prst="rect">
              <a:avLst/>
            </a:prstGeom>
            <a:noFill/>
            <a:ln w="19050">
              <a:solidFill>
                <a:srgbClr val="7030A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逻辑</a:t>
              </a:r>
              <a:endPara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函数式</a:t>
              </a:r>
              <a:endPara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371" name="矩形 19"/>
            <p:cNvSpPr>
              <a:spLocks noChangeArrowheads="1"/>
            </p:cNvSpPr>
            <p:nvPr/>
          </p:nvSpPr>
          <p:spPr bwMode="auto">
            <a:xfrm>
              <a:off x="4714876" y="5643578"/>
              <a:ext cx="1112805" cy="830997"/>
            </a:xfrm>
            <a:prstGeom prst="rect">
              <a:avLst/>
            </a:prstGeom>
            <a:noFill/>
            <a:ln w="19050">
              <a:solidFill>
                <a:srgbClr val="7030A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逻辑</a:t>
              </a:r>
              <a:endPara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真值表</a:t>
              </a:r>
              <a:endPara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372" name="矩形 20"/>
            <p:cNvSpPr>
              <a:spLocks noChangeArrowheads="1"/>
            </p:cNvSpPr>
            <p:nvPr/>
          </p:nvSpPr>
          <p:spPr bwMode="auto">
            <a:xfrm>
              <a:off x="6566140" y="5643578"/>
              <a:ext cx="1422184" cy="830997"/>
            </a:xfrm>
            <a:prstGeom prst="rect">
              <a:avLst/>
            </a:prstGeom>
            <a:noFill/>
            <a:ln w="19050">
              <a:solidFill>
                <a:srgbClr val="7030A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确定</a:t>
              </a:r>
              <a:endParaRPr kumimoji="1" lang="en-US" altLang="zh-CN" sz="24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逻辑功能</a:t>
              </a:r>
              <a:endPara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373" name="Line 13"/>
            <p:cNvSpPr>
              <a:spLocks noChangeShapeType="1"/>
            </p:cNvSpPr>
            <p:nvPr/>
          </p:nvSpPr>
          <p:spPr bwMode="auto">
            <a:xfrm>
              <a:off x="4000496" y="6072206"/>
              <a:ext cx="7143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74" name="Line 13"/>
            <p:cNvSpPr>
              <a:spLocks noChangeShapeType="1"/>
            </p:cNvSpPr>
            <p:nvPr/>
          </p:nvSpPr>
          <p:spPr bwMode="auto">
            <a:xfrm>
              <a:off x="5845184" y="6072206"/>
              <a:ext cx="7143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矩形 1"/>
          <p:cNvSpPr>
            <a:spLocks noChangeArrowheads="1"/>
          </p:cNvSpPr>
          <p:nvPr/>
        </p:nvSpPr>
        <p:spPr bwMode="auto">
          <a:xfrm>
            <a:off x="428625" y="180975"/>
            <a:ext cx="35861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组合逻辑电路分析举例</a:t>
            </a:r>
            <a:endParaRPr lang="zh-CN" altLang="en-US" sz="240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105"/>
          <p:cNvGrpSpPr/>
          <p:nvPr/>
        </p:nvGrpSpPr>
        <p:grpSpPr bwMode="auto">
          <a:xfrm>
            <a:off x="1857375" y="1285875"/>
            <a:ext cx="4862513" cy="2214563"/>
            <a:chOff x="1643042" y="1285860"/>
            <a:chExt cx="4862516" cy="2214845"/>
          </a:xfrm>
        </p:grpSpPr>
        <p:sp>
          <p:nvSpPr>
            <p:cNvPr id="16414" name="Text Box 133"/>
            <p:cNvSpPr txBox="1">
              <a:spLocks noChangeArrowheads="1"/>
            </p:cNvSpPr>
            <p:nvPr/>
          </p:nvSpPr>
          <p:spPr bwMode="auto">
            <a:xfrm>
              <a:off x="1652571" y="1285860"/>
              <a:ext cx="471484" cy="4617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6415" name="组合 66"/>
            <p:cNvGrpSpPr/>
            <p:nvPr/>
          </p:nvGrpSpPr>
          <p:grpSpPr bwMode="auto">
            <a:xfrm>
              <a:off x="1643042" y="1428728"/>
              <a:ext cx="4862516" cy="2071977"/>
              <a:chOff x="2143108" y="3143240"/>
              <a:chExt cx="4862516" cy="2071977"/>
            </a:xfrm>
          </p:grpSpPr>
          <p:sp>
            <p:nvSpPr>
              <p:cNvPr id="16416" name="Line 130"/>
              <p:cNvSpPr>
                <a:spLocks noChangeShapeType="1"/>
              </p:cNvSpPr>
              <p:nvPr/>
            </p:nvSpPr>
            <p:spPr bwMode="auto">
              <a:xfrm>
                <a:off x="2500299" y="3286124"/>
                <a:ext cx="11430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6417" name="Line 137"/>
              <p:cNvSpPr>
                <a:spLocks noChangeShapeType="1"/>
              </p:cNvSpPr>
              <p:nvPr/>
            </p:nvSpPr>
            <p:spPr bwMode="auto">
              <a:xfrm flipV="1">
                <a:off x="6105517" y="4189563"/>
                <a:ext cx="38576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6418" name="Text Box 138"/>
              <p:cNvSpPr txBox="1">
                <a:spLocks noChangeArrowheads="1"/>
              </p:cNvSpPr>
              <p:nvPr/>
            </p:nvSpPr>
            <p:spPr bwMode="auto">
              <a:xfrm>
                <a:off x="6534140" y="3975223"/>
                <a:ext cx="471484" cy="4617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400" b="1" i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endPara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6419" name="组合 61"/>
              <p:cNvGrpSpPr/>
              <p:nvPr/>
            </p:nvGrpSpPr>
            <p:grpSpPr bwMode="auto">
              <a:xfrm>
                <a:off x="3643294" y="3143240"/>
                <a:ext cx="785815" cy="500140"/>
                <a:chOff x="4357684" y="1214402"/>
                <a:chExt cx="638181" cy="428640"/>
              </a:xfrm>
            </p:grpSpPr>
            <p:sp>
              <p:nvSpPr>
                <p:cNvPr id="16462" name="Oval 132"/>
                <p:cNvSpPr>
                  <a:spLocks noChangeArrowheads="1"/>
                </p:cNvSpPr>
                <p:nvPr/>
              </p:nvSpPr>
              <p:spPr bwMode="auto">
                <a:xfrm>
                  <a:off x="4878390" y="1382698"/>
                  <a:ext cx="117475" cy="117475"/>
                </a:xfrm>
                <a:prstGeom prst="ellipse">
                  <a:avLst/>
                </a:prstGeom>
                <a:noFill/>
                <a:ln w="28575" cap="sq">
                  <a:solidFill>
                    <a:srgbClr val="0000FF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6463" name="组合 76"/>
                <p:cNvGrpSpPr/>
                <p:nvPr/>
              </p:nvGrpSpPr>
              <p:grpSpPr bwMode="auto">
                <a:xfrm>
                  <a:off x="4357684" y="1214402"/>
                  <a:ext cx="501524" cy="428640"/>
                  <a:chOff x="4284641" y="3500418"/>
                  <a:chExt cx="726865" cy="558823"/>
                </a:xfrm>
              </p:grpSpPr>
              <p:sp>
                <p:nvSpPr>
                  <p:cNvPr id="52" name="弧形 51"/>
                  <p:cNvSpPr/>
                  <p:nvPr/>
                </p:nvSpPr>
                <p:spPr bwMode="auto">
                  <a:xfrm>
                    <a:off x="4430390" y="3500446"/>
                    <a:ext cx="581112" cy="558808"/>
                  </a:xfrm>
                  <a:prstGeom prst="arc">
                    <a:avLst>
                      <a:gd name="adj1" fmla="val 16144200"/>
                      <a:gd name="adj2" fmla="val 5427747"/>
                    </a:avLst>
                  </a:prstGeom>
                  <a:noFill/>
                  <a:ln w="38100" cap="flat" cmpd="sng" algn="ctr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sz="1800" b="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6465" name="直接连接符 78"/>
                  <p:cNvCxnSpPr>
                    <a:cxnSpLocks noChangeShapeType="1"/>
                    <a:stCxn id="52" idx="0"/>
                  </p:cNvCxnSpPr>
                  <p:nvPr/>
                </p:nvCxnSpPr>
                <p:spPr bwMode="auto">
                  <a:xfrm rot="10800000">
                    <a:off x="4285447" y="3500438"/>
                    <a:ext cx="431048" cy="37"/>
                  </a:xfrm>
                  <a:prstGeom prst="line">
                    <a:avLst/>
                  </a:prstGeom>
                  <a:noFill/>
                  <a:ln w="38100" algn="ctr">
                    <a:solidFill>
                      <a:srgbClr val="0000FF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6466" name="直接连接符 79"/>
                  <p:cNvCxnSpPr>
                    <a:cxnSpLocks noChangeShapeType="1"/>
                  </p:cNvCxnSpPr>
                  <p:nvPr/>
                </p:nvCxnSpPr>
                <p:spPr bwMode="auto">
                  <a:xfrm rot="10800000">
                    <a:off x="4285447" y="4058467"/>
                    <a:ext cx="435764" cy="1"/>
                  </a:xfrm>
                  <a:prstGeom prst="line">
                    <a:avLst/>
                  </a:prstGeom>
                  <a:noFill/>
                  <a:ln w="38100" algn="ctr">
                    <a:solidFill>
                      <a:srgbClr val="0000FF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6467" name="直接连接符 80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4006433" y="3779420"/>
                    <a:ext cx="558029" cy="1614"/>
                  </a:xfrm>
                  <a:prstGeom prst="line">
                    <a:avLst/>
                  </a:prstGeom>
                  <a:noFill/>
                  <a:ln w="38100" algn="ctr">
                    <a:solidFill>
                      <a:srgbClr val="0000FF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  <p:sp>
            <p:nvSpPr>
              <p:cNvPr id="16420" name="Line 137"/>
              <p:cNvSpPr>
                <a:spLocks noChangeShapeType="1"/>
              </p:cNvSpPr>
              <p:nvPr/>
            </p:nvSpPr>
            <p:spPr bwMode="auto">
              <a:xfrm flipV="1">
                <a:off x="6080117" y="4189563"/>
                <a:ext cx="38576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6421" name="Line 130"/>
              <p:cNvSpPr>
                <a:spLocks noChangeShapeType="1"/>
              </p:cNvSpPr>
              <p:nvPr/>
            </p:nvSpPr>
            <p:spPr bwMode="auto">
              <a:xfrm>
                <a:off x="2500298" y="3500438"/>
                <a:ext cx="113347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6422" name="Text Box 133"/>
              <p:cNvSpPr txBox="1">
                <a:spLocks noChangeArrowheads="1"/>
              </p:cNvSpPr>
              <p:nvPr/>
            </p:nvSpPr>
            <p:spPr bwMode="auto">
              <a:xfrm>
                <a:off x="2143108" y="3286159"/>
                <a:ext cx="471484" cy="4617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400" b="1" i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423" name="Line 130"/>
              <p:cNvSpPr>
                <a:spLocks noChangeShapeType="1"/>
              </p:cNvSpPr>
              <p:nvPr/>
            </p:nvSpPr>
            <p:spPr bwMode="auto">
              <a:xfrm>
                <a:off x="4429117" y="3403649"/>
                <a:ext cx="428621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6424" name="Line 130"/>
              <p:cNvSpPr>
                <a:spLocks noChangeShapeType="1"/>
              </p:cNvSpPr>
              <p:nvPr/>
            </p:nvSpPr>
            <p:spPr bwMode="auto">
              <a:xfrm>
                <a:off x="3214679" y="4072073"/>
                <a:ext cx="428621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16425" name="组合 131"/>
              <p:cNvGrpSpPr/>
              <p:nvPr/>
            </p:nvGrpSpPr>
            <p:grpSpPr bwMode="auto">
              <a:xfrm>
                <a:off x="3643294" y="3929058"/>
                <a:ext cx="785815" cy="500244"/>
                <a:chOff x="4357684" y="1214319"/>
                <a:chExt cx="638181" cy="428729"/>
              </a:xfrm>
            </p:grpSpPr>
            <p:sp>
              <p:nvSpPr>
                <p:cNvPr id="16456" name="Oval 132"/>
                <p:cNvSpPr>
                  <a:spLocks noChangeArrowheads="1"/>
                </p:cNvSpPr>
                <p:nvPr/>
              </p:nvSpPr>
              <p:spPr bwMode="auto">
                <a:xfrm>
                  <a:off x="4878390" y="1382698"/>
                  <a:ext cx="117475" cy="117475"/>
                </a:xfrm>
                <a:prstGeom prst="ellipse">
                  <a:avLst/>
                </a:prstGeom>
                <a:noFill/>
                <a:ln w="28575" cap="sq">
                  <a:solidFill>
                    <a:srgbClr val="0000FF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6457" name="组合 76"/>
                <p:cNvGrpSpPr/>
                <p:nvPr/>
              </p:nvGrpSpPr>
              <p:grpSpPr bwMode="auto">
                <a:xfrm>
                  <a:off x="4357684" y="1214319"/>
                  <a:ext cx="501524" cy="428729"/>
                  <a:chOff x="4284641" y="3500303"/>
                  <a:chExt cx="726865" cy="558938"/>
                </a:xfrm>
              </p:grpSpPr>
              <p:sp>
                <p:nvSpPr>
                  <p:cNvPr id="46" name="弧形 45"/>
                  <p:cNvSpPr/>
                  <p:nvPr/>
                </p:nvSpPr>
                <p:spPr bwMode="auto">
                  <a:xfrm>
                    <a:off x="4430390" y="3500437"/>
                    <a:ext cx="581112" cy="558806"/>
                  </a:xfrm>
                  <a:prstGeom prst="arc">
                    <a:avLst>
                      <a:gd name="adj1" fmla="val 16144200"/>
                      <a:gd name="adj2" fmla="val 5427747"/>
                    </a:avLst>
                  </a:prstGeom>
                  <a:noFill/>
                  <a:ln w="38100" cap="flat" cmpd="sng" algn="ctr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sz="1800" b="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6459" name="直接连接符 78"/>
                  <p:cNvCxnSpPr>
                    <a:cxnSpLocks noChangeShapeType="1"/>
                    <a:stCxn id="46" idx="0"/>
                  </p:cNvCxnSpPr>
                  <p:nvPr/>
                </p:nvCxnSpPr>
                <p:spPr bwMode="auto">
                  <a:xfrm rot="10800000">
                    <a:off x="4285447" y="3500438"/>
                    <a:ext cx="431048" cy="37"/>
                  </a:xfrm>
                  <a:prstGeom prst="line">
                    <a:avLst/>
                  </a:prstGeom>
                  <a:noFill/>
                  <a:ln w="38100" algn="ctr">
                    <a:solidFill>
                      <a:srgbClr val="0000FF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6460" name="直接连接符 79"/>
                  <p:cNvCxnSpPr>
                    <a:cxnSpLocks noChangeShapeType="1"/>
                  </p:cNvCxnSpPr>
                  <p:nvPr/>
                </p:nvCxnSpPr>
                <p:spPr bwMode="auto">
                  <a:xfrm rot="10800000">
                    <a:off x="4285447" y="4058467"/>
                    <a:ext cx="435764" cy="1"/>
                  </a:xfrm>
                  <a:prstGeom prst="line">
                    <a:avLst/>
                  </a:prstGeom>
                  <a:noFill/>
                  <a:ln w="38100" algn="ctr">
                    <a:solidFill>
                      <a:srgbClr val="0000FF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6461" name="直接连接符 80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4006433" y="3779420"/>
                    <a:ext cx="558029" cy="1614"/>
                  </a:xfrm>
                  <a:prstGeom prst="line">
                    <a:avLst/>
                  </a:prstGeom>
                  <a:noFill/>
                  <a:ln w="38100" algn="ctr">
                    <a:solidFill>
                      <a:srgbClr val="0000FF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  <p:sp>
            <p:nvSpPr>
              <p:cNvPr id="16426" name="Text Box 133"/>
              <p:cNvSpPr txBox="1">
                <a:spLocks noChangeArrowheads="1"/>
              </p:cNvSpPr>
              <p:nvPr/>
            </p:nvSpPr>
            <p:spPr bwMode="auto">
              <a:xfrm>
                <a:off x="2143108" y="4033973"/>
                <a:ext cx="471484" cy="4617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400" b="1" i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427" name="Line 130"/>
              <p:cNvSpPr>
                <a:spLocks noChangeShapeType="1"/>
              </p:cNvSpPr>
              <p:nvPr/>
            </p:nvSpPr>
            <p:spPr bwMode="auto">
              <a:xfrm>
                <a:off x="3214679" y="4857987"/>
                <a:ext cx="428621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16428" name="组合 143"/>
              <p:cNvGrpSpPr/>
              <p:nvPr/>
            </p:nvGrpSpPr>
            <p:grpSpPr bwMode="auto">
              <a:xfrm>
                <a:off x="3643294" y="4714871"/>
                <a:ext cx="785815" cy="500346"/>
                <a:chOff x="4357684" y="1214228"/>
                <a:chExt cx="638181" cy="428815"/>
              </a:xfrm>
            </p:grpSpPr>
            <p:sp>
              <p:nvSpPr>
                <p:cNvPr id="16450" name="Oval 132"/>
                <p:cNvSpPr>
                  <a:spLocks noChangeArrowheads="1"/>
                </p:cNvSpPr>
                <p:nvPr/>
              </p:nvSpPr>
              <p:spPr bwMode="auto">
                <a:xfrm>
                  <a:off x="4878390" y="1382698"/>
                  <a:ext cx="117475" cy="117475"/>
                </a:xfrm>
                <a:prstGeom prst="ellipse">
                  <a:avLst/>
                </a:prstGeom>
                <a:noFill/>
                <a:ln w="28575" cap="sq">
                  <a:solidFill>
                    <a:srgbClr val="0000FF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6451" name="组合 76"/>
                <p:cNvGrpSpPr/>
                <p:nvPr/>
              </p:nvGrpSpPr>
              <p:grpSpPr bwMode="auto">
                <a:xfrm>
                  <a:off x="4357684" y="1214228"/>
                  <a:ext cx="501524" cy="428815"/>
                  <a:chOff x="4284641" y="3500190"/>
                  <a:chExt cx="726865" cy="559051"/>
                </a:xfrm>
              </p:grpSpPr>
              <p:sp>
                <p:nvSpPr>
                  <p:cNvPr id="40" name="弧形 39"/>
                  <p:cNvSpPr/>
                  <p:nvPr/>
                </p:nvSpPr>
                <p:spPr bwMode="auto">
                  <a:xfrm>
                    <a:off x="4430390" y="3500435"/>
                    <a:ext cx="581112" cy="558806"/>
                  </a:xfrm>
                  <a:prstGeom prst="arc">
                    <a:avLst>
                      <a:gd name="adj1" fmla="val 16144200"/>
                      <a:gd name="adj2" fmla="val 5427747"/>
                    </a:avLst>
                  </a:prstGeom>
                  <a:noFill/>
                  <a:ln w="38100" cap="flat" cmpd="sng" algn="ctr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sz="1800" b="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6453" name="直接连接符 78"/>
                  <p:cNvCxnSpPr>
                    <a:cxnSpLocks noChangeShapeType="1"/>
                    <a:stCxn id="40" idx="0"/>
                  </p:cNvCxnSpPr>
                  <p:nvPr/>
                </p:nvCxnSpPr>
                <p:spPr bwMode="auto">
                  <a:xfrm rot="10800000">
                    <a:off x="4285447" y="3500438"/>
                    <a:ext cx="431048" cy="37"/>
                  </a:xfrm>
                  <a:prstGeom prst="line">
                    <a:avLst/>
                  </a:prstGeom>
                  <a:noFill/>
                  <a:ln w="38100" algn="ctr">
                    <a:solidFill>
                      <a:srgbClr val="0000FF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6454" name="直接连接符 79"/>
                  <p:cNvCxnSpPr>
                    <a:cxnSpLocks noChangeShapeType="1"/>
                  </p:cNvCxnSpPr>
                  <p:nvPr/>
                </p:nvCxnSpPr>
                <p:spPr bwMode="auto">
                  <a:xfrm rot="10800000">
                    <a:off x="4285447" y="4058467"/>
                    <a:ext cx="435764" cy="1"/>
                  </a:xfrm>
                  <a:prstGeom prst="line">
                    <a:avLst/>
                  </a:prstGeom>
                  <a:noFill/>
                  <a:ln w="38100" algn="ctr">
                    <a:solidFill>
                      <a:srgbClr val="0000FF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6455" name="直接连接符 80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4006433" y="3779420"/>
                    <a:ext cx="558029" cy="1614"/>
                  </a:xfrm>
                  <a:prstGeom prst="line">
                    <a:avLst/>
                  </a:prstGeom>
                  <a:noFill/>
                  <a:ln w="38100" algn="ctr">
                    <a:solidFill>
                      <a:srgbClr val="0000FF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  <p:sp>
            <p:nvSpPr>
              <p:cNvPr id="16429" name="Line 130"/>
              <p:cNvSpPr>
                <a:spLocks noChangeShapeType="1"/>
              </p:cNvSpPr>
              <p:nvPr/>
            </p:nvSpPr>
            <p:spPr bwMode="auto">
              <a:xfrm>
                <a:off x="2928926" y="5072074"/>
                <a:ext cx="70484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6430" name="Line 130"/>
              <p:cNvSpPr>
                <a:spLocks noChangeShapeType="1"/>
              </p:cNvSpPr>
              <p:nvPr/>
            </p:nvSpPr>
            <p:spPr bwMode="auto">
              <a:xfrm>
                <a:off x="4441817" y="4975478"/>
                <a:ext cx="428621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16431" name="组合 153"/>
              <p:cNvGrpSpPr/>
              <p:nvPr/>
            </p:nvGrpSpPr>
            <p:grpSpPr bwMode="auto">
              <a:xfrm>
                <a:off x="5299061" y="3929055"/>
                <a:ext cx="785807" cy="500242"/>
                <a:chOff x="4357690" y="1214317"/>
                <a:chExt cx="638175" cy="428727"/>
              </a:xfrm>
            </p:grpSpPr>
            <p:sp>
              <p:nvSpPr>
                <p:cNvPr id="16444" name="Oval 132"/>
                <p:cNvSpPr>
                  <a:spLocks noChangeArrowheads="1"/>
                </p:cNvSpPr>
                <p:nvPr/>
              </p:nvSpPr>
              <p:spPr bwMode="auto">
                <a:xfrm>
                  <a:off x="4878390" y="1382698"/>
                  <a:ext cx="117475" cy="117475"/>
                </a:xfrm>
                <a:prstGeom prst="ellipse">
                  <a:avLst/>
                </a:prstGeom>
                <a:noFill/>
                <a:ln w="28575" cap="sq">
                  <a:solidFill>
                    <a:srgbClr val="0000FF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6445" name="组合 76"/>
                <p:cNvGrpSpPr/>
                <p:nvPr/>
              </p:nvGrpSpPr>
              <p:grpSpPr bwMode="auto">
                <a:xfrm>
                  <a:off x="4357690" y="1214317"/>
                  <a:ext cx="501523" cy="428727"/>
                  <a:chOff x="4284641" y="3500305"/>
                  <a:chExt cx="726862" cy="558936"/>
                </a:xfrm>
              </p:grpSpPr>
              <p:sp>
                <p:nvSpPr>
                  <p:cNvPr id="34" name="弧形 33"/>
                  <p:cNvSpPr/>
                  <p:nvPr/>
                </p:nvSpPr>
                <p:spPr bwMode="auto">
                  <a:xfrm>
                    <a:off x="4430385" y="3500442"/>
                    <a:ext cx="581111" cy="558806"/>
                  </a:xfrm>
                  <a:prstGeom prst="arc">
                    <a:avLst>
                      <a:gd name="adj1" fmla="val 16144200"/>
                      <a:gd name="adj2" fmla="val 5427747"/>
                    </a:avLst>
                  </a:prstGeom>
                  <a:noFill/>
                  <a:ln w="38100" cap="flat" cmpd="sng" algn="ctr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sz="1800" b="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6447" name="直接连接符 78"/>
                  <p:cNvCxnSpPr>
                    <a:cxnSpLocks noChangeShapeType="1"/>
                    <a:stCxn id="34" idx="0"/>
                  </p:cNvCxnSpPr>
                  <p:nvPr/>
                </p:nvCxnSpPr>
                <p:spPr bwMode="auto">
                  <a:xfrm rot="10800000">
                    <a:off x="4285447" y="3500438"/>
                    <a:ext cx="431048" cy="37"/>
                  </a:xfrm>
                  <a:prstGeom prst="line">
                    <a:avLst/>
                  </a:prstGeom>
                  <a:noFill/>
                  <a:ln w="38100" algn="ctr">
                    <a:solidFill>
                      <a:srgbClr val="0000FF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6448" name="直接连接符 79"/>
                  <p:cNvCxnSpPr>
                    <a:cxnSpLocks noChangeShapeType="1"/>
                  </p:cNvCxnSpPr>
                  <p:nvPr/>
                </p:nvCxnSpPr>
                <p:spPr bwMode="auto">
                  <a:xfrm rot="10800000">
                    <a:off x="4285447" y="4058467"/>
                    <a:ext cx="435764" cy="1"/>
                  </a:xfrm>
                  <a:prstGeom prst="line">
                    <a:avLst/>
                  </a:prstGeom>
                  <a:noFill/>
                  <a:ln w="38100" algn="ctr">
                    <a:solidFill>
                      <a:srgbClr val="0000FF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6449" name="直接连接符 80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4006433" y="3779420"/>
                    <a:ext cx="558029" cy="1614"/>
                  </a:xfrm>
                  <a:prstGeom prst="line">
                    <a:avLst/>
                  </a:prstGeom>
                  <a:noFill/>
                  <a:ln w="38100" algn="ctr">
                    <a:solidFill>
                      <a:srgbClr val="0000FF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  <p:sp>
            <p:nvSpPr>
              <p:cNvPr id="16432" name="Line 130"/>
              <p:cNvSpPr>
                <a:spLocks noChangeShapeType="1"/>
              </p:cNvSpPr>
              <p:nvPr/>
            </p:nvSpPr>
            <p:spPr bwMode="auto">
              <a:xfrm>
                <a:off x="4857739" y="4000626"/>
                <a:ext cx="428621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6433" name="Line 130"/>
              <p:cNvSpPr>
                <a:spLocks noChangeShapeType="1"/>
              </p:cNvSpPr>
              <p:nvPr/>
            </p:nvSpPr>
            <p:spPr bwMode="auto">
              <a:xfrm>
                <a:off x="4870439" y="4357860"/>
                <a:ext cx="428621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cxnSp>
            <p:nvCxnSpPr>
              <p:cNvPr id="29" name="直接连接符 28"/>
              <p:cNvCxnSpPr/>
              <p:nvPr/>
            </p:nvCxnSpPr>
            <p:spPr bwMode="auto">
              <a:xfrm rot="16200000" flipH="1" flipV="1">
                <a:off x="4559247" y="3702136"/>
                <a:ext cx="59697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 bwMode="auto">
              <a:xfrm rot="16200000" flipH="1" flipV="1">
                <a:off x="4571947" y="4669047"/>
                <a:ext cx="59697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 bwMode="auto">
              <a:xfrm>
                <a:off x="4437047" y="4189561"/>
                <a:ext cx="857251" cy="158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 bwMode="auto">
              <a:xfrm rot="16200000" flipH="1" flipV="1">
                <a:off x="2903484" y="3786285"/>
                <a:ext cx="59697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 bwMode="auto">
              <a:xfrm rot="16200000" flipH="1" flipV="1">
                <a:off x="2903484" y="4572197"/>
                <a:ext cx="59697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439" name="Line 130"/>
              <p:cNvSpPr>
                <a:spLocks noChangeShapeType="1"/>
              </p:cNvSpPr>
              <p:nvPr/>
            </p:nvSpPr>
            <p:spPr bwMode="auto">
              <a:xfrm>
                <a:off x="2500298" y="4286256"/>
                <a:ext cx="113347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cxnSp>
            <p:nvCxnSpPr>
              <p:cNvPr id="59" name="直接连接符 58"/>
              <p:cNvCxnSpPr/>
              <p:nvPr/>
            </p:nvCxnSpPr>
            <p:spPr bwMode="auto">
              <a:xfrm rot="5400000">
                <a:off x="2036633" y="4178447"/>
                <a:ext cx="1786166" cy="158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椭圆 60"/>
              <p:cNvSpPr/>
              <p:nvPr/>
            </p:nvSpPr>
            <p:spPr>
              <a:xfrm>
                <a:off x="3168634" y="3462394"/>
                <a:ext cx="71438" cy="7144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2" name="椭圆 61"/>
              <p:cNvSpPr/>
              <p:nvPr/>
            </p:nvSpPr>
            <p:spPr>
              <a:xfrm>
                <a:off x="2895583" y="3252817"/>
                <a:ext cx="71438" cy="7144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" name="椭圆 62"/>
              <p:cNvSpPr/>
              <p:nvPr/>
            </p:nvSpPr>
            <p:spPr>
              <a:xfrm>
                <a:off x="3168634" y="4248306"/>
                <a:ext cx="71438" cy="7144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aphicFrame>
        <p:nvGraphicFramePr>
          <p:cNvPr id="33794" name="Object 2"/>
          <p:cNvGraphicFramePr>
            <a:graphicFrameLocks noChangeAspect="1"/>
          </p:cNvGraphicFramePr>
          <p:nvPr/>
        </p:nvGraphicFramePr>
        <p:xfrm>
          <a:off x="857250" y="4286250"/>
          <a:ext cx="44719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6" name="公式" r:id="rId1" imgW="2197100" imgH="241300" progId="Equation.3">
                  <p:embed/>
                </p:oleObj>
              </mc:Choice>
              <mc:Fallback>
                <p:oleObj name="公式" r:id="rId1" imgW="2197100" imgH="2413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4286250"/>
                        <a:ext cx="447198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5" name="Object 3"/>
          <p:cNvGraphicFramePr>
            <a:graphicFrameLocks noChangeAspect="1"/>
          </p:cNvGraphicFramePr>
          <p:nvPr/>
        </p:nvGraphicFramePr>
        <p:xfrm>
          <a:off x="4143375" y="1214438"/>
          <a:ext cx="439738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7" name="公式" r:id="rId3" imgW="215900" imgH="203200" progId="Equation.3">
                  <p:embed/>
                </p:oleObj>
              </mc:Choice>
              <mc:Fallback>
                <p:oleObj name="公式" r:id="rId3" imgW="215900" imgH="203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75" y="1214438"/>
                        <a:ext cx="439738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6" name="Object 4"/>
          <p:cNvGraphicFramePr>
            <a:graphicFrameLocks noChangeAspect="1"/>
          </p:cNvGraphicFramePr>
          <p:nvPr/>
        </p:nvGraphicFramePr>
        <p:xfrm>
          <a:off x="4130675" y="2022475"/>
          <a:ext cx="465138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8" name="公式" r:id="rId5" imgW="228600" imgH="215900" progId="Equation.3">
                  <p:embed/>
                </p:oleObj>
              </mc:Choice>
              <mc:Fallback>
                <p:oleObj name="公式" r:id="rId5" imgW="228600" imgH="215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0675" y="2022475"/>
                        <a:ext cx="465138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7" name="Object 5"/>
          <p:cNvGraphicFramePr>
            <a:graphicFrameLocks noChangeAspect="1"/>
          </p:cNvGraphicFramePr>
          <p:nvPr/>
        </p:nvGraphicFramePr>
        <p:xfrm>
          <a:off x="4130675" y="2808288"/>
          <a:ext cx="465138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9" name="公式" r:id="rId7" imgW="228600" imgH="215900" progId="Equation.3">
                  <p:embed/>
                </p:oleObj>
              </mc:Choice>
              <mc:Fallback>
                <p:oleObj name="公式" r:id="rId7" imgW="228600" imgH="2159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0675" y="2808288"/>
                        <a:ext cx="465138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81"/>
          <p:cNvGrpSpPr/>
          <p:nvPr/>
        </p:nvGrpSpPr>
        <p:grpSpPr bwMode="auto">
          <a:xfrm>
            <a:off x="571500" y="714375"/>
            <a:ext cx="6134100" cy="461963"/>
            <a:chOff x="357188" y="714375"/>
            <a:chExt cx="6134100" cy="461963"/>
          </a:xfrm>
        </p:grpSpPr>
        <p:sp>
          <p:nvSpPr>
            <p:cNvPr id="16412" name="矩形 2"/>
            <p:cNvSpPr>
              <a:spLocks noChangeArrowheads="1"/>
            </p:cNvSpPr>
            <p:nvPr/>
          </p:nvSpPr>
          <p:spPr bwMode="auto">
            <a:xfrm>
              <a:off x="357188" y="714375"/>
              <a:ext cx="11874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n"/>
              </a:pP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例</a:t>
              </a:r>
              <a:r>
                <a:rPr kumimoji="1" lang="en-US" altLang="zh-CN" sz="24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：</a:t>
              </a:r>
              <a:endParaRPr lang="zh-CN" altLang="en-US"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413" name="矩形 69"/>
            <p:cNvSpPr>
              <a:spLocks noChangeArrowheads="1"/>
            </p:cNvSpPr>
            <p:nvPr/>
          </p:nvSpPr>
          <p:spPr bwMode="auto">
            <a:xfrm>
              <a:off x="1357313" y="714375"/>
              <a:ext cx="513397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分析下图所示组合电路的逻辑功能。</a:t>
              </a:r>
              <a:endPara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1" name="矩形 70"/>
          <p:cNvSpPr>
            <a:spLocks noChangeArrowheads="1"/>
          </p:cNvSpPr>
          <p:nvPr/>
        </p:nvSpPr>
        <p:spPr bwMode="auto">
          <a:xfrm>
            <a:off x="428625" y="3714750"/>
            <a:ext cx="3124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）逻辑函数表达式</a:t>
            </a:r>
            <a:endParaRPr lang="zh-CN" altLang="en-US" sz="240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矩形 71"/>
          <p:cNvSpPr>
            <a:spLocks noChangeArrowheads="1"/>
          </p:cNvSpPr>
          <p:nvPr/>
        </p:nvSpPr>
        <p:spPr bwMode="auto">
          <a:xfrm>
            <a:off x="6256338" y="3714750"/>
            <a:ext cx="18875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）真值表</a:t>
            </a:r>
            <a:endParaRPr lang="zh-CN" altLang="en-US" sz="240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组合 91"/>
          <p:cNvGrpSpPr/>
          <p:nvPr/>
        </p:nvGrpSpPr>
        <p:grpSpPr bwMode="auto">
          <a:xfrm>
            <a:off x="6286500" y="4248150"/>
            <a:ext cx="2143125" cy="2324100"/>
            <a:chOff x="6286512" y="642918"/>
            <a:chExt cx="2143140" cy="2323713"/>
          </a:xfrm>
        </p:grpSpPr>
        <p:sp>
          <p:nvSpPr>
            <p:cNvPr id="16407" name="Text Box 2058"/>
            <p:cNvSpPr txBox="1">
              <a:spLocks noChangeArrowheads="1"/>
            </p:cNvSpPr>
            <p:nvPr/>
          </p:nvSpPr>
          <p:spPr bwMode="auto">
            <a:xfrm>
              <a:off x="6500826" y="642918"/>
              <a:ext cx="1828800" cy="2323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r>
                <a:rPr lang="en-US" altLang="zh-CN" sz="2000" b="1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  B   C        Y</a:t>
              </a:r>
              <a:endPara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8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0    0    0        0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8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0    0    1        0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8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0    1    0        0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8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0    1    1        1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8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1    0    0        0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8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1    0    1        1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8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1    1    0        1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8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1    1    1        1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408" name="Line 2059"/>
            <p:cNvSpPr>
              <a:spLocks noChangeShapeType="1"/>
            </p:cNvSpPr>
            <p:nvPr/>
          </p:nvSpPr>
          <p:spPr bwMode="auto">
            <a:xfrm>
              <a:off x="6286512" y="1000108"/>
              <a:ext cx="2133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9" name="Line 2061"/>
            <p:cNvSpPr>
              <a:spLocks noChangeShapeType="1"/>
            </p:cNvSpPr>
            <p:nvPr/>
          </p:nvSpPr>
          <p:spPr bwMode="auto">
            <a:xfrm>
              <a:off x="7715271" y="714356"/>
              <a:ext cx="0" cy="221457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0" name="Line 2059"/>
            <p:cNvSpPr>
              <a:spLocks noChangeShapeType="1"/>
            </p:cNvSpPr>
            <p:nvPr/>
          </p:nvSpPr>
          <p:spPr bwMode="auto">
            <a:xfrm>
              <a:off x="6286512" y="714356"/>
              <a:ext cx="2133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1" name="Line 2059"/>
            <p:cNvSpPr>
              <a:spLocks noChangeShapeType="1"/>
            </p:cNvSpPr>
            <p:nvPr/>
          </p:nvSpPr>
          <p:spPr bwMode="auto">
            <a:xfrm>
              <a:off x="6296052" y="2928934"/>
              <a:ext cx="2133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3" name="矩形 92"/>
          <p:cNvSpPr>
            <a:spLocks noChangeArrowheads="1"/>
          </p:cNvSpPr>
          <p:nvPr/>
        </p:nvSpPr>
        <p:spPr bwMode="auto">
          <a:xfrm>
            <a:off x="428625" y="4895850"/>
            <a:ext cx="29702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）分析逻辑功能</a:t>
            </a:r>
            <a:endParaRPr lang="zh-CN" altLang="en-US" sz="240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组合 97"/>
          <p:cNvGrpSpPr/>
          <p:nvPr/>
        </p:nvGrpSpPr>
        <p:grpSpPr bwMode="auto">
          <a:xfrm>
            <a:off x="6500813" y="5357813"/>
            <a:ext cx="1714500" cy="1143000"/>
            <a:chOff x="6286512" y="5357826"/>
            <a:chExt cx="1714512" cy="1143008"/>
          </a:xfrm>
        </p:grpSpPr>
        <p:sp>
          <p:nvSpPr>
            <p:cNvPr id="16405" name="Rectangle 2068"/>
            <p:cNvSpPr>
              <a:spLocks noChangeArrowheads="1"/>
            </p:cNvSpPr>
            <p:nvPr/>
          </p:nvSpPr>
          <p:spPr bwMode="auto">
            <a:xfrm>
              <a:off x="6286512" y="5786454"/>
              <a:ext cx="1714512" cy="714380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406" name="Rectangle 2068"/>
            <p:cNvSpPr>
              <a:spLocks noChangeArrowheads="1"/>
            </p:cNvSpPr>
            <p:nvPr/>
          </p:nvSpPr>
          <p:spPr bwMode="auto">
            <a:xfrm>
              <a:off x="6286512" y="5357826"/>
              <a:ext cx="1714512" cy="214314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9" name="矩形 98"/>
          <p:cNvSpPr>
            <a:spLocks noChangeArrowheads="1"/>
          </p:cNvSpPr>
          <p:nvPr/>
        </p:nvSpPr>
        <p:spPr bwMode="auto">
          <a:xfrm>
            <a:off x="1054100" y="5357813"/>
            <a:ext cx="50847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输入变量两个以上为“</a:t>
            </a:r>
            <a:r>
              <a:rPr kumimoji="1"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1”</a:t>
            </a:r>
            <a:r>
              <a:rPr kumimoji="1"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时，输出为“</a:t>
            </a:r>
            <a:r>
              <a:rPr kumimoji="1"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1”</a:t>
            </a:r>
            <a:r>
              <a:rPr kumimoji="1"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组合 102"/>
          <p:cNvGrpSpPr/>
          <p:nvPr/>
        </p:nvGrpSpPr>
        <p:grpSpPr bwMode="auto">
          <a:xfrm>
            <a:off x="6500813" y="4643438"/>
            <a:ext cx="1714500" cy="1143000"/>
            <a:chOff x="6286512" y="4643446"/>
            <a:chExt cx="1714512" cy="1143008"/>
          </a:xfrm>
        </p:grpSpPr>
        <p:sp>
          <p:nvSpPr>
            <p:cNvPr id="16403" name="Rectangle 2068"/>
            <p:cNvSpPr>
              <a:spLocks noChangeArrowheads="1"/>
            </p:cNvSpPr>
            <p:nvPr/>
          </p:nvSpPr>
          <p:spPr bwMode="auto">
            <a:xfrm>
              <a:off x="6286512" y="4643446"/>
              <a:ext cx="1714512" cy="714380"/>
            </a:xfrm>
            <a:prstGeom prst="rect">
              <a:avLst/>
            </a:prstGeom>
            <a:noFill/>
            <a:ln w="38100">
              <a:solidFill>
                <a:srgbClr val="0066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404" name="Rectangle 2068"/>
            <p:cNvSpPr>
              <a:spLocks noChangeArrowheads="1"/>
            </p:cNvSpPr>
            <p:nvPr/>
          </p:nvSpPr>
          <p:spPr bwMode="auto">
            <a:xfrm>
              <a:off x="6286512" y="5572140"/>
              <a:ext cx="1714512" cy="214314"/>
            </a:xfrm>
            <a:prstGeom prst="rect">
              <a:avLst/>
            </a:prstGeom>
            <a:noFill/>
            <a:ln w="38100">
              <a:solidFill>
                <a:srgbClr val="0066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4" name="矩形 103"/>
          <p:cNvSpPr>
            <a:spLocks noChangeArrowheads="1"/>
          </p:cNvSpPr>
          <p:nvPr/>
        </p:nvSpPr>
        <p:spPr bwMode="auto">
          <a:xfrm>
            <a:off x="1081088" y="5815013"/>
            <a:ext cx="50847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输入变量两个以上为“</a:t>
            </a:r>
            <a:r>
              <a:rPr kumimoji="1" lang="en-US" altLang="zh-CN" sz="20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0”</a:t>
            </a:r>
            <a:r>
              <a:rPr kumimoji="1" lang="zh-CN" altLang="en-US" sz="20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时，输出为“</a:t>
            </a:r>
            <a:r>
              <a:rPr kumimoji="1" lang="en-US" altLang="zh-CN" sz="20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0”</a:t>
            </a:r>
            <a:r>
              <a:rPr kumimoji="1" lang="zh-CN" altLang="en-US" sz="20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000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矩形 104"/>
          <p:cNvSpPr>
            <a:spLocks noChangeArrowheads="1"/>
          </p:cNvSpPr>
          <p:nvPr/>
        </p:nvSpPr>
        <p:spPr bwMode="auto">
          <a:xfrm>
            <a:off x="1928813" y="6181725"/>
            <a:ext cx="3587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i="1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“实现表决电路的功能”</a:t>
            </a:r>
            <a:endParaRPr lang="zh-CN" altLang="en-US" sz="2400" b="1" i="1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02" name="矩形 1"/>
          <p:cNvSpPr>
            <a:spLocks noChangeArrowheads="1"/>
          </p:cNvSpPr>
          <p:nvPr/>
        </p:nvSpPr>
        <p:spPr bwMode="auto">
          <a:xfrm>
            <a:off x="4983163" y="44450"/>
            <a:ext cx="40179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§4.2</a:t>
            </a:r>
            <a:r>
              <a:rPr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组合逻辑电路的分析和设计方法</a:t>
            </a:r>
            <a:endParaRPr lang="zh-CN" altLang="en-US" sz="18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2" grpId="0"/>
      <p:bldP spid="93" grpId="0"/>
      <p:bldP spid="99" grpId="0"/>
      <p:bldP spid="104" grpId="0"/>
      <p:bldP spid="10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4"/>
          <p:cNvSpPr txBox="1">
            <a:spLocks noChangeArrowheads="1"/>
          </p:cNvSpPr>
          <p:nvPr/>
        </p:nvSpPr>
        <p:spPr bwMode="auto">
          <a:xfrm>
            <a:off x="671513" y="261938"/>
            <a:ext cx="5543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二、组合逻辑电路的设计方法</a:t>
            </a:r>
            <a:endParaRPr lang="zh-CN" altLang="en-US" sz="2800" b="1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642938" y="2357438"/>
            <a:ext cx="7786687" cy="3416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Bef>
                <a:spcPct val="20000"/>
              </a:spcBef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工程上的最佳设计，通常需要用多个指标去衡量，主要考虑的问题有以下几个方面： </a:t>
            </a:r>
            <a:endParaRPr kumimoji="1"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 algn="just">
              <a:lnSpc>
                <a:spcPct val="150000"/>
              </a:lnSpc>
              <a:spcBef>
                <a:spcPct val="20000"/>
              </a:spcBef>
              <a:defRPr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① 所用的逻辑器件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数目最少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，器件的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种类最少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，且器件之间的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连线最少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。这样的电路称</a:t>
            </a:r>
            <a:r>
              <a:rPr kumimoji="1"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“最小化”电路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 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ct val="20000"/>
              </a:spcBef>
              <a:defRPr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② 满足速度要求，应使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级数最少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，以减少门电路的延迟。 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ct val="20000"/>
              </a:spcBef>
              <a:defRPr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③ 功耗小，工作稳定可靠。 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5"/>
          <p:cNvGrpSpPr/>
          <p:nvPr/>
        </p:nvGrpSpPr>
        <p:grpSpPr bwMode="auto">
          <a:xfrm>
            <a:off x="714375" y="982663"/>
            <a:ext cx="7643813" cy="1089025"/>
            <a:chOff x="857249" y="839273"/>
            <a:chExt cx="7643894" cy="1089354"/>
          </a:xfrm>
        </p:grpSpPr>
        <p:sp>
          <p:nvSpPr>
            <p:cNvPr id="17414" name="Text Box 7"/>
            <p:cNvSpPr txBox="1">
              <a:spLocks noChangeArrowheads="1"/>
            </p:cNvSpPr>
            <p:nvPr/>
          </p:nvSpPr>
          <p:spPr bwMode="auto">
            <a:xfrm>
              <a:off x="928662" y="839273"/>
              <a:ext cx="7500990" cy="1089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35000"/>
                </a:lnSpc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组合逻辑电路设计，就是根据给出的实际逻辑问题，求出实现这一逻辑功能的</a:t>
              </a:r>
              <a:r>
                <a:rPr kumimoji="1" lang="zh-CN" altLang="en-US" sz="2400" b="1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最佳逻辑电路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。</a:t>
              </a:r>
              <a:endPara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415" name="Rectangle 16"/>
            <p:cNvSpPr>
              <a:spLocks noChangeArrowheads="1"/>
            </p:cNvSpPr>
            <p:nvPr/>
          </p:nvSpPr>
          <p:spPr bwMode="auto">
            <a:xfrm>
              <a:off x="857249" y="857232"/>
              <a:ext cx="7643894" cy="1012825"/>
            </a:xfrm>
            <a:prstGeom prst="rect">
              <a:avLst/>
            </a:prstGeom>
            <a:noFill/>
            <a:ln w="57150" cmpd="thickThin">
              <a:solidFill>
                <a:srgbClr val="33CC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413" name="矩形 1"/>
          <p:cNvSpPr>
            <a:spLocks noChangeArrowheads="1"/>
          </p:cNvSpPr>
          <p:nvPr/>
        </p:nvSpPr>
        <p:spPr bwMode="auto">
          <a:xfrm>
            <a:off x="4983163" y="44450"/>
            <a:ext cx="40179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§4.2</a:t>
            </a:r>
            <a:r>
              <a:rPr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组合逻辑电路的分析和设计方法</a:t>
            </a:r>
            <a:endParaRPr lang="zh-CN" altLang="en-US" sz="18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6"/>
          <p:cNvSpPr>
            <a:spLocks noChangeArrowheads="1"/>
          </p:cNvSpPr>
          <p:nvPr/>
        </p:nvSpPr>
        <p:spPr bwMode="auto">
          <a:xfrm>
            <a:off x="500063" y="214313"/>
            <a:ext cx="45148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组合逻辑电路设计的一般步骤</a:t>
            </a:r>
            <a:endParaRPr kumimoji="1" lang="zh-CN" altLang="en-US" sz="240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428625" y="681038"/>
            <a:ext cx="842962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）逻辑抽象</a:t>
            </a:r>
            <a:endParaRPr kumimoji="1"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将文字描述的逻辑命题转换成真值表叫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逻辑抽象</a:t>
            </a: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kumimoji="1"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436563" y="2719388"/>
            <a:ext cx="69929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）根据真值表，写出相应的</a:t>
            </a:r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逻辑函数表达式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 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428625" y="3648075"/>
            <a:ext cx="79295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）将逻辑函数表达式</a:t>
            </a:r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化简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变换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为适当的形式。 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428625" y="4148138"/>
            <a:ext cx="83851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）根据化简或变换后的逻辑函数表达式画出</a:t>
            </a:r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逻辑电路图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214438" y="1538288"/>
            <a:ext cx="7072312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ts val="28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0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分析因果关系，</a:t>
            </a:r>
            <a:r>
              <a:rPr kumimoji="1"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确定输入、输出变量</a:t>
            </a:r>
            <a:r>
              <a:rPr kumimoji="1" lang="zh-CN" altLang="en-US" sz="20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kumimoji="1" lang="en-US" altLang="zh-CN" sz="2000" b="1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28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0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对输入、输出变量进行</a:t>
            </a:r>
            <a:r>
              <a:rPr kumimoji="1"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逻辑赋值</a:t>
            </a:r>
            <a:r>
              <a:rPr kumimoji="1" lang="zh-CN" altLang="en-US" sz="20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，即确定</a:t>
            </a:r>
            <a:r>
              <a:rPr kumimoji="1" lang="en-US" altLang="zh-CN" sz="20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zh-CN" altLang="en-US" sz="20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0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kumimoji="1" lang="zh-CN" altLang="en-US" sz="20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的具体含义；</a:t>
            </a:r>
            <a:endParaRPr kumimoji="1" lang="en-US" altLang="zh-CN" sz="2000" b="1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28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0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根据输出与输入之间的逻辑关系</a:t>
            </a:r>
            <a:r>
              <a:rPr kumimoji="1"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列出真值表</a:t>
            </a:r>
            <a:r>
              <a:rPr kumimoji="1" lang="zh-CN" altLang="en-US" sz="20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kumimoji="1" lang="zh-CN" altLang="en-US" sz="2000" b="1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428625" y="3181350"/>
            <a:ext cx="79295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）选定器件的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类型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SSI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MSI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PLD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等）。 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31"/>
          <p:cNvGrpSpPr/>
          <p:nvPr/>
        </p:nvGrpSpPr>
        <p:grpSpPr bwMode="auto">
          <a:xfrm>
            <a:off x="571500" y="4714875"/>
            <a:ext cx="8072438" cy="1909763"/>
            <a:chOff x="428596" y="4876396"/>
            <a:chExt cx="8072494" cy="1910190"/>
          </a:xfrm>
        </p:grpSpPr>
        <p:sp>
          <p:nvSpPr>
            <p:cNvPr id="18443" name="矩形 11"/>
            <p:cNvSpPr>
              <a:spLocks noChangeArrowheads="1"/>
            </p:cNvSpPr>
            <p:nvPr/>
          </p:nvSpPr>
          <p:spPr bwMode="auto">
            <a:xfrm>
              <a:off x="428596" y="5500702"/>
              <a:ext cx="700833" cy="707886"/>
            </a:xfrm>
            <a:prstGeom prst="rect">
              <a:avLst/>
            </a:prstGeom>
            <a:noFill/>
            <a:ln w="19050">
              <a:solidFill>
                <a:srgbClr val="7030A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逻辑</a:t>
              </a:r>
              <a:endParaRPr kumimoji="1"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命题</a:t>
              </a:r>
              <a:endPara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44" name="矩形 12"/>
            <p:cNvSpPr>
              <a:spLocks noChangeArrowheads="1"/>
            </p:cNvSpPr>
            <p:nvPr/>
          </p:nvSpPr>
          <p:spPr bwMode="auto">
            <a:xfrm>
              <a:off x="1571604" y="5500702"/>
              <a:ext cx="958917" cy="707886"/>
            </a:xfrm>
            <a:prstGeom prst="rect">
              <a:avLst/>
            </a:prstGeom>
            <a:noFill/>
            <a:ln w="19050">
              <a:solidFill>
                <a:srgbClr val="7030A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逻辑</a:t>
              </a:r>
              <a:endParaRPr kumimoji="1"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真值表</a:t>
              </a:r>
              <a:endPara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45" name="矩形 14"/>
            <p:cNvSpPr>
              <a:spLocks noChangeArrowheads="1"/>
            </p:cNvSpPr>
            <p:nvPr/>
          </p:nvSpPr>
          <p:spPr bwMode="auto">
            <a:xfrm>
              <a:off x="2970141" y="5500702"/>
              <a:ext cx="958917" cy="707886"/>
            </a:xfrm>
            <a:prstGeom prst="rect">
              <a:avLst/>
            </a:prstGeom>
            <a:noFill/>
            <a:ln w="19050">
              <a:solidFill>
                <a:srgbClr val="7030A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逻辑</a:t>
              </a:r>
              <a:endParaRPr kumimoji="1" lang="en-US" altLang="zh-CN" sz="20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函数式</a:t>
              </a:r>
              <a:endParaRPr lang="zh-CN" altLang="en-US" sz="20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46" name="矩形 15"/>
            <p:cNvSpPr>
              <a:spLocks noChangeArrowheads="1"/>
            </p:cNvSpPr>
            <p:nvPr/>
          </p:nvSpPr>
          <p:spPr bwMode="auto">
            <a:xfrm>
              <a:off x="4355132" y="5500702"/>
              <a:ext cx="1217000" cy="707886"/>
            </a:xfrm>
            <a:prstGeom prst="rect">
              <a:avLst/>
            </a:prstGeom>
            <a:noFill/>
            <a:ln w="19050">
              <a:solidFill>
                <a:srgbClr val="7030A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选定</a:t>
              </a:r>
              <a:endParaRPr kumimoji="1"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器件类型</a:t>
              </a:r>
              <a:endParaRPr lang="zh-CN" altLang="en-US" sz="2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47" name="矩形 16"/>
            <p:cNvSpPr>
              <a:spLocks noChangeArrowheads="1"/>
            </p:cNvSpPr>
            <p:nvPr/>
          </p:nvSpPr>
          <p:spPr bwMode="auto">
            <a:xfrm>
              <a:off x="7513658" y="4929198"/>
              <a:ext cx="958917" cy="707886"/>
            </a:xfrm>
            <a:prstGeom prst="rect">
              <a:avLst/>
            </a:prstGeom>
            <a:noFill/>
            <a:ln w="19050">
              <a:solidFill>
                <a:srgbClr val="7030A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逻辑</a:t>
              </a:r>
              <a:endParaRPr kumimoji="1" lang="en-US" altLang="zh-CN" sz="20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电路图</a:t>
              </a:r>
              <a:endPara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48" name="Line 13"/>
            <p:cNvSpPr>
              <a:spLocks noChangeShapeType="1"/>
            </p:cNvSpPr>
            <p:nvPr/>
          </p:nvSpPr>
          <p:spPr bwMode="auto">
            <a:xfrm flipV="1">
              <a:off x="1142976" y="5857892"/>
              <a:ext cx="4286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449" name="Line 13"/>
            <p:cNvSpPr>
              <a:spLocks noChangeShapeType="1"/>
            </p:cNvSpPr>
            <p:nvPr/>
          </p:nvSpPr>
          <p:spPr bwMode="auto">
            <a:xfrm flipV="1">
              <a:off x="2533635" y="5857892"/>
              <a:ext cx="43200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450" name="Line 13"/>
            <p:cNvSpPr>
              <a:spLocks noChangeShapeType="1"/>
            </p:cNvSpPr>
            <p:nvPr/>
          </p:nvSpPr>
          <p:spPr bwMode="auto">
            <a:xfrm flipV="1">
              <a:off x="3929058" y="5857892"/>
              <a:ext cx="4286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451" name="矩形 20"/>
            <p:cNvSpPr>
              <a:spLocks noChangeArrowheads="1"/>
            </p:cNvSpPr>
            <p:nvPr/>
          </p:nvSpPr>
          <p:spPr bwMode="auto">
            <a:xfrm>
              <a:off x="7542173" y="6078700"/>
              <a:ext cx="958917" cy="707886"/>
            </a:xfrm>
            <a:prstGeom prst="rect">
              <a:avLst/>
            </a:prstGeom>
            <a:noFill/>
            <a:ln w="19050">
              <a:solidFill>
                <a:srgbClr val="7030A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逻辑</a:t>
              </a:r>
              <a:endParaRPr kumimoji="1" lang="en-US" altLang="zh-CN" sz="20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电路图</a:t>
              </a:r>
              <a:endPara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52" name="矩形 21"/>
            <p:cNvSpPr>
              <a:spLocks noChangeArrowheads="1"/>
            </p:cNvSpPr>
            <p:nvPr/>
          </p:nvSpPr>
          <p:spPr bwMode="auto">
            <a:xfrm>
              <a:off x="6143636" y="4929198"/>
              <a:ext cx="958917" cy="707886"/>
            </a:xfrm>
            <a:prstGeom prst="rect">
              <a:avLst/>
            </a:prstGeom>
            <a:noFill/>
            <a:ln w="19050">
              <a:solidFill>
                <a:srgbClr val="7030A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函数式</a:t>
              </a:r>
              <a:endParaRPr kumimoji="1" lang="en-US" altLang="zh-CN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化简</a:t>
              </a:r>
              <a:endParaRPr lang="zh-CN" alt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53" name="Line 13"/>
            <p:cNvSpPr>
              <a:spLocks noChangeShapeType="1"/>
            </p:cNvSpPr>
            <p:nvPr/>
          </p:nvSpPr>
          <p:spPr bwMode="auto">
            <a:xfrm flipV="1">
              <a:off x="7097730" y="5286388"/>
              <a:ext cx="4286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454" name="Line 13"/>
            <p:cNvSpPr>
              <a:spLocks noChangeShapeType="1"/>
            </p:cNvSpPr>
            <p:nvPr/>
          </p:nvSpPr>
          <p:spPr bwMode="auto">
            <a:xfrm flipV="1">
              <a:off x="7110430" y="6429396"/>
              <a:ext cx="4286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455" name="矩形 24"/>
            <p:cNvSpPr>
              <a:spLocks noChangeArrowheads="1"/>
            </p:cNvSpPr>
            <p:nvPr/>
          </p:nvSpPr>
          <p:spPr bwMode="auto">
            <a:xfrm>
              <a:off x="6143636" y="6078700"/>
              <a:ext cx="958917" cy="707886"/>
            </a:xfrm>
            <a:prstGeom prst="rect">
              <a:avLst/>
            </a:prstGeom>
            <a:noFill/>
            <a:ln w="19050">
              <a:solidFill>
                <a:srgbClr val="7030A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函数式</a:t>
              </a:r>
              <a:endParaRPr kumimoji="1" lang="en-US" altLang="zh-CN" sz="20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变换</a:t>
              </a:r>
              <a:endParaRPr lang="zh-CN" altLang="en-US" sz="20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56" name="Line 13"/>
            <p:cNvSpPr>
              <a:spLocks noChangeShapeType="1"/>
            </p:cNvSpPr>
            <p:nvPr/>
          </p:nvSpPr>
          <p:spPr bwMode="auto">
            <a:xfrm>
              <a:off x="5857884" y="5214950"/>
              <a:ext cx="2857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457" name="Line 13"/>
            <p:cNvSpPr>
              <a:spLocks noChangeShapeType="1"/>
            </p:cNvSpPr>
            <p:nvPr/>
          </p:nvSpPr>
          <p:spPr bwMode="auto">
            <a:xfrm>
              <a:off x="5857884" y="6429396"/>
              <a:ext cx="2857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458" name="Line 13"/>
            <p:cNvSpPr>
              <a:spLocks noChangeShapeType="1"/>
            </p:cNvSpPr>
            <p:nvPr/>
          </p:nvSpPr>
          <p:spPr bwMode="auto">
            <a:xfrm>
              <a:off x="5577830" y="5857892"/>
              <a:ext cx="2880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459" name="Line 13"/>
            <p:cNvSpPr>
              <a:spLocks noChangeShapeType="1"/>
            </p:cNvSpPr>
            <p:nvPr/>
          </p:nvSpPr>
          <p:spPr bwMode="auto">
            <a:xfrm>
              <a:off x="5870584" y="5214950"/>
              <a:ext cx="0" cy="121444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460" name="矩形 29"/>
            <p:cNvSpPr>
              <a:spLocks noChangeArrowheads="1"/>
            </p:cNvSpPr>
            <p:nvPr/>
          </p:nvSpPr>
          <p:spPr bwMode="auto">
            <a:xfrm>
              <a:off x="5579755" y="4876396"/>
              <a:ext cx="49244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SSI</a:t>
              </a:r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61" name="矩形 30"/>
            <p:cNvSpPr>
              <a:spLocks noChangeArrowheads="1"/>
            </p:cNvSpPr>
            <p:nvPr/>
          </p:nvSpPr>
          <p:spPr bwMode="auto">
            <a:xfrm>
              <a:off x="4955490" y="6429396"/>
              <a:ext cx="118814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MSI</a:t>
              </a:r>
              <a:r>
                <a:rPr kumimoji="1" lang="zh-CN" altLang="en-US" sz="16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、</a:t>
              </a:r>
              <a:r>
                <a:rPr kumimoji="1"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PLD</a:t>
              </a:r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442" name="矩形 1"/>
          <p:cNvSpPr>
            <a:spLocks noChangeArrowheads="1"/>
          </p:cNvSpPr>
          <p:nvPr/>
        </p:nvSpPr>
        <p:spPr bwMode="auto">
          <a:xfrm>
            <a:off x="4983163" y="44450"/>
            <a:ext cx="40179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§4.2</a:t>
            </a:r>
            <a:r>
              <a:rPr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组合逻辑电路的分析和设计方法</a:t>
            </a:r>
            <a:endParaRPr lang="zh-CN" altLang="en-US" sz="18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矩形 1"/>
          <p:cNvSpPr>
            <a:spLocks noChangeArrowheads="1"/>
          </p:cNvSpPr>
          <p:nvPr/>
        </p:nvSpPr>
        <p:spPr bwMode="auto">
          <a:xfrm>
            <a:off x="214313" y="71438"/>
            <a:ext cx="35861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组合逻辑电路设计举例</a:t>
            </a:r>
            <a:endParaRPr lang="zh-CN" altLang="en-US" sz="240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30"/>
          <p:cNvGrpSpPr/>
          <p:nvPr/>
        </p:nvGrpSpPr>
        <p:grpSpPr bwMode="auto">
          <a:xfrm>
            <a:off x="357188" y="500063"/>
            <a:ext cx="8286750" cy="1571625"/>
            <a:chOff x="357188" y="500042"/>
            <a:chExt cx="8286778" cy="1571636"/>
          </a:xfrm>
        </p:grpSpPr>
        <p:sp>
          <p:nvSpPr>
            <p:cNvPr id="19469" name="矩形 2"/>
            <p:cNvSpPr>
              <a:spLocks noChangeArrowheads="1"/>
            </p:cNvSpPr>
            <p:nvPr/>
          </p:nvSpPr>
          <p:spPr bwMode="auto">
            <a:xfrm>
              <a:off x="357188" y="500042"/>
              <a:ext cx="11874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n"/>
              </a:pP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例</a:t>
              </a:r>
              <a:r>
                <a:rPr kumimoji="1" lang="en-US" altLang="zh-CN" sz="24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：</a:t>
              </a:r>
              <a:endParaRPr lang="zh-CN" altLang="en-US"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9470" name="矩形 3"/>
            <p:cNvSpPr>
              <a:spLocks noChangeArrowheads="1"/>
            </p:cNvSpPr>
            <p:nvPr/>
          </p:nvSpPr>
          <p:spPr bwMode="auto">
            <a:xfrm>
              <a:off x="1285852" y="502018"/>
              <a:ext cx="7358114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用与非门设计一个举重裁判表决电路。设举重比赛有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个裁判，一个主裁判和两个副裁判。只有当两个或两个以上裁判判明成功，并且其中有一个为主裁判时，表明成功的灯才亮。</a:t>
              </a:r>
              <a:endPara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25475" y="2109788"/>
            <a:ext cx="80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解：</a:t>
            </a:r>
            <a:endParaRPr lang="zh-CN" altLang="en-US" sz="240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071563" y="2143125"/>
            <a:ext cx="2428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）逻辑抽象         </a:t>
            </a:r>
            <a:endParaRPr kumimoji="1" lang="en-US" altLang="zh-CN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928813" y="2571750"/>
            <a:ext cx="6786562" cy="15700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0066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输入变量：</a:t>
            </a:r>
            <a:r>
              <a:rPr lang="en-US" altLang="zh-CN" sz="2400" b="1" dirty="0">
                <a:solidFill>
                  <a:srgbClr val="0066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rgbClr val="0066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为主裁判，</a:t>
            </a:r>
            <a:r>
              <a:rPr lang="en-US" altLang="zh-CN" sz="2400" b="1" dirty="0">
                <a:solidFill>
                  <a:srgbClr val="0066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solidFill>
                  <a:srgbClr val="0066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sz="2400" b="1" dirty="0">
                <a:solidFill>
                  <a:srgbClr val="0066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lang="zh-CN" altLang="en-US" sz="2400" b="1" dirty="0">
                <a:solidFill>
                  <a:srgbClr val="0066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为副裁判；</a:t>
            </a:r>
            <a:endParaRPr lang="en-US" altLang="zh-CN" sz="2400" b="1" dirty="0">
              <a:solidFill>
                <a:srgbClr val="0066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“1”---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成功；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“0”---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失败。</a:t>
            </a:r>
            <a:endParaRPr lang="en-US" altLang="zh-CN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24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输出变量：指示灯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zh-CN" altLang="en-US" sz="24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“1”---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灯亮；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“0”---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灯灭。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3" name="组合 13"/>
          <p:cNvGrpSpPr/>
          <p:nvPr/>
        </p:nvGrpSpPr>
        <p:grpSpPr bwMode="auto">
          <a:xfrm>
            <a:off x="1428750" y="4214813"/>
            <a:ext cx="6157913" cy="2571750"/>
            <a:chOff x="1428750" y="4214813"/>
            <a:chExt cx="6110267" cy="2571750"/>
          </a:xfrm>
        </p:grpSpPr>
        <p:grpSp>
          <p:nvGrpSpPr>
            <p:cNvPr id="19465" name="组合 31"/>
            <p:cNvGrpSpPr/>
            <p:nvPr/>
          </p:nvGrpSpPr>
          <p:grpSpPr bwMode="auto">
            <a:xfrm>
              <a:off x="1428750" y="4214813"/>
              <a:ext cx="6072188" cy="2571750"/>
              <a:chOff x="1428728" y="4214818"/>
              <a:chExt cx="6072230" cy="2571767"/>
            </a:xfrm>
          </p:grpSpPr>
          <p:graphicFrame>
            <p:nvGraphicFramePr>
              <p:cNvPr id="19467" name="Object 2"/>
              <p:cNvGraphicFramePr>
                <a:graphicFrameLocks noChangeAspect="1"/>
              </p:cNvGraphicFramePr>
              <p:nvPr/>
            </p:nvGraphicFramePr>
            <p:xfrm>
              <a:off x="1428728" y="4517840"/>
              <a:ext cx="6072230" cy="22687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473" name="Picture" r:id="rId1" imgW="3086100" imgH="1079500" progId="Word.Picture.8">
                      <p:embed/>
                    </p:oleObj>
                  </mc:Choice>
                  <mc:Fallback>
                    <p:oleObj name="Picture" r:id="rId1" imgW="3086100" imgH="1079500" progId="Word.Picture.8">
                      <p:embed/>
                      <p:pic>
                        <p:nvPicPr>
                          <p:cNvPr id="0" name="Object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28728" y="4517840"/>
                            <a:ext cx="6072230" cy="226874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468" name="矩形 28"/>
              <p:cNvSpPr>
                <a:spLocks noChangeArrowheads="1"/>
              </p:cNvSpPr>
              <p:nvPr/>
            </p:nvSpPr>
            <p:spPr bwMode="auto">
              <a:xfrm>
                <a:off x="4000496" y="4214818"/>
                <a:ext cx="958917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000" b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真值表</a:t>
                </a:r>
                <a:endParaRPr lang="zh-CN" altLang="en-US" sz="2000"/>
              </a:p>
            </p:txBody>
          </p:sp>
        </p:grpSp>
        <p:cxnSp>
          <p:nvCxnSpPr>
            <p:cNvPr id="13" name="直接连接符 12"/>
            <p:cNvCxnSpPr/>
            <p:nvPr/>
          </p:nvCxnSpPr>
          <p:spPr>
            <a:xfrm>
              <a:off x="1609900" y="4618038"/>
              <a:ext cx="592911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464" name="矩形 1"/>
          <p:cNvSpPr>
            <a:spLocks noChangeArrowheads="1"/>
          </p:cNvSpPr>
          <p:nvPr/>
        </p:nvSpPr>
        <p:spPr bwMode="auto">
          <a:xfrm>
            <a:off x="4983163" y="44450"/>
            <a:ext cx="40179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§4.2</a:t>
            </a:r>
            <a:r>
              <a:rPr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组合逻辑电路的分析和设计方法</a:t>
            </a:r>
            <a:endParaRPr lang="zh-CN" altLang="en-US" sz="18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矩形 1"/>
          <p:cNvSpPr>
            <a:spLocks noChangeArrowheads="1"/>
          </p:cNvSpPr>
          <p:nvPr/>
        </p:nvSpPr>
        <p:spPr bwMode="auto">
          <a:xfrm>
            <a:off x="657225" y="285750"/>
            <a:ext cx="3200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）逻辑函数表达式 </a:t>
            </a:r>
            <a:endParaRPr lang="zh-CN" altLang="en-US" sz="24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3"/>
          <p:cNvGraphicFramePr>
            <a:graphicFrameLocks noChangeAspect="1"/>
          </p:cNvGraphicFramePr>
          <p:nvPr/>
        </p:nvGraphicFramePr>
        <p:xfrm>
          <a:off x="1571625" y="806450"/>
          <a:ext cx="5357813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4" name="公式" r:id="rId1" imgW="2514600" imgH="241300" progId="Equation.3">
                  <p:embed/>
                </p:oleObj>
              </mc:Choice>
              <mc:Fallback>
                <p:oleObj name="公式" r:id="rId1" imgW="2514600" imgH="2413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25" y="806450"/>
                        <a:ext cx="5357813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642938" y="1608138"/>
            <a:ext cx="79295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）将逻辑函数式化简， 并用与非门实现。 </a:t>
            </a:r>
            <a:endParaRPr lang="zh-CN" altLang="en-US" sz="24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组合 31"/>
          <p:cNvGrpSpPr/>
          <p:nvPr/>
        </p:nvGrpSpPr>
        <p:grpSpPr bwMode="auto">
          <a:xfrm>
            <a:off x="1558925" y="2098675"/>
            <a:ext cx="3084513" cy="1401763"/>
            <a:chOff x="1843932" y="2171634"/>
            <a:chExt cx="3085258" cy="1401830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2428273" y="2714585"/>
              <a:ext cx="2500917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2428273" y="3143230"/>
              <a:ext cx="2500917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2428273" y="3571876"/>
              <a:ext cx="2500917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 rot="5400000" flipH="1" flipV="1">
              <a:off x="4500544" y="3143230"/>
              <a:ext cx="855703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rot="5400000" flipH="1" flipV="1">
              <a:off x="1998834" y="3142436"/>
              <a:ext cx="857291" cy="15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rot="5400000" flipH="1" flipV="1">
              <a:off x="3213565" y="3142436"/>
              <a:ext cx="857291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rot="5400000" flipH="1" flipV="1">
              <a:off x="3858245" y="3142436"/>
              <a:ext cx="857291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rot="5400000" flipH="1" flipV="1">
              <a:off x="2570472" y="3142436"/>
              <a:ext cx="857291" cy="15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rot="16200000" flipH="1">
              <a:off x="1999586" y="2285898"/>
              <a:ext cx="428645" cy="42872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50" name="矩形 23"/>
            <p:cNvSpPr>
              <a:spLocks noChangeArrowheads="1"/>
            </p:cNvSpPr>
            <p:nvPr/>
          </p:nvSpPr>
          <p:spPr bwMode="auto">
            <a:xfrm>
              <a:off x="1843932" y="2357430"/>
              <a:ext cx="37061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551" name="矩形 24"/>
            <p:cNvSpPr>
              <a:spLocks noChangeArrowheads="1"/>
            </p:cNvSpPr>
            <p:nvPr/>
          </p:nvSpPr>
          <p:spPr bwMode="auto">
            <a:xfrm>
              <a:off x="2143108" y="2171634"/>
              <a:ext cx="54213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BC</a:t>
              </a: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552" name="矩形 25"/>
            <p:cNvSpPr>
              <a:spLocks noChangeArrowheads="1"/>
            </p:cNvSpPr>
            <p:nvPr/>
          </p:nvSpPr>
          <p:spPr bwMode="auto">
            <a:xfrm>
              <a:off x="2071670" y="2714620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sz="2000">
                <a:solidFill>
                  <a:srgbClr val="000000"/>
                </a:solidFill>
              </a:endParaRPr>
            </a:p>
          </p:txBody>
        </p:sp>
        <p:sp>
          <p:nvSpPr>
            <p:cNvPr id="20553" name="矩形 26"/>
            <p:cNvSpPr>
              <a:spLocks noChangeArrowheads="1"/>
            </p:cNvSpPr>
            <p:nvPr/>
          </p:nvSpPr>
          <p:spPr bwMode="auto">
            <a:xfrm>
              <a:off x="2058246" y="3100328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000">
                <a:solidFill>
                  <a:srgbClr val="000000"/>
                </a:solidFill>
              </a:endParaRPr>
            </a:p>
          </p:txBody>
        </p:sp>
        <p:sp>
          <p:nvSpPr>
            <p:cNvPr id="20554" name="矩形 27"/>
            <p:cNvSpPr>
              <a:spLocks noChangeArrowheads="1"/>
            </p:cNvSpPr>
            <p:nvPr/>
          </p:nvSpPr>
          <p:spPr bwMode="auto">
            <a:xfrm>
              <a:off x="2500298" y="2385948"/>
              <a:ext cx="44114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00</a:t>
              </a:r>
              <a:endParaRPr lang="zh-CN" altLang="en-US" sz="2000">
                <a:solidFill>
                  <a:srgbClr val="000000"/>
                </a:solidFill>
              </a:endParaRPr>
            </a:p>
          </p:txBody>
        </p:sp>
        <p:sp>
          <p:nvSpPr>
            <p:cNvPr id="20555" name="矩形 28"/>
            <p:cNvSpPr>
              <a:spLocks noChangeArrowheads="1"/>
            </p:cNvSpPr>
            <p:nvPr/>
          </p:nvSpPr>
          <p:spPr bwMode="auto">
            <a:xfrm>
              <a:off x="3071802" y="2385948"/>
              <a:ext cx="44114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  <a:endParaRPr lang="zh-CN" altLang="en-US" sz="2000">
                <a:solidFill>
                  <a:srgbClr val="000000"/>
                </a:solidFill>
              </a:endParaRPr>
            </a:p>
          </p:txBody>
        </p:sp>
        <p:sp>
          <p:nvSpPr>
            <p:cNvPr id="20556" name="矩形 29"/>
            <p:cNvSpPr>
              <a:spLocks noChangeArrowheads="1"/>
            </p:cNvSpPr>
            <p:nvPr/>
          </p:nvSpPr>
          <p:spPr bwMode="auto">
            <a:xfrm>
              <a:off x="3714744" y="2385948"/>
              <a:ext cx="42697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zh-CN" altLang="en-US" sz="2000">
                <a:solidFill>
                  <a:srgbClr val="000000"/>
                </a:solidFill>
              </a:endParaRPr>
            </a:p>
          </p:txBody>
        </p:sp>
        <p:sp>
          <p:nvSpPr>
            <p:cNvPr id="20557" name="矩形 30"/>
            <p:cNvSpPr>
              <a:spLocks noChangeArrowheads="1"/>
            </p:cNvSpPr>
            <p:nvPr/>
          </p:nvSpPr>
          <p:spPr bwMode="auto">
            <a:xfrm>
              <a:off x="4357686" y="2385948"/>
              <a:ext cx="44114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zh-CN" altLang="en-US" sz="2000">
                <a:solidFill>
                  <a:srgbClr val="000000"/>
                </a:solidFill>
              </a:endParaRPr>
            </a:p>
          </p:txBody>
        </p:sp>
      </p:grpSp>
      <p:grpSp>
        <p:nvGrpSpPr>
          <p:cNvPr id="5" name="组合 35"/>
          <p:cNvGrpSpPr/>
          <p:nvPr/>
        </p:nvGrpSpPr>
        <p:grpSpPr bwMode="auto">
          <a:xfrm>
            <a:off x="2857500" y="3070225"/>
            <a:ext cx="1598613" cy="400050"/>
            <a:chOff x="3143240" y="3143248"/>
            <a:chExt cx="1598790" cy="400110"/>
          </a:xfrm>
        </p:grpSpPr>
        <p:sp>
          <p:nvSpPr>
            <p:cNvPr id="20538" name="矩形 32"/>
            <p:cNvSpPr>
              <a:spLocks noChangeArrowheads="1"/>
            </p:cNvSpPr>
            <p:nvPr/>
          </p:nvSpPr>
          <p:spPr bwMode="auto">
            <a:xfrm>
              <a:off x="3143240" y="3143248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000">
                <a:solidFill>
                  <a:srgbClr val="006600"/>
                </a:solidFill>
              </a:endParaRPr>
            </a:p>
          </p:txBody>
        </p:sp>
        <p:sp>
          <p:nvSpPr>
            <p:cNvPr id="20539" name="矩形 33"/>
            <p:cNvSpPr>
              <a:spLocks noChangeArrowheads="1"/>
            </p:cNvSpPr>
            <p:nvPr/>
          </p:nvSpPr>
          <p:spPr bwMode="auto">
            <a:xfrm>
              <a:off x="3830466" y="3143248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000">
                <a:solidFill>
                  <a:srgbClr val="006600"/>
                </a:solidFill>
              </a:endParaRPr>
            </a:p>
          </p:txBody>
        </p:sp>
        <p:sp>
          <p:nvSpPr>
            <p:cNvPr id="20540" name="矩形 34"/>
            <p:cNvSpPr>
              <a:spLocks noChangeArrowheads="1"/>
            </p:cNvSpPr>
            <p:nvPr/>
          </p:nvSpPr>
          <p:spPr bwMode="auto">
            <a:xfrm>
              <a:off x="4429124" y="3143248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000">
                <a:solidFill>
                  <a:srgbClr val="006600"/>
                </a:solidFill>
              </a:endParaRPr>
            </a:p>
          </p:txBody>
        </p:sp>
      </p:grpSp>
      <p:sp>
        <p:nvSpPr>
          <p:cNvPr id="37" name="Oval 54"/>
          <p:cNvSpPr>
            <a:spLocks noChangeArrowheads="1"/>
          </p:cNvSpPr>
          <p:nvPr/>
        </p:nvSpPr>
        <p:spPr bwMode="auto">
          <a:xfrm>
            <a:off x="3382963" y="3097213"/>
            <a:ext cx="1219200" cy="381000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38" name="Oval 54"/>
          <p:cNvSpPr>
            <a:spLocks noChangeArrowheads="1"/>
          </p:cNvSpPr>
          <p:nvPr/>
        </p:nvSpPr>
        <p:spPr bwMode="auto">
          <a:xfrm>
            <a:off x="2747963" y="3097213"/>
            <a:ext cx="1219200" cy="381000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rgbClr val="000000"/>
              </a:solidFill>
            </a:endParaRPr>
          </a:p>
        </p:txBody>
      </p:sp>
      <p:grpSp>
        <p:nvGrpSpPr>
          <p:cNvPr id="6" name="组合 40"/>
          <p:cNvGrpSpPr/>
          <p:nvPr/>
        </p:nvGrpSpPr>
        <p:grpSpPr bwMode="auto">
          <a:xfrm>
            <a:off x="4929188" y="2820988"/>
            <a:ext cx="2809875" cy="393700"/>
            <a:chOff x="5214942" y="2894010"/>
            <a:chExt cx="2809882" cy="393700"/>
          </a:xfrm>
        </p:grpSpPr>
        <p:graphicFrame>
          <p:nvGraphicFramePr>
            <p:cNvPr id="20536" name="Object 2"/>
            <p:cNvGraphicFramePr>
              <a:graphicFrameLocks noChangeAspect="1"/>
            </p:cNvGraphicFramePr>
            <p:nvPr/>
          </p:nvGraphicFramePr>
          <p:xfrm>
            <a:off x="6215074" y="2894010"/>
            <a:ext cx="180975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65" name="公式" r:id="rId3" imgW="888365" imgH="177800" progId="Equation.3">
                    <p:embed/>
                  </p:oleObj>
                </mc:Choice>
                <mc:Fallback>
                  <p:oleObj name="公式" r:id="rId3" imgW="888365" imgH="1778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15074" y="2894010"/>
                          <a:ext cx="1809750" cy="393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" name="右箭头 39"/>
            <p:cNvSpPr/>
            <p:nvPr/>
          </p:nvSpPr>
          <p:spPr>
            <a:xfrm>
              <a:off x="5214942" y="3000372"/>
              <a:ext cx="785814" cy="214313"/>
            </a:xfrm>
            <a:prstGeom prst="rightArrow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8" name="组合 85"/>
          <p:cNvGrpSpPr/>
          <p:nvPr/>
        </p:nvGrpSpPr>
        <p:grpSpPr bwMode="auto">
          <a:xfrm>
            <a:off x="1714500" y="3679825"/>
            <a:ext cx="6200775" cy="534988"/>
            <a:chOff x="1785918" y="3679831"/>
            <a:chExt cx="6200796" cy="534987"/>
          </a:xfrm>
        </p:grpSpPr>
        <p:sp>
          <p:nvSpPr>
            <p:cNvPr id="20534" name="矩形 41"/>
            <p:cNvSpPr>
              <a:spLocks noChangeArrowheads="1"/>
            </p:cNvSpPr>
            <p:nvPr/>
          </p:nvSpPr>
          <p:spPr bwMode="auto">
            <a:xfrm>
              <a:off x="1785918" y="3751269"/>
              <a:ext cx="307167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转化为与非</a:t>
              </a:r>
              <a:r>
                <a:rPr kumimoji="1" lang="en-US" altLang="zh-CN" sz="24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与非式：</a:t>
              </a:r>
              <a:endParaRPr lang="zh-CN" altLang="en-US" sz="2400">
                <a:solidFill>
                  <a:srgbClr val="0000FF"/>
                </a:solidFill>
              </a:endParaRPr>
            </a:p>
          </p:txBody>
        </p:sp>
        <p:graphicFrame>
          <p:nvGraphicFramePr>
            <p:cNvPr id="20535" name="Object 6"/>
            <p:cNvGraphicFramePr>
              <a:graphicFrameLocks noChangeAspect="1"/>
            </p:cNvGraphicFramePr>
            <p:nvPr/>
          </p:nvGraphicFramePr>
          <p:xfrm>
            <a:off x="4857752" y="3679831"/>
            <a:ext cx="3128962" cy="5349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66" name="公式" r:id="rId5" imgW="1536700" imgH="241300" progId="Equation.3">
                    <p:embed/>
                  </p:oleObj>
                </mc:Choice>
                <mc:Fallback>
                  <p:oleObj name="公式" r:id="rId5" imgW="1536700" imgH="2413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7752" y="3679831"/>
                          <a:ext cx="3128962" cy="5349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" name="矩形 43"/>
          <p:cNvSpPr>
            <a:spLocks noChangeArrowheads="1"/>
          </p:cNvSpPr>
          <p:nvPr/>
        </p:nvSpPr>
        <p:spPr bwMode="auto">
          <a:xfrm>
            <a:off x="642938" y="4324350"/>
            <a:ext cx="31226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）画出逻辑电路图</a:t>
            </a:r>
            <a:endParaRPr lang="zh-CN" altLang="en-US" sz="24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组合 76"/>
          <p:cNvGrpSpPr/>
          <p:nvPr/>
        </p:nvGrpSpPr>
        <p:grpSpPr bwMode="auto">
          <a:xfrm>
            <a:off x="1857375" y="4929188"/>
            <a:ext cx="4589463" cy="1400175"/>
            <a:chOff x="1928813" y="4929188"/>
            <a:chExt cx="4589462" cy="1400066"/>
          </a:xfrm>
        </p:grpSpPr>
        <p:sp>
          <p:nvSpPr>
            <p:cNvPr id="20494" name="Line 130"/>
            <p:cNvSpPr>
              <a:spLocks noChangeShapeType="1"/>
            </p:cNvSpPr>
            <p:nvPr/>
          </p:nvSpPr>
          <p:spPr bwMode="auto">
            <a:xfrm flipV="1">
              <a:off x="2214565" y="5214938"/>
              <a:ext cx="923925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495" name="Text Box 133"/>
            <p:cNvSpPr txBox="1">
              <a:spLocks noChangeArrowheads="1"/>
            </p:cNvSpPr>
            <p:nvPr/>
          </p:nvSpPr>
          <p:spPr bwMode="auto">
            <a:xfrm>
              <a:off x="1938342" y="4929188"/>
              <a:ext cx="471482" cy="4000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0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A</a:t>
              </a:r>
              <a:endParaRPr kumimoji="1"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496" name="Line 137"/>
            <p:cNvSpPr>
              <a:spLocks noChangeShapeType="1"/>
            </p:cNvSpPr>
            <p:nvPr/>
          </p:nvSpPr>
          <p:spPr bwMode="auto">
            <a:xfrm flipV="1">
              <a:off x="5618171" y="5689666"/>
              <a:ext cx="38575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497" name="Text Box 138"/>
            <p:cNvSpPr txBox="1">
              <a:spLocks noChangeArrowheads="1"/>
            </p:cNvSpPr>
            <p:nvPr/>
          </p:nvSpPr>
          <p:spPr bwMode="auto">
            <a:xfrm>
              <a:off x="6046793" y="5475353"/>
              <a:ext cx="471482" cy="457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y</a:t>
              </a:r>
              <a:endPara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20498" name="组合 61"/>
            <p:cNvGrpSpPr/>
            <p:nvPr/>
          </p:nvGrpSpPr>
          <p:grpSpPr bwMode="auto">
            <a:xfrm>
              <a:off x="3138477" y="5072040"/>
              <a:ext cx="785811" cy="500078"/>
              <a:chOff x="4357684" y="1214402"/>
              <a:chExt cx="638181" cy="428640"/>
            </a:xfrm>
          </p:grpSpPr>
          <p:sp>
            <p:nvSpPr>
              <p:cNvPr id="20528" name="Oval 132"/>
              <p:cNvSpPr>
                <a:spLocks noChangeArrowheads="1"/>
              </p:cNvSpPr>
              <p:nvPr/>
            </p:nvSpPr>
            <p:spPr bwMode="auto">
              <a:xfrm>
                <a:off x="4878390" y="1382698"/>
                <a:ext cx="117475" cy="117475"/>
              </a:xfrm>
              <a:prstGeom prst="ellipse">
                <a:avLst/>
              </a:prstGeom>
              <a:noFill/>
              <a:ln w="28575" cap="sq">
                <a:solidFill>
                  <a:srgbClr val="0000FF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20529" name="组合 76"/>
              <p:cNvGrpSpPr/>
              <p:nvPr/>
            </p:nvGrpSpPr>
            <p:grpSpPr bwMode="auto">
              <a:xfrm>
                <a:off x="4357684" y="1214402"/>
                <a:ext cx="501524" cy="428640"/>
                <a:chOff x="4284641" y="3500418"/>
                <a:chExt cx="726865" cy="558823"/>
              </a:xfrm>
            </p:grpSpPr>
            <p:sp>
              <p:nvSpPr>
                <p:cNvPr id="82" name="弧形 81"/>
                <p:cNvSpPr/>
                <p:nvPr/>
              </p:nvSpPr>
              <p:spPr bwMode="auto">
                <a:xfrm>
                  <a:off x="4430400" y="3500431"/>
                  <a:ext cx="581116" cy="558762"/>
                </a:xfrm>
                <a:prstGeom prst="arc">
                  <a:avLst>
                    <a:gd name="adj1" fmla="val 16144200"/>
                    <a:gd name="adj2" fmla="val 5427747"/>
                  </a:avLst>
                </a:prstGeom>
                <a:noFill/>
                <a:ln w="38100" cap="flat" cmpd="sng" algn="ctr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sz="1800" b="1">
                    <a:solidFill>
                      <a:srgbClr val="000000"/>
                    </a:solidFill>
                  </a:endParaRPr>
                </a:p>
              </p:txBody>
            </p:sp>
            <p:cxnSp>
              <p:nvCxnSpPr>
                <p:cNvPr id="20531" name="直接连接符 78"/>
                <p:cNvCxnSpPr>
                  <a:cxnSpLocks noChangeShapeType="1"/>
                  <a:stCxn id="82" idx="0"/>
                </p:cNvCxnSpPr>
                <p:nvPr/>
              </p:nvCxnSpPr>
              <p:spPr bwMode="auto">
                <a:xfrm rot="10800000">
                  <a:off x="4285447" y="3500438"/>
                  <a:ext cx="431048" cy="37"/>
                </a:xfrm>
                <a:prstGeom prst="line">
                  <a:avLst/>
                </a:prstGeom>
                <a:noFill/>
                <a:ln w="38100" algn="ctr">
                  <a:solidFill>
                    <a:srgbClr val="0000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0532" name="直接连接符 79"/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4285447" y="4058467"/>
                  <a:ext cx="435764" cy="1"/>
                </a:xfrm>
                <a:prstGeom prst="line">
                  <a:avLst/>
                </a:prstGeom>
                <a:noFill/>
                <a:ln w="38100" algn="ctr">
                  <a:solidFill>
                    <a:srgbClr val="0000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0533" name="直接连接符 80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4006433" y="3779420"/>
                  <a:ext cx="558029" cy="1614"/>
                </a:xfrm>
                <a:prstGeom prst="line">
                  <a:avLst/>
                </a:prstGeom>
                <a:noFill/>
                <a:ln w="38100" algn="ctr">
                  <a:solidFill>
                    <a:srgbClr val="0000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sp>
          <p:nvSpPr>
            <p:cNvPr id="20499" name="Line 137"/>
            <p:cNvSpPr>
              <a:spLocks noChangeShapeType="1"/>
            </p:cNvSpPr>
            <p:nvPr/>
          </p:nvSpPr>
          <p:spPr bwMode="auto">
            <a:xfrm flipV="1">
              <a:off x="5592771" y="5689666"/>
              <a:ext cx="38575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500" name="Text Box 138"/>
            <p:cNvSpPr txBox="1">
              <a:spLocks noChangeArrowheads="1"/>
            </p:cNvSpPr>
            <p:nvPr/>
          </p:nvSpPr>
          <p:spPr bwMode="auto">
            <a:xfrm>
              <a:off x="6046793" y="5475353"/>
              <a:ext cx="471482" cy="457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y</a:t>
              </a:r>
              <a:endPara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01" name="Text Box 133"/>
            <p:cNvSpPr txBox="1">
              <a:spLocks noChangeArrowheads="1"/>
            </p:cNvSpPr>
            <p:nvPr/>
          </p:nvSpPr>
          <p:spPr bwMode="auto">
            <a:xfrm>
              <a:off x="1928813" y="5214939"/>
              <a:ext cx="471482" cy="4000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0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B</a:t>
              </a:r>
              <a:endParaRPr kumimoji="1"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02" name="Line 130"/>
            <p:cNvSpPr>
              <a:spLocks noChangeShapeType="1"/>
            </p:cNvSpPr>
            <p:nvPr/>
          </p:nvSpPr>
          <p:spPr bwMode="auto">
            <a:xfrm>
              <a:off x="3937003" y="5332414"/>
              <a:ext cx="42862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503" name="Line 130"/>
            <p:cNvSpPr>
              <a:spLocks noChangeShapeType="1"/>
            </p:cNvSpPr>
            <p:nvPr/>
          </p:nvSpPr>
          <p:spPr bwMode="auto">
            <a:xfrm>
              <a:off x="2709869" y="5928531"/>
              <a:ext cx="42862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20504" name="组合 131"/>
            <p:cNvGrpSpPr/>
            <p:nvPr/>
          </p:nvGrpSpPr>
          <p:grpSpPr bwMode="auto">
            <a:xfrm>
              <a:off x="3138477" y="5786454"/>
              <a:ext cx="785811" cy="500182"/>
              <a:chOff x="4357684" y="1214319"/>
              <a:chExt cx="638181" cy="428729"/>
            </a:xfrm>
          </p:grpSpPr>
          <p:sp>
            <p:nvSpPr>
              <p:cNvPr id="20522" name="Oval 132"/>
              <p:cNvSpPr>
                <a:spLocks noChangeArrowheads="1"/>
              </p:cNvSpPr>
              <p:nvPr/>
            </p:nvSpPr>
            <p:spPr bwMode="auto">
              <a:xfrm>
                <a:off x="4878390" y="1382698"/>
                <a:ext cx="117475" cy="117475"/>
              </a:xfrm>
              <a:prstGeom prst="ellipse">
                <a:avLst/>
              </a:prstGeom>
              <a:noFill/>
              <a:ln w="28575" cap="sq">
                <a:solidFill>
                  <a:srgbClr val="0000FF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20523" name="组合 76"/>
              <p:cNvGrpSpPr/>
              <p:nvPr/>
            </p:nvGrpSpPr>
            <p:grpSpPr bwMode="auto">
              <a:xfrm>
                <a:off x="4357684" y="1214319"/>
                <a:ext cx="501524" cy="428729"/>
                <a:chOff x="4284641" y="3500303"/>
                <a:chExt cx="726865" cy="558938"/>
              </a:xfrm>
            </p:grpSpPr>
            <p:sp>
              <p:nvSpPr>
                <p:cNvPr id="76" name="弧形 75"/>
                <p:cNvSpPr/>
                <p:nvPr/>
              </p:nvSpPr>
              <p:spPr bwMode="auto">
                <a:xfrm>
                  <a:off x="4430400" y="3500210"/>
                  <a:ext cx="581116" cy="558760"/>
                </a:xfrm>
                <a:prstGeom prst="arc">
                  <a:avLst>
                    <a:gd name="adj1" fmla="val 16144200"/>
                    <a:gd name="adj2" fmla="val 5427747"/>
                  </a:avLst>
                </a:prstGeom>
                <a:noFill/>
                <a:ln w="38100" cap="flat" cmpd="sng" algn="ctr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sz="1800" b="1">
                    <a:solidFill>
                      <a:srgbClr val="000000"/>
                    </a:solidFill>
                  </a:endParaRPr>
                </a:p>
              </p:txBody>
            </p:sp>
            <p:cxnSp>
              <p:nvCxnSpPr>
                <p:cNvPr id="20525" name="直接连接符 78"/>
                <p:cNvCxnSpPr>
                  <a:cxnSpLocks noChangeShapeType="1"/>
                  <a:stCxn id="76" idx="0"/>
                </p:cNvCxnSpPr>
                <p:nvPr/>
              </p:nvCxnSpPr>
              <p:spPr bwMode="auto">
                <a:xfrm rot="10800000">
                  <a:off x="4285447" y="3500438"/>
                  <a:ext cx="431048" cy="37"/>
                </a:xfrm>
                <a:prstGeom prst="line">
                  <a:avLst/>
                </a:prstGeom>
                <a:noFill/>
                <a:ln w="38100" algn="ctr">
                  <a:solidFill>
                    <a:srgbClr val="0000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0526" name="直接连接符 79"/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4285447" y="4058467"/>
                  <a:ext cx="435764" cy="1"/>
                </a:xfrm>
                <a:prstGeom prst="line">
                  <a:avLst/>
                </a:prstGeom>
                <a:noFill/>
                <a:ln w="38100" algn="ctr">
                  <a:solidFill>
                    <a:srgbClr val="0000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0527" name="直接连接符 80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4006433" y="3779420"/>
                  <a:ext cx="558029" cy="1614"/>
                </a:xfrm>
                <a:prstGeom prst="line">
                  <a:avLst/>
                </a:prstGeom>
                <a:noFill/>
                <a:ln w="38100" algn="ctr">
                  <a:solidFill>
                    <a:srgbClr val="0000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sp>
          <p:nvSpPr>
            <p:cNvPr id="20505" name="Text Box 133"/>
            <p:cNvSpPr txBox="1">
              <a:spLocks noChangeArrowheads="1"/>
            </p:cNvSpPr>
            <p:nvPr/>
          </p:nvSpPr>
          <p:spPr bwMode="auto">
            <a:xfrm>
              <a:off x="1928813" y="5929194"/>
              <a:ext cx="471482" cy="4000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0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C</a:t>
              </a:r>
              <a:endParaRPr kumimoji="1"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20506" name="组合 153"/>
            <p:cNvGrpSpPr/>
            <p:nvPr/>
          </p:nvGrpSpPr>
          <p:grpSpPr bwMode="auto">
            <a:xfrm>
              <a:off x="4799018" y="5429194"/>
              <a:ext cx="785804" cy="500180"/>
              <a:chOff x="4357690" y="1214317"/>
              <a:chExt cx="638175" cy="428727"/>
            </a:xfrm>
          </p:grpSpPr>
          <p:sp>
            <p:nvSpPr>
              <p:cNvPr id="20516" name="Oval 132"/>
              <p:cNvSpPr>
                <a:spLocks noChangeArrowheads="1"/>
              </p:cNvSpPr>
              <p:nvPr/>
            </p:nvSpPr>
            <p:spPr bwMode="auto">
              <a:xfrm>
                <a:off x="4878390" y="1382698"/>
                <a:ext cx="117475" cy="117475"/>
              </a:xfrm>
              <a:prstGeom prst="ellipse">
                <a:avLst/>
              </a:prstGeom>
              <a:noFill/>
              <a:ln w="28575" cap="sq">
                <a:solidFill>
                  <a:srgbClr val="0000FF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20517" name="组合 76"/>
              <p:cNvGrpSpPr/>
              <p:nvPr/>
            </p:nvGrpSpPr>
            <p:grpSpPr bwMode="auto">
              <a:xfrm>
                <a:off x="4357690" y="1214317"/>
                <a:ext cx="501523" cy="428727"/>
                <a:chOff x="4284641" y="3500305"/>
                <a:chExt cx="726862" cy="558936"/>
              </a:xfrm>
            </p:grpSpPr>
            <p:sp>
              <p:nvSpPr>
                <p:cNvPr id="70" name="弧形 69"/>
                <p:cNvSpPr/>
                <p:nvPr/>
              </p:nvSpPr>
              <p:spPr bwMode="auto">
                <a:xfrm>
                  <a:off x="4430379" y="3500324"/>
                  <a:ext cx="581114" cy="558762"/>
                </a:xfrm>
                <a:prstGeom prst="arc">
                  <a:avLst>
                    <a:gd name="adj1" fmla="val 16144200"/>
                    <a:gd name="adj2" fmla="val 5427747"/>
                  </a:avLst>
                </a:prstGeom>
                <a:noFill/>
                <a:ln w="38100" cap="flat" cmpd="sng" algn="ctr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sz="1800" b="1">
                    <a:solidFill>
                      <a:srgbClr val="000000"/>
                    </a:solidFill>
                  </a:endParaRPr>
                </a:p>
              </p:txBody>
            </p:sp>
            <p:cxnSp>
              <p:nvCxnSpPr>
                <p:cNvPr id="20519" name="直接连接符 78"/>
                <p:cNvCxnSpPr>
                  <a:cxnSpLocks noChangeShapeType="1"/>
                  <a:stCxn id="70" idx="0"/>
                </p:cNvCxnSpPr>
                <p:nvPr/>
              </p:nvCxnSpPr>
              <p:spPr bwMode="auto">
                <a:xfrm rot="10800000">
                  <a:off x="4285447" y="3500438"/>
                  <a:ext cx="431048" cy="37"/>
                </a:xfrm>
                <a:prstGeom prst="line">
                  <a:avLst/>
                </a:prstGeom>
                <a:noFill/>
                <a:ln w="38100" algn="ctr">
                  <a:solidFill>
                    <a:srgbClr val="0000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0520" name="直接连接符 79"/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4285447" y="4058467"/>
                  <a:ext cx="435764" cy="1"/>
                </a:xfrm>
                <a:prstGeom prst="line">
                  <a:avLst/>
                </a:prstGeom>
                <a:noFill/>
                <a:ln w="38100" algn="ctr">
                  <a:solidFill>
                    <a:srgbClr val="0000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0521" name="直接连接符 80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4006433" y="3779420"/>
                  <a:ext cx="558029" cy="1614"/>
                </a:xfrm>
                <a:prstGeom prst="line">
                  <a:avLst/>
                </a:prstGeom>
                <a:noFill/>
                <a:ln w="38100" algn="ctr">
                  <a:solidFill>
                    <a:srgbClr val="0000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sp>
          <p:nvSpPr>
            <p:cNvPr id="20507" name="Line 130"/>
            <p:cNvSpPr>
              <a:spLocks noChangeShapeType="1"/>
            </p:cNvSpPr>
            <p:nvPr/>
          </p:nvSpPr>
          <p:spPr bwMode="auto">
            <a:xfrm>
              <a:off x="4370397" y="5572049"/>
              <a:ext cx="42862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508" name="Line 130"/>
            <p:cNvSpPr>
              <a:spLocks noChangeShapeType="1"/>
            </p:cNvSpPr>
            <p:nvPr/>
          </p:nvSpPr>
          <p:spPr bwMode="auto">
            <a:xfrm>
              <a:off x="4370397" y="5786336"/>
              <a:ext cx="42862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cxnSp>
          <p:nvCxnSpPr>
            <p:cNvPr id="61" name="直接连接符 60"/>
            <p:cNvCxnSpPr/>
            <p:nvPr/>
          </p:nvCxnSpPr>
          <p:spPr bwMode="auto">
            <a:xfrm rot="16200000" flipH="1">
              <a:off x="4245779" y="5452228"/>
              <a:ext cx="23969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>
              <a:endCxn id="20503" idx="0"/>
            </p:cNvCxnSpPr>
            <p:nvPr/>
          </p:nvCxnSpPr>
          <p:spPr bwMode="auto">
            <a:xfrm rot="5400000">
              <a:off x="2355085" y="5569694"/>
              <a:ext cx="714319" cy="476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11" name="Line 130"/>
            <p:cNvSpPr>
              <a:spLocks noChangeShapeType="1"/>
            </p:cNvSpPr>
            <p:nvPr/>
          </p:nvSpPr>
          <p:spPr bwMode="auto">
            <a:xfrm flipV="1">
              <a:off x="2214564" y="5429191"/>
              <a:ext cx="923925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512" name="Line 130"/>
            <p:cNvSpPr>
              <a:spLocks noChangeShapeType="1"/>
            </p:cNvSpPr>
            <p:nvPr/>
          </p:nvSpPr>
          <p:spPr bwMode="auto">
            <a:xfrm flipV="1">
              <a:off x="2214564" y="6142687"/>
              <a:ext cx="923925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513" name="Line 130"/>
            <p:cNvSpPr>
              <a:spLocks noChangeShapeType="1"/>
            </p:cNvSpPr>
            <p:nvPr/>
          </p:nvSpPr>
          <p:spPr bwMode="auto">
            <a:xfrm>
              <a:off x="3941770" y="6058558"/>
              <a:ext cx="42862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cxnSp>
          <p:nvCxnSpPr>
            <p:cNvPr id="66" name="直接连接符 65"/>
            <p:cNvCxnSpPr/>
            <p:nvPr/>
          </p:nvCxnSpPr>
          <p:spPr bwMode="auto">
            <a:xfrm rot="5400000">
              <a:off x="4228318" y="5915742"/>
              <a:ext cx="285728" cy="1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椭圆 66"/>
            <p:cNvSpPr/>
            <p:nvPr/>
          </p:nvSpPr>
          <p:spPr bwMode="auto">
            <a:xfrm>
              <a:off x="2681288" y="5164120"/>
              <a:ext cx="71438" cy="7143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</p:grpSp>
      <p:sp>
        <p:nvSpPr>
          <p:cNvPr id="20493" name="矩形 1"/>
          <p:cNvSpPr>
            <a:spLocks noChangeArrowheads="1"/>
          </p:cNvSpPr>
          <p:nvPr/>
        </p:nvSpPr>
        <p:spPr bwMode="auto">
          <a:xfrm>
            <a:off x="4983163" y="44450"/>
            <a:ext cx="40179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§4.2</a:t>
            </a:r>
            <a:r>
              <a:rPr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组合逻辑电路的分析和设计方法</a:t>
            </a:r>
            <a:endParaRPr lang="zh-CN" altLang="en-US" sz="18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7" grpId="0" animBg="1"/>
      <p:bldP spid="38" grpId="0" animBg="1"/>
      <p:bldP spid="4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矩形 1"/>
          <p:cNvSpPr>
            <a:spLocks noChangeArrowheads="1"/>
          </p:cNvSpPr>
          <p:nvPr/>
        </p:nvSpPr>
        <p:spPr bwMode="auto">
          <a:xfrm>
            <a:off x="1000125" y="71438"/>
            <a:ext cx="7786688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设计水箱供水控制电路。如图所示，水箱由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两台水泵供水，水箱中设置了三个水位检测元件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。水位低于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时，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同时工作；水位介于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L—M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之间时，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单独工作；水位介于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M—H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之间时，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单独工作；水位高于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时，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停止工作。</a:t>
            </a:r>
            <a:endParaRPr kumimoji="1" lang="en-US" altLang="zh-CN" sz="24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07" name="矩形 2"/>
          <p:cNvSpPr>
            <a:spLocks noChangeArrowheads="1"/>
          </p:cNvSpPr>
          <p:nvPr/>
        </p:nvSpPr>
        <p:spPr bwMode="auto">
          <a:xfrm>
            <a:off x="169863" y="71438"/>
            <a:ext cx="11858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：</a:t>
            </a:r>
            <a:endParaRPr lang="zh-CN" altLang="en-US" sz="240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285750" y="3929063"/>
            <a:ext cx="80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解：</a:t>
            </a:r>
            <a:endParaRPr lang="zh-CN" altLang="en-US" sz="240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731838" y="3929063"/>
            <a:ext cx="2428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）逻辑抽象         </a:t>
            </a:r>
            <a:endParaRPr kumimoji="1" lang="en-US" altLang="zh-CN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00188" y="4276725"/>
            <a:ext cx="4983162" cy="24003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 dirty="0">
                <a:solidFill>
                  <a:srgbClr val="0066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输入变量：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水位检测量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 </a:t>
            </a:r>
            <a:endParaRPr lang="en-US" altLang="zh-CN" sz="2000" b="1" dirty="0">
              <a:solidFill>
                <a:srgbClr val="0066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</a:t>
            </a:r>
            <a:r>
              <a:rPr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“1”---</a:t>
            </a: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液面超过该水位；</a:t>
            </a:r>
            <a:endParaRPr lang="en-US" altLang="zh-CN" sz="20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“0”---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液面低于该水位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0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0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输出变量：</a:t>
            </a:r>
            <a:r>
              <a:rPr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水泵控制量</a:t>
            </a:r>
            <a:r>
              <a:rPr kumimoji="1"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kumimoji="1"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1"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zh-CN" altLang="en-US" sz="20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2000" b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“1”---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工作；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“0”---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停机。</a:t>
            </a:r>
            <a:endParaRPr lang="zh-CN" altLang="en-US" sz="20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21511" name="组合 39"/>
          <p:cNvGrpSpPr/>
          <p:nvPr/>
        </p:nvGrpSpPr>
        <p:grpSpPr bwMode="auto">
          <a:xfrm>
            <a:off x="1071563" y="2071688"/>
            <a:ext cx="2786062" cy="1897062"/>
            <a:chOff x="357158" y="2714620"/>
            <a:chExt cx="2786082" cy="1897073"/>
          </a:xfrm>
        </p:grpSpPr>
        <p:pic>
          <p:nvPicPr>
            <p:cNvPr id="21547" name="Picture 37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158" y="2714620"/>
              <a:ext cx="2786082" cy="1481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48" name="Text Box 42"/>
            <p:cNvSpPr txBox="1">
              <a:spLocks noChangeArrowheads="1"/>
            </p:cNvSpPr>
            <p:nvPr/>
          </p:nvSpPr>
          <p:spPr bwMode="auto">
            <a:xfrm>
              <a:off x="1214414" y="4214818"/>
              <a:ext cx="1008064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000" b="1"/>
                <a:t>示意图</a:t>
              </a:r>
              <a:endParaRPr lang="zh-CN" altLang="en-US" sz="2000" b="1"/>
            </a:p>
          </p:txBody>
        </p:sp>
      </p:grpSp>
      <p:sp>
        <p:nvSpPr>
          <p:cNvPr id="44" name="Text Box 2058"/>
          <p:cNvSpPr txBox="1">
            <a:spLocks noChangeArrowheads="1"/>
          </p:cNvSpPr>
          <p:nvPr/>
        </p:nvSpPr>
        <p:spPr bwMode="auto">
          <a:xfrm>
            <a:off x="6215063" y="4294188"/>
            <a:ext cx="2643187" cy="234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2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0    0    0  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22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0    0    1  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22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0    1    0  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22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0    1    1  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22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1    0    0 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22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1    0    1 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22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1    1    0 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22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1    1    1 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组合 23"/>
          <p:cNvGrpSpPr/>
          <p:nvPr/>
        </p:nvGrpSpPr>
        <p:grpSpPr bwMode="auto">
          <a:xfrm>
            <a:off x="7597775" y="4929188"/>
            <a:ext cx="142875" cy="142875"/>
            <a:chOff x="4714876" y="1714488"/>
            <a:chExt cx="285752" cy="285752"/>
          </a:xfrm>
        </p:grpSpPr>
        <p:cxnSp>
          <p:nvCxnSpPr>
            <p:cNvPr id="50" name="直接连接符 49"/>
            <p:cNvCxnSpPr/>
            <p:nvPr/>
          </p:nvCxnSpPr>
          <p:spPr>
            <a:xfrm rot="5400000">
              <a:off x="4714876" y="1714488"/>
              <a:ext cx="285752" cy="2857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rot="16200000" flipH="1">
              <a:off x="4721226" y="1746238"/>
              <a:ext cx="285752" cy="2222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26"/>
          <p:cNvGrpSpPr/>
          <p:nvPr/>
        </p:nvGrpSpPr>
        <p:grpSpPr bwMode="auto">
          <a:xfrm>
            <a:off x="8072438" y="4929188"/>
            <a:ext cx="142875" cy="142875"/>
            <a:chOff x="4714876" y="1714488"/>
            <a:chExt cx="285752" cy="285752"/>
          </a:xfrm>
        </p:grpSpPr>
        <p:cxnSp>
          <p:nvCxnSpPr>
            <p:cNvPr id="53" name="直接连接符 52"/>
            <p:cNvCxnSpPr/>
            <p:nvPr/>
          </p:nvCxnSpPr>
          <p:spPr>
            <a:xfrm rot="5400000">
              <a:off x="4714876" y="1714488"/>
              <a:ext cx="285752" cy="2857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rot="16200000" flipH="1">
              <a:off x="4721226" y="1746238"/>
              <a:ext cx="285752" cy="2222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29"/>
          <p:cNvGrpSpPr/>
          <p:nvPr/>
        </p:nvGrpSpPr>
        <p:grpSpPr bwMode="auto">
          <a:xfrm>
            <a:off x="7597775" y="5500688"/>
            <a:ext cx="142875" cy="142875"/>
            <a:chOff x="4714876" y="1714488"/>
            <a:chExt cx="285752" cy="285752"/>
          </a:xfrm>
        </p:grpSpPr>
        <p:cxnSp>
          <p:nvCxnSpPr>
            <p:cNvPr id="56" name="直接连接符 55"/>
            <p:cNvCxnSpPr/>
            <p:nvPr/>
          </p:nvCxnSpPr>
          <p:spPr>
            <a:xfrm rot="5400000">
              <a:off x="4714876" y="1714488"/>
              <a:ext cx="285752" cy="2857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rot="16200000" flipH="1">
              <a:off x="4721226" y="1746238"/>
              <a:ext cx="285752" cy="2222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32"/>
          <p:cNvGrpSpPr/>
          <p:nvPr/>
        </p:nvGrpSpPr>
        <p:grpSpPr bwMode="auto">
          <a:xfrm>
            <a:off x="8072438" y="5500688"/>
            <a:ext cx="142875" cy="142875"/>
            <a:chOff x="4714876" y="1714488"/>
            <a:chExt cx="285752" cy="285752"/>
          </a:xfrm>
        </p:grpSpPr>
        <p:cxnSp>
          <p:nvCxnSpPr>
            <p:cNvPr id="59" name="直接连接符 58"/>
            <p:cNvCxnSpPr/>
            <p:nvPr/>
          </p:nvCxnSpPr>
          <p:spPr>
            <a:xfrm rot="5400000">
              <a:off x="4714876" y="1714488"/>
              <a:ext cx="285752" cy="2857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rot="16200000" flipH="1">
              <a:off x="4721226" y="1746238"/>
              <a:ext cx="285752" cy="2222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35"/>
          <p:cNvGrpSpPr/>
          <p:nvPr/>
        </p:nvGrpSpPr>
        <p:grpSpPr bwMode="auto">
          <a:xfrm>
            <a:off x="7597775" y="5786438"/>
            <a:ext cx="142875" cy="142875"/>
            <a:chOff x="4714876" y="1714488"/>
            <a:chExt cx="285752" cy="285752"/>
          </a:xfrm>
        </p:grpSpPr>
        <p:cxnSp>
          <p:nvCxnSpPr>
            <p:cNvPr id="62" name="直接连接符 61"/>
            <p:cNvCxnSpPr/>
            <p:nvPr/>
          </p:nvCxnSpPr>
          <p:spPr>
            <a:xfrm rot="5400000">
              <a:off x="4714876" y="1714488"/>
              <a:ext cx="285752" cy="2857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rot="16200000" flipH="1">
              <a:off x="4721226" y="1746238"/>
              <a:ext cx="285752" cy="2222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38"/>
          <p:cNvGrpSpPr/>
          <p:nvPr/>
        </p:nvGrpSpPr>
        <p:grpSpPr bwMode="auto">
          <a:xfrm>
            <a:off x="8072438" y="5786438"/>
            <a:ext cx="142875" cy="142875"/>
            <a:chOff x="4714876" y="1714488"/>
            <a:chExt cx="285752" cy="285752"/>
          </a:xfrm>
        </p:grpSpPr>
        <p:cxnSp>
          <p:nvCxnSpPr>
            <p:cNvPr id="65" name="直接连接符 64"/>
            <p:cNvCxnSpPr/>
            <p:nvPr/>
          </p:nvCxnSpPr>
          <p:spPr>
            <a:xfrm rot="5400000">
              <a:off x="4714876" y="1714488"/>
              <a:ext cx="285752" cy="2857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rot="16200000" flipH="1">
              <a:off x="4721226" y="1746238"/>
              <a:ext cx="285752" cy="2222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41"/>
          <p:cNvGrpSpPr/>
          <p:nvPr/>
        </p:nvGrpSpPr>
        <p:grpSpPr bwMode="auto">
          <a:xfrm>
            <a:off x="7597775" y="6072188"/>
            <a:ext cx="142875" cy="142875"/>
            <a:chOff x="4714876" y="1714488"/>
            <a:chExt cx="285752" cy="285752"/>
          </a:xfrm>
        </p:grpSpPr>
        <p:cxnSp>
          <p:nvCxnSpPr>
            <p:cNvPr id="68" name="直接连接符 67"/>
            <p:cNvCxnSpPr/>
            <p:nvPr/>
          </p:nvCxnSpPr>
          <p:spPr>
            <a:xfrm rot="5400000">
              <a:off x="4714876" y="1714488"/>
              <a:ext cx="285752" cy="2857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rot="16200000" flipH="1">
              <a:off x="4721226" y="1746238"/>
              <a:ext cx="285752" cy="2222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44"/>
          <p:cNvGrpSpPr/>
          <p:nvPr/>
        </p:nvGrpSpPr>
        <p:grpSpPr bwMode="auto">
          <a:xfrm>
            <a:off x="8072438" y="6072188"/>
            <a:ext cx="142875" cy="142875"/>
            <a:chOff x="4714876" y="1714488"/>
            <a:chExt cx="285752" cy="285752"/>
          </a:xfrm>
        </p:grpSpPr>
        <p:cxnSp>
          <p:nvCxnSpPr>
            <p:cNvPr id="71" name="直接连接符 70"/>
            <p:cNvCxnSpPr/>
            <p:nvPr/>
          </p:nvCxnSpPr>
          <p:spPr>
            <a:xfrm rot="5400000">
              <a:off x="4714876" y="1714488"/>
              <a:ext cx="285752" cy="2857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 rot="16200000" flipH="1">
              <a:off x="4721226" y="1746238"/>
              <a:ext cx="285752" cy="2222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Text Box 2058"/>
          <p:cNvSpPr txBox="1">
            <a:spLocks noChangeArrowheads="1"/>
          </p:cNvSpPr>
          <p:nvPr/>
        </p:nvSpPr>
        <p:spPr bwMode="auto">
          <a:xfrm>
            <a:off x="7500938" y="4286250"/>
            <a:ext cx="1000125" cy="234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2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22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22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22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22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22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22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22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组合 77"/>
          <p:cNvGrpSpPr/>
          <p:nvPr/>
        </p:nvGrpSpPr>
        <p:grpSpPr bwMode="auto">
          <a:xfrm>
            <a:off x="6215063" y="3529013"/>
            <a:ext cx="2143125" cy="3043237"/>
            <a:chOff x="6215074" y="3528956"/>
            <a:chExt cx="2143143" cy="3043294"/>
          </a:xfrm>
        </p:grpSpPr>
        <p:grpSp>
          <p:nvGrpSpPr>
            <p:cNvPr id="21523" name="组合 75"/>
            <p:cNvGrpSpPr/>
            <p:nvPr/>
          </p:nvGrpSpPr>
          <p:grpSpPr bwMode="auto">
            <a:xfrm>
              <a:off x="6224617" y="3528956"/>
              <a:ext cx="2133600" cy="3043294"/>
              <a:chOff x="6224617" y="3528956"/>
              <a:chExt cx="2133600" cy="3043294"/>
            </a:xfrm>
          </p:grpSpPr>
          <p:sp>
            <p:nvSpPr>
              <p:cNvPr id="21526" name="矩形 1"/>
              <p:cNvSpPr>
                <a:spLocks noChangeArrowheads="1"/>
              </p:cNvSpPr>
              <p:nvPr/>
            </p:nvSpPr>
            <p:spPr bwMode="auto">
              <a:xfrm>
                <a:off x="6715140" y="3528956"/>
                <a:ext cx="1149674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 typeface="Wingdings" panose="05000000000000000000" pitchFamily="2" charset="2"/>
                  <a:buChar char="n"/>
                </a:pPr>
                <a:r>
                  <a:rPr kumimoji="1" lang="zh-CN" altLang="en-US" sz="2000" b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真值表</a:t>
                </a:r>
                <a:endParaRPr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527" name="Line 2059"/>
              <p:cNvSpPr>
                <a:spLocks noChangeShapeType="1"/>
              </p:cNvSpPr>
              <p:nvPr/>
            </p:nvSpPr>
            <p:spPr bwMode="auto">
              <a:xfrm>
                <a:off x="6224617" y="4286250"/>
                <a:ext cx="213360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28" name="Line 2061"/>
              <p:cNvSpPr>
                <a:spLocks noChangeShapeType="1"/>
              </p:cNvSpPr>
              <p:nvPr/>
            </p:nvSpPr>
            <p:spPr bwMode="auto">
              <a:xfrm flipH="1">
                <a:off x="7358092" y="3962400"/>
                <a:ext cx="0" cy="260985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29" name="Line 2059"/>
              <p:cNvSpPr>
                <a:spLocks noChangeShapeType="1"/>
              </p:cNvSpPr>
              <p:nvPr/>
            </p:nvSpPr>
            <p:spPr bwMode="auto">
              <a:xfrm>
                <a:off x="6224617" y="3962400"/>
                <a:ext cx="213360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30" name="Line 2059"/>
              <p:cNvSpPr>
                <a:spLocks noChangeShapeType="1"/>
              </p:cNvSpPr>
              <p:nvPr/>
            </p:nvSpPr>
            <p:spPr bwMode="auto">
              <a:xfrm>
                <a:off x="6224617" y="6572250"/>
                <a:ext cx="213360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1524" name="矩形 73"/>
            <p:cNvSpPr>
              <a:spLocks noChangeArrowheads="1"/>
            </p:cNvSpPr>
            <p:nvPr/>
          </p:nvSpPr>
          <p:spPr bwMode="auto">
            <a:xfrm>
              <a:off x="6215074" y="3947702"/>
              <a:ext cx="112550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r>
                <a:rPr lang="en-US" altLang="zh-CN" sz="16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    M    L </a:t>
              </a:r>
              <a:endParaRPr lang="en-US" altLang="zh-CN" sz="1600" b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25" name="矩形 74"/>
            <p:cNvSpPr>
              <a:spLocks noChangeArrowheads="1"/>
            </p:cNvSpPr>
            <p:nvPr/>
          </p:nvSpPr>
          <p:spPr bwMode="auto">
            <a:xfrm>
              <a:off x="7472386" y="3929066"/>
              <a:ext cx="84805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r>
                <a:rPr lang="en-US" altLang="zh-CN" sz="16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600" b="1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en-US" sz="1600" b="1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lang="en-US" altLang="zh-CN" sz="16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600" b="1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1600" b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0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3" dur="500"/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82"/>
          <p:cNvGrpSpPr/>
          <p:nvPr/>
        </p:nvGrpSpPr>
        <p:grpSpPr bwMode="auto">
          <a:xfrm>
            <a:off x="1519238" y="571500"/>
            <a:ext cx="3370262" cy="1616075"/>
            <a:chOff x="4071934" y="1214422"/>
            <a:chExt cx="3370264" cy="1616077"/>
          </a:xfrm>
        </p:grpSpPr>
        <p:grpSp>
          <p:nvGrpSpPr>
            <p:cNvPr id="22611" name="组合 31"/>
            <p:cNvGrpSpPr/>
            <p:nvPr/>
          </p:nvGrpSpPr>
          <p:grpSpPr bwMode="auto">
            <a:xfrm>
              <a:off x="4357686" y="1428736"/>
              <a:ext cx="3084512" cy="1401763"/>
              <a:chOff x="1843932" y="2171634"/>
              <a:chExt cx="3085258" cy="1401830"/>
            </a:xfrm>
          </p:grpSpPr>
          <p:cxnSp>
            <p:nvCxnSpPr>
              <p:cNvPr id="50" name="直接连接符 49"/>
              <p:cNvCxnSpPr/>
              <p:nvPr/>
            </p:nvCxnSpPr>
            <p:spPr>
              <a:xfrm>
                <a:off x="2428272" y="2714585"/>
                <a:ext cx="2500918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>
                <a:off x="2428272" y="3143231"/>
                <a:ext cx="2500918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>
                <a:off x="2428272" y="3571877"/>
                <a:ext cx="2500918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 rot="5400000" flipH="1" flipV="1">
                <a:off x="4500544" y="3143231"/>
                <a:ext cx="855705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 rot="5400000" flipH="1" flipV="1">
                <a:off x="1998831" y="3142437"/>
                <a:ext cx="857292" cy="158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 rot="5400000" flipH="1" flipV="1">
                <a:off x="3213564" y="3142437"/>
                <a:ext cx="857292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 rot="5400000" flipH="1" flipV="1">
                <a:off x="3858245" y="3142437"/>
                <a:ext cx="857292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rot="5400000" flipH="1" flipV="1">
                <a:off x="2570470" y="3142437"/>
                <a:ext cx="857292" cy="158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rot="16200000" flipH="1">
                <a:off x="1999584" y="2285897"/>
                <a:ext cx="428646" cy="42872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636" name="矩形 23"/>
              <p:cNvSpPr>
                <a:spLocks noChangeArrowheads="1"/>
              </p:cNvSpPr>
              <p:nvPr/>
            </p:nvSpPr>
            <p:spPr bwMode="auto">
              <a:xfrm>
                <a:off x="1843932" y="2357430"/>
                <a:ext cx="383531" cy="400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endPara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637" name="矩形 24"/>
              <p:cNvSpPr>
                <a:spLocks noChangeArrowheads="1"/>
              </p:cNvSpPr>
              <p:nvPr/>
            </p:nvSpPr>
            <p:spPr bwMode="auto">
              <a:xfrm>
                <a:off x="2143108" y="2171634"/>
                <a:ext cx="598386" cy="400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ML</a:t>
                </a:r>
                <a:endPara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638" name="矩形 25"/>
              <p:cNvSpPr>
                <a:spLocks noChangeArrowheads="1"/>
              </p:cNvSpPr>
              <p:nvPr/>
            </p:nvSpPr>
            <p:spPr bwMode="auto">
              <a:xfrm>
                <a:off x="2071670" y="2714620"/>
                <a:ext cx="31290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zh-CN" altLang="en-US" sz="2000"/>
              </a:p>
            </p:txBody>
          </p:sp>
          <p:sp>
            <p:nvSpPr>
              <p:cNvPr id="22639" name="矩形 26"/>
              <p:cNvSpPr>
                <a:spLocks noChangeArrowheads="1"/>
              </p:cNvSpPr>
              <p:nvPr/>
            </p:nvSpPr>
            <p:spPr bwMode="auto">
              <a:xfrm>
                <a:off x="2058246" y="3100328"/>
                <a:ext cx="31290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2000"/>
              </a:p>
            </p:txBody>
          </p:sp>
          <p:sp>
            <p:nvSpPr>
              <p:cNvPr id="22640" name="矩形 27"/>
              <p:cNvSpPr>
                <a:spLocks noChangeArrowheads="1"/>
              </p:cNvSpPr>
              <p:nvPr/>
            </p:nvSpPr>
            <p:spPr bwMode="auto">
              <a:xfrm>
                <a:off x="2500298" y="2385948"/>
                <a:ext cx="44114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00</a:t>
                </a:r>
                <a:endParaRPr lang="zh-CN" altLang="en-US" sz="2000"/>
              </a:p>
            </p:txBody>
          </p:sp>
          <p:sp>
            <p:nvSpPr>
              <p:cNvPr id="22641" name="矩形 28"/>
              <p:cNvSpPr>
                <a:spLocks noChangeArrowheads="1"/>
              </p:cNvSpPr>
              <p:nvPr/>
            </p:nvSpPr>
            <p:spPr bwMode="auto">
              <a:xfrm>
                <a:off x="3071802" y="2385948"/>
                <a:ext cx="44114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</a:t>
                </a:r>
                <a:endParaRPr lang="zh-CN" altLang="en-US" sz="2000"/>
              </a:p>
            </p:txBody>
          </p:sp>
          <p:sp>
            <p:nvSpPr>
              <p:cNvPr id="22642" name="矩形 29"/>
              <p:cNvSpPr>
                <a:spLocks noChangeArrowheads="1"/>
              </p:cNvSpPr>
              <p:nvPr/>
            </p:nvSpPr>
            <p:spPr bwMode="auto">
              <a:xfrm>
                <a:off x="3714744" y="2385948"/>
                <a:ext cx="42697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</a:t>
                </a:r>
                <a:endParaRPr lang="zh-CN" altLang="en-US" sz="2000"/>
              </a:p>
            </p:txBody>
          </p:sp>
          <p:sp>
            <p:nvSpPr>
              <p:cNvPr id="22643" name="矩形 30"/>
              <p:cNvSpPr>
                <a:spLocks noChangeArrowheads="1"/>
              </p:cNvSpPr>
              <p:nvPr/>
            </p:nvSpPr>
            <p:spPr bwMode="auto">
              <a:xfrm>
                <a:off x="4357686" y="2385948"/>
                <a:ext cx="44114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  <a:endParaRPr lang="zh-CN" altLang="en-US" sz="2000"/>
              </a:p>
            </p:txBody>
          </p:sp>
        </p:grpSp>
        <p:sp>
          <p:nvSpPr>
            <p:cNvPr id="22612" name="矩形 66"/>
            <p:cNvSpPr>
              <a:spLocks noChangeArrowheads="1"/>
            </p:cNvSpPr>
            <p:nvPr/>
          </p:nvSpPr>
          <p:spPr bwMode="auto">
            <a:xfrm>
              <a:off x="4071934" y="1214422"/>
              <a:ext cx="45557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0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000"/>
            </a:p>
          </p:txBody>
        </p:sp>
        <p:sp>
          <p:nvSpPr>
            <p:cNvPr id="22613" name="矩形 34"/>
            <p:cNvSpPr>
              <a:spLocks noChangeArrowheads="1"/>
            </p:cNvSpPr>
            <p:nvPr/>
          </p:nvSpPr>
          <p:spPr bwMode="auto">
            <a:xfrm>
              <a:off x="5072066" y="2000240"/>
              <a:ext cx="312871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000">
                <a:solidFill>
                  <a:srgbClr val="006600"/>
                </a:solidFill>
              </a:endParaRPr>
            </a:p>
          </p:txBody>
        </p:sp>
        <p:sp>
          <p:nvSpPr>
            <p:cNvPr id="22614" name="矩形 34"/>
            <p:cNvSpPr>
              <a:spLocks noChangeArrowheads="1"/>
            </p:cNvSpPr>
            <p:nvPr/>
          </p:nvSpPr>
          <p:spPr bwMode="auto">
            <a:xfrm>
              <a:off x="5643570" y="2000240"/>
              <a:ext cx="312871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000">
                <a:solidFill>
                  <a:srgbClr val="006600"/>
                </a:solidFill>
              </a:endParaRPr>
            </a:p>
          </p:txBody>
        </p:sp>
        <p:grpSp>
          <p:nvGrpSpPr>
            <p:cNvPr id="22615" name="组合 69"/>
            <p:cNvGrpSpPr/>
            <p:nvPr/>
          </p:nvGrpSpPr>
          <p:grpSpPr bwMode="auto">
            <a:xfrm>
              <a:off x="7072330" y="2117716"/>
              <a:ext cx="142876" cy="142876"/>
              <a:chOff x="4714876" y="1714488"/>
              <a:chExt cx="285752" cy="285752"/>
            </a:xfrm>
          </p:grpSpPr>
          <p:cxnSp>
            <p:nvCxnSpPr>
              <p:cNvPr id="71" name="直接连接符 70"/>
              <p:cNvCxnSpPr/>
              <p:nvPr/>
            </p:nvCxnSpPr>
            <p:spPr>
              <a:xfrm rot="5400000">
                <a:off x="4714838" y="1714478"/>
                <a:ext cx="285750" cy="28575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>
              <a:xfrm rot="16200000" flipH="1">
                <a:off x="4721188" y="1746228"/>
                <a:ext cx="285750" cy="22225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616" name="组合 72"/>
            <p:cNvGrpSpPr/>
            <p:nvPr/>
          </p:nvGrpSpPr>
          <p:grpSpPr bwMode="auto">
            <a:xfrm>
              <a:off x="5143504" y="2571744"/>
              <a:ext cx="142876" cy="142876"/>
              <a:chOff x="4714876" y="1714488"/>
              <a:chExt cx="285752" cy="285752"/>
            </a:xfrm>
          </p:grpSpPr>
          <p:cxnSp>
            <p:nvCxnSpPr>
              <p:cNvPr id="74" name="直接连接符 73"/>
              <p:cNvCxnSpPr/>
              <p:nvPr/>
            </p:nvCxnSpPr>
            <p:spPr>
              <a:xfrm rot="5400000">
                <a:off x="4714862" y="1714474"/>
                <a:ext cx="285750" cy="28575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 rot="16200000" flipH="1">
                <a:off x="4721212" y="1746224"/>
                <a:ext cx="285750" cy="22225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617" name="组合 75"/>
            <p:cNvGrpSpPr/>
            <p:nvPr/>
          </p:nvGrpSpPr>
          <p:grpSpPr bwMode="auto">
            <a:xfrm>
              <a:off x="5715008" y="2571744"/>
              <a:ext cx="142876" cy="142876"/>
              <a:chOff x="4714876" y="1714488"/>
              <a:chExt cx="285752" cy="285752"/>
            </a:xfrm>
          </p:grpSpPr>
          <p:cxnSp>
            <p:nvCxnSpPr>
              <p:cNvPr id="77" name="直接连接符 76"/>
              <p:cNvCxnSpPr/>
              <p:nvPr/>
            </p:nvCxnSpPr>
            <p:spPr>
              <a:xfrm rot="5400000">
                <a:off x="4714854" y="1714474"/>
                <a:ext cx="285750" cy="28575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 rot="16200000" flipH="1">
                <a:off x="4721204" y="1746224"/>
                <a:ext cx="285750" cy="22225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618" name="组合 78"/>
            <p:cNvGrpSpPr/>
            <p:nvPr/>
          </p:nvGrpSpPr>
          <p:grpSpPr bwMode="auto">
            <a:xfrm>
              <a:off x="7072330" y="2571744"/>
              <a:ext cx="142876" cy="142876"/>
              <a:chOff x="4714876" y="1714488"/>
              <a:chExt cx="285752" cy="285752"/>
            </a:xfrm>
          </p:grpSpPr>
          <p:cxnSp>
            <p:nvCxnSpPr>
              <p:cNvPr id="80" name="直接连接符 79"/>
              <p:cNvCxnSpPr/>
              <p:nvPr/>
            </p:nvCxnSpPr>
            <p:spPr>
              <a:xfrm rot="5400000">
                <a:off x="4714838" y="1714474"/>
                <a:ext cx="285750" cy="28575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/>
            </p:nvCxnSpPr>
            <p:spPr>
              <a:xfrm rot="16200000" flipH="1">
                <a:off x="4721188" y="1746224"/>
                <a:ext cx="285750" cy="22225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" name="组合 84"/>
          <p:cNvGrpSpPr/>
          <p:nvPr/>
        </p:nvGrpSpPr>
        <p:grpSpPr bwMode="auto">
          <a:xfrm>
            <a:off x="1519238" y="2143125"/>
            <a:ext cx="3370262" cy="1616075"/>
            <a:chOff x="4071934" y="1214422"/>
            <a:chExt cx="3370262" cy="1616248"/>
          </a:xfrm>
        </p:grpSpPr>
        <p:grpSp>
          <p:nvGrpSpPr>
            <p:cNvPr id="22578" name="组合 31"/>
            <p:cNvGrpSpPr/>
            <p:nvPr/>
          </p:nvGrpSpPr>
          <p:grpSpPr bwMode="auto">
            <a:xfrm>
              <a:off x="4357684" y="1428840"/>
              <a:ext cx="3084512" cy="1401830"/>
              <a:chOff x="1843932" y="2171634"/>
              <a:chExt cx="3085258" cy="1401830"/>
            </a:xfrm>
          </p:grpSpPr>
          <p:cxnSp>
            <p:nvCxnSpPr>
              <p:cNvPr id="102" name="直接连接符 101"/>
              <p:cNvCxnSpPr/>
              <p:nvPr/>
            </p:nvCxnSpPr>
            <p:spPr>
              <a:xfrm>
                <a:off x="2428273" y="2714535"/>
                <a:ext cx="2500917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直接连接符 102"/>
              <p:cNvCxnSpPr/>
              <p:nvPr/>
            </p:nvCxnSpPr>
            <p:spPr>
              <a:xfrm>
                <a:off x="2428273" y="3143206"/>
                <a:ext cx="2500917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接连接符 103"/>
              <p:cNvCxnSpPr/>
              <p:nvPr/>
            </p:nvCxnSpPr>
            <p:spPr>
              <a:xfrm>
                <a:off x="2428273" y="3571877"/>
                <a:ext cx="2500917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接连接符 104"/>
              <p:cNvCxnSpPr/>
              <p:nvPr/>
            </p:nvCxnSpPr>
            <p:spPr>
              <a:xfrm rot="5400000" flipH="1" flipV="1">
                <a:off x="4500519" y="3143206"/>
                <a:ext cx="855755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直接连接符 105"/>
              <p:cNvCxnSpPr/>
              <p:nvPr/>
            </p:nvCxnSpPr>
            <p:spPr>
              <a:xfrm rot="5400000" flipH="1" flipV="1">
                <a:off x="1998808" y="3142412"/>
                <a:ext cx="857342" cy="158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直接连接符 106"/>
              <p:cNvCxnSpPr/>
              <p:nvPr/>
            </p:nvCxnSpPr>
            <p:spPr>
              <a:xfrm rot="5400000" flipH="1" flipV="1">
                <a:off x="3213540" y="3142412"/>
                <a:ext cx="857342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接连接符 107"/>
              <p:cNvCxnSpPr/>
              <p:nvPr/>
            </p:nvCxnSpPr>
            <p:spPr>
              <a:xfrm rot="5400000" flipH="1" flipV="1">
                <a:off x="3858221" y="3142412"/>
                <a:ext cx="857342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接连接符 108"/>
              <p:cNvCxnSpPr/>
              <p:nvPr/>
            </p:nvCxnSpPr>
            <p:spPr>
              <a:xfrm rot="5400000" flipH="1" flipV="1">
                <a:off x="2570446" y="3142412"/>
                <a:ext cx="857342" cy="158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109"/>
              <p:cNvCxnSpPr/>
              <p:nvPr/>
            </p:nvCxnSpPr>
            <p:spPr>
              <a:xfrm rot="16200000" flipH="1">
                <a:off x="1999574" y="2285835"/>
                <a:ext cx="428671" cy="42872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603" name="矩形 23"/>
              <p:cNvSpPr>
                <a:spLocks noChangeArrowheads="1"/>
              </p:cNvSpPr>
              <p:nvPr/>
            </p:nvSpPr>
            <p:spPr bwMode="auto">
              <a:xfrm>
                <a:off x="1843932" y="2357430"/>
                <a:ext cx="383531" cy="400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endPara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604" name="矩形 24"/>
              <p:cNvSpPr>
                <a:spLocks noChangeArrowheads="1"/>
              </p:cNvSpPr>
              <p:nvPr/>
            </p:nvSpPr>
            <p:spPr bwMode="auto">
              <a:xfrm>
                <a:off x="2143108" y="2171634"/>
                <a:ext cx="598386" cy="400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ML</a:t>
                </a:r>
                <a:endPara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605" name="矩形 25"/>
              <p:cNvSpPr>
                <a:spLocks noChangeArrowheads="1"/>
              </p:cNvSpPr>
              <p:nvPr/>
            </p:nvSpPr>
            <p:spPr bwMode="auto">
              <a:xfrm>
                <a:off x="2071670" y="2714620"/>
                <a:ext cx="31290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zh-CN" altLang="en-US" sz="2000"/>
              </a:p>
            </p:txBody>
          </p:sp>
          <p:sp>
            <p:nvSpPr>
              <p:cNvPr id="22606" name="矩形 26"/>
              <p:cNvSpPr>
                <a:spLocks noChangeArrowheads="1"/>
              </p:cNvSpPr>
              <p:nvPr/>
            </p:nvSpPr>
            <p:spPr bwMode="auto">
              <a:xfrm>
                <a:off x="2058246" y="3100328"/>
                <a:ext cx="31290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2000"/>
              </a:p>
            </p:txBody>
          </p:sp>
          <p:sp>
            <p:nvSpPr>
              <p:cNvPr id="22607" name="矩形 27"/>
              <p:cNvSpPr>
                <a:spLocks noChangeArrowheads="1"/>
              </p:cNvSpPr>
              <p:nvPr/>
            </p:nvSpPr>
            <p:spPr bwMode="auto">
              <a:xfrm>
                <a:off x="2500298" y="2385948"/>
                <a:ext cx="44114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00</a:t>
                </a:r>
                <a:endParaRPr lang="zh-CN" altLang="en-US" sz="2000"/>
              </a:p>
            </p:txBody>
          </p:sp>
          <p:sp>
            <p:nvSpPr>
              <p:cNvPr id="22608" name="矩形 28"/>
              <p:cNvSpPr>
                <a:spLocks noChangeArrowheads="1"/>
              </p:cNvSpPr>
              <p:nvPr/>
            </p:nvSpPr>
            <p:spPr bwMode="auto">
              <a:xfrm>
                <a:off x="3071802" y="2385948"/>
                <a:ext cx="44114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</a:t>
                </a:r>
                <a:endParaRPr lang="zh-CN" altLang="en-US" sz="2000"/>
              </a:p>
            </p:txBody>
          </p:sp>
          <p:sp>
            <p:nvSpPr>
              <p:cNvPr id="22609" name="矩形 29"/>
              <p:cNvSpPr>
                <a:spLocks noChangeArrowheads="1"/>
              </p:cNvSpPr>
              <p:nvPr/>
            </p:nvSpPr>
            <p:spPr bwMode="auto">
              <a:xfrm>
                <a:off x="3714744" y="2385948"/>
                <a:ext cx="42697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</a:t>
                </a:r>
                <a:endParaRPr lang="zh-CN" altLang="en-US" sz="2000"/>
              </a:p>
            </p:txBody>
          </p:sp>
          <p:sp>
            <p:nvSpPr>
              <p:cNvPr id="22610" name="矩形 30"/>
              <p:cNvSpPr>
                <a:spLocks noChangeArrowheads="1"/>
              </p:cNvSpPr>
              <p:nvPr/>
            </p:nvSpPr>
            <p:spPr bwMode="auto">
              <a:xfrm>
                <a:off x="4357686" y="2385948"/>
                <a:ext cx="44114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  <a:endParaRPr lang="zh-CN" altLang="en-US" sz="2000"/>
              </a:p>
            </p:txBody>
          </p:sp>
        </p:grpSp>
        <p:sp>
          <p:nvSpPr>
            <p:cNvPr id="22579" name="矩形 86"/>
            <p:cNvSpPr>
              <a:spLocks noChangeArrowheads="1"/>
            </p:cNvSpPr>
            <p:nvPr/>
          </p:nvSpPr>
          <p:spPr bwMode="auto">
            <a:xfrm>
              <a:off x="4071934" y="1214422"/>
              <a:ext cx="45557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0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000"/>
            </a:p>
          </p:txBody>
        </p:sp>
        <p:sp>
          <p:nvSpPr>
            <p:cNvPr id="22580" name="矩形 34"/>
            <p:cNvSpPr>
              <a:spLocks noChangeArrowheads="1"/>
            </p:cNvSpPr>
            <p:nvPr/>
          </p:nvSpPr>
          <p:spPr bwMode="auto">
            <a:xfrm>
              <a:off x="5072066" y="2000240"/>
              <a:ext cx="312871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000">
                <a:solidFill>
                  <a:srgbClr val="006600"/>
                </a:solidFill>
              </a:endParaRPr>
            </a:p>
          </p:txBody>
        </p:sp>
        <p:sp>
          <p:nvSpPr>
            <p:cNvPr id="22581" name="矩形 34"/>
            <p:cNvSpPr>
              <a:spLocks noChangeArrowheads="1"/>
            </p:cNvSpPr>
            <p:nvPr/>
          </p:nvSpPr>
          <p:spPr bwMode="auto">
            <a:xfrm>
              <a:off x="6330831" y="2000240"/>
              <a:ext cx="312871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000">
                <a:solidFill>
                  <a:srgbClr val="006600"/>
                </a:solidFill>
              </a:endParaRPr>
            </a:p>
          </p:txBody>
        </p:sp>
        <p:grpSp>
          <p:nvGrpSpPr>
            <p:cNvPr id="22582" name="组合 69"/>
            <p:cNvGrpSpPr/>
            <p:nvPr/>
          </p:nvGrpSpPr>
          <p:grpSpPr bwMode="auto">
            <a:xfrm>
              <a:off x="7072330" y="2117716"/>
              <a:ext cx="142876" cy="142876"/>
              <a:chOff x="4714876" y="1714488"/>
              <a:chExt cx="285752" cy="285752"/>
            </a:xfrm>
          </p:grpSpPr>
          <p:cxnSp>
            <p:nvCxnSpPr>
              <p:cNvPr id="100" name="直接连接符 99"/>
              <p:cNvCxnSpPr/>
              <p:nvPr/>
            </p:nvCxnSpPr>
            <p:spPr>
              <a:xfrm rot="5400000">
                <a:off x="4714819" y="1714685"/>
                <a:ext cx="285780" cy="28575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00"/>
              <p:cNvCxnSpPr/>
              <p:nvPr/>
            </p:nvCxnSpPr>
            <p:spPr>
              <a:xfrm rot="16200000" flipH="1">
                <a:off x="4721169" y="1746435"/>
                <a:ext cx="285780" cy="22225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583" name="组合 72"/>
            <p:cNvGrpSpPr/>
            <p:nvPr/>
          </p:nvGrpSpPr>
          <p:grpSpPr bwMode="auto">
            <a:xfrm>
              <a:off x="5143504" y="2571744"/>
              <a:ext cx="142876" cy="142876"/>
              <a:chOff x="4714876" y="1714488"/>
              <a:chExt cx="285752" cy="285752"/>
            </a:xfrm>
          </p:grpSpPr>
          <p:cxnSp>
            <p:nvCxnSpPr>
              <p:cNvPr id="98" name="直接连接符 97"/>
              <p:cNvCxnSpPr/>
              <p:nvPr/>
            </p:nvCxnSpPr>
            <p:spPr>
              <a:xfrm rot="5400000">
                <a:off x="4714845" y="1714775"/>
                <a:ext cx="285780" cy="28575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接连接符 98"/>
              <p:cNvCxnSpPr/>
              <p:nvPr/>
            </p:nvCxnSpPr>
            <p:spPr>
              <a:xfrm rot="16200000" flipH="1">
                <a:off x="4721195" y="1746525"/>
                <a:ext cx="285780" cy="22225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584" name="组合 75"/>
            <p:cNvGrpSpPr/>
            <p:nvPr/>
          </p:nvGrpSpPr>
          <p:grpSpPr bwMode="auto">
            <a:xfrm>
              <a:off x="5715008" y="2571744"/>
              <a:ext cx="142876" cy="142876"/>
              <a:chOff x="4714876" y="1714488"/>
              <a:chExt cx="285752" cy="285752"/>
            </a:xfrm>
          </p:grpSpPr>
          <p:cxnSp>
            <p:nvCxnSpPr>
              <p:cNvPr id="96" name="直接连接符 95"/>
              <p:cNvCxnSpPr/>
              <p:nvPr/>
            </p:nvCxnSpPr>
            <p:spPr>
              <a:xfrm rot="5400000">
                <a:off x="4714837" y="1714775"/>
                <a:ext cx="285780" cy="28575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96"/>
              <p:cNvCxnSpPr/>
              <p:nvPr/>
            </p:nvCxnSpPr>
            <p:spPr>
              <a:xfrm rot="16200000" flipH="1">
                <a:off x="4721187" y="1746525"/>
                <a:ext cx="285780" cy="22225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585" name="组合 78"/>
            <p:cNvGrpSpPr/>
            <p:nvPr/>
          </p:nvGrpSpPr>
          <p:grpSpPr bwMode="auto">
            <a:xfrm>
              <a:off x="7072330" y="2571744"/>
              <a:ext cx="142876" cy="142876"/>
              <a:chOff x="4714876" y="1714488"/>
              <a:chExt cx="285752" cy="285752"/>
            </a:xfrm>
          </p:grpSpPr>
          <p:cxnSp>
            <p:nvCxnSpPr>
              <p:cNvPr id="94" name="直接连接符 93"/>
              <p:cNvCxnSpPr/>
              <p:nvPr/>
            </p:nvCxnSpPr>
            <p:spPr>
              <a:xfrm rot="5400000">
                <a:off x="4714819" y="1714775"/>
                <a:ext cx="285780" cy="28575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接连接符 94"/>
              <p:cNvCxnSpPr/>
              <p:nvPr/>
            </p:nvCxnSpPr>
            <p:spPr>
              <a:xfrm rot="16200000" flipH="1">
                <a:off x="4721169" y="1746525"/>
                <a:ext cx="285780" cy="22225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0" name="圆角矩形 119"/>
          <p:cNvSpPr/>
          <p:nvPr/>
        </p:nvSpPr>
        <p:spPr>
          <a:xfrm>
            <a:off x="3805238" y="2940050"/>
            <a:ext cx="928687" cy="35718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4" name="组合 122"/>
          <p:cNvGrpSpPr/>
          <p:nvPr/>
        </p:nvGrpSpPr>
        <p:grpSpPr bwMode="auto">
          <a:xfrm>
            <a:off x="2162175" y="2922588"/>
            <a:ext cx="2928938" cy="815975"/>
            <a:chOff x="4714876" y="3163886"/>
            <a:chExt cx="2928958" cy="815980"/>
          </a:xfrm>
        </p:grpSpPr>
        <p:sp>
          <p:nvSpPr>
            <p:cNvPr id="121" name="弧形 120"/>
            <p:cNvSpPr/>
            <p:nvPr/>
          </p:nvSpPr>
          <p:spPr>
            <a:xfrm>
              <a:off x="4714876" y="3163886"/>
              <a:ext cx="714380" cy="811217"/>
            </a:xfrm>
            <a:prstGeom prst="arc">
              <a:avLst>
                <a:gd name="adj1" fmla="val 16200000"/>
                <a:gd name="adj2" fmla="val 5502505"/>
              </a:avLst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2" name="弧形 121"/>
            <p:cNvSpPr/>
            <p:nvPr/>
          </p:nvSpPr>
          <p:spPr>
            <a:xfrm flipH="1">
              <a:off x="6929454" y="3168648"/>
              <a:ext cx="714380" cy="811218"/>
            </a:xfrm>
            <a:prstGeom prst="arc">
              <a:avLst>
                <a:gd name="adj1" fmla="val 16200000"/>
                <a:gd name="adj2" fmla="val 5502505"/>
              </a:avLst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aphicFrame>
        <p:nvGraphicFramePr>
          <p:cNvPr id="124" name="Object 6"/>
          <p:cNvGraphicFramePr>
            <a:graphicFrameLocks noChangeAspect="1"/>
          </p:cNvGraphicFramePr>
          <p:nvPr/>
        </p:nvGraphicFramePr>
        <p:xfrm>
          <a:off x="5075238" y="1714500"/>
          <a:ext cx="1087437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8" name="公式" r:id="rId1" imgW="533400" imgH="203200" progId="Equation.3">
                  <p:embed/>
                </p:oleObj>
              </mc:Choice>
              <mc:Fallback>
                <p:oleObj name="公式" r:id="rId1" imgW="533400" imgH="203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5238" y="1714500"/>
                        <a:ext cx="1087437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4" name="Object 2"/>
          <p:cNvGraphicFramePr>
            <a:graphicFrameLocks noChangeAspect="1"/>
          </p:cNvGraphicFramePr>
          <p:nvPr/>
        </p:nvGraphicFramePr>
        <p:xfrm>
          <a:off x="5091113" y="3259138"/>
          <a:ext cx="183832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9" name="公式" r:id="rId3" imgW="901065" imgH="203200" progId="Equation.3">
                  <p:embed/>
                </p:oleObj>
              </mc:Choice>
              <mc:Fallback>
                <p:oleObj name="公式" r:id="rId3" imgW="901065" imgH="203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1113" y="3259138"/>
                        <a:ext cx="1838325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6" name="矩形 125"/>
          <p:cNvSpPr>
            <a:spLocks noChangeArrowheads="1"/>
          </p:cNvSpPr>
          <p:nvPr/>
        </p:nvSpPr>
        <p:spPr bwMode="auto">
          <a:xfrm>
            <a:off x="785813" y="142875"/>
            <a:ext cx="55006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）用卡诺图化简，得到逻辑函数式。 </a:t>
            </a:r>
            <a:endParaRPr lang="zh-CN" altLang="en-US" sz="24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圆角矩形 126"/>
          <p:cNvSpPr/>
          <p:nvPr/>
        </p:nvSpPr>
        <p:spPr>
          <a:xfrm>
            <a:off x="2519363" y="1390650"/>
            <a:ext cx="928687" cy="71437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8" name="矩形 127"/>
          <p:cNvSpPr>
            <a:spLocks noChangeArrowheads="1"/>
          </p:cNvSpPr>
          <p:nvPr/>
        </p:nvSpPr>
        <p:spPr bwMode="auto">
          <a:xfrm>
            <a:off x="785813" y="4110038"/>
            <a:ext cx="31226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）画出逻辑电路图</a:t>
            </a:r>
            <a:endParaRPr lang="zh-CN" altLang="en-US" sz="24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组合 185"/>
          <p:cNvGrpSpPr/>
          <p:nvPr/>
        </p:nvGrpSpPr>
        <p:grpSpPr bwMode="auto">
          <a:xfrm>
            <a:off x="1616075" y="4713288"/>
            <a:ext cx="5956300" cy="1716087"/>
            <a:chOff x="1928794" y="4429132"/>
            <a:chExt cx="5956300" cy="1716100"/>
          </a:xfrm>
        </p:grpSpPr>
        <p:grpSp>
          <p:nvGrpSpPr>
            <p:cNvPr id="22540" name="组合 130"/>
            <p:cNvGrpSpPr/>
            <p:nvPr/>
          </p:nvGrpSpPr>
          <p:grpSpPr bwMode="auto">
            <a:xfrm>
              <a:off x="3000364" y="4429132"/>
              <a:ext cx="536628" cy="500066"/>
              <a:chOff x="3000364" y="4714884"/>
              <a:chExt cx="536628" cy="500066"/>
            </a:xfrm>
          </p:grpSpPr>
          <p:sp>
            <p:nvSpPr>
              <p:cNvPr id="129" name="等腰三角形 128"/>
              <p:cNvSpPr/>
              <p:nvPr/>
            </p:nvSpPr>
            <p:spPr>
              <a:xfrm rot="5400000">
                <a:off x="2964637" y="4750604"/>
                <a:ext cx="500066" cy="428625"/>
              </a:xfrm>
              <a:prstGeom prst="triangle">
                <a:avLst/>
              </a:prstGeom>
              <a:noFill/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30" name="椭圆 129"/>
              <p:cNvSpPr/>
              <p:nvPr/>
            </p:nvSpPr>
            <p:spPr>
              <a:xfrm>
                <a:off x="3428982" y="4905386"/>
                <a:ext cx="107950" cy="107951"/>
              </a:xfrm>
              <a:prstGeom prst="ellipse">
                <a:avLst/>
              </a:prstGeom>
              <a:noFill/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22541" name="组合 131"/>
            <p:cNvGrpSpPr/>
            <p:nvPr/>
          </p:nvGrpSpPr>
          <p:grpSpPr bwMode="auto">
            <a:xfrm>
              <a:off x="3000364" y="5048262"/>
              <a:ext cx="536628" cy="500066"/>
              <a:chOff x="3000364" y="4714884"/>
              <a:chExt cx="536628" cy="500066"/>
            </a:xfrm>
          </p:grpSpPr>
          <p:sp>
            <p:nvSpPr>
              <p:cNvPr id="133" name="等腰三角形 132"/>
              <p:cNvSpPr/>
              <p:nvPr/>
            </p:nvSpPr>
            <p:spPr>
              <a:xfrm rot="5400000">
                <a:off x="2964637" y="4750604"/>
                <a:ext cx="500066" cy="428625"/>
              </a:xfrm>
              <a:prstGeom prst="triangle">
                <a:avLst/>
              </a:prstGeom>
              <a:noFill/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34" name="椭圆 133"/>
              <p:cNvSpPr/>
              <p:nvPr/>
            </p:nvSpPr>
            <p:spPr>
              <a:xfrm>
                <a:off x="3428982" y="4905386"/>
                <a:ext cx="107950" cy="107951"/>
              </a:xfrm>
              <a:prstGeom prst="ellipse">
                <a:avLst/>
              </a:prstGeom>
              <a:noFill/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22542" name="组合 134"/>
            <p:cNvGrpSpPr/>
            <p:nvPr/>
          </p:nvGrpSpPr>
          <p:grpSpPr bwMode="auto">
            <a:xfrm>
              <a:off x="3000364" y="5645166"/>
              <a:ext cx="536628" cy="500066"/>
              <a:chOff x="3000364" y="4714884"/>
              <a:chExt cx="536628" cy="500066"/>
            </a:xfrm>
          </p:grpSpPr>
          <p:sp>
            <p:nvSpPr>
              <p:cNvPr id="136" name="等腰三角形 135"/>
              <p:cNvSpPr/>
              <p:nvPr/>
            </p:nvSpPr>
            <p:spPr>
              <a:xfrm rot="5400000">
                <a:off x="2964637" y="4750604"/>
                <a:ext cx="500066" cy="428625"/>
              </a:xfrm>
              <a:prstGeom prst="triangle">
                <a:avLst/>
              </a:prstGeom>
              <a:noFill/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37" name="椭圆 136"/>
              <p:cNvSpPr/>
              <p:nvPr/>
            </p:nvSpPr>
            <p:spPr>
              <a:xfrm>
                <a:off x="3428982" y="4905386"/>
                <a:ext cx="107950" cy="107951"/>
              </a:xfrm>
              <a:prstGeom prst="ellipse">
                <a:avLst/>
              </a:prstGeom>
              <a:noFill/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cxnSp>
          <p:nvCxnSpPr>
            <p:cNvPr id="139" name="直接连接符 138"/>
            <p:cNvCxnSpPr/>
            <p:nvPr/>
          </p:nvCxnSpPr>
          <p:spPr>
            <a:xfrm>
              <a:off x="2357419" y="4668846"/>
              <a:ext cx="64293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/>
            <p:cNvCxnSpPr/>
            <p:nvPr/>
          </p:nvCxnSpPr>
          <p:spPr>
            <a:xfrm>
              <a:off x="2357419" y="5308614"/>
              <a:ext cx="64293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/>
            <p:cNvCxnSpPr/>
            <p:nvPr/>
          </p:nvCxnSpPr>
          <p:spPr>
            <a:xfrm>
              <a:off x="2357419" y="5897580"/>
              <a:ext cx="64293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46" name="矩形 23"/>
            <p:cNvSpPr>
              <a:spLocks noChangeArrowheads="1"/>
            </p:cNvSpPr>
            <p:nvPr/>
          </p:nvSpPr>
          <p:spPr bwMode="auto">
            <a:xfrm>
              <a:off x="1928794" y="4459238"/>
              <a:ext cx="38343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547" name="矩形 23"/>
            <p:cNvSpPr>
              <a:spLocks noChangeArrowheads="1"/>
            </p:cNvSpPr>
            <p:nvPr/>
          </p:nvSpPr>
          <p:spPr bwMode="auto">
            <a:xfrm>
              <a:off x="1928794" y="5048262"/>
              <a:ext cx="42672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548" name="矩形 23"/>
            <p:cNvSpPr>
              <a:spLocks noChangeArrowheads="1"/>
            </p:cNvSpPr>
            <p:nvPr/>
          </p:nvSpPr>
          <p:spPr bwMode="auto">
            <a:xfrm>
              <a:off x="2001234" y="5645166"/>
              <a:ext cx="35618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5" name="直接连接符 144"/>
            <p:cNvCxnSpPr/>
            <p:nvPr/>
          </p:nvCxnSpPr>
          <p:spPr>
            <a:xfrm>
              <a:off x="3521057" y="4676784"/>
              <a:ext cx="53975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>
              <a:off x="2643169" y="5002223"/>
              <a:ext cx="1428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551" name="组合 152"/>
            <p:cNvGrpSpPr/>
            <p:nvPr/>
          </p:nvGrpSpPr>
          <p:grpSpPr bwMode="auto">
            <a:xfrm>
              <a:off x="4071918" y="4573596"/>
              <a:ext cx="642937" cy="505590"/>
              <a:chOff x="6572242" y="5214156"/>
              <a:chExt cx="929481" cy="505590"/>
            </a:xfrm>
          </p:grpSpPr>
          <p:cxnSp>
            <p:nvCxnSpPr>
              <p:cNvPr id="148" name="直接连接符 147"/>
              <p:cNvCxnSpPr/>
              <p:nvPr/>
            </p:nvCxnSpPr>
            <p:spPr>
              <a:xfrm>
                <a:off x="6572243" y="5214155"/>
                <a:ext cx="642605" cy="0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直接连接符 148"/>
              <p:cNvCxnSpPr/>
              <p:nvPr/>
            </p:nvCxnSpPr>
            <p:spPr>
              <a:xfrm>
                <a:off x="6572243" y="5714222"/>
                <a:ext cx="642605" cy="0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连接符 149"/>
              <p:cNvCxnSpPr/>
              <p:nvPr/>
            </p:nvCxnSpPr>
            <p:spPr>
              <a:xfrm rot="5400000">
                <a:off x="6321770" y="5466216"/>
                <a:ext cx="503241" cy="2296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2" name="弧形 151"/>
              <p:cNvSpPr/>
              <p:nvPr/>
            </p:nvSpPr>
            <p:spPr>
              <a:xfrm>
                <a:off x="6930266" y="5214155"/>
                <a:ext cx="571460" cy="500067"/>
              </a:xfrm>
              <a:prstGeom prst="arc">
                <a:avLst>
                  <a:gd name="adj1" fmla="val 16200000"/>
                  <a:gd name="adj2" fmla="val 5580297"/>
                </a:avLst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cxnSp>
          <p:nvCxnSpPr>
            <p:cNvPr id="159" name="直接连接符 158"/>
            <p:cNvCxnSpPr/>
            <p:nvPr/>
          </p:nvCxnSpPr>
          <p:spPr>
            <a:xfrm rot="5400000">
              <a:off x="2501087" y="5145893"/>
              <a:ext cx="285752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 162"/>
            <p:cNvCxnSpPr/>
            <p:nvPr/>
          </p:nvCxnSpPr>
          <p:spPr>
            <a:xfrm>
              <a:off x="4727557" y="4821247"/>
              <a:ext cx="27305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554" name="组合 167"/>
            <p:cNvGrpSpPr/>
            <p:nvPr/>
          </p:nvGrpSpPr>
          <p:grpSpPr bwMode="auto">
            <a:xfrm>
              <a:off x="4811714" y="5429264"/>
              <a:ext cx="1500198" cy="571504"/>
              <a:chOff x="6929454" y="5000636"/>
              <a:chExt cx="1428760" cy="642942"/>
            </a:xfrm>
          </p:grpSpPr>
          <p:sp>
            <p:nvSpPr>
              <p:cNvPr id="165" name="弧形 164"/>
              <p:cNvSpPr/>
              <p:nvPr/>
            </p:nvSpPr>
            <p:spPr>
              <a:xfrm>
                <a:off x="6929435" y="5000637"/>
                <a:ext cx="1428750" cy="642942"/>
              </a:xfrm>
              <a:prstGeom prst="arc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66" name="弧形 165"/>
              <p:cNvSpPr/>
              <p:nvPr/>
            </p:nvSpPr>
            <p:spPr>
              <a:xfrm flipV="1">
                <a:off x="6929435" y="5000637"/>
                <a:ext cx="1428750" cy="642942"/>
              </a:xfrm>
              <a:prstGeom prst="arc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67" name="弧形 166"/>
              <p:cNvSpPr/>
              <p:nvPr/>
            </p:nvSpPr>
            <p:spPr>
              <a:xfrm>
                <a:off x="7497911" y="5000637"/>
                <a:ext cx="315989" cy="642942"/>
              </a:xfrm>
              <a:prstGeom prst="arc">
                <a:avLst>
                  <a:gd name="adj1" fmla="val 16200000"/>
                  <a:gd name="adj2" fmla="val 5186173"/>
                </a:avLst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cxnSp>
          <p:nvCxnSpPr>
            <p:cNvPr id="169" name="直接连接符 168"/>
            <p:cNvCxnSpPr/>
            <p:nvPr/>
          </p:nvCxnSpPr>
          <p:spPr>
            <a:xfrm rot="5400000" flipH="1" flipV="1">
              <a:off x="4621191" y="5191138"/>
              <a:ext cx="760419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连接符 169"/>
            <p:cNvCxnSpPr/>
            <p:nvPr/>
          </p:nvCxnSpPr>
          <p:spPr>
            <a:xfrm flipV="1">
              <a:off x="3536932" y="5884880"/>
              <a:ext cx="217805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连接符 172"/>
            <p:cNvCxnSpPr/>
            <p:nvPr/>
          </p:nvCxnSpPr>
          <p:spPr>
            <a:xfrm>
              <a:off x="3551219" y="5299089"/>
              <a:ext cx="3857625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/>
            <p:cNvCxnSpPr/>
            <p:nvPr/>
          </p:nvCxnSpPr>
          <p:spPr>
            <a:xfrm>
              <a:off x="4987907" y="5572141"/>
              <a:ext cx="714375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连接符 180"/>
            <p:cNvCxnSpPr/>
            <p:nvPr/>
          </p:nvCxnSpPr>
          <p:spPr>
            <a:xfrm>
              <a:off x="6311882" y="5715017"/>
              <a:ext cx="114300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3" name="椭圆 182"/>
            <p:cNvSpPr/>
            <p:nvPr/>
          </p:nvSpPr>
          <p:spPr>
            <a:xfrm>
              <a:off x="2609832" y="5278450"/>
              <a:ext cx="71437" cy="7143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561" name="矩形 183"/>
            <p:cNvSpPr>
              <a:spLocks noChangeArrowheads="1"/>
            </p:cNvSpPr>
            <p:nvPr/>
          </p:nvSpPr>
          <p:spPr bwMode="auto">
            <a:xfrm>
              <a:off x="7429520" y="5072074"/>
              <a:ext cx="45557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0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000"/>
            </a:p>
          </p:txBody>
        </p:sp>
        <p:sp>
          <p:nvSpPr>
            <p:cNvPr id="22562" name="矩形 184"/>
            <p:cNvSpPr>
              <a:spLocks noChangeArrowheads="1"/>
            </p:cNvSpPr>
            <p:nvPr/>
          </p:nvSpPr>
          <p:spPr bwMode="auto">
            <a:xfrm>
              <a:off x="7429520" y="5500702"/>
              <a:ext cx="45557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0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animBg="1"/>
      <p:bldP spid="127" grpId="0" animBg="1"/>
      <p:bldP spid="1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052513"/>
            <a:ext cx="4176713" cy="384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75" y="862013"/>
            <a:ext cx="4119563" cy="211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6" name="矩形 1"/>
          <p:cNvSpPr>
            <a:spLocks noChangeArrowheads="1"/>
          </p:cNvSpPr>
          <p:nvPr/>
        </p:nvSpPr>
        <p:spPr bwMode="auto">
          <a:xfrm>
            <a:off x="428625" y="180975"/>
            <a:ext cx="47466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1.</a:t>
            </a:r>
            <a:r>
              <a:rPr lang="zh-CN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写出下列电路输出的逻辑表达式</a:t>
            </a:r>
            <a:endParaRPr lang="zh-CN" altLang="en-US" sz="240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557" name="矩形 1"/>
          <p:cNvSpPr>
            <a:spLocks noChangeArrowheads="1"/>
          </p:cNvSpPr>
          <p:nvPr/>
        </p:nvSpPr>
        <p:spPr bwMode="auto">
          <a:xfrm>
            <a:off x="323533" y="3716338"/>
            <a:ext cx="82423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2.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用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与非门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设计四变量的表决电路。当输入变量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有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个或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个以上为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时输出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，输入为其他状态时输出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。</a:t>
            </a: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矩形 1"/>
          <p:cNvSpPr>
            <a:spLocks noChangeArrowheads="1"/>
          </p:cNvSpPr>
          <p:nvPr/>
        </p:nvSpPr>
        <p:spPr bwMode="auto">
          <a:xfrm>
            <a:off x="61913" y="68263"/>
            <a:ext cx="55102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§4.3</a:t>
            </a:r>
            <a:r>
              <a:rPr lang="zh-CN" altLang="en-US" sz="36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常用的</a:t>
            </a:r>
            <a:r>
              <a:rPr kumimoji="1" lang="zh-CN" altLang="en-US" sz="36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</a:t>
            </a:r>
            <a:endParaRPr lang="zh-CN" altLang="en-US" sz="36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584200" y="642938"/>
            <a:ext cx="1987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一、编码器</a:t>
            </a:r>
            <a:endParaRPr lang="zh-CN" altLang="en-US" sz="2800">
              <a:solidFill>
                <a:srgbClr val="0066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10"/>
          <p:cNvGrpSpPr/>
          <p:nvPr/>
        </p:nvGrpSpPr>
        <p:grpSpPr bwMode="auto">
          <a:xfrm>
            <a:off x="642938" y="1143000"/>
            <a:ext cx="7858125" cy="1285875"/>
            <a:chOff x="714350" y="1142767"/>
            <a:chExt cx="7858237" cy="1286083"/>
          </a:xfrm>
        </p:grpSpPr>
        <p:sp>
          <p:nvSpPr>
            <p:cNvPr id="24586" name="矩形 3"/>
            <p:cNvSpPr>
              <a:spLocks noChangeArrowheads="1"/>
            </p:cNvSpPr>
            <p:nvPr/>
          </p:nvSpPr>
          <p:spPr bwMode="auto">
            <a:xfrm>
              <a:off x="785786" y="1228521"/>
              <a:ext cx="7715304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用数码表示特定对象的过程称为</a:t>
              </a:r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编码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。在数字电路中用二进制代码表示有关的信号称为二进制编码。实现编码操作的电路就是</a:t>
              </a:r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编码器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。</a:t>
              </a:r>
              <a:endPara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587" name="Rectangle 16"/>
            <p:cNvSpPr>
              <a:spLocks noChangeArrowheads="1"/>
            </p:cNvSpPr>
            <p:nvPr/>
          </p:nvSpPr>
          <p:spPr bwMode="auto">
            <a:xfrm>
              <a:off x="714350" y="1142767"/>
              <a:ext cx="7858237" cy="1286076"/>
            </a:xfrm>
            <a:prstGeom prst="rect">
              <a:avLst/>
            </a:prstGeom>
            <a:noFill/>
            <a:ln w="57150" cmpd="thickThin">
              <a:solidFill>
                <a:srgbClr val="33CC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714375" y="2571750"/>
            <a:ext cx="3024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普通编码器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/>
        </p:nvGraphicFramePr>
        <p:xfrm>
          <a:off x="5614988" y="3143250"/>
          <a:ext cx="2814637" cy="208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0" name="图片" r:id="rId1" imgW="1790700" imgH="1323975" progId="Word.Picture.8">
                  <p:embed/>
                </p:oleObj>
              </mc:Choice>
              <mc:Fallback>
                <p:oleObj name="图片" r:id="rId1" imgW="1790700" imgH="1323975" progId="Word.Picture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4988" y="3143250"/>
                        <a:ext cx="2814637" cy="208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077913" y="3603625"/>
            <a:ext cx="4351337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输入：</a:t>
            </a: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～</a:t>
            </a: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，高电平有效。</a:t>
            </a:r>
            <a:endParaRPr kumimoji="1"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输出：</a:t>
            </a: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位二进制代码</a:t>
            </a: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1"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1"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1"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kumimoji="1"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称为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线－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线编码器</a:t>
            </a: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kumimoji="1"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722313" y="5429250"/>
            <a:ext cx="7778750" cy="1200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特点：</a:t>
            </a:r>
            <a:endParaRPr kumimoji="1"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66700" algn="just">
              <a:spcBef>
                <a:spcPts val="0"/>
              </a:spcBef>
              <a:defRPr/>
            </a:pP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1"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任意时刻输入</a:t>
            </a:r>
            <a:r>
              <a:rPr kumimoji="1"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～</a:t>
            </a:r>
            <a:r>
              <a:rPr kumimoji="1"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kumimoji="1"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当中只允许一个输入变量有效，即取值为</a:t>
            </a:r>
            <a:r>
              <a:rPr kumimoji="1"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（高电平有效）。</a:t>
            </a:r>
            <a:endParaRPr kumimoji="1" lang="zh-CN" altLang="en-US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896938" y="3013075"/>
            <a:ext cx="4318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例：三位二进制普通编码器</a:t>
            </a:r>
            <a:endParaRPr lang="zh-CN" altLang="en-US" sz="240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9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491" name="Object 3"/>
          <p:cNvGraphicFramePr>
            <a:graphicFrameLocks noChangeAspect="1"/>
          </p:cNvGraphicFramePr>
          <p:nvPr/>
        </p:nvGraphicFramePr>
        <p:xfrm>
          <a:off x="568325" y="647700"/>
          <a:ext cx="4191000" cy="308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87" name="Worksheet" r:id="rId1" imgW="3746500" imgH="2717800" progId="Excel.Sheet.8">
                  <p:embed/>
                </p:oleObj>
              </mc:Choice>
              <mc:Fallback>
                <p:oleObj name="Worksheet" r:id="rId1" imgW="3746500" imgH="2717800" progId="Excel.Shee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325" y="647700"/>
                        <a:ext cx="4191000" cy="308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3" name="Text Box 2"/>
          <p:cNvSpPr txBox="1">
            <a:spLocks noChangeArrowheads="1"/>
          </p:cNvSpPr>
          <p:nvPr/>
        </p:nvSpPr>
        <p:spPr bwMode="auto">
          <a:xfrm>
            <a:off x="500063" y="71438"/>
            <a:ext cx="42148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kumimoji="1" lang="en-US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3</a:t>
            </a:r>
            <a:r>
              <a:rPr kumimoji="1" lang="zh-CN" altLang="en-US" sz="2400" b="1">
                <a:solidFill>
                  <a:srgbClr val="0000FF"/>
                </a:solidFill>
                <a:latin typeface="宋体" panose="02010600030101010101" pitchFamily="2" charset="-122"/>
              </a:rPr>
              <a:t>位二进制编码器的真值表</a:t>
            </a:r>
            <a:endParaRPr kumimoji="1" lang="zh-CN" altLang="en-US" sz="24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grpSp>
        <p:nvGrpSpPr>
          <p:cNvPr id="2" name="Group 14"/>
          <p:cNvGrpSpPr/>
          <p:nvPr/>
        </p:nvGrpSpPr>
        <p:grpSpPr bwMode="auto">
          <a:xfrm>
            <a:off x="5611813" y="1954213"/>
            <a:ext cx="2674937" cy="1403350"/>
            <a:chOff x="360" y="2568"/>
            <a:chExt cx="2103" cy="1103"/>
          </a:xfrm>
        </p:grpSpPr>
        <p:graphicFrame>
          <p:nvGraphicFramePr>
            <p:cNvPr id="25675" name="Object 4"/>
            <p:cNvGraphicFramePr>
              <a:graphicFrameLocks noChangeAspect="1"/>
            </p:cNvGraphicFramePr>
            <p:nvPr/>
          </p:nvGraphicFramePr>
          <p:xfrm>
            <a:off x="552" y="2568"/>
            <a:ext cx="1824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88" name="公式" r:id="rId3" imgW="1497965" imgH="254000" progId="Equation.3">
                    <p:embed/>
                  </p:oleObj>
                </mc:Choice>
                <mc:Fallback>
                  <p:oleObj name="公式" r:id="rId3" imgW="1497965" imgH="2540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2" y="2568"/>
                          <a:ext cx="1824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76" name="Object 5"/>
            <p:cNvGraphicFramePr>
              <a:graphicFrameLocks noChangeAspect="1"/>
            </p:cNvGraphicFramePr>
            <p:nvPr/>
          </p:nvGraphicFramePr>
          <p:xfrm>
            <a:off x="543" y="2955"/>
            <a:ext cx="1920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89" name="公式" r:id="rId5" imgW="1473200" imgH="254000" progId="Equation.3">
                    <p:embed/>
                  </p:oleObj>
                </mc:Choice>
                <mc:Fallback>
                  <p:oleObj name="公式" r:id="rId5" imgW="1473200" imgH="2540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3" y="2955"/>
                          <a:ext cx="1920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77" name="Object 6"/>
            <p:cNvGraphicFramePr>
              <a:graphicFrameLocks noChangeAspect="1"/>
            </p:cNvGraphicFramePr>
            <p:nvPr/>
          </p:nvGraphicFramePr>
          <p:xfrm>
            <a:off x="543" y="3342"/>
            <a:ext cx="1920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90" name="公式" r:id="rId7" imgW="1473200" imgH="254000" progId="Equation.3">
                    <p:embed/>
                  </p:oleObj>
                </mc:Choice>
                <mc:Fallback>
                  <p:oleObj name="公式" r:id="rId7" imgW="1473200" imgH="2540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3" y="3342"/>
                          <a:ext cx="1920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78" name="AutoShape 8"/>
            <p:cNvSpPr/>
            <p:nvPr/>
          </p:nvSpPr>
          <p:spPr bwMode="auto">
            <a:xfrm>
              <a:off x="360" y="2664"/>
              <a:ext cx="161" cy="902"/>
            </a:xfrm>
            <a:prstGeom prst="leftBrace">
              <a:avLst>
                <a:gd name="adj1" fmla="val 4668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/>
            </a:p>
          </p:txBody>
        </p:sp>
      </p:grp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5357813" y="114300"/>
            <a:ext cx="2270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逻辑函数式：</a:t>
            </a:r>
            <a:endParaRPr kumimoji="1" lang="zh-CN" altLang="en-US" sz="240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组合 93"/>
          <p:cNvGrpSpPr/>
          <p:nvPr/>
        </p:nvGrpSpPr>
        <p:grpSpPr bwMode="auto">
          <a:xfrm>
            <a:off x="811213" y="4214813"/>
            <a:ext cx="5475287" cy="2428875"/>
            <a:chOff x="1071538" y="4000504"/>
            <a:chExt cx="5475470" cy="2428892"/>
          </a:xfrm>
        </p:grpSpPr>
        <p:grpSp>
          <p:nvGrpSpPr>
            <p:cNvPr id="25609" name="组合 15"/>
            <p:cNvGrpSpPr/>
            <p:nvPr/>
          </p:nvGrpSpPr>
          <p:grpSpPr bwMode="auto">
            <a:xfrm>
              <a:off x="1071538" y="4000504"/>
              <a:ext cx="369012" cy="2428892"/>
              <a:chOff x="1214414" y="4000504"/>
              <a:chExt cx="369012" cy="2428892"/>
            </a:xfrm>
          </p:grpSpPr>
          <p:sp>
            <p:nvSpPr>
              <p:cNvPr id="25673" name="矩形 23"/>
              <p:cNvSpPr>
                <a:spLocks noChangeArrowheads="1"/>
              </p:cNvSpPr>
              <p:nvPr/>
            </p:nvSpPr>
            <p:spPr bwMode="auto">
              <a:xfrm>
                <a:off x="1214414" y="4000504"/>
                <a:ext cx="36901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b="1" i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000" b="1" i="1" baseline="-25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zh-CN" altLang="en-US" sz="2000" b="1" i="1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4" name="直接连接符 13"/>
              <p:cNvCxnSpPr/>
              <p:nvPr/>
            </p:nvCxnSpPr>
            <p:spPr>
              <a:xfrm rot="5400000" flipH="1" flipV="1">
                <a:off x="357956" y="5428470"/>
                <a:ext cx="2000264" cy="158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610" name="组合 16"/>
            <p:cNvGrpSpPr/>
            <p:nvPr/>
          </p:nvGrpSpPr>
          <p:grpSpPr bwMode="auto">
            <a:xfrm>
              <a:off x="1428728" y="4000504"/>
              <a:ext cx="369012" cy="2428892"/>
              <a:chOff x="1214414" y="4000504"/>
              <a:chExt cx="369012" cy="2428892"/>
            </a:xfrm>
          </p:grpSpPr>
          <p:sp>
            <p:nvSpPr>
              <p:cNvPr id="25671" name="矩形 23"/>
              <p:cNvSpPr>
                <a:spLocks noChangeArrowheads="1"/>
              </p:cNvSpPr>
              <p:nvPr/>
            </p:nvSpPr>
            <p:spPr bwMode="auto">
              <a:xfrm>
                <a:off x="1214414" y="4000504"/>
                <a:ext cx="36901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b="1" i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000" b="1" i="1" baseline="-25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2000" b="1" i="1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9" name="直接连接符 18"/>
              <p:cNvCxnSpPr/>
              <p:nvPr/>
            </p:nvCxnSpPr>
            <p:spPr>
              <a:xfrm rot="5400000" flipH="1" flipV="1">
                <a:off x="357965" y="5428470"/>
                <a:ext cx="2000264" cy="1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611" name="组合 19"/>
            <p:cNvGrpSpPr/>
            <p:nvPr/>
          </p:nvGrpSpPr>
          <p:grpSpPr bwMode="auto">
            <a:xfrm>
              <a:off x="1774096" y="4000504"/>
              <a:ext cx="369012" cy="2428892"/>
              <a:chOff x="1214414" y="4000504"/>
              <a:chExt cx="369012" cy="2428892"/>
            </a:xfrm>
          </p:grpSpPr>
          <p:sp>
            <p:nvSpPr>
              <p:cNvPr id="25669" name="矩形 23"/>
              <p:cNvSpPr>
                <a:spLocks noChangeArrowheads="1"/>
              </p:cNvSpPr>
              <p:nvPr/>
            </p:nvSpPr>
            <p:spPr bwMode="auto">
              <a:xfrm>
                <a:off x="1214414" y="4000504"/>
                <a:ext cx="36901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b="1" i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000" b="1" i="1" baseline="-25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CN" altLang="en-US" sz="2000" b="1" i="1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2" name="直接连接符 21"/>
              <p:cNvCxnSpPr/>
              <p:nvPr/>
            </p:nvCxnSpPr>
            <p:spPr>
              <a:xfrm rot="5400000" flipH="1" flipV="1">
                <a:off x="358683" y="5428470"/>
                <a:ext cx="2000264" cy="1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612" name="组合 22"/>
            <p:cNvGrpSpPr/>
            <p:nvPr/>
          </p:nvGrpSpPr>
          <p:grpSpPr bwMode="auto">
            <a:xfrm>
              <a:off x="2131286" y="4000504"/>
              <a:ext cx="369012" cy="2428892"/>
              <a:chOff x="1214414" y="4000504"/>
              <a:chExt cx="369012" cy="2428892"/>
            </a:xfrm>
          </p:grpSpPr>
          <p:sp>
            <p:nvSpPr>
              <p:cNvPr id="25667" name="矩形 23"/>
              <p:cNvSpPr>
                <a:spLocks noChangeArrowheads="1"/>
              </p:cNvSpPr>
              <p:nvPr/>
            </p:nvSpPr>
            <p:spPr bwMode="auto">
              <a:xfrm>
                <a:off x="1214414" y="4000504"/>
                <a:ext cx="36901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b="1" i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000" b="1" i="1" baseline="-25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CN" altLang="en-US" sz="2000" b="1" i="1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5" name="直接连接符 24"/>
              <p:cNvCxnSpPr/>
              <p:nvPr/>
            </p:nvCxnSpPr>
            <p:spPr>
              <a:xfrm rot="5400000" flipH="1" flipV="1">
                <a:off x="358693" y="5428470"/>
                <a:ext cx="2000264" cy="158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613" name="组合 25"/>
            <p:cNvGrpSpPr/>
            <p:nvPr/>
          </p:nvGrpSpPr>
          <p:grpSpPr bwMode="auto">
            <a:xfrm>
              <a:off x="2500298" y="4000504"/>
              <a:ext cx="369012" cy="2428892"/>
              <a:chOff x="1214414" y="4000504"/>
              <a:chExt cx="369012" cy="2428892"/>
            </a:xfrm>
          </p:grpSpPr>
          <p:sp>
            <p:nvSpPr>
              <p:cNvPr id="25665" name="矩形 23"/>
              <p:cNvSpPr>
                <a:spLocks noChangeArrowheads="1"/>
              </p:cNvSpPr>
              <p:nvPr/>
            </p:nvSpPr>
            <p:spPr bwMode="auto">
              <a:xfrm>
                <a:off x="1214414" y="4000504"/>
                <a:ext cx="36901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b="1" i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000" b="1" i="1" baseline="-25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CN" altLang="en-US" sz="2000" b="1" i="1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8" name="直接连接符 27"/>
              <p:cNvCxnSpPr/>
              <p:nvPr/>
            </p:nvCxnSpPr>
            <p:spPr>
              <a:xfrm rot="5400000" flipH="1" flipV="1">
                <a:off x="357994" y="5428470"/>
                <a:ext cx="2000264" cy="158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614" name="组合 28"/>
            <p:cNvGrpSpPr/>
            <p:nvPr/>
          </p:nvGrpSpPr>
          <p:grpSpPr bwMode="auto">
            <a:xfrm>
              <a:off x="2857488" y="4000504"/>
              <a:ext cx="369012" cy="2428892"/>
              <a:chOff x="1214414" y="4000504"/>
              <a:chExt cx="369012" cy="2428892"/>
            </a:xfrm>
          </p:grpSpPr>
          <p:sp>
            <p:nvSpPr>
              <p:cNvPr id="25663" name="矩形 23"/>
              <p:cNvSpPr>
                <a:spLocks noChangeArrowheads="1"/>
              </p:cNvSpPr>
              <p:nvPr/>
            </p:nvSpPr>
            <p:spPr bwMode="auto">
              <a:xfrm>
                <a:off x="1214414" y="4000504"/>
                <a:ext cx="36901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b="1" i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000" b="1" i="1" baseline="-25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zh-CN" altLang="en-US" sz="2000" b="1" i="1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1" name="直接连接符 30"/>
              <p:cNvCxnSpPr/>
              <p:nvPr/>
            </p:nvCxnSpPr>
            <p:spPr>
              <a:xfrm rot="5400000" flipH="1" flipV="1">
                <a:off x="358003" y="5428470"/>
                <a:ext cx="2000264" cy="1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615" name="组合 31"/>
            <p:cNvGrpSpPr/>
            <p:nvPr/>
          </p:nvGrpSpPr>
          <p:grpSpPr bwMode="auto">
            <a:xfrm>
              <a:off x="3202856" y="4000504"/>
              <a:ext cx="369012" cy="2428892"/>
              <a:chOff x="1214414" y="4000504"/>
              <a:chExt cx="369012" cy="2428892"/>
            </a:xfrm>
          </p:grpSpPr>
          <p:sp>
            <p:nvSpPr>
              <p:cNvPr id="25661" name="矩形 23"/>
              <p:cNvSpPr>
                <a:spLocks noChangeArrowheads="1"/>
              </p:cNvSpPr>
              <p:nvPr/>
            </p:nvSpPr>
            <p:spPr bwMode="auto">
              <a:xfrm>
                <a:off x="1214414" y="4000504"/>
                <a:ext cx="36901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b="1" i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000" b="1" i="1" baseline="-25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zh-CN" altLang="en-US" sz="2000" b="1" i="1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4" name="直接连接符 33"/>
              <p:cNvCxnSpPr/>
              <p:nvPr/>
            </p:nvCxnSpPr>
            <p:spPr>
              <a:xfrm rot="5400000" flipH="1" flipV="1">
                <a:off x="358721" y="5428470"/>
                <a:ext cx="2000264" cy="1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616" name="组合 34"/>
            <p:cNvGrpSpPr/>
            <p:nvPr/>
          </p:nvGrpSpPr>
          <p:grpSpPr bwMode="auto">
            <a:xfrm>
              <a:off x="3560046" y="4000504"/>
              <a:ext cx="369012" cy="2428892"/>
              <a:chOff x="1214414" y="4000504"/>
              <a:chExt cx="369012" cy="2428892"/>
            </a:xfrm>
          </p:grpSpPr>
          <p:sp>
            <p:nvSpPr>
              <p:cNvPr id="25659" name="矩形 35"/>
              <p:cNvSpPr>
                <a:spLocks noChangeArrowheads="1"/>
              </p:cNvSpPr>
              <p:nvPr/>
            </p:nvSpPr>
            <p:spPr bwMode="auto">
              <a:xfrm>
                <a:off x="1214414" y="4000504"/>
                <a:ext cx="36901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b="1" i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000" b="1" i="1" baseline="-25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  <a:endParaRPr lang="zh-CN" altLang="en-US" sz="2000" b="1" i="1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7" name="直接连接符 36"/>
              <p:cNvCxnSpPr/>
              <p:nvPr/>
            </p:nvCxnSpPr>
            <p:spPr>
              <a:xfrm rot="5400000" flipH="1" flipV="1">
                <a:off x="358731" y="5428470"/>
                <a:ext cx="2000264" cy="158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617" name="组合 50"/>
            <p:cNvGrpSpPr/>
            <p:nvPr/>
          </p:nvGrpSpPr>
          <p:grpSpPr bwMode="auto">
            <a:xfrm>
              <a:off x="3786182" y="4500570"/>
              <a:ext cx="1500200" cy="571504"/>
              <a:chOff x="3786182" y="4572008"/>
              <a:chExt cx="1500200" cy="571504"/>
            </a:xfrm>
          </p:grpSpPr>
          <p:sp>
            <p:nvSpPr>
              <p:cNvPr id="39" name="弧形 38"/>
              <p:cNvSpPr/>
              <p:nvPr/>
            </p:nvSpPr>
            <p:spPr>
              <a:xfrm>
                <a:off x="3786254" y="4572007"/>
                <a:ext cx="1500237" cy="571504"/>
              </a:xfrm>
              <a:prstGeom prst="arc">
                <a:avLst/>
              </a:prstGeom>
              <a:solidFill>
                <a:schemeClr val="bg1"/>
              </a:solidFill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i="1"/>
              </a:p>
            </p:txBody>
          </p:sp>
          <p:sp>
            <p:nvSpPr>
              <p:cNvPr id="40" name="弧形 39"/>
              <p:cNvSpPr/>
              <p:nvPr/>
            </p:nvSpPr>
            <p:spPr>
              <a:xfrm flipV="1">
                <a:off x="3786254" y="4572007"/>
                <a:ext cx="1500237" cy="571504"/>
              </a:xfrm>
              <a:prstGeom prst="arc">
                <a:avLst/>
              </a:prstGeom>
              <a:solidFill>
                <a:schemeClr val="bg1"/>
              </a:solidFill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i="1"/>
              </a:p>
            </p:txBody>
          </p:sp>
          <p:sp>
            <p:nvSpPr>
              <p:cNvPr id="41" name="弧形 40"/>
              <p:cNvSpPr/>
              <p:nvPr/>
            </p:nvSpPr>
            <p:spPr>
              <a:xfrm>
                <a:off x="4383174" y="4572007"/>
                <a:ext cx="331798" cy="571504"/>
              </a:xfrm>
              <a:prstGeom prst="arc">
                <a:avLst>
                  <a:gd name="adj1" fmla="val 16200000"/>
                  <a:gd name="adj2" fmla="val 5186173"/>
                </a:avLst>
              </a:prstGeom>
              <a:solidFill>
                <a:schemeClr val="bg1"/>
              </a:solidFill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i="1"/>
              </a:p>
            </p:txBody>
          </p:sp>
        </p:grpSp>
        <p:cxnSp>
          <p:nvCxnSpPr>
            <p:cNvPr id="42" name="直接连接符 41"/>
            <p:cNvCxnSpPr/>
            <p:nvPr/>
          </p:nvCxnSpPr>
          <p:spPr>
            <a:xfrm rot="10800000">
              <a:off x="2643216" y="4572008"/>
              <a:ext cx="2016192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rot="10800000">
              <a:off x="3000414" y="4714884"/>
              <a:ext cx="17145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rot="10800000" flipV="1">
              <a:off x="3357614" y="4857760"/>
              <a:ext cx="13573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rot="10800000" flipV="1">
              <a:off x="3714813" y="5000636"/>
              <a:ext cx="936656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rot="10800000" flipV="1">
              <a:off x="5286491" y="4786321"/>
              <a:ext cx="71439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623" name="组合 53"/>
            <p:cNvGrpSpPr/>
            <p:nvPr/>
          </p:nvGrpSpPr>
          <p:grpSpPr bwMode="auto">
            <a:xfrm>
              <a:off x="3786182" y="5143512"/>
              <a:ext cx="1500200" cy="571504"/>
              <a:chOff x="3786182" y="4572008"/>
              <a:chExt cx="1500200" cy="571504"/>
            </a:xfrm>
          </p:grpSpPr>
          <p:sp>
            <p:nvSpPr>
              <p:cNvPr id="55" name="弧形 54"/>
              <p:cNvSpPr/>
              <p:nvPr/>
            </p:nvSpPr>
            <p:spPr>
              <a:xfrm>
                <a:off x="3786254" y="4572008"/>
                <a:ext cx="1500237" cy="571504"/>
              </a:xfrm>
              <a:prstGeom prst="arc">
                <a:avLst/>
              </a:prstGeom>
              <a:solidFill>
                <a:schemeClr val="bg1"/>
              </a:solidFill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i="1"/>
              </a:p>
            </p:txBody>
          </p:sp>
          <p:sp>
            <p:nvSpPr>
              <p:cNvPr id="56" name="弧形 55"/>
              <p:cNvSpPr/>
              <p:nvPr/>
            </p:nvSpPr>
            <p:spPr>
              <a:xfrm flipV="1">
                <a:off x="3786254" y="4572008"/>
                <a:ext cx="1500237" cy="571504"/>
              </a:xfrm>
              <a:prstGeom prst="arc">
                <a:avLst/>
              </a:prstGeom>
              <a:solidFill>
                <a:schemeClr val="bg1"/>
              </a:solidFill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i="1"/>
              </a:p>
            </p:txBody>
          </p:sp>
          <p:sp>
            <p:nvSpPr>
              <p:cNvPr id="57" name="弧形 56"/>
              <p:cNvSpPr/>
              <p:nvPr/>
            </p:nvSpPr>
            <p:spPr>
              <a:xfrm>
                <a:off x="4383174" y="4572008"/>
                <a:ext cx="331798" cy="571504"/>
              </a:xfrm>
              <a:prstGeom prst="arc">
                <a:avLst>
                  <a:gd name="adj1" fmla="val 16200000"/>
                  <a:gd name="adj2" fmla="val 5186173"/>
                </a:avLst>
              </a:prstGeom>
              <a:solidFill>
                <a:schemeClr val="bg1"/>
              </a:solidFill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i="1"/>
              </a:p>
            </p:txBody>
          </p:sp>
        </p:grpSp>
        <p:cxnSp>
          <p:nvCxnSpPr>
            <p:cNvPr id="58" name="直接连接符 57"/>
            <p:cNvCxnSpPr/>
            <p:nvPr/>
          </p:nvCxnSpPr>
          <p:spPr>
            <a:xfrm rot="10800000">
              <a:off x="1928817" y="5214949"/>
              <a:ext cx="2730591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rot="10800000">
              <a:off x="2286016" y="5357825"/>
              <a:ext cx="2428956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rot="10800000" flipV="1">
              <a:off x="3357614" y="5500701"/>
              <a:ext cx="13573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rot="10800000" flipV="1">
              <a:off x="3714813" y="5643577"/>
              <a:ext cx="936656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rot="10800000" flipV="1">
              <a:off x="5286491" y="5429264"/>
              <a:ext cx="71439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629" name="组合 62"/>
            <p:cNvGrpSpPr/>
            <p:nvPr/>
          </p:nvGrpSpPr>
          <p:grpSpPr bwMode="auto">
            <a:xfrm>
              <a:off x="3786182" y="5786454"/>
              <a:ext cx="1500200" cy="571504"/>
              <a:chOff x="3786182" y="4572008"/>
              <a:chExt cx="1500200" cy="571504"/>
            </a:xfrm>
          </p:grpSpPr>
          <p:sp>
            <p:nvSpPr>
              <p:cNvPr id="64" name="弧形 63"/>
              <p:cNvSpPr/>
              <p:nvPr/>
            </p:nvSpPr>
            <p:spPr>
              <a:xfrm>
                <a:off x="3786254" y="4572007"/>
                <a:ext cx="1500237" cy="571504"/>
              </a:xfrm>
              <a:prstGeom prst="arc">
                <a:avLst/>
              </a:prstGeom>
              <a:solidFill>
                <a:schemeClr val="bg1"/>
              </a:solidFill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i="1"/>
              </a:p>
            </p:txBody>
          </p:sp>
          <p:sp>
            <p:nvSpPr>
              <p:cNvPr id="65" name="弧形 64"/>
              <p:cNvSpPr/>
              <p:nvPr/>
            </p:nvSpPr>
            <p:spPr>
              <a:xfrm flipV="1">
                <a:off x="3786254" y="4572007"/>
                <a:ext cx="1500237" cy="571504"/>
              </a:xfrm>
              <a:prstGeom prst="arc">
                <a:avLst/>
              </a:prstGeom>
              <a:solidFill>
                <a:schemeClr val="bg1"/>
              </a:solidFill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i="1"/>
              </a:p>
            </p:txBody>
          </p:sp>
          <p:sp>
            <p:nvSpPr>
              <p:cNvPr id="66" name="弧形 65"/>
              <p:cNvSpPr/>
              <p:nvPr/>
            </p:nvSpPr>
            <p:spPr>
              <a:xfrm>
                <a:off x="4383174" y="4572007"/>
                <a:ext cx="331798" cy="571504"/>
              </a:xfrm>
              <a:prstGeom prst="arc">
                <a:avLst>
                  <a:gd name="adj1" fmla="val 16200000"/>
                  <a:gd name="adj2" fmla="val 5186173"/>
                </a:avLst>
              </a:prstGeom>
              <a:solidFill>
                <a:schemeClr val="bg1"/>
              </a:solidFill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i="1"/>
              </a:p>
            </p:txBody>
          </p:sp>
        </p:grpSp>
        <p:cxnSp>
          <p:nvCxnSpPr>
            <p:cNvPr id="67" name="直接连接符 66"/>
            <p:cNvCxnSpPr/>
            <p:nvPr/>
          </p:nvCxnSpPr>
          <p:spPr>
            <a:xfrm rot="10800000">
              <a:off x="1571617" y="5859479"/>
              <a:ext cx="308779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rot="10800000">
              <a:off x="2286016" y="6000768"/>
              <a:ext cx="2428956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rot="10800000" flipV="1">
              <a:off x="3000414" y="6143644"/>
              <a:ext cx="17145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rot="10800000" flipV="1">
              <a:off x="3714813" y="6286520"/>
              <a:ext cx="936656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rot="10800000" flipV="1">
              <a:off x="5286491" y="6072205"/>
              <a:ext cx="71439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椭圆 77"/>
            <p:cNvSpPr/>
            <p:nvPr/>
          </p:nvSpPr>
          <p:spPr>
            <a:xfrm>
              <a:off x="2609876" y="4538670"/>
              <a:ext cx="71440" cy="7143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i="1"/>
            </a:p>
          </p:txBody>
        </p:sp>
        <p:sp>
          <p:nvSpPr>
            <p:cNvPr id="79" name="椭圆 78"/>
            <p:cNvSpPr/>
            <p:nvPr/>
          </p:nvSpPr>
          <p:spPr>
            <a:xfrm>
              <a:off x="2962313" y="4668846"/>
              <a:ext cx="71440" cy="7143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i="1"/>
            </a:p>
          </p:txBody>
        </p:sp>
        <p:sp>
          <p:nvSpPr>
            <p:cNvPr id="80" name="椭圆 79"/>
            <p:cNvSpPr/>
            <p:nvPr/>
          </p:nvSpPr>
          <p:spPr>
            <a:xfrm>
              <a:off x="3298874" y="4819660"/>
              <a:ext cx="71440" cy="7143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i="1"/>
            </a:p>
          </p:txBody>
        </p:sp>
        <p:sp>
          <p:nvSpPr>
            <p:cNvPr id="81" name="椭圆 80"/>
            <p:cNvSpPr/>
            <p:nvPr/>
          </p:nvSpPr>
          <p:spPr>
            <a:xfrm>
              <a:off x="3676712" y="4962536"/>
              <a:ext cx="71440" cy="7143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i="1"/>
            </a:p>
          </p:txBody>
        </p:sp>
        <p:sp>
          <p:nvSpPr>
            <p:cNvPr id="82" name="椭圆 81"/>
            <p:cNvSpPr/>
            <p:nvPr/>
          </p:nvSpPr>
          <p:spPr>
            <a:xfrm>
              <a:off x="1882777" y="5181612"/>
              <a:ext cx="71440" cy="7143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i="1"/>
            </a:p>
          </p:txBody>
        </p:sp>
        <p:sp>
          <p:nvSpPr>
            <p:cNvPr id="83" name="椭圆 82"/>
            <p:cNvSpPr/>
            <p:nvPr/>
          </p:nvSpPr>
          <p:spPr>
            <a:xfrm>
              <a:off x="2239977" y="5324488"/>
              <a:ext cx="71439" cy="7143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i="1"/>
            </a:p>
          </p:txBody>
        </p:sp>
        <p:sp>
          <p:nvSpPr>
            <p:cNvPr id="84" name="椭圆 83"/>
            <p:cNvSpPr/>
            <p:nvPr/>
          </p:nvSpPr>
          <p:spPr>
            <a:xfrm>
              <a:off x="3298874" y="5454664"/>
              <a:ext cx="71440" cy="7143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i="1"/>
            </a:p>
          </p:txBody>
        </p:sp>
        <p:sp>
          <p:nvSpPr>
            <p:cNvPr id="85" name="椭圆 84"/>
            <p:cNvSpPr/>
            <p:nvPr/>
          </p:nvSpPr>
          <p:spPr>
            <a:xfrm>
              <a:off x="3676712" y="5597540"/>
              <a:ext cx="71440" cy="7143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i="1"/>
            </a:p>
          </p:txBody>
        </p:sp>
        <p:sp>
          <p:nvSpPr>
            <p:cNvPr id="86" name="椭圆 85"/>
            <p:cNvSpPr/>
            <p:nvPr/>
          </p:nvSpPr>
          <p:spPr>
            <a:xfrm>
              <a:off x="1538279" y="5811854"/>
              <a:ext cx="71439" cy="7143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i="1"/>
            </a:p>
          </p:txBody>
        </p:sp>
        <p:sp>
          <p:nvSpPr>
            <p:cNvPr id="87" name="椭圆 86"/>
            <p:cNvSpPr/>
            <p:nvPr/>
          </p:nvSpPr>
          <p:spPr>
            <a:xfrm>
              <a:off x="2239977" y="5975368"/>
              <a:ext cx="71439" cy="7143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i="1"/>
            </a:p>
          </p:txBody>
        </p:sp>
        <p:sp>
          <p:nvSpPr>
            <p:cNvPr id="88" name="椭圆 87"/>
            <p:cNvSpPr/>
            <p:nvPr/>
          </p:nvSpPr>
          <p:spPr>
            <a:xfrm>
              <a:off x="2962313" y="6105544"/>
              <a:ext cx="71440" cy="7143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i="1"/>
            </a:p>
          </p:txBody>
        </p:sp>
        <p:sp>
          <p:nvSpPr>
            <p:cNvPr id="89" name="椭圆 88"/>
            <p:cNvSpPr/>
            <p:nvPr/>
          </p:nvSpPr>
          <p:spPr>
            <a:xfrm>
              <a:off x="3668775" y="6248420"/>
              <a:ext cx="71439" cy="7143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i="1"/>
            </a:p>
          </p:txBody>
        </p:sp>
        <p:sp>
          <p:nvSpPr>
            <p:cNvPr id="25647" name="矩形 23"/>
            <p:cNvSpPr>
              <a:spLocks noChangeArrowheads="1"/>
            </p:cNvSpPr>
            <p:nvPr/>
          </p:nvSpPr>
          <p:spPr bwMode="auto">
            <a:xfrm>
              <a:off x="6072198" y="4572008"/>
              <a:ext cx="47481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48" name="矩形 23"/>
            <p:cNvSpPr>
              <a:spLocks noChangeArrowheads="1"/>
            </p:cNvSpPr>
            <p:nvPr/>
          </p:nvSpPr>
          <p:spPr bwMode="auto">
            <a:xfrm>
              <a:off x="6072198" y="5181913"/>
              <a:ext cx="47481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49" name="矩形 23"/>
            <p:cNvSpPr>
              <a:spLocks noChangeArrowheads="1"/>
            </p:cNvSpPr>
            <p:nvPr/>
          </p:nvSpPr>
          <p:spPr bwMode="auto">
            <a:xfrm>
              <a:off x="6072198" y="5824855"/>
              <a:ext cx="47481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3" name="矩形 92"/>
          <p:cNvSpPr>
            <a:spLocks noChangeArrowheads="1"/>
          </p:cNvSpPr>
          <p:nvPr/>
        </p:nvSpPr>
        <p:spPr bwMode="auto">
          <a:xfrm>
            <a:off x="571500" y="3786188"/>
            <a:ext cx="19605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逻辑电路图</a:t>
            </a:r>
            <a:endParaRPr lang="zh-CN" altLang="en-US" sz="2400" b="1">
              <a:solidFill>
                <a:srgbClr val="0000FF"/>
              </a:solidFill>
            </a:endParaRPr>
          </a:p>
        </p:txBody>
      </p:sp>
      <p:sp>
        <p:nvSpPr>
          <p:cNvPr id="95" name="矩形 94"/>
          <p:cNvSpPr>
            <a:spLocks noChangeArrowheads="1"/>
          </p:cNvSpPr>
          <p:nvPr/>
        </p:nvSpPr>
        <p:spPr bwMode="auto">
          <a:xfrm>
            <a:off x="5572125" y="571500"/>
            <a:ext cx="3000375" cy="1200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defRPr/>
            </a:pPr>
            <a:r>
              <a:rPr kumimoji="1"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约束条件：</a:t>
            </a:r>
            <a:endParaRPr kumimoji="1" lang="en-US" altLang="zh-CN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622300" algn="just">
              <a:defRPr/>
            </a:pPr>
            <a:r>
              <a:rPr kumimoji="1"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～</a:t>
            </a:r>
            <a:r>
              <a:rPr kumimoji="1"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kumimoji="1"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当中只允许一个输入变量为</a:t>
            </a:r>
            <a:r>
              <a:rPr kumimoji="1"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3" grpId="0"/>
      <p:bldP spid="9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5"/>
          <p:cNvSpPr txBox="1">
            <a:spLocks noChangeArrowheads="1"/>
          </p:cNvSpPr>
          <p:nvPr/>
        </p:nvSpPr>
        <p:spPr bwMode="auto">
          <a:xfrm>
            <a:off x="571500" y="71438"/>
            <a:ext cx="3024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二进制优先编码器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Box 7"/>
          <p:cNvSpPr txBox="1">
            <a:spLocks noChangeArrowheads="1"/>
          </p:cNvSpPr>
          <p:nvPr/>
        </p:nvSpPr>
        <p:spPr bwMode="auto">
          <a:xfrm>
            <a:off x="684213" y="1928813"/>
            <a:ext cx="7161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设</a:t>
            </a:r>
            <a:r>
              <a:rPr kumimoji="1"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baseline="-25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的优先级别最高，</a:t>
            </a:r>
            <a:r>
              <a:rPr kumimoji="1"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baseline="-25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次之，依此类推，</a:t>
            </a:r>
            <a:r>
              <a:rPr kumimoji="1"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baseline="-25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最低。</a:t>
            </a:r>
            <a:endParaRPr kumimoji="1" lang="zh-CN" altLang="en-US" sz="240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49"/>
          <p:cNvGrpSpPr/>
          <p:nvPr/>
        </p:nvGrpSpPr>
        <p:grpSpPr bwMode="auto">
          <a:xfrm>
            <a:off x="1816100" y="2428875"/>
            <a:ext cx="5346700" cy="4365625"/>
            <a:chOff x="1789070" y="2428868"/>
            <a:chExt cx="5346713" cy="4365657"/>
          </a:xfrm>
        </p:grpSpPr>
        <p:sp>
          <p:nvSpPr>
            <p:cNvPr id="26633" name="Text Box 8"/>
            <p:cNvSpPr txBox="1">
              <a:spLocks noChangeArrowheads="1"/>
            </p:cNvSpPr>
            <p:nvPr/>
          </p:nvSpPr>
          <p:spPr bwMode="auto">
            <a:xfrm>
              <a:off x="2285984" y="2428868"/>
              <a:ext cx="435771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kumimoji="1" lang="zh-CN" altLang="en-US" sz="24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位二进制优先编码器的真值表</a:t>
              </a:r>
              <a:endParaRPr kumimoji="1"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6634" name="Object 2"/>
            <p:cNvGraphicFramePr>
              <a:graphicFrameLocks noChangeAspect="1"/>
            </p:cNvGraphicFramePr>
            <p:nvPr/>
          </p:nvGraphicFramePr>
          <p:xfrm>
            <a:off x="1789070" y="2933697"/>
            <a:ext cx="5346713" cy="38608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37" name="Worksheet" r:id="rId1" imgW="3746500" imgH="2717800" progId="Excel.Sheet.8">
                    <p:embed/>
                  </p:oleObj>
                </mc:Choice>
                <mc:Fallback>
                  <p:oleObj name="Worksheet" r:id="rId1" imgW="3746500" imgH="2717800" progId="Excel.Sheet.8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9070" y="2933697"/>
                          <a:ext cx="5346713" cy="38608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48"/>
          <p:cNvGrpSpPr/>
          <p:nvPr/>
        </p:nvGrpSpPr>
        <p:grpSpPr bwMode="auto">
          <a:xfrm>
            <a:off x="571500" y="600075"/>
            <a:ext cx="8001000" cy="1285875"/>
            <a:chOff x="571472" y="600052"/>
            <a:chExt cx="8001056" cy="1285884"/>
          </a:xfrm>
        </p:grpSpPr>
        <p:sp>
          <p:nvSpPr>
            <p:cNvPr id="26631" name="Rectangle 6"/>
            <p:cNvSpPr>
              <a:spLocks noChangeArrowheads="1"/>
            </p:cNvSpPr>
            <p:nvPr/>
          </p:nvSpPr>
          <p:spPr bwMode="auto">
            <a:xfrm>
              <a:off x="642910" y="668331"/>
              <a:ext cx="7848599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优先编码器</a:t>
              </a:r>
              <a:r>
                <a:rPr kumimoji="1" lang="zh-CN" altLang="en-US" sz="2400" b="1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：允许同时在</a:t>
              </a: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kumimoji="1" lang="zh-CN" altLang="en-US" sz="2400" b="1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个输入端有</a:t>
              </a:r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多个</a:t>
              </a:r>
              <a:r>
                <a:rPr kumimoji="1" lang="zh-CN" altLang="en-US" sz="2400" b="1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输入信号有效，编码器按输入端编号的大小来排列优先级，只对同时输入的多个信号中</a:t>
              </a:r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优先权最高</a:t>
              </a:r>
              <a:r>
                <a:rPr kumimoji="1" lang="zh-CN" altLang="en-US" sz="2400" b="1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的一个进行编码。</a:t>
              </a:r>
              <a:endPara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632" name="Rectangle 16"/>
            <p:cNvSpPr>
              <a:spLocks noChangeArrowheads="1"/>
            </p:cNvSpPr>
            <p:nvPr/>
          </p:nvSpPr>
          <p:spPr bwMode="auto">
            <a:xfrm>
              <a:off x="571472" y="600052"/>
              <a:ext cx="8001056" cy="1285884"/>
            </a:xfrm>
            <a:prstGeom prst="rect">
              <a:avLst/>
            </a:prstGeom>
            <a:noFill/>
            <a:ln w="57150" cmpd="thickThin">
              <a:solidFill>
                <a:srgbClr val="33CC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6630" name="矩形 1"/>
          <p:cNvSpPr>
            <a:spLocks noChangeArrowheads="1"/>
          </p:cNvSpPr>
          <p:nvPr/>
        </p:nvSpPr>
        <p:spPr bwMode="auto">
          <a:xfrm>
            <a:off x="6156325" y="58738"/>
            <a:ext cx="28559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§4.3</a:t>
            </a:r>
            <a:r>
              <a:rPr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常用的</a:t>
            </a:r>
            <a:r>
              <a:rPr kumimoji="1"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</a:t>
            </a:r>
            <a:endParaRPr lang="zh-CN" altLang="en-US" sz="18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538" name="Object 2"/>
          <p:cNvGraphicFramePr>
            <a:graphicFrameLocks noChangeAspect="1"/>
          </p:cNvGraphicFramePr>
          <p:nvPr/>
        </p:nvGraphicFramePr>
        <p:xfrm>
          <a:off x="857250" y="942975"/>
          <a:ext cx="7000875" cy="491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5" name="公式" r:id="rId1" imgW="2730500" imgH="1498600" progId="Equation.3">
                  <p:embed/>
                </p:oleObj>
              </mc:Choice>
              <mc:Fallback>
                <p:oleObj name="公式" r:id="rId1" imgW="2730500" imgH="149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942975"/>
                        <a:ext cx="7000875" cy="491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1" name="Text Box 4"/>
          <p:cNvSpPr txBox="1">
            <a:spLocks noChangeArrowheads="1"/>
          </p:cNvSpPr>
          <p:nvPr/>
        </p:nvSpPr>
        <p:spPr bwMode="auto">
          <a:xfrm>
            <a:off x="658813" y="252413"/>
            <a:ext cx="2270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逻辑函数式：</a:t>
            </a:r>
            <a:endParaRPr kumimoji="1" lang="zh-CN" altLang="en-US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2" name="矩形 1"/>
          <p:cNvSpPr>
            <a:spLocks noChangeArrowheads="1"/>
          </p:cNvSpPr>
          <p:nvPr/>
        </p:nvSpPr>
        <p:spPr bwMode="auto">
          <a:xfrm>
            <a:off x="6156325" y="58738"/>
            <a:ext cx="28559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§4.3</a:t>
            </a:r>
            <a:r>
              <a:rPr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常用的</a:t>
            </a:r>
            <a:r>
              <a:rPr kumimoji="1"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</a:t>
            </a:r>
            <a:endParaRPr lang="zh-CN" altLang="en-US" sz="18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9"/>
          <p:cNvGrpSpPr/>
          <p:nvPr/>
        </p:nvGrpSpPr>
        <p:grpSpPr bwMode="auto">
          <a:xfrm>
            <a:off x="214313" y="857250"/>
            <a:ext cx="4572000" cy="5976938"/>
            <a:chOff x="928662" y="500042"/>
            <a:chExt cx="5072098" cy="6334126"/>
          </a:xfrm>
        </p:grpSpPr>
        <p:pic>
          <p:nvPicPr>
            <p:cNvPr id="28717" name="Picture 8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4414" y="642918"/>
              <a:ext cx="4248150" cy="6191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28718" name="Object 9"/>
            <p:cNvGraphicFramePr>
              <a:graphicFrameLocks noChangeAspect="1"/>
            </p:cNvGraphicFramePr>
            <p:nvPr/>
          </p:nvGraphicFramePr>
          <p:xfrm>
            <a:off x="928662" y="500042"/>
            <a:ext cx="273050" cy="385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74" name="公式" r:id="rId2" imgW="165100" imgH="215900" progId="Equation.3">
                    <p:embed/>
                  </p:oleObj>
                </mc:Choice>
                <mc:Fallback>
                  <p:oleObj name="公式" r:id="rId2" imgW="165100" imgH="2159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8662" y="500042"/>
                          <a:ext cx="273050" cy="3857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19" name="Object 10"/>
            <p:cNvGraphicFramePr>
              <a:graphicFrameLocks noChangeAspect="1"/>
            </p:cNvGraphicFramePr>
            <p:nvPr/>
          </p:nvGraphicFramePr>
          <p:xfrm>
            <a:off x="928662" y="1214422"/>
            <a:ext cx="252412" cy="363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75" name="公式" r:id="rId4" imgW="152400" imgH="203200" progId="Equation.3">
                    <p:embed/>
                  </p:oleObj>
                </mc:Choice>
                <mc:Fallback>
                  <p:oleObj name="公式" r:id="rId4" imgW="152400" imgH="2032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8662" y="1214422"/>
                          <a:ext cx="252412" cy="3635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20" name="Object 11"/>
            <p:cNvGraphicFramePr>
              <a:graphicFrameLocks noChangeAspect="1"/>
            </p:cNvGraphicFramePr>
            <p:nvPr/>
          </p:nvGraphicFramePr>
          <p:xfrm>
            <a:off x="928662" y="1928802"/>
            <a:ext cx="293688" cy="363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76" name="公式" r:id="rId6" imgW="177800" imgH="203200" progId="Equation.3">
                    <p:embed/>
                  </p:oleObj>
                </mc:Choice>
                <mc:Fallback>
                  <p:oleObj name="公式" r:id="rId6" imgW="177800" imgH="2032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8662" y="1928802"/>
                          <a:ext cx="293688" cy="3635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21" name="Object 12"/>
            <p:cNvGraphicFramePr>
              <a:graphicFrameLocks noChangeAspect="1"/>
            </p:cNvGraphicFramePr>
            <p:nvPr/>
          </p:nvGraphicFramePr>
          <p:xfrm>
            <a:off x="928662" y="2643182"/>
            <a:ext cx="273050" cy="385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77" name="公式" r:id="rId8" imgW="165100" imgH="215900" progId="Equation.3">
                    <p:embed/>
                  </p:oleObj>
                </mc:Choice>
                <mc:Fallback>
                  <p:oleObj name="公式" r:id="rId8" imgW="165100" imgH="2159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8662" y="2643182"/>
                          <a:ext cx="273050" cy="3857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22" name="Object 13"/>
            <p:cNvGraphicFramePr>
              <a:graphicFrameLocks noChangeAspect="1"/>
            </p:cNvGraphicFramePr>
            <p:nvPr/>
          </p:nvGraphicFramePr>
          <p:xfrm>
            <a:off x="928662" y="3357562"/>
            <a:ext cx="293688" cy="363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78" name="公式" r:id="rId10" imgW="177800" imgH="203200" progId="Equation.3">
                    <p:embed/>
                  </p:oleObj>
                </mc:Choice>
                <mc:Fallback>
                  <p:oleObj name="公式" r:id="rId10" imgW="177800" imgH="2032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8662" y="3357562"/>
                          <a:ext cx="293688" cy="3635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23" name="Object 14"/>
            <p:cNvGraphicFramePr>
              <a:graphicFrameLocks noChangeAspect="1"/>
            </p:cNvGraphicFramePr>
            <p:nvPr/>
          </p:nvGraphicFramePr>
          <p:xfrm>
            <a:off x="928662" y="4071942"/>
            <a:ext cx="273050" cy="385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79" name="公式" r:id="rId12" imgW="165100" imgH="215900" progId="Equation.3">
                    <p:embed/>
                  </p:oleObj>
                </mc:Choice>
                <mc:Fallback>
                  <p:oleObj name="公式" r:id="rId12" imgW="165100" imgH="2159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8662" y="4071942"/>
                          <a:ext cx="273050" cy="3857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24" name="Object 15"/>
            <p:cNvGraphicFramePr>
              <a:graphicFrameLocks noChangeAspect="1"/>
            </p:cNvGraphicFramePr>
            <p:nvPr/>
          </p:nvGraphicFramePr>
          <p:xfrm>
            <a:off x="928662" y="4786322"/>
            <a:ext cx="273050" cy="385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80" name="公式" r:id="rId14" imgW="165100" imgH="215900" progId="Equation.3">
                    <p:embed/>
                  </p:oleObj>
                </mc:Choice>
                <mc:Fallback>
                  <p:oleObj name="公式" r:id="rId14" imgW="165100" imgH="2159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8662" y="4786322"/>
                          <a:ext cx="273050" cy="3857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25" name="Object 16"/>
            <p:cNvGraphicFramePr>
              <a:graphicFrameLocks noChangeAspect="1"/>
            </p:cNvGraphicFramePr>
            <p:nvPr/>
          </p:nvGraphicFramePr>
          <p:xfrm>
            <a:off x="928662" y="5500702"/>
            <a:ext cx="293687" cy="385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81" name="公式" r:id="rId16" imgW="177800" imgH="215900" progId="Equation.3">
                    <p:embed/>
                  </p:oleObj>
                </mc:Choice>
                <mc:Fallback>
                  <p:oleObj name="公式" r:id="rId16" imgW="177800" imgH="21590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8662" y="5500702"/>
                          <a:ext cx="293687" cy="3857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26" name="Object 17"/>
            <p:cNvGraphicFramePr>
              <a:graphicFrameLocks noChangeAspect="1"/>
            </p:cNvGraphicFramePr>
            <p:nvPr/>
          </p:nvGraphicFramePr>
          <p:xfrm>
            <a:off x="5559435" y="714356"/>
            <a:ext cx="315913" cy="385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82" name="公式" r:id="rId18" imgW="190500" imgH="215900" progId="Equation.3">
                    <p:embed/>
                  </p:oleObj>
                </mc:Choice>
                <mc:Fallback>
                  <p:oleObj name="公式" r:id="rId18" imgW="190500" imgH="21590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59435" y="714356"/>
                          <a:ext cx="315913" cy="3857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27" name="Object 18"/>
            <p:cNvGraphicFramePr>
              <a:graphicFrameLocks noChangeAspect="1"/>
            </p:cNvGraphicFramePr>
            <p:nvPr/>
          </p:nvGraphicFramePr>
          <p:xfrm>
            <a:off x="5559435" y="1142984"/>
            <a:ext cx="441325" cy="363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83" name="公式" r:id="rId20" imgW="266700" imgH="203200" progId="Equation.3">
                    <p:embed/>
                  </p:oleObj>
                </mc:Choice>
                <mc:Fallback>
                  <p:oleObj name="公式" r:id="rId20" imgW="266700" imgH="20320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59435" y="1142984"/>
                          <a:ext cx="441325" cy="3635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28" name="Object 19"/>
            <p:cNvGraphicFramePr>
              <a:graphicFrameLocks noChangeAspect="1"/>
            </p:cNvGraphicFramePr>
            <p:nvPr/>
          </p:nvGraphicFramePr>
          <p:xfrm>
            <a:off x="5500694" y="2214554"/>
            <a:ext cx="315912" cy="361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84" name="公式" r:id="rId22" imgW="190500" imgH="203200" progId="Equation.3">
                    <p:embed/>
                  </p:oleObj>
                </mc:Choice>
                <mc:Fallback>
                  <p:oleObj name="公式" r:id="rId22" imgW="190500" imgH="2032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00694" y="2214554"/>
                          <a:ext cx="315912" cy="3619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29" name="Object 20"/>
            <p:cNvGraphicFramePr>
              <a:graphicFrameLocks noChangeAspect="1"/>
            </p:cNvGraphicFramePr>
            <p:nvPr/>
          </p:nvGraphicFramePr>
          <p:xfrm>
            <a:off x="928662" y="6072206"/>
            <a:ext cx="230187" cy="385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85" name="公式" r:id="rId24" imgW="139700" imgH="215900" progId="Equation.3">
                    <p:embed/>
                  </p:oleObj>
                </mc:Choice>
                <mc:Fallback>
                  <p:oleObj name="公式" r:id="rId24" imgW="139700" imgH="21590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8662" y="6072206"/>
                          <a:ext cx="230187" cy="3857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30" name="Object 21"/>
            <p:cNvGraphicFramePr>
              <a:graphicFrameLocks noChangeAspect="1"/>
            </p:cNvGraphicFramePr>
            <p:nvPr/>
          </p:nvGraphicFramePr>
          <p:xfrm>
            <a:off x="5500694" y="3857628"/>
            <a:ext cx="295275" cy="361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86" name="公式" r:id="rId26" imgW="177800" imgH="203200" progId="Equation.3">
                    <p:embed/>
                  </p:oleObj>
                </mc:Choice>
                <mc:Fallback>
                  <p:oleObj name="公式" r:id="rId26" imgW="177800" imgH="20320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00694" y="3857628"/>
                          <a:ext cx="295275" cy="3619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31" name="Object 22"/>
            <p:cNvGraphicFramePr>
              <a:graphicFrameLocks noChangeAspect="1"/>
            </p:cNvGraphicFramePr>
            <p:nvPr/>
          </p:nvGraphicFramePr>
          <p:xfrm>
            <a:off x="5500694" y="5500702"/>
            <a:ext cx="315913" cy="385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87" name="公式" r:id="rId28" imgW="190500" imgH="215900" progId="Equation.3">
                    <p:embed/>
                  </p:oleObj>
                </mc:Choice>
                <mc:Fallback>
                  <p:oleObj name="公式" r:id="rId28" imgW="190500" imgH="21590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00694" y="5500702"/>
                          <a:ext cx="315913" cy="3857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675" name="Text Box 5"/>
          <p:cNvSpPr txBox="1">
            <a:spLocks noChangeArrowheads="1"/>
          </p:cNvSpPr>
          <p:nvPr/>
        </p:nvSpPr>
        <p:spPr bwMode="auto">
          <a:xfrm>
            <a:off x="255588" y="0"/>
            <a:ext cx="30241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常用的集成编码器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/>
          <p:cNvSpPr>
            <a:spLocks noChangeArrowheads="1"/>
          </p:cNvSpPr>
          <p:nvPr/>
        </p:nvSpPr>
        <p:spPr bwMode="auto">
          <a:xfrm>
            <a:off x="214313" y="428625"/>
            <a:ext cx="48339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宋体" panose="02010600030101010101" pitchFamily="2" charset="-122"/>
              </a:rPr>
              <a:t>（</a:t>
            </a:r>
            <a:r>
              <a:rPr kumimoji="1" lang="en-US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1</a:t>
            </a:r>
            <a:r>
              <a:rPr kumimoji="1" lang="zh-CN" altLang="en-US" sz="2400" b="1">
                <a:solidFill>
                  <a:srgbClr val="0000FF"/>
                </a:solidFill>
                <a:latin typeface="宋体" panose="02010600030101010101" pitchFamily="2" charset="-122"/>
              </a:rPr>
              <a:t>）</a:t>
            </a:r>
            <a:r>
              <a:rPr kumimoji="1" lang="en-US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8</a:t>
            </a:r>
            <a:r>
              <a:rPr kumimoji="1" lang="zh-CN" altLang="en-US" sz="2400" b="1">
                <a:solidFill>
                  <a:srgbClr val="0000FF"/>
                </a:solidFill>
                <a:latin typeface="宋体" panose="02010600030101010101" pitchFamily="2" charset="-122"/>
              </a:rPr>
              <a:t>线－</a:t>
            </a:r>
            <a:r>
              <a:rPr kumimoji="1" lang="en-US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3</a:t>
            </a:r>
            <a:r>
              <a:rPr kumimoji="1" lang="zh-CN" altLang="en-US" sz="2400" b="1">
                <a:solidFill>
                  <a:srgbClr val="0000FF"/>
                </a:solidFill>
                <a:latin typeface="宋体" panose="02010600030101010101" pitchFamily="2" charset="-122"/>
              </a:rPr>
              <a:t>线优先编码器</a:t>
            </a:r>
            <a:r>
              <a:rPr kumimoji="1" lang="en-US" altLang="zh-CN" sz="2400" b="1">
                <a:solidFill>
                  <a:srgbClr val="FF0000"/>
                </a:solidFill>
                <a:latin typeface="宋体" panose="02010600030101010101" pitchFamily="2" charset="-122"/>
              </a:rPr>
              <a:t>74LS148</a:t>
            </a:r>
            <a:endParaRPr lang="zh-CN" altLang="en-US" sz="2400">
              <a:solidFill>
                <a:srgbClr val="FF0000"/>
              </a:solidFill>
            </a:endParaRPr>
          </a:p>
        </p:txBody>
      </p:sp>
      <p:grpSp>
        <p:nvGrpSpPr>
          <p:cNvPr id="3" name="组合 50"/>
          <p:cNvGrpSpPr/>
          <p:nvPr/>
        </p:nvGrpSpPr>
        <p:grpSpPr bwMode="auto">
          <a:xfrm>
            <a:off x="4857750" y="928688"/>
            <a:ext cx="4143375" cy="5715000"/>
            <a:chOff x="214282" y="1714488"/>
            <a:chExt cx="4143404" cy="3714776"/>
          </a:xfrm>
        </p:grpSpPr>
        <p:sp>
          <p:nvSpPr>
            <p:cNvPr id="28715" name="矩形 51"/>
            <p:cNvSpPr>
              <a:spLocks noChangeArrowheads="1"/>
            </p:cNvSpPr>
            <p:nvPr/>
          </p:nvSpPr>
          <p:spPr bwMode="auto">
            <a:xfrm>
              <a:off x="285720" y="1785926"/>
              <a:ext cx="199125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扩展电路功能：</a:t>
              </a:r>
              <a:endParaRPr kumimoji="1" lang="zh-CN" altLang="en-US" sz="20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16" name="Rectangle 16"/>
            <p:cNvSpPr>
              <a:spLocks noChangeArrowheads="1"/>
            </p:cNvSpPr>
            <p:nvPr/>
          </p:nvSpPr>
          <p:spPr bwMode="auto">
            <a:xfrm>
              <a:off x="214282" y="1714488"/>
              <a:ext cx="4143404" cy="3714776"/>
            </a:xfrm>
            <a:prstGeom prst="rect">
              <a:avLst/>
            </a:prstGeom>
            <a:noFill/>
            <a:ln w="57150" cmpd="thickThin">
              <a:solidFill>
                <a:srgbClr val="33CC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组合 53"/>
          <p:cNvGrpSpPr/>
          <p:nvPr/>
        </p:nvGrpSpPr>
        <p:grpSpPr bwMode="auto">
          <a:xfrm>
            <a:off x="5000625" y="1528763"/>
            <a:ext cx="3683000" cy="400050"/>
            <a:chOff x="500034" y="500042"/>
            <a:chExt cx="3682628" cy="400110"/>
          </a:xfrm>
        </p:grpSpPr>
        <p:graphicFrame>
          <p:nvGraphicFramePr>
            <p:cNvPr id="28713" name="Object 33"/>
            <p:cNvGraphicFramePr>
              <a:graphicFrameLocks noChangeAspect="1"/>
            </p:cNvGraphicFramePr>
            <p:nvPr/>
          </p:nvGraphicFramePr>
          <p:xfrm>
            <a:off x="500034" y="500042"/>
            <a:ext cx="207493" cy="3640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88" name="公式" r:id="rId30" imgW="139700" imgH="215900" progId="Equation.3">
                    <p:embed/>
                  </p:oleObj>
                </mc:Choice>
                <mc:Fallback>
                  <p:oleObj name="公式" r:id="rId30" imgW="139700" imgH="215900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034" y="500042"/>
                          <a:ext cx="207493" cy="3640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14" name="矩形 55"/>
            <p:cNvSpPr>
              <a:spLocks noChangeArrowheads="1"/>
            </p:cNvSpPr>
            <p:nvPr/>
          </p:nvSpPr>
          <p:spPr bwMode="auto">
            <a:xfrm>
              <a:off x="642910" y="500042"/>
              <a:ext cx="353975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：选通输入端，低电平有效。</a:t>
              </a:r>
              <a:endParaRPr lang="zh-CN" altLang="en-US" sz="2000">
                <a:solidFill>
                  <a:srgbClr val="0000FF"/>
                </a:solidFill>
              </a:endParaRPr>
            </a:p>
          </p:txBody>
        </p:sp>
      </p:grpSp>
      <p:grpSp>
        <p:nvGrpSpPr>
          <p:cNvPr id="5" name="组合 56"/>
          <p:cNvGrpSpPr/>
          <p:nvPr/>
        </p:nvGrpSpPr>
        <p:grpSpPr bwMode="auto">
          <a:xfrm>
            <a:off x="4960938" y="3028950"/>
            <a:ext cx="3754437" cy="400050"/>
            <a:chOff x="500034" y="428604"/>
            <a:chExt cx="3754066" cy="400110"/>
          </a:xfrm>
        </p:grpSpPr>
        <p:graphicFrame>
          <p:nvGraphicFramePr>
            <p:cNvPr id="28711" name="Object 34"/>
            <p:cNvGraphicFramePr>
              <a:graphicFrameLocks noChangeAspect="1"/>
            </p:cNvGraphicFramePr>
            <p:nvPr/>
          </p:nvGraphicFramePr>
          <p:xfrm>
            <a:off x="500034" y="428604"/>
            <a:ext cx="284767" cy="3640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89" name="公式" r:id="rId31" imgW="190500" imgH="215900" progId="Equation.3">
                    <p:embed/>
                  </p:oleObj>
                </mc:Choice>
                <mc:Fallback>
                  <p:oleObj name="公式" r:id="rId31" imgW="190500" imgH="215900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034" y="428604"/>
                          <a:ext cx="284767" cy="3640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12" name="矩形 58"/>
            <p:cNvSpPr>
              <a:spLocks noChangeArrowheads="1"/>
            </p:cNvSpPr>
            <p:nvPr/>
          </p:nvSpPr>
          <p:spPr bwMode="auto">
            <a:xfrm>
              <a:off x="714348" y="428604"/>
              <a:ext cx="353975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solidFill>
                    <a:srgbClr val="006600"/>
                  </a:solidFill>
                  <a:latin typeface="Times New Roman" panose="02020603050405020304" pitchFamily="18" charset="0"/>
                </a:rPr>
                <a:t>：选通输出端，低电平有效。</a:t>
              </a:r>
              <a:endParaRPr lang="zh-CN" altLang="en-US" sz="2000">
                <a:solidFill>
                  <a:srgbClr val="006600"/>
                </a:solidFill>
              </a:endParaRPr>
            </a:p>
          </p:txBody>
        </p:sp>
      </p:grpSp>
      <p:graphicFrame>
        <p:nvGraphicFramePr>
          <p:cNvPr id="60" name="Object 35"/>
          <p:cNvGraphicFramePr>
            <a:graphicFrameLocks noChangeAspect="1"/>
          </p:cNvGraphicFramePr>
          <p:nvPr/>
        </p:nvGraphicFramePr>
        <p:xfrm>
          <a:off x="5429250" y="3603625"/>
          <a:ext cx="3163888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90" name="公式" r:id="rId32" imgW="2463800" imgH="304800" progId="Equation.3">
                  <p:embed/>
                </p:oleObj>
              </mc:Choice>
              <mc:Fallback>
                <p:oleObj name="公式" r:id="rId32" imgW="2463800" imgH="30480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250" y="3603625"/>
                        <a:ext cx="3163888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矩形 60"/>
          <p:cNvSpPr>
            <a:spLocks noChangeArrowheads="1"/>
          </p:cNvSpPr>
          <p:nvPr/>
        </p:nvSpPr>
        <p:spPr bwMode="auto">
          <a:xfrm>
            <a:off x="5143500" y="4171950"/>
            <a:ext cx="39290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000" b="1">
                <a:latin typeface="Times New Roman" panose="02020603050405020304" pitchFamily="18" charset="0"/>
              </a:rPr>
              <a:t>“电路工作，无编码信号输入”。</a:t>
            </a:r>
            <a:endParaRPr kumimoji="1" lang="zh-CN" altLang="en-US" sz="2000" b="1">
              <a:latin typeface="Times New Roman" panose="02020603050405020304" pitchFamily="18" charset="0"/>
            </a:endParaRPr>
          </a:p>
        </p:txBody>
      </p:sp>
      <p:grpSp>
        <p:nvGrpSpPr>
          <p:cNvPr id="6" name="组合 61"/>
          <p:cNvGrpSpPr/>
          <p:nvPr/>
        </p:nvGrpSpPr>
        <p:grpSpPr bwMode="auto">
          <a:xfrm>
            <a:off x="5000625" y="4814888"/>
            <a:ext cx="3897313" cy="400050"/>
            <a:chOff x="357158" y="285728"/>
            <a:chExt cx="3896942" cy="400110"/>
          </a:xfrm>
        </p:grpSpPr>
        <p:graphicFrame>
          <p:nvGraphicFramePr>
            <p:cNvPr id="28709" name="Object 36"/>
            <p:cNvGraphicFramePr>
              <a:graphicFrameLocks noChangeAspect="1"/>
            </p:cNvGraphicFramePr>
            <p:nvPr/>
          </p:nvGraphicFramePr>
          <p:xfrm>
            <a:off x="357158" y="285728"/>
            <a:ext cx="397814" cy="3430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91" name="公式" r:id="rId34" imgW="266700" imgH="203200" progId="Equation.3">
                    <p:embed/>
                  </p:oleObj>
                </mc:Choice>
                <mc:Fallback>
                  <p:oleObj name="公式" r:id="rId34" imgW="266700" imgH="203200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158" y="285728"/>
                          <a:ext cx="397814" cy="3430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10" name="矩形 63"/>
            <p:cNvSpPr>
              <a:spLocks noChangeArrowheads="1"/>
            </p:cNvSpPr>
            <p:nvPr/>
          </p:nvSpPr>
          <p:spPr bwMode="auto">
            <a:xfrm>
              <a:off x="714348" y="285728"/>
              <a:ext cx="353975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solidFill>
                    <a:srgbClr val="C00000"/>
                  </a:solidFill>
                  <a:latin typeface="Times New Roman" panose="02020603050405020304" pitchFamily="18" charset="0"/>
                </a:rPr>
                <a:t>：扩展输出端，低电平有效。</a:t>
              </a:r>
              <a:endParaRPr lang="zh-CN" altLang="en-US" sz="2000">
                <a:solidFill>
                  <a:srgbClr val="C00000"/>
                </a:solidFill>
              </a:endParaRPr>
            </a:p>
          </p:txBody>
        </p:sp>
      </p:grpSp>
      <p:graphicFrame>
        <p:nvGraphicFramePr>
          <p:cNvPr id="65" name="Object 37"/>
          <p:cNvGraphicFramePr>
            <a:graphicFrameLocks noChangeAspect="1"/>
          </p:cNvGraphicFramePr>
          <p:nvPr/>
        </p:nvGraphicFramePr>
        <p:xfrm>
          <a:off x="5214938" y="5421313"/>
          <a:ext cx="3643312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92" name="公式" r:id="rId35" imgW="3124200" imgH="279400" progId="Equation.3">
                  <p:embed/>
                </p:oleObj>
              </mc:Choice>
              <mc:Fallback>
                <p:oleObj name="公式" r:id="rId35" imgW="3124200" imgH="27940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4938" y="5421313"/>
                        <a:ext cx="3643312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矩形 65"/>
          <p:cNvSpPr>
            <a:spLocks noChangeArrowheads="1"/>
          </p:cNvSpPr>
          <p:nvPr/>
        </p:nvSpPr>
        <p:spPr bwMode="auto">
          <a:xfrm>
            <a:off x="5143500" y="5957888"/>
            <a:ext cx="4000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000" b="1">
                <a:latin typeface="Times New Roman" panose="02020603050405020304" pitchFamily="18" charset="0"/>
              </a:rPr>
              <a:t>“电路工作，有编码信号输入”。</a:t>
            </a:r>
            <a:endParaRPr kumimoji="1"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71438" y="6072188"/>
            <a:ext cx="500062" cy="500062"/>
          </a:xfrm>
          <a:prstGeom prst="ellipse">
            <a:avLst/>
          </a:prstGeom>
          <a:noFill/>
          <a:ln>
            <a:solidFill>
              <a:srgbClr val="FF33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7" name="组合 77"/>
          <p:cNvGrpSpPr/>
          <p:nvPr/>
        </p:nvGrpSpPr>
        <p:grpSpPr bwMode="auto">
          <a:xfrm>
            <a:off x="571500" y="1500188"/>
            <a:ext cx="2428875" cy="4859337"/>
            <a:chOff x="571472" y="1500968"/>
            <a:chExt cx="2429686" cy="4858578"/>
          </a:xfrm>
        </p:grpSpPr>
        <p:cxnSp>
          <p:nvCxnSpPr>
            <p:cNvPr id="68" name="直接连接符 67"/>
            <p:cNvCxnSpPr/>
            <p:nvPr/>
          </p:nvCxnSpPr>
          <p:spPr>
            <a:xfrm>
              <a:off x="571472" y="6357959"/>
              <a:ext cx="643153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>
              <a:off x="1500470" y="6357959"/>
              <a:ext cx="1500688" cy="1587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rot="5400000">
              <a:off x="571869" y="3928669"/>
              <a:ext cx="4856991" cy="1588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85"/>
          <p:cNvGrpSpPr/>
          <p:nvPr/>
        </p:nvGrpSpPr>
        <p:grpSpPr bwMode="auto">
          <a:xfrm>
            <a:off x="142875" y="857250"/>
            <a:ext cx="3286125" cy="5143500"/>
            <a:chOff x="142844" y="857232"/>
            <a:chExt cx="3286148" cy="5143536"/>
          </a:xfrm>
        </p:grpSpPr>
        <p:sp>
          <p:nvSpPr>
            <p:cNvPr id="76" name="圆角矩形 75"/>
            <p:cNvSpPr/>
            <p:nvPr/>
          </p:nvSpPr>
          <p:spPr>
            <a:xfrm>
              <a:off x="142844" y="857232"/>
              <a:ext cx="428628" cy="5143536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28703" name="组合 79"/>
            <p:cNvGrpSpPr/>
            <p:nvPr/>
          </p:nvGrpSpPr>
          <p:grpSpPr bwMode="auto">
            <a:xfrm>
              <a:off x="1428728" y="2928934"/>
              <a:ext cx="2000264" cy="785818"/>
              <a:chOff x="1428728" y="2928934"/>
              <a:chExt cx="2000264" cy="785818"/>
            </a:xfrm>
          </p:grpSpPr>
          <p:sp>
            <p:nvSpPr>
              <p:cNvPr id="77" name="圆角矩形标注 76"/>
              <p:cNvSpPr/>
              <p:nvPr/>
            </p:nvSpPr>
            <p:spPr>
              <a:xfrm>
                <a:off x="1428728" y="2928935"/>
                <a:ext cx="2000264" cy="785817"/>
              </a:xfrm>
              <a:prstGeom prst="wedgeRoundRectCallout">
                <a:avLst>
                  <a:gd name="adj1" fmla="val -91309"/>
                  <a:gd name="adj2" fmla="val -55479"/>
                  <a:gd name="adj3" fmla="val 16667"/>
                </a:avLst>
              </a:prstGeom>
              <a:solidFill>
                <a:srgbClr val="0000FF"/>
              </a:solidFill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28705" name="矩形 78"/>
              <p:cNvSpPr>
                <a:spLocks noChangeArrowheads="1"/>
              </p:cNvSpPr>
              <p:nvPr/>
            </p:nvSpPr>
            <p:spPr bwMode="auto">
              <a:xfrm>
                <a:off x="1714480" y="3071810"/>
                <a:ext cx="1475084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000" b="1">
                    <a:solidFill>
                      <a:srgbClr val="FFFF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编码输入端</a:t>
                </a:r>
                <a:endParaRPr lang="zh-CN" altLang="en-US" sz="2000">
                  <a:solidFill>
                    <a:srgbClr val="FFFF00"/>
                  </a:solidFill>
                </a:endParaRPr>
              </a:p>
            </p:txBody>
          </p:sp>
        </p:grpSp>
      </p:grpSp>
      <p:grpSp>
        <p:nvGrpSpPr>
          <p:cNvPr id="10" name="组合 84"/>
          <p:cNvGrpSpPr/>
          <p:nvPr/>
        </p:nvGrpSpPr>
        <p:grpSpPr bwMode="auto">
          <a:xfrm>
            <a:off x="4214813" y="2357438"/>
            <a:ext cx="3286125" cy="3714750"/>
            <a:chOff x="4214810" y="2357430"/>
            <a:chExt cx="3286148" cy="3714776"/>
          </a:xfrm>
        </p:grpSpPr>
        <p:sp>
          <p:nvSpPr>
            <p:cNvPr id="81" name="圆角矩形 80"/>
            <p:cNvSpPr/>
            <p:nvPr/>
          </p:nvSpPr>
          <p:spPr>
            <a:xfrm>
              <a:off x="4214810" y="2357430"/>
              <a:ext cx="428628" cy="3714776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28699" name="组合 81"/>
            <p:cNvGrpSpPr/>
            <p:nvPr/>
          </p:nvGrpSpPr>
          <p:grpSpPr bwMode="auto">
            <a:xfrm>
              <a:off x="5500694" y="4143380"/>
              <a:ext cx="2000264" cy="785818"/>
              <a:chOff x="1428728" y="2928934"/>
              <a:chExt cx="2000264" cy="785818"/>
            </a:xfrm>
          </p:grpSpPr>
          <p:sp>
            <p:nvSpPr>
              <p:cNvPr id="83" name="圆角矩形标注 82"/>
              <p:cNvSpPr/>
              <p:nvPr/>
            </p:nvSpPr>
            <p:spPr>
              <a:xfrm>
                <a:off x="1428728" y="2928933"/>
                <a:ext cx="2000264" cy="785818"/>
              </a:xfrm>
              <a:prstGeom prst="wedgeRoundRectCallout">
                <a:avLst>
                  <a:gd name="adj1" fmla="val -91309"/>
                  <a:gd name="adj2" fmla="val -55479"/>
                  <a:gd name="adj3" fmla="val 16667"/>
                </a:avLst>
              </a:prstGeom>
              <a:solidFill>
                <a:srgbClr val="0000FF"/>
              </a:solidFill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28701" name="矩形 83"/>
              <p:cNvSpPr>
                <a:spLocks noChangeArrowheads="1"/>
              </p:cNvSpPr>
              <p:nvPr/>
            </p:nvSpPr>
            <p:spPr bwMode="auto">
              <a:xfrm>
                <a:off x="1714480" y="3071810"/>
                <a:ext cx="1475084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000" b="1">
                    <a:solidFill>
                      <a:srgbClr val="FFFF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编码输出端</a:t>
                </a:r>
                <a:endParaRPr lang="zh-CN" altLang="en-US" sz="2000">
                  <a:solidFill>
                    <a:srgbClr val="FFFF00"/>
                  </a:solidFill>
                </a:endParaRPr>
              </a:p>
            </p:txBody>
          </p:sp>
        </p:grpSp>
      </p:grpSp>
      <p:sp>
        <p:nvSpPr>
          <p:cNvPr id="88" name="椭圆 87"/>
          <p:cNvSpPr/>
          <p:nvPr/>
        </p:nvSpPr>
        <p:spPr>
          <a:xfrm>
            <a:off x="4286250" y="1000125"/>
            <a:ext cx="500063" cy="500063"/>
          </a:xfrm>
          <a:prstGeom prst="ellipse">
            <a:avLst/>
          </a:prstGeom>
          <a:noFill/>
          <a:ln>
            <a:solidFill>
              <a:srgbClr val="FF33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9" name="椭圆 88"/>
          <p:cNvSpPr/>
          <p:nvPr/>
        </p:nvSpPr>
        <p:spPr>
          <a:xfrm>
            <a:off x="4286250" y="1428750"/>
            <a:ext cx="500063" cy="500063"/>
          </a:xfrm>
          <a:prstGeom prst="ellipse">
            <a:avLst/>
          </a:prstGeom>
          <a:noFill/>
          <a:ln>
            <a:solidFill>
              <a:srgbClr val="FF33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2" name="组合 52"/>
          <p:cNvGrpSpPr/>
          <p:nvPr/>
        </p:nvGrpSpPr>
        <p:grpSpPr bwMode="auto">
          <a:xfrm>
            <a:off x="5357813" y="2028825"/>
            <a:ext cx="1971675" cy="400050"/>
            <a:chOff x="4830763" y="1500174"/>
            <a:chExt cx="1971890" cy="400110"/>
          </a:xfrm>
        </p:grpSpPr>
        <p:graphicFrame>
          <p:nvGraphicFramePr>
            <p:cNvPr id="28696" name="Object 53"/>
            <p:cNvGraphicFramePr>
              <a:graphicFrameLocks noChangeAspect="1"/>
            </p:cNvGraphicFramePr>
            <p:nvPr/>
          </p:nvGraphicFramePr>
          <p:xfrm>
            <a:off x="4830763" y="1500174"/>
            <a:ext cx="547687" cy="363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93" name="公式" r:id="rId37" imgW="368300" imgH="215900" progId="Equation.3">
                    <p:embed/>
                  </p:oleObj>
                </mc:Choice>
                <mc:Fallback>
                  <p:oleObj name="公式" r:id="rId37" imgW="368300" imgH="215900" progId="Equation.3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0763" y="1500174"/>
                          <a:ext cx="547687" cy="3635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7" name="矩形 54"/>
            <p:cNvSpPr>
              <a:spLocks noChangeArrowheads="1"/>
            </p:cNvSpPr>
            <p:nvPr/>
          </p:nvSpPr>
          <p:spPr bwMode="auto">
            <a:xfrm>
              <a:off x="5500694" y="1500174"/>
              <a:ext cx="130195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电路工作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;</a:t>
              </a:r>
              <a:endParaRPr lang="zh-CN" altLang="en-US" sz="2000"/>
            </a:p>
          </p:txBody>
        </p:sp>
      </p:grpSp>
      <p:grpSp>
        <p:nvGrpSpPr>
          <p:cNvPr id="13" name="组合 55"/>
          <p:cNvGrpSpPr/>
          <p:nvPr/>
        </p:nvGrpSpPr>
        <p:grpSpPr bwMode="auto">
          <a:xfrm>
            <a:off x="5357813" y="2500313"/>
            <a:ext cx="3800475" cy="400050"/>
            <a:chOff x="4876800" y="2000240"/>
            <a:chExt cx="3801337" cy="400170"/>
          </a:xfrm>
        </p:grpSpPr>
        <p:graphicFrame>
          <p:nvGraphicFramePr>
            <p:cNvPr id="28694" name="Object 54"/>
            <p:cNvGraphicFramePr>
              <a:graphicFrameLocks noChangeAspect="1"/>
            </p:cNvGraphicFramePr>
            <p:nvPr/>
          </p:nvGraphicFramePr>
          <p:xfrm>
            <a:off x="4876800" y="2000240"/>
            <a:ext cx="509588" cy="363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94" name="公式" r:id="rId39" imgW="342900" imgH="215900" progId="Equation.3">
                    <p:embed/>
                  </p:oleObj>
                </mc:Choice>
                <mc:Fallback>
                  <p:oleObj name="公式" r:id="rId39" imgW="342900" imgH="215900" progId="Equation.3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6800" y="2000240"/>
                          <a:ext cx="509588" cy="3635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5" name="矩形 57"/>
            <p:cNvSpPr>
              <a:spLocks noChangeArrowheads="1"/>
            </p:cNvSpPr>
            <p:nvPr/>
          </p:nvSpPr>
          <p:spPr bwMode="auto">
            <a:xfrm>
              <a:off x="5527683" y="2000240"/>
              <a:ext cx="3150454" cy="400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电路不工作，输出全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”1”</a:t>
              </a:r>
              <a:r>
                <a:rPr kumimoji="1" lang="zh-CN" altLang="en-US" sz="2000" b="1">
                  <a:latin typeface="Times New Roman" panose="02020603050405020304" pitchFamily="18" charset="0"/>
                </a:rPr>
                <a:t>。</a:t>
              </a:r>
              <a:endParaRPr lang="zh-CN" altLang="en-US" sz="2000"/>
            </a:p>
          </p:txBody>
        </p:sp>
      </p:grpSp>
      <p:sp>
        <p:nvSpPr>
          <p:cNvPr id="28693" name="矩形 1"/>
          <p:cNvSpPr>
            <a:spLocks noChangeArrowheads="1"/>
          </p:cNvSpPr>
          <p:nvPr/>
        </p:nvSpPr>
        <p:spPr bwMode="auto">
          <a:xfrm>
            <a:off x="6156325" y="58738"/>
            <a:ext cx="28559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§4.3</a:t>
            </a:r>
            <a:r>
              <a:rPr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常用的</a:t>
            </a:r>
            <a:r>
              <a:rPr kumimoji="1"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</a:t>
            </a:r>
            <a:endParaRPr lang="zh-CN" altLang="en-US" sz="18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61" grpId="0"/>
      <p:bldP spid="66" grpId="0"/>
      <p:bldP spid="70" grpId="0" animBg="1"/>
      <p:bldP spid="70" grpId="1" animBg="1"/>
      <p:bldP spid="88" grpId="0" animBg="1"/>
      <p:bldP spid="88" grpId="1" animBg="1"/>
      <p:bldP spid="89" grpId="0" animBg="1"/>
      <p:bldP spid="89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组合 82"/>
          <p:cNvGrpSpPr/>
          <p:nvPr/>
        </p:nvGrpSpPr>
        <p:grpSpPr bwMode="auto">
          <a:xfrm>
            <a:off x="184150" y="285750"/>
            <a:ext cx="5030788" cy="3946525"/>
            <a:chOff x="255584" y="285728"/>
            <a:chExt cx="5030796" cy="3946537"/>
          </a:xfrm>
        </p:grpSpPr>
        <p:sp>
          <p:nvSpPr>
            <p:cNvPr id="29765" name="Text Box 26"/>
            <p:cNvSpPr txBox="1">
              <a:spLocks noChangeArrowheads="1"/>
            </p:cNvSpPr>
            <p:nvPr/>
          </p:nvSpPr>
          <p:spPr bwMode="auto">
            <a:xfrm>
              <a:off x="1500166" y="285728"/>
              <a:ext cx="22336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>
                  <a:solidFill>
                    <a:srgbClr val="FF0000"/>
                  </a:solidFill>
                  <a:latin typeface="宋体" panose="02010600030101010101" pitchFamily="2" charset="-122"/>
                </a:rPr>
                <a:t>74LS148</a:t>
              </a:r>
              <a:r>
                <a:rPr lang="zh-CN" altLang="en-US" sz="2400" b="1">
                  <a:solidFill>
                    <a:srgbClr val="FF0000"/>
                  </a:solidFill>
                  <a:latin typeface="宋体" panose="02010600030101010101" pitchFamily="2" charset="-122"/>
                </a:rPr>
                <a:t>功能表</a:t>
              </a:r>
              <a:endParaRPr lang="zh-CN" altLang="en-US" sz="2400" b="1">
                <a:solidFill>
                  <a:srgbClr val="FF0000"/>
                </a:solidFill>
                <a:latin typeface="宋体" panose="02010600030101010101" pitchFamily="2" charset="-122"/>
              </a:endParaRPr>
            </a:p>
          </p:txBody>
        </p:sp>
        <p:graphicFrame>
          <p:nvGraphicFramePr>
            <p:cNvPr id="29766" name="Object 2"/>
            <p:cNvGraphicFramePr>
              <a:graphicFrameLocks noChangeAspect="1"/>
            </p:cNvGraphicFramePr>
            <p:nvPr/>
          </p:nvGraphicFramePr>
          <p:xfrm>
            <a:off x="255584" y="785794"/>
            <a:ext cx="5030796" cy="34464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05" name="工作表" r:id="rId1" imgW="3917315" imgH="2641600" progId="Excel.Sheet.8">
                    <p:embed/>
                  </p:oleObj>
                </mc:Choice>
                <mc:Fallback>
                  <p:oleObj name="工作表" r:id="rId1" imgW="3917315" imgH="2641600" progId="Excel.Sheet.8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584" y="785794"/>
                          <a:ext cx="5030796" cy="34464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67" name="Line 5"/>
            <p:cNvSpPr>
              <a:spLocks noChangeShapeType="1"/>
            </p:cNvSpPr>
            <p:nvPr/>
          </p:nvSpPr>
          <p:spPr bwMode="auto">
            <a:xfrm>
              <a:off x="314894" y="1128337"/>
              <a:ext cx="17687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68" name="Line 6"/>
            <p:cNvSpPr>
              <a:spLocks noChangeShapeType="1"/>
            </p:cNvSpPr>
            <p:nvPr/>
          </p:nvSpPr>
          <p:spPr bwMode="auto">
            <a:xfrm>
              <a:off x="583910" y="1128337"/>
              <a:ext cx="17687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69" name="Line 7"/>
            <p:cNvSpPr>
              <a:spLocks noChangeShapeType="1"/>
            </p:cNvSpPr>
            <p:nvPr/>
          </p:nvSpPr>
          <p:spPr bwMode="auto">
            <a:xfrm>
              <a:off x="904821" y="1128337"/>
              <a:ext cx="17687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70" name="Line 8"/>
            <p:cNvSpPr>
              <a:spLocks noChangeShapeType="1"/>
            </p:cNvSpPr>
            <p:nvPr/>
          </p:nvSpPr>
          <p:spPr bwMode="auto">
            <a:xfrm>
              <a:off x="1258566" y="1128337"/>
              <a:ext cx="17687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71" name="Line 9"/>
            <p:cNvSpPr>
              <a:spLocks noChangeShapeType="1"/>
            </p:cNvSpPr>
            <p:nvPr/>
          </p:nvSpPr>
          <p:spPr bwMode="auto">
            <a:xfrm>
              <a:off x="1587951" y="1128337"/>
              <a:ext cx="17687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72" name="Line 10"/>
            <p:cNvSpPr>
              <a:spLocks noChangeShapeType="1"/>
            </p:cNvSpPr>
            <p:nvPr/>
          </p:nvSpPr>
          <p:spPr bwMode="auto">
            <a:xfrm>
              <a:off x="1916276" y="1128337"/>
              <a:ext cx="17687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73" name="Line 11"/>
            <p:cNvSpPr>
              <a:spLocks noChangeShapeType="1"/>
            </p:cNvSpPr>
            <p:nvPr/>
          </p:nvSpPr>
          <p:spPr bwMode="auto">
            <a:xfrm>
              <a:off x="2261548" y="1128337"/>
              <a:ext cx="17793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74" name="Line 12"/>
            <p:cNvSpPr>
              <a:spLocks noChangeShapeType="1"/>
            </p:cNvSpPr>
            <p:nvPr/>
          </p:nvSpPr>
          <p:spPr bwMode="auto">
            <a:xfrm>
              <a:off x="2573987" y="1128337"/>
              <a:ext cx="17687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75" name="Line 13"/>
            <p:cNvSpPr>
              <a:spLocks noChangeShapeType="1"/>
            </p:cNvSpPr>
            <p:nvPr/>
          </p:nvSpPr>
          <p:spPr bwMode="auto">
            <a:xfrm>
              <a:off x="2911844" y="1128337"/>
              <a:ext cx="17687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76" name="Line 14"/>
            <p:cNvSpPr>
              <a:spLocks noChangeShapeType="1"/>
            </p:cNvSpPr>
            <p:nvPr/>
          </p:nvSpPr>
          <p:spPr bwMode="auto">
            <a:xfrm>
              <a:off x="3296303" y="1128337"/>
              <a:ext cx="17793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77" name="Line 15"/>
            <p:cNvSpPr>
              <a:spLocks noChangeShapeType="1"/>
            </p:cNvSpPr>
            <p:nvPr/>
          </p:nvSpPr>
          <p:spPr bwMode="auto">
            <a:xfrm>
              <a:off x="3666993" y="1128337"/>
              <a:ext cx="17793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78" name="Line 16"/>
            <p:cNvSpPr>
              <a:spLocks noChangeShapeType="1"/>
            </p:cNvSpPr>
            <p:nvPr/>
          </p:nvSpPr>
          <p:spPr bwMode="auto">
            <a:xfrm>
              <a:off x="4066280" y="1128337"/>
              <a:ext cx="17687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79" name="Line 17"/>
            <p:cNvSpPr>
              <a:spLocks noChangeShapeType="1"/>
            </p:cNvSpPr>
            <p:nvPr/>
          </p:nvSpPr>
          <p:spPr bwMode="auto">
            <a:xfrm>
              <a:off x="4450738" y="1128337"/>
              <a:ext cx="17687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80" name="Line 18"/>
            <p:cNvSpPr>
              <a:spLocks noChangeShapeType="1"/>
            </p:cNvSpPr>
            <p:nvPr/>
          </p:nvSpPr>
          <p:spPr bwMode="auto">
            <a:xfrm>
              <a:off x="4819310" y="1128337"/>
              <a:ext cx="17687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组合 30"/>
          <p:cNvGrpSpPr/>
          <p:nvPr/>
        </p:nvGrpSpPr>
        <p:grpSpPr bwMode="auto">
          <a:xfrm>
            <a:off x="285750" y="5461000"/>
            <a:ext cx="5532438" cy="428625"/>
            <a:chOff x="500034" y="4929198"/>
            <a:chExt cx="5532284" cy="428682"/>
          </a:xfrm>
        </p:grpSpPr>
        <p:sp>
          <p:nvSpPr>
            <p:cNvPr id="24" name="矩形 23"/>
            <p:cNvSpPr/>
            <p:nvPr/>
          </p:nvSpPr>
          <p:spPr>
            <a:xfrm>
              <a:off x="500034" y="4929198"/>
              <a:ext cx="5532284" cy="40010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1" lang="zh-CN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输入：</a:t>
              </a:r>
              <a:r>
                <a:rPr kumimoji="1" lang="zh-CN" altLang="en-US" sz="20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低电平有效，且      优先级最高。</a:t>
              </a:r>
              <a:endPara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grpSp>
          <p:nvGrpSpPr>
            <p:cNvPr id="29760" name="组合 28"/>
            <p:cNvGrpSpPr/>
            <p:nvPr/>
          </p:nvGrpSpPr>
          <p:grpSpPr bwMode="auto">
            <a:xfrm>
              <a:off x="1277917" y="4929198"/>
              <a:ext cx="865191" cy="428682"/>
              <a:chOff x="4643438" y="4829188"/>
              <a:chExt cx="865191" cy="428682"/>
            </a:xfrm>
          </p:grpSpPr>
          <p:graphicFrame>
            <p:nvGraphicFramePr>
              <p:cNvPr id="29762" name="Object 3"/>
              <p:cNvGraphicFramePr>
                <a:graphicFrameLocks noChangeAspect="1"/>
              </p:cNvGraphicFramePr>
              <p:nvPr/>
            </p:nvGraphicFramePr>
            <p:xfrm>
              <a:off x="4643438" y="4829188"/>
              <a:ext cx="273050" cy="3857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806" name="公式" r:id="rId3" imgW="165100" imgH="215900" progId="Equation.3">
                      <p:embed/>
                    </p:oleObj>
                  </mc:Choice>
                  <mc:Fallback>
                    <p:oleObj name="公式" r:id="rId3" imgW="165100" imgH="215900" progId="Equation.3">
                      <p:embed/>
                      <p:pic>
                        <p:nvPicPr>
                          <p:cNvPr id="0" name="Object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43438" y="4829188"/>
                            <a:ext cx="273050" cy="3857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763" name="Object 4"/>
              <p:cNvGraphicFramePr>
                <a:graphicFrameLocks noChangeAspect="1"/>
              </p:cNvGraphicFramePr>
              <p:nvPr/>
            </p:nvGraphicFramePr>
            <p:xfrm>
              <a:off x="5214942" y="4829188"/>
              <a:ext cx="293687" cy="3857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807" name="公式" r:id="rId5" imgW="177800" imgH="215900" progId="Equation.3">
                      <p:embed/>
                    </p:oleObj>
                  </mc:Choice>
                  <mc:Fallback>
                    <p:oleObj name="公式" r:id="rId5" imgW="177800" imgH="215900" progId="Equation.3">
                      <p:embed/>
                      <p:pic>
                        <p:nvPicPr>
                          <p:cNvPr id="0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14942" y="4829188"/>
                            <a:ext cx="293687" cy="3857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764" name="矩形 27"/>
              <p:cNvSpPr>
                <a:spLocks noChangeArrowheads="1"/>
              </p:cNvSpPr>
              <p:nvPr/>
            </p:nvSpPr>
            <p:spPr bwMode="auto">
              <a:xfrm>
                <a:off x="4857752" y="4857760"/>
                <a:ext cx="44275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000" b="1">
                    <a:latin typeface="宋体" panose="02010600030101010101" pitchFamily="2" charset="-122"/>
                  </a:rPr>
                  <a:t>～</a:t>
                </a:r>
                <a:endParaRPr lang="zh-CN" altLang="en-US" sz="2000"/>
              </a:p>
            </p:txBody>
          </p:sp>
        </p:grpSp>
        <p:graphicFrame>
          <p:nvGraphicFramePr>
            <p:cNvPr id="29761" name="Object 5"/>
            <p:cNvGraphicFramePr>
              <a:graphicFrameLocks noChangeAspect="1"/>
            </p:cNvGraphicFramePr>
            <p:nvPr/>
          </p:nvGraphicFramePr>
          <p:xfrm>
            <a:off x="4063999" y="4929198"/>
            <a:ext cx="293687" cy="385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08" name="公式" r:id="rId7" imgW="177800" imgH="215900" progId="Equation.3">
                    <p:embed/>
                  </p:oleObj>
                </mc:Choice>
                <mc:Fallback>
                  <p:oleObj name="公式" r:id="rId7" imgW="177800" imgH="2159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3999" y="4929198"/>
                          <a:ext cx="293687" cy="3857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31"/>
          <p:cNvGrpSpPr/>
          <p:nvPr/>
        </p:nvGrpSpPr>
        <p:grpSpPr bwMode="auto">
          <a:xfrm>
            <a:off x="285750" y="6032500"/>
            <a:ext cx="3857625" cy="428625"/>
            <a:chOff x="500034" y="4929198"/>
            <a:chExt cx="3857146" cy="428682"/>
          </a:xfrm>
        </p:grpSpPr>
        <p:sp>
          <p:nvSpPr>
            <p:cNvPr id="33" name="矩形 32"/>
            <p:cNvSpPr/>
            <p:nvPr/>
          </p:nvSpPr>
          <p:spPr>
            <a:xfrm>
              <a:off x="500034" y="4929198"/>
              <a:ext cx="3857146" cy="40010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1" lang="zh-CN" altLang="en-US" sz="20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输出：</a:t>
              </a:r>
              <a:r>
                <a:rPr kumimoji="1" lang="zh-CN" altLang="en-US" sz="20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以反码形式输出。</a:t>
              </a:r>
              <a:endPara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grpSp>
          <p:nvGrpSpPr>
            <p:cNvPr id="29755" name="组合 28"/>
            <p:cNvGrpSpPr/>
            <p:nvPr/>
          </p:nvGrpSpPr>
          <p:grpSpPr bwMode="auto">
            <a:xfrm>
              <a:off x="1257300" y="4929238"/>
              <a:ext cx="896938" cy="428642"/>
              <a:chOff x="4622821" y="4829228"/>
              <a:chExt cx="896938" cy="428642"/>
            </a:xfrm>
          </p:grpSpPr>
          <p:graphicFrame>
            <p:nvGraphicFramePr>
              <p:cNvPr id="29756" name="Object 6"/>
              <p:cNvGraphicFramePr>
                <a:graphicFrameLocks noChangeAspect="1"/>
              </p:cNvGraphicFramePr>
              <p:nvPr/>
            </p:nvGraphicFramePr>
            <p:xfrm>
              <a:off x="4622821" y="4840341"/>
              <a:ext cx="314325" cy="3635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809" name="公式" r:id="rId8" imgW="190500" imgH="203200" progId="Equation.3">
                      <p:embed/>
                    </p:oleObj>
                  </mc:Choice>
                  <mc:Fallback>
                    <p:oleObj name="公式" r:id="rId8" imgW="190500" imgH="203200" progId="Equation.3">
                      <p:embed/>
                      <p:pic>
                        <p:nvPicPr>
                          <p:cNvPr id="0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22821" y="4840341"/>
                            <a:ext cx="314325" cy="3635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757" name="Object 7"/>
              <p:cNvGraphicFramePr>
                <a:graphicFrameLocks noChangeAspect="1"/>
              </p:cNvGraphicFramePr>
              <p:nvPr/>
            </p:nvGraphicFramePr>
            <p:xfrm>
              <a:off x="5205434" y="4829228"/>
              <a:ext cx="314325" cy="3857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810" name="公式" r:id="rId10" imgW="190500" imgH="215900" progId="Equation.3">
                      <p:embed/>
                    </p:oleObj>
                  </mc:Choice>
                  <mc:Fallback>
                    <p:oleObj name="公式" r:id="rId10" imgW="190500" imgH="215900" progId="Equation.3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05434" y="4829228"/>
                            <a:ext cx="314325" cy="3857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758" name="矩形 37"/>
              <p:cNvSpPr>
                <a:spLocks noChangeArrowheads="1"/>
              </p:cNvSpPr>
              <p:nvPr/>
            </p:nvSpPr>
            <p:spPr bwMode="auto">
              <a:xfrm>
                <a:off x="4857752" y="4857760"/>
                <a:ext cx="44275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000" b="1">
                    <a:latin typeface="宋体" panose="02010600030101010101" pitchFamily="2" charset="-122"/>
                  </a:rPr>
                  <a:t>～</a:t>
                </a:r>
                <a:endParaRPr lang="zh-CN" altLang="en-US" sz="2000"/>
              </a:p>
            </p:txBody>
          </p:sp>
        </p:grpSp>
      </p:grpSp>
      <p:grpSp>
        <p:nvGrpSpPr>
          <p:cNvPr id="7" name="组合 85"/>
          <p:cNvGrpSpPr/>
          <p:nvPr/>
        </p:nvGrpSpPr>
        <p:grpSpPr bwMode="auto">
          <a:xfrm>
            <a:off x="214313" y="4889500"/>
            <a:ext cx="5429250" cy="1714500"/>
            <a:chOff x="214282" y="4603132"/>
            <a:chExt cx="5429288" cy="1714512"/>
          </a:xfrm>
        </p:grpSpPr>
        <p:sp>
          <p:nvSpPr>
            <p:cNvPr id="29752" name="矩形 24"/>
            <p:cNvSpPr>
              <a:spLocks noChangeArrowheads="1"/>
            </p:cNvSpPr>
            <p:nvPr/>
          </p:nvSpPr>
          <p:spPr bwMode="auto">
            <a:xfrm>
              <a:off x="285720" y="4674570"/>
              <a:ext cx="173156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FF0000"/>
                  </a:solidFill>
                  <a:latin typeface="宋体" panose="02010600030101010101" pitchFamily="2" charset="-122"/>
                </a:rPr>
                <a:t>编码功能：</a:t>
              </a:r>
              <a:endParaRPr lang="zh-CN" altLang="en-US" sz="2400"/>
            </a:p>
          </p:txBody>
        </p:sp>
        <p:sp>
          <p:nvSpPr>
            <p:cNvPr id="29753" name="Rectangle 16"/>
            <p:cNvSpPr>
              <a:spLocks noChangeArrowheads="1"/>
            </p:cNvSpPr>
            <p:nvPr/>
          </p:nvSpPr>
          <p:spPr bwMode="auto">
            <a:xfrm>
              <a:off x="214282" y="4603132"/>
              <a:ext cx="5429288" cy="1714512"/>
            </a:xfrm>
            <a:prstGeom prst="rect">
              <a:avLst/>
            </a:prstGeom>
            <a:noFill/>
            <a:ln w="57150" cmpd="thickThin">
              <a:solidFill>
                <a:srgbClr val="33CC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组合 86"/>
          <p:cNvGrpSpPr/>
          <p:nvPr/>
        </p:nvGrpSpPr>
        <p:grpSpPr bwMode="auto">
          <a:xfrm>
            <a:off x="5429250" y="714375"/>
            <a:ext cx="3571875" cy="4000500"/>
            <a:chOff x="5572132" y="714356"/>
            <a:chExt cx="3357586" cy="3500462"/>
          </a:xfrm>
        </p:grpSpPr>
        <p:sp>
          <p:nvSpPr>
            <p:cNvPr id="29750" name="Rectangle 16"/>
            <p:cNvSpPr>
              <a:spLocks noChangeArrowheads="1"/>
            </p:cNvSpPr>
            <p:nvPr/>
          </p:nvSpPr>
          <p:spPr bwMode="auto">
            <a:xfrm>
              <a:off x="5572132" y="714356"/>
              <a:ext cx="3357586" cy="3500462"/>
            </a:xfrm>
            <a:prstGeom prst="rect">
              <a:avLst/>
            </a:prstGeom>
            <a:noFill/>
            <a:ln w="57150" cmpd="thickThin">
              <a:solidFill>
                <a:srgbClr val="33CC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5857154" y="857431"/>
              <a:ext cx="2766651" cy="4000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000" b="1" dirty="0">
                  <a:solidFill>
                    <a:srgbClr val="FF0000"/>
                  </a:solidFill>
                  <a:latin typeface="+mn-ea"/>
                  <a:ea typeface="+mn-ea"/>
                </a:rPr>
                <a:t>扩展输出的状态及含意</a:t>
              </a:r>
              <a:endParaRPr lang="zh-CN" altLang="en-US" sz="20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9" name="组合 96"/>
          <p:cNvGrpSpPr/>
          <p:nvPr/>
        </p:nvGrpSpPr>
        <p:grpSpPr bwMode="auto">
          <a:xfrm>
            <a:off x="5572125" y="3863975"/>
            <a:ext cx="3214688" cy="708025"/>
            <a:chOff x="5715008" y="3292618"/>
            <a:chExt cx="3214710" cy="707886"/>
          </a:xfrm>
        </p:grpSpPr>
        <p:grpSp>
          <p:nvGrpSpPr>
            <p:cNvPr id="29746" name="组合 45"/>
            <p:cNvGrpSpPr/>
            <p:nvPr/>
          </p:nvGrpSpPr>
          <p:grpSpPr bwMode="auto">
            <a:xfrm>
              <a:off x="5715008" y="3457518"/>
              <a:ext cx="812972" cy="400110"/>
              <a:chOff x="5214942" y="1928802"/>
              <a:chExt cx="812972" cy="400110"/>
            </a:xfrm>
          </p:grpSpPr>
          <p:sp>
            <p:nvSpPr>
              <p:cNvPr id="29748" name="矩形 58"/>
              <p:cNvSpPr>
                <a:spLocks noChangeArrowheads="1"/>
              </p:cNvSpPr>
              <p:nvPr/>
            </p:nvSpPr>
            <p:spPr bwMode="auto">
              <a:xfrm>
                <a:off x="5214942" y="1928802"/>
                <a:ext cx="31290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b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</a:t>
                </a:r>
                <a:endParaRPr lang="zh-CN" altLang="en-US" sz="1600">
                  <a:solidFill>
                    <a:srgbClr val="FF0000"/>
                  </a:solidFill>
                </a:endParaRPr>
              </a:p>
            </p:txBody>
          </p:sp>
          <p:sp>
            <p:nvSpPr>
              <p:cNvPr id="29749" name="矩形 59"/>
              <p:cNvSpPr>
                <a:spLocks noChangeArrowheads="1"/>
              </p:cNvSpPr>
              <p:nvPr/>
            </p:nvSpPr>
            <p:spPr bwMode="auto">
              <a:xfrm>
                <a:off x="5715008" y="1928802"/>
                <a:ext cx="31290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b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0</a:t>
                </a:r>
                <a:endParaRPr lang="zh-CN" altLang="en-US" sz="160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9747" name="矩形 64"/>
            <p:cNvSpPr>
              <a:spLocks noChangeArrowheads="1"/>
            </p:cNvSpPr>
            <p:nvPr/>
          </p:nvSpPr>
          <p:spPr bwMode="auto">
            <a:xfrm>
              <a:off x="6715140" y="3292618"/>
              <a:ext cx="2214578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电路工作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有编码信号输入。</a:t>
              </a:r>
              <a:endParaRPr kumimoji="1" lang="zh-CN" altLang="en-US" sz="2000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" name="组合 87"/>
          <p:cNvGrpSpPr/>
          <p:nvPr/>
        </p:nvGrpSpPr>
        <p:grpSpPr bwMode="auto">
          <a:xfrm>
            <a:off x="5572125" y="1357313"/>
            <a:ext cx="3071813" cy="3214687"/>
            <a:chOff x="5715008" y="1357298"/>
            <a:chExt cx="3071834" cy="2644000"/>
          </a:xfrm>
        </p:grpSpPr>
        <p:sp>
          <p:nvSpPr>
            <p:cNvPr id="29737" name="矩形 44"/>
            <p:cNvSpPr>
              <a:spLocks noChangeArrowheads="1"/>
            </p:cNvSpPr>
            <p:nvPr/>
          </p:nvSpPr>
          <p:spPr bwMode="auto">
            <a:xfrm>
              <a:off x="6929454" y="1428736"/>
              <a:ext cx="12170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电路状态</a:t>
              </a:r>
              <a:endParaRPr lang="zh-CN" altLang="en-US" sz="1600">
                <a:solidFill>
                  <a:srgbClr val="0000FF"/>
                </a:solidFill>
              </a:endParaRPr>
            </a:p>
          </p:txBody>
        </p:sp>
        <p:cxnSp>
          <p:nvCxnSpPr>
            <p:cNvPr id="47" name="直接连接符 46"/>
            <p:cNvCxnSpPr/>
            <p:nvPr/>
          </p:nvCxnSpPr>
          <p:spPr>
            <a:xfrm>
              <a:off x="5715008" y="1357298"/>
              <a:ext cx="3071834" cy="130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>
              <a:off x="5715008" y="1926574"/>
              <a:ext cx="3071834" cy="261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rot="5400000">
              <a:off x="5392346" y="2678504"/>
              <a:ext cx="264400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5715008" y="2570274"/>
              <a:ext cx="3071834" cy="130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>
              <a:off x="5715008" y="3412437"/>
              <a:ext cx="3071834" cy="130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>
              <a:off x="5715008" y="3998687"/>
              <a:ext cx="3071834" cy="130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9744" name="Object 9"/>
            <p:cNvGraphicFramePr>
              <a:graphicFrameLocks noChangeAspect="1"/>
            </p:cNvGraphicFramePr>
            <p:nvPr/>
          </p:nvGraphicFramePr>
          <p:xfrm>
            <a:off x="5745177" y="1428736"/>
            <a:ext cx="284162" cy="363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11" name="公式" r:id="rId12" imgW="190500" imgH="215900" progId="Equation.3">
                    <p:embed/>
                  </p:oleObj>
                </mc:Choice>
                <mc:Fallback>
                  <p:oleObj name="公式" r:id="rId12" imgW="190500" imgH="2159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45177" y="1428736"/>
                          <a:ext cx="284162" cy="3635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45" name="Object 10"/>
            <p:cNvGraphicFramePr>
              <a:graphicFrameLocks noChangeAspect="1"/>
            </p:cNvGraphicFramePr>
            <p:nvPr/>
          </p:nvGraphicFramePr>
          <p:xfrm>
            <a:off x="6245239" y="1428736"/>
            <a:ext cx="398463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12" name="公式" r:id="rId14" imgW="266700" imgH="203200" progId="Equation.3">
                    <p:embed/>
                  </p:oleObj>
                </mc:Choice>
                <mc:Fallback>
                  <p:oleObj name="公式" r:id="rId14" imgW="266700" imgH="2032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5239" y="1428736"/>
                          <a:ext cx="398463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82" name="Picture 4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6438" y="4818063"/>
            <a:ext cx="3143250" cy="189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圆角矩形 83"/>
          <p:cNvSpPr/>
          <p:nvPr/>
        </p:nvSpPr>
        <p:spPr>
          <a:xfrm rot="19152101">
            <a:off x="68263" y="2971800"/>
            <a:ext cx="3435350" cy="271463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5" name="圆角矩形 84"/>
          <p:cNvSpPr/>
          <p:nvPr/>
        </p:nvSpPr>
        <p:spPr>
          <a:xfrm>
            <a:off x="3143250" y="2000250"/>
            <a:ext cx="1143000" cy="2214563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9" name="椭圆 88"/>
          <p:cNvSpPr/>
          <p:nvPr/>
        </p:nvSpPr>
        <p:spPr>
          <a:xfrm>
            <a:off x="4357688" y="1462088"/>
            <a:ext cx="785812" cy="214312"/>
          </a:xfrm>
          <a:prstGeom prst="ellipse">
            <a:avLst/>
          </a:prstGeom>
          <a:noFill/>
          <a:ln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0" name="椭圆 89"/>
          <p:cNvSpPr/>
          <p:nvPr/>
        </p:nvSpPr>
        <p:spPr>
          <a:xfrm>
            <a:off x="142875" y="1357313"/>
            <a:ext cx="428625" cy="357187"/>
          </a:xfrm>
          <a:prstGeom prst="ellipse">
            <a:avLst/>
          </a:prstGeom>
          <a:noFill/>
          <a:ln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2" name="椭圆 91"/>
          <p:cNvSpPr/>
          <p:nvPr/>
        </p:nvSpPr>
        <p:spPr>
          <a:xfrm>
            <a:off x="4357688" y="1714500"/>
            <a:ext cx="785812" cy="214313"/>
          </a:xfrm>
          <a:prstGeom prst="ellipse">
            <a:avLst/>
          </a:prstGeom>
          <a:noFill/>
          <a:ln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3" name="椭圆 92"/>
          <p:cNvSpPr/>
          <p:nvPr/>
        </p:nvSpPr>
        <p:spPr>
          <a:xfrm>
            <a:off x="142875" y="1643063"/>
            <a:ext cx="428625" cy="357187"/>
          </a:xfrm>
          <a:prstGeom prst="ellipse">
            <a:avLst/>
          </a:prstGeom>
          <a:noFill/>
          <a:ln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5" name="椭圆 94"/>
          <p:cNvSpPr/>
          <p:nvPr/>
        </p:nvSpPr>
        <p:spPr>
          <a:xfrm>
            <a:off x="4357688" y="2000250"/>
            <a:ext cx="785812" cy="2286000"/>
          </a:xfrm>
          <a:prstGeom prst="ellipse">
            <a:avLst/>
          </a:prstGeom>
          <a:noFill/>
          <a:ln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6" name="椭圆 95"/>
          <p:cNvSpPr/>
          <p:nvPr/>
        </p:nvSpPr>
        <p:spPr>
          <a:xfrm>
            <a:off x="142875" y="1928813"/>
            <a:ext cx="428625" cy="2357437"/>
          </a:xfrm>
          <a:prstGeom prst="ellipse">
            <a:avLst/>
          </a:prstGeom>
          <a:noFill/>
          <a:ln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2" name="组合 110"/>
          <p:cNvGrpSpPr/>
          <p:nvPr/>
        </p:nvGrpSpPr>
        <p:grpSpPr bwMode="auto">
          <a:xfrm>
            <a:off x="5572125" y="2792413"/>
            <a:ext cx="3643313" cy="1065212"/>
            <a:chOff x="5572132" y="2792552"/>
            <a:chExt cx="3643338" cy="1065130"/>
          </a:xfrm>
        </p:grpSpPr>
        <p:sp>
          <p:nvSpPr>
            <p:cNvPr id="29727" name="矩形 51"/>
            <p:cNvSpPr>
              <a:spLocks noChangeArrowheads="1"/>
            </p:cNvSpPr>
            <p:nvPr/>
          </p:nvSpPr>
          <p:spPr bwMode="auto">
            <a:xfrm>
              <a:off x="6572264" y="2792552"/>
              <a:ext cx="2214578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电路工作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无编码信号输入。</a:t>
              </a:r>
              <a:endParaRPr kumimoji="1" lang="zh-CN" altLang="en-US" sz="2000" b="1">
                <a:latin typeface="Times New Roman" panose="02020603050405020304" pitchFamily="18" charset="0"/>
              </a:endParaRPr>
            </a:p>
          </p:txBody>
        </p:sp>
        <p:grpSp>
          <p:nvGrpSpPr>
            <p:cNvPr id="29728" name="组合 37"/>
            <p:cNvGrpSpPr/>
            <p:nvPr/>
          </p:nvGrpSpPr>
          <p:grpSpPr bwMode="auto">
            <a:xfrm>
              <a:off x="5572132" y="3100328"/>
              <a:ext cx="812972" cy="400110"/>
              <a:chOff x="5214942" y="1928802"/>
              <a:chExt cx="812972" cy="400110"/>
            </a:xfrm>
          </p:grpSpPr>
          <p:sp>
            <p:nvSpPr>
              <p:cNvPr id="29735" name="矩形 60"/>
              <p:cNvSpPr>
                <a:spLocks noChangeArrowheads="1"/>
              </p:cNvSpPr>
              <p:nvPr/>
            </p:nvSpPr>
            <p:spPr bwMode="auto">
              <a:xfrm>
                <a:off x="5214942" y="1928802"/>
                <a:ext cx="31290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b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0</a:t>
                </a:r>
                <a:endParaRPr lang="zh-CN" altLang="en-US" sz="1600">
                  <a:solidFill>
                    <a:srgbClr val="FF0000"/>
                  </a:solidFill>
                </a:endParaRPr>
              </a:p>
            </p:txBody>
          </p:sp>
          <p:sp>
            <p:nvSpPr>
              <p:cNvPr id="29736" name="矩形 61"/>
              <p:cNvSpPr>
                <a:spLocks noChangeArrowheads="1"/>
              </p:cNvSpPr>
              <p:nvPr/>
            </p:nvSpPr>
            <p:spPr bwMode="auto">
              <a:xfrm>
                <a:off x="5715008" y="1928802"/>
                <a:ext cx="31290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b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</a:t>
                </a:r>
                <a:endParaRPr lang="zh-CN" altLang="en-US" sz="160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29729" name="组合 97"/>
            <p:cNvGrpSpPr/>
            <p:nvPr/>
          </p:nvGrpSpPr>
          <p:grpSpPr bwMode="auto">
            <a:xfrm>
              <a:off x="6578906" y="3429000"/>
              <a:ext cx="2636564" cy="428682"/>
              <a:chOff x="1428728" y="928670"/>
              <a:chExt cx="2636564" cy="428682"/>
            </a:xfrm>
          </p:grpSpPr>
          <p:sp>
            <p:nvSpPr>
              <p:cNvPr id="99" name="矩形 98"/>
              <p:cNvSpPr/>
              <p:nvPr/>
            </p:nvSpPr>
            <p:spPr>
              <a:xfrm>
                <a:off x="1499874" y="928760"/>
                <a:ext cx="2565418" cy="4000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kumimoji="1" lang="zh-CN" altLang="en-US" sz="2000" b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       输出全“</a:t>
                </a:r>
                <a:r>
                  <a:rPr kumimoji="1" lang="en-US" altLang="zh-CN" sz="2000" b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1”</a:t>
                </a:r>
                <a:r>
                  <a:rPr kumimoji="1" lang="zh-CN" altLang="en-US" sz="2000" b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。</a:t>
                </a:r>
                <a:endParaRPr kumimoji="1"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9731" name="组合 28"/>
              <p:cNvGrpSpPr/>
              <p:nvPr/>
            </p:nvGrpSpPr>
            <p:grpSpPr bwMode="auto">
              <a:xfrm>
                <a:off x="1428728" y="928710"/>
                <a:ext cx="896938" cy="428642"/>
                <a:chOff x="4622821" y="4829228"/>
                <a:chExt cx="896938" cy="428642"/>
              </a:xfrm>
            </p:grpSpPr>
            <p:graphicFrame>
              <p:nvGraphicFramePr>
                <p:cNvPr id="29732" name="Object 11"/>
                <p:cNvGraphicFramePr>
                  <a:graphicFrameLocks noChangeAspect="1"/>
                </p:cNvGraphicFramePr>
                <p:nvPr/>
              </p:nvGraphicFramePr>
              <p:xfrm>
                <a:off x="4622821" y="4840341"/>
                <a:ext cx="314325" cy="36353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9813" name="公式" r:id="rId17" imgW="190500" imgH="203200" progId="Equation.3">
                        <p:embed/>
                      </p:oleObj>
                    </mc:Choice>
                    <mc:Fallback>
                      <p:oleObj name="公式" r:id="rId17" imgW="190500" imgH="203200" progId="Equation.3">
                        <p:embed/>
                        <p:pic>
                          <p:nvPicPr>
                            <p:cNvPr id="0" name="Object 1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622821" y="4840341"/>
                              <a:ext cx="314325" cy="36353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9733" name="Object 12"/>
                <p:cNvGraphicFramePr>
                  <a:graphicFrameLocks noChangeAspect="1"/>
                </p:cNvGraphicFramePr>
                <p:nvPr/>
              </p:nvGraphicFramePr>
              <p:xfrm>
                <a:off x="5205434" y="4829228"/>
                <a:ext cx="314325" cy="3857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9814" name="公式" r:id="rId18" imgW="190500" imgH="215900" progId="Equation.3">
                        <p:embed/>
                      </p:oleObj>
                    </mc:Choice>
                    <mc:Fallback>
                      <p:oleObj name="公式" r:id="rId18" imgW="190500" imgH="215900" progId="Equation.3">
                        <p:embed/>
                        <p:pic>
                          <p:nvPicPr>
                            <p:cNvPr id="0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205434" y="4829228"/>
                              <a:ext cx="314325" cy="38576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9734" name="矩形 102"/>
                <p:cNvSpPr>
                  <a:spLocks noChangeArrowheads="1"/>
                </p:cNvSpPr>
                <p:nvPr/>
              </p:nvSpPr>
              <p:spPr bwMode="auto">
                <a:xfrm>
                  <a:off x="4857752" y="4857760"/>
                  <a:ext cx="44275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zh-CN" altLang="en-US" sz="2000" b="1">
                      <a:latin typeface="宋体" panose="02010600030101010101" pitchFamily="2" charset="-122"/>
                    </a:rPr>
                    <a:t>～</a:t>
                  </a:r>
                  <a:endParaRPr lang="zh-CN" altLang="en-US" sz="2000"/>
                </a:p>
              </p:txBody>
            </p:sp>
          </p:grpSp>
        </p:grpSp>
      </p:grpSp>
      <p:grpSp>
        <p:nvGrpSpPr>
          <p:cNvPr id="16" name="组合 109"/>
          <p:cNvGrpSpPr/>
          <p:nvPr/>
        </p:nvGrpSpPr>
        <p:grpSpPr bwMode="auto">
          <a:xfrm>
            <a:off x="5572125" y="2028825"/>
            <a:ext cx="3636963" cy="757238"/>
            <a:chOff x="5572132" y="2028758"/>
            <a:chExt cx="3636696" cy="757354"/>
          </a:xfrm>
        </p:grpSpPr>
        <p:grpSp>
          <p:nvGrpSpPr>
            <p:cNvPr id="29717" name="组合 34"/>
            <p:cNvGrpSpPr/>
            <p:nvPr/>
          </p:nvGrpSpPr>
          <p:grpSpPr bwMode="auto">
            <a:xfrm>
              <a:off x="5572132" y="2243072"/>
              <a:ext cx="812972" cy="400110"/>
              <a:chOff x="5214942" y="1928802"/>
              <a:chExt cx="812972" cy="400110"/>
            </a:xfrm>
          </p:grpSpPr>
          <p:sp>
            <p:nvSpPr>
              <p:cNvPr id="29725" name="矩形 62"/>
              <p:cNvSpPr>
                <a:spLocks noChangeArrowheads="1"/>
              </p:cNvSpPr>
              <p:nvPr/>
            </p:nvSpPr>
            <p:spPr bwMode="auto">
              <a:xfrm>
                <a:off x="5214942" y="1928802"/>
                <a:ext cx="31290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b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</a:t>
                </a:r>
                <a:endParaRPr lang="zh-CN" altLang="en-US" sz="1600">
                  <a:solidFill>
                    <a:srgbClr val="FF0000"/>
                  </a:solidFill>
                </a:endParaRPr>
              </a:p>
            </p:txBody>
          </p:sp>
          <p:sp>
            <p:nvSpPr>
              <p:cNvPr id="29726" name="矩形 63"/>
              <p:cNvSpPr>
                <a:spLocks noChangeArrowheads="1"/>
              </p:cNvSpPr>
              <p:nvPr/>
            </p:nvSpPr>
            <p:spPr bwMode="auto">
              <a:xfrm>
                <a:off x="5715008" y="1928802"/>
                <a:ext cx="31290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b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</a:t>
                </a:r>
                <a:endParaRPr lang="zh-CN" altLang="en-US" sz="160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9718" name="矩形 49"/>
            <p:cNvSpPr>
              <a:spLocks noChangeArrowheads="1"/>
            </p:cNvSpPr>
            <p:nvPr/>
          </p:nvSpPr>
          <p:spPr bwMode="auto">
            <a:xfrm>
              <a:off x="6715140" y="2028758"/>
              <a:ext cx="147508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电路不工作</a:t>
              </a:r>
              <a:endParaRPr lang="zh-CN" altLang="en-US" sz="2000"/>
            </a:p>
          </p:txBody>
        </p:sp>
        <p:grpSp>
          <p:nvGrpSpPr>
            <p:cNvPr id="29719" name="组合 103"/>
            <p:cNvGrpSpPr/>
            <p:nvPr/>
          </p:nvGrpSpPr>
          <p:grpSpPr bwMode="auto">
            <a:xfrm>
              <a:off x="6572264" y="2357430"/>
              <a:ext cx="2636564" cy="428682"/>
              <a:chOff x="1428728" y="928670"/>
              <a:chExt cx="2636564" cy="428682"/>
            </a:xfrm>
          </p:grpSpPr>
          <p:sp>
            <p:nvSpPr>
              <p:cNvPr id="105" name="矩形 104"/>
              <p:cNvSpPr/>
              <p:nvPr/>
            </p:nvSpPr>
            <p:spPr>
              <a:xfrm>
                <a:off x="1500081" y="928661"/>
                <a:ext cx="2565211" cy="4001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kumimoji="1" lang="zh-CN" altLang="en-US" sz="2000" b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       输出全“</a:t>
                </a:r>
                <a:r>
                  <a:rPr kumimoji="1" lang="en-US" altLang="zh-CN" sz="2000" b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1”</a:t>
                </a:r>
                <a:r>
                  <a:rPr kumimoji="1" lang="zh-CN" altLang="en-US" sz="2000" b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。</a:t>
                </a:r>
                <a:endParaRPr kumimoji="1"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9721" name="组合 28"/>
              <p:cNvGrpSpPr/>
              <p:nvPr/>
            </p:nvGrpSpPr>
            <p:grpSpPr bwMode="auto">
              <a:xfrm>
                <a:off x="1428728" y="928710"/>
                <a:ext cx="896938" cy="428642"/>
                <a:chOff x="4622821" y="4829228"/>
                <a:chExt cx="896938" cy="428642"/>
              </a:xfrm>
            </p:grpSpPr>
            <p:graphicFrame>
              <p:nvGraphicFramePr>
                <p:cNvPr id="29722" name="Object 13"/>
                <p:cNvGraphicFramePr>
                  <a:graphicFrameLocks noChangeAspect="1"/>
                </p:cNvGraphicFramePr>
                <p:nvPr/>
              </p:nvGraphicFramePr>
              <p:xfrm>
                <a:off x="4622821" y="4840341"/>
                <a:ext cx="314325" cy="36353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9815" name="公式" r:id="rId19" imgW="190500" imgH="203200" progId="Equation.3">
                        <p:embed/>
                      </p:oleObj>
                    </mc:Choice>
                    <mc:Fallback>
                      <p:oleObj name="公式" r:id="rId19" imgW="190500" imgH="203200" progId="Equation.3">
                        <p:embed/>
                        <p:pic>
                          <p:nvPicPr>
                            <p:cNvPr id="0" name="Object 1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622821" y="4840341"/>
                              <a:ext cx="314325" cy="36353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9723" name="Object 14"/>
                <p:cNvGraphicFramePr>
                  <a:graphicFrameLocks noChangeAspect="1"/>
                </p:cNvGraphicFramePr>
                <p:nvPr/>
              </p:nvGraphicFramePr>
              <p:xfrm>
                <a:off x="5205434" y="4829228"/>
                <a:ext cx="314325" cy="3857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9816" name="公式" r:id="rId20" imgW="190500" imgH="215900" progId="Equation.3">
                        <p:embed/>
                      </p:oleObj>
                    </mc:Choice>
                    <mc:Fallback>
                      <p:oleObj name="公式" r:id="rId20" imgW="190500" imgH="215900" progId="Equation.3">
                        <p:embed/>
                        <p:pic>
                          <p:nvPicPr>
                            <p:cNvPr id="0" name="Object 1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205434" y="4829228"/>
                              <a:ext cx="314325" cy="38576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9724" name="矩形 108"/>
                <p:cNvSpPr>
                  <a:spLocks noChangeArrowheads="1"/>
                </p:cNvSpPr>
                <p:nvPr/>
              </p:nvSpPr>
              <p:spPr bwMode="auto">
                <a:xfrm>
                  <a:off x="4857752" y="4857760"/>
                  <a:ext cx="44275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zh-CN" altLang="en-US" sz="2000" b="1">
                      <a:latin typeface="宋体" panose="02010600030101010101" pitchFamily="2" charset="-122"/>
                    </a:rPr>
                    <a:t>～</a:t>
                  </a:r>
                  <a:endParaRPr lang="zh-CN" altLang="en-US" sz="2000"/>
                </a:p>
              </p:txBody>
            </p:sp>
          </p:grpSp>
        </p:grpSp>
      </p:grpSp>
      <p:sp>
        <p:nvSpPr>
          <p:cNvPr id="29716" name="矩形 1"/>
          <p:cNvSpPr>
            <a:spLocks noChangeArrowheads="1"/>
          </p:cNvSpPr>
          <p:nvPr/>
        </p:nvSpPr>
        <p:spPr bwMode="auto">
          <a:xfrm>
            <a:off x="6156325" y="58738"/>
            <a:ext cx="28559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§4.3</a:t>
            </a:r>
            <a:r>
              <a:rPr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常用的</a:t>
            </a:r>
            <a:r>
              <a:rPr kumimoji="1"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</a:t>
            </a:r>
            <a:endParaRPr lang="zh-CN" altLang="en-US" sz="18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5" grpId="0" animBg="1"/>
      <p:bldP spid="89" grpId="0" animBg="1"/>
      <p:bldP spid="89" grpId="1" animBg="1"/>
      <p:bldP spid="90" grpId="0" animBg="1"/>
      <p:bldP spid="90" grpId="1" animBg="1"/>
      <p:bldP spid="92" grpId="0" animBg="1"/>
      <p:bldP spid="93" grpId="0" animBg="1"/>
      <p:bldP spid="95" grpId="0" animBg="1"/>
      <p:bldP spid="95" grpId="1" animBg="1"/>
      <p:bldP spid="96" grpId="0" animBg="1"/>
      <p:bldP spid="96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613" name="Object 5"/>
          <p:cNvGraphicFramePr>
            <a:graphicFrameLocks noChangeAspect="1"/>
          </p:cNvGraphicFramePr>
          <p:nvPr/>
        </p:nvGraphicFramePr>
        <p:xfrm>
          <a:off x="969963" y="1357313"/>
          <a:ext cx="6705600" cy="309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0" name="图片" r:id="rId1" imgW="3943985" imgH="1822450" progId="Word.Picture.8">
                  <p:embed/>
                </p:oleObj>
              </mc:Choice>
              <mc:Fallback>
                <p:oleObj name="图片" r:id="rId1" imgW="3943985" imgH="1822450" progId="Word.Picture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9963" y="1357313"/>
                        <a:ext cx="6705600" cy="309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35"/>
          <p:cNvGrpSpPr/>
          <p:nvPr/>
        </p:nvGrpSpPr>
        <p:grpSpPr bwMode="auto">
          <a:xfrm>
            <a:off x="1012825" y="3527425"/>
            <a:ext cx="560388" cy="428625"/>
            <a:chOff x="1012800" y="3527426"/>
            <a:chExt cx="560392" cy="428628"/>
          </a:xfrm>
        </p:grpSpPr>
        <p:cxnSp>
          <p:nvCxnSpPr>
            <p:cNvPr id="81" name="直接连接符 80"/>
            <p:cNvCxnSpPr/>
            <p:nvPr/>
          </p:nvCxnSpPr>
          <p:spPr>
            <a:xfrm rot="10800000">
              <a:off x="1142976" y="3527426"/>
              <a:ext cx="430216" cy="0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rot="5400000">
              <a:off x="942950" y="3740152"/>
              <a:ext cx="427041" cy="158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 rot="10800000">
              <a:off x="1012800" y="3954467"/>
              <a:ext cx="285752" cy="1587"/>
            </a:xfrm>
            <a:prstGeom prst="line">
              <a:avLst/>
            </a:prstGeom>
            <a:ln w="444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7" name="直接连接符 86"/>
          <p:cNvCxnSpPr/>
          <p:nvPr/>
        </p:nvCxnSpPr>
        <p:spPr>
          <a:xfrm rot="10800000">
            <a:off x="4329113" y="3554413"/>
            <a:ext cx="431800" cy="1587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91"/>
          <p:cNvGrpSpPr/>
          <p:nvPr/>
        </p:nvGrpSpPr>
        <p:grpSpPr bwMode="auto">
          <a:xfrm>
            <a:off x="785813" y="1928813"/>
            <a:ext cx="6929437" cy="857250"/>
            <a:chOff x="785786" y="1928802"/>
            <a:chExt cx="6929486" cy="857256"/>
          </a:xfrm>
        </p:grpSpPr>
        <p:sp>
          <p:nvSpPr>
            <p:cNvPr id="90" name="圆角矩形标注 89"/>
            <p:cNvSpPr/>
            <p:nvPr/>
          </p:nvSpPr>
          <p:spPr>
            <a:xfrm>
              <a:off x="785786" y="1928802"/>
              <a:ext cx="6929486" cy="857256"/>
            </a:xfrm>
            <a:prstGeom prst="wedgeRoundRectCallout">
              <a:avLst>
                <a:gd name="adj1" fmla="val 3455"/>
                <a:gd name="adj2" fmla="val 140076"/>
                <a:gd name="adj3" fmla="val 16667"/>
              </a:avLst>
            </a:prstGeom>
            <a:solidFill>
              <a:srgbClr val="00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0838" name="矩形 90"/>
            <p:cNvSpPr>
              <a:spLocks noChangeArrowheads="1"/>
            </p:cNvSpPr>
            <p:nvPr/>
          </p:nvSpPr>
          <p:spPr bwMode="auto">
            <a:xfrm>
              <a:off x="928662" y="2143116"/>
              <a:ext cx="664957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solidFill>
                    <a:srgbClr val="FFFF00"/>
                  </a:solidFill>
                  <a:latin typeface="宋体" panose="02010600030101010101" pitchFamily="2" charset="-122"/>
                </a:rPr>
                <a:t>74LS148</a:t>
              </a:r>
              <a:r>
                <a:rPr kumimoji="1" lang="zh-CN" altLang="en-US" sz="2000" b="1">
                  <a:solidFill>
                    <a:srgbClr val="FFFF00"/>
                  </a:solidFill>
                  <a:latin typeface="宋体" panose="02010600030101010101" pitchFamily="2" charset="-122"/>
                </a:rPr>
                <a:t>（</a:t>
              </a:r>
              <a:r>
                <a:rPr kumimoji="1" lang="en-US" altLang="zh-CN" sz="2000" b="1">
                  <a:solidFill>
                    <a:srgbClr val="FFFF00"/>
                  </a:solidFill>
                  <a:latin typeface="宋体" panose="02010600030101010101" pitchFamily="2" charset="-122"/>
                </a:rPr>
                <a:t>1</a:t>
              </a:r>
              <a:r>
                <a:rPr kumimoji="1" lang="zh-CN" altLang="en-US" sz="2000" b="1">
                  <a:solidFill>
                    <a:srgbClr val="FFFF00"/>
                  </a:solidFill>
                  <a:latin typeface="宋体" panose="02010600030101010101" pitchFamily="2" charset="-122"/>
                </a:rPr>
                <a:t>）</a:t>
              </a:r>
              <a:r>
                <a:rPr kumimoji="1" lang="zh-CN" altLang="en-US" sz="2000" b="1">
                  <a:solidFill>
                    <a:srgbClr val="FFFF00"/>
                  </a:solidFill>
                  <a:latin typeface="Times New Roman" panose="02020603050405020304" pitchFamily="18" charset="0"/>
                </a:rPr>
                <a:t>无编码信号输入时，</a:t>
              </a:r>
              <a:r>
                <a:rPr kumimoji="1" lang="en-US" altLang="zh-CN" sz="2000" b="1">
                  <a:solidFill>
                    <a:srgbClr val="FFFF00"/>
                  </a:solidFill>
                  <a:latin typeface="宋体" panose="02010600030101010101" pitchFamily="2" charset="-122"/>
                </a:rPr>
                <a:t>74LS148</a:t>
              </a:r>
              <a:r>
                <a:rPr kumimoji="1" lang="zh-CN" altLang="en-US" sz="2000" b="1">
                  <a:solidFill>
                    <a:srgbClr val="FFFF00"/>
                  </a:solidFill>
                  <a:latin typeface="宋体" panose="02010600030101010101" pitchFamily="2" charset="-122"/>
                </a:rPr>
                <a:t>（</a:t>
              </a:r>
              <a:r>
                <a:rPr kumimoji="1" lang="en-US" altLang="zh-CN" sz="2000" b="1">
                  <a:solidFill>
                    <a:srgbClr val="FFFF00"/>
                  </a:solidFill>
                  <a:latin typeface="宋体" panose="02010600030101010101" pitchFamily="2" charset="-122"/>
                </a:rPr>
                <a:t>2</a:t>
              </a:r>
              <a:r>
                <a:rPr kumimoji="1" lang="zh-CN" altLang="en-US" sz="2000" b="1">
                  <a:solidFill>
                    <a:srgbClr val="FFFF00"/>
                  </a:solidFill>
                  <a:latin typeface="宋体" panose="02010600030101010101" pitchFamily="2" charset="-122"/>
                </a:rPr>
                <a:t>）才选通。</a:t>
              </a:r>
              <a:endParaRPr lang="zh-CN" altLang="en-US" sz="2000">
                <a:solidFill>
                  <a:srgbClr val="FFFF00"/>
                </a:solidFill>
              </a:endParaRPr>
            </a:p>
          </p:txBody>
        </p:sp>
      </p:grpSp>
      <p:grpSp>
        <p:nvGrpSpPr>
          <p:cNvPr id="4" name="组合 134"/>
          <p:cNvGrpSpPr/>
          <p:nvPr/>
        </p:nvGrpSpPr>
        <p:grpSpPr bwMode="auto">
          <a:xfrm>
            <a:off x="1533525" y="4286250"/>
            <a:ext cx="538163" cy="2319338"/>
            <a:chOff x="1533504" y="4286255"/>
            <a:chExt cx="538166" cy="2319054"/>
          </a:xfrm>
        </p:grpSpPr>
        <p:grpSp>
          <p:nvGrpSpPr>
            <p:cNvPr id="30831" name="组合 131"/>
            <p:cNvGrpSpPr/>
            <p:nvPr/>
          </p:nvGrpSpPr>
          <p:grpSpPr bwMode="auto">
            <a:xfrm rot="5400000">
              <a:off x="1534332" y="5248922"/>
              <a:ext cx="536509" cy="538166"/>
              <a:chOff x="3000288" y="4676785"/>
              <a:chExt cx="536509" cy="538166"/>
            </a:xfrm>
          </p:grpSpPr>
          <p:sp>
            <p:nvSpPr>
              <p:cNvPr id="48" name="等腰三角形 47"/>
              <p:cNvSpPr/>
              <p:nvPr/>
            </p:nvSpPr>
            <p:spPr>
              <a:xfrm rot="5400000">
                <a:off x="2945491" y="4731582"/>
                <a:ext cx="538166" cy="428572"/>
              </a:xfrm>
              <a:prstGeom prst="triangle">
                <a:avLst/>
              </a:prstGeom>
              <a:noFill/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49" name="椭圆 48"/>
              <p:cNvSpPr/>
              <p:nvPr/>
            </p:nvSpPr>
            <p:spPr>
              <a:xfrm>
                <a:off x="3428860" y="4841886"/>
                <a:ext cx="107937" cy="107951"/>
              </a:xfrm>
              <a:prstGeom prst="ellipse">
                <a:avLst/>
              </a:prstGeom>
              <a:noFill/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cxnSp>
          <p:nvCxnSpPr>
            <p:cNvPr id="50" name="直接连接符 49"/>
            <p:cNvCxnSpPr/>
            <p:nvPr/>
          </p:nvCxnSpPr>
          <p:spPr>
            <a:xfrm rot="5400000">
              <a:off x="1342270" y="4763241"/>
              <a:ext cx="95397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rot="5400000" flipH="1" flipV="1">
              <a:off x="1620046" y="5964830"/>
              <a:ext cx="357144" cy="31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834" name="矩形 127"/>
            <p:cNvSpPr>
              <a:spLocks noChangeArrowheads="1"/>
            </p:cNvSpPr>
            <p:nvPr/>
          </p:nvSpPr>
          <p:spPr bwMode="auto">
            <a:xfrm>
              <a:off x="1579227" y="614364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kumimoji="1" lang="en-US" altLang="zh-CN" sz="2400" b="1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组合 150"/>
          <p:cNvGrpSpPr/>
          <p:nvPr/>
        </p:nvGrpSpPr>
        <p:grpSpPr bwMode="auto">
          <a:xfrm>
            <a:off x="2357438" y="4311650"/>
            <a:ext cx="3189287" cy="2293938"/>
            <a:chOff x="2357438" y="4311650"/>
            <a:chExt cx="3189287" cy="2293938"/>
          </a:xfrm>
        </p:grpSpPr>
        <p:pic>
          <p:nvPicPr>
            <p:cNvPr id="30822" name="Picture 14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4678" y="5184090"/>
              <a:ext cx="534892" cy="10436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0823" name="组合 133"/>
            <p:cNvGrpSpPr/>
            <p:nvPr/>
          </p:nvGrpSpPr>
          <p:grpSpPr bwMode="auto">
            <a:xfrm>
              <a:off x="2357438" y="4311650"/>
              <a:ext cx="3189287" cy="2293938"/>
              <a:chOff x="2357422" y="4311656"/>
              <a:chExt cx="3189310" cy="2293653"/>
            </a:xfrm>
          </p:grpSpPr>
          <p:cxnSp>
            <p:nvCxnSpPr>
              <p:cNvPr id="45" name="直接连接符 44"/>
              <p:cNvCxnSpPr/>
              <p:nvPr/>
            </p:nvCxnSpPr>
            <p:spPr>
              <a:xfrm rot="5400000">
                <a:off x="3229803" y="4872768"/>
                <a:ext cx="684128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 rot="5400000">
                <a:off x="3271847" y="5070387"/>
                <a:ext cx="287302" cy="158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>
              <a:xfrm rot="10800000">
                <a:off x="3565518" y="4538641"/>
                <a:ext cx="1981214" cy="158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/>
            </p:nvCxnSpPr>
            <p:spPr>
              <a:xfrm rot="5400000">
                <a:off x="5438002" y="4441021"/>
                <a:ext cx="215873" cy="158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/>
            </p:nvCxnSpPr>
            <p:spPr>
              <a:xfrm rot="5400000">
                <a:off x="2064566" y="4617212"/>
                <a:ext cx="612699" cy="158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 rot="10800000">
                <a:off x="2357422" y="4929117"/>
                <a:ext cx="1073158" cy="158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830" name="矩形 128"/>
              <p:cNvSpPr>
                <a:spLocks noChangeArrowheads="1"/>
              </p:cNvSpPr>
              <p:nvPr/>
            </p:nvSpPr>
            <p:spPr bwMode="auto">
              <a:xfrm>
                <a:off x="3214678" y="6143644"/>
                <a:ext cx="492443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kumimoji="1" lang="en-US" altLang="zh-CN" sz="2400" b="1" baseline="-25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8" name="组合 148"/>
          <p:cNvGrpSpPr/>
          <p:nvPr/>
        </p:nvGrpSpPr>
        <p:grpSpPr bwMode="auto">
          <a:xfrm>
            <a:off x="3021013" y="4319588"/>
            <a:ext cx="3195637" cy="2286000"/>
            <a:chOff x="3021013" y="4319589"/>
            <a:chExt cx="3195637" cy="2285999"/>
          </a:xfrm>
        </p:grpSpPr>
        <p:pic>
          <p:nvPicPr>
            <p:cNvPr id="30813" name="Picture 14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0628" y="5184090"/>
              <a:ext cx="534892" cy="10436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0814" name="组合 132"/>
            <p:cNvGrpSpPr/>
            <p:nvPr/>
          </p:nvGrpSpPr>
          <p:grpSpPr bwMode="auto">
            <a:xfrm>
              <a:off x="3021013" y="4319589"/>
              <a:ext cx="3195637" cy="2285999"/>
              <a:chOff x="3020530" y="4318885"/>
              <a:chExt cx="3196132" cy="2286424"/>
            </a:xfrm>
          </p:grpSpPr>
          <p:cxnSp>
            <p:nvCxnSpPr>
              <p:cNvPr id="35" name="直接连接符 34"/>
              <p:cNvCxnSpPr/>
              <p:nvPr/>
            </p:nvCxnSpPr>
            <p:spPr>
              <a:xfrm rot="5400000">
                <a:off x="5106820" y="4965117"/>
                <a:ext cx="501743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rot="5400000">
                <a:off x="4964716" y="4964324"/>
                <a:ext cx="500156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rot="5400000">
                <a:off x="6017394" y="4529268"/>
                <a:ext cx="396949" cy="158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 rot="10800000">
                <a:off x="5357692" y="4714245"/>
                <a:ext cx="858970" cy="1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 rot="10800000">
                <a:off x="3020530" y="4714245"/>
                <a:ext cx="2195852" cy="1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 rot="16200000" flipV="1">
                <a:off x="2836345" y="4515772"/>
                <a:ext cx="395360" cy="158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821" name="矩形 129"/>
              <p:cNvSpPr>
                <a:spLocks noChangeArrowheads="1"/>
              </p:cNvSpPr>
              <p:nvPr/>
            </p:nvSpPr>
            <p:spPr bwMode="auto">
              <a:xfrm>
                <a:off x="5020953" y="6143644"/>
                <a:ext cx="492443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kumimoji="1" lang="en-US" altLang="zh-CN" sz="2400" b="1" baseline="-25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0" name="组合 146"/>
          <p:cNvGrpSpPr/>
          <p:nvPr/>
        </p:nvGrpSpPr>
        <p:grpSpPr bwMode="auto">
          <a:xfrm>
            <a:off x="3786188" y="4286250"/>
            <a:ext cx="3357562" cy="2319338"/>
            <a:chOff x="3786188" y="4286249"/>
            <a:chExt cx="3357580" cy="2319342"/>
          </a:xfrm>
        </p:grpSpPr>
        <p:pic>
          <p:nvPicPr>
            <p:cNvPr id="30806" name="Picture 14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8876" y="5184090"/>
              <a:ext cx="534892" cy="10436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0807" name="组合 131"/>
            <p:cNvGrpSpPr/>
            <p:nvPr/>
          </p:nvGrpSpPr>
          <p:grpSpPr bwMode="auto">
            <a:xfrm>
              <a:off x="3786188" y="4286249"/>
              <a:ext cx="3357556" cy="2319342"/>
              <a:chOff x="3786185" y="4286253"/>
              <a:chExt cx="3357583" cy="2319056"/>
            </a:xfrm>
          </p:grpSpPr>
          <p:cxnSp>
            <p:nvCxnSpPr>
              <p:cNvPr id="22" name="直接连接符 21"/>
              <p:cNvCxnSpPr/>
              <p:nvPr/>
            </p:nvCxnSpPr>
            <p:spPr>
              <a:xfrm rot="5400000">
                <a:off x="6522337" y="4774350"/>
                <a:ext cx="882543" cy="1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/>
              <p:cNvCxnSpPr/>
              <p:nvPr/>
            </p:nvCxnSpPr>
            <p:spPr>
              <a:xfrm rot="5400000">
                <a:off x="6669938" y="5064827"/>
                <a:ext cx="298414" cy="158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>
                <a:off x="3786185" y="4929113"/>
                <a:ext cx="3024228" cy="158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 rot="5400000">
                <a:off x="3465549" y="4606889"/>
                <a:ext cx="642860" cy="158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812" name="矩形 130"/>
              <p:cNvSpPr>
                <a:spLocks noChangeArrowheads="1"/>
              </p:cNvSpPr>
              <p:nvPr/>
            </p:nvSpPr>
            <p:spPr bwMode="auto">
              <a:xfrm>
                <a:off x="6651325" y="6143644"/>
                <a:ext cx="492443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kumimoji="1" lang="en-US" altLang="zh-CN" sz="2400" b="1" baseline="-25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37" name="椭圆 136"/>
          <p:cNvSpPr/>
          <p:nvPr/>
        </p:nvSpPr>
        <p:spPr>
          <a:xfrm>
            <a:off x="2428875" y="1285875"/>
            <a:ext cx="500063" cy="500063"/>
          </a:xfrm>
          <a:prstGeom prst="ellipse">
            <a:avLst/>
          </a:prstGeom>
          <a:noFill/>
          <a:ln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8" name="矩形 137"/>
          <p:cNvSpPr>
            <a:spLocks noChangeArrowheads="1"/>
          </p:cNvSpPr>
          <p:nvPr/>
        </p:nvSpPr>
        <p:spPr bwMode="auto">
          <a:xfrm>
            <a:off x="3571875" y="3286125"/>
            <a:ext cx="314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solidFill>
                  <a:srgbClr val="FF0000"/>
                </a:solidFill>
                <a:latin typeface="宋体" panose="02010600030101010101" pitchFamily="2" charset="-122"/>
              </a:rPr>
              <a:t>1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140" name="矩形 139"/>
          <p:cNvSpPr>
            <a:spLocks noChangeArrowheads="1"/>
          </p:cNvSpPr>
          <p:nvPr/>
        </p:nvSpPr>
        <p:spPr bwMode="auto">
          <a:xfrm>
            <a:off x="1471613" y="4143375"/>
            <a:ext cx="314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solidFill>
                  <a:srgbClr val="FF0000"/>
                </a:solidFill>
                <a:latin typeface="宋体" panose="02010600030101010101" pitchFamily="2" charset="-122"/>
              </a:rPr>
              <a:t>0</a:t>
            </a:r>
            <a:endParaRPr lang="zh-CN" altLang="en-US" sz="2000">
              <a:solidFill>
                <a:srgbClr val="FF0000"/>
              </a:solidFill>
            </a:endParaRPr>
          </a:p>
        </p:txBody>
      </p:sp>
      <p:grpSp>
        <p:nvGrpSpPr>
          <p:cNvPr id="12" name="组合 143"/>
          <p:cNvGrpSpPr/>
          <p:nvPr/>
        </p:nvGrpSpPr>
        <p:grpSpPr bwMode="auto">
          <a:xfrm>
            <a:off x="2071688" y="4143375"/>
            <a:ext cx="1743075" cy="400050"/>
            <a:chOff x="2071670" y="4143380"/>
            <a:chExt cx="1743270" cy="400110"/>
          </a:xfrm>
        </p:grpSpPr>
        <p:sp>
          <p:nvSpPr>
            <p:cNvPr id="30803" name="矩形 140"/>
            <p:cNvSpPr>
              <a:spLocks noChangeArrowheads="1"/>
            </p:cNvSpPr>
            <p:nvPr/>
          </p:nvSpPr>
          <p:spPr bwMode="auto">
            <a:xfrm>
              <a:off x="3500430" y="4143380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solidFill>
                    <a:srgbClr val="0000FF"/>
                  </a:solidFill>
                  <a:latin typeface="宋体" panose="02010600030101010101" pitchFamily="2" charset="-122"/>
                </a:rPr>
                <a:t>1</a:t>
              </a:r>
              <a:endParaRPr lang="zh-CN" altLang="en-US" sz="2000">
                <a:solidFill>
                  <a:srgbClr val="0000FF"/>
                </a:solidFill>
              </a:endParaRPr>
            </a:p>
          </p:txBody>
        </p:sp>
        <p:sp>
          <p:nvSpPr>
            <p:cNvPr id="30804" name="矩形 141"/>
            <p:cNvSpPr>
              <a:spLocks noChangeArrowheads="1"/>
            </p:cNvSpPr>
            <p:nvPr/>
          </p:nvSpPr>
          <p:spPr bwMode="auto">
            <a:xfrm>
              <a:off x="2757292" y="4143380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solidFill>
                    <a:srgbClr val="0000FF"/>
                  </a:solidFill>
                  <a:latin typeface="宋体" panose="02010600030101010101" pitchFamily="2" charset="-122"/>
                </a:rPr>
                <a:t>1</a:t>
              </a:r>
              <a:endParaRPr lang="zh-CN" altLang="en-US" sz="2000">
                <a:solidFill>
                  <a:srgbClr val="0000FF"/>
                </a:solidFill>
              </a:endParaRPr>
            </a:p>
          </p:txBody>
        </p:sp>
        <p:sp>
          <p:nvSpPr>
            <p:cNvPr id="30805" name="矩形 142"/>
            <p:cNvSpPr>
              <a:spLocks noChangeArrowheads="1"/>
            </p:cNvSpPr>
            <p:nvPr/>
          </p:nvSpPr>
          <p:spPr bwMode="auto">
            <a:xfrm>
              <a:off x="2071670" y="4143380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solidFill>
                    <a:srgbClr val="0000FF"/>
                  </a:solidFill>
                  <a:latin typeface="宋体" panose="02010600030101010101" pitchFamily="2" charset="-122"/>
                </a:rPr>
                <a:t>0</a:t>
              </a:r>
              <a:endParaRPr lang="zh-CN" altLang="en-US" sz="2000">
                <a:solidFill>
                  <a:srgbClr val="0000FF"/>
                </a:solidFill>
              </a:endParaRPr>
            </a:p>
          </p:txBody>
        </p:sp>
      </p:grpSp>
      <p:grpSp>
        <p:nvGrpSpPr>
          <p:cNvPr id="13" name="组合 144"/>
          <p:cNvGrpSpPr/>
          <p:nvPr/>
        </p:nvGrpSpPr>
        <p:grpSpPr bwMode="auto">
          <a:xfrm>
            <a:off x="5257800" y="4171950"/>
            <a:ext cx="1743075" cy="400050"/>
            <a:chOff x="2071670" y="4143380"/>
            <a:chExt cx="1743270" cy="400110"/>
          </a:xfrm>
        </p:grpSpPr>
        <p:sp>
          <p:nvSpPr>
            <p:cNvPr id="30800" name="矩形 145"/>
            <p:cNvSpPr>
              <a:spLocks noChangeArrowheads="1"/>
            </p:cNvSpPr>
            <p:nvPr/>
          </p:nvSpPr>
          <p:spPr bwMode="auto">
            <a:xfrm>
              <a:off x="3500430" y="4143380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solidFill>
                    <a:srgbClr val="7030A0"/>
                  </a:solidFill>
                  <a:latin typeface="宋体" panose="02010600030101010101" pitchFamily="2" charset="-122"/>
                </a:rPr>
                <a:t>1</a:t>
              </a:r>
              <a:endParaRPr lang="zh-CN" altLang="en-US" sz="2000">
                <a:solidFill>
                  <a:srgbClr val="7030A0"/>
                </a:solidFill>
              </a:endParaRPr>
            </a:p>
          </p:txBody>
        </p:sp>
        <p:sp>
          <p:nvSpPr>
            <p:cNvPr id="30801" name="矩形 146"/>
            <p:cNvSpPr>
              <a:spLocks noChangeArrowheads="1"/>
            </p:cNvSpPr>
            <p:nvPr/>
          </p:nvSpPr>
          <p:spPr bwMode="auto">
            <a:xfrm>
              <a:off x="2757292" y="4143380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solidFill>
                    <a:srgbClr val="7030A0"/>
                  </a:solidFill>
                  <a:latin typeface="宋体" panose="02010600030101010101" pitchFamily="2" charset="-122"/>
                </a:rPr>
                <a:t>1</a:t>
              </a:r>
              <a:endParaRPr lang="zh-CN" altLang="en-US" sz="2000">
                <a:solidFill>
                  <a:srgbClr val="7030A0"/>
                </a:solidFill>
              </a:endParaRPr>
            </a:p>
          </p:txBody>
        </p:sp>
        <p:sp>
          <p:nvSpPr>
            <p:cNvPr id="30802" name="矩形 147"/>
            <p:cNvSpPr>
              <a:spLocks noChangeArrowheads="1"/>
            </p:cNvSpPr>
            <p:nvPr/>
          </p:nvSpPr>
          <p:spPr bwMode="auto">
            <a:xfrm>
              <a:off x="2071670" y="4143380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solidFill>
                    <a:srgbClr val="7030A0"/>
                  </a:solidFill>
                  <a:latin typeface="宋体" panose="02010600030101010101" pitchFamily="2" charset="-122"/>
                </a:rPr>
                <a:t>1</a:t>
              </a:r>
              <a:endParaRPr lang="zh-CN" altLang="en-US" sz="2000">
                <a:solidFill>
                  <a:srgbClr val="7030A0"/>
                </a:solidFill>
              </a:endParaRPr>
            </a:p>
          </p:txBody>
        </p:sp>
      </p:grpSp>
      <p:grpSp>
        <p:nvGrpSpPr>
          <p:cNvPr id="14" name="组合 152"/>
          <p:cNvGrpSpPr/>
          <p:nvPr/>
        </p:nvGrpSpPr>
        <p:grpSpPr bwMode="auto">
          <a:xfrm>
            <a:off x="1428750" y="5753100"/>
            <a:ext cx="5429250" cy="461963"/>
            <a:chOff x="1428729" y="5715016"/>
            <a:chExt cx="5429287" cy="461665"/>
          </a:xfrm>
        </p:grpSpPr>
        <p:sp>
          <p:nvSpPr>
            <p:cNvPr id="30796" name="矩形 148"/>
            <p:cNvSpPr>
              <a:spLocks noChangeArrowheads="1"/>
            </p:cNvSpPr>
            <p:nvPr/>
          </p:nvSpPr>
          <p:spPr bwMode="auto">
            <a:xfrm>
              <a:off x="1428729" y="5715016"/>
              <a:ext cx="34015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宋体" panose="02010600030101010101" pitchFamily="2" charset="-122"/>
                </a:rPr>
                <a:t>1</a:t>
              </a:r>
              <a:endParaRPr lang="zh-CN" altLang="en-US" sz="2400"/>
            </a:p>
          </p:txBody>
        </p:sp>
        <p:sp>
          <p:nvSpPr>
            <p:cNvPr id="30797" name="矩形 149"/>
            <p:cNvSpPr>
              <a:spLocks noChangeArrowheads="1"/>
            </p:cNvSpPr>
            <p:nvPr/>
          </p:nvSpPr>
          <p:spPr bwMode="auto">
            <a:xfrm>
              <a:off x="3143240" y="5715016"/>
              <a:ext cx="34015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宋体" panose="02010600030101010101" pitchFamily="2" charset="-122"/>
                </a:rPr>
                <a:t>1</a:t>
              </a:r>
              <a:endParaRPr lang="zh-CN" altLang="en-US" sz="2400"/>
            </a:p>
          </p:txBody>
        </p:sp>
        <p:sp>
          <p:nvSpPr>
            <p:cNvPr id="30798" name="矩形 150"/>
            <p:cNvSpPr>
              <a:spLocks noChangeArrowheads="1"/>
            </p:cNvSpPr>
            <p:nvPr/>
          </p:nvSpPr>
          <p:spPr bwMode="auto">
            <a:xfrm>
              <a:off x="4929190" y="5715016"/>
              <a:ext cx="34015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宋体" panose="02010600030101010101" pitchFamily="2" charset="-122"/>
                </a:rPr>
                <a:t>0</a:t>
              </a:r>
              <a:endParaRPr lang="zh-CN" altLang="en-US" sz="2400"/>
            </a:p>
          </p:txBody>
        </p:sp>
        <p:sp>
          <p:nvSpPr>
            <p:cNvPr id="30799" name="矩形 151"/>
            <p:cNvSpPr>
              <a:spLocks noChangeArrowheads="1"/>
            </p:cNvSpPr>
            <p:nvPr/>
          </p:nvSpPr>
          <p:spPr bwMode="auto">
            <a:xfrm>
              <a:off x="6517858" y="5715016"/>
              <a:ext cx="34015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宋体" panose="02010600030101010101" pitchFamily="2" charset="-122"/>
                </a:rPr>
                <a:t>0</a:t>
              </a:r>
              <a:endParaRPr lang="zh-CN" altLang="en-US" sz="2400"/>
            </a:p>
          </p:txBody>
        </p:sp>
      </p:grpSp>
      <p:sp>
        <p:nvSpPr>
          <p:cNvPr id="154" name="椭圆 153"/>
          <p:cNvSpPr/>
          <p:nvPr/>
        </p:nvSpPr>
        <p:spPr>
          <a:xfrm>
            <a:off x="4929188" y="1285875"/>
            <a:ext cx="500062" cy="500063"/>
          </a:xfrm>
          <a:prstGeom prst="ellipse">
            <a:avLst/>
          </a:prstGeom>
          <a:noFill/>
          <a:ln>
            <a:solidFill>
              <a:srgbClr val="FF33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55" name="矩形 154"/>
          <p:cNvSpPr>
            <a:spLocks noChangeArrowheads="1"/>
          </p:cNvSpPr>
          <p:nvPr/>
        </p:nvSpPr>
        <p:spPr bwMode="auto">
          <a:xfrm>
            <a:off x="3614738" y="3286125"/>
            <a:ext cx="314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solidFill>
                  <a:srgbClr val="FF0000"/>
                </a:solidFill>
                <a:latin typeface="宋体" panose="02010600030101010101" pitchFamily="2" charset="-122"/>
              </a:rPr>
              <a:t>0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156" name="矩形 155"/>
          <p:cNvSpPr>
            <a:spLocks noChangeArrowheads="1"/>
          </p:cNvSpPr>
          <p:nvPr/>
        </p:nvSpPr>
        <p:spPr bwMode="auto">
          <a:xfrm>
            <a:off x="1471613" y="4143375"/>
            <a:ext cx="314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solidFill>
                  <a:srgbClr val="FF0000"/>
                </a:solidFill>
                <a:latin typeface="宋体" panose="02010600030101010101" pitchFamily="2" charset="-122"/>
              </a:rPr>
              <a:t>1</a:t>
            </a:r>
            <a:endParaRPr lang="zh-CN" altLang="en-US" sz="2000">
              <a:solidFill>
                <a:srgbClr val="FF0000"/>
              </a:solidFill>
            </a:endParaRPr>
          </a:p>
        </p:txBody>
      </p:sp>
      <p:grpSp>
        <p:nvGrpSpPr>
          <p:cNvPr id="15" name="组合 156"/>
          <p:cNvGrpSpPr/>
          <p:nvPr/>
        </p:nvGrpSpPr>
        <p:grpSpPr bwMode="auto">
          <a:xfrm>
            <a:off x="2328863" y="4143375"/>
            <a:ext cx="1743075" cy="400050"/>
            <a:chOff x="2071670" y="4143380"/>
            <a:chExt cx="1743270" cy="400110"/>
          </a:xfrm>
        </p:grpSpPr>
        <p:sp>
          <p:nvSpPr>
            <p:cNvPr id="30793" name="矩形 157"/>
            <p:cNvSpPr>
              <a:spLocks noChangeArrowheads="1"/>
            </p:cNvSpPr>
            <p:nvPr/>
          </p:nvSpPr>
          <p:spPr bwMode="auto">
            <a:xfrm>
              <a:off x="3500430" y="4143380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solidFill>
                    <a:srgbClr val="0000FF"/>
                  </a:solidFill>
                  <a:latin typeface="宋体" panose="02010600030101010101" pitchFamily="2" charset="-122"/>
                </a:rPr>
                <a:t>1</a:t>
              </a:r>
              <a:endParaRPr lang="zh-CN" altLang="en-US" sz="2000">
                <a:solidFill>
                  <a:srgbClr val="0000FF"/>
                </a:solidFill>
              </a:endParaRPr>
            </a:p>
          </p:txBody>
        </p:sp>
        <p:sp>
          <p:nvSpPr>
            <p:cNvPr id="30794" name="矩形 158"/>
            <p:cNvSpPr>
              <a:spLocks noChangeArrowheads="1"/>
            </p:cNvSpPr>
            <p:nvPr/>
          </p:nvSpPr>
          <p:spPr bwMode="auto">
            <a:xfrm>
              <a:off x="2757292" y="4143380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solidFill>
                    <a:srgbClr val="0000FF"/>
                  </a:solidFill>
                  <a:latin typeface="宋体" panose="02010600030101010101" pitchFamily="2" charset="-122"/>
                </a:rPr>
                <a:t>1</a:t>
              </a:r>
              <a:endParaRPr lang="zh-CN" altLang="en-US" sz="2000">
                <a:solidFill>
                  <a:srgbClr val="0000FF"/>
                </a:solidFill>
              </a:endParaRPr>
            </a:p>
          </p:txBody>
        </p:sp>
        <p:sp>
          <p:nvSpPr>
            <p:cNvPr id="30795" name="矩形 159"/>
            <p:cNvSpPr>
              <a:spLocks noChangeArrowheads="1"/>
            </p:cNvSpPr>
            <p:nvPr/>
          </p:nvSpPr>
          <p:spPr bwMode="auto">
            <a:xfrm>
              <a:off x="2071670" y="4143380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组合 160"/>
          <p:cNvGrpSpPr/>
          <p:nvPr/>
        </p:nvGrpSpPr>
        <p:grpSpPr bwMode="auto">
          <a:xfrm>
            <a:off x="5543550" y="4171950"/>
            <a:ext cx="1743075" cy="400050"/>
            <a:chOff x="2071670" y="4143380"/>
            <a:chExt cx="1743270" cy="400110"/>
          </a:xfrm>
        </p:grpSpPr>
        <p:sp>
          <p:nvSpPr>
            <p:cNvPr id="30790" name="矩形 161"/>
            <p:cNvSpPr>
              <a:spLocks noChangeArrowheads="1"/>
            </p:cNvSpPr>
            <p:nvPr/>
          </p:nvSpPr>
          <p:spPr bwMode="auto">
            <a:xfrm>
              <a:off x="3500430" y="4143380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solidFill>
                    <a:srgbClr val="7030A0"/>
                  </a:solidFill>
                  <a:latin typeface="宋体" panose="02010600030101010101" pitchFamily="2" charset="-122"/>
                </a:rPr>
                <a:t>1</a:t>
              </a:r>
              <a:endParaRPr lang="zh-CN" altLang="en-US" sz="2000">
                <a:solidFill>
                  <a:srgbClr val="7030A0"/>
                </a:solidFill>
              </a:endParaRPr>
            </a:p>
          </p:txBody>
        </p:sp>
        <p:sp>
          <p:nvSpPr>
            <p:cNvPr id="30791" name="矩形 162"/>
            <p:cNvSpPr>
              <a:spLocks noChangeArrowheads="1"/>
            </p:cNvSpPr>
            <p:nvPr/>
          </p:nvSpPr>
          <p:spPr bwMode="auto">
            <a:xfrm>
              <a:off x="2757292" y="4143380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solidFill>
                    <a:srgbClr val="7030A0"/>
                  </a:solidFill>
                  <a:latin typeface="宋体" panose="02010600030101010101" pitchFamily="2" charset="-122"/>
                </a:rPr>
                <a:t>0</a:t>
              </a:r>
              <a:endParaRPr lang="zh-CN" altLang="en-US" sz="2000">
                <a:solidFill>
                  <a:srgbClr val="7030A0"/>
                </a:solidFill>
              </a:endParaRPr>
            </a:p>
          </p:txBody>
        </p:sp>
        <p:sp>
          <p:nvSpPr>
            <p:cNvPr id="30792" name="矩形 163"/>
            <p:cNvSpPr>
              <a:spLocks noChangeArrowheads="1"/>
            </p:cNvSpPr>
            <p:nvPr/>
          </p:nvSpPr>
          <p:spPr bwMode="auto">
            <a:xfrm>
              <a:off x="2071670" y="4143380"/>
              <a:ext cx="314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solidFill>
                    <a:srgbClr val="7030A0"/>
                  </a:solidFill>
                  <a:latin typeface="宋体" panose="02010600030101010101" pitchFamily="2" charset="-122"/>
                </a:rPr>
                <a:t>0</a:t>
              </a:r>
              <a:endParaRPr lang="zh-CN" altLang="en-US" sz="2000">
                <a:solidFill>
                  <a:srgbClr val="7030A0"/>
                </a:solidFill>
              </a:endParaRPr>
            </a:p>
          </p:txBody>
        </p:sp>
      </p:grpSp>
      <p:grpSp>
        <p:nvGrpSpPr>
          <p:cNvPr id="17" name="组合 164"/>
          <p:cNvGrpSpPr/>
          <p:nvPr/>
        </p:nvGrpSpPr>
        <p:grpSpPr bwMode="auto">
          <a:xfrm>
            <a:off x="1785938" y="5753100"/>
            <a:ext cx="5429250" cy="461963"/>
            <a:chOff x="1428728" y="5715016"/>
            <a:chExt cx="5429288" cy="461665"/>
          </a:xfrm>
        </p:grpSpPr>
        <p:sp>
          <p:nvSpPr>
            <p:cNvPr id="30786" name="矩形 165"/>
            <p:cNvSpPr>
              <a:spLocks noChangeArrowheads="1"/>
            </p:cNvSpPr>
            <p:nvPr/>
          </p:nvSpPr>
          <p:spPr bwMode="auto">
            <a:xfrm>
              <a:off x="1428728" y="5715016"/>
              <a:ext cx="34015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宋体" panose="02010600030101010101" pitchFamily="2" charset="-122"/>
                </a:rPr>
                <a:t>0</a:t>
              </a:r>
              <a:endParaRPr lang="zh-CN" altLang="en-US" sz="2400"/>
            </a:p>
          </p:txBody>
        </p:sp>
        <p:sp>
          <p:nvSpPr>
            <p:cNvPr id="30787" name="矩形 166"/>
            <p:cNvSpPr>
              <a:spLocks noChangeArrowheads="1"/>
            </p:cNvSpPr>
            <p:nvPr/>
          </p:nvSpPr>
          <p:spPr bwMode="auto">
            <a:xfrm>
              <a:off x="3143240" y="5715016"/>
              <a:ext cx="34015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宋体" panose="02010600030101010101" pitchFamily="2" charset="-122"/>
                </a:rPr>
                <a:t>1</a:t>
              </a:r>
              <a:endParaRPr lang="zh-CN" altLang="en-US" sz="2400"/>
            </a:p>
          </p:txBody>
        </p:sp>
        <p:sp>
          <p:nvSpPr>
            <p:cNvPr id="30788" name="矩形 167"/>
            <p:cNvSpPr>
              <a:spLocks noChangeArrowheads="1"/>
            </p:cNvSpPr>
            <p:nvPr/>
          </p:nvSpPr>
          <p:spPr bwMode="auto">
            <a:xfrm>
              <a:off x="4929190" y="5715016"/>
              <a:ext cx="34015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宋体" panose="02010600030101010101" pitchFamily="2" charset="-122"/>
                </a:rPr>
                <a:t>1</a:t>
              </a:r>
              <a:endParaRPr lang="zh-CN" altLang="en-US" sz="2400"/>
            </a:p>
          </p:txBody>
        </p:sp>
        <p:sp>
          <p:nvSpPr>
            <p:cNvPr id="30789" name="矩形 168"/>
            <p:cNvSpPr>
              <a:spLocks noChangeArrowheads="1"/>
            </p:cNvSpPr>
            <p:nvPr/>
          </p:nvSpPr>
          <p:spPr bwMode="auto">
            <a:xfrm>
              <a:off x="6517858" y="5715016"/>
              <a:ext cx="34015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宋体" panose="02010600030101010101" pitchFamily="2" charset="-122"/>
                </a:rPr>
                <a:t>0</a:t>
              </a:r>
              <a:endParaRPr lang="zh-CN" altLang="en-US" sz="2400"/>
            </a:p>
          </p:txBody>
        </p:sp>
      </p:grpSp>
      <p:grpSp>
        <p:nvGrpSpPr>
          <p:cNvPr id="18" name="组合 169"/>
          <p:cNvGrpSpPr/>
          <p:nvPr/>
        </p:nvGrpSpPr>
        <p:grpSpPr bwMode="auto">
          <a:xfrm>
            <a:off x="2357438" y="1357313"/>
            <a:ext cx="5500687" cy="2428875"/>
            <a:chOff x="2357422" y="4143380"/>
            <a:chExt cx="5500726" cy="2428892"/>
          </a:xfrm>
        </p:grpSpPr>
        <p:sp>
          <p:nvSpPr>
            <p:cNvPr id="171" name="矩形 170"/>
            <p:cNvSpPr/>
            <p:nvPr/>
          </p:nvSpPr>
          <p:spPr>
            <a:xfrm>
              <a:off x="2357422" y="4143380"/>
              <a:ext cx="5500726" cy="24288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30751" name="组合 1"/>
            <p:cNvGrpSpPr/>
            <p:nvPr/>
          </p:nvGrpSpPr>
          <p:grpSpPr bwMode="auto">
            <a:xfrm>
              <a:off x="2555875" y="4292600"/>
              <a:ext cx="5189538" cy="2127250"/>
              <a:chOff x="2555875" y="4292600"/>
              <a:chExt cx="5189538" cy="2127250"/>
            </a:xfrm>
          </p:grpSpPr>
          <p:sp>
            <p:nvSpPr>
              <p:cNvPr id="30752" name="Line 101"/>
              <p:cNvSpPr>
                <a:spLocks noChangeShapeType="1"/>
              </p:cNvSpPr>
              <p:nvPr/>
            </p:nvSpPr>
            <p:spPr bwMode="auto">
              <a:xfrm>
                <a:off x="3073400" y="4797425"/>
                <a:ext cx="28733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53" name="Line 102"/>
              <p:cNvSpPr>
                <a:spLocks noChangeShapeType="1"/>
              </p:cNvSpPr>
              <p:nvPr/>
            </p:nvSpPr>
            <p:spPr bwMode="auto">
              <a:xfrm>
                <a:off x="3073400" y="5229225"/>
                <a:ext cx="28733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54" name="Line 103"/>
              <p:cNvSpPr>
                <a:spLocks noChangeShapeType="1"/>
              </p:cNvSpPr>
              <p:nvPr/>
            </p:nvSpPr>
            <p:spPr bwMode="auto">
              <a:xfrm>
                <a:off x="3073400" y="5634038"/>
                <a:ext cx="28733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55" name="Line 104"/>
              <p:cNvSpPr>
                <a:spLocks noChangeShapeType="1"/>
              </p:cNvSpPr>
              <p:nvPr/>
            </p:nvSpPr>
            <p:spPr bwMode="auto">
              <a:xfrm>
                <a:off x="3016250" y="6065838"/>
                <a:ext cx="28733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56" name="Rectangle 327"/>
              <p:cNvSpPr>
                <a:spLocks noChangeArrowheads="1"/>
              </p:cNvSpPr>
              <p:nvPr/>
            </p:nvSpPr>
            <p:spPr bwMode="auto">
              <a:xfrm>
                <a:off x="2555875" y="5994400"/>
                <a:ext cx="1438275" cy="4254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None/>
                </a:pPr>
                <a:r>
                  <a:rPr lang="en-US" altLang="zh-CN" sz="22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200" b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15</a:t>
                </a:r>
                <a:endParaRPr lang="en-US" altLang="zh-CN" sz="2200" b="1" baseline="-25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757" name="Rectangle 325"/>
              <p:cNvSpPr>
                <a:spLocks noChangeArrowheads="1"/>
              </p:cNvSpPr>
              <p:nvPr/>
            </p:nvSpPr>
            <p:spPr bwMode="auto">
              <a:xfrm>
                <a:off x="2555875" y="5568950"/>
                <a:ext cx="1438275" cy="4254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None/>
                </a:pPr>
                <a:r>
                  <a:rPr lang="en-US" altLang="zh-CN" sz="22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200" b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endParaRPr lang="en-US" altLang="zh-CN" sz="2200" b="1" baseline="-25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758" name="Rectangle 323"/>
              <p:cNvSpPr>
                <a:spLocks noChangeArrowheads="1"/>
              </p:cNvSpPr>
              <p:nvPr/>
            </p:nvSpPr>
            <p:spPr bwMode="auto">
              <a:xfrm>
                <a:off x="2555875" y="5143500"/>
                <a:ext cx="1438275" cy="4254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None/>
                </a:pPr>
                <a:r>
                  <a:rPr lang="en-US" altLang="zh-CN" sz="22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200" b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  <a:endParaRPr lang="en-US" altLang="zh-CN" sz="2200" b="1" baseline="-25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759" name="Rectangle 321"/>
              <p:cNvSpPr>
                <a:spLocks noChangeArrowheads="1"/>
              </p:cNvSpPr>
              <p:nvPr/>
            </p:nvSpPr>
            <p:spPr bwMode="auto">
              <a:xfrm>
                <a:off x="2555875" y="4718050"/>
                <a:ext cx="1438275" cy="4254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None/>
                </a:pPr>
                <a:r>
                  <a:rPr lang="en-US" altLang="zh-CN" sz="22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200" b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altLang="zh-CN" sz="2200" b="1" baseline="-25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760" name="Rectangle 319"/>
              <p:cNvSpPr>
                <a:spLocks noChangeArrowheads="1"/>
              </p:cNvSpPr>
              <p:nvPr/>
            </p:nvSpPr>
            <p:spPr bwMode="auto">
              <a:xfrm>
                <a:off x="2555875" y="4292600"/>
                <a:ext cx="1438275" cy="4254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None/>
                </a:pPr>
                <a:r>
                  <a:rPr lang="zh-CN" altLang="en-US" sz="2200" b="1">
                    <a:solidFill>
                      <a:srgbClr val="FF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编码</a:t>
                </a:r>
                <a:endParaRPr lang="zh-CN" altLang="en-US" sz="2200" b="1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761" name="Rectangle 315"/>
              <p:cNvSpPr>
                <a:spLocks noChangeArrowheads="1"/>
              </p:cNvSpPr>
              <p:nvPr/>
            </p:nvSpPr>
            <p:spPr bwMode="auto">
              <a:xfrm>
                <a:off x="3994150" y="5786454"/>
                <a:ext cx="793750" cy="4190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None/>
                </a:pPr>
                <a:r>
                  <a:rPr lang="en-US" altLang="zh-CN" sz="2200" b="1">
                    <a:solidFill>
                      <a:srgbClr val="0066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zh-CN" sz="22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762" name="Rectangle 311"/>
              <p:cNvSpPr>
                <a:spLocks noChangeArrowheads="1"/>
              </p:cNvSpPr>
              <p:nvPr/>
            </p:nvSpPr>
            <p:spPr bwMode="auto">
              <a:xfrm>
                <a:off x="3994150" y="4932364"/>
                <a:ext cx="792164" cy="4254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None/>
                </a:pPr>
                <a:r>
                  <a:rPr lang="en-US" altLang="zh-CN" sz="2200" b="1">
                    <a:solidFill>
                      <a:srgbClr val="0066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altLang="zh-CN" sz="22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763" name="Rectangle 309"/>
              <p:cNvSpPr>
                <a:spLocks noChangeArrowheads="1"/>
              </p:cNvSpPr>
              <p:nvPr/>
            </p:nvSpPr>
            <p:spPr bwMode="auto">
              <a:xfrm>
                <a:off x="3994150" y="4292600"/>
                <a:ext cx="793750" cy="4254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None/>
                </a:pPr>
                <a:r>
                  <a:rPr lang="en-US" altLang="zh-CN" sz="2200" b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2200" b="1" baseline="-25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en-US" altLang="zh-CN" sz="2200" b="1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764" name="Rectangle 307"/>
              <p:cNvSpPr>
                <a:spLocks noChangeArrowheads="1"/>
              </p:cNvSpPr>
              <p:nvPr/>
            </p:nvSpPr>
            <p:spPr bwMode="auto">
              <a:xfrm>
                <a:off x="4787900" y="5994400"/>
                <a:ext cx="2082800" cy="4254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None/>
                </a:pPr>
                <a:r>
                  <a:rPr lang="en-US" altLang="zh-CN" sz="2200" b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1     1     1</a:t>
                </a:r>
                <a:endParaRPr lang="en-US" altLang="zh-CN" sz="22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765" name="Rectangle 305"/>
              <p:cNvSpPr>
                <a:spLocks noChangeArrowheads="1"/>
              </p:cNvSpPr>
              <p:nvPr/>
            </p:nvSpPr>
            <p:spPr bwMode="auto">
              <a:xfrm>
                <a:off x="4787900" y="5568950"/>
                <a:ext cx="2082800" cy="4254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None/>
                </a:pPr>
                <a:r>
                  <a:rPr lang="en-US" altLang="zh-CN" sz="2200" b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0     0     0</a:t>
                </a:r>
                <a:endParaRPr lang="en-US" altLang="zh-CN" sz="22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766" name="Rectangle 303"/>
              <p:cNvSpPr>
                <a:spLocks noChangeArrowheads="1"/>
              </p:cNvSpPr>
              <p:nvPr/>
            </p:nvSpPr>
            <p:spPr bwMode="auto">
              <a:xfrm>
                <a:off x="4787900" y="5143500"/>
                <a:ext cx="2082800" cy="4254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None/>
                </a:pPr>
                <a:r>
                  <a:rPr lang="en-US" altLang="zh-CN" sz="2200" b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1     1     1</a:t>
                </a:r>
                <a:endParaRPr lang="en-US" altLang="zh-CN" sz="22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767" name="Rectangle 301"/>
              <p:cNvSpPr>
                <a:spLocks noChangeArrowheads="1"/>
              </p:cNvSpPr>
              <p:nvPr/>
            </p:nvSpPr>
            <p:spPr bwMode="auto">
              <a:xfrm>
                <a:off x="4787900" y="4718050"/>
                <a:ext cx="2082800" cy="4254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None/>
                </a:pPr>
                <a:r>
                  <a:rPr lang="en-US" altLang="zh-CN" sz="2200" b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0     0     0</a:t>
                </a:r>
                <a:endParaRPr lang="en-US" altLang="zh-CN" sz="22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768" name="Rectangle 299"/>
              <p:cNvSpPr>
                <a:spLocks noChangeArrowheads="1"/>
              </p:cNvSpPr>
              <p:nvPr/>
            </p:nvSpPr>
            <p:spPr bwMode="auto">
              <a:xfrm>
                <a:off x="4787900" y="4292600"/>
                <a:ext cx="2082800" cy="4254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None/>
                </a:pPr>
                <a:r>
                  <a:rPr lang="en-US" altLang="zh-CN" sz="2200" b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2200" b="1" baseline="-25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200" b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Z</a:t>
                </a:r>
                <a:r>
                  <a:rPr lang="en-US" altLang="zh-CN" sz="2200" b="1" baseline="-25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200" b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Z</a:t>
                </a:r>
                <a:r>
                  <a:rPr lang="en-US" altLang="zh-CN" sz="2200" b="1" baseline="-25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altLang="zh-CN" sz="2200" b="1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769" name="Rectangle 230"/>
              <p:cNvSpPr>
                <a:spLocks noChangeArrowheads="1"/>
              </p:cNvSpPr>
              <p:nvPr/>
            </p:nvSpPr>
            <p:spPr bwMode="auto">
              <a:xfrm>
                <a:off x="6870700" y="5786454"/>
                <a:ext cx="796925" cy="4190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None/>
                </a:pPr>
                <a:r>
                  <a:rPr lang="en-US" altLang="zh-CN" sz="2200" b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altLang="zh-CN" sz="22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770" name="Rectangle 222"/>
              <p:cNvSpPr>
                <a:spLocks noChangeArrowheads="1"/>
              </p:cNvSpPr>
              <p:nvPr/>
            </p:nvSpPr>
            <p:spPr bwMode="auto">
              <a:xfrm>
                <a:off x="6870700" y="4929198"/>
                <a:ext cx="796925" cy="4254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None/>
                </a:pPr>
                <a:r>
                  <a:rPr lang="en-US" altLang="zh-CN" sz="2200" b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zh-CN" sz="22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771" name="Rectangle 218"/>
              <p:cNvSpPr>
                <a:spLocks noChangeArrowheads="1"/>
              </p:cNvSpPr>
              <p:nvPr/>
            </p:nvSpPr>
            <p:spPr bwMode="auto">
              <a:xfrm>
                <a:off x="6804025" y="4292600"/>
                <a:ext cx="941388" cy="4254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None/>
                </a:pPr>
                <a:r>
                  <a:rPr lang="en-US" altLang="zh-CN" sz="22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sz="2200" b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EX(1)</a:t>
                </a:r>
                <a:endParaRPr lang="en-US" altLang="zh-CN" sz="2200" b="1" baseline="-25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772" name="Line 235"/>
              <p:cNvSpPr>
                <a:spLocks noChangeShapeType="1"/>
              </p:cNvSpPr>
              <p:nvPr/>
            </p:nvSpPr>
            <p:spPr bwMode="auto">
              <a:xfrm>
                <a:off x="2555875" y="4292600"/>
                <a:ext cx="511175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73" name="Line 236"/>
              <p:cNvSpPr>
                <a:spLocks noChangeShapeType="1"/>
              </p:cNvSpPr>
              <p:nvPr/>
            </p:nvSpPr>
            <p:spPr bwMode="auto">
              <a:xfrm>
                <a:off x="2555875" y="4718050"/>
                <a:ext cx="511175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74" name="Line 237"/>
              <p:cNvSpPr>
                <a:spLocks noChangeShapeType="1"/>
              </p:cNvSpPr>
              <p:nvPr/>
            </p:nvSpPr>
            <p:spPr bwMode="auto">
              <a:xfrm>
                <a:off x="2555875" y="5143500"/>
                <a:ext cx="143827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75" name="Line 238"/>
              <p:cNvSpPr>
                <a:spLocks noChangeShapeType="1"/>
              </p:cNvSpPr>
              <p:nvPr/>
            </p:nvSpPr>
            <p:spPr bwMode="auto">
              <a:xfrm>
                <a:off x="2555875" y="5568950"/>
                <a:ext cx="511175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76" name="Line 239"/>
              <p:cNvSpPr>
                <a:spLocks noChangeShapeType="1"/>
              </p:cNvSpPr>
              <p:nvPr/>
            </p:nvSpPr>
            <p:spPr bwMode="auto">
              <a:xfrm>
                <a:off x="2555875" y="5994400"/>
                <a:ext cx="143827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77" name="Line 240"/>
              <p:cNvSpPr>
                <a:spLocks noChangeShapeType="1"/>
              </p:cNvSpPr>
              <p:nvPr/>
            </p:nvSpPr>
            <p:spPr bwMode="auto">
              <a:xfrm>
                <a:off x="2555875" y="6419850"/>
                <a:ext cx="511175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78" name="Line 241"/>
              <p:cNvSpPr>
                <a:spLocks noChangeShapeType="1"/>
              </p:cNvSpPr>
              <p:nvPr/>
            </p:nvSpPr>
            <p:spPr bwMode="auto">
              <a:xfrm>
                <a:off x="2555875" y="4292600"/>
                <a:ext cx="0" cy="212725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79" name="Line 245"/>
              <p:cNvSpPr>
                <a:spLocks noChangeShapeType="1"/>
              </p:cNvSpPr>
              <p:nvPr/>
            </p:nvSpPr>
            <p:spPr bwMode="auto">
              <a:xfrm>
                <a:off x="7667625" y="4292600"/>
                <a:ext cx="0" cy="212725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80" name="Line 300"/>
              <p:cNvSpPr>
                <a:spLocks noChangeShapeType="1"/>
              </p:cNvSpPr>
              <p:nvPr/>
            </p:nvSpPr>
            <p:spPr bwMode="auto">
              <a:xfrm>
                <a:off x="6870700" y="4292600"/>
                <a:ext cx="0" cy="21272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81" name="Line 310"/>
              <p:cNvSpPr>
                <a:spLocks noChangeShapeType="1"/>
              </p:cNvSpPr>
              <p:nvPr/>
            </p:nvSpPr>
            <p:spPr bwMode="auto">
              <a:xfrm>
                <a:off x="4787900" y="4292600"/>
                <a:ext cx="0" cy="21272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82" name="Line 320"/>
              <p:cNvSpPr>
                <a:spLocks noChangeShapeType="1"/>
              </p:cNvSpPr>
              <p:nvPr/>
            </p:nvSpPr>
            <p:spPr bwMode="auto">
              <a:xfrm>
                <a:off x="3994150" y="4292600"/>
                <a:ext cx="0" cy="21272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83" name="Line 329"/>
              <p:cNvSpPr>
                <a:spLocks noChangeShapeType="1"/>
              </p:cNvSpPr>
              <p:nvPr/>
            </p:nvSpPr>
            <p:spPr bwMode="auto">
              <a:xfrm>
                <a:off x="4787900" y="5143500"/>
                <a:ext cx="20828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84" name="Line 331"/>
              <p:cNvSpPr>
                <a:spLocks noChangeShapeType="1"/>
              </p:cNvSpPr>
              <p:nvPr/>
            </p:nvSpPr>
            <p:spPr bwMode="auto">
              <a:xfrm>
                <a:off x="4787900" y="5994400"/>
                <a:ext cx="20828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85" name="Line 372"/>
              <p:cNvSpPr>
                <a:spLocks noChangeShapeType="1"/>
              </p:cNvSpPr>
              <p:nvPr/>
            </p:nvSpPr>
            <p:spPr bwMode="auto">
              <a:xfrm>
                <a:off x="6877050" y="4365625"/>
                <a:ext cx="28733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30743" name="组合 144"/>
          <p:cNvGrpSpPr/>
          <p:nvPr/>
        </p:nvGrpSpPr>
        <p:grpSpPr bwMode="auto">
          <a:xfrm>
            <a:off x="214313" y="66675"/>
            <a:ext cx="8613775" cy="1231900"/>
            <a:chOff x="315913" y="66652"/>
            <a:chExt cx="8613805" cy="1231905"/>
          </a:xfrm>
        </p:grpSpPr>
        <p:sp>
          <p:nvSpPr>
            <p:cNvPr id="30744" name="矩形 138"/>
            <p:cNvSpPr>
              <a:spLocks noChangeArrowheads="1"/>
            </p:cNvSpPr>
            <p:nvPr/>
          </p:nvSpPr>
          <p:spPr bwMode="auto">
            <a:xfrm>
              <a:off x="315913" y="84114"/>
              <a:ext cx="85722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 typeface="Wingdings" panose="05000000000000000000" pitchFamily="2" charset="2"/>
                <a:buChar char="n"/>
              </a:pP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例：</a:t>
              </a:r>
              <a:endParaRPr lang="zh-CN" altLang="en-US" sz="24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0745" name="组合 143"/>
            <p:cNvGrpSpPr/>
            <p:nvPr/>
          </p:nvGrpSpPr>
          <p:grpSpPr bwMode="auto">
            <a:xfrm>
              <a:off x="1182163" y="66652"/>
              <a:ext cx="7747555" cy="1231905"/>
              <a:chOff x="1182163" y="66652"/>
              <a:chExt cx="7747555" cy="1231905"/>
            </a:xfrm>
          </p:grpSpPr>
          <p:sp>
            <p:nvSpPr>
              <p:cNvPr id="30746" name="Text Box 2"/>
              <p:cNvSpPr txBox="1">
                <a:spLocks noChangeArrowheads="1"/>
              </p:cNvSpPr>
              <p:nvPr/>
            </p:nvSpPr>
            <p:spPr bwMode="auto">
              <a:xfrm>
                <a:off x="1182163" y="85725"/>
                <a:ext cx="7747555" cy="1200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试用两片</a:t>
                </a:r>
                <a:r>
                  <a:rPr kumimoji="1"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74LS148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接成</a:t>
                </a:r>
                <a:r>
                  <a:rPr kumimoji="1"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线－</a:t>
                </a:r>
                <a:r>
                  <a:rPr kumimoji="1"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线优先编码器，将          </a:t>
                </a:r>
                <a:r>
                  <a:rPr kumimoji="1" lang="zh-CN" altLang="en-US" sz="2400" b="1" baseline="-25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　</a:t>
                </a:r>
                <a:r>
                  <a:rPr kumimoji="1"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个输入信号编为二进制编码</a:t>
                </a:r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kumimoji="1" lang="en-US" altLang="zh-CN" sz="2400" b="1" baseline="-25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kumimoji="1" lang="en-US" altLang="zh-CN" sz="2400" b="1" baseline="-25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kumimoji="1" lang="en-US" altLang="zh-CN" sz="2400" b="1" baseline="-25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kumimoji="1" lang="en-US" altLang="zh-CN" sz="2400" b="1" baseline="-25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=0000</a:t>
                </a:r>
                <a:r>
                  <a:rPr kumimoji="1" lang="zh-CN" altLang="en-US" sz="2400" b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～</a:t>
                </a:r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1111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 其中       的优先权最高，</a:t>
                </a:r>
                <a:r>
                  <a:rPr kumimoji="1"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的优先权最低。</a:t>
                </a:r>
                <a:endPara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30747" name="Object 9"/>
              <p:cNvGraphicFramePr>
                <a:graphicFrameLocks noChangeAspect="1"/>
              </p:cNvGraphicFramePr>
              <p:nvPr/>
            </p:nvGraphicFramePr>
            <p:xfrm>
              <a:off x="7858148" y="66652"/>
              <a:ext cx="1050902" cy="4413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51" name="公式" r:id="rId4" imgW="545465" imgH="215900" progId="Equation.3">
                      <p:embed/>
                    </p:oleObj>
                  </mc:Choice>
                  <mc:Fallback>
                    <p:oleObj name="公式" r:id="rId4" imgW="545465" imgH="215900" progId="Equation.3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58148" y="66652"/>
                            <a:ext cx="1050902" cy="4413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48" name="Object 142"/>
              <p:cNvGraphicFramePr>
                <a:graphicFrameLocks noChangeAspect="1"/>
              </p:cNvGraphicFramePr>
              <p:nvPr/>
            </p:nvGraphicFramePr>
            <p:xfrm>
              <a:off x="1643042" y="857232"/>
              <a:ext cx="439738" cy="4413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52" name="公式" r:id="rId6" imgW="228600" imgH="215900" progId="Equation.3">
                      <p:embed/>
                    </p:oleObj>
                  </mc:Choice>
                  <mc:Fallback>
                    <p:oleObj name="公式" r:id="rId6" imgW="228600" imgH="215900" progId="Equation.3">
                      <p:embed/>
                      <p:pic>
                        <p:nvPicPr>
                          <p:cNvPr id="0" name="Object 14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43042" y="857232"/>
                            <a:ext cx="439738" cy="4413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49" name="Object 143"/>
              <p:cNvGraphicFramePr>
                <a:graphicFrameLocks noChangeAspect="1"/>
              </p:cNvGraphicFramePr>
              <p:nvPr/>
            </p:nvGraphicFramePr>
            <p:xfrm>
              <a:off x="4286248" y="785794"/>
              <a:ext cx="390525" cy="4413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53" name="公式" r:id="rId8" imgW="203200" imgH="215900" progId="Equation.3">
                      <p:embed/>
                    </p:oleObj>
                  </mc:Choice>
                  <mc:Fallback>
                    <p:oleObj name="公式" r:id="rId8" imgW="203200" imgH="215900" progId="Equation.3">
                      <p:embed/>
                      <p:pic>
                        <p:nvPicPr>
                          <p:cNvPr id="0" name="Object 14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86248" y="785794"/>
                            <a:ext cx="390525" cy="4413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4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" grpId="0" animBg="1"/>
      <p:bldP spid="137" grpId="1" animBg="1"/>
      <p:bldP spid="138" grpId="0"/>
      <p:bldP spid="138" grpId="1"/>
      <p:bldP spid="140" grpId="0"/>
      <p:bldP spid="140" grpId="1"/>
      <p:bldP spid="154" grpId="0" animBg="1"/>
      <p:bldP spid="155" grpId="0"/>
      <p:bldP spid="15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5"/>
          <p:cNvSpPr txBox="1">
            <a:spLocks noChangeArrowheads="1"/>
          </p:cNvSpPr>
          <p:nvPr/>
        </p:nvSpPr>
        <p:spPr bwMode="auto">
          <a:xfrm>
            <a:off x="71438" y="214313"/>
            <a:ext cx="86741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）二－十进制（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BCD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）优先编码器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74LS147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52"/>
          <p:cNvGrpSpPr/>
          <p:nvPr/>
        </p:nvGrpSpPr>
        <p:grpSpPr bwMode="auto">
          <a:xfrm>
            <a:off x="315913" y="714375"/>
            <a:ext cx="8358187" cy="830263"/>
            <a:chOff x="428596" y="714356"/>
            <a:chExt cx="8358246" cy="830997"/>
          </a:xfrm>
        </p:grpSpPr>
        <p:sp>
          <p:nvSpPr>
            <p:cNvPr id="31784" name="Rectangle 6"/>
            <p:cNvSpPr>
              <a:spLocks noChangeArrowheads="1"/>
            </p:cNvSpPr>
            <p:nvPr/>
          </p:nvSpPr>
          <p:spPr bwMode="auto">
            <a:xfrm>
              <a:off x="428596" y="714356"/>
              <a:ext cx="8358246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把</a:t>
              </a: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400" b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～</a:t>
              </a: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400" b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的十个状态分别编码成十个</a:t>
              </a: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BCD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码。其中</a:t>
              </a: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400" b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的优先权最高，</a:t>
              </a: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400" b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的优先权最低。</a:t>
              </a:r>
              <a:endPara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785" name="Line 7"/>
            <p:cNvSpPr>
              <a:spLocks noChangeShapeType="1"/>
            </p:cNvSpPr>
            <p:nvPr/>
          </p:nvSpPr>
          <p:spPr bwMode="auto">
            <a:xfrm>
              <a:off x="1479528" y="823894"/>
              <a:ext cx="15819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86" name="Line 8"/>
            <p:cNvSpPr>
              <a:spLocks noChangeShapeType="1"/>
            </p:cNvSpPr>
            <p:nvPr/>
          </p:nvSpPr>
          <p:spPr bwMode="auto">
            <a:xfrm>
              <a:off x="2033570" y="811194"/>
              <a:ext cx="15819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87" name="Line 11"/>
            <p:cNvSpPr>
              <a:spLocks noChangeShapeType="1"/>
            </p:cNvSpPr>
            <p:nvPr/>
          </p:nvSpPr>
          <p:spPr bwMode="auto">
            <a:xfrm>
              <a:off x="7822214" y="811194"/>
              <a:ext cx="15819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88" name="Line 12"/>
            <p:cNvSpPr>
              <a:spLocks noChangeShapeType="1"/>
            </p:cNvSpPr>
            <p:nvPr/>
          </p:nvSpPr>
          <p:spPr bwMode="auto">
            <a:xfrm>
              <a:off x="2076988" y="1196956"/>
              <a:ext cx="15819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32"/>
          <p:cNvGrpSpPr/>
          <p:nvPr/>
        </p:nvGrpSpPr>
        <p:grpSpPr bwMode="auto">
          <a:xfrm>
            <a:off x="244475" y="1773238"/>
            <a:ext cx="4635500" cy="3738562"/>
            <a:chOff x="562" y="1162"/>
            <a:chExt cx="4822" cy="2355"/>
          </a:xfrm>
        </p:grpSpPr>
        <p:graphicFrame>
          <p:nvGraphicFramePr>
            <p:cNvPr id="31767" name="Object 2"/>
            <p:cNvGraphicFramePr>
              <a:graphicFrameLocks noChangeAspect="1"/>
            </p:cNvGraphicFramePr>
            <p:nvPr/>
          </p:nvGraphicFramePr>
          <p:xfrm>
            <a:off x="562" y="1437"/>
            <a:ext cx="4822" cy="20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99" name="Worksheet" r:id="rId1" imgW="4064000" imgH="2997200" progId="Excel.Sheet.8">
                    <p:embed/>
                  </p:oleObj>
                </mc:Choice>
                <mc:Fallback>
                  <p:oleObj name="Worksheet" r:id="rId1" imgW="4064000" imgH="2997200" progId="Excel.Sheet.8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2" y="1437"/>
                          <a:ext cx="4822" cy="2080"/>
                        </a:xfrm>
                        <a:prstGeom prst="rect">
                          <a:avLst/>
                        </a:prstGeom>
                        <a:noFill/>
                        <a:ln w="6350">
                          <a:solidFill>
                            <a:schemeClr val="bg2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68" name="Text Box 14"/>
            <p:cNvSpPr txBox="1">
              <a:spLocks noChangeArrowheads="1"/>
            </p:cNvSpPr>
            <p:nvPr/>
          </p:nvSpPr>
          <p:spPr bwMode="auto">
            <a:xfrm>
              <a:off x="1602" y="1162"/>
              <a:ext cx="283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74LS147</a:t>
              </a:r>
              <a:r>
                <a:rPr kumimoji="1" lang="zh-CN" altLang="en-US" sz="20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的功能表</a:t>
              </a:r>
              <a:endParaRPr kumimoji="1"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1769" name="Group 31"/>
            <p:cNvGrpSpPr/>
            <p:nvPr/>
          </p:nvGrpSpPr>
          <p:grpSpPr bwMode="auto">
            <a:xfrm>
              <a:off x="612" y="1645"/>
              <a:ext cx="4588" cy="1"/>
              <a:chOff x="644" y="3612"/>
              <a:chExt cx="4588" cy="1"/>
            </a:xfrm>
          </p:grpSpPr>
          <p:sp>
            <p:nvSpPr>
              <p:cNvPr id="31770" name="Line 17"/>
              <p:cNvSpPr>
                <a:spLocks noChangeShapeType="1"/>
              </p:cNvSpPr>
              <p:nvPr/>
            </p:nvSpPr>
            <p:spPr bwMode="auto">
              <a:xfrm>
                <a:off x="644" y="3613"/>
                <a:ext cx="192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71" name="Line 18"/>
              <p:cNvSpPr>
                <a:spLocks noChangeShapeType="1"/>
              </p:cNvSpPr>
              <p:nvPr/>
            </p:nvSpPr>
            <p:spPr bwMode="auto">
              <a:xfrm>
                <a:off x="967" y="3612"/>
                <a:ext cx="192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72" name="Line 19"/>
              <p:cNvSpPr>
                <a:spLocks noChangeShapeType="1"/>
              </p:cNvSpPr>
              <p:nvPr/>
            </p:nvSpPr>
            <p:spPr bwMode="auto">
              <a:xfrm>
                <a:off x="1247" y="3612"/>
                <a:ext cx="192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73" name="Line 20"/>
              <p:cNvSpPr>
                <a:spLocks noChangeShapeType="1"/>
              </p:cNvSpPr>
              <p:nvPr/>
            </p:nvSpPr>
            <p:spPr bwMode="auto">
              <a:xfrm>
                <a:off x="1565" y="3612"/>
                <a:ext cx="192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74" name="Line 21"/>
              <p:cNvSpPr>
                <a:spLocks noChangeShapeType="1"/>
              </p:cNvSpPr>
              <p:nvPr/>
            </p:nvSpPr>
            <p:spPr bwMode="auto">
              <a:xfrm>
                <a:off x="1882" y="3613"/>
                <a:ext cx="192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75" name="Line 22"/>
              <p:cNvSpPr>
                <a:spLocks noChangeShapeType="1"/>
              </p:cNvSpPr>
              <p:nvPr/>
            </p:nvSpPr>
            <p:spPr bwMode="auto">
              <a:xfrm>
                <a:off x="2192" y="3613"/>
                <a:ext cx="192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76" name="Line 23"/>
              <p:cNvSpPr>
                <a:spLocks noChangeShapeType="1"/>
              </p:cNvSpPr>
              <p:nvPr/>
            </p:nvSpPr>
            <p:spPr bwMode="auto">
              <a:xfrm>
                <a:off x="2562" y="3613"/>
                <a:ext cx="192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77" name="Line 24"/>
              <p:cNvSpPr>
                <a:spLocks noChangeShapeType="1"/>
              </p:cNvSpPr>
              <p:nvPr/>
            </p:nvSpPr>
            <p:spPr bwMode="auto">
              <a:xfrm>
                <a:off x="2859" y="3613"/>
                <a:ext cx="192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78" name="Line 25"/>
              <p:cNvSpPr>
                <a:spLocks noChangeShapeType="1"/>
              </p:cNvSpPr>
              <p:nvPr/>
            </p:nvSpPr>
            <p:spPr bwMode="auto">
              <a:xfrm>
                <a:off x="3156" y="3613"/>
                <a:ext cx="192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79" name="Line 26"/>
              <p:cNvSpPr>
                <a:spLocks noChangeShapeType="1"/>
              </p:cNvSpPr>
              <p:nvPr/>
            </p:nvSpPr>
            <p:spPr bwMode="auto">
              <a:xfrm>
                <a:off x="3847" y="3613"/>
                <a:ext cx="192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80" name="Line 27"/>
              <p:cNvSpPr>
                <a:spLocks noChangeShapeType="1"/>
              </p:cNvSpPr>
              <p:nvPr/>
            </p:nvSpPr>
            <p:spPr bwMode="auto">
              <a:xfrm>
                <a:off x="4240" y="3613"/>
                <a:ext cx="192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81" name="Line 28"/>
              <p:cNvSpPr>
                <a:spLocks noChangeShapeType="1"/>
              </p:cNvSpPr>
              <p:nvPr/>
            </p:nvSpPr>
            <p:spPr bwMode="auto">
              <a:xfrm>
                <a:off x="4648" y="3613"/>
                <a:ext cx="192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82" name="Line 29"/>
              <p:cNvSpPr>
                <a:spLocks noChangeShapeType="1"/>
              </p:cNvSpPr>
              <p:nvPr/>
            </p:nvSpPr>
            <p:spPr bwMode="auto">
              <a:xfrm>
                <a:off x="5040" y="3613"/>
                <a:ext cx="192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83" name="Line 30"/>
              <p:cNvSpPr>
                <a:spLocks noChangeShapeType="1"/>
              </p:cNvSpPr>
              <p:nvPr/>
            </p:nvSpPr>
            <p:spPr bwMode="auto">
              <a:xfrm>
                <a:off x="3497" y="3612"/>
                <a:ext cx="192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pic>
        <p:nvPicPr>
          <p:cNvPr id="696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9413" y="3805238"/>
            <a:ext cx="3052762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组合 36"/>
          <p:cNvGrpSpPr/>
          <p:nvPr/>
        </p:nvGrpSpPr>
        <p:grpSpPr bwMode="auto">
          <a:xfrm>
            <a:off x="5030788" y="1928813"/>
            <a:ext cx="3929062" cy="1714500"/>
            <a:chOff x="214282" y="4888884"/>
            <a:chExt cx="3928584" cy="1714512"/>
          </a:xfrm>
        </p:grpSpPr>
        <p:grpSp>
          <p:nvGrpSpPr>
            <p:cNvPr id="31752" name="组合 6"/>
            <p:cNvGrpSpPr/>
            <p:nvPr/>
          </p:nvGrpSpPr>
          <p:grpSpPr bwMode="auto">
            <a:xfrm>
              <a:off x="285720" y="5460388"/>
              <a:ext cx="3340979" cy="428682"/>
              <a:chOff x="500034" y="4929198"/>
              <a:chExt cx="3340979" cy="428682"/>
            </a:xfrm>
          </p:grpSpPr>
          <p:sp>
            <p:nvSpPr>
              <p:cNvPr id="48" name="矩形 47"/>
              <p:cNvSpPr/>
              <p:nvPr/>
            </p:nvSpPr>
            <p:spPr>
              <a:xfrm>
                <a:off x="500024" y="4929198"/>
                <a:ext cx="3341281" cy="4000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kumimoji="1" lang="zh-CN" altLang="en-US" sz="20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输入：</a:t>
                </a:r>
                <a:r>
                  <a:rPr kumimoji="1" lang="zh-CN" altLang="en-US" sz="2000" b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       低电平有效。</a:t>
                </a:r>
                <a:endParaRPr kumimoji="1"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1763" name="组合 28"/>
              <p:cNvGrpSpPr/>
              <p:nvPr/>
            </p:nvGrpSpPr>
            <p:grpSpPr bwMode="auto">
              <a:xfrm>
                <a:off x="1277917" y="4929198"/>
                <a:ext cx="854097" cy="428682"/>
                <a:chOff x="4643438" y="4829188"/>
                <a:chExt cx="854097" cy="428682"/>
              </a:xfrm>
            </p:grpSpPr>
            <p:graphicFrame>
              <p:nvGraphicFramePr>
                <p:cNvPr id="31764" name="Object 4"/>
                <p:cNvGraphicFramePr>
                  <a:graphicFrameLocks noChangeAspect="1"/>
                </p:cNvGraphicFramePr>
                <p:nvPr/>
              </p:nvGraphicFramePr>
              <p:xfrm>
                <a:off x="4643438" y="4829188"/>
                <a:ext cx="273050" cy="385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800" name="公式" r:id="rId4" imgW="165100" imgH="215900" progId="Equation.3">
                        <p:embed/>
                      </p:oleObj>
                    </mc:Choice>
                    <mc:Fallback>
                      <p:oleObj name="公式" r:id="rId4" imgW="165100" imgH="215900" progId="Equation.3">
                        <p:embed/>
                        <p:pic>
                          <p:nvPicPr>
                            <p:cNvPr id="0" name="Object 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643438" y="4829188"/>
                              <a:ext cx="273050" cy="38576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1765" name="Object 5"/>
                <p:cNvGraphicFramePr>
                  <a:graphicFrameLocks noChangeAspect="1"/>
                </p:cNvGraphicFramePr>
                <p:nvPr/>
              </p:nvGraphicFramePr>
              <p:xfrm>
                <a:off x="5224485" y="4829800"/>
                <a:ext cx="273050" cy="3857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801" name="公式" r:id="rId6" imgW="165100" imgH="215900" progId="Equation.3">
                        <p:embed/>
                      </p:oleObj>
                    </mc:Choice>
                    <mc:Fallback>
                      <p:oleObj name="公式" r:id="rId6" imgW="165100" imgH="215900" progId="Equation.3">
                        <p:embed/>
                        <p:pic>
                          <p:nvPicPr>
                            <p:cNvPr id="0" name="Object 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224485" y="4829800"/>
                              <a:ext cx="273050" cy="38576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1766" name="矩形 51"/>
                <p:cNvSpPr>
                  <a:spLocks noChangeArrowheads="1"/>
                </p:cNvSpPr>
                <p:nvPr/>
              </p:nvSpPr>
              <p:spPr bwMode="auto">
                <a:xfrm>
                  <a:off x="4857752" y="4857760"/>
                  <a:ext cx="44275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zh-CN" altLang="en-US" sz="20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～</a:t>
                  </a:r>
                  <a:endParaRPr lang="zh-CN" altLang="en-US" sz="2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31753" name="组合 13"/>
            <p:cNvGrpSpPr/>
            <p:nvPr/>
          </p:nvGrpSpPr>
          <p:grpSpPr bwMode="auto">
            <a:xfrm>
              <a:off x="285720" y="6031838"/>
              <a:ext cx="3857146" cy="428682"/>
              <a:chOff x="500034" y="4929198"/>
              <a:chExt cx="3857146" cy="428682"/>
            </a:xfrm>
          </p:grpSpPr>
          <p:sp>
            <p:nvSpPr>
              <p:cNvPr id="43" name="矩形 42"/>
              <p:cNvSpPr/>
              <p:nvPr/>
            </p:nvSpPr>
            <p:spPr>
              <a:xfrm>
                <a:off x="500024" y="4929252"/>
                <a:ext cx="3857156" cy="4000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kumimoji="1" lang="zh-CN" altLang="en-US" sz="20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输出：</a:t>
                </a:r>
                <a:r>
                  <a:rPr kumimoji="1" lang="zh-CN" altLang="en-US" sz="2000" b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       以反码形式输出。</a:t>
                </a:r>
                <a:endParaRPr kumimoji="1"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1758" name="组合 28"/>
              <p:cNvGrpSpPr/>
              <p:nvPr/>
            </p:nvGrpSpPr>
            <p:grpSpPr bwMode="auto">
              <a:xfrm>
                <a:off x="1257302" y="4929238"/>
                <a:ext cx="896936" cy="428642"/>
                <a:chOff x="4622823" y="4829228"/>
                <a:chExt cx="896936" cy="428642"/>
              </a:xfrm>
            </p:grpSpPr>
            <p:graphicFrame>
              <p:nvGraphicFramePr>
                <p:cNvPr id="31759" name="Object 6"/>
                <p:cNvGraphicFramePr>
                  <a:graphicFrameLocks noChangeAspect="1"/>
                </p:cNvGraphicFramePr>
                <p:nvPr/>
              </p:nvGraphicFramePr>
              <p:xfrm>
                <a:off x="4622823" y="4829850"/>
                <a:ext cx="314325" cy="3857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802" name="公式" r:id="rId8" imgW="190500" imgH="215900" progId="Equation.3">
                        <p:embed/>
                      </p:oleObj>
                    </mc:Choice>
                    <mc:Fallback>
                      <p:oleObj name="公式" r:id="rId8" imgW="190500" imgH="215900" progId="Equation.3">
                        <p:embed/>
                        <p:pic>
                          <p:nvPicPr>
                            <p:cNvPr id="0" name="Object 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622823" y="4829850"/>
                              <a:ext cx="314325" cy="38576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1760" name="Object 7"/>
                <p:cNvGraphicFramePr>
                  <a:graphicFrameLocks noChangeAspect="1"/>
                </p:cNvGraphicFramePr>
                <p:nvPr/>
              </p:nvGraphicFramePr>
              <p:xfrm>
                <a:off x="5205434" y="4829228"/>
                <a:ext cx="314325" cy="3857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803" name="公式" r:id="rId10" imgW="190500" imgH="215900" progId="Equation.3">
                        <p:embed/>
                      </p:oleObj>
                    </mc:Choice>
                    <mc:Fallback>
                      <p:oleObj name="公式" r:id="rId10" imgW="190500" imgH="215900" progId="Equation.3">
                        <p:embed/>
                        <p:pic>
                          <p:nvPicPr>
                            <p:cNvPr id="0" name="Object 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205434" y="4829228"/>
                              <a:ext cx="314325" cy="38576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1761" name="矩形 46"/>
                <p:cNvSpPr>
                  <a:spLocks noChangeArrowheads="1"/>
                </p:cNvSpPr>
                <p:nvPr/>
              </p:nvSpPr>
              <p:spPr bwMode="auto">
                <a:xfrm>
                  <a:off x="4857752" y="4857760"/>
                  <a:ext cx="44275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zh-CN" altLang="en-US" sz="20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～</a:t>
                  </a:r>
                  <a:endParaRPr lang="zh-CN" altLang="en-US" sz="2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31754" name="组合 19"/>
            <p:cNvGrpSpPr/>
            <p:nvPr/>
          </p:nvGrpSpPr>
          <p:grpSpPr bwMode="auto">
            <a:xfrm>
              <a:off x="214282" y="4888884"/>
              <a:ext cx="3857653" cy="1714512"/>
              <a:chOff x="214282" y="4603132"/>
              <a:chExt cx="5429288" cy="1714512"/>
            </a:xfrm>
          </p:grpSpPr>
          <p:sp>
            <p:nvSpPr>
              <p:cNvPr id="31755" name="矩形 40"/>
              <p:cNvSpPr>
                <a:spLocks noChangeArrowheads="1"/>
              </p:cNvSpPr>
              <p:nvPr/>
            </p:nvSpPr>
            <p:spPr bwMode="auto">
              <a:xfrm>
                <a:off x="285720" y="4674569"/>
                <a:ext cx="2436718" cy="4616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400" b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编码功能：</a:t>
                </a:r>
                <a:endPara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756" name="Rectangle 16"/>
              <p:cNvSpPr>
                <a:spLocks noChangeArrowheads="1"/>
              </p:cNvSpPr>
              <p:nvPr/>
            </p:nvSpPr>
            <p:spPr bwMode="auto">
              <a:xfrm>
                <a:off x="214282" y="4603132"/>
                <a:ext cx="5429288" cy="1714512"/>
              </a:xfrm>
              <a:prstGeom prst="rect">
                <a:avLst/>
              </a:prstGeom>
              <a:noFill/>
              <a:ln w="57150" cmpd="thickThin">
                <a:solidFill>
                  <a:srgbClr val="33CCCC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1751" name="矩形 1"/>
          <p:cNvSpPr>
            <a:spLocks noChangeArrowheads="1"/>
          </p:cNvSpPr>
          <p:nvPr/>
        </p:nvSpPr>
        <p:spPr bwMode="auto">
          <a:xfrm>
            <a:off x="6361113" y="25400"/>
            <a:ext cx="2854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§4.3</a:t>
            </a:r>
            <a:r>
              <a:rPr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常用的</a:t>
            </a:r>
            <a:r>
              <a:rPr kumimoji="1"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</a:t>
            </a:r>
            <a:endParaRPr lang="zh-CN" altLang="en-US" sz="18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矩形 1"/>
          <p:cNvSpPr>
            <a:spLocks noChangeArrowheads="1"/>
          </p:cNvSpPr>
          <p:nvPr/>
        </p:nvSpPr>
        <p:spPr bwMode="auto">
          <a:xfrm>
            <a:off x="428625" y="214313"/>
            <a:ext cx="1987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二、译码器</a:t>
            </a:r>
            <a:endParaRPr lang="zh-CN" altLang="en-US" sz="2800">
              <a:solidFill>
                <a:srgbClr val="0066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25"/>
          <p:cNvGrpSpPr/>
          <p:nvPr/>
        </p:nvGrpSpPr>
        <p:grpSpPr bwMode="auto">
          <a:xfrm>
            <a:off x="500063" y="785813"/>
            <a:ext cx="8143875" cy="1714500"/>
            <a:chOff x="571472" y="857232"/>
            <a:chExt cx="8143932" cy="1714512"/>
          </a:xfrm>
        </p:grpSpPr>
        <p:sp>
          <p:nvSpPr>
            <p:cNvPr id="32791" name="Rectangle 16"/>
            <p:cNvSpPr>
              <a:spLocks noChangeArrowheads="1"/>
            </p:cNvSpPr>
            <p:nvPr/>
          </p:nvSpPr>
          <p:spPr bwMode="auto">
            <a:xfrm>
              <a:off x="571472" y="857232"/>
              <a:ext cx="8143932" cy="1714512"/>
            </a:xfrm>
            <a:prstGeom prst="rect">
              <a:avLst/>
            </a:prstGeom>
            <a:noFill/>
            <a:ln w="57150" cmpd="thickThin">
              <a:solidFill>
                <a:srgbClr val="33CC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endPara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792" name="Rectangle 30"/>
            <p:cNvSpPr>
              <a:spLocks noChangeArrowheads="1"/>
            </p:cNvSpPr>
            <p:nvPr/>
          </p:nvSpPr>
          <p:spPr bwMode="auto">
            <a:xfrm>
              <a:off x="611188" y="947731"/>
              <a:ext cx="8064500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译码是编码的逆过程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，即将具有特定含义的一组代码“翻译”出其原意的过程叫译码。实现译码功能的逻辑电路称为</a:t>
              </a:r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译码器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。数字电路中，常用的译码器有二进制译码器、二－十进制译码器和显示译码器。</a:t>
              </a:r>
              <a:endPara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7" name="Text Box 31"/>
          <p:cNvSpPr txBox="1">
            <a:spLocks noChangeArrowheads="1"/>
          </p:cNvSpPr>
          <p:nvPr/>
        </p:nvSpPr>
        <p:spPr bwMode="auto">
          <a:xfrm>
            <a:off x="684213" y="2624138"/>
            <a:ext cx="2736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二进制译码器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32"/>
          <p:cNvSpPr>
            <a:spLocks noChangeArrowheads="1"/>
          </p:cNvSpPr>
          <p:nvPr/>
        </p:nvSpPr>
        <p:spPr bwMode="auto">
          <a:xfrm>
            <a:off x="642938" y="3070225"/>
            <a:ext cx="792956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1"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设二进制译码器的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输入端为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个，则输出端为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400" b="1" baseline="50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，且对应于输入代码的每一种状态，</a:t>
            </a: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400" b="1" baseline="50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输出中只有一个有效（为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或为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，其余全无效（为</a:t>
            </a: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或为</a:t>
            </a: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）。</a:t>
            </a:r>
            <a:endParaRPr kumimoji="1"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Box 33"/>
          <p:cNvSpPr txBox="1">
            <a:spLocks noChangeArrowheads="1"/>
          </p:cNvSpPr>
          <p:nvPr/>
        </p:nvSpPr>
        <p:spPr bwMode="auto">
          <a:xfrm>
            <a:off x="571500" y="4357688"/>
            <a:ext cx="40719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线－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线译码器</a:t>
            </a:r>
            <a:endParaRPr lang="zh-CN" altLang="en-US" sz="240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组合 46"/>
          <p:cNvGrpSpPr/>
          <p:nvPr/>
        </p:nvGrpSpPr>
        <p:grpSpPr bwMode="auto">
          <a:xfrm>
            <a:off x="1285875" y="4857750"/>
            <a:ext cx="3689350" cy="1714500"/>
            <a:chOff x="1357290" y="4929198"/>
            <a:chExt cx="3689520" cy="1714512"/>
          </a:xfrm>
        </p:grpSpPr>
        <p:sp>
          <p:nvSpPr>
            <p:cNvPr id="30" name="矩形 29"/>
            <p:cNvSpPr/>
            <p:nvPr/>
          </p:nvSpPr>
          <p:spPr>
            <a:xfrm>
              <a:off x="2571784" y="5000637"/>
              <a:ext cx="1214493" cy="164307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2" name="直接箭头连接符 31"/>
            <p:cNvCxnSpPr/>
            <p:nvPr/>
          </p:nvCxnSpPr>
          <p:spPr>
            <a:xfrm>
              <a:off x="1785935" y="5499115"/>
              <a:ext cx="785849" cy="158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/>
            <p:nvPr/>
          </p:nvCxnSpPr>
          <p:spPr>
            <a:xfrm>
              <a:off x="1785935" y="6142056"/>
              <a:ext cx="785849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/>
            <p:cNvCxnSpPr/>
            <p:nvPr/>
          </p:nvCxnSpPr>
          <p:spPr>
            <a:xfrm>
              <a:off x="3786277" y="5214950"/>
              <a:ext cx="785849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/>
            <p:cNvCxnSpPr/>
            <p:nvPr/>
          </p:nvCxnSpPr>
          <p:spPr>
            <a:xfrm>
              <a:off x="3786277" y="5570552"/>
              <a:ext cx="785849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/>
            <p:cNvCxnSpPr/>
            <p:nvPr/>
          </p:nvCxnSpPr>
          <p:spPr>
            <a:xfrm>
              <a:off x="3786277" y="5999180"/>
              <a:ext cx="785849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/>
            <p:nvPr/>
          </p:nvCxnSpPr>
          <p:spPr>
            <a:xfrm>
              <a:off x="3786277" y="6356371"/>
              <a:ext cx="785849" cy="158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784" name="矩形 37"/>
            <p:cNvSpPr>
              <a:spLocks noChangeArrowheads="1"/>
            </p:cNvSpPr>
            <p:nvPr/>
          </p:nvSpPr>
          <p:spPr bwMode="auto">
            <a:xfrm>
              <a:off x="1357290" y="5214950"/>
              <a:ext cx="3898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785" name="矩形 38"/>
            <p:cNvSpPr>
              <a:spLocks noChangeArrowheads="1"/>
            </p:cNvSpPr>
            <p:nvPr/>
          </p:nvSpPr>
          <p:spPr bwMode="auto">
            <a:xfrm>
              <a:off x="1357290" y="5857892"/>
              <a:ext cx="3898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786" name="矩形 39"/>
            <p:cNvSpPr>
              <a:spLocks noChangeArrowheads="1"/>
            </p:cNvSpPr>
            <p:nvPr/>
          </p:nvSpPr>
          <p:spPr bwMode="auto">
            <a:xfrm>
              <a:off x="4556276" y="4929198"/>
              <a:ext cx="47481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sz="2400" i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787" name="矩形 40"/>
            <p:cNvSpPr>
              <a:spLocks noChangeArrowheads="1"/>
            </p:cNvSpPr>
            <p:nvPr/>
          </p:nvSpPr>
          <p:spPr bwMode="auto">
            <a:xfrm>
              <a:off x="4556276" y="5324789"/>
              <a:ext cx="47481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400" i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788" name="矩形 41"/>
            <p:cNvSpPr>
              <a:spLocks noChangeArrowheads="1"/>
            </p:cNvSpPr>
            <p:nvPr/>
          </p:nvSpPr>
          <p:spPr bwMode="auto">
            <a:xfrm>
              <a:off x="4572000" y="5715016"/>
              <a:ext cx="47481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400" i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789" name="矩形 42"/>
            <p:cNvSpPr>
              <a:spLocks noChangeArrowheads="1"/>
            </p:cNvSpPr>
            <p:nvPr/>
          </p:nvSpPr>
          <p:spPr bwMode="auto">
            <a:xfrm>
              <a:off x="4556276" y="6072206"/>
              <a:ext cx="47481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2400" i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790" name="矩形 43"/>
            <p:cNvSpPr>
              <a:spLocks noChangeArrowheads="1"/>
            </p:cNvSpPr>
            <p:nvPr/>
          </p:nvSpPr>
          <p:spPr bwMode="auto">
            <a:xfrm>
              <a:off x="2571736" y="5429264"/>
              <a:ext cx="1215397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线－</a:t>
              </a: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线</a:t>
              </a:r>
              <a:endPara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译码器</a:t>
              </a:r>
              <a:endPara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2776" name="矩形 1"/>
          <p:cNvSpPr>
            <a:spLocks noChangeArrowheads="1"/>
          </p:cNvSpPr>
          <p:nvPr/>
        </p:nvSpPr>
        <p:spPr bwMode="auto">
          <a:xfrm>
            <a:off x="6156325" y="58738"/>
            <a:ext cx="28559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§4.3</a:t>
            </a:r>
            <a:r>
              <a:rPr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常用的</a:t>
            </a:r>
            <a:r>
              <a:rPr kumimoji="1"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</a:t>
            </a:r>
            <a:endParaRPr lang="zh-CN" altLang="en-US" sz="18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432"/>
          <p:cNvGraphicFramePr>
            <a:graphicFrameLocks noGrp="1"/>
          </p:cNvGraphicFramePr>
          <p:nvPr/>
        </p:nvGraphicFramePr>
        <p:xfrm>
          <a:off x="735013" y="1055688"/>
          <a:ext cx="3335337" cy="2379663"/>
        </p:xfrm>
        <a:graphic>
          <a:graphicData uri="http://schemas.openxmlformats.org/drawingml/2006/table">
            <a:tbl>
              <a:tblPr/>
              <a:tblGrid>
                <a:gridCol w="1223963"/>
                <a:gridCol w="2111374"/>
              </a:tblGrid>
              <a:tr h="3962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输入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输出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     B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Y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Y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Y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000" b="1" i="0" u="none" strike="noStrike" cap="none" normalizeH="0" baseline="-2500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0      0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0     0      0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0      1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  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0      0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1      0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0      0    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1      1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0      0     0     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3815" name="Text Box 420"/>
          <p:cNvSpPr txBox="1">
            <a:spLocks noChangeArrowheads="1"/>
          </p:cNvSpPr>
          <p:nvPr/>
        </p:nvSpPr>
        <p:spPr bwMode="auto">
          <a:xfrm>
            <a:off x="642938" y="500063"/>
            <a:ext cx="36433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线－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线译码器真值表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429"/>
          <p:cNvGrpSpPr/>
          <p:nvPr/>
        </p:nvGrpSpPr>
        <p:grpSpPr bwMode="auto">
          <a:xfrm>
            <a:off x="928688" y="4278313"/>
            <a:ext cx="2197100" cy="1865312"/>
            <a:chOff x="1020" y="2840"/>
            <a:chExt cx="1384" cy="1175"/>
          </a:xfrm>
        </p:grpSpPr>
        <p:graphicFrame>
          <p:nvGraphicFramePr>
            <p:cNvPr id="33882" name="Object 2"/>
            <p:cNvGraphicFramePr>
              <a:graphicFrameLocks noChangeAspect="1"/>
            </p:cNvGraphicFramePr>
            <p:nvPr/>
          </p:nvGraphicFramePr>
          <p:xfrm>
            <a:off x="1292" y="2840"/>
            <a:ext cx="1044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95" name="公式" r:id="rId1" imgW="926465" imgH="254000" progId="Equation.3">
                    <p:embed/>
                  </p:oleObj>
                </mc:Choice>
                <mc:Fallback>
                  <p:oleObj name="公式" r:id="rId1" imgW="926465" imgH="2540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2" y="2840"/>
                          <a:ext cx="1044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83" name="Object 3"/>
            <p:cNvGraphicFramePr>
              <a:graphicFrameLocks noChangeAspect="1"/>
            </p:cNvGraphicFramePr>
            <p:nvPr/>
          </p:nvGraphicFramePr>
          <p:xfrm>
            <a:off x="1296" y="3747"/>
            <a:ext cx="1089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96" name="公式" r:id="rId3" imgW="927100" imgH="228600" progId="Equation.3">
                    <p:embed/>
                  </p:oleObj>
                </mc:Choice>
                <mc:Fallback>
                  <p:oleObj name="公式" r:id="rId3" imgW="927100" imgH="2286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3747"/>
                          <a:ext cx="1089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84" name="Object 4"/>
            <p:cNvGraphicFramePr>
              <a:graphicFrameLocks noChangeAspect="1"/>
            </p:cNvGraphicFramePr>
            <p:nvPr/>
          </p:nvGraphicFramePr>
          <p:xfrm>
            <a:off x="1300" y="3430"/>
            <a:ext cx="1104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97" name="公式" r:id="rId5" imgW="939165" imgH="241300" progId="Equation.3">
                    <p:embed/>
                  </p:oleObj>
                </mc:Choice>
                <mc:Fallback>
                  <p:oleObj name="公式" r:id="rId5" imgW="939165" imgH="2413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0" y="3430"/>
                          <a:ext cx="1104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85" name="Object 5"/>
            <p:cNvGraphicFramePr>
              <a:graphicFrameLocks noChangeAspect="1"/>
            </p:cNvGraphicFramePr>
            <p:nvPr/>
          </p:nvGraphicFramePr>
          <p:xfrm>
            <a:off x="1295" y="3134"/>
            <a:ext cx="1059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98" name="公式" r:id="rId7" imgW="901065" imgH="241300" progId="Equation.3">
                    <p:embed/>
                  </p:oleObj>
                </mc:Choice>
                <mc:Fallback>
                  <p:oleObj name="公式" r:id="rId7" imgW="901065" imgH="2413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5" y="3134"/>
                          <a:ext cx="1059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86" name="AutoShape 425"/>
            <p:cNvSpPr/>
            <p:nvPr/>
          </p:nvSpPr>
          <p:spPr bwMode="auto">
            <a:xfrm>
              <a:off x="1020" y="2976"/>
              <a:ext cx="226" cy="907"/>
            </a:xfrm>
            <a:prstGeom prst="leftBrace">
              <a:avLst>
                <a:gd name="adj1" fmla="val 33444"/>
                <a:gd name="adj2" fmla="val 50056"/>
              </a:avLst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Text Box 426"/>
          <p:cNvSpPr txBox="1">
            <a:spLocks noChangeArrowheads="1"/>
          </p:cNvSpPr>
          <p:nvPr/>
        </p:nvSpPr>
        <p:spPr bwMode="auto">
          <a:xfrm>
            <a:off x="982663" y="3757613"/>
            <a:ext cx="21605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lang="zh-CN" altLang="en-US" sz="24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逻辑函数式</a:t>
            </a:r>
            <a:endParaRPr lang="zh-CN" altLang="en-US" sz="2400" b="1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Box 426"/>
          <p:cNvSpPr txBox="1">
            <a:spLocks noChangeArrowheads="1"/>
          </p:cNvSpPr>
          <p:nvPr/>
        </p:nvSpPr>
        <p:spPr bwMode="auto">
          <a:xfrm>
            <a:off x="5072063" y="500063"/>
            <a:ext cx="21605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逻辑图</a:t>
            </a:r>
            <a:endParaRPr lang="zh-CN" altLang="en-US" sz="24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组合 130"/>
          <p:cNvGrpSpPr/>
          <p:nvPr/>
        </p:nvGrpSpPr>
        <p:grpSpPr bwMode="auto">
          <a:xfrm>
            <a:off x="4740275" y="1143000"/>
            <a:ext cx="3832225" cy="3819525"/>
            <a:chOff x="5072066" y="1967203"/>
            <a:chExt cx="3832396" cy="3819251"/>
          </a:xfrm>
        </p:grpSpPr>
        <p:grpSp>
          <p:nvGrpSpPr>
            <p:cNvPr id="33821" name="组合 105"/>
            <p:cNvGrpSpPr/>
            <p:nvPr/>
          </p:nvGrpSpPr>
          <p:grpSpPr bwMode="auto">
            <a:xfrm>
              <a:off x="7559688" y="1986741"/>
              <a:ext cx="924799" cy="442128"/>
              <a:chOff x="7559688" y="1986741"/>
              <a:chExt cx="924799" cy="442128"/>
            </a:xfrm>
          </p:grpSpPr>
          <p:cxnSp>
            <p:nvCxnSpPr>
              <p:cNvPr id="20" name="直接连接符 19"/>
              <p:cNvCxnSpPr/>
              <p:nvPr/>
            </p:nvCxnSpPr>
            <p:spPr>
              <a:xfrm>
                <a:off x="8072575" y="2213249"/>
                <a:ext cx="411181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>
                <a:off x="7559790" y="1986252"/>
                <a:ext cx="357203" cy="0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>
              <a:xfrm>
                <a:off x="7559790" y="2429133"/>
                <a:ext cx="357203" cy="0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/>
              <p:cNvCxnSpPr/>
              <p:nvPr/>
            </p:nvCxnSpPr>
            <p:spPr>
              <a:xfrm rot="5400000">
                <a:off x="7339143" y="2206899"/>
                <a:ext cx="442881" cy="1587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弧形 24"/>
              <p:cNvSpPr/>
              <p:nvPr/>
            </p:nvSpPr>
            <p:spPr>
              <a:xfrm>
                <a:off x="7758236" y="1986252"/>
                <a:ext cx="317514" cy="442881"/>
              </a:xfrm>
              <a:prstGeom prst="arc">
                <a:avLst>
                  <a:gd name="adj1" fmla="val 16200000"/>
                  <a:gd name="adj2" fmla="val 5580297"/>
                </a:avLst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cxnSp>
          <p:nvCxnSpPr>
            <p:cNvPr id="14" name="直接连接符 13"/>
            <p:cNvCxnSpPr/>
            <p:nvPr/>
          </p:nvCxnSpPr>
          <p:spPr>
            <a:xfrm>
              <a:off x="7131146" y="2071970"/>
              <a:ext cx="431819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7320066" y="2286268"/>
              <a:ext cx="252424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824" name="组合 131"/>
            <p:cNvGrpSpPr/>
            <p:nvPr/>
          </p:nvGrpSpPr>
          <p:grpSpPr bwMode="auto">
            <a:xfrm>
              <a:off x="6107074" y="4538670"/>
              <a:ext cx="536628" cy="500066"/>
              <a:chOff x="3000364" y="4714884"/>
              <a:chExt cx="536628" cy="500066"/>
            </a:xfrm>
          </p:grpSpPr>
          <p:sp>
            <p:nvSpPr>
              <p:cNvPr id="31" name="等腰三角形 30"/>
              <p:cNvSpPr/>
              <p:nvPr/>
            </p:nvSpPr>
            <p:spPr>
              <a:xfrm rot="5400000">
                <a:off x="2964761" y="4750674"/>
                <a:ext cx="500027" cy="428644"/>
              </a:xfrm>
              <a:prstGeom prst="triangle">
                <a:avLst/>
              </a:prstGeom>
              <a:noFill/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3429096" y="4905469"/>
                <a:ext cx="107955" cy="107942"/>
              </a:xfrm>
              <a:prstGeom prst="ellipse">
                <a:avLst/>
              </a:prstGeom>
              <a:noFill/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cxnSp>
          <p:nvCxnSpPr>
            <p:cNvPr id="28" name="直接连接符 27"/>
            <p:cNvCxnSpPr/>
            <p:nvPr/>
          </p:nvCxnSpPr>
          <p:spPr>
            <a:xfrm flipV="1">
              <a:off x="5500710" y="4778464"/>
              <a:ext cx="59534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rot="10800000">
              <a:off x="6643761" y="4786401"/>
              <a:ext cx="50008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827" name="组合 131"/>
            <p:cNvGrpSpPr/>
            <p:nvPr/>
          </p:nvGrpSpPr>
          <p:grpSpPr bwMode="auto">
            <a:xfrm>
              <a:off x="6107074" y="5286388"/>
              <a:ext cx="536628" cy="500066"/>
              <a:chOff x="3000364" y="4714884"/>
              <a:chExt cx="536628" cy="500066"/>
            </a:xfrm>
          </p:grpSpPr>
          <p:sp>
            <p:nvSpPr>
              <p:cNvPr id="58" name="等腰三角形 57"/>
              <p:cNvSpPr/>
              <p:nvPr/>
            </p:nvSpPr>
            <p:spPr>
              <a:xfrm rot="5400000">
                <a:off x="2964762" y="4750614"/>
                <a:ext cx="500026" cy="428644"/>
              </a:xfrm>
              <a:prstGeom prst="triangle">
                <a:avLst/>
              </a:prstGeom>
              <a:noFill/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59" name="椭圆 58"/>
              <p:cNvSpPr/>
              <p:nvPr/>
            </p:nvSpPr>
            <p:spPr>
              <a:xfrm>
                <a:off x="3429096" y="4905410"/>
                <a:ext cx="107955" cy="107942"/>
              </a:xfrm>
              <a:prstGeom prst="ellipse">
                <a:avLst/>
              </a:prstGeom>
              <a:noFill/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cxnSp>
          <p:nvCxnSpPr>
            <p:cNvPr id="61" name="直接连接符 60"/>
            <p:cNvCxnSpPr/>
            <p:nvPr/>
          </p:nvCxnSpPr>
          <p:spPr>
            <a:xfrm rot="10800000" flipV="1">
              <a:off x="6635824" y="5532472"/>
              <a:ext cx="68424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rot="5400000" flipH="1" flipV="1">
              <a:off x="5712046" y="3918101"/>
              <a:ext cx="3239855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rot="5400000" flipH="1" flipV="1">
              <a:off x="5785837" y="3428392"/>
              <a:ext cx="271443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>
              <a:off x="5857914" y="3786347"/>
              <a:ext cx="1714577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rot="5400000" flipH="1" flipV="1">
              <a:off x="5357093" y="4285581"/>
              <a:ext cx="1000053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>
              <a:off x="5857914" y="5141975"/>
              <a:ext cx="1079548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rot="5400000" flipH="1" flipV="1">
              <a:off x="5658696" y="5341193"/>
              <a:ext cx="396847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rot="5400000" flipH="1" flipV="1">
              <a:off x="5785813" y="3999851"/>
              <a:ext cx="2285836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>
              <a:off x="6929524" y="4000645"/>
              <a:ext cx="64296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 flipV="1">
              <a:off x="5500710" y="5526123"/>
              <a:ext cx="59534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>
              <a:off x="7131146" y="2643429"/>
              <a:ext cx="428644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flipV="1">
              <a:off x="6929524" y="2857727"/>
              <a:ext cx="61121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>
              <a:off x="6715202" y="3214888"/>
              <a:ext cx="828712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rot="5400000" flipH="1" flipV="1">
              <a:off x="6426297" y="3502206"/>
              <a:ext cx="576222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>
              <a:off x="7312129" y="3429186"/>
              <a:ext cx="252423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椭圆 99"/>
            <p:cNvSpPr/>
            <p:nvPr/>
          </p:nvSpPr>
          <p:spPr>
            <a:xfrm>
              <a:off x="6896185" y="3967310"/>
              <a:ext cx="71440" cy="7143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01" name="椭圆 100"/>
            <p:cNvSpPr/>
            <p:nvPr/>
          </p:nvSpPr>
          <p:spPr>
            <a:xfrm>
              <a:off x="5824575" y="4735604"/>
              <a:ext cx="71441" cy="7143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02" name="椭圆 101"/>
            <p:cNvSpPr/>
            <p:nvPr/>
          </p:nvSpPr>
          <p:spPr>
            <a:xfrm>
              <a:off x="5824575" y="5475326"/>
              <a:ext cx="71441" cy="7143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03" name="椭圆 102"/>
            <p:cNvSpPr/>
            <p:nvPr/>
          </p:nvSpPr>
          <p:spPr>
            <a:xfrm>
              <a:off x="7093044" y="2605332"/>
              <a:ext cx="71440" cy="7143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04" name="椭圆 103"/>
            <p:cNvSpPr/>
            <p:nvPr/>
          </p:nvSpPr>
          <p:spPr>
            <a:xfrm>
              <a:off x="7299428" y="3391089"/>
              <a:ext cx="71440" cy="7143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05" name="椭圆 104"/>
            <p:cNvSpPr/>
            <p:nvPr/>
          </p:nvSpPr>
          <p:spPr>
            <a:xfrm>
              <a:off x="6689801" y="3740314"/>
              <a:ext cx="71440" cy="7143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33849" name="组合 106"/>
            <p:cNvGrpSpPr/>
            <p:nvPr/>
          </p:nvGrpSpPr>
          <p:grpSpPr bwMode="auto">
            <a:xfrm>
              <a:off x="7550891" y="2571744"/>
              <a:ext cx="924799" cy="442128"/>
              <a:chOff x="7559688" y="1986741"/>
              <a:chExt cx="924799" cy="442128"/>
            </a:xfrm>
          </p:grpSpPr>
          <p:cxnSp>
            <p:nvCxnSpPr>
              <p:cNvPr id="108" name="直接连接符 107"/>
              <p:cNvCxnSpPr/>
              <p:nvPr/>
            </p:nvCxnSpPr>
            <p:spPr>
              <a:xfrm>
                <a:off x="8071847" y="2213991"/>
                <a:ext cx="412768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接连接符 108"/>
              <p:cNvCxnSpPr/>
              <p:nvPr/>
            </p:nvCxnSpPr>
            <p:spPr>
              <a:xfrm>
                <a:off x="7559062" y="1986995"/>
                <a:ext cx="358791" cy="0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109"/>
              <p:cNvCxnSpPr/>
              <p:nvPr/>
            </p:nvCxnSpPr>
            <p:spPr>
              <a:xfrm>
                <a:off x="7559062" y="2428288"/>
                <a:ext cx="358791" cy="0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接连接符 110"/>
              <p:cNvCxnSpPr/>
              <p:nvPr/>
            </p:nvCxnSpPr>
            <p:spPr>
              <a:xfrm rot="5400000">
                <a:off x="7339209" y="2206848"/>
                <a:ext cx="441293" cy="1587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弧形 111"/>
              <p:cNvSpPr/>
              <p:nvPr/>
            </p:nvSpPr>
            <p:spPr>
              <a:xfrm>
                <a:off x="7757508" y="1986995"/>
                <a:ext cx="319102" cy="441293"/>
              </a:xfrm>
              <a:prstGeom prst="arc">
                <a:avLst>
                  <a:gd name="adj1" fmla="val 16200000"/>
                  <a:gd name="adj2" fmla="val 5580297"/>
                </a:avLst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33850" name="组合 112"/>
            <p:cNvGrpSpPr/>
            <p:nvPr/>
          </p:nvGrpSpPr>
          <p:grpSpPr bwMode="auto">
            <a:xfrm>
              <a:off x="7559696" y="3129748"/>
              <a:ext cx="924799" cy="442128"/>
              <a:chOff x="7559688" y="1986741"/>
              <a:chExt cx="924799" cy="442128"/>
            </a:xfrm>
          </p:grpSpPr>
          <p:cxnSp>
            <p:nvCxnSpPr>
              <p:cNvPr id="114" name="直接连接符 113"/>
              <p:cNvCxnSpPr/>
              <p:nvPr/>
            </p:nvCxnSpPr>
            <p:spPr>
              <a:xfrm>
                <a:off x="8072567" y="2213160"/>
                <a:ext cx="411181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接连接符 114"/>
              <p:cNvCxnSpPr/>
              <p:nvPr/>
            </p:nvCxnSpPr>
            <p:spPr>
              <a:xfrm>
                <a:off x="7559782" y="1986163"/>
                <a:ext cx="357203" cy="0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接连接符 115"/>
              <p:cNvCxnSpPr/>
              <p:nvPr/>
            </p:nvCxnSpPr>
            <p:spPr>
              <a:xfrm>
                <a:off x="7559782" y="2429044"/>
                <a:ext cx="357203" cy="0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直接连接符 116"/>
              <p:cNvCxnSpPr/>
              <p:nvPr/>
            </p:nvCxnSpPr>
            <p:spPr>
              <a:xfrm rot="5400000">
                <a:off x="7339135" y="2206810"/>
                <a:ext cx="442881" cy="1587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弧形 117"/>
              <p:cNvSpPr/>
              <p:nvPr/>
            </p:nvSpPr>
            <p:spPr>
              <a:xfrm>
                <a:off x="7758228" y="1986163"/>
                <a:ext cx="317514" cy="442881"/>
              </a:xfrm>
              <a:prstGeom prst="arc">
                <a:avLst>
                  <a:gd name="adj1" fmla="val 16200000"/>
                  <a:gd name="adj2" fmla="val 5580297"/>
                </a:avLst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33851" name="组合 118"/>
            <p:cNvGrpSpPr/>
            <p:nvPr/>
          </p:nvGrpSpPr>
          <p:grpSpPr bwMode="auto">
            <a:xfrm>
              <a:off x="7572396" y="3701252"/>
              <a:ext cx="924799" cy="442128"/>
              <a:chOff x="7559688" y="1986741"/>
              <a:chExt cx="924799" cy="442128"/>
            </a:xfrm>
          </p:grpSpPr>
          <p:cxnSp>
            <p:nvCxnSpPr>
              <p:cNvPr id="120" name="直接连接符 119"/>
              <p:cNvCxnSpPr/>
              <p:nvPr/>
            </p:nvCxnSpPr>
            <p:spPr>
              <a:xfrm>
                <a:off x="8072568" y="2213115"/>
                <a:ext cx="411181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接连接符 120"/>
              <p:cNvCxnSpPr/>
              <p:nvPr/>
            </p:nvCxnSpPr>
            <p:spPr>
              <a:xfrm>
                <a:off x="7559783" y="1986118"/>
                <a:ext cx="357203" cy="0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直接连接符 121"/>
              <p:cNvCxnSpPr/>
              <p:nvPr/>
            </p:nvCxnSpPr>
            <p:spPr>
              <a:xfrm>
                <a:off x="7559783" y="2428999"/>
                <a:ext cx="357203" cy="0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接连接符 122"/>
              <p:cNvCxnSpPr/>
              <p:nvPr/>
            </p:nvCxnSpPr>
            <p:spPr>
              <a:xfrm rot="5400000">
                <a:off x="7339136" y="2206765"/>
                <a:ext cx="442881" cy="1587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" name="弧形 123"/>
              <p:cNvSpPr/>
              <p:nvPr/>
            </p:nvSpPr>
            <p:spPr>
              <a:xfrm>
                <a:off x="7758229" y="1986118"/>
                <a:ext cx="317514" cy="442881"/>
              </a:xfrm>
              <a:prstGeom prst="arc">
                <a:avLst>
                  <a:gd name="adj1" fmla="val 16200000"/>
                  <a:gd name="adj2" fmla="val 5580297"/>
                </a:avLst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sp>
          <p:nvSpPr>
            <p:cNvPr id="33852" name="矩形 124"/>
            <p:cNvSpPr>
              <a:spLocks noChangeArrowheads="1"/>
            </p:cNvSpPr>
            <p:nvPr/>
          </p:nvSpPr>
          <p:spPr bwMode="auto">
            <a:xfrm>
              <a:off x="5072066" y="4500570"/>
              <a:ext cx="3898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853" name="矩形 125"/>
            <p:cNvSpPr>
              <a:spLocks noChangeArrowheads="1"/>
            </p:cNvSpPr>
            <p:nvPr/>
          </p:nvSpPr>
          <p:spPr bwMode="auto">
            <a:xfrm>
              <a:off x="5072066" y="5286388"/>
              <a:ext cx="3898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854" name="矩形 126"/>
            <p:cNvSpPr>
              <a:spLocks noChangeArrowheads="1"/>
            </p:cNvSpPr>
            <p:nvPr/>
          </p:nvSpPr>
          <p:spPr bwMode="auto">
            <a:xfrm>
              <a:off x="8429652" y="1967203"/>
              <a:ext cx="47481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sz="2400" i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855" name="矩形 127"/>
            <p:cNvSpPr>
              <a:spLocks noChangeArrowheads="1"/>
            </p:cNvSpPr>
            <p:nvPr/>
          </p:nvSpPr>
          <p:spPr bwMode="auto">
            <a:xfrm>
              <a:off x="8429652" y="2571744"/>
              <a:ext cx="47481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400" i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856" name="矩形 128"/>
            <p:cNvSpPr>
              <a:spLocks noChangeArrowheads="1"/>
            </p:cNvSpPr>
            <p:nvPr/>
          </p:nvSpPr>
          <p:spPr bwMode="auto">
            <a:xfrm>
              <a:off x="8429652" y="3110211"/>
              <a:ext cx="47481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400" i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857" name="矩形 129"/>
            <p:cNvSpPr>
              <a:spLocks noChangeArrowheads="1"/>
            </p:cNvSpPr>
            <p:nvPr/>
          </p:nvSpPr>
          <p:spPr bwMode="auto">
            <a:xfrm>
              <a:off x="8429652" y="3714752"/>
              <a:ext cx="47481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2400" i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3820" name="矩形 1"/>
          <p:cNvSpPr>
            <a:spLocks noChangeArrowheads="1"/>
          </p:cNvSpPr>
          <p:nvPr/>
        </p:nvSpPr>
        <p:spPr bwMode="auto">
          <a:xfrm>
            <a:off x="6156325" y="58738"/>
            <a:ext cx="28559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§4.3</a:t>
            </a:r>
            <a:r>
              <a:rPr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常用的</a:t>
            </a:r>
            <a:r>
              <a:rPr kumimoji="1"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</a:t>
            </a:r>
            <a:endParaRPr lang="zh-CN" altLang="en-US" sz="18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1"/>
          <p:cNvSpPr txBox="1">
            <a:spLocks noChangeArrowheads="1"/>
          </p:cNvSpPr>
          <p:nvPr/>
        </p:nvSpPr>
        <p:spPr bwMode="auto">
          <a:xfrm>
            <a:off x="357188" y="142875"/>
            <a:ext cx="51038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0000FF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400" b="1">
                <a:solidFill>
                  <a:srgbClr val="0000FF"/>
                </a:solidFill>
                <a:latin typeface="宋体" panose="02010600030101010101" pitchFamily="2" charset="-122"/>
              </a:rPr>
              <a:t>）集成</a:t>
            </a:r>
            <a:r>
              <a:rPr lang="en-US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400" b="1">
                <a:solidFill>
                  <a:srgbClr val="0000FF"/>
                </a:solidFill>
                <a:latin typeface="宋体" panose="02010600030101010101" pitchFamily="2" charset="-122"/>
              </a:rPr>
              <a:t>线－</a:t>
            </a:r>
            <a:r>
              <a:rPr lang="en-US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8</a:t>
            </a:r>
            <a:r>
              <a:rPr lang="zh-CN" altLang="en-US" sz="2400" b="1">
                <a:solidFill>
                  <a:srgbClr val="0000FF"/>
                </a:solidFill>
                <a:latin typeface="宋体" panose="02010600030101010101" pitchFamily="2" charset="-122"/>
              </a:rPr>
              <a:t>线译码器</a:t>
            </a:r>
            <a:r>
              <a:rPr lang="en-US" altLang="zh-CN" sz="2400" b="1">
                <a:solidFill>
                  <a:srgbClr val="FF3300"/>
                </a:solidFill>
                <a:latin typeface="宋体" panose="02010600030101010101" pitchFamily="2" charset="-122"/>
              </a:rPr>
              <a:t>74LS138</a:t>
            </a:r>
            <a:endParaRPr lang="zh-CN" altLang="en-US" sz="2400" b="1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grpSp>
        <p:nvGrpSpPr>
          <p:cNvPr id="2" name="组合 19"/>
          <p:cNvGrpSpPr/>
          <p:nvPr/>
        </p:nvGrpSpPr>
        <p:grpSpPr bwMode="auto">
          <a:xfrm>
            <a:off x="1785938" y="857250"/>
            <a:ext cx="5295900" cy="5381625"/>
            <a:chOff x="1785938" y="1119188"/>
            <a:chExt cx="5295900" cy="5381625"/>
          </a:xfrm>
        </p:grpSpPr>
        <p:pic>
          <p:nvPicPr>
            <p:cNvPr id="34853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71688" y="1119188"/>
              <a:ext cx="4714875" cy="5381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34854" name="Object 3"/>
            <p:cNvGraphicFramePr>
              <a:graphicFrameLocks noChangeAspect="1"/>
            </p:cNvGraphicFramePr>
            <p:nvPr/>
          </p:nvGraphicFramePr>
          <p:xfrm>
            <a:off x="6786563" y="1285875"/>
            <a:ext cx="295275" cy="385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00" name="公式" r:id="rId2" imgW="177800" imgH="215900" progId="Equation.3">
                    <p:embed/>
                  </p:oleObj>
                </mc:Choice>
                <mc:Fallback>
                  <p:oleObj name="公式" r:id="rId2" imgW="177800" imgH="2159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86563" y="1285875"/>
                          <a:ext cx="295275" cy="3857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55" name="Object 4"/>
            <p:cNvGraphicFramePr>
              <a:graphicFrameLocks noChangeAspect="1"/>
            </p:cNvGraphicFramePr>
            <p:nvPr/>
          </p:nvGraphicFramePr>
          <p:xfrm>
            <a:off x="6797675" y="1939925"/>
            <a:ext cx="273050" cy="361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01" name="公式" r:id="rId4" imgW="165100" imgH="203200" progId="Equation.3">
                    <p:embed/>
                  </p:oleObj>
                </mc:Choice>
                <mc:Fallback>
                  <p:oleObj name="公式" r:id="rId4" imgW="165100" imgH="2032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97675" y="1939925"/>
                          <a:ext cx="273050" cy="3619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56" name="Object 5"/>
            <p:cNvGraphicFramePr>
              <a:graphicFrameLocks noChangeAspect="1"/>
            </p:cNvGraphicFramePr>
            <p:nvPr/>
          </p:nvGraphicFramePr>
          <p:xfrm>
            <a:off x="6786563" y="2554288"/>
            <a:ext cx="295275" cy="361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02" name="公式" r:id="rId6" imgW="177800" imgH="203200" progId="Equation.3">
                    <p:embed/>
                  </p:oleObj>
                </mc:Choice>
                <mc:Fallback>
                  <p:oleObj name="公式" r:id="rId6" imgW="177800" imgH="2032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86563" y="2554288"/>
                          <a:ext cx="295275" cy="3619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57" name="Object 6"/>
            <p:cNvGraphicFramePr>
              <a:graphicFrameLocks noChangeAspect="1"/>
            </p:cNvGraphicFramePr>
            <p:nvPr/>
          </p:nvGraphicFramePr>
          <p:xfrm>
            <a:off x="6786563" y="3214688"/>
            <a:ext cx="295275" cy="385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03" name="公式" r:id="rId8" imgW="177800" imgH="215900" progId="Equation.3">
                    <p:embed/>
                  </p:oleObj>
                </mc:Choice>
                <mc:Fallback>
                  <p:oleObj name="公式" r:id="rId8" imgW="177800" imgH="2159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86563" y="3214688"/>
                          <a:ext cx="295275" cy="3857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58" name="Object 7"/>
            <p:cNvGraphicFramePr>
              <a:graphicFrameLocks noChangeAspect="1"/>
            </p:cNvGraphicFramePr>
            <p:nvPr/>
          </p:nvGraphicFramePr>
          <p:xfrm>
            <a:off x="6786563" y="3868738"/>
            <a:ext cx="295275" cy="363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04" name="公式" r:id="rId10" imgW="177800" imgH="203200" progId="Equation.3">
                    <p:embed/>
                  </p:oleObj>
                </mc:Choice>
                <mc:Fallback>
                  <p:oleObj name="公式" r:id="rId10" imgW="177800" imgH="2032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86563" y="3868738"/>
                          <a:ext cx="295275" cy="3635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59" name="Object 8"/>
            <p:cNvGraphicFramePr>
              <a:graphicFrameLocks noChangeAspect="1"/>
            </p:cNvGraphicFramePr>
            <p:nvPr/>
          </p:nvGraphicFramePr>
          <p:xfrm>
            <a:off x="6786563" y="4543425"/>
            <a:ext cx="295275" cy="385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05" name="公式" r:id="rId12" imgW="177800" imgH="215900" progId="Equation.3">
                    <p:embed/>
                  </p:oleObj>
                </mc:Choice>
                <mc:Fallback>
                  <p:oleObj name="公式" r:id="rId12" imgW="177800" imgH="2159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86563" y="4543425"/>
                          <a:ext cx="295275" cy="3857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60" name="Object 9"/>
            <p:cNvGraphicFramePr>
              <a:graphicFrameLocks noChangeAspect="1"/>
            </p:cNvGraphicFramePr>
            <p:nvPr/>
          </p:nvGraphicFramePr>
          <p:xfrm>
            <a:off x="6786563" y="5186363"/>
            <a:ext cx="295275" cy="385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06" name="公式" r:id="rId14" imgW="177800" imgH="215900" progId="Equation.3">
                    <p:embed/>
                  </p:oleObj>
                </mc:Choice>
                <mc:Fallback>
                  <p:oleObj name="公式" r:id="rId14" imgW="177800" imgH="2159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86563" y="5186363"/>
                          <a:ext cx="295275" cy="3857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61" name="Object 10"/>
            <p:cNvGraphicFramePr>
              <a:graphicFrameLocks noChangeAspect="1"/>
            </p:cNvGraphicFramePr>
            <p:nvPr/>
          </p:nvGraphicFramePr>
          <p:xfrm>
            <a:off x="6786563" y="5857875"/>
            <a:ext cx="295275" cy="385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07" name="公式" r:id="rId16" imgW="177800" imgH="215900" progId="Equation.3">
                    <p:embed/>
                  </p:oleObj>
                </mc:Choice>
                <mc:Fallback>
                  <p:oleObj name="公式" r:id="rId16" imgW="177800" imgH="2159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86563" y="5857875"/>
                          <a:ext cx="295275" cy="3857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62" name="Object 11"/>
            <p:cNvGraphicFramePr>
              <a:graphicFrameLocks noChangeAspect="1"/>
            </p:cNvGraphicFramePr>
            <p:nvPr/>
          </p:nvGraphicFramePr>
          <p:xfrm>
            <a:off x="2408238" y="4605338"/>
            <a:ext cx="336550" cy="317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08" name="公式" r:id="rId18" imgW="203200" imgH="177800" progId="Equation.3">
                    <p:embed/>
                  </p:oleObj>
                </mc:Choice>
                <mc:Fallback>
                  <p:oleObj name="公式" r:id="rId18" imgW="203200" imgH="1778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8238" y="4605338"/>
                          <a:ext cx="336550" cy="317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63" name="Object 14"/>
            <p:cNvGraphicFramePr>
              <a:graphicFrameLocks noChangeAspect="1"/>
            </p:cNvGraphicFramePr>
            <p:nvPr/>
          </p:nvGraphicFramePr>
          <p:xfrm>
            <a:off x="1785938" y="2571750"/>
            <a:ext cx="295275" cy="385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09" name="公式" r:id="rId20" imgW="177800" imgH="215900" progId="Equation.3">
                    <p:embed/>
                  </p:oleObj>
                </mc:Choice>
                <mc:Fallback>
                  <p:oleObj name="公式" r:id="rId20" imgW="177800" imgH="2159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5938" y="2571750"/>
                          <a:ext cx="295275" cy="3857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64" name="Object 15"/>
            <p:cNvGraphicFramePr>
              <a:graphicFrameLocks noChangeAspect="1"/>
            </p:cNvGraphicFramePr>
            <p:nvPr/>
          </p:nvGraphicFramePr>
          <p:xfrm>
            <a:off x="1785938" y="2900363"/>
            <a:ext cx="295275" cy="385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10" name="公式" r:id="rId22" imgW="177800" imgH="215900" progId="Equation.3">
                    <p:embed/>
                  </p:oleObj>
                </mc:Choice>
                <mc:Fallback>
                  <p:oleObj name="公式" r:id="rId22" imgW="177800" imgH="2159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5938" y="2900363"/>
                          <a:ext cx="295275" cy="3857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65" name="Object 16"/>
            <p:cNvGraphicFramePr>
              <a:graphicFrameLocks noChangeAspect="1"/>
            </p:cNvGraphicFramePr>
            <p:nvPr/>
          </p:nvGraphicFramePr>
          <p:xfrm>
            <a:off x="1827213" y="2341563"/>
            <a:ext cx="211137" cy="273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11" name="公式" r:id="rId24" imgW="127000" imgH="152400" progId="Equation.3">
                    <p:embed/>
                  </p:oleObj>
                </mc:Choice>
                <mc:Fallback>
                  <p:oleObj name="公式" r:id="rId24" imgW="127000" imgH="15240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7213" y="2341563"/>
                          <a:ext cx="211137" cy="273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66" name="Object 18"/>
            <p:cNvGraphicFramePr>
              <a:graphicFrameLocks noChangeAspect="1"/>
            </p:cNvGraphicFramePr>
            <p:nvPr/>
          </p:nvGraphicFramePr>
          <p:xfrm>
            <a:off x="2398713" y="5297488"/>
            <a:ext cx="293687" cy="295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12" name="公式" r:id="rId26" imgW="177800" imgH="165100" progId="Equation.3">
                    <p:embed/>
                  </p:oleObj>
                </mc:Choice>
                <mc:Fallback>
                  <p:oleObj name="公式" r:id="rId26" imgW="177800" imgH="16510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98713" y="5297488"/>
                          <a:ext cx="293687" cy="295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67" name="Object 19"/>
            <p:cNvGraphicFramePr>
              <a:graphicFrameLocks noChangeAspect="1"/>
            </p:cNvGraphicFramePr>
            <p:nvPr/>
          </p:nvGraphicFramePr>
          <p:xfrm>
            <a:off x="2378075" y="6083300"/>
            <a:ext cx="336550" cy="295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13" name="公式" r:id="rId28" imgW="203200" imgH="165100" progId="Equation.3">
                    <p:embed/>
                  </p:oleObj>
                </mc:Choice>
                <mc:Fallback>
                  <p:oleObj name="公式" r:id="rId28" imgW="203200" imgH="1651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8075" y="6083300"/>
                          <a:ext cx="336550" cy="295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39"/>
          <p:cNvGrpSpPr/>
          <p:nvPr/>
        </p:nvGrpSpPr>
        <p:grpSpPr bwMode="auto">
          <a:xfrm>
            <a:off x="227013" y="4214813"/>
            <a:ext cx="2701925" cy="2286000"/>
            <a:chOff x="226982" y="4214818"/>
            <a:chExt cx="2701944" cy="2286016"/>
          </a:xfrm>
        </p:grpSpPr>
        <p:sp>
          <p:nvSpPr>
            <p:cNvPr id="21" name="椭圆 20"/>
            <p:cNvSpPr/>
            <p:nvPr/>
          </p:nvSpPr>
          <p:spPr>
            <a:xfrm>
              <a:off x="2214546" y="4214818"/>
              <a:ext cx="714380" cy="2286016"/>
            </a:xfrm>
            <a:prstGeom prst="ellipse">
              <a:avLst/>
            </a:prstGeom>
            <a:noFill/>
            <a:ln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34850" name="组合 25"/>
            <p:cNvGrpSpPr/>
            <p:nvPr/>
          </p:nvGrpSpPr>
          <p:grpSpPr bwMode="auto">
            <a:xfrm>
              <a:off x="226982" y="4929198"/>
              <a:ext cx="1487498" cy="642942"/>
              <a:chOff x="226982" y="4929198"/>
              <a:chExt cx="1487498" cy="642942"/>
            </a:xfrm>
          </p:grpSpPr>
          <p:sp>
            <p:nvSpPr>
              <p:cNvPr id="25" name="圆角矩形标注 24"/>
              <p:cNvSpPr/>
              <p:nvPr/>
            </p:nvSpPr>
            <p:spPr>
              <a:xfrm>
                <a:off x="285719" y="4929198"/>
                <a:ext cx="1428760" cy="642941"/>
              </a:xfrm>
              <a:prstGeom prst="wedgeRoundRectCallout">
                <a:avLst>
                  <a:gd name="adj1" fmla="val 82277"/>
                  <a:gd name="adj2" fmla="val 15093"/>
                  <a:gd name="adj3" fmla="val 16667"/>
                </a:avLst>
              </a:prstGeom>
              <a:solidFill>
                <a:srgbClr val="0000FF"/>
              </a:solidFill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34852" name="矩形 23"/>
              <p:cNvSpPr>
                <a:spLocks noChangeArrowheads="1"/>
              </p:cNvSpPr>
              <p:nvPr/>
            </p:nvSpPr>
            <p:spPr bwMode="auto">
              <a:xfrm>
                <a:off x="226982" y="5033974"/>
                <a:ext cx="1475084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000" b="1">
                    <a:solidFill>
                      <a:srgbClr val="FFFF00"/>
                    </a:solidFill>
                    <a:latin typeface="宋体" panose="02010600030101010101" pitchFamily="2" charset="-122"/>
                  </a:rPr>
                  <a:t>译码输入端</a:t>
                </a:r>
                <a:endParaRPr lang="zh-CN" altLang="en-US" sz="2000">
                  <a:solidFill>
                    <a:srgbClr val="FFFF00"/>
                  </a:solidFill>
                </a:endParaRPr>
              </a:p>
            </p:txBody>
          </p:sp>
        </p:grpSp>
      </p:grpSp>
      <p:grpSp>
        <p:nvGrpSpPr>
          <p:cNvPr id="5" name="组合 69"/>
          <p:cNvGrpSpPr/>
          <p:nvPr/>
        </p:nvGrpSpPr>
        <p:grpSpPr bwMode="auto">
          <a:xfrm>
            <a:off x="6572250" y="857250"/>
            <a:ext cx="2533650" cy="5357813"/>
            <a:chOff x="6572264" y="857232"/>
            <a:chExt cx="2533687" cy="5357850"/>
          </a:xfrm>
        </p:grpSpPr>
        <p:sp>
          <p:nvSpPr>
            <p:cNvPr id="22" name="椭圆 21"/>
            <p:cNvSpPr/>
            <p:nvPr/>
          </p:nvSpPr>
          <p:spPr>
            <a:xfrm>
              <a:off x="6572264" y="857232"/>
              <a:ext cx="642947" cy="5357850"/>
            </a:xfrm>
            <a:prstGeom prst="ellipse">
              <a:avLst/>
            </a:prstGeom>
            <a:noFill/>
            <a:ln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34846" name="组合 68"/>
            <p:cNvGrpSpPr/>
            <p:nvPr/>
          </p:nvGrpSpPr>
          <p:grpSpPr bwMode="auto">
            <a:xfrm>
              <a:off x="7358082" y="2071678"/>
              <a:ext cx="1747869" cy="785817"/>
              <a:chOff x="7358082" y="2071678"/>
              <a:chExt cx="1747869" cy="785817"/>
            </a:xfrm>
          </p:grpSpPr>
          <p:sp>
            <p:nvSpPr>
              <p:cNvPr id="28" name="圆角矩形标注 27"/>
              <p:cNvSpPr/>
              <p:nvPr/>
            </p:nvSpPr>
            <p:spPr>
              <a:xfrm>
                <a:off x="7358088" y="2071678"/>
                <a:ext cx="1643086" cy="785817"/>
              </a:xfrm>
              <a:prstGeom prst="wedgeRoundRectCallout">
                <a:avLst>
                  <a:gd name="adj1" fmla="val -59403"/>
                  <a:gd name="adj2" fmla="val 171321"/>
                  <a:gd name="adj3" fmla="val 16667"/>
                </a:avLst>
              </a:prstGeom>
              <a:solidFill>
                <a:srgbClr val="0000FF"/>
              </a:solidFill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34848" name="矩形 28"/>
              <p:cNvSpPr>
                <a:spLocks noChangeArrowheads="1"/>
              </p:cNvSpPr>
              <p:nvPr/>
            </p:nvSpPr>
            <p:spPr bwMode="auto">
              <a:xfrm>
                <a:off x="7358102" y="2084378"/>
                <a:ext cx="1747849" cy="7078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000" b="1">
                    <a:solidFill>
                      <a:srgbClr val="FFFF00"/>
                    </a:solidFill>
                    <a:latin typeface="宋体" panose="02010600030101010101" pitchFamily="2" charset="-122"/>
                  </a:rPr>
                  <a:t>译码输出端，</a:t>
                </a:r>
                <a:endParaRPr lang="en-US" altLang="zh-CN" sz="2000" b="1">
                  <a:solidFill>
                    <a:srgbClr val="FFFF00"/>
                  </a:solidFill>
                  <a:latin typeface="宋体" panose="02010600030101010101" pitchFamily="2" charset="-122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000" b="1">
                    <a:solidFill>
                      <a:srgbClr val="FFFF00"/>
                    </a:solidFill>
                    <a:latin typeface="宋体" panose="02010600030101010101" pitchFamily="2" charset="-122"/>
                  </a:rPr>
                  <a:t>低电平有效</a:t>
                </a:r>
                <a:endParaRPr lang="zh-CN" altLang="en-US" sz="2000">
                  <a:solidFill>
                    <a:srgbClr val="FFFF00"/>
                  </a:solidFill>
                </a:endParaRPr>
              </a:p>
            </p:txBody>
          </p:sp>
        </p:grpSp>
      </p:grpSp>
      <p:grpSp>
        <p:nvGrpSpPr>
          <p:cNvPr id="7" name="组合 48"/>
          <p:cNvGrpSpPr/>
          <p:nvPr/>
        </p:nvGrpSpPr>
        <p:grpSpPr bwMode="auto">
          <a:xfrm>
            <a:off x="527050" y="571500"/>
            <a:ext cx="4616450" cy="2643188"/>
            <a:chOff x="527328" y="571480"/>
            <a:chExt cx="4616176" cy="2643206"/>
          </a:xfrm>
        </p:grpSpPr>
        <p:sp>
          <p:nvSpPr>
            <p:cNvPr id="50" name="椭圆 49"/>
            <p:cNvSpPr/>
            <p:nvPr/>
          </p:nvSpPr>
          <p:spPr>
            <a:xfrm>
              <a:off x="1571841" y="1928802"/>
              <a:ext cx="714333" cy="1285884"/>
            </a:xfrm>
            <a:prstGeom prst="ellipse">
              <a:avLst/>
            </a:prstGeom>
            <a:noFill/>
            <a:ln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1" name="圆角矩形标注 50"/>
            <p:cNvSpPr/>
            <p:nvPr/>
          </p:nvSpPr>
          <p:spPr>
            <a:xfrm>
              <a:off x="527328" y="571480"/>
              <a:ext cx="4616176" cy="1000132"/>
            </a:xfrm>
            <a:prstGeom prst="wedgeRoundRectCallout">
              <a:avLst>
                <a:gd name="adj1" fmla="val -19082"/>
                <a:gd name="adj2" fmla="val 86062"/>
                <a:gd name="adj3" fmla="val 16667"/>
              </a:avLst>
            </a:prstGeom>
            <a:solidFill>
              <a:srgbClr val="FFFF00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4844" name="矩形 51"/>
            <p:cNvSpPr>
              <a:spLocks noChangeArrowheads="1"/>
            </p:cNvSpPr>
            <p:nvPr/>
          </p:nvSpPr>
          <p:spPr bwMode="auto">
            <a:xfrm>
              <a:off x="857224" y="634980"/>
              <a:ext cx="173316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solidFill>
                    <a:srgbClr val="FF0000"/>
                  </a:solidFill>
                  <a:latin typeface="宋体" panose="02010600030101010101" pitchFamily="2" charset="-122"/>
                </a:rPr>
                <a:t>使能控制端。</a:t>
              </a:r>
              <a:endParaRPr lang="zh-CN" altLang="en-US" sz="2000">
                <a:solidFill>
                  <a:srgbClr val="FF0000"/>
                </a:solidFill>
              </a:endParaRPr>
            </a:p>
          </p:txBody>
        </p:sp>
      </p:grpSp>
      <p:grpSp>
        <p:nvGrpSpPr>
          <p:cNvPr id="8" name="组合 52"/>
          <p:cNvGrpSpPr/>
          <p:nvPr/>
        </p:nvGrpSpPr>
        <p:grpSpPr bwMode="auto">
          <a:xfrm>
            <a:off x="715963" y="1071563"/>
            <a:ext cx="4427537" cy="428625"/>
            <a:chOff x="1949430" y="2286000"/>
            <a:chExt cx="4427175" cy="428620"/>
          </a:xfrm>
        </p:grpSpPr>
        <p:sp>
          <p:nvSpPr>
            <p:cNvPr id="34837" name="矩形 53"/>
            <p:cNvSpPr>
              <a:spLocks noChangeArrowheads="1"/>
            </p:cNvSpPr>
            <p:nvPr/>
          </p:nvSpPr>
          <p:spPr bwMode="auto">
            <a:xfrm>
              <a:off x="4643438" y="2314510"/>
              <a:ext cx="173316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latin typeface="宋体" panose="02010600030101010101" pitchFamily="2" charset="-122"/>
                </a:rPr>
                <a:t>译码器工作。</a:t>
              </a:r>
              <a:endParaRPr lang="zh-CN" altLang="en-US" sz="2000"/>
            </a:p>
          </p:txBody>
        </p:sp>
        <p:graphicFrame>
          <p:nvGraphicFramePr>
            <p:cNvPr id="34838" name="Object 22"/>
            <p:cNvGraphicFramePr>
              <a:graphicFrameLocks noChangeAspect="1"/>
            </p:cNvGraphicFramePr>
            <p:nvPr/>
          </p:nvGraphicFramePr>
          <p:xfrm>
            <a:off x="1949430" y="2357436"/>
            <a:ext cx="568278" cy="3190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14" name="公式" r:id="rId30" imgW="342900" imgH="177800" progId="Equation.3">
                    <p:embed/>
                  </p:oleObj>
                </mc:Choice>
                <mc:Fallback>
                  <p:oleObj name="公式" r:id="rId30" imgW="342900" imgH="17780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9430" y="2357436"/>
                          <a:ext cx="568278" cy="3190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9" name="Object 23"/>
            <p:cNvGraphicFramePr>
              <a:graphicFrameLocks noChangeAspect="1"/>
            </p:cNvGraphicFramePr>
            <p:nvPr/>
          </p:nvGraphicFramePr>
          <p:xfrm>
            <a:off x="3033710" y="2286000"/>
            <a:ext cx="1181100" cy="385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15" name="公式" r:id="rId32" imgW="711200" imgH="215900" progId="Equation.3">
                    <p:embed/>
                  </p:oleObj>
                </mc:Choice>
                <mc:Fallback>
                  <p:oleObj name="公式" r:id="rId32" imgW="711200" imgH="21590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3710" y="2286000"/>
                          <a:ext cx="1181100" cy="3857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40" name="矩形 56"/>
            <p:cNvSpPr>
              <a:spLocks noChangeArrowheads="1"/>
            </p:cNvSpPr>
            <p:nvPr/>
          </p:nvSpPr>
          <p:spPr bwMode="auto">
            <a:xfrm>
              <a:off x="2571736" y="2314510"/>
              <a:ext cx="44114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b="1"/>
                <a:t>且</a:t>
              </a:r>
              <a:endParaRPr lang="zh-CN" altLang="en-US" sz="2000" b="1"/>
            </a:p>
          </p:txBody>
        </p:sp>
        <p:sp>
          <p:nvSpPr>
            <p:cNvPr id="34841" name="矩形 57"/>
            <p:cNvSpPr>
              <a:spLocks noChangeArrowheads="1"/>
            </p:cNvSpPr>
            <p:nvPr/>
          </p:nvSpPr>
          <p:spPr bwMode="auto">
            <a:xfrm>
              <a:off x="4130854" y="2314510"/>
              <a:ext cx="7008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b="1"/>
                <a:t>时，</a:t>
              </a:r>
              <a:endParaRPr lang="zh-CN" altLang="en-US" sz="2000" b="1"/>
            </a:p>
          </p:txBody>
        </p:sp>
      </p:grpSp>
      <p:grpSp>
        <p:nvGrpSpPr>
          <p:cNvPr id="9" name="组合 67"/>
          <p:cNvGrpSpPr/>
          <p:nvPr/>
        </p:nvGrpSpPr>
        <p:grpSpPr bwMode="auto">
          <a:xfrm>
            <a:off x="3571875" y="1428750"/>
            <a:ext cx="2143125" cy="4216400"/>
            <a:chOff x="3571868" y="1428736"/>
            <a:chExt cx="2143140" cy="4215636"/>
          </a:xfrm>
        </p:grpSpPr>
        <p:grpSp>
          <p:nvGrpSpPr>
            <p:cNvPr id="34826" name="组合 47"/>
            <p:cNvGrpSpPr/>
            <p:nvPr/>
          </p:nvGrpSpPr>
          <p:grpSpPr bwMode="auto">
            <a:xfrm>
              <a:off x="3571868" y="1429530"/>
              <a:ext cx="1858976" cy="4214842"/>
              <a:chOff x="3571868" y="1429530"/>
              <a:chExt cx="1858976" cy="4214842"/>
            </a:xfrm>
          </p:grpSpPr>
          <p:cxnSp>
            <p:nvCxnSpPr>
              <p:cNvPr id="44" name="直接连接符 43"/>
              <p:cNvCxnSpPr/>
              <p:nvPr/>
            </p:nvCxnSpPr>
            <p:spPr>
              <a:xfrm>
                <a:off x="3571868" y="2714378"/>
                <a:ext cx="1857388" cy="3174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rot="5400000" flipH="1" flipV="1">
                <a:off x="3323819" y="3537348"/>
                <a:ext cx="4212461" cy="1588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9" name="直接连接符 58"/>
            <p:cNvCxnSpPr/>
            <p:nvPr/>
          </p:nvCxnSpPr>
          <p:spPr>
            <a:xfrm>
              <a:off x="5429256" y="1428736"/>
              <a:ext cx="285752" cy="1588"/>
            </a:xfrm>
            <a:prstGeom prst="line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>
              <a:off x="5429256" y="2069970"/>
              <a:ext cx="285752" cy="1588"/>
            </a:xfrm>
            <a:prstGeom prst="line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>
              <a:off x="5429256" y="3357200"/>
              <a:ext cx="285752" cy="1587"/>
            </a:xfrm>
            <a:prstGeom prst="line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>
              <a:off x="5429256" y="4000020"/>
              <a:ext cx="285752" cy="1588"/>
            </a:xfrm>
            <a:prstGeom prst="line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>
              <a:off x="5429256" y="4642842"/>
              <a:ext cx="285752" cy="1587"/>
            </a:xfrm>
            <a:prstGeom prst="line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>
              <a:off x="5429256" y="5355499"/>
              <a:ext cx="285752" cy="1588"/>
            </a:xfrm>
            <a:prstGeom prst="line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>
              <a:off x="5429256" y="5641198"/>
              <a:ext cx="285752" cy="1588"/>
            </a:xfrm>
            <a:prstGeom prst="line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>
              <a:off x="5429256" y="2712791"/>
              <a:ext cx="285752" cy="1587"/>
            </a:xfrm>
            <a:prstGeom prst="line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825" name="矩形 1"/>
          <p:cNvSpPr>
            <a:spLocks noChangeArrowheads="1"/>
          </p:cNvSpPr>
          <p:nvPr/>
        </p:nvSpPr>
        <p:spPr bwMode="auto">
          <a:xfrm>
            <a:off x="6156325" y="58738"/>
            <a:ext cx="28559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§4.3</a:t>
            </a:r>
            <a:r>
              <a:rPr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常用的</a:t>
            </a:r>
            <a:r>
              <a:rPr kumimoji="1"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</a:t>
            </a:r>
            <a:endParaRPr lang="zh-CN" altLang="en-US" sz="18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68"/>
          <p:cNvGrpSpPr/>
          <p:nvPr/>
        </p:nvGrpSpPr>
        <p:grpSpPr bwMode="auto">
          <a:xfrm>
            <a:off x="3557588" y="71438"/>
            <a:ext cx="5300662" cy="5495925"/>
            <a:chOff x="3629047" y="71438"/>
            <a:chExt cx="5300671" cy="5495628"/>
          </a:xfrm>
        </p:grpSpPr>
        <p:sp>
          <p:nvSpPr>
            <p:cNvPr id="35876" name="Text Box 2"/>
            <p:cNvSpPr txBox="1">
              <a:spLocks noChangeArrowheads="1"/>
            </p:cNvSpPr>
            <p:nvPr/>
          </p:nvSpPr>
          <p:spPr bwMode="auto">
            <a:xfrm>
              <a:off x="3786214" y="71438"/>
              <a:ext cx="507206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n"/>
              </a:pPr>
              <a:r>
                <a:rPr kumimoji="1" lang="zh-CN" altLang="en-US" sz="2400" b="1">
                  <a:solidFill>
                    <a:srgbClr val="FF0000"/>
                  </a:solidFill>
                  <a:latin typeface="宋体" panose="02010600030101010101" pitchFamily="2" charset="-122"/>
                </a:rPr>
                <a:t> </a:t>
              </a:r>
              <a:r>
                <a:rPr kumimoji="1" lang="en-US" altLang="zh-CN" sz="2400" b="1">
                  <a:solidFill>
                    <a:srgbClr val="FF0000"/>
                  </a:solidFill>
                  <a:latin typeface="宋体" panose="02010600030101010101" pitchFamily="2" charset="-122"/>
                </a:rPr>
                <a:t>3</a:t>
              </a:r>
              <a:r>
                <a:rPr kumimoji="1" lang="zh-CN" altLang="en-US" sz="2400" b="1">
                  <a:solidFill>
                    <a:srgbClr val="FF0000"/>
                  </a:solidFill>
                  <a:latin typeface="宋体" panose="02010600030101010101" pitchFamily="2" charset="-122"/>
                </a:rPr>
                <a:t>线－</a:t>
              </a:r>
              <a:r>
                <a:rPr kumimoji="1" lang="en-US" altLang="zh-CN" sz="2400" b="1">
                  <a:solidFill>
                    <a:srgbClr val="FF0000"/>
                  </a:solidFill>
                  <a:latin typeface="宋体" panose="02010600030101010101" pitchFamily="2" charset="-122"/>
                </a:rPr>
                <a:t>8</a:t>
              </a:r>
              <a:r>
                <a:rPr kumimoji="1" lang="zh-CN" altLang="en-US" sz="2400" b="1">
                  <a:solidFill>
                    <a:srgbClr val="FF0000"/>
                  </a:solidFill>
                  <a:latin typeface="宋体" panose="02010600030101010101" pitchFamily="2" charset="-122"/>
                </a:rPr>
                <a:t>线译码器</a:t>
              </a:r>
              <a:r>
                <a:rPr kumimoji="1" lang="en-US" altLang="zh-CN" sz="2400" b="1">
                  <a:solidFill>
                    <a:srgbClr val="FF0000"/>
                  </a:solidFill>
                  <a:latin typeface="宋体" panose="02010600030101010101" pitchFamily="2" charset="-122"/>
                </a:rPr>
                <a:t>74LS138</a:t>
              </a:r>
              <a:r>
                <a:rPr kumimoji="1" lang="zh-CN" altLang="en-US" sz="2400" b="1">
                  <a:solidFill>
                    <a:srgbClr val="FF0000"/>
                  </a:solidFill>
                  <a:latin typeface="宋体" panose="02010600030101010101" pitchFamily="2" charset="-122"/>
                </a:rPr>
                <a:t>的功能表</a:t>
              </a:r>
              <a:endParaRPr kumimoji="1" lang="zh-CN" altLang="en-US" sz="2400" b="1">
                <a:solidFill>
                  <a:srgbClr val="FF0000"/>
                </a:solidFill>
                <a:latin typeface="宋体" panose="02010600030101010101" pitchFamily="2" charset="-122"/>
              </a:endParaRPr>
            </a:p>
          </p:txBody>
        </p:sp>
        <p:pic>
          <p:nvPicPr>
            <p:cNvPr id="35877" name="Picture 10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29047" y="604541"/>
              <a:ext cx="5300671" cy="4962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5843" name="组合 267"/>
          <p:cNvGrpSpPr/>
          <p:nvPr/>
        </p:nvGrpSpPr>
        <p:grpSpPr bwMode="auto">
          <a:xfrm>
            <a:off x="420688" y="104775"/>
            <a:ext cx="2735262" cy="4038600"/>
            <a:chOff x="492250" y="104475"/>
            <a:chExt cx="2735044" cy="4038929"/>
          </a:xfrm>
        </p:grpSpPr>
        <p:sp>
          <p:nvSpPr>
            <p:cNvPr id="35865" name="矩形 1"/>
            <p:cNvSpPr>
              <a:spLocks noChangeArrowheads="1"/>
            </p:cNvSpPr>
            <p:nvPr/>
          </p:nvSpPr>
          <p:spPr bwMode="auto">
            <a:xfrm>
              <a:off x="492250" y="104475"/>
              <a:ext cx="273504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n"/>
              </a:pPr>
              <a:r>
                <a:rPr lang="zh-CN" altLang="en-US" sz="2400" b="1">
                  <a:solidFill>
                    <a:srgbClr val="0000FF"/>
                  </a:solidFill>
                  <a:latin typeface="宋体" panose="02010600030101010101" pitchFamily="2" charset="-122"/>
                </a:rPr>
                <a:t> 输出逻辑表达式</a:t>
              </a:r>
              <a:endParaRPr lang="zh-CN" altLang="en-US" sz="2400">
                <a:solidFill>
                  <a:srgbClr val="0000FF"/>
                </a:solidFill>
              </a:endParaRPr>
            </a:p>
          </p:txBody>
        </p:sp>
        <p:grpSp>
          <p:nvGrpSpPr>
            <p:cNvPr id="35866" name="Group 9"/>
            <p:cNvGrpSpPr/>
            <p:nvPr/>
          </p:nvGrpSpPr>
          <p:grpSpPr bwMode="auto">
            <a:xfrm>
              <a:off x="642910" y="604541"/>
              <a:ext cx="2428892" cy="3538863"/>
              <a:chOff x="3961" y="1536"/>
              <a:chExt cx="1799" cy="2636"/>
            </a:xfrm>
          </p:grpSpPr>
          <p:graphicFrame>
            <p:nvGraphicFramePr>
              <p:cNvPr id="35867" name="Object 2"/>
              <p:cNvGraphicFramePr>
                <a:graphicFrameLocks noChangeAspect="1"/>
              </p:cNvGraphicFramePr>
              <p:nvPr/>
            </p:nvGraphicFramePr>
            <p:xfrm>
              <a:off x="4186" y="1536"/>
              <a:ext cx="1566" cy="3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896" name="公式" r:id="rId2" imgW="1333500" imgH="304800" progId="Equation.3">
                      <p:embed/>
                    </p:oleObj>
                  </mc:Choice>
                  <mc:Fallback>
                    <p:oleObj name="公式" r:id="rId2" imgW="1333500" imgH="304800" progId="Equation.3">
                      <p:embed/>
                      <p:pic>
                        <p:nvPicPr>
                          <p:cNvPr id="0" name="Object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86" y="1536"/>
                            <a:ext cx="1566" cy="3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868" name="Object 3"/>
              <p:cNvGraphicFramePr>
                <a:graphicFrameLocks noChangeAspect="1"/>
              </p:cNvGraphicFramePr>
              <p:nvPr/>
            </p:nvGraphicFramePr>
            <p:xfrm>
              <a:off x="4193" y="1860"/>
              <a:ext cx="1552" cy="3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897" name="公式" r:id="rId4" imgW="1282700" imgH="304800" progId="Equation.3">
                      <p:embed/>
                    </p:oleObj>
                  </mc:Choice>
                  <mc:Fallback>
                    <p:oleObj name="公式" r:id="rId4" imgW="1282700" imgH="304800" progId="Equation.3">
                      <p:embed/>
                      <p:pic>
                        <p:nvPicPr>
                          <p:cNvPr id="0" name="Object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93" y="1860"/>
                            <a:ext cx="1552" cy="36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869" name="Object 4"/>
              <p:cNvGraphicFramePr>
                <a:graphicFrameLocks noChangeAspect="1"/>
              </p:cNvGraphicFramePr>
              <p:nvPr/>
            </p:nvGraphicFramePr>
            <p:xfrm>
              <a:off x="4179" y="2177"/>
              <a:ext cx="1581" cy="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898" name="公式" r:id="rId6" imgW="1320165" imgH="304800" progId="Equation.3">
                      <p:embed/>
                    </p:oleObj>
                  </mc:Choice>
                  <mc:Fallback>
                    <p:oleObj name="公式" r:id="rId6" imgW="1320165" imgH="304800" progId="Equation.3">
                      <p:embed/>
                      <p:pic>
                        <p:nvPicPr>
                          <p:cNvPr id="0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79" y="2177"/>
                            <a:ext cx="1581" cy="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870" name="Object 5"/>
              <p:cNvGraphicFramePr>
                <a:graphicFrameLocks noChangeAspect="1"/>
              </p:cNvGraphicFramePr>
              <p:nvPr/>
            </p:nvGraphicFramePr>
            <p:xfrm>
              <a:off x="4187" y="2496"/>
              <a:ext cx="1517" cy="3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899" name="公式" r:id="rId8" imgW="1294765" imgH="304800" progId="Equation.3">
                      <p:embed/>
                    </p:oleObj>
                  </mc:Choice>
                  <mc:Fallback>
                    <p:oleObj name="公式" r:id="rId8" imgW="1294765" imgH="304800" progId="Equation.3">
                      <p:embed/>
                      <p:pic>
                        <p:nvPicPr>
                          <p:cNvPr id="0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87" y="2496"/>
                            <a:ext cx="1517" cy="3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871" name="Object 6"/>
              <p:cNvGraphicFramePr>
                <a:graphicFrameLocks noChangeAspect="1"/>
              </p:cNvGraphicFramePr>
              <p:nvPr/>
            </p:nvGraphicFramePr>
            <p:xfrm>
              <a:off x="4194" y="2833"/>
              <a:ext cx="1532" cy="3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900" name="公式" r:id="rId10" imgW="1333500" imgH="304800" progId="Equation.3">
                      <p:embed/>
                    </p:oleObj>
                  </mc:Choice>
                  <mc:Fallback>
                    <p:oleObj name="公式" r:id="rId10" imgW="1333500" imgH="304800" progId="Equation.3">
                      <p:embed/>
                      <p:pic>
                        <p:nvPicPr>
                          <p:cNvPr id="0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94" y="2833"/>
                            <a:ext cx="1532" cy="3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872" name="Object 7"/>
              <p:cNvGraphicFramePr>
                <a:graphicFrameLocks noChangeAspect="1"/>
              </p:cNvGraphicFramePr>
              <p:nvPr/>
            </p:nvGraphicFramePr>
            <p:xfrm>
              <a:off x="4194" y="3159"/>
              <a:ext cx="1503" cy="3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901" name="公式" r:id="rId12" imgW="1307465" imgH="304800" progId="Equation.3">
                      <p:embed/>
                    </p:oleObj>
                  </mc:Choice>
                  <mc:Fallback>
                    <p:oleObj name="公式" r:id="rId12" imgW="1307465" imgH="304800" progId="Equation.3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94" y="3159"/>
                            <a:ext cx="1503" cy="3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873" name="Object 8"/>
              <p:cNvGraphicFramePr>
                <a:graphicFrameLocks noChangeAspect="1"/>
              </p:cNvGraphicFramePr>
              <p:nvPr/>
            </p:nvGraphicFramePr>
            <p:xfrm>
              <a:off x="4186" y="3494"/>
              <a:ext cx="1518" cy="3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902" name="公式" r:id="rId14" imgW="1320165" imgH="304800" progId="Equation.3">
                      <p:embed/>
                    </p:oleObj>
                  </mc:Choice>
                  <mc:Fallback>
                    <p:oleObj name="公式" r:id="rId14" imgW="1320165" imgH="304800" progId="Equation.3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86" y="3494"/>
                            <a:ext cx="1518" cy="3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874" name="Object 9"/>
              <p:cNvGraphicFramePr>
                <a:graphicFrameLocks noChangeAspect="1"/>
              </p:cNvGraphicFramePr>
              <p:nvPr/>
            </p:nvGraphicFramePr>
            <p:xfrm>
              <a:off x="4186" y="3838"/>
              <a:ext cx="1567" cy="3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903" name="公式" r:id="rId16" imgW="1308100" imgH="279400" progId="Equation.3">
                      <p:embed/>
                    </p:oleObj>
                  </mc:Choice>
                  <mc:Fallback>
                    <p:oleObj name="公式" r:id="rId16" imgW="1308100" imgH="279400" progId="Equation.3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86" y="3838"/>
                            <a:ext cx="1567" cy="33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5875" name="AutoShape 18"/>
              <p:cNvSpPr/>
              <p:nvPr/>
            </p:nvSpPr>
            <p:spPr bwMode="auto">
              <a:xfrm>
                <a:off x="3961" y="1694"/>
                <a:ext cx="192" cy="2352"/>
              </a:xfrm>
              <a:prstGeom prst="leftBrace">
                <a:avLst>
                  <a:gd name="adj1" fmla="val 102083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/>
              </a:p>
            </p:txBody>
          </p:sp>
        </p:grpSp>
      </p:grpSp>
      <p:pic>
        <p:nvPicPr>
          <p:cNvPr id="267" name="Picture 21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" y="4143375"/>
            <a:ext cx="2581275" cy="264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组合 276"/>
          <p:cNvGrpSpPr/>
          <p:nvPr/>
        </p:nvGrpSpPr>
        <p:grpSpPr bwMode="auto">
          <a:xfrm>
            <a:off x="357188" y="571500"/>
            <a:ext cx="7715250" cy="4500563"/>
            <a:chOff x="428596" y="571480"/>
            <a:chExt cx="7715329" cy="4500594"/>
          </a:xfrm>
        </p:grpSpPr>
        <p:grpSp>
          <p:nvGrpSpPr>
            <p:cNvPr id="35858" name="组合 274"/>
            <p:cNvGrpSpPr/>
            <p:nvPr/>
          </p:nvGrpSpPr>
          <p:grpSpPr bwMode="auto">
            <a:xfrm>
              <a:off x="428596" y="571480"/>
              <a:ext cx="7715329" cy="4500594"/>
              <a:chOff x="428596" y="571480"/>
              <a:chExt cx="7715329" cy="4500594"/>
            </a:xfrm>
          </p:grpSpPr>
          <p:sp>
            <p:nvSpPr>
              <p:cNvPr id="270" name="圆角矩形标注 269"/>
              <p:cNvSpPr/>
              <p:nvPr/>
            </p:nvSpPr>
            <p:spPr>
              <a:xfrm>
                <a:off x="428596" y="571480"/>
                <a:ext cx="2857529" cy="3643338"/>
              </a:xfrm>
              <a:prstGeom prst="wedgeRoundRectCallout">
                <a:avLst>
                  <a:gd name="adj1" fmla="val 84500"/>
                  <a:gd name="adj2" fmla="val 40191"/>
                  <a:gd name="adj3" fmla="val 16667"/>
                </a:avLst>
              </a:prstGeom>
              <a:noFill/>
              <a:ln>
                <a:solidFill>
                  <a:srgbClr val="FF33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grpSp>
            <p:nvGrpSpPr>
              <p:cNvPr id="35861" name="组合 270"/>
              <p:cNvGrpSpPr/>
              <p:nvPr/>
            </p:nvGrpSpPr>
            <p:grpSpPr bwMode="auto">
              <a:xfrm>
                <a:off x="4286248" y="3286124"/>
                <a:ext cx="3857677" cy="1785950"/>
                <a:chOff x="3428992" y="1928802"/>
                <a:chExt cx="3857677" cy="1785950"/>
              </a:xfrm>
            </p:grpSpPr>
            <p:sp>
              <p:nvSpPr>
                <p:cNvPr id="272" name="矩形 271"/>
                <p:cNvSpPr/>
                <p:nvPr/>
              </p:nvSpPr>
              <p:spPr>
                <a:xfrm>
                  <a:off x="3429004" y="1928802"/>
                  <a:ext cx="3857665" cy="178595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sp>
              <p:nvSpPr>
                <p:cNvPr id="35863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3500454" y="1989138"/>
                  <a:ext cx="3786215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zh-CN" altLang="en-US" sz="2400" b="1">
                      <a:solidFill>
                        <a:srgbClr val="FF0000"/>
                      </a:solidFill>
                    </a:rPr>
                    <a:t>每个输出对应一个最小项，</a:t>
                  </a:r>
                  <a:endParaRPr lang="zh-CN" altLang="en-US" sz="2400" b="1">
                    <a:solidFill>
                      <a:srgbClr val="FF0000"/>
                    </a:solidFill>
                  </a:endParaRPr>
                </a:p>
              </p:txBody>
            </p:sp>
            <p:graphicFrame>
              <p:nvGraphicFramePr>
                <p:cNvPr id="35864" name="Object 11"/>
                <p:cNvGraphicFramePr>
                  <a:graphicFrameLocks noChangeAspect="1"/>
                </p:cNvGraphicFramePr>
                <p:nvPr/>
              </p:nvGraphicFramePr>
              <p:xfrm>
                <a:off x="4357686" y="2959101"/>
                <a:ext cx="1349375" cy="6127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5904" name="公式" r:id="rId19" imgW="463550" imgH="113030" progId="Equation.3">
                        <p:embed/>
                      </p:oleObj>
                    </mc:Choice>
                    <mc:Fallback>
                      <p:oleObj name="公式" r:id="rId19" imgW="463550" imgH="113030" progId="Equation.3">
                        <p:embed/>
                        <p:pic>
                          <p:nvPicPr>
                            <p:cNvPr id="0" name="Object 1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357686" y="2959101"/>
                              <a:ext cx="1349375" cy="61277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sp>
          <p:nvSpPr>
            <p:cNvPr id="35859" name="Text Box 19"/>
            <p:cNvSpPr txBox="1">
              <a:spLocks noChangeArrowheads="1"/>
            </p:cNvSpPr>
            <p:nvPr/>
          </p:nvSpPr>
          <p:spPr bwMode="auto">
            <a:xfrm>
              <a:off x="4357709" y="3786190"/>
              <a:ext cx="364333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>
                  <a:solidFill>
                    <a:srgbClr val="FF0000"/>
                  </a:solidFill>
                </a:rPr>
                <a:t>并以反变量的形式输出。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</p:grpSp>
      <p:sp>
        <p:nvSpPr>
          <p:cNvPr id="278" name="圆角矩形 277"/>
          <p:cNvSpPr/>
          <p:nvPr/>
        </p:nvSpPr>
        <p:spPr>
          <a:xfrm>
            <a:off x="3643313" y="1643063"/>
            <a:ext cx="857250" cy="78581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8" name="组合 286"/>
          <p:cNvGrpSpPr/>
          <p:nvPr/>
        </p:nvGrpSpPr>
        <p:grpSpPr bwMode="auto">
          <a:xfrm>
            <a:off x="4567238" y="1071563"/>
            <a:ext cx="4219575" cy="1357312"/>
            <a:chOff x="4639281" y="1071546"/>
            <a:chExt cx="4218999" cy="1357322"/>
          </a:xfrm>
        </p:grpSpPr>
        <p:sp>
          <p:nvSpPr>
            <p:cNvPr id="279" name="圆角矩形 278"/>
            <p:cNvSpPr/>
            <p:nvPr/>
          </p:nvSpPr>
          <p:spPr>
            <a:xfrm>
              <a:off x="5858315" y="1643050"/>
              <a:ext cx="2999965" cy="785818"/>
            </a:xfrm>
            <a:prstGeom prst="round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83" name="矩形 282"/>
            <p:cNvSpPr/>
            <p:nvPr/>
          </p:nvSpPr>
          <p:spPr>
            <a:xfrm>
              <a:off x="4644042" y="1071546"/>
              <a:ext cx="1214272" cy="135732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35855" name="组合 283"/>
            <p:cNvGrpSpPr/>
            <p:nvPr/>
          </p:nvGrpSpPr>
          <p:grpSpPr bwMode="auto">
            <a:xfrm>
              <a:off x="4639281" y="1428736"/>
              <a:ext cx="1218603" cy="714380"/>
              <a:chOff x="4639281" y="1428736"/>
              <a:chExt cx="1218603" cy="714380"/>
            </a:xfrm>
          </p:grpSpPr>
          <p:sp>
            <p:nvSpPr>
              <p:cNvPr id="285" name="右箭头 284"/>
              <p:cNvSpPr/>
              <p:nvPr/>
            </p:nvSpPr>
            <p:spPr>
              <a:xfrm>
                <a:off x="4710708" y="1785927"/>
                <a:ext cx="1142844" cy="357189"/>
              </a:xfrm>
              <a:prstGeom prst="rightArrow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35857" name="矩形 285"/>
              <p:cNvSpPr>
                <a:spLocks noChangeArrowheads="1"/>
              </p:cNvSpPr>
              <p:nvPr/>
            </p:nvSpPr>
            <p:spPr bwMode="auto">
              <a:xfrm>
                <a:off x="4639281" y="1428736"/>
                <a:ext cx="1218603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1600" b="1">
                    <a:solidFill>
                      <a:srgbClr val="FF0000"/>
                    </a:solidFill>
                    <a:latin typeface="宋体" panose="02010600030101010101" pitchFamily="2" charset="-122"/>
                  </a:rPr>
                  <a:t>使能端无效</a:t>
                </a:r>
                <a:endParaRPr lang="zh-CN" altLang="en-US" sz="1600">
                  <a:solidFill>
                    <a:srgbClr val="FF0000"/>
                  </a:solidFill>
                </a:endParaRPr>
              </a:p>
            </p:txBody>
          </p:sp>
        </p:grpSp>
      </p:grpSp>
      <p:grpSp>
        <p:nvGrpSpPr>
          <p:cNvPr id="10" name="组合 290"/>
          <p:cNvGrpSpPr/>
          <p:nvPr/>
        </p:nvGrpSpPr>
        <p:grpSpPr bwMode="auto">
          <a:xfrm>
            <a:off x="4000500" y="3822700"/>
            <a:ext cx="5392738" cy="1035050"/>
            <a:chOff x="4071934" y="3823441"/>
            <a:chExt cx="5392350" cy="1034319"/>
          </a:xfrm>
        </p:grpSpPr>
        <p:sp>
          <p:nvSpPr>
            <p:cNvPr id="288" name="圆角矩形 287"/>
            <p:cNvSpPr/>
            <p:nvPr/>
          </p:nvSpPr>
          <p:spPr>
            <a:xfrm rot="18856129">
              <a:off x="7215071" y="1931164"/>
              <a:ext cx="356936" cy="414149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89" name="圆角矩形标注 288"/>
            <p:cNvSpPr/>
            <p:nvPr/>
          </p:nvSpPr>
          <p:spPr>
            <a:xfrm>
              <a:off x="4071934" y="4215277"/>
              <a:ext cx="2428700" cy="642483"/>
            </a:xfrm>
            <a:prstGeom prst="wedgeRoundRectCallout">
              <a:avLst>
                <a:gd name="adj1" fmla="val 58243"/>
                <a:gd name="adj2" fmla="val -142751"/>
                <a:gd name="adj3" fmla="val 16667"/>
              </a:avLst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5852" name="矩形 289"/>
            <p:cNvSpPr>
              <a:spLocks noChangeArrowheads="1"/>
            </p:cNvSpPr>
            <p:nvPr/>
          </p:nvSpPr>
          <p:spPr bwMode="auto">
            <a:xfrm>
              <a:off x="4143372" y="4314774"/>
              <a:ext cx="235745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solidFill>
                    <a:srgbClr val="FFFF00"/>
                  </a:solidFill>
                  <a:latin typeface="宋体" panose="02010600030101010101" pitchFamily="2" charset="-122"/>
                </a:rPr>
                <a:t>输出端低电平有效</a:t>
              </a:r>
              <a:endParaRPr lang="zh-CN" altLang="en-US" sz="2000">
                <a:solidFill>
                  <a:srgbClr val="FFFF00"/>
                </a:solidFill>
              </a:endParaRPr>
            </a:p>
          </p:txBody>
        </p:sp>
      </p:grpSp>
      <p:sp>
        <p:nvSpPr>
          <p:cNvPr id="35849" name="矩形 1"/>
          <p:cNvSpPr>
            <a:spLocks noChangeArrowheads="1"/>
          </p:cNvSpPr>
          <p:nvPr/>
        </p:nvSpPr>
        <p:spPr bwMode="auto">
          <a:xfrm>
            <a:off x="6156325" y="6372225"/>
            <a:ext cx="2855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§4.3</a:t>
            </a:r>
            <a:r>
              <a:rPr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常用的</a:t>
            </a:r>
            <a:r>
              <a:rPr kumimoji="1"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</a:t>
            </a:r>
            <a:endParaRPr lang="zh-CN" altLang="en-US" sz="18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2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" grpId="0" animBg="1"/>
      <p:bldP spid="278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66" name="组合 6"/>
          <p:cNvGrpSpPr/>
          <p:nvPr/>
        </p:nvGrpSpPr>
        <p:grpSpPr bwMode="auto">
          <a:xfrm>
            <a:off x="273050" y="142875"/>
            <a:ext cx="8442325" cy="1200150"/>
            <a:chOff x="129475" y="142852"/>
            <a:chExt cx="8443027" cy="1200150"/>
          </a:xfrm>
        </p:grpSpPr>
        <p:grpSp>
          <p:nvGrpSpPr>
            <p:cNvPr id="36940" name="Group 8"/>
            <p:cNvGrpSpPr/>
            <p:nvPr/>
          </p:nvGrpSpPr>
          <p:grpSpPr bwMode="auto">
            <a:xfrm>
              <a:off x="825502" y="142852"/>
              <a:ext cx="7747000" cy="1200150"/>
              <a:chOff x="520" y="436"/>
              <a:chExt cx="4880" cy="756"/>
            </a:xfrm>
          </p:grpSpPr>
          <p:sp>
            <p:nvSpPr>
              <p:cNvPr id="36942" name="Text Box 2"/>
              <p:cNvSpPr txBox="1">
                <a:spLocks noChangeArrowheads="1"/>
              </p:cNvSpPr>
              <p:nvPr/>
            </p:nvSpPr>
            <p:spPr bwMode="auto">
              <a:xfrm>
                <a:off x="520" y="436"/>
                <a:ext cx="4880" cy="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试用两片</a:t>
                </a:r>
                <a:r>
                  <a:rPr kumimoji="1"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线－</a:t>
                </a:r>
                <a:r>
                  <a:rPr kumimoji="1"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线译码器</a:t>
                </a:r>
                <a:r>
                  <a:rPr kumimoji="1"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74LS138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组成</a:t>
                </a:r>
                <a:r>
                  <a:rPr kumimoji="1"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线－</a:t>
                </a:r>
                <a:r>
                  <a:rPr kumimoji="1"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线译码器，将输入的</a:t>
                </a:r>
                <a:r>
                  <a:rPr kumimoji="1"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位二进制代码</a:t>
                </a:r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CN" sz="2400" b="1" baseline="-25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CN" sz="2400" b="1" baseline="-25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CN" sz="2400" b="1" baseline="-25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CN" sz="2400" b="1" baseline="-25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译成</a:t>
                </a:r>
                <a:r>
                  <a:rPr kumimoji="1"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个独立的低电平信号</a:t>
                </a:r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kumimoji="1" lang="en-US" altLang="zh-CN" sz="2400" b="1" baseline="-25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kumimoji="1" lang="zh-CN" altLang="en-US" sz="2400" b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～</a:t>
                </a:r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kumimoji="1" lang="en-US" altLang="zh-CN" sz="2400" b="1" baseline="-25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15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943" name="Line 3"/>
              <p:cNvSpPr>
                <a:spLocks noChangeShapeType="1"/>
              </p:cNvSpPr>
              <p:nvPr/>
            </p:nvSpPr>
            <p:spPr bwMode="auto">
              <a:xfrm>
                <a:off x="1162" y="967"/>
                <a:ext cx="192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944" name="Line 4"/>
              <p:cNvSpPr>
                <a:spLocks noChangeShapeType="1"/>
              </p:cNvSpPr>
              <p:nvPr/>
            </p:nvSpPr>
            <p:spPr bwMode="auto">
              <a:xfrm>
                <a:off x="1530" y="967"/>
                <a:ext cx="192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6941" name="矩形 5"/>
            <p:cNvSpPr>
              <a:spLocks noChangeArrowheads="1"/>
            </p:cNvSpPr>
            <p:nvPr/>
          </p:nvSpPr>
          <p:spPr bwMode="auto">
            <a:xfrm>
              <a:off x="129475" y="142852"/>
              <a:ext cx="94206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n"/>
              </a:pP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例：</a:t>
              </a:r>
              <a:endParaRPr lang="zh-CN" altLang="en-US" sz="2400">
                <a:solidFill>
                  <a:srgbClr val="0000FF"/>
                </a:solidFill>
              </a:endParaRPr>
            </a:p>
          </p:txBody>
        </p:sp>
      </p:grp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3449638"/>
            <a:ext cx="6396038" cy="297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/>
          <p:nvPr/>
        </p:nvSpPr>
        <p:spPr>
          <a:xfrm>
            <a:off x="1428750" y="5715000"/>
            <a:ext cx="6572250" cy="7858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4" name="组合 73"/>
          <p:cNvGrpSpPr/>
          <p:nvPr/>
        </p:nvGrpSpPr>
        <p:grpSpPr bwMode="auto">
          <a:xfrm>
            <a:off x="758825" y="2100263"/>
            <a:ext cx="5151438" cy="1400175"/>
            <a:chOff x="758840" y="2100196"/>
            <a:chExt cx="5151194" cy="1401024"/>
          </a:xfrm>
        </p:grpSpPr>
        <p:cxnSp>
          <p:nvCxnSpPr>
            <p:cNvPr id="21" name="直接连接符 20"/>
            <p:cNvCxnSpPr/>
            <p:nvPr/>
          </p:nvCxnSpPr>
          <p:spPr bwMode="auto">
            <a:xfrm>
              <a:off x="1239830" y="2643450"/>
              <a:ext cx="4308271" cy="1588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 bwMode="auto">
            <a:xfrm>
              <a:off x="1239830" y="3000854"/>
              <a:ext cx="3951100" cy="1589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 bwMode="auto">
            <a:xfrm rot="5400000">
              <a:off x="4951859" y="3251037"/>
              <a:ext cx="500366" cy="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 bwMode="auto">
            <a:xfrm rot="16200000" flipH="1">
              <a:off x="1418251" y="3251037"/>
              <a:ext cx="500366" cy="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 bwMode="auto">
            <a:xfrm rot="5400000">
              <a:off x="5117628" y="3072335"/>
              <a:ext cx="857770" cy="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 bwMode="auto">
            <a:xfrm rot="5400000">
              <a:off x="1610213" y="3071541"/>
              <a:ext cx="857770" cy="1588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 bwMode="auto">
            <a:xfrm rot="16200000" flipH="1">
              <a:off x="1787888" y="2893633"/>
              <a:ext cx="1215174" cy="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 bwMode="auto">
            <a:xfrm>
              <a:off x="1252530" y="2286046"/>
              <a:ext cx="4657504" cy="1589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 bwMode="auto">
            <a:xfrm rot="5400000">
              <a:off x="5296097" y="2893633"/>
              <a:ext cx="1215174" cy="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椭圆 57"/>
            <p:cNvSpPr/>
            <p:nvPr/>
          </p:nvSpPr>
          <p:spPr>
            <a:xfrm>
              <a:off x="2349440" y="2252688"/>
              <a:ext cx="71435" cy="7148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2000206" y="2605327"/>
              <a:ext cx="71435" cy="7148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630337" y="2954789"/>
              <a:ext cx="71434" cy="7148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6937" name="矩形 66"/>
            <p:cNvSpPr>
              <a:spLocks noChangeArrowheads="1"/>
            </p:cNvSpPr>
            <p:nvPr/>
          </p:nvSpPr>
          <p:spPr bwMode="auto">
            <a:xfrm>
              <a:off x="758840" y="2100196"/>
              <a:ext cx="45557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000" b="1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000"/>
            </a:p>
          </p:txBody>
        </p:sp>
        <p:sp>
          <p:nvSpPr>
            <p:cNvPr id="36938" name="矩形 67"/>
            <p:cNvSpPr>
              <a:spLocks noChangeArrowheads="1"/>
            </p:cNvSpPr>
            <p:nvPr/>
          </p:nvSpPr>
          <p:spPr bwMode="auto">
            <a:xfrm>
              <a:off x="758840" y="2457386"/>
              <a:ext cx="45557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000" b="1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000"/>
            </a:p>
          </p:txBody>
        </p:sp>
        <p:sp>
          <p:nvSpPr>
            <p:cNvPr id="36939" name="矩形 68"/>
            <p:cNvSpPr>
              <a:spLocks noChangeArrowheads="1"/>
            </p:cNvSpPr>
            <p:nvPr/>
          </p:nvSpPr>
          <p:spPr bwMode="auto">
            <a:xfrm>
              <a:off x="758840" y="2786058"/>
              <a:ext cx="45557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000" b="1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sz="2000"/>
            </a:p>
          </p:txBody>
        </p:sp>
      </p:grpSp>
      <p:grpSp>
        <p:nvGrpSpPr>
          <p:cNvPr id="5" name="组合 74"/>
          <p:cNvGrpSpPr/>
          <p:nvPr/>
        </p:nvGrpSpPr>
        <p:grpSpPr bwMode="auto">
          <a:xfrm>
            <a:off x="7116763" y="3214688"/>
            <a:ext cx="1157287" cy="287337"/>
            <a:chOff x="7116782" y="3214685"/>
            <a:chExt cx="1157294" cy="287341"/>
          </a:xfrm>
        </p:grpSpPr>
        <p:cxnSp>
          <p:nvCxnSpPr>
            <p:cNvPr id="76" name="直接连接符 75"/>
            <p:cNvCxnSpPr/>
            <p:nvPr/>
          </p:nvCxnSpPr>
          <p:spPr bwMode="auto">
            <a:xfrm rot="5400000">
              <a:off x="7383481" y="3357562"/>
              <a:ext cx="284167" cy="1588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 bwMode="auto">
            <a:xfrm rot="5400000">
              <a:off x="6975493" y="3355974"/>
              <a:ext cx="285754" cy="3175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 bwMode="auto">
            <a:xfrm>
              <a:off x="7118369" y="3214685"/>
              <a:ext cx="1044581" cy="1587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 bwMode="auto">
            <a:xfrm rot="5400000">
              <a:off x="8014517" y="3356768"/>
              <a:ext cx="285754" cy="1588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 bwMode="auto">
            <a:xfrm>
              <a:off x="7988324" y="3500439"/>
              <a:ext cx="285752" cy="1587"/>
            </a:xfrm>
            <a:prstGeom prst="line">
              <a:avLst/>
            </a:prstGeom>
            <a:ln w="508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80"/>
          <p:cNvGrpSpPr/>
          <p:nvPr/>
        </p:nvGrpSpPr>
        <p:grpSpPr bwMode="auto">
          <a:xfrm>
            <a:off x="763588" y="1714500"/>
            <a:ext cx="5992812" cy="1787525"/>
            <a:chOff x="763076" y="1714488"/>
            <a:chExt cx="5992676" cy="1787527"/>
          </a:xfrm>
        </p:grpSpPr>
        <p:grpSp>
          <p:nvGrpSpPr>
            <p:cNvPr id="36910" name="组合 71"/>
            <p:cNvGrpSpPr/>
            <p:nvPr/>
          </p:nvGrpSpPr>
          <p:grpSpPr bwMode="auto">
            <a:xfrm>
              <a:off x="3605206" y="3181348"/>
              <a:ext cx="433952" cy="319078"/>
              <a:chOff x="3605206" y="3181348"/>
              <a:chExt cx="433952" cy="319078"/>
            </a:xfrm>
          </p:grpSpPr>
          <p:cxnSp>
            <p:nvCxnSpPr>
              <p:cNvPr id="89" name="直接连接符 88"/>
              <p:cNvCxnSpPr/>
              <p:nvPr/>
            </p:nvCxnSpPr>
            <p:spPr bwMode="auto">
              <a:xfrm>
                <a:off x="3604636" y="3214678"/>
                <a:ext cx="396866" cy="1587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89"/>
              <p:cNvCxnSpPr/>
              <p:nvPr/>
            </p:nvCxnSpPr>
            <p:spPr bwMode="auto">
              <a:xfrm rot="5400000">
                <a:off x="3475255" y="3356759"/>
                <a:ext cx="285750" cy="1587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1" name="椭圆 90"/>
              <p:cNvSpPr/>
              <p:nvPr/>
            </p:nvSpPr>
            <p:spPr>
              <a:xfrm>
                <a:off x="3968165" y="3181340"/>
                <a:ext cx="71436" cy="71438"/>
              </a:xfrm>
              <a:prstGeom prst="ellipse">
                <a:avLst/>
              </a:prstGeom>
              <a:solidFill>
                <a:srgbClr val="0000FF"/>
              </a:solidFill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36911" name="组合 70"/>
            <p:cNvGrpSpPr/>
            <p:nvPr/>
          </p:nvGrpSpPr>
          <p:grpSpPr bwMode="auto">
            <a:xfrm>
              <a:off x="763076" y="1714488"/>
              <a:ext cx="5992676" cy="1787527"/>
              <a:chOff x="763076" y="1714488"/>
              <a:chExt cx="5992676" cy="1787527"/>
            </a:xfrm>
          </p:grpSpPr>
          <p:sp>
            <p:nvSpPr>
              <p:cNvPr id="84" name="椭圆 83"/>
              <p:cNvSpPr/>
              <p:nvPr/>
            </p:nvSpPr>
            <p:spPr>
              <a:xfrm>
                <a:off x="3957054" y="1895463"/>
                <a:ext cx="73023" cy="71438"/>
              </a:xfrm>
              <a:prstGeom prst="ellipse">
                <a:avLst/>
              </a:prstGeom>
              <a:solidFill>
                <a:srgbClr val="0000FF"/>
              </a:solidFill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85" name="直接连接符 84"/>
              <p:cNvCxnSpPr/>
              <p:nvPr/>
            </p:nvCxnSpPr>
            <p:spPr bwMode="auto">
              <a:xfrm rot="5400000">
                <a:off x="3214895" y="2715408"/>
                <a:ext cx="1571627" cy="1588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/>
              <p:cNvCxnSpPr/>
              <p:nvPr/>
            </p:nvCxnSpPr>
            <p:spPr bwMode="auto">
              <a:xfrm rot="16200000" flipH="1">
                <a:off x="5966763" y="2714615"/>
                <a:ext cx="1571627" cy="0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/>
              <p:cNvCxnSpPr/>
              <p:nvPr/>
            </p:nvCxnSpPr>
            <p:spPr bwMode="auto">
              <a:xfrm>
                <a:off x="1247252" y="1928801"/>
                <a:ext cx="5508500" cy="1587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916" name="矩形 87"/>
              <p:cNvSpPr>
                <a:spLocks noChangeArrowheads="1"/>
              </p:cNvSpPr>
              <p:nvPr/>
            </p:nvSpPr>
            <p:spPr bwMode="auto">
              <a:xfrm>
                <a:off x="763076" y="1714488"/>
                <a:ext cx="455574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b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CN" sz="2000" b="1" baseline="-25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CN" altLang="en-US" sz="2000"/>
              </a:p>
            </p:txBody>
          </p:sp>
        </p:grpSp>
      </p:grpSp>
      <p:sp>
        <p:nvSpPr>
          <p:cNvPr id="92" name="矩形 91"/>
          <p:cNvSpPr>
            <a:spLocks noChangeArrowheads="1"/>
          </p:cNvSpPr>
          <p:nvPr/>
        </p:nvSpPr>
        <p:spPr bwMode="auto">
          <a:xfrm>
            <a:off x="3000375" y="3143250"/>
            <a:ext cx="5873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+5v</a:t>
            </a:r>
            <a:endParaRPr lang="zh-CN" altLang="en-US" sz="2000">
              <a:solidFill>
                <a:srgbClr val="0000FF"/>
              </a:solidFill>
            </a:endParaRPr>
          </a:p>
        </p:txBody>
      </p:sp>
      <p:grpSp>
        <p:nvGrpSpPr>
          <p:cNvPr id="11" name="组合 92"/>
          <p:cNvGrpSpPr/>
          <p:nvPr/>
        </p:nvGrpSpPr>
        <p:grpSpPr bwMode="auto">
          <a:xfrm>
            <a:off x="3357563" y="1071563"/>
            <a:ext cx="5572125" cy="2357437"/>
            <a:chOff x="2786050" y="4143380"/>
            <a:chExt cx="5572164" cy="2357454"/>
          </a:xfrm>
        </p:grpSpPr>
        <p:sp>
          <p:nvSpPr>
            <p:cNvPr id="128" name="矩形 127"/>
            <p:cNvSpPr/>
            <p:nvPr/>
          </p:nvSpPr>
          <p:spPr>
            <a:xfrm>
              <a:off x="2786050" y="4143380"/>
              <a:ext cx="5572164" cy="2357454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6875" name="Rectangle 29"/>
            <p:cNvSpPr>
              <a:spLocks noChangeArrowheads="1"/>
            </p:cNvSpPr>
            <p:nvPr/>
          </p:nvSpPr>
          <p:spPr bwMode="auto">
            <a:xfrm>
              <a:off x="3611563" y="5984876"/>
              <a:ext cx="1512887" cy="395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</a:pP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1    1    1</a:t>
              </a:r>
              <a:endPara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876" name="Rectangle 27"/>
            <p:cNvSpPr>
              <a:spLocks noChangeArrowheads="1"/>
            </p:cNvSpPr>
            <p:nvPr/>
          </p:nvSpPr>
          <p:spPr bwMode="auto">
            <a:xfrm>
              <a:off x="6635750" y="5589588"/>
              <a:ext cx="1368425" cy="790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</a:pPr>
              <a:r>
                <a: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片（</a:t>
              </a: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）</a:t>
              </a:r>
              <a:endPara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eaLnBrk="1" hangingPunct="1"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</a:pPr>
              <a:r>
                <a: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工作译码</a:t>
              </a:r>
              <a:endPara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877" name="Rectangle 26"/>
            <p:cNvSpPr>
              <a:spLocks noChangeArrowheads="1"/>
            </p:cNvSpPr>
            <p:nvPr/>
          </p:nvSpPr>
          <p:spPr bwMode="auto">
            <a:xfrm>
              <a:off x="5124450" y="5589588"/>
              <a:ext cx="1511300" cy="790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878" name="Rectangle 25"/>
            <p:cNvSpPr>
              <a:spLocks noChangeArrowheads="1"/>
            </p:cNvSpPr>
            <p:nvPr/>
          </p:nvSpPr>
          <p:spPr bwMode="auto">
            <a:xfrm>
              <a:off x="3611563" y="5589588"/>
              <a:ext cx="1512887" cy="395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</a:pP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0    0    0</a:t>
              </a:r>
              <a:endPara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879" name="Rectangle 24"/>
            <p:cNvSpPr>
              <a:spLocks noChangeArrowheads="1"/>
            </p:cNvSpPr>
            <p:nvPr/>
          </p:nvSpPr>
          <p:spPr bwMode="auto">
            <a:xfrm>
              <a:off x="2916238" y="5803902"/>
              <a:ext cx="695325" cy="411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</a:pP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880" name="Rectangle 21"/>
            <p:cNvSpPr>
              <a:spLocks noChangeArrowheads="1"/>
            </p:cNvSpPr>
            <p:nvPr/>
          </p:nvSpPr>
          <p:spPr bwMode="auto">
            <a:xfrm>
              <a:off x="3611563" y="5194301"/>
              <a:ext cx="1512887" cy="395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</a:pP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1    1    1</a:t>
              </a:r>
              <a:endPara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881" name="Rectangle 19"/>
            <p:cNvSpPr>
              <a:spLocks noChangeArrowheads="1"/>
            </p:cNvSpPr>
            <p:nvPr/>
          </p:nvSpPr>
          <p:spPr bwMode="auto">
            <a:xfrm>
              <a:off x="6635750" y="4799013"/>
              <a:ext cx="1368425" cy="790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882" name="Rectangle 18"/>
            <p:cNvSpPr>
              <a:spLocks noChangeArrowheads="1"/>
            </p:cNvSpPr>
            <p:nvPr/>
          </p:nvSpPr>
          <p:spPr bwMode="auto">
            <a:xfrm>
              <a:off x="5124450" y="4799013"/>
              <a:ext cx="1511300" cy="790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</a:pPr>
              <a:r>
                <a: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片（</a:t>
              </a: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）</a:t>
              </a:r>
              <a:endPara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eaLnBrk="1" hangingPunct="1"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</a:pPr>
              <a:r>
                <a: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工作译码</a:t>
              </a:r>
              <a:endPara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883" name="Rectangle 17"/>
            <p:cNvSpPr>
              <a:spLocks noChangeArrowheads="1"/>
            </p:cNvSpPr>
            <p:nvPr/>
          </p:nvSpPr>
          <p:spPr bwMode="auto">
            <a:xfrm>
              <a:off x="3611563" y="4799013"/>
              <a:ext cx="1512887" cy="395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</a:pP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0    0    0</a:t>
              </a:r>
              <a:endPara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884" name="Rectangle 16"/>
            <p:cNvSpPr>
              <a:spLocks noChangeArrowheads="1"/>
            </p:cNvSpPr>
            <p:nvPr/>
          </p:nvSpPr>
          <p:spPr bwMode="auto">
            <a:xfrm>
              <a:off x="2916238" y="5013327"/>
              <a:ext cx="695325" cy="415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</a:pP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885" name="Rectangle 15"/>
            <p:cNvSpPr>
              <a:spLocks noChangeArrowheads="1"/>
            </p:cNvSpPr>
            <p:nvPr/>
          </p:nvSpPr>
          <p:spPr bwMode="auto">
            <a:xfrm>
              <a:off x="6635750" y="4294188"/>
              <a:ext cx="1368425" cy="50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</a:pP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zh-CN" sz="20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r>
                <a: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～</a:t>
              </a: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zh-CN" sz="20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  <a:endParaRPr lang="en-US" altLang="zh-CN" sz="2000" b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886" name="Rectangle 14"/>
            <p:cNvSpPr>
              <a:spLocks noChangeArrowheads="1"/>
            </p:cNvSpPr>
            <p:nvPr/>
          </p:nvSpPr>
          <p:spPr bwMode="auto">
            <a:xfrm>
              <a:off x="5124450" y="4294188"/>
              <a:ext cx="1511300" cy="50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</a:pP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zh-CN" sz="20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～</a:t>
              </a: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zh-CN" sz="20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2000" b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887" name="Rectangle 13"/>
            <p:cNvSpPr>
              <a:spLocks noChangeArrowheads="1"/>
            </p:cNvSpPr>
            <p:nvPr/>
          </p:nvSpPr>
          <p:spPr bwMode="auto">
            <a:xfrm>
              <a:off x="3611563" y="4294188"/>
              <a:ext cx="1512887" cy="50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</a:pP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20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D</a:t>
              </a:r>
              <a:r>
                <a:rPr lang="en-US" altLang="zh-CN" sz="20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D</a:t>
              </a:r>
              <a:r>
                <a:rPr lang="en-US" altLang="zh-CN" sz="20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 b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888" name="Rectangle 12"/>
            <p:cNvSpPr>
              <a:spLocks noChangeArrowheads="1"/>
            </p:cNvSpPr>
            <p:nvPr/>
          </p:nvSpPr>
          <p:spPr bwMode="auto">
            <a:xfrm>
              <a:off x="2916238" y="4294188"/>
              <a:ext cx="695325" cy="50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</a:pP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20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000" b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889" name="Line 32"/>
            <p:cNvSpPr>
              <a:spLocks noChangeShapeType="1"/>
            </p:cNvSpPr>
            <p:nvPr/>
          </p:nvSpPr>
          <p:spPr bwMode="auto">
            <a:xfrm>
              <a:off x="2916238" y="4294188"/>
              <a:ext cx="50879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0" name="Line 33"/>
            <p:cNvSpPr>
              <a:spLocks noChangeShapeType="1"/>
            </p:cNvSpPr>
            <p:nvPr/>
          </p:nvSpPr>
          <p:spPr bwMode="auto">
            <a:xfrm>
              <a:off x="2916238" y="4799013"/>
              <a:ext cx="50879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1" name="Line 35"/>
            <p:cNvSpPr>
              <a:spLocks noChangeShapeType="1"/>
            </p:cNvSpPr>
            <p:nvPr/>
          </p:nvSpPr>
          <p:spPr bwMode="auto">
            <a:xfrm>
              <a:off x="2916238" y="5589588"/>
              <a:ext cx="50879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2" name="Line 37"/>
            <p:cNvSpPr>
              <a:spLocks noChangeShapeType="1"/>
            </p:cNvSpPr>
            <p:nvPr/>
          </p:nvSpPr>
          <p:spPr bwMode="auto">
            <a:xfrm>
              <a:off x="2916238" y="6380163"/>
              <a:ext cx="50879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3" name="Line 38"/>
            <p:cNvSpPr>
              <a:spLocks noChangeShapeType="1"/>
            </p:cNvSpPr>
            <p:nvPr/>
          </p:nvSpPr>
          <p:spPr bwMode="auto">
            <a:xfrm>
              <a:off x="2916238" y="4294188"/>
              <a:ext cx="0" cy="50482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4" name="Line 39"/>
            <p:cNvSpPr>
              <a:spLocks noChangeShapeType="1"/>
            </p:cNvSpPr>
            <p:nvPr/>
          </p:nvSpPr>
          <p:spPr bwMode="auto">
            <a:xfrm>
              <a:off x="3611563" y="4294188"/>
              <a:ext cx="0" cy="20859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5" name="Line 40"/>
            <p:cNvSpPr>
              <a:spLocks noChangeShapeType="1"/>
            </p:cNvSpPr>
            <p:nvPr/>
          </p:nvSpPr>
          <p:spPr bwMode="auto">
            <a:xfrm>
              <a:off x="5124450" y="4294188"/>
              <a:ext cx="0" cy="20859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6" name="Line 41"/>
            <p:cNvSpPr>
              <a:spLocks noChangeShapeType="1"/>
            </p:cNvSpPr>
            <p:nvPr/>
          </p:nvSpPr>
          <p:spPr bwMode="auto">
            <a:xfrm>
              <a:off x="6635750" y="4294188"/>
              <a:ext cx="0" cy="20859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7" name="Line 42"/>
            <p:cNvSpPr>
              <a:spLocks noChangeShapeType="1"/>
            </p:cNvSpPr>
            <p:nvPr/>
          </p:nvSpPr>
          <p:spPr bwMode="auto">
            <a:xfrm>
              <a:off x="8004175" y="4294188"/>
              <a:ext cx="0" cy="50482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8" name="Line 51"/>
            <p:cNvSpPr>
              <a:spLocks noChangeShapeType="1"/>
            </p:cNvSpPr>
            <p:nvPr/>
          </p:nvSpPr>
          <p:spPr bwMode="auto">
            <a:xfrm>
              <a:off x="3611563" y="5194301"/>
              <a:ext cx="15128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9" name="Line 53"/>
            <p:cNvSpPr>
              <a:spLocks noChangeShapeType="1"/>
            </p:cNvSpPr>
            <p:nvPr/>
          </p:nvSpPr>
          <p:spPr bwMode="auto">
            <a:xfrm>
              <a:off x="3611563" y="5984876"/>
              <a:ext cx="15128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0" name="Line 161"/>
            <p:cNvSpPr>
              <a:spLocks noChangeShapeType="1"/>
            </p:cNvSpPr>
            <p:nvPr/>
          </p:nvSpPr>
          <p:spPr bwMode="auto">
            <a:xfrm>
              <a:off x="2916238" y="4799013"/>
              <a:ext cx="0" cy="79057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1" name="Line 167"/>
            <p:cNvSpPr>
              <a:spLocks noChangeShapeType="1"/>
            </p:cNvSpPr>
            <p:nvPr/>
          </p:nvSpPr>
          <p:spPr bwMode="auto">
            <a:xfrm>
              <a:off x="8004175" y="4799013"/>
              <a:ext cx="0" cy="79057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2" name="Line 169"/>
            <p:cNvSpPr>
              <a:spLocks noChangeShapeType="1"/>
            </p:cNvSpPr>
            <p:nvPr/>
          </p:nvSpPr>
          <p:spPr bwMode="auto">
            <a:xfrm>
              <a:off x="2916238" y="5589588"/>
              <a:ext cx="0" cy="79057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3" name="Line 181"/>
            <p:cNvSpPr>
              <a:spLocks noChangeShapeType="1"/>
            </p:cNvSpPr>
            <p:nvPr/>
          </p:nvSpPr>
          <p:spPr bwMode="auto">
            <a:xfrm>
              <a:off x="8004175" y="5589588"/>
              <a:ext cx="0" cy="79057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4" name="Line 70"/>
            <p:cNvSpPr>
              <a:spLocks noChangeShapeType="1"/>
            </p:cNvSpPr>
            <p:nvPr/>
          </p:nvSpPr>
          <p:spPr bwMode="auto">
            <a:xfrm>
              <a:off x="5508625" y="4365626"/>
              <a:ext cx="215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5" name="Line 71"/>
            <p:cNvSpPr>
              <a:spLocks noChangeShapeType="1"/>
            </p:cNvSpPr>
            <p:nvPr/>
          </p:nvSpPr>
          <p:spPr bwMode="auto">
            <a:xfrm>
              <a:off x="5997575" y="4365626"/>
              <a:ext cx="215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6" name="Line 72"/>
            <p:cNvSpPr>
              <a:spLocks noChangeShapeType="1"/>
            </p:cNvSpPr>
            <p:nvPr/>
          </p:nvSpPr>
          <p:spPr bwMode="auto">
            <a:xfrm>
              <a:off x="6877050" y="4365626"/>
              <a:ext cx="215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7" name="Line 73"/>
            <p:cNvSpPr>
              <a:spLocks noChangeShapeType="1"/>
            </p:cNvSpPr>
            <p:nvPr/>
          </p:nvSpPr>
          <p:spPr bwMode="auto">
            <a:xfrm>
              <a:off x="7394575" y="4365626"/>
              <a:ext cx="215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8" name="Rectangle 18"/>
            <p:cNvSpPr>
              <a:spLocks noChangeArrowheads="1"/>
            </p:cNvSpPr>
            <p:nvPr/>
          </p:nvSpPr>
          <p:spPr bwMode="auto">
            <a:xfrm>
              <a:off x="6643702" y="4786322"/>
              <a:ext cx="1511300" cy="790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</a:pPr>
              <a:r>
                <a:rPr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片（</a:t>
              </a:r>
              <a:r>
                <a:rPr lang="en-US" altLang="zh-CN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）</a:t>
              </a:r>
              <a:endPara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eaLnBrk="1" hangingPunct="1"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</a:pPr>
              <a:r>
                <a:rPr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不工作</a:t>
              </a:r>
              <a:endParaRPr lang="zh-CN" altLang="en-US" sz="2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909" name="Rectangle 18"/>
            <p:cNvSpPr>
              <a:spLocks noChangeArrowheads="1"/>
            </p:cNvSpPr>
            <p:nvPr/>
          </p:nvSpPr>
          <p:spPr bwMode="auto">
            <a:xfrm>
              <a:off x="5143504" y="5572140"/>
              <a:ext cx="1511300" cy="790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</a:pPr>
              <a:r>
                <a:rPr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片（</a:t>
              </a:r>
              <a:r>
                <a:rPr lang="en-US" altLang="zh-CN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）</a:t>
              </a:r>
              <a:endPara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eaLnBrk="1" hangingPunct="1"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</a:pPr>
              <a:r>
                <a:rPr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不工作</a:t>
              </a:r>
              <a:endParaRPr lang="zh-CN" altLang="en-US" sz="2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9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7" name="组合 26"/>
          <p:cNvGrpSpPr/>
          <p:nvPr/>
        </p:nvGrpSpPr>
        <p:grpSpPr>
          <a:xfrm>
            <a:off x="1979613" y="1831975"/>
            <a:ext cx="6696075" cy="1309688"/>
            <a:chOff x="2007272" y="2984560"/>
            <a:chExt cx="6696744" cy="1308536"/>
          </a:xfrm>
        </p:grpSpPr>
        <p:grpSp>
          <p:nvGrpSpPr>
            <p:cNvPr id="28875" name="组合 20"/>
            <p:cNvGrpSpPr/>
            <p:nvPr/>
          </p:nvGrpSpPr>
          <p:grpSpPr>
            <a:xfrm>
              <a:off x="2007272" y="2984560"/>
              <a:ext cx="6696744" cy="1308536"/>
              <a:chOff x="2007272" y="2984560"/>
              <a:chExt cx="6696744" cy="1308536"/>
            </a:xfrm>
          </p:grpSpPr>
          <p:pic>
            <p:nvPicPr>
              <p:cNvPr id="28880" name="Picture 2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2007272" y="2984560"/>
                <a:ext cx="1619107" cy="130281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8881" name="Picture 2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3697803" y="2984560"/>
                <a:ext cx="1619107" cy="130281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8882" name="Picture 2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5391648" y="2990280"/>
                <a:ext cx="1619107" cy="130281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8883" name="Picture 2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7084909" y="2990280"/>
                <a:ext cx="1619107" cy="130281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8884" name="矩形 119"/>
              <p:cNvSpPr/>
              <p:nvPr/>
            </p:nvSpPr>
            <p:spPr>
              <a:xfrm>
                <a:off x="2825167" y="3458260"/>
                <a:ext cx="505267" cy="246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zh-CN" altLang="en-US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en-US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</a:t>
                </a:r>
                <a:endParaRPr lang="zh-CN" altLang="en-US" sz="1000" b="1" baseline="-250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885" name="矩形 119"/>
              <p:cNvSpPr/>
              <p:nvPr/>
            </p:nvSpPr>
            <p:spPr>
              <a:xfrm>
                <a:off x="4498781" y="3456181"/>
                <a:ext cx="505267" cy="246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zh-CN" altLang="en-US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</a:t>
                </a:r>
                <a:endParaRPr lang="zh-CN" altLang="en-US" sz="1000" b="1" baseline="-250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886" name="矩形 119"/>
              <p:cNvSpPr/>
              <p:nvPr/>
            </p:nvSpPr>
            <p:spPr>
              <a:xfrm>
                <a:off x="6197713" y="3465575"/>
                <a:ext cx="505267" cy="246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zh-CN" altLang="en-US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</a:t>
                </a:r>
                <a:endParaRPr lang="zh-CN" altLang="en-US" sz="1000" b="1" baseline="-250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887" name="矩形 119"/>
              <p:cNvSpPr/>
              <p:nvPr/>
            </p:nvSpPr>
            <p:spPr>
              <a:xfrm>
                <a:off x="7883157" y="3456181"/>
                <a:ext cx="505267" cy="246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zh-CN" altLang="en-US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zh-CN" altLang="en-US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</a:t>
                </a:r>
                <a:endParaRPr lang="zh-CN" altLang="en-US" sz="1000" b="1" baseline="-250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cxnSp>
          <p:nvCxnSpPr>
            <p:cNvPr id="126" name="直接连接符 125"/>
            <p:cNvCxnSpPr/>
            <p:nvPr/>
          </p:nvCxnSpPr>
          <p:spPr>
            <a:xfrm>
              <a:off x="3055127" y="3024213"/>
              <a:ext cx="0" cy="1443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/>
            <p:cNvCxnSpPr/>
            <p:nvPr/>
          </p:nvCxnSpPr>
          <p:spPr>
            <a:xfrm>
              <a:off x="4742807" y="3024213"/>
              <a:ext cx="0" cy="1443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>
              <a:off x="8140397" y="3033730"/>
              <a:ext cx="0" cy="1443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128"/>
            <p:cNvCxnSpPr/>
            <p:nvPr/>
          </p:nvCxnSpPr>
          <p:spPr>
            <a:xfrm>
              <a:off x="6444777" y="3033730"/>
              <a:ext cx="0" cy="1443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/>
        </p:nvGrpSpPr>
        <p:grpSpPr>
          <a:xfrm>
            <a:off x="368300" y="1249363"/>
            <a:ext cx="7213600" cy="601662"/>
            <a:chOff x="395536" y="2401143"/>
            <a:chExt cx="7213812" cy="601747"/>
          </a:xfrm>
        </p:grpSpPr>
        <p:grpSp>
          <p:nvGrpSpPr>
            <p:cNvPr id="28847" name="组合 1"/>
            <p:cNvGrpSpPr/>
            <p:nvPr/>
          </p:nvGrpSpPr>
          <p:grpSpPr>
            <a:xfrm>
              <a:off x="395536" y="2540780"/>
              <a:ext cx="7213812" cy="462110"/>
              <a:chOff x="395536" y="2540780"/>
              <a:chExt cx="7213812" cy="462110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697170" y="2564678"/>
                <a:ext cx="691217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>
                <a:off x="2127550" y="2853644"/>
                <a:ext cx="0" cy="14289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/>
              <p:cNvCxnSpPr/>
              <p:nvPr/>
            </p:nvCxnSpPr>
            <p:spPr>
              <a:xfrm>
                <a:off x="705108" y="2709162"/>
                <a:ext cx="669627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/>
            </p:nvCxnSpPr>
            <p:spPr>
              <a:xfrm>
                <a:off x="2329168" y="2709162"/>
                <a:ext cx="0" cy="2873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>
              <a:xfrm>
                <a:off x="2522849" y="2564678"/>
                <a:ext cx="0" cy="4318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/>
            </p:nvCxnSpPr>
            <p:spPr>
              <a:xfrm>
                <a:off x="697170" y="2853644"/>
                <a:ext cx="651688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855" name="Oval 18"/>
              <p:cNvSpPr/>
              <p:nvPr/>
            </p:nvSpPr>
            <p:spPr>
              <a:xfrm>
                <a:off x="2505390" y="2540780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856" name="Oval 18"/>
              <p:cNvSpPr/>
              <p:nvPr/>
            </p:nvSpPr>
            <p:spPr>
              <a:xfrm>
                <a:off x="2313498" y="2684796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857" name="Oval 18"/>
              <p:cNvSpPr/>
              <p:nvPr/>
            </p:nvSpPr>
            <p:spPr>
              <a:xfrm>
                <a:off x="2115288" y="2828812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cxnSp>
            <p:nvCxnSpPr>
              <p:cNvPr id="34" name="直接连接符 33"/>
              <p:cNvCxnSpPr/>
              <p:nvPr/>
            </p:nvCxnSpPr>
            <p:spPr>
              <a:xfrm>
                <a:off x="5512199" y="2858408"/>
                <a:ext cx="0" cy="14448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>
                <a:off x="5713817" y="2715513"/>
                <a:ext cx="0" cy="2873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>
                <a:off x="5907498" y="2571029"/>
                <a:ext cx="0" cy="4318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861" name="Oval 18"/>
              <p:cNvSpPr/>
              <p:nvPr/>
            </p:nvSpPr>
            <p:spPr>
              <a:xfrm>
                <a:off x="5889386" y="2546718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862" name="Oval 18"/>
              <p:cNvSpPr/>
              <p:nvPr/>
            </p:nvSpPr>
            <p:spPr>
              <a:xfrm>
                <a:off x="5697494" y="2690734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863" name="Oval 18"/>
              <p:cNvSpPr/>
              <p:nvPr/>
            </p:nvSpPr>
            <p:spPr>
              <a:xfrm>
                <a:off x="5499284" y="2834750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cxnSp>
            <p:nvCxnSpPr>
              <p:cNvPr id="40" name="直接连接符 39"/>
              <p:cNvCxnSpPr/>
              <p:nvPr/>
            </p:nvCxnSpPr>
            <p:spPr>
              <a:xfrm>
                <a:off x="3819875" y="2853644"/>
                <a:ext cx="0" cy="14289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>
                <a:off x="4021493" y="2709162"/>
                <a:ext cx="0" cy="2873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>
                <a:off x="4221523" y="2564678"/>
                <a:ext cx="0" cy="4318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867" name="Oval 18"/>
              <p:cNvSpPr/>
              <p:nvPr/>
            </p:nvSpPr>
            <p:spPr>
              <a:xfrm>
                <a:off x="4197582" y="2540780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868" name="Oval 18"/>
              <p:cNvSpPr/>
              <p:nvPr/>
            </p:nvSpPr>
            <p:spPr>
              <a:xfrm>
                <a:off x="4005690" y="2684796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869" name="Oval 18"/>
              <p:cNvSpPr/>
              <p:nvPr/>
            </p:nvSpPr>
            <p:spPr>
              <a:xfrm>
                <a:off x="3807480" y="2828812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cxnSp>
            <p:nvCxnSpPr>
              <p:cNvPr id="46" name="直接连接符 45"/>
              <p:cNvCxnSpPr/>
              <p:nvPr/>
            </p:nvCxnSpPr>
            <p:spPr>
              <a:xfrm>
                <a:off x="7204524" y="2858408"/>
                <a:ext cx="0" cy="14448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>
                <a:off x="7406142" y="2715513"/>
                <a:ext cx="0" cy="2873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>
                <a:off x="7606173" y="2571029"/>
                <a:ext cx="0" cy="4318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873" name="矩形 119"/>
              <p:cNvSpPr/>
              <p:nvPr/>
            </p:nvSpPr>
            <p:spPr>
              <a:xfrm>
                <a:off x="395536" y="2695113"/>
                <a:ext cx="373820" cy="30777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14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zh-CN" altLang="en-US" sz="1400" b="1" baseline="-250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874" name="矩形 119"/>
              <p:cNvSpPr/>
              <p:nvPr/>
            </p:nvSpPr>
            <p:spPr>
              <a:xfrm>
                <a:off x="395536" y="2545159"/>
                <a:ext cx="373820" cy="30777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14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1400" b="1" baseline="-250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sp>
          <p:nvSpPr>
            <p:cNvPr id="28848" name="矩形 119"/>
            <p:cNvSpPr/>
            <p:nvPr/>
          </p:nvSpPr>
          <p:spPr>
            <a:xfrm>
              <a:off x="395536" y="2401143"/>
              <a:ext cx="373820" cy="3077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14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1400" b="1" baseline="-250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68300" y="333375"/>
            <a:ext cx="8151813" cy="1517650"/>
            <a:chOff x="395536" y="1484784"/>
            <a:chExt cx="8151844" cy="1518462"/>
          </a:xfrm>
        </p:grpSpPr>
        <p:sp>
          <p:nvSpPr>
            <p:cNvPr id="28815" name="矩形 119"/>
            <p:cNvSpPr/>
            <p:nvPr/>
          </p:nvSpPr>
          <p:spPr>
            <a:xfrm>
              <a:off x="395536" y="1484784"/>
              <a:ext cx="373820" cy="3077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1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1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1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8816" name="矩形 119"/>
            <p:cNvSpPr/>
            <p:nvPr/>
          </p:nvSpPr>
          <p:spPr>
            <a:xfrm>
              <a:off x="395536" y="2041103"/>
              <a:ext cx="373820" cy="3077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1400" b="1" dirty="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1400" b="1" baseline="-25000" dirty="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1400" b="1" baseline="-25000" dirty="0">
                <a:solidFill>
                  <a:srgbClr val="0066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pSp>
          <p:nvGrpSpPr>
            <p:cNvPr id="28817" name="组合 23"/>
            <p:cNvGrpSpPr/>
            <p:nvPr/>
          </p:nvGrpSpPr>
          <p:grpSpPr>
            <a:xfrm>
              <a:off x="697348" y="1498449"/>
              <a:ext cx="7850032" cy="1504797"/>
              <a:chOff x="697348" y="1498449"/>
              <a:chExt cx="7850032" cy="1504797"/>
            </a:xfrm>
          </p:grpSpPr>
          <p:grpSp>
            <p:nvGrpSpPr>
              <p:cNvPr id="28818" name="组合 15"/>
              <p:cNvGrpSpPr/>
              <p:nvPr/>
            </p:nvGrpSpPr>
            <p:grpSpPr>
              <a:xfrm>
                <a:off x="697348" y="1498449"/>
                <a:ext cx="7654218" cy="418383"/>
                <a:chOff x="899592" y="1354433"/>
                <a:chExt cx="7654218" cy="418383"/>
              </a:xfrm>
            </p:grpSpPr>
            <p:grpSp>
              <p:nvGrpSpPr>
                <p:cNvPr id="28840" name="组合 14"/>
                <p:cNvGrpSpPr/>
                <p:nvPr/>
              </p:nvGrpSpPr>
              <p:grpSpPr>
                <a:xfrm>
                  <a:off x="899592" y="1354433"/>
                  <a:ext cx="7654218" cy="418383"/>
                  <a:chOff x="899592" y="1354433"/>
                  <a:chExt cx="7654218" cy="418383"/>
                </a:xfrm>
              </p:grpSpPr>
              <p:pic>
                <p:nvPicPr>
                  <p:cNvPr id="28842" name="Picture 3"/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187624" y="1354433"/>
                    <a:ext cx="326529" cy="31608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cxnSp>
                <p:nvCxnSpPr>
                  <p:cNvPr id="54" name="直接连接符 53"/>
                  <p:cNvCxnSpPr/>
                  <p:nvPr/>
                </p:nvCxnSpPr>
                <p:spPr>
                  <a:xfrm>
                    <a:off x="899406" y="1521840"/>
                    <a:ext cx="287339" cy="0"/>
                  </a:xfrm>
                  <a:prstGeom prst="line">
                    <a:avLst/>
                  </a:prstGeom>
                  <a:ln w="12700">
                    <a:solidFill>
                      <a:srgbClr val="0000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直接连接符 54"/>
                  <p:cNvCxnSpPr/>
                  <p:nvPr/>
                </p:nvCxnSpPr>
                <p:spPr>
                  <a:xfrm>
                    <a:off x="1497896" y="1521840"/>
                    <a:ext cx="7056464" cy="0"/>
                  </a:xfrm>
                  <a:prstGeom prst="line">
                    <a:avLst/>
                  </a:prstGeom>
                  <a:ln w="12700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直接连接符 55"/>
                  <p:cNvCxnSpPr/>
                  <p:nvPr/>
                </p:nvCxnSpPr>
                <p:spPr>
                  <a:xfrm>
                    <a:off x="1053395" y="1772799"/>
                    <a:ext cx="4103703" cy="0"/>
                  </a:xfrm>
                  <a:prstGeom prst="line">
                    <a:avLst/>
                  </a:prstGeom>
                  <a:ln w="12700">
                    <a:solidFill>
                      <a:srgbClr val="0000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直接连接符 56"/>
                  <p:cNvCxnSpPr/>
                  <p:nvPr/>
                </p:nvCxnSpPr>
                <p:spPr>
                  <a:xfrm rot="5400000">
                    <a:off x="926327" y="1647320"/>
                    <a:ext cx="250959" cy="0"/>
                  </a:xfrm>
                  <a:prstGeom prst="line">
                    <a:avLst/>
                  </a:prstGeom>
                  <a:ln w="12700">
                    <a:solidFill>
                      <a:srgbClr val="0000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8841" name="Oval 18"/>
                <p:cNvSpPr/>
                <p:nvPr/>
              </p:nvSpPr>
              <p:spPr>
                <a:xfrm>
                  <a:off x="1034420" y="1502598"/>
                  <a:ext cx="36000" cy="36000"/>
                </a:xfrm>
                <a:prstGeom prst="ellipse">
                  <a:avLst/>
                </a:prstGeom>
                <a:solidFill>
                  <a:srgbClr val="0000FF"/>
                </a:solidFill>
                <a:ln w="25400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endParaRPr lang="zh-CN" altLang="en-US" sz="16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8819" name="组合 60"/>
              <p:cNvGrpSpPr/>
              <p:nvPr/>
            </p:nvGrpSpPr>
            <p:grpSpPr>
              <a:xfrm>
                <a:off x="697348" y="2002505"/>
                <a:ext cx="7843915" cy="418383"/>
                <a:chOff x="899592" y="1354433"/>
                <a:chExt cx="7843915" cy="418383"/>
              </a:xfrm>
            </p:grpSpPr>
            <p:grpSp>
              <p:nvGrpSpPr>
                <p:cNvPr id="28833" name="组合 61"/>
                <p:cNvGrpSpPr/>
                <p:nvPr/>
              </p:nvGrpSpPr>
              <p:grpSpPr>
                <a:xfrm>
                  <a:off x="899592" y="1354433"/>
                  <a:ext cx="7843915" cy="418383"/>
                  <a:chOff x="899592" y="1354433"/>
                  <a:chExt cx="7843915" cy="418383"/>
                </a:xfrm>
              </p:grpSpPr>
              <p:pic>
                <p:nvPicPr>
                  <p:cNvPr id="28835" name="Picture 3"/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187624" y="1354433"/>
                    <a:ext cx="326529" cy="31608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cxnSp>
                <p:nvCxnSpPr>
                  <p:cNvPr id="65" name="直接连接符 64"/>
                  <p:cNvCxnSpPr/>
                  <p:nvPr/>
                </p:nvCxnSpPr>
                <p:spPr>
                  <a:xfrm>
                    <a:off x="899406" y="1522879"/>
                    <a:ext cx="287339" cy="0"/>
                  </a:xfrm>
                  <a:prstGeom prst="line">
                    <a:avLst/>
                  </a:prstGeom>
                  <a:ln w="12700">
                    <a:solidFill>
                      <a:srgbClr val="0066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" name="直接连接符 65"/>
                  <p:cNvCxnSpPr/>
                  <p:nvPr/>
                </p:nvCxnSpPr>
                <p:spPr>
                  <a:xfrm>
                    <a:off x="1507421" y="1522879"/>
                    <a:ext cx="7235853" cy="0"/>
                  </a:xfrm>
                  <a:prstGeom prst="line">
                    <a:avLst/>
                  </a:prstGeom>
                  <a:ln w="12700">
                    <a:solidFill>
                      <a:srgbClr val="33993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" name="直接连接符 66"/>
                  <p:cNvCxnSpPr/>
                  <p:nvPr/>
                </p:nvCxnSpPr>
                <p:spPr>
                  <a:xfrm>
                    <a:off x="1045457" y="1773839"/>
                    <a:ext cx="6011886" cy="0"/>
                  </a:xfrm>
                  <a:prstGeom prst="line">
                    <a:avLst/>
                  </a:prstGeom>
                  <a:ln w="12700">
                    <a:solidFill>
                      <a:srgbClr val="0066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直接连接符 67"/>
                  <p:cNvCxnSpPr/>
                  <p:nvPr/>
                </p:nvCxnSpPr>
                <p:spPr>
                  <a:xfrm rot="5400000">
                    <a:off x="917597" y="1647565"/>
                    <a:ext cx="252547" cy="0"/>
                  </a:xfrm>
                  <a:prstGeom prst="line">
                    <a:avLst/>
                  </a:prstGeom>
                  <a:ln w="12700">
                    <a:solidFill>
                      <a:srgbClr val="0066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8834" name="Oval 18"/>
                <p:cNvSpPr/>
                <p:nvPr/>
              </p:nvSpPr>
              <p:spPr>
                <a:xfrm>
                  <a:off x="1025794" y="1502598"/>
                  <a:ext cx="36000" cy="36000"/>
                </a:xfrm>
                <a:prstGeom prst="ellipse">
                  <a:avLst/>
                </a:prstGeom>
                <a:solidFill>
                  <a:srgbClr val="006600"/>
                </a:solidFill>
                <a:ln w="25400" cap="flat" cmpd="sng">
                  <a:solidFill>
                    <a:srgbClr val="0066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endParaRPr lang="zh-CN" altLang="en-US" sz="16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8820" name="组合 9"/>
              <p:cNvGrpSpPr/>
              <p:nvPr/>
            </p:nvGrpSpPr>
            <p:grpSpPr>
              <a:xfrm>
                <a:off x="3243284" y="1646994"/>
                <a:ext cx="5304096" cy="1356252"/>
                <a:chOff x="3243284" y="1646994"/>
                <a:chExt cx="5304096" cy="1356252"/>
              </a:xfrm>
            </p:grpSpPr>
            <p:cxnSp>
              <p:nvCxnSpPr>
                <p:cNvPr id="74" name="直接连接符 73"/>
                <p:cNvCxnSpPr/>
                <p:nvPr/>
              </p:nvCxnSpPr>
              <p:spPr>
                <a:xfrm>
                  <a:off x="3260985" y="1916814"/>
                  <a:ext cx="0" cy="1080078"/>
                </a:xfrm>
                <a:prstGeom prst="line">
                  <a:avLst/>
                </a:prstGeom>
                <a:ln w="127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直接连接符 74"/>
                <p:cNvCxnSpPr/>
                <p:nvPr/>
              </p:nvCxnSpPr>
              <p:spPr>
                <a:xfrm>
                  <a:off x="4959616" y="1916814"/>
                  <a:ext cx="0" cy="1080078"/>
                </a:xfrm>
                <a:prstGeom prst="line">
                  <a:avLst/>
                </a:prstGeom>
                <a:ln w="127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823" name="Oval 18"/>
                <p:cNvSpPr/>
                <p:nvPr/>
              </p:nvSpPr>
              <p:spPr>
                <a:xfrm>
                  <a:off x="3243284" y="1892708"/>
                  <a:ext cx="36000" cy="36000"/>
                </a:xfrm>
                <a:prstGeom prst="ellipse">
                  <a:avLst/>
                </a:prstGeom>
                <a:solidFill>
                  <a:srgbClr val="0000FF"/>
                </a:solidFill>
                <a:ln w="25400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endParaRPr lang="zh-CN" altLang="en-US" sz="16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cxnSp>
              <p:nvCxnSpPr>
                <p:cNvPr id="77" name="直接连接符 76"/>
                <p:cNvCxnSpPr/>
                <p:nvPr/>
              </p:nvCxnSpPr>
              <p:spPr>
                <a:xfrm>
                  <a:off x="6645548" y="1670621"/>
                  <a:ext cx="0" cy="1332625"/>
                </a:xfrm>
                <a:prstGeom prst="line">
                  <a:avLst/>
                </a:prstGeom>
                <a:ln w="12700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直接连接符 77"/>
                <p:cNvCxnSpPr/>
                <p:nvPr/>
              </p:nvCxnSpPr>
              <p:spPr>
                <a:xfrm>
                  <a:off x="8344179" y="1670621"/>
                  <a:ext cx="0" cy="1332625"/>
                </a:xfrm>
                <a:prstGeom prst="line">
                  <a:avLst/>
                </a:prstGeom>
                <a:ln w="12700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826" name="Oval 18"/>
                <p:cNvSpPr/>
                <p:nvPr/>
              </p:nvSpPr>
              <p:spPr>
                <a:xfrm>
                  <a:off x="6622102" y="1646994"/>
                  <a:ext cx="36000" cy="36000"/>
                </a:xfrm>
                <a:prstGeom prst="ellipse">
                  <a:avLst/>
                </a:prstGeom>
                <a:solidFill>
                  <a:srgbClr val="0070C0"/>
                </a:solidFill>
                <a:ln w="25400" cap="flat" cmpd="sng">
                  <a:solidFill>
                    <a:srgbClr val="0070C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endParaRPr lang="zh-CN" altLang="en-US" sz="16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cxnSp>
              <p:nvCxnSpPr>
                <p:cNvPr id="80" name="直接连接符 79"/>
                <p:cNvCxnSpPr/>
                <p:nvPr/>
              </p:nvCxnSpPr>
              <p:spPr>
                <a:xfrm>
                  <a:off x="3465773" y="2420322"/>
                  <a:ext cx="0" cy="576571"/>
                </a:xfrm>
                <a:prstGeom prst="line">
                  <a:avLst/>
                </a:prstGeom>
                <a:ln w="12700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828" name="Oval 18"/>
                <p:cNvSpPr/>
                <p:nvPr/>
              </p:nvSpPr>
              <p:spPr>
                <a:xfrm>
                  <a:off x="3447432" y="2396764"/>
                  <a:ext cx="36000" cy="36000"/>
                </a:xfrm>
                <a:prstGeom prst="ellipse">
                  <a:avLst/>
                </a:prstGeom>
                <a:solidFill>
                  <a:srgbClr val="006600"/>
                </a:solidFill>
                <a:ln w="25400" cap="flat" cmpd="sng">
                  <a:solidFill>
                    <a:srgbClr val="0066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endParaRPr lang="zh-CN" altLang="en-US" sz="16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cxnSp>
              <p:nvCxnSpPr>
                <p:cNvPr id="82" name="直接连接符 81"/>
                <p:cNvCxnSpPr/>
                <p:nvPr/>
              </p:nvCxnSpPr>
              <p:spPr>
                <a:xfrm>
                  <a:off x="6855099" y="2420322"/>
                  <a:ext cx="0" cy="576571"/>
                </a:xfrm>
                <a:prstGeom prst="line">
                  <a:avLst/>
                </a:prstGeom>
                <a:ln w="12700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直接连接符 82"/>
                <p:cNvCxnSpPr/>
                <p:nvPr/>
              </p:nvCxnSpPr>
              <p:spPr>
                <a:xfrm>
                  <a:off x="5158054" y="2167774"/>
                  <a:ext cx="0" cy="829119"/>
                </a:xfrm>
                <a:prstGeom prst="line">
                  <a:avLst/>
                </a:prstGeom>
                <a:ln w="12700">
                  <a:solidFill>
                    <a:srgbClr val="33993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831" name="Oval 18"/>
                <p:cNvSpPr/>
                <p:nvPr/>
              </p:nvSpPr>
              <p:spPr>
                <a:xfrm>
                  <a:off x="5139244" y="2150670"/>
                  <a:ext cx="36000" cy="36000"/>
                </a:xfrm>
                <a:prstGeom prst="ellipse">
                  <a:avLst/>
                </a:prstGeom>
                <a:solidFill>
                  <a:srgbClr val="339933"/>
                </a:solidFill>
                <a:ln w="25400" cap="flat" cmpd="sng">
                  <a:solidFill>
                    <a:srgbClr val="339933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endParaRPr lang="zh-CN" altLang="en-US" sz="16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cxnSp>
              <p:nvCxnSpPr>
                <p:cNvPr id="85" name="直接连接符 84"/>
                <p:cNvCxnSpPr/>
                <p:nvPr/>
              </p:nvCxnSpPr>
              <p:spPr>
                <a:xfrm>
                  <a:off x="8547380" y="2167774"/>
                  <a:ext cx="0" cy="829119"/>
                </a:xfrm>
                <a:prstGeom prst="line">
                  <a:avLst/>
                </a:prstGeom>
                <a:ln w="12700">
                  <a:solidFill>
                    <a:srgbClr val="33993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8" name="组合 27"/>
          <p:cNvGrpSpPr/>
          <p:nvPr/>
        </p:nvGrpSpPr>
        <p:grpSpPr>
          <a:xfrm>
            <a:off x="1103313" y="1700213"/>
            <a:ext cx="7010400" cy="307975"/>
            <a:chOff x="1130181" y="2852936"/>
            <a:chExt cx="7011101" cy="307777"/>
          </a:xfrm>
        </p:grpSpPr>
        <p:cxnSp>
          <p:nvCxnSpPr>
            <p:cNvPr id="130" name="直接连接符 129"/>
            <p:cNvCxnSpPr/>
            <p:nvPr/>
          </p:nvCxnSpPr>
          <p:spPr>
            <a:xfrm>
              <a:off x="1625531" y="3030622"/>
              <a:ext cx="6515751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811" name="Oval 18"/>
            <p:cNvSpPr/>
            <p:nvPr/>
          </p:nvSpPr>
          <p:spPr>
            <a:xfrm>
              <a:off x="3037392" y="3013782"/>
              <a:ext cx="36000" cy="36000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6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8812" name="Oval 18"/>
            <p:cNvSpPr/>
            <p:nvPr/>
          </p:nvSpPr>
          <p:spPr>
            <a:xfrm>
              <a:off x="4723974" y="3008172"/>
              <a:ext cx="36000" cy="36000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6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8813" name="Oval 18"/>
            <p:cNvSpPr/>
            <p:nvPr/>
          </p:nvSpPr>
          <p:spPr>
            <a:xfrm>
              <a:off x="6427378" y="3002562"/>
              <a:ext cx="36000" cy="36000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6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8814" name="矩形 119"/>
            <p:cNvSpPr/>
            <p:nvPr/>
          </p:nvSpPr>
          <p:spPr>
            <a:xfrm>
              <a:off x="1130181" y="2852936"/>
              <a:ext cx="633507" cy="3077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zh-CN" altLang="en-US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“</a:t>
              </a:r>
              <a:r>
                <a:rPr lang="en-US" altLang="zh-CN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en-US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”</a:t>
              </a:r>
              <a:endParaRPr lang="zh-CN" altLang="en-US" sz="1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920875" y="3152775"/>
            <a:ext cx="6899275" cy="276225"/>
            <a:chOff x="1948734" y="4304129"/>
            <a:chExt cx="6899298" cy="276999"/>
          </a:xfrm>
        </p:grpSpPr>
        <p:grpSp>
          <p:nvGrpSpPr>
            <p:cNvPr id="28745" name="组合 17"/>
            <p:cNvGrpSpPr/>
            <p:nvPr/>
          </p:nvGrpSpPr>
          <p:grpSpPr>
            <a:xfrm>
              <a:off x="1948734" y="4304129"/>
              <a:ext cx="6899298" cy="276999"/>
              <a:chOff x="1948734" y="4221088"/>
              <a:chExt cx="6899298" cy="276999"/>
            </a:xfrm>
          </p:grpSpPr>
          <p:sp>
            <p:nvSpPr>
              <p:cNvPr id="28778" name="矩形 119"/>
              <p:cNvSpPr/>
              <p:nvPr/>
            </p:nvSpPr>
            <p:spPr>
              <a:xfrm>
                <a:off x="1948734" y="4221088"/>
                <a:ext cx="338554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779" name="矩形 119"/>
              <p:cNvSpPr/>
              <p:nvPr/>
            </p:nvSpPr>
            <p:spPr>
              <a:xfrm>
                <a:off x="2172774" y="4221088"/>
                <a:ext cx="338554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780" name="矩形 119"/>
              <p:cNvSpPr/>
              <p:nvPr/>
            </p:nvSpPr>
            <p:spPr>
              <a:xfrm>
                <a:off x="2367312" y="4221088"/>
                <a:ext cx="338554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781" name="矩形 119"/>
              <p:cNvSpPr/>
              <p:nvPr/>
            </p:nvSpPr>
            <p:spPr>
              <a:xfrm>
                <a:off x="2569866" y="4221088"/>
                <a:ext cx="338554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782" name="矩形 119"/>
              <p:cNvSpPr/>
              <p:nvPr/>
            </p:nvSpPr>
            <p:spPr>
              <a:xfrm>
                <a:off x="2777874" y="4221088"/>
                <a:ext cx="338554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783" name="矩形 119"/>
              <p:cNvSpPr/>
              <p:nvPr/>
            </p:nvSpPr>
            <p:spPr>
              <a:xfrm>
                <a:off x="2980428" y="4221088"/>
                <a:ext cx="338554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784" name="矩形 119"/>
              <p:cNvSpPr/>
              <p:nvPr/>
            </p:nvSpPr>
            <p:spPr>
              <a:xfrm>
                <a:off x="3159400" y="4221088"/>
                <a:ext cx="338554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785" name="矩形 119"/>
              <p:cNvSpPr/>
              <p:nvPr/>
            </p:nvSpPr>
            <p:spPr>
              <a:xfrm>
                <a:off x="3361954" y="4221088"/>
                <a:ext cx="338554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786" name="矩形 119"/>
              <p:cNvSpPr/>
              <p:nvPr/>
            </p:nvSpPr>
            <p:spPr>
              <a:xfrm>
                <a:off x="3639874" y="4221088"/>
                <a:ext cx="338554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787" name="矩形 119"/>
              <p:cNvSpPr/>
              <p:nvPr/>
            </p:nvSpPr>
            <p:spPr>
              <a:xfrm>
                <a:off x="3863914" y="4221088"/>
                <a:ext cx="338554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788" name="矩形 119"/>
              <p:cNvSpPr/>
              <p:nvPr/>
            </p:nvSpPr>
            <p:spPr>
              <a:xfrm>
                <a:off x="4058452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789" name="矩形 119"/>
              <p:cNvSpPr/>
              <p:nvPr/>
            </p:nvSpPr>
            <p:spPr>
              <a:xfrm>
                <a:off x="4261006" y="4221088"/>
                <a:ext cx="384208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790" name="矩形 119"/>
              <p:cNvSpPr/>
              <p:nvPr/>
            </p:nvSpPr>
            <p:spPr>
              <a:xfrm>
                <a:off x="4469014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791" name="矩形 119"/>
              <p:cNvSpPr/>
              <p:nvPr/>
            </p:nvSpPr>
            <p:spPr>
              <a:xfrm>
                <a:off x="4671568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13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792" name="矩形 119"/>
              <p:cNvSpPr/>
              <p:nvPr/>
            </p:nvSpPr>
            <p:spPr>
              <a:xfrm>
                <a:off x="4850540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14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793" name="矩形 119"/>
              <p:cNvSpPr/>
              <p:nvPr/>
            </p:nvSpPr>
            <p:spPr>
              <a:xfrm>
                <a:off x="5053094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15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794" name="矩形 119"/>
              <p:cNvSpPr/>
              <p:nvPr/>
            </p:nvSpPr>
            <p:spPr>
              <a:xfrm>
                <a:off x="5353822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795" name="矩形 119"/>
              <p:cNvSpPr/>
              <p:nvPr/>
            </p:nvSpPr>
            <p:spPr>
              <a:xfrm>
                <a:off x="5577862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17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796" name="矩形 119"/>
              <p:cNvSpPr/>
              <p:nvPr/>
            </p:nvSpPr>
            <p:spPr>
              <a:xfrm>
                <a:off x="5772400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18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797" name="矩形 119"/>
              <p:cNvSpPr/>
              <p:nvPr/>
            </p:nvSpPr>
            <p:spPr>
              <a:xfrm>
                <a:off x="5974954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19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798" name="矩形 119"/>
              <p:cNvSpPr/>
              <p:nvPr/>
            </p:nvSpPr>
            <p:spPr>
              <a:xfrm>
                <a:off x="6182962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799" name="矩形 119"/>
              <p:cNvSpPr/>
              <p:nvPr/>
            </p:nvSpPr>
            <p:spPr>
              <a:xfrm>
                <a:off x="6385516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21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800" name="矩形 119"/>
              <p:cNvSpPr/>
              <p:nvPr/>
            </p:nvSpPr>
            <p:spPr>
              <a:xfrm>
                <a:off x="6564488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22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801" name="矩形 119"/>
              <p:cNvSpPr/>
              <p:nvPr/>
            </p:nvSpPr>
            <p:spPr>
              <a:xfrm>
                <a:off x="6767042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23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802" name="矩形 119"/>
              <p:cNvSpPr/>
              <p:nvPr/>
            </p:nvSpPr>
            <p:spPr>
              <a:xfrm>
                <a:off x="7044962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24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803" name="矩形 119"/>
              <p:cNvSpPr/>
              <p:nvPr/>
            </p:nvSpPr>
            <p:spPr>
              <a:xfrm>
                <a:off x="7269002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25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804" name="矩形 119"/>
              <p:cNvSpPr/>
              <p:nvPr/>
            </p:nvSpPr>
            <p:spPr>
              <a:xfrm>
                <a:off x="7463540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26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805" name="矩形 119"/>
              <p:cNvSpPr/>
              <p:nvPr/>
            </p:nvSpPr>
            <p:spPr>
              <a:xfrm>
                <a:off x="7666094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27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806" name="矩形 119"/>
              <p:cNvSpPr/>
              <p:nvPr/>
            </p:nvSpPr>
            <p:spPr>
              <a:xfrm>
                <a:off x="7874102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28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807" name="矩形 119"/>
              <p:cNvSpPr/>
              <p:nvPr/>
            </p:nvSpPr>
            <p:spPr>
              <a:xfrm>
                <a:off x="8076656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29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808" name="矩形 119"/>
              <p:cNvSpPr/>
              <p:nvPr/>
            </p:nvSpPr>
            <p:spPr>
              <a:xfrm>
                <a:off x="8255628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30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8809" name="矩形 119"/>
              <p:cNvSpPr/>
              <p:nvPr/>
            </p:nvSpPr>
            <p:spPr>
              <a:xfrm>
                <a:off x="8458182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31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cxnSp>
          <p:nvCxnSpPr>
            <p:cNvPr id="118" name="直接连接符 117"/>
            <p:cNvCxnSpPr/>
            <p:nvPr/>
          </p:nvCxnSpPr>
          <p:spPr>
            <a:xfrm>
              <a:off x="2045572" y="4370991"/>
              <a:ext cx="10795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>
            <a:xfrm>
              <a:off x="2261473" y="4370991"/>
              <a:ext cx="10795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>
              <a:off x="2459911" y="4370991"/>
              <a:ext cx="10795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>
              <a:off x="2664699" y="4370991"/>
              <a:ext cx="10795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>
              <a:off x="2867900" y="4369399"/>
              <a:ext cx="10795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>
              <a:off x="3072688" y="4369399"/>
              <a:ext cx="10795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/>
            <p:cNvCxnSpPr/>
            <p:nvPr/>
          </p:nvCxnSpPr>
          <p:spPr>
            <a:xfrm>
              <a:off x="3252076" y="4369399"/>
              <a:ext cx="10795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/>
            <p:nvPr/>
          </p:nvCxnSpPr>
          <p:spPr>
            <a:xfrm>
              <a:off x="3452102" y="4369399"/>
              <a:ext cx="10795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/>
          </p:nvCxnSpPr>
          <p:spPr>
            <a:xfrm>
              <a:off x="3737853" y="4370991"/>
              <a:ext cx="10795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/>
            <p:cNvCxnSpPr/>
            <p:nvPr/>
          </p:nvCxnSpPr>
          <p:spPr>
            <a:xfrm>
              <a:off x="3953754" y="4370991"/>
              <a:ext cx="10795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/>
            <p:cNvCxnSpPr/>
            <p:nvPr/>
          </p:nvCxnSpPr>
          <p:spPr>
            <a:xfrm>
              <a:off x="4152191" y="4370991"/>
              <a:ext cx="10795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连接符 141"/>
            <p:cNvCxnSpPr/>
            <p:nvPr/>
          </p:nvCxnSpPr>
          <p:spPr>
            <a:xfrm>
              <a:off x="4356980" y="4372583"/>
              <a:ext cx="10795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/>
            <p:cNvCxnSpPr/>
            <p:nvPr/>
          </p:nvCxnSpPr>
          <p:spPr>
            <a:xfrm>
              <a:off x="4560181" y="4370991"/>
              <a:ext cx="10795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/>
            <p:cNvCxnSpPr/>
            <p:nvPr/>
          </p:nvCxnSpPr>
          <p:spPr>
            <a:xfrm>
              <a:off x="4764968" y="4370991"/>
              <a:ext cx="10795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/>
            <p:cNvCxnSpPr/>
            <p:nvPr/>
          </p:nvCxnSpPr>
          <p:spPr>
            <a:xfrm>
              <a:off x="4944357" y="4370991"/>
              <a:ext cx="10795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>
              <a:off x="5142795" y="4370991"/>
              <a:ext cx="1095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/>
            <p:cNvCxnSpPr/>
            <p:nvPr/>
          </p:nvCxnSpPr>
          <p:spPr>
            <a:xfrm>
              <a:off x="5447596" y="4370991"/>
              <a:ext cx="10795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/>
          </p:nvCxnSpPr>
          <p:spPr>
            <a:xfrm>
              <a:off x="5663496" y="4370991"/>
              <a:ext cx="10795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/>
            <p:cNvCxnSpPr/>
            <p:nvPr/>
          </p:nvCxnSpPr>
          <p:spPr>
            <a:xfrm>
              <a:off x="5861935" y="4370991"/>
              <a:ext cx="10795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/>
            <p:cNvCxnSpPr/>
            <p:nvPr/>
          </p:nvCxnSpPr>
          <p:spPr>
            <a:xfrm>
              <a:off x="6066723" y="4370991"/>
              <a:ext cx="10795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连接符 150"/>
            <p:cNvCxnSpPr/>
            <p:nvPr/>
          </p:nvCxnSpPr>
          <p:spPr>
            <a:xfrm>
              <a:off x="6269923" y="4369399"/>
              <a:ext cx="10795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连接符 151"/>
            <p:cNvCxnSpPr/>
            <p:nvPr/>
          </p:nvCxnSpPr>
          <p:spPr>
            <a:xfrm>
              <a:off x="6474712" y="4369399"/>
              <a:ext cx="10795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连接符 152"/>
            <p:cNvCxnSpPr/>
            <p:nvPr/>
          </p:nvCxnSpPr>
          <p:spPr>
            <a:xfrm>
              <a:off x="6654100" y="4369399"/>
              <a:ext cx="10795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连接符 153"/>
            <p:cNvCxnSpPr/>
            <p:nvPr/>
          </p:nvCxnSpPr>
          <p:spPr>
            <a:xfrm>
              <a:off x="6854125" y="4369399"/>
              <a:ext cx="10795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/>
            <p:cNvCxnSpPr/>
            <p:nvPr/>
          </p:nvCxnSpPr>
          <p:spPr>
            <a:xfrm>
              <a:off x="7127176" y="4370991"/>
              <a:ext cx="10795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>
              <a:off x="7343077" y="4370991"/>
              <a:ext cx="10795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/>
            <p:cNvCxnSpPr/>
            <p:nvPr/>
          </p:nvCxnSpPr>
          <p:spPr>
            <a:xfrm>
              <a:off x="7541516" y="4370991"/>
              <a:ext cx="109537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接连接符 157"/>
            <p:cNvCxnSpPr/>
            <p:nvPr/>
          </p:nvCxnSpPr>
          <p:spPr>
            <a:xfrm>
              <a:off x="7746303" y="4372583"/>
              <a:ext cx="1095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连接符 158"/>
            <p:cNvCxnSpPr/>
            <p:nvPr/>
          </p:nvCxnSpPr>
          <p:spPr>
            <a:xfrm>
              <a:off x="7949504" y="4370991"/>
              <a:ext cx="10795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/>
            <p:cNvCxnSpPr/>
            <p:nvPr/>
          </p:nvCxnSpPr>
          <p:spPr>
            <a:xfrm>
              <a:off x="8154293" y="4370991"/>
              <a:ext cx="10795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/>
            <p:cNvCxnSpPr/>
            <p:nvPr/>
          </p:nvCxnSpPr>
          <p:spPr>
            <a:xfrm>
              <a:off x="8333680" y="4370991"/>
              <a:ext cx="10795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连接符 161"/>
            <p:cNvCxnSpPr/>
            <p:nvPr/>
          </p:nvCxnSpPr>
          <p:spPr>
            <a:xfrm>
              <a:off x="8533706" y="4370991"/>
              <a:ext cx="10795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679" name="矩形 119"/>
          <p:cNvSpPr/>
          <p:nvPr/>
        </p:nvSpPr>
        <p:spPr>
          <a:xfrm>
            <a:off x="2986088" y="14288"/>
            <a:ext cx="28098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—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线译码电路</a:t>
            </a:r>
            <a:endParaRPr lang="zh-CN" altLang="en-US" sz="2400" b="1" baseline="-25000" dirty="0">
              <a:solidFill>
                <a:srgbClr val="C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164" name="表格 163"/>
          <p:cNvGraphicFramePr>
            <a:graphicFrameLocks noGrp="1"/>
          </p:cNvGraphicFramePr>
          <p:nvPr/>
        </p:nvGraphicFramePr>
        <p:xfrm>
          <a:off x="1763713" y="3535363"/>
          <a:ext cx="5761038" cy="32067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82746"/>
                <a:gridCol w="1219358"/>
                <a:gridCol w="1219358"/>
                <a:gridCol w="1219358"/>
                <a:gridCol w="1220218"/>
              </a:tblGrid>
              <a:tr h="323202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译码器输入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 anchor="ctr">
                    <a:solidFill>
                      <a:srgbClr val="0070C0"/>
                    </a:solidFill>
                  </a:tcPr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工作译码器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 anchor="ctr"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译码器输出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 anchor="ctr"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400" b="1" kern="1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选通</a:t>
                      </a:r>
                      <a:r>
                        <a:rPr lang="zh-CN" sz="1400" b="1" kern="1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逻辑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 anchor="ctr">
                    <a:solidFill>
                      <a:srgbClr val="0070C0"/>
                    </a:solidFill>
                  </a:tcPr>
                </a:tc>
              </a:tr>
              <a:tr h="3232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1400" b="1" kern="100" baseline="-2500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sz="1400" b="1" kern="10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A</a:t>
                      </a:r>
                      <a:r>
                        <a:rPr lang="en-US" sz="1400" b="1" kern="100" baseline="-2500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sz="1400" b="1" kern="100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1400" b="1" kern="100" baseline="-2500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400" b="1" kern="10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A</a:t>
                      </a:r>
                      <a:r>
                        <a:rPr lang="en-US" sz="1400" b="1" kern="100" baseline="-2500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400" b="1" kern="10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A</a:t>
                      </a:r>
                      <a:r>
                        <a:rPr lang="en-US" sz="1400" b="1" kern="100" baseline="-2500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 b="1" kern="100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 anchor="ctr">
                    <a:solidFill>
                      <a:srgbClr val="0070C0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64008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0   0</a:t>
                      </a:r>
                      <a:endParaRPr lang="zh-CN" sz="14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 anchor="ctr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0   0   0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1   1   1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 anchor="ctr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74LS138</a:t>
                      </a:r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）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 anchor="ctr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US" sz="1400" b="1" kern="100" baseline="-250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</a:t>
                      </a:r>
                      <a:r>
                        <a:rPr lang="en-US" sz="1400" b="1" kern="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Z</a:t>
                      </a:r>
                      <a:r>
                        <a:rPr lang="en-US" sz="1400" b="1" kern="100" baseline="-250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sz="14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 anchor="ctr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=A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=A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 anchor="ctr">
                    <a:solidFill>
                      <a:srgbClr val="EAEAEA"/>
                    </a:solidFill>
                  </a:tcPr>
                </a:tc>
              </a:tr>
              <a:tr h="64008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0   1</a:t>
                      </a:r>
                      <a:endParaRPr lang="zh-CN" sz="14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 anchor="ctr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0   0   0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1   1   1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 anchor="ctr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74LS138</a:t>
                      </a:r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）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 anchor="ctr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US" sz="1400" b="1" kern="100" baseline="-250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 </a:t>
                      </a:r>
                      <a:r>
                        <a:rPr lang="en-US" sz="1400" b="1" kern="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Z</a:t>
                      </a:r>
                      <a:r>
                        <a:rPr lang="en-US" sz="1400" b="1" kern="100" baseline="-250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CN" sz="14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 anchor="ctr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=A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=A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 anchor="ctr">
                    <a:solidFill>
                      <a:srgbClr val="66FFFF"/>
                    </a:solidFill>
                  </a:tcPr>
                </a:tc>
              </a:tr>
              <a:tr h="64008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1   0</a:t>
                      </a:r>
                      <a:endParaRPr lang="zh-CN" sz="14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 anchor="ctr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0   0   0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1   1   1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 anchor="ctr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74LS138</a:t>
                      </a:r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）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 anchor="ctr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US" sz="1400" b="1" kern="100" baseline="-250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 </a:t>
                      </a:r>
                      <a:r>
                        <a:rPr lang="en-US" sz="1400" b="1" kern="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Z</a:t>
                      </a:r>
                      <a:r>
                        <a:rPr lang="en-US" sz="1400" b="1" kern="100" baseline="-250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  <a:endParaRPr lang="zh-CN" sz="14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 anchor="ctr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=A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=A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 anchor="ctr">
                    <a:solidFill>
                      <a:srgbClr val="EAEAEA"/>
                    </a:solidFill>
                  </a:tcPr>
                </a:tc>
              </a:tr>
              <a:tr h="64008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1   1</a:t>
                      </a:r>
                      <a:endParaRPr lang="zh-CN" sz="14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 anchor="ctr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0   0   0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1   1   1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 anchor="ctr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74LS138</a:t>
                      </a:r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）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 anchor="ctr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US" sz="1400" b="1" kern="100" baseline="-250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 </a:t>
                      </a:r>
                      <a:r>
                        <a:rPr lang="en-US" sz="1400" b="1" kern="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Z</a:t>
                      </a:r>
                      <a:r>
                        <a:rPr lang="en-US" sz="1400" b="1" kern="100" baseline="-250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  <a:endParaRPr lang="zh-CN" sz="14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 anchor="ctr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=A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=A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 anchor="ctr">
                    <a:solidFill>
                      <a:srgbClr val="66FFFF"/>
                    </a:solidFill>
                  </a:tcPr>
                </a:tc>
              </a:tr>
            </a:tbl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5364163" y="4418013"/>
            <a:ext cx="1728787" cy="2141537"/>
            <a:chOff x="5364088" y="4418062"/>
            <a:chExt cx="1728192" cy="2141190"/>
          </a:xfrm>
        </p:grpSpPr>
        <p:grpSp>
          <p:nvGrpSpPr>
            <p:cNvPr id="28724" name="组合 7"/>
            <p:cNvGrpSpPr/>
            <p:nvPr/>
          </p:nvGrpSpPr>
          <p:grpSpPr>
            <a:xfrm>
              <a:off x="5364088" y="4418062"/>
              <a:ext cx="543857" cy="1916658"/>
              <a:chOff x="5364088" y="4418062"/>
              <a:chExt cx="543857" cy="1916658"/>
            </a:xfrm>
          </p:grpSpPr>
          <p:cxnSp>
            <p:nvCxnSpPr>
              <p:cNvPr id="165" name="直接连接符 164"/>
              <p:cNvCxnSpPr/>
              <p:nvPr/>
            </p:nvCxnSpPr>
            <p:spPr>
              <a:xfrm>
                <a:off x="5413283" y="4418062"/>
                <a:ext cx="144413" cy="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直接连接符 165"/>
              <p:cNvCxnSpPr/>
              <p:nvPr/>
            </p:nvCxnSpPr>
            <p:spPr>
              <a:xfrm>
                <a:off x="5762413" y="4418062"/>
                <a:ext cx="144413" cy="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直接连接符 166"/>
              <p:cNvCxnSpPr/>
              <p:nvPr/>
            </p:nvCxnSpPr>
            <p:spPr>
              <a:xfrm>
                <a:off x="5394240" y="5065657"/>
                <a:ext cx="144413" cy="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直接连接符 167"/>
              <p:cNvCxnSpPr/>
              <p:nvPr/>
            </p:nvCxnSpPr>
            <p:spPr>
              <a:xfrm>
                <a:off x="5743370" y="5065657"/>
                <a:ext cx="144413" cy="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直接连接符 168"/>
              <p:cNvCxnSpPr/>
              <p:nvPr/>
            </p:nvCxnSpPr>
            <p:spPr>
              <a:xfrm>
                <a:off x="5364088" y="5700554"/>
                <a:ext cx="144412" cy="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直接连接符 169"/>
              <p:cNvCxnSpPr/>
              <p:nvPr/>
            </p:nvCxnSpPr>
            <p:spPr>
              <a:xfrm>
                <a:off x="5757653" y="5700554"/>
                <a:ext cx="144412" cy="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直接连接符 170"/>
              <p:cNvCxnSpPr/>
              <p:nvPr/>
            </p:nvCxnSpPr>
            <p:spPr>
              <a:xfrm>
                <a:off x="5364088" y="6335451"/>
                <a:ext cx="144412" cy="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直接连接符 171"/>
              <p:cNvCxnSpPr/>
              <p:nvPr/>
            </p:nvCxnSpPr>
            <p:spPr>
              <a:xfrm>
                <a:off x="5764000" y="6335451"/>
                <a:ext cx="144412" cy="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3" name="直接连接符 172"/>
            <p:cNvCxnSpPr/>
            <p:nvPr/>
          </p:nvCxnSpPr>
          <p:spPr>
            <a:xfrm>
              <a:off x="6660629" y="4424411"/>
              <a:ext cx="14282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 173"/>
            <p:cNvCxnSpPr/>
            <p:nvPr/>
          </p:nvCxnSpPr>
          <p:spPr>
            <a:xfrm>
              <a:off x="6660629" y="4633927"/>
              <a:ext cx="14441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 174"/>
            <p:cNvCxnSpPr/>
            <p:nvPr/>
          </p:nvCxnSpPr>
          <p:spPr>
            <a:xfrm>
              <a:off x="6660629" y="5065657"/>
              <a:ext cx="14282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连接符 175"/>
            <p:cNvCxnSpPr/>
            <p:nvPr/>
          </p:nvCxnSpPr>
          <p:spPr>
            <a:xfrm>
              <a:off x="6660629" y="5275173"/>
              <a:ext cx="14441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 176"/>
            <p:cNvCxnSpPr/>
            <p:nvPr/>
          </p:nvCxnSpPr>
          <p:spPr>
            <a:xfrm>
              <a:off x="6660629" y="5708490"/>
              <a:ext cx="14282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接连接符 177"/>
            <p:cNvCxnSpPr/>
            <p:nvPr/>
          </p:nvCxnSpPr>
          <p:spPr>
            <a:xfrm>
              <a:off x="6660629" y="5918006"/>
              <a:ext cx="14441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/>
            <p:cNvCxnSpPr/>
            <p:nvPr/>
          </p:nvCxnSpPr>
          <p:spPr>
            <a:xfrm>
              <a:off x="6660629" y="6349736"/>
              <a:ext cx="14282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179"/>
            <p:cNvCxnSpPr/>
            <p:nvPr/>
          </p:nvCxnSpPr>
          <p:spPr>
            <a:xfrm>
              <a:off x="6660629" y="6559252"/>
              <a:ext cx="14441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连接符 180"/>
            <p:cNvCxnSpPr/>
            <p:nvPr/>
          </p:nvCxnSpPr>
          <p:spPr>
            <a:xfrm>
              <a:off x="6947868" y="5275173"/>
              <a:ext cx="14441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/>
            <p:cNvCxnSpPr/>
            <p:nvPr/>
          </p:nvCxnSpPr>
          <p:spPr>
            <a:xfrm>
              <a:off x="6947868" y="5714839"/>
              <a:ext cx="14441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/>
            <p:cNvCxnSpPr/>
            <p:nvPr/>
          </p:nvCxnSpPr>
          <p:spPr>
            <a:xfrm>
              <a:off x="6947868" y="6349736"/>
              <a:ext cx="14441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连接符 183"/>
            <p:cNvCxnSpPr/>
            <p:nvPr/>
          </p:nvCxnSpPr>
          <p:spPr>
            <a:xfrm>
              <a:off x="6947868" y="6559252"/>
              <a:ext cx="14441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476375" y="620713"/>
          <a:ext cx="6191250" cy="57673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48062"/>
                <a:gridCol w="880009"/>
                <a:gridCol w="1215580"/>
                <a:gridCol w="1215580"/>
                <a:gridCol w="1215580"/>
                <a:gridCol w="1216437"/>
              </a:tblGrid>
              <a:tr h="323219"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译码器输入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0070C0"/>
                    </a:solidFill>
                  </a:tcPr>
                </a:tc>
                <a:tc hMerge="1">
                  <a:tcPr marL="68580" marR="68580" marT="0" marB="0" anchor="ctr">
                    <a:solidFill>
                      <a:srgbClr val="0070C0"/>
                    </a:solidFill>
                  </a:tcPr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工作译码器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译码器输出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400" b="1" kern="1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选通</a:t>
                      </a:r>
                      <a:r>
                        <a:rPr lang="zh-CN" sz="1400" b="1" kern="1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逻辑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0070C0"/>
                    </a:solidFill>
                  </a:tcPr>
                </a:tc>
              </a:tr>
              <a:tr h="3232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b="1" kern="100" dirty="0" smtClean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1400" b="1" kern="100" baseline="-25000" dirty="0" smtClean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sz="1400" b="1" kern="100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1400" b="1" kern="100" baseline="-2500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sz="1400" b="1" kern="10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A</a:t>
                      </a:r>
                      <a:r>
                        <a:rPr lang="en-US" sz="1400" b="1" kern="100" baseline="-2500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sz="1400" b="1" kern="100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1400" b="1" kern="100" baseline="-2500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400" b="1" kern="10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A</a:t>
                      </a:r>
                      <a:r>
                        <a:rPr lang="en-US" sz="1400" b="1" kern="100" baseline="-2500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400" b="1" kern="10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A</a:t>
                      </a:r>
                      <a:r>
                        <a:rPr lang="en-US" sz="1400" b="1" kern="100" baseline="-2500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400" b="1" kern="100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0070C0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640119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b="1" kern="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8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0   0</a:t>
                      </a:r>
                      <a:endParaRPr lang="zh-CN" sz="14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0   0   0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1   1   1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74LS138</a:t>
                      </a:r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）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US" sz="1400" b="1" kern="100" baseline="-250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</a:t>
                      </a:r>
                      <a:r>
                        <a:rPr lang="en-US" sz="1400" b="1" kern="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Z</a:t>
                      </a:r>
                      <a:r>
                        <a:rPr lang="en-US" sz="1400" b="1" kern="100" baseline="-250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sz="14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=A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=A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EAEAEA"/>
                    </a:solidFill>
                  </a:tcPr>
                </a:tc>
              </a:tr>
              <a:tr h="640119">
                <a:tc vMerge="1">
                  <a:tcPr marL="68580" marR="68580" marT="0" marB="0" anchor="ctr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0   1</a:t>
                      </a:r>
                      <a:endParaRPr lang="zh-CN" sz="14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0   0   0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1   1   1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74LS138</a:t>
                      </a:r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）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US" sz="1400" b="1" kern="100" baseline="-250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 </a:t>
                      </a:r>
                      <a:r>
                        <a:rPr lang="en-US" sz="1400" b="1" kern="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Z</a:t>
                      </a:r>
                      <a:r>
                        <a:rPr lang="en-US" sz="1400" b="1" kern="100" baseline="-250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CN" sz="14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=A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=A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66FFFF"/>
                    </a:solidFill>
                  </a:tcPr>
                </a:tc>
              </a:tr>
              <a:tr h="640119">
                <a:tc vMerge="1">
                  <a:tcPr marL="68580" marR="68580" marT="0" marB="0" anchor="ctr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1   0</a:t>
                      </a:r>
                      <a:endParaRPr lang="zh-CN" sz="14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0   0   0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1   1   1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74LS138</a:t>
                      </a:r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）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US" sz="1400" b="1" kern="100" baseline="-250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 </a:t>
                      </a:r>
                      <a:r>
                        <a:rPr lang="en-US" sz="1400" b="1" kern="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Z</a:t>
                      </a:r>
                      <a:r>
                        <a:rPr lang="en-US" sz="1400" b="1" kern="100" baseline="-250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  <a:endParaRPr lang="zh-CN" sz="14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=A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=A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EAEAEA"/>
                    </a:solidFill>
                  </a:tcPr>
                </a:tc>
              </a:tr>
              <a:tr h="640119">
                <a:tc vMerge="1">
                  <a:tcPr marL="68580" marR="68580" marT="0" marB="0" anchor="ctr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1   1</a:t>
                      </a:r>
                      <a:endParaRPr lang="zh-CN" sz="14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0   0   0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1   1   1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74LS138</a:t>
                      </a:r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）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US" sz="1400" b="1" kern="100" baseline="-250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 </a:t>
                      </a:r>
                      <a:r>
                        <a:rPr lang="en-US" sz="1400" b="1" kern="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Z</a:t>
                      </a:r>
                      <a:r>
                        <a:rPr lang="en-US" sz="1400" b="1" kern="100" baseline="-250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  <a:endParaRPr lang="zh-CN" sz="14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=A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=A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66FFFF"/>
                    </a:solidFill>
                  </a:tcPr>
                </a:tc>
              </a:tr>
              <a:tr h="640119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b="1" kern="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8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0   0</a:t>
                      </a:r>
                      <a:endParaRPr lang="zh-CN" sz="14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0   0   0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1   1   1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74LS138</a:t>
                      </a:r>
                      <a:r>
                        <a:rPr lang="zh-CN" sz="1400" b="1" kern="1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b="1" kern="1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zh-CN" sz="1400" b="1" kern="1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）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US" sz="1400" b="1" kern="100" baseline="-250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 </a:t>
                      </a:r>
                      <a:r>
                        <a:rPr lang="en-US" sz="1400" b="1" kern="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Z</a:t>
                      </a:r>
                      <a:r>
                        <a:rPr lang="en-US" sz="1400" b="1" kern="100" baseline="-250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CN" sz="14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=A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=A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EAEAEA"/>
                    </a:solidFill>
                  </a:tcPr>
                </a:tc>
              </a:tr>
              <a:tr h="640119">
                <a:tc vMerge="1">
                  <a:tcPr marL="68580" marR="68580" marT="0" marB="0" anchor="ctr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0   1</a:t>
                      </a:r>
                      <a:endParaRPr lang="zh-CN" sz="14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0   0   0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1   1   1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74LS138</a:t>
                      </a:r>
                      <a:r>
                        <a:rPr lang="zh-CN" sz="1400" b="1" kern="1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b="1" kern="1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zh-CN" sz="1400" b="1" kern="1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）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US" sz="1400" b="1" kern="100" baseline="-250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 </a:t>
                      </a:r>
                      <a:r>
                        <a:rPr lang="en-US" sz="1400" b="1" kern="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Z</a:t>
                      </a:r>
                      <a:r>
                        <a:rPr lang="en-US" sz="1400" b="1" kern="100" baseline="-250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</a:t>
                      </a:r>
                      <a:endParaRPr lang="zh-CN" sz="14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=A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=A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66FFFF"/>
                    </a:solidFill>
                  </a:tcPr>
                </a:tc>
              </a:tr>
              <a:tr h="640119">
                <a:tc vMerge="1">
                  <a:tcPr marL="68580" marR="68580" marT="0" marB="0" anchor="ctr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1   0</a:t>
                      </a:r>
                      <a:endParaRPr lang="zh-CN" sz="14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0   0   0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1   1   1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74LS138</a:t>
                      </a:r>
                      <a:r>
                        <a:rPr lang="zh-CN" sz="1400" b="1" kern="1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b="1" kern="1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zh-CN" sz="1400" b="1" kern="1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）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US" sz="1400" b="1" kern="100" baseline="-250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 </a:t>
                      </a:r>
                      <a:r>
                        <a:rPr lang="en-US" sz="1400" b="1" kern="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Z</a:t>
                      </a:r>
                      <a:r>
                        <a:rPr lang="en-US" sz="1400" b="1" kern="100" baseline="-250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zh-CN" sz="14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=A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=A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EAEAEA"/>
                    </a:solidFill>
                  </a:tcPr>
                </a:tc>
              </a:tr>
              <a:tr h="640119">
                <a:tc vMerge="1">
                  <a:tcPr marL="68580" marR="68580" marT="0" marB="0" anchor="ctr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1   1</a:t>
                      </a:r>
                      <a:endParaRPr lang="zh-CN" sz="14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0   0   0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1   1   1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74LS138</a:t>
                      </a:r>
                      <a:r>
                        <a:rPr lang="zh-CN" sz="1400" b="1" kern="1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b="1" kern="1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zh-CN" sz="1400" b="1" kern="1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）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US" sz="1400" b="1" kern="100" baseline="-250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 </a:t>
                      </a:r>
                      <a:r>
                        <a:rPr lang="en-US" sz="1400" b="1" kern="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Z</a:t>
                      </a:r>
                      <a:r>
                        <a:rPr lang="en-US" sz="1400" b="1" kern="100" baseline="-250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</a:t>
                      </a:r>
                      <a:endParaRPr lang="zh-CN" sz="14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=A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=A</a:t>
                      </a:r>
                      <a:r>
                        <a:rPr lang="en-US" sz="1400" b="1" kern="1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4" marR="68564" marT="0" marB="0" anchor="ctr">
                    <a:solidFill>
                      <a:srgbClr val="66FFFF"/>
                    </a:solidFill>
                  </a:tcPr>
                </a:tc>
              </a:tr>
            </a:tbl>
          </a:graphicData>
        </a:graphic>
      </p:graphicFrame>
      <p:grpSp>
        <p:nvGrpSpPr>
          <p:cNvPr id="29769" name="组合 49"/>
          <p:cNvGrpSpPr/>
          <p:nvPr/>
        </p:nvGrpSpPr>
        <p:grpSpPr>
          <a:xfrm>
            <a:off x="5508625" y="1503363"/>
            <a:ext cx="1727200" cy="4700587"/>
            <a:chOff x="5508103" y="1504100"/>
            <a:chExt cx="1728192" cy="4699304"/>
          </a:xfrm>
        </p:grpSpPr>
        <p:grpSp>
          <p:nvGrpSpPr>
            <p:cNvPr id="29771" name="组合 48"/>
            <p:cNvGrpSpPr/>
            <p:nvPr/>
          </p:nvGrpSpPr>
          <p:grpSpPr>
            <a:xfrm>
              <a:off x="5508103" y="1504100"/>
              <a:ext cx="1728192" cy="2141190"/>
              <a:chOff x="5508103" y="1504100"/>
              <a:chExt cx="1728192" cy="2141190"/>
            </a:xfrm>
          </p:grpSpPr>
          <p:grpSp>
            <p:nvGrpSpPr>
              <p:cNvPr id="29794" name="组合 3"/>
              <p:cNvGrpSpPr/>
              <p:nvPr/>
            </p:nvGrpSpPr>
            <p:grpSpPr>
              <a:xfrm>
                <a:off x="5508103" y="1504100"/>
                <a:ext cx="543857" cy="1916658"/>
                <a:chOff x="5364088" y="4418062"/>
                <a:chExt cx="543857" cy="1916658"/>
              </a:xfrm>
            </p:grpSpPr>
            <p:cxnSp>
              <p:nvCxnSpPr>
                <p:cNvPr id="17" name="直接连接符 16"/>
                <p:cNvCxnSpPr/>
                <p:nvPr/>
              </p:nvCxnSpPr>
              <p:spPr>
                <a:xfrm>
                  <a:off x="5413329" y="4418062"/>
                  <a:ext cx="142957" cy="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接连接符 17"/>
                <p:cNvCxnSpPr/>
                <p:nvPr/>
              </p:nvCxnSpPr>
              <p:spPr>
                <a:xfrm>
                  <a:off x="5761191" y="4418062"/>
                  <a:ext cx="144546" cy="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接连接符 18"/>
                <p:cNvCxnSpPr/>
                <p:nvPr/>
              </p:nvCxnSpPr>
              <p:spPr>
                <a:xfrm>
                  <a:off x="5394268" y="5065585"/>
                  <a:ext cx="142957" cy="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连接符 19"/>
                <p:cNvCxnSpPr/>
                <p:nvPr/>
              </p:nvCxnSpPr>
              <p:spPr>
                <a:xfrm>
                  <a:off x="5742130" y="5065585"/>
                  <a:ext cx="144546" cy="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/>
                <p:cNvCxnSpPr/>
                <p:nvPr/>
              </p:nvCxnSpPr>
              <p:spPr>
                <a:xfrm>
                  <a:off x="5364088" y="5700411"/>
                  <a:ext cx="144546" cy="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连接符 21"/>
                <p:cNvCxnSpPr/>
                <p:nvPr/>
              </p:nvCxnSpPr>
              <p:spPr>
                <a:xfrm>
                  <a:off x="5758014" y="5700411"/>
                  <a:ext cx="142957" cy="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接连接符 22"/>
                <p:cNvCxnSpPr/>
                <p:nvPr/>
              </p:nvCxnSpPr>
              <p:spPr>
                <a:xfrm>
                  <a:off x="5364088" y="6335238"/>
                  <a:ext cx="144546" cy="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/>
                <p:cNvCxnSpPr/>
                <p:nvPr/>
              </p:nvCxnSpPr>
              <p:spPr>
                <a:xfrm>
                  <a:off x="5762780" y="6335238"/>
                  <a:ext cx="144545" cy="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" name="直接连接符 4"/>
              <p:cNvCxnSpPr/>
              <p:nvPr/>
            </p:nvCxnSpPr>
            <p:spPr>
              <a:xfrm>
                <a:off x="6804247" y="1510448"/>
                <a:ext cx="14454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直接连接符 5"/>
              <p:cNvCxnSpPr/>
              <p:nvPr/>
            </p:nvCxnSpPr>
            <p:spPr>
              <a:xfrm>
                <a:off x="6804247" y="1719941"/>
                <a:ext cx="14454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>
                <a:off x="6804247" y="2151623"/>
                <a:ext cx="14454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连接符 7"/>
              <p:cNvCxnSpPr/>
              <p:nvPr/>
            </p:nvCxnSpPr>
            <p:spPr>
              <a:xfrm>
                <a:off x="6804247" y="2361116"/>
                <a:ext cx="14454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>
                <a:off x="6804247" y="2794384"/>
                <a:ext cx="14454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6804247" y="3003877"/>
                <a:ext cx="14454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>
                <a:off x="6804247" y="3435559"/>
                <a:ext cx="14454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6804247" y="3645052"/>
                <a:ext cx="14454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>
                <a:off x="7091750" y="2361116"/>
                <a:ext cx="14454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>
                <a:off x="7091750" y="2800733"/>
                <a:ext cx="14454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/>
              <p:cNvCxnSpPr/>
              <p:nvPr/>
            </p:nvCxnSpPr>
            <p:spPr>
              <a:xfrm>
                <a:off x="7091750" y="3435559"/>
                <a:ext cx="14454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>
                <a:off x="7091750" y="3645052"/>
                <a:ext cx="14454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772" name="组合 47"/>
            <p:cNvGrpSpPr/>
            <p:nvPr/>
          </p:nvGrpSpPr>
          <p:grpSpPr>
            <a:xfrm>
              <a:off x="5508103" y="4062214"/>
              <a:ext cx="1728192" cy="2141190"/>
              <a:chOff x="5508103" y="4062214"/>
              <a:chExt cx="1728192" cy="2141190"/>
            </a:xfrm>
          </p:grpSpPr>
          <p:grpSp>
            <p:nvGrpSpPr>
              <p:cNvPr id="29773" name="组合 25"/>
              <p:cNvGrpSpPr/>
              <p:nvPr/>
            </p:nvGrpSpPr>
            <p:grpSpPr>
              <a:xfrm>
                <a:off x="5508103" y="4062214"/>
                <a:ext cx="543857" cy="1916658"/>
                <a:chOff x="5364088" y="4418062"/>
                <a:chExt cx="543857" cy="1916658"/>
              </a:xfrm>
            </p:grpSpPr>
            <p:cxnSp>
              <p:nvCxnSpPr>
                <p:cNvPr id="39" name="直接连接符 38"/>
                <p:cNvCxnSpPr/>
                <p:nvPr/>
              </p:nvCxnSpPr>
              <p:spPr>
                <a:xfrm>
                  <a:off x="5413329" y="4418300"/>
                  <a:ext cx="142957" cy="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>
                <a:xfrm>
                  <a:off x="5761191" y="4418300"/>
                  <a:ext cx="144546" cy="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/>
                <p:cNvCxnSpPr/>
                <p:nvPr/>
              </p:nvCxnSpPr>
              <p:spPr>
                <a:xfrm>
                  <a:off x="5394268" y="5065823"/>
                  <a:ext cx="142957" cy="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/>
                <p:cNvCxnSpPr/>
                <p:nvPr/>
              </p:nvCxnSpPr>
              <p:spPr>
                <a:xfrm>
                  <a:off x="5742130" y="5065823"/>
                  <a:ext cx="144546" cy="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接连接符 42"/>
                <p:cNvCxnSpPr/>
                <p:nvPr/>
              </p:nvCxnSpPr>
              <p:spPr>
                <a:xfrm>
                  <a:off x="5364088" y="5700649"/>
                  <a:ext cx="144546" cy="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接连接符 43"/>
                <p:cNvCxnSpPr/>
                <p:nvPr/>
              </p:nvCxnSpPr>
              <p:spPr>
                <a:xfrm>
                  <a:off x="5758014" y="5700649"/>
                  <a:ext cx="142957" cy="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接连接符 44"/>
                <p:cNvCxnSpPr/>
                <p:nvPr/>
              </p:nvCxnSpPr>
              <p:spPr>
                <a:xfrm>
                  <a:off x="5364088" y="6335476"/>
                  <a:ext cx="144546" cy="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接连接符 45"/>
                <p:cNvCxnSpPr/>
                <p:nvPr/>
              </p:nvCxnSpPr>
              <p:spPr>
                <a:xfrm>
                  <a:off x="5762780" y="6335476"/>
                  <a:ext cx="144545" cy="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7" name="直接连接符 26"/>
              <p:cNvCxnSpPr/>
              <p:nvPr/>
            </p:nvCxnSpPr>
            <p:spPr>
              <a:xfrm>
                <a:off x="6804247" y="4068800"/>
                <a:ext cx="14454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/>
            </p:nvCxnSpPr>
            <p:spPr>
              <a:xfrm>
                <a:off x="6804247" y="4278293"/>
                <a:ext cx="14454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>
                <a:off x="6804247" y="4709975"/>
                <a:ext cx="14454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>
              <a:xfrm>
                <a:off x="6804247" y="4919468"/>
                <a:ext cx="14454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>
                <a:off x="6804247" y="5352736"/>
                <a:ext cx="14454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>
                <a:off x="6804247" y="5562229"/>
                <a:ext cx="14454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>
                <a:off x="6804247" y="5993911"/>
                <a:ext cx="14454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>
                <a:off x="6804247" y="6203404"/>
                <a:ext cx="14454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>
                <a:off x="7091750" y="4919468"/>
                <a:ext cx="14454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>
                <a:off x="7091750" y="5359085"/>
                <a:ext cx="14454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>
                <a:off x="7091750" y="5993911"/>
                <a:ext cx="14454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>
                <a:off x="7091750" y="6203404"/>
                <a:ext cx="14454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9770" name="矩形 119"/>
          <p:cNvSpPr/>
          <p:nvPr/>
        </p:nvSpPr>
        <p:spPr>
          <a:xfrm>
            <a:off x="2986088" y="14288"/>
            <a:ext cx="28098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—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线译码电路</a:t>
            </a:r>
            <a:endParaRPr lang="zh-CN" altLang="en-US" sz="2400" b="1" baseline="-25000" dirty="0">
              <a:solidFill>
                <a:srgbClr val="C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16" name="组合 115"/>
          <p:cNvGrpSpPr/>
          <p:nvPr/>
        </p:nvGrpSpPr>
        <p:grpSpPr>
          <a:xfrm>
            <a:off x="295275" y="776288"/>
            <a:ext cx="8453438" cy="5915025"/>
            <a:chOff x="295968" y="847745"/>
            <a:chExt cx="8452496" cy="5916063"/>
          </a:xfrm>
        </p:grpSpPr>
        <p:grpSp>
          <p:nvGrpSpPr>
            <p:cNvPr id="30742" name="组合 377"/>
            <p:cNvGrpSpPr/>
            <p:nvPr/>
          </p:nvGrpSpPr>
          <p:grpSpPr>
            <a:xfrm>
              <a:off x="1907704" y="2347521"/>
              <a:ext cx="6696744" cy="1308536"/>
              <a:chOff x="2007272" y="2984560"/>
              <a:chExt cx="6696744" cy="1308536"/>
            </a:xfrm>
          </p:grpSpPr>
          <p:grpSp>
            <p:nvGrpSpPr>
              <p:cNvPr id="31008" name="组合 473"/>
              <p:cNvGrpSpPr/>
              <p:nvPr/>
            </p:nvGrpSpPr>
            <p:grpSpPr>
              <a:xfrm>
                <a:off x="2007272" y="2984560"/>
                <a:ext cx="6696744" cy="1308536"/>
                <a:chOff x="2007272" y="2984560"/>
                <a:chExt cx="6696744" cy="1308536"/>
              </a:xfrm>
            </p:grpSpPr>
            <p:pic>
              <p:nvPicPr>
                <p:cNvPr id="31013" name="Picture 2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2007272" y="2984560"/>
                  <a:ext cx="1619107" cy="13028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31014" name="Picture 2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3697803" y="2984560"/>
                  <a:ext cx="1619107" cy="13028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31015" name="Picture 2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5391648" y="2990280"/>
                  <a:ext cx="1619107" cy="13028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31016" name="Picture 2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7084909" y="2990280"/>
                  <a:ext cx="1619107" cy="13028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31017" name="矩形 119"/>
                <p:cNvSpPr/>
                <p:nvPr/>
              </p:nvSpPr>
              <p:spPr>
                <a:xfrm>
                  <a:off x="2825167" y="3458260"/>
                  <a:ext cx="505267" cy="24622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r>
                    <a:rPr lang="zh-CN" altLang="en-US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（</a:t>
                  </a:r>
                  <a:r>
                    <a:rPr lang="en-US" altLang="zh-CN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r>
                    <a:rPr lang="zh-CN" altLang="en-US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）</a:t>
                  </a:r>
                  <a:endParaRPr lang="zh-CN" altLang="en-US" sz="1000" b="1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31018" name="矩形 119"/>
                <p:cNvSpPr/>
                <p:nvPr/>
              </p:nvSpPr>
              <p:spPr>
                <a:xfrm>
                  <a:off x="4498781" y="3456181"/>
                  <a:ext cx="505267" cy="24622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r>
                    <a:rPr lang="zh-CN" altLang="en-US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（</a:t>
                  </a:r>
                  <a:r>
                    <a:rPr lang="en-US" altLang="zh-CN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r>
                    <a:rPr lang="zh-CN" altLang="en-US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）</a:t>
                  </a:r>
                  <a:endParaRPr lang="zh-CN" altLang="en-US" sz="1000" b="1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31019" name="矩形 119"/>
                <p:cNvSpPr/>
                <p:nvPr/>
              </p:nvSpPr>
              <p:spPr>
                <a:xfrm>
                  <a:off x="6197713" y="3465575"/>
                  <a:ext cx="505267" cy="24622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r>
                    <a:rPr lang="zh-CN" altLang="en-US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（</a:t>
                  </a:r>
                  <a:r>
                    <a:rPr lang="en-US" altLang="zh-CN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zh-CN" altLang="en-US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）</a:t>
                  </a:r>
                  <a:endParaRPr lang="zh-CN" altLang="en-US" sz="1000" b="1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31020" name="矩形 119"/>
                <p:cNvSpPr/>
                <p:nvPr/>
              </p:nvSpPr>
              <p:spPr>
                <a:xfrm>
                  <a:off x="7883157" y="3456181"/>
                  <a:ext cx="505267" cy="24622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r>
                    <a:rPr lang="zh-CN" altLang="en-US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（</a:t>
                  </a:r>
                  <a:r>
                    <a:rPr lang="en-US" altLang="zh-CN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:r>
                    <a:rPr lang="zh-CN" altLang="en-US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）</a:t>
                  </a:r>
                  <a:endParaRPr lang="zh-CN" altLang="en-US" sz="1000" b="1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475" name="直接连接符 474"/>
              <p:cNvCxnSpPr/>
              <p:nvPr/>
            </p:nvCxnSpPr>
            <p:spPr>
              <a:xfrm>
                <a:off x="3054302" y="3024929"/>
                <a:ext cx="0" cy="1444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6" name="直接连接符 475"/>
              <p:cNvCxnSpPr/>
              <p:nvPr/>
            </p:nvCxnSpPr>
            <p:spPr>
              <a:xfrm>
                <a:off x="4743214" y="3024929"/>
                <a:ext cx="0" cy="1444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7" name="直接连接符 476"/>
              <p:cNvCxnSpPr/>
              <p:nvPr/>
            </p:nvCxnSpPr>
            <p:spPr>
              <a:xfrm>
                <a:off x="8140086" y="3034456"/>
                <a:ext cx="0" cy="1429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8" name="直接连接符 477"/>
              <p:cNvCxnSpPr/>
              <p:nvPr/>
            </p:nvCxnSpPr>
            <p:spPr>
              <a:xfrm>
                <a:off x="6443237" y="3034456"/>
                <a:ext cx="0" cy="1429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743" name="组合 378"/>
            <p:cNvGrpSpPr/>
            <p:nvPr/>
          </p:nvGrpSpPr>
          <p:grpSpPr>
            <a:xfrm>
              <a:off x="295968" y="1764104"/>
              <a:ext cx="7213812" cy="601747"/>
              <a:chOff x="395536" y="2401143"/>
              <a:chExt cx="7213812" cy="601747"/>
            </a:xfrm>
          </p:grpSpPr>
          <p:grpSp>
            <p:nvGrpSpPr>
              <p:cNvPr id="30980" name="组合 445"/>
              <p:cNvGrpSpPr/>
              <p:nvPr/>
            </p:nvGrpSpPr>
            <p:grpSpPr>
              <a:xfrm>
                <a:off x="395536" y="2540780"/>
                <a:ext cx="7213812" cy="462110"/>
                <a:chOff x="395536" y="2540780"/>
                <a:chExt cx="7213812" cy="462110"/>
              </a:xfrm>
            </p:grpSpPr>
            <p:cxnSp>
              <p:nvCxnSpPr>
                <p:cNvPr id="448" name="直接连接符 447"/>
                <p:cNvCxnSpPr/>
                <p:nvPr/>
              </p:nvCxnSpPr>
              <p:spPr>
                <a:xfrm>
                  <a:off x="697127" y="2564474"/>
                  <a:ext cx="691279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9" name="直接连接符 448"/>
                <p:cNvCxnSpPr/>
                <p:nvPr/>
              </p:nvCxnSpPr>
              <p:spPr>
                <a:xfrm>
                  <a:off x="2127306" y="2853450"/>
                  <a:ext cx="0" cy="1429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0" name="直接连接符 449"/>
                <p:cNvCxnSpPr/>
                <p:nvPr/>
              </p:nvCxnSpPr>
              <p:spPr>
                <a:xfrm>
                  <a:off x="705065" y="2708961"/>
                  <a:ext cx="669691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1" name="直接连接符 450"/>
                <p:cNvCxnSpPr/>
                <p:nvPr/>
              </p:nvCxnSpPr>
              <p:spPr>
                <a:xfrm>
                  <a:off x="2328896" y="2708961"/>
                  <a:ext cx="0" cy="28738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2" name="直接连接符 451"/>
                <p:cNvCxnSpPr/>
                <p:nvPr/>
              </p:nvCxnSpPr>
              <p:spPr>
                <a:xfrm>
                  <a:off x="2524137" y="2564474"/>
                  <a:ext cx="0" cy="43187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3" name="直接连接符 452"/>
                <p:cNvCxnSpPr/>
                <p:nvPr/>
              </p:nvCxnSpPr>
              <p:spPr>
                <a:xfrm>
                  <a:off x="697127" y="2853450"/>
                  <a:ext cx="651754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0988" name="Oval 18"/>
                <p:cNvSpPr/>
                <p:nvPr/>
              </p:nvSpPr>
              <p:spPr>
                <a:xfrm>
                  <a:off x="2505390" y="2540780"/>
                  <a:ext cx="36000" cy="36000"/>
                </a:xfrm>
                <a:prstGeom prst="ellipse">
                  <a:avLst/>
                </a:prstGeom>
                <a:solidFill>
                  <a:schemeClr val="tx1"/>
                </a:solidFill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endParaRPr lang="zh-CN" altLang="en-US" sz="16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30989" name="Oval 18"/>
                <p:cNvSpPr/>
                <p:nvPr/>
              </p:nvSpPr>
              <p:spPr>
                <a:xfrm>
                  <a:off x="2313498" y="2684796"/>
                  <a:ext cx="36000" cy="36000"/>
                </a:xfrm>
                <a:prstGeom prst="ellipse">
                  <a:avLst/>
                </a:prstGeom>
                <a:solidFill>
                  <a:schemeClr val="tx1"/>
                </a:solidFill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endParaRPr lang="zh-CN" altLang="en-US" sz="16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30990" name="Oval 18"/>
                <p:cNvSpPr/>
                <p:nvPr/>
              </p:nvSpPr>
              <p:spPr>
                <a:xfrm>
                  <a:off x="2115288" y="2828812"/>
                  <a:ext cx="36000" cy="36000"/>
                </a:xfrm>
                <a:prstGeom prst="ellipse">
                  <a:avLst/>
                </a:prstGeom>
                <a:solidFill>
                  <a:schemeClr val="tx1"/>
                </a:solidFill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endParaRPr lang="zh-CN" altLang="en-US" sz="16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cxnSp>
              <p:nvCxnSpPr>
                <p:cNvPr id="457" name="直接连接符 456"/>
                <p:cNvCxnSpPr/>
                <p:nvPr/>
              </p:nvCxnSpPr>
              <p:spPr>
                <a:xfrm>
                  <a:off x="5511479" y="2858213"/>
                  <a:ext cx="0" cy="14448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8" name="直接连接符 457"/>
                <p:cNvCxnSpPr/>
                <p:nvPr/>
              </p:nvCxnSpPr>
              <p:spPr>
                <a:xfrm>
                  <a:off x="5713068" y="2715313"/>
                  <a:ext cx="0" cy="28738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9" name="直接连接符 458"/>
                <p:cNvCxnSpPr/>
                <p:nvPr/>
              </p:nvCxnSpPr>
              <p:spPr>
                <a:xfrm>
                  <a:off x="5908310" y="2570825"/>
                  <a:ext cx="0" cy="43187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0994" name="Oval 18"/>
                <p:cNvSpPr/>
                <p:nvPr/>
              </p:nvSpPr>
              <p:spPr>
                <a:xfrm>
                  <a:off x="5889386" y="2546718"/>
                  <a:ext cx="36000" cy="36000"/>
                </a:xfrm>
                <a:prstGeom prst="ellipse">
                  <a:avLst/>
                </a:prstGeom>
                <a:solidFill>
                  <a:schemeClr val="tx1"/>
                </a:solidFill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endParaRPr lang="zh-CN" altLang="en-US" sz="16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30995" name="Oval 18"/>
                <p:cNvSpPr/>
                <p:nvPr/>
              </p:nvSpPr>
              <p:spPr>
                <a:xfrm>
                  <a:off x="5697494" y="2690734"/>
                  <a:ext cx="36000" cy="36000"/>
                </a:xfrm>
                <a:prstGeom prst="ellipse">
                  <a:avLst/>
                </a:prstGeom>
                <a:solidFill>
                  <a:schemeClr val="tx1"/>
                </a:solidFill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endParaRPr lang="zh-CN" altLang="en-US" sz="16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30996" name="Oval 18"/>
                <p:cNvSpPr/>
                <p:nvPr/>
              </p:nvSpPr>
              <p:spPr>
                <a:xfrm>
                  <a:off x="5499284" y="2834750"/>
                  <a:ext cx="36000" cy="36000"/>
                </a:xfrm>
                <a:prstGeom prst="ellipse">
                  <a:avLst/>
                </a:prstGeom>
                <a:solidFill>
                  <a:schemeClr val="tx1"/>
                </a:solidFill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endParaRPr lang="zh-CN" altLang="en-US" sz="16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cxnSp>
              <p:nvCxnSpPr>
                <p:cNvPr id="463" name="直接连接符 462"/>
                <p:cNvCxnSpPr/>
                <p:nvPr/>
              </p:nvCxnSpPr>
              <p:spPr>
                <a:xfrm>
                  <a:off x="3819392" y="2853450"/>
                  <a:ext cx="0" cy="1429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4" name="直接连接符 463"/>
                <p:cNvCxnSpPr/>
                <p:nvPr/>
              </p:nvCxnSpPr>
              <p:spPr>
                <a:xfrm>
                  <a:off x="4022570" y="2708961"/>
                  <a:ext cx="0" cy="28738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5" name="直接连接符 464"/>
                <p:cNvCxnSpPr/>
                <p:nvPr/>
              </p:nvCxnSpPr>
              <p:spPr>
                <a:xfrm>
                  <a:off x="4220985" y="2564474"/>
                  <a:ext cx="0" cy="43187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000" name="Oval 18"/>
                <p:cNvSpPr/>
                <p:nvPr/>
              </p:nvSpPr>
              <p:spPr>
                <a:xfrm>
                  <a:off x="4197582" y="2540780"/>
                  <a:ext cx="36000" cy="36000"/>
                </a:xfrm>
                <a:prstGeom prst="ellipse">
                  <a:avLst/>
                </a:prstGeom>
                <a:solidFill>
                  <a:schemeClr val="tx1"/>
                </a:solidFill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endParaRPr lang="zh-CN" altLang="en-US" sz="16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31001" name="Oval 18"/>
                <p:cNvSpPr/>
                <p:nvPr/>
              </p:nvSpPr>
              <p:spPr>
                <a:xfrm>
                  <a:off x="4005690" y="2684796"/>
                  <a:ext cx="36000" cy="36000"/>
                </a:xfrm>
                <a:prstGeom prst="ellipse">
                  <a:avLst/>
                </a:prstGeom>
                <a:solidFill>
                  <a:schemeClr val="tx1"/>
                </a:solidFill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endParaRPr lang="zh-CN" altLang="en-US" sz="16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31002" name="Oval 18"/>
                <p:cNvSpPr/>
                <p:nvPr/>
              </p:nvSpPr>
              <p:spPr>
                <a:xfrm>
                  <a:off x="3807480" y="2828812"/>
                  <a:ext cx="36000" cy="36000"/>
                </a:xfrm>
                <a:prstGeom prst="ellipse">
                  <a:avLst/>
                </a:prstGeom>
                <a:solidFill>
                  <a:schemeClr val="tx1"/>
                </a:solidFill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endParaRPr lang="zh-CN" altLang="en-US" sz="16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cxnSp>
              <p:nvCxnSpPr>
                <p:cNvPr id="469" name="直接连接符 468"/>
                <p:cNvCxnSpPr/>
                <p:nvPr/>
              </p:nvCxnSpPr>
              <p:spPr>
                <a:xfrm>
                  <a:off x="7205152" y="2858213"/>
                  <a:ext cx="0" cy="14448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0" name="直接连接符 469"/>
                <p:cNvCxnSpPr/>
                <p:nvPr/>
              </p:nvCxnSpPr>
              <p:spPr>
                <a:xfrm>
                  <a:off x="7406743" y="2715313"/>
                  <a:ext cx="0" cy="28738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1" name="直接连接符 470"/>
                <p:cNvCxnSpPr/>
                <p:nvPr/>
              </p:nvCxnSpPr>
              <p:spPr>
                <a:xfrm>
                  <a:off x="7606745" y="2570825"/>
                  <a:ext cx="0" cy="43187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006" name="矩形 119"/>
                <p:cNvSpPr/>
                <p:nvPr/>
              </p:nvSpPr>
              <p:spPr>
                <a:xfrm>
                  <a:off x="395536" y="2695113"/>
                  <a:ext cx="373820" cy="30777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r>
                    <a:rPr lang="en-US" altLang="zh-CN" sz="1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zh-CN" sz="1400" b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endParaRPr lang="zh-CN" altLang="en-US" sz="1400" b="1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31007" name="矩形 119"/>
                <p:cNvSpPr/>
                <p:nvPr/>
              </p:nvSpPr>
              <p:spPr>
                <a:xfrm>
                  <a:off x="395536" y="2545159"/>
                  <a:ext cx="373820" cy="30777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r>
                    <a:rPr lang="en-US" altLang="zh-CN" sz="1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zh-CN" sz="1400" b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zh-CN" altLang="en-US" sz="1400" b="1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0981" name="矩形 119"/>
              <p:cNvSpPr/>
              <p:nvPr/>
            </p:nvSpPr>
            <p:spPr>
              <a:xfrm>
                <a:off x="395536" y="2401143"/>
                <a:ext cx="373820" cy="30777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14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CN" altLang="en-US" sz="1400" b="1" baseline="-250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grpSp>
          <p:nvGrpSpPr>
            <p:cNvPr id="30744" name="组合 379"/>
            <p:cNvGrpSpPr/>
            <p:nvPr/>
          </p:nvGrpSpPr>
          <p:grpSpPr>
            <a:xfrm>
              <a:off x="295968" y="847745"/>
              <a:ext cx="8151844" cy="1518462"/>
              <a:chOff x="395536" y="1484784"/>
              <a:chExt cx="8151844" cy="1518462"/>
            </a:xfrm>
          </p:grpSpPr>
          <p:sp>
            <p:nvSpPr>
              <p:cNvPr id="30948" name="矩形 119"/>
              <p:cNvSpPr/>
              <p:nvPr/>
            </p:nvSpPr>
            <p:spPr>
              <a:xfrm>
                <a:off x="395536" y="1484784"/>
                <a:ext cx="373820" cy="30777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4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1400" b="1" baseline="-250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CN" altLang="en-US" sz="1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949" name="矩形 119"/>
              <p:cNvSpPr/>
              <p:nvPr/>
            </p:nvSpPr>
            <p:spPr>
              <a:xfrm>
                <a:off x="395536" y="2041103"/>
                <a:ext cx="373820" cy="30777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400" b="1" dirty="0">
                    <a:solidFill>
                      <a:srgbClr val="0066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1400" b="1" baseline="-25000" dirty="0">
                    <a:solidFill>
                      <a:srgbClr val="0066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CN" altLang="en-US" sz="1400" b="1" baseline="-25000" dirty="0">
                  <a:solidFill>
                    <a:srgbClr val="0066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grpSp>
            <p:nvGrpSpPr>
              <p:cNvPr id="30950" name="组合 415"/>
              <p:cNvGrpSpPr/>
              <p:nvPr/>
            </p:nvGrpSpPr>
            <p:grpSpPr>
              <a:xfrm>
                <a:off x="697348" y="1498449"/>
                <a:ext cx="7850032" cy="1504797"/>
                <a:chOff x="697348" y="1498449"/>
                <a:chExt cx="7850032" cy="1504797"/>
              </a:xfrm>
            </p:grpSpPr>
            <p:grpSp>
              <p:nvGrpSpPr>
                <p:cNvPr id="30951" name="组合 416"/>
                <p:cNvGrpSpPr/>
                <p:nvPr/>
              </p:nvGrpSpPr>
              <p:grpSpPr>
                <a:xfrm>
                  <a:off x="697348" y="1498449"/>
                  <a:ext cx="7654218" cy="418383"/>
                  <a:chOff x="899592" y="1354433"/>
                  <a:chExt cx="7654218" cy="418383"/>
                </a:xfrm>
              </p:grpSpPr>
              <p:grpSp>
                <p:nvGrpSpPr>
                  <p:cNvPr id="30973" name="组合 438"/>
                  <p:cNvGrpSpPr/>
                  <p:nvPr/>
                </p:nvGrpSpPr>
                <p:grpSpPr>
                  <a:xfrm>
                    <a:off x="899592" y="1354433"/>
                    <a:ext cx="7654218" cy="418383"/>
                    <a:chOff x="899592" y="1354433"/>
                    <a:chExt cx="7654218" cy="418383"/>
                  </a:xfrm>
                </p:grpSpPr>
                <p:pic>
                  <p:nvPicPr>
                    <p:cNvPr id="30975" name="Picture 3"/>
                    <p:cNvPicPr>
                      <a:picLocks noChangeAspect="1"/>
                    </p:cNvPicPr>
                    <p:nvPr/>
                  </p:nvPicPr>
                  <p:blipFill>
                    <a:blip r:embed="rId2"/>
                    <a:stretch>
                      <a:fillRect/>
                    </a:stretch>
                  </p:blipFill>
                  <p:spPr>
                    <a:xfrm>
                      <a:off x="1187624" y="1354433"/>
                      <a:ext cx="326529" cy="316080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</p:pic>
                <p:cxnSp>
                  <p:nvCxnSpPr>
                    <p:cNvPr id="442" name="直接连接符 441"/>
                    <p:cNvCxnSpPr/>
                    <p:nvPr/>
                  </p:nvCxnSpPr>
                  <p:spPr>
                    <a:xfrm>
                      <a:off x="899371" y="1521774"/>
                      <a:ext cx="287306" cy="0"/>
                    </a:xfrm>
                    <a:prstGeom prst="line">
                      <a:avLst/>
                    </a:prstGeom>
                    <a:ln w="12700">
                      <a:solidFill>
                        <a:srgbClr val="0000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43" name="直接连接符 442"/>
                    <p:cNvCxnSpPr/>
                    <p:nvPr/>
                  </p:nvCxnSpPr>
                  <p:spPr>
                    <a:xfrm>
                      <a:off x="1497792" y="1521774"/>
                      <a:ext cx="7057239" cy="0"/>
                    </a:xfrm>
                    <a:prstGeom prst="line">
                      <a:avLst/>
                    </a:prstGeom>
                    <a:ln w="12700">
                      <a:solidFill>
                        <a:srgbClr val="0070C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44" name="直接连接符 443"/>
                    <p:cNvCxnSpPr/>
                    <p:nvPr/>
                  </p:nvCxnSpPr>
                  <p:spPr>
                    <a:xfrm>
                      <a:off x="1053342" y="1772643"/>
                      <a:ext cx="4104818" cy="0"/>
                    </a:xfrm>
                    <a:prstGeom prst="line">
                      <a:avLst/>
                    </a:prstGeom>
                    <a:ln w="12700">
                      <a:solidFill>
                        <a:srgbClr val="0000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45" name="直接连接符 444"/>
                    <p:cNvCxnSpPr/>
                    <p:nvPr/>
                  </p:nvCxnSpPr>
                  <p:spPr>
                    <a:xfrm rot="5400000">
                      <a:off x="926320" y="1647209"/>
                      <a:ext cx="250869" cy="0"/>
                    </a:xfrm>
                    <a:prstGeom prst="line">
                      <a:avLst/>
                    </a:prstGeom>
                    <a:ln w="12700">
                      <a:solidFill>
                        <a:srgbClr val="0000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30974" name="Oval 18"/>
                  <p:cNvSpPr/>
                  <p:nvPr/>
                </p:nvSpPr>
                <p:spPr>
                  <a:xfrm>
                    <a:off x="1034420" y="1502598"/>
                    <a:ext cx="36000" cy="36000"/>
                  </a:xfrm>
                  <a:prstGeom prst="ellipse">
                    <a:avLst/>
                  </a:prstGeom>
                  <a:solidFill>
                    <a:srgbClr val="0000FF"/>
                  </a:solidFill>
                  <a:ln w="25400" cap="flat" cmpd="sng">
                    <a:solidFill>
                      <a:srgbClr val="0000FF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>
                      <a:spcBef>
                        <a:spcPct val="0"/>
                      </a:spcBef>
                      <a:buNone/>
                    </a:pPr>
                    <a:endParaRPr lang="zh-CN" altLang="en-US" sz="1600" dirty="0"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30952" name="组合 417"/>
                <p:cNvGrpSpPr/>
                <p:nvPr/>
              </p:nvGrpSpPr>
              <p:grpSpPr>
                <a:xfrm>
                  <a:off x="697348" y="2002505"/>
                  <a:ext cx="7849525" cy="418383"/>
                  <a:chOff x="899592" y="1354433"/>
                  <a:chExt cx="7849525" cy="418383"/>
                </a:xfrm>
              </p:grpSpPr>
              <p:grpSp>
                <p:nvGrpSpPr>
                  <p:cNvPr id="30966" name="组合 431"/>
                  <p:cNvGrpSpPr/>
                  <p:nvPr/>
                </p:nvGrpSpPr>
                <p:grpSpPr>
                  <a:xfrm>
                    <a:off x="899592" y="1354433"/>
                    <a:ext cx="7849525" cy="418383"/>
                    <a:chOff x="899592" y="1354433"/>
                    <a:chExt cx="7849525" cy="418383"/>
                  </a:xfrm>
                </p:grpSpPr>
                <p:pic>
                  <p:nvPicPr>
                    <p:cNvPr id="30968" name="Picture 3"/>
                    <p:cNvPicPr>
                      <a:picLocks noChangeAspect="1"/>
                    </p:cNvPicPr>
                    <p:nvPr/>
                  </p:nvPicPr>
                  <p:blipFill>
                    <a:blip r:embed="rId2"/>
                    <a:stretch>
                      <a:fillRect/>
                    </a:stretch>
                  </p:blipFill>
                  <p:spPr>
                    <a:xfrm>
                      <a:off x="1187624" y="1354433"/>
                      <a:ext cx="326529" cy="316080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</p:pic>
                <p:cxnSp>
                  <p:nvCxnSpPr>
                    <p:cNvPr id="435" name="直接连接符 434"/>
                    <p:cNvCxnSpPr/>
                    <p:nvPr/>
                  </p:nvCxnSpPr>
                  <p:spPr>
                    <a:xfrm>
                      <a:off x="899371" y="1522631"/>
                      <a:ext cx="287306" cy="0"/>
                    </a:xfrm>
                    <a:prstGeom prst="line">
                      <a:avLst/>
                    </a:prstGeom>
                    <a:ln w="12700">
                      <a:solidFill>
                        <a:srgbClr val="0066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6" name="直接连接符 435"/>
                    <p:cNvCxnSpPr/>
                    <p:nvPr/>
                  </p:nvCxnSpPr>
                  <p:spPr>
                    <a:xfrm>
                      <a:off x="1513666" y="1522631"/>
                      <a:ext cx="7236606" cy="0"/>
                    </a:xfrm>
                    <a:prstGeom prst="line">
                      <a:avLst/>
                    </a:prstGeom>
                    <a:ln w="12700">
                      <a:solidFill>
                        <a:srgbClr val="33993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7" name="直接连接符 436"/>
                    <p:cNvCxnSpPr/>
                    <p:nvPr/>
                  </p:nvCxnSpPr>
                  <p:spPr>
                    <a:xfrm>
                      <a:off x="1045405" y="1773500"/>
                      <a:ext cx="6012781" cy="0"/>
                    </a:xfrm>
                    <a:prstGeom prst="line">
                      <a:avLst/>
                    </a:prstGeom>
                    <a:ln w="12700">
                      <a:solidFill>
                        <a:srgbClr val="0066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8" name="直接连接符 437"/>
                    <p:cNvCxnSpPr/>
                    <p:nvPr/>
                  </p:nvCxnSpPr>
                  <p:spPr>
                    <a:xfrm rot="5400000">
                      <a:off x="917590" y="1647272"/>
                      <a:ext cx="252457" cy="0"/>
                    </a:xfrm>
                    <a:prstGeom prst="line">
                      <a:avLst/>
                    </a:prstGeom>
                    <a:ln w="12700">
                      <a:solidFill>
                        <a:srgbClr val="0066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30967" name="Oval 18"/>
                  <p:cNvSpPr/>
                  <p:nvPr/>
                </p:nvSpPr>
                <p:spPr>
                  <a:xfrm>
                    <a:off x="1025794" y="1502598"/>
                    <a:ext cx="36000" cy="36000"/>
                  </a:xfrm>
                  <a:prstGeom prst="ellipse">
                    <a:avLst/>
                  </a:prstGeom>
                  <a:solidFill>
                    <a:srgbClr val="006600"/>
                  </a:solidFill>
                  <a:ln w="25400" cap="flat" cmpd="sng">
                    <a:solidFill>
                      <a:srgbClr val="0066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>
                      <a:spcBef>
                        <a:spcPct val="0"/>
                      </a:spcBef>
                      <a:buNone/>
                    </a:pPr>
                    <a:endParaRPr lang="zh-CN" altLang="en-US" sz="1600" dirty="0"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30953" name="组合 418"/>
                <p:cNvGrpSpPr/>
                <p:nvPr/>
              </p:nvGrpSpPr>
              <p:grpSpPr>
                <a:xfrm>
                  <a:off x="3243284" y="1646994"/>
                  <a:ext cx="5304096" cy="1356252"/>
                  <a:chOff x="3243284" y="1646994"/>
                  <a:chExt cx="5304096" cy="1356252"/>
                </a:xfrm>
              </p:grpSpPr>
              <p:cxnSp>
                <p:nvCxnSpPr>
                  <p:cNvPr id="420" name="直接连接符 419"/>
                  <p:cNvCxnSpPr/>
                  <p:nvPr/>
                </p:nvCxnSpPr>
                <p:spPr>
                  <a:xfrm>
                    <a:off x="3260655" y="1916659"/>
                    <a:ext cx="0" cy="1079689"/>
                  </a:xfrm>
                  <a:prstGeom prst="line">
                    <a:avLst/>
                  </a:prstGeom>
                  <a:ln w="12700">
                    <a:solidFill>
                      <a:srgbClr val="0000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1" name="直接连接符 420"/>
                  <p:cNvCxnSpPr/>
                  <p:nvPr/>
                </p:nvCxnSpPr>
                <p:spPr>
                  <a:xfrm>
                    <a:off x="4959091" y="1916659"/>
                    <a:ext cx="0" cy="1079689"/>
                  </a:xfrm>
                  <a:prstGeom prst="line">
                    <a:avLst/>
                  </a:prstGeom>
                  <a:ln w="12700">
                    <a:solidFill>
                      <a:srgbClr val="0000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0956" name="Oval 18"/>
                  <p:cNvSpPr/>
                  <p:nvPr/>
                </p:nvSpPr>
                <p:spPr>
                  <a:xfrm>
                    <a:off x="3243284" y="1892708"/>
                    <a:ext cx="36000" cy="36000"/>
                  </a:xfrm>
                  <a:prstGeom prst="ellipse">
                    <a:avLst/>
                  </a:prstGeom>
                  <a:solidFill>
                    <a:srgbClr val="0000FF"/>
                  </a:solidFill>
                  <a:ln w="25400" cap="flat" cmpd="sng">
                    <a:solidFill>
                      <a:srgbClr val="0000FF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>
                      <a:spcBef>
                        <a:spcPct val="0"/>
                      </a:spcBef>
                      <a:buNone/>
                    </a:pPr>
                    <a:endParaRPr lang="zh-CN" altLang="en-US" sz="1600" dirty="0"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423" name="直接连接符 422"/>
                  <p:cNvCxnSpPr/>
                  <p:nvPr/>
                </p:nvCxnSpPr>
                <p:spPr>
                  <a:xfrm>
                    <a:off x="6646415" y="1670553"/>
                    <a:ext cx="0" cy="1332147"/>
                  </a:xfrm>
                  <a:prstGeom prst="line">
                    <a:avLst/>
                  </a:prstGeom>
                  <a:ln w="12700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4" name="直接连接符 423"/>
                  <p:cNvCxnSpPr/>
                  <p:nvPr/>
                </p:nvCxnSpPr>
                <p:spPr>
                  <a:xfrm>
                    <a:off x="8344851" y="1670553"/>
                    <a:ext cx="0" cy="1332147"/>
                  </a:xfrm>
                  <a:prstGeom prst="line">
                    <a:avLst/>
                  </a:prstGeom>
                  <a:ln w="12700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0959" name="Oval 18"/>
                  <p:cNvSpPr/>
                  <p:nvPr/>
                </p:nvSpPr>
                <p:spPr>
                  <a:xfrm>
                    <a:off x="6622102" y="1646994"/>
                    <a:ext cx="36000" cy="36000"/>
                  </a:xfrm>
                  <a:prstGeom prst="ellipse">
                    <a:avLst/>
                  </a:prstGeom>
                  <a:solidFill>
                    <a:srgbClr val="0070C0"/>
                  </a:solidFill>
                  <a:ln w="25400" cap="flat" cmpd="sng">
                    <a:solidFill>
                      <a:srgbClr val="0070C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>
                      <a:spcBef>
                        <a:spcPct val="0"/>
                      </a:spcBef>
                      <a:buNone/>
                    </a:pPr>
                    <a:endParaRPr lang="zh-CN" altLang="en-US" sz="1600" dirty="0"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426" name="直接连接符 425"/>
                  <p:cNvCxnSpPr/>
                  <p:nvPr/>
                </p:nvCxnSpPr>
                <p:spPr>
                  <a:xfrm>
                    <a:off x="3465419" y="2419985"/>
                    <a:ext cx="0" cy="576364"/>
                  </a:xfrm>
                  <a:prstGeom prst="line">
                    <a:avLst/>
                  </a:prstGeom>
                  <a:ln w="12700">
                    <a:solidFill>
                      <a:srgbClr val="0066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0961" name="Oval 18"/>
                  <p:cNvSpPr/>
                  <p:nvPr/>
                </p:nvSpPr>
                <p:spPr>
                  <a:xfrm>
                    <a:off x="3447432" y="2396764"/>
                    <a:ext cx="36000" cy="36000"/>
                  </a:xfrm>
                  <a:prstGeom prst="ellipse">
                    <a:avLst/>
                  </a:prstGeom>
                  <a:solidFill>
                    <a:srgbClr val="006600"/>
                  </a:solidFill>
                  <a:ln w="25400" cap="flat" cmpd="sng">
                    <a:solidFill>
                      <a:srgbClr val="0066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>
                      <a:spcBef>
                        <a:spcPct val="0"/>
                      </a:spcBef>
                      <a:buNone/>
                    </a:pPr>
                    <a:endParaRPr lang="zh-CN" altLang="en-US" sz="1600" dirty="0"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428" name="直接连接符 427"/>
                  <p:cNvCxnSpPr/>
                  <p:nvPr/>
                </p:nvCxnSpPr>
                <p:spPr>
                  <a:xfrm>
                    <a:off x="6855941" y="2419985"/>
                    <a:ext cx="0" cy="576364"/>
                  </a:xfrm>
                  <a:prstGeom prst="line">
                    <a:avLst/>
                  </a:prstGeom>
                  <a:ln w="12700">
                    <a:solidFill>
                      <a:srgbClr val="0066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9" name="直接连接符 428"/>
                  <p:cNvCxnSpPr/>
                  <p:nvPr/>
                </p:nvCxnSpPr>
                <p:spPr>
                  <a:xfrm>
                    <a:off x="5157506" y="2167528"/>
                    <a:ext cx="0" cy="828820"/>
                  </a:xfrm>
                  <a:prstGeom prst="line">
                    <a:avLst/>
                  </a:prstGeom>
                  <a:ln w="12700">
                    <a:solidFill>
                      <a:srgbClr val="33993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0964" name="Oval 18"/>
                  <p:cNvSpPr/>
                  <p:nvPr/>
                </p:nvSpPr>
                <p:spPr>
                  <a:xfrm>
                    <a:off x="5139244" y="2150670"/>
                    <a:ext cx="36000" cy="36000"/>
                  </a:xfrm>
                  <a:prstGeom prst="ellipse">
                    <a:avLst/>
                  </a:prstGeom>
                  <a:solidFill>
                    <a:srgbClr val="339933"/>
                  </a:solidFill>
                  <a:ln w="25400" cap="flat" cmpd="sng">
                    <a:solidFill>
                      <a:srgbClr val="339933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>
                      <a:spcBef>
                        <a:spcPct val="0"/>
                      </a:spcBef>
                      <a:buNone/>
                    </a:pPr>
                    <a:endParaRPr lang="zh-CN" altLang="en-US" sz="1600" dirty="0"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431" name="直接连接符 430"/>
                  <p:cNvCxnSpPr/>
                  <p:nvPr/>
                </p:nvCxnSpPr>
                <p:spPr>
                  <a:xfrm>
                    <a:off x="8548028" y="2167528"/>
                    <a:ext cx="0" cy="828820"/>
                  </a:xfrm>
                  <a:prstGeom prst="line">
                    <a:avLst/>
                  </a:prstGeom>
                  <a:ln w="12700">
                    <a:solidFill>
                      <a:srgbClr val="33993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30745" name="组合 380"/>
            <p:cNvGrpSpPr/>
            <p:nvPr/>
          </p:nvGrpSpPr>
          <p:grpSpPr>
            <a:xfrm>
              <a:off x="1849166" y="3611364"/>
              <a:ext cx="6899298" cy="276999"/>
              <a:chOff x="1948734" y="4221088"/>
              <a:chExt cx="6899298" cy="276999"/>
            </a:xfrm>
          </p:grpSpPr>
          <p:sp>
            <p:nvSpPr>
              <p:cNvPr id="30916" name="矩形 119"/>
              <p:cNvSpPr/>
              <p:nvPr/>
            </p:nvSpPr>
            <p:spPr>
              <a:xfrm>
                <a:off x="1948734" y="4221088"/>
                <a:ext cx="338554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917" name="矩形 119"/>
              <p:cNvSpPr/>
              <p:nvPr/>
            </p:nvSpPr>
            <p:spPr>
              <a:xfrm>
                <a:off x="2172774" y="4221088"/>
                <a:ext cx="338554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918" name="矩形 119"/>
              <p:cNvSpPr/>
              <p:nvPr/>
            </p:nvSpPr>
            <p:spPr>
              <a:xfrm>
                <a:off x="2367312" y="4221088"/>
                <a:ext cx="338554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919" name="矩形 119"/>
              <p:cNvSpPr/>
              <p:nvPr/>
            </p:nvSpPr>
            <p:spPr>
              <a:xfrm>
                <a:off x="2569866" y="4221088"/>
                <a:ext cx="338554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920" name="矩形 119"/>
              <p:cNvSpPr/>
              <p:nvPr/>
            </p:nvSpPr>
            <p:spPr>
              <a:xfrm>
                <a:off x="2777874" y="4221088"/>
                <a:ext cx="338554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921" name="矩形 119"/>
              <p:cNvSpPr/>
              <p:nvPr/>
            </p:nvSpPr>
            <p:spPr>
              <a:xfrm>
                <a:off x="2980428" y="4221088"/>
                <a:ext cx="338554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922" name="矩形 119"/>
              <p:cNvSpPr/>
              <p:nvPr/>
            </p:nvSpPr>
            <p:spPr>
              <a:xfrm>
                <a:off x="3159400" y="4221088"/>
                <a:ext cx="338554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923" name="矩形 119"/>
              <p:cNvSpPr/>
              <p:nvPr/>
            </p:nvSpPr>
            <p:spPr>
              <a:xfrm>
                <a:off x="3361954" y="4221088"/>
                <a:ext cx="338554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924" name="矩形 119"/>
              <p:cNvSpPr/>
              <p:nvPr/>
            </p:nvSpPr>
            <p:spPr>
              <a:xfrm>
                <a:off x="3639874" y="4221088"/>
                <a:ext cx="338554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925" name="矩形 119"/>
              <p:cNvSpPr/>
              <p:nvPr/>
            </p:nvSpPr>
            <p:spPr>
              <a:xfrm>
                <a:off x="3863914" y="4221088"/>
                <a:ext cx="338554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926" name="矩形 119"/>
              <p:cNvSpPr/>
              <p:nvPr/>
            </p:nvSpPr>
            <p:spPr>
              <a:xfrm>
                <a:off x="4058452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927" name="矩形 119"/>
              <p:cNvSpPr/>
              <p:nvPr/>
            </p:nvSpPr>
            <p:spPr>
              <a:xfrm>
                <a:off x="4261006" y="4221088"/>
                <a:ext cx="384208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928" name="矩形 119"/>
              <p:cNvSpPr/>
              <p:nvPr/>
            </p:nvSpPr>
            <p:spPr>
              <a:xfrm>
                <a:off x="4469014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929" name="矩形 119"/>
              <p:cNvSpPr/>
              <p:nvPr/>
            </p:nvSpPr>
            <p:spPr>
              <a:xfrm>
                <a:off x="4671568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13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930" name="矩形 119"/>
              <p:cNvSpPr/>
              <p:nvPr/>
            </p:nvSpPr>
            <p:spPr>
              <a:xfrm>
                <a:off x="4850540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14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931" name="矩形 119"/>
              <p:cNvSpPr/>
              <p:nvPr/>
            </p:nvSpPr>
            <p:spPr>
              <a:xfrm>
                <a:off x="5053094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15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932" name="矩形 119"/>
              <p:cNvSpPr/>
              <p:nvPr/>
            </p:nvSpPr>
            <p:spPr>
              <a:xfrm>
                <a:off x="5353822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933" name="矩形 119"/>
              <p:cNvSpPr/>
              <p:nvPr/>
            </p:nvSpPr>
            <p:spPr>
              <a:xfrm>
                <a:off x="5577862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17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934" name="矩形 119"/>
              <p:cNvSpPr/>
              <p:nvPr/>
            </p:nvSpPr>
            <p:spPr>
              <a:xfrm>
                <a:off x="5772400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18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935" name="矩形 119"/>
              <p:cNvSpPr/>
              <p:nvPr/>
            </p:nvSpPr>
            <p:spPr>
              <a:xfrm>
                <a:off x="5974954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19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936" name="矩形 119"/>
              <p:cNvSpPr/>
              <p:nvPr/>
            </p:nvSpPr>
            <p:spPr>
              <a:xfrm>
                <a:off x="6182962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937" name="矩形 119"/>
              <p:cNvSpPr/>
              <p:nvPr/>
            </p:nvSpPr>
            <p:spPr>
              <a:xfrm>
                <a:off x="6385516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21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938" name="矩形 119"/>
              <p:cNvSpPr/>
              <p:nvPr/>
            </p:nvSpPr>
            <p:spPr>
              <a:xfrm>
                <a:off x="6564488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22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939" name="矩形 119"/>
              <p:cNvSpPr/>
              <p:nvPr/>
            </p:nvSpPr>
            <p:spPr>
              <a:xfrm>
                <a:off x="6767042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23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940" name="矩形 119"/>
              <p:cNvSpPr/>
              <p:nvPr/>
            </p:nvSpPr>
            <p:spPr>
              <a:xfrm>
                <a:off x="7044962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24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941" name="矩形 119"/>
              <p:cNvSpPr/>
              <p:nvPr/>
            </p:nvSpPr>
            <p:spPr>
              <a:xfrm>
                <a:off x="7269002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25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942" name="矩形 119"/>
              <p:cNvSpPr/>
              <p:nvPr/>
            </p:nvSpPr>
            <p:spPr>
              <a:xfrm>
                <a:off x="7463540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26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943" name="矩形 119"/>
              <p:cNvSpPr/>
              <p:nvPr/>
            </p:nvSpPr>
            <p:spPr>
              <a:xfrm>
                <a:off x="7666094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27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944" name="矩形 119"/>
              <p:cNvSpPr/>
              <p:nvPr/>
            </p:nvSpPr>
            <p:spPr>
              <a:xfrm>
                <a:off x="7874102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28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945" name="矩形 119"/>
              <p:cNvSpPr/>
              <p:nvPr/>
            </p:nvSpPr>
            <p:spPr>
              <a:xfrm>
                <a:off x="8076656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29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946" name="矩形 119"/>
              <p:cNvSpPr/>
              <p:nvPr/>
            </p:nvSpPr>
            <p:spPr>
              <a:xfrm>
                <a:off x="8255628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30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947" name="矩形 119"/>
              <p:cNvSpPr/>
              <p:nvPr/>
            </p:nvSpPr>
            <p:spPr>
              <a:xfrm>
                <a:off x="8458182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31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grpSp>
          <p:nvGrpSpPr>
            <p:cNvPr id="30746" name="组合 285"/>
            <p:cNvGrpSpPr/>
            <p:nvPr/>
          </p:nvGrpSpPr>
          <p:grpSpPr>
            <a:xfrm>
              <a:off x="1907704" y="5227841"/>
              <a:ext cx="6696744" cy="1308536"/>
              <a:chOff x="2007272" y="2984560"/>
              <a:chExt cx="6696744" cy="1308536"/>
            </a:xfrm>
          </p:grpSpPr>
          <p:grpSp>
            <p:nvGrpSpPr>
              <p:cNvPr id="30903" name="组合 364"/>
              <p:cNvGrpSpPr/>
              <p:nvPr/>
            </p:nvGrpSpPr>
            <p:grpSpPr>
              <a:xfrm>
                <a:off x="2007272" y="2984560"/>
                <a:ext cx="6696744" cy="1308536"/>
                <a:chOff x="2007272" y="2984560"/>
                <a:chExt cx="6696744" cy="1308536"/>
              </a:xfrm>
            </p:grpSpPr>
            <p:pic>
              <p:nvPicPr>
                <p:cNvPr id="30908" name="Picture 2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2007272" y="2984560"/>
                  <a:ext cx="1619107" cy="13028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30909" name="Picture 2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3697803" y="2984560"/>
                  <a:ext cx="1619107" cy="13028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30910" name="Picture 2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5391648" y="2990280"/>
                  <a:ext cx="1619107" cy="13028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30911" name="Picture 2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7084909" y="2990280"/>
                  <a:ext cx="1619107" cy="13028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30912" name="矩形 119"/>
                <p:cNvSpPr/>
                <p:nvPr/>
              </p:nvSpPr>
              <p:spPr>
                <a:xfrm>
                  <a:off x="2825167" y="3458260"/>
                  <a:ext cx="505267" cy="24622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r>
                    <a:rPr lang="zh-CN" altLang="en-US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（</a:t>
                  </a:r>
                  <a:r>
                    <a:rPr lang="en-US" altLang="zh-CN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</a:t>
                  </a:r>
                  <a:r>
                    <a:rPr lang="zh-CN" altLang="en-US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）</a:t>
                  </a:r>
                  <a:endParaRPr lang="zh-CN" altLang="en-US" sz="1000" b="1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30913" name="矩形 119"/>
                <p:cNvSpPr/>
                <p:nvPr/>
              </p:nvSpPr>
              <p:spPr>
                <a:xfrm>
                  <a:off x="4498781" y="3456181"/>
                  <a:ext cx="505267" cy="24622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r>
                    <a:rPr lang="zh-CN" altLang="en-US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（</a:t>
                  </a:r>
                  <a:r>
                    <a:rPr lang="en-US" altLang="zh-CN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</a:t>
                  </a:r>
                  <a:r>
                    <a:rPr lang="zh-CN" altLang="en-US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）</a:t>
                  </a:r>
                  <a:endParaRPr lang="zh-CN" altLang="en-US" sz="1000" b="1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30914" name="矩形 119"/>
                <p:cNvSpPr/>
                <p:nvPr/>
              </p:nvSpPr>
              <p:spPr>
                <a:xfrm>
                  <a:off x="6197713" y="3465575"/>
                  <a:ext cx="505267" cy="24622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r>
                    <a:rPr lang="zh-CN" altLang="en-US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（</a:t>
                  </a:r>
                  <a:r>
                    <a:rPr lang="en-US" altLang="zh-CN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</a:t>
                  </a:r>
                  <a:r>
                    <a:rPr lang="zh-CN" altLang="en-US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）</a:t>
                  </a:r>
                  <a:endParaRPr lang="zh-CN" altLang="en-US" sz="1000" b="1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30915" name="矩形 119"/>
                <p:cNvSpPr/>
                <p:nvPr/>
              </p:nvSpPr>
              <p:spPr>
                <a:xfrm>
                  <a:off x="7883157" y="3456181"/>
                  <a:ext cx="505267" cy="24622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r>
                    <a:rPr lang="zh-CN" altLang="en-US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（</a:t>
                  </a:r>
                  <a:r>
                    <a:rPr lang="en-US" altLang="zh-CN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7</a:t>
                  </a:r>
                  <a:r>
                    <a:rPr lang="zh-CN" altLang="en-US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）</a:t>
                  </a:r>
                  <a:endParaRPr lang="zh-CN" altLang="en-US" sz="1000" b="1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366" name="直接连接符 365"/>
              <p:cNvCxnSpPr/>
              <p:nvPr/>
            </p:nvCxnSpPr>
            <p:spPr>
              <a:xfrm>
                <a:off x="3054302" y="3024840"/>
                <a:ext cx="0" cy="1444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7" name="直接连接符 366"/>
              <p:cNvCxnSpPr/>
              <p:nvPr/>
            </p:nvCxnSpPr>
            <p:spPr>
              <a:xfrm>
                <a:off x="4743214" y="3024840"/>
                <a:ext cx="0" cy="1444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" name="直接连接符 367"/>
              <p:cNvCxnSpPr/>
              <p:nvPr/>
            </p:nvCxnSpPr>
            <p:spPr>
              <a:xfrm>
                <a:off x="8140086" y="3034367"/>
                <a:ext cx="0" cy="1429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" name="直接连接符 368"/>
              <p:cNvCxnSpPr/>
              <p:nvPr/>
            </p:nvCxnSpPr>
            <p:spPr>
              <a:xfrm>
                <a:off x="6443237" y="3034367"/>
                <a:ext cx="0" cy="1429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747" name="组合 286"/>
            <p:cNvGrpSpPr/>
            <p:nvPr/>
          </p:nvGrpSpPr>
          <p:grpSpPr>
            <a:xfrm>
              <a:off x="958900" y="4784061"/>
              <a:ext cx="6552800" cy="462110"/>
              <a:chOff x="1058468" y="2540780"/>
              <a:chExt cx="6552800" cy="462110"/>
            </a:xfrm>
          </p:grpSpPr>
          <p:cxnSp>
            <p:nvCxnSpPr>
              <p:cNvPr id="341" name="直接连接符 340"/>
              <p:cNvCxnSpPr/>
              <p:nvPr/>
            </p:nvCxnSpPr>
            <p:spPr>
              <a:xfrm>
                <a:off x="1347930" y="2564384"/>
                <a:ext cx="626357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2" name="直接连接符 341"/>
              <p:cNvCxnSpPr/>
              <p:nvPr/>
            </p:nvCxnSpPr>
            <p:spPr>
              <a:xfrm>
                <a:off x="2127306" y="2853360"/>
                <a:ext cx="0" cy="1429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3" name="直接连接符 342"/>
              <p:cNvCxnSpPr/>
              <p:nvPr/>
            </p:nvCxnSpPr>
            <p:spPr>
              <a:xfrm>
                <a:off x="1216182" y="2708871"/>
                <a:ext cx="619214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4" name="直接连接符 343"/>
              <p:cNvCxnSpPr/>
              <p:nvPr/>
            </p:nvCxnSpPr>
            <p:spPr>
              <a:xfrm>
                <a:off x="2330483" y="2708871"/>
                <a:ext cx="0" cy="2873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5" name="直接连接符 344"/>
              <p:cNvCxnSpPr/>
              <p:nvPr/>
            </p:nvCxnSpPr>
            <p:spPr>
              <a:xfrm>
                <a:off x="2524137" y="2564384"/>
                <a:ext cx="0" cy="43187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直接连接符 345"/>
              <p:cNvCxnSpPr/>
              <p:nvPr/>
            </p:nvCxnSpPr>
            <p:spPr>
              <a:xfrm>
                <a:off x="1059037" y="2853360"/>
                <a:ext cx="615563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885" name="Oval 18"/>
              <p:cNvSpPr/>
              <p:nvPr/>
            </p:nvSpPr>
            <p:spPr>
              <a:xfrm>
                <a:off x="2505390" y="2540780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886" name="Oval 18"/>
              <p:cNvSpPr/>
              <p:nvPr/>
            </p:nvSpPr>
            <p:spPr>
              <a:xfrm>
                <a:off x="2313498" y="2684796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887" name="Oval 18"/>
              <p:cNvSpPr/>
              <p:nvPr/>
            </p:nvSpPr>
            <p:spPr>
              <a:xfrm>
                <a:off x="2115288" y="2828812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cxnSp>
            <p:nvCxnSpPr>
              <p:cNvPr id="350" name="直接连接符 349"/>
              <p:cNvCxnSpPr/>
              <p:nvPr/>
            </p:nvCxnSpPr>
            <p:spPr>
              <a:xfrm>
                <a:off x="5511479" y="2858123"/>
                <a:ext cx="0" cy="1444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1" name="直接连接符 350"/>
              <p:cNvCxnSpPr/>
              <p:nvPr/>
            </p:nvCxnSpPr>
            <p:spPr>
              <a:xfrm>
                <a:off x="5713068" y="2715223"/>
                <a:ext cx="0" cy="2873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2" name="直接连接符 351"/>
              <p:cNvCxnSpPr/>
              <p:nvPr/>
            </p:nvCxnSpPr>
            <p:spPr>
              <a:xfrm>
                <a:off x="5908310" y="2570735"/>
                <a:ext cx="0" cy="43187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891" name="Oval 18"/>
              <p:cNvSpPr/>
              <p:nvPr/>
            </p:nvSpPr>
            <p:spPr>
              <a:xfrm>
                <a:off x="5889386" y="2546718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892" name="Oval 18"/>
              <p:cNvSpPr/>
              <p:nvPr/>
            </p:nvSpPr>
            <p:spPr>
              <a:xfrm>
                <a:off x="5697494" y="2690734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893" name="Oval 18"/>
              <p:cNvSpPr/>
              <p:nvPr/>
            </p:nvSpPr>
            <p:spPr>
              <a:xfrm>
                <a:off x="5499284" y="2834750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cxnSp>
            <p:nvCxnSpPr>
              <p:cNvPr id="356" name="直接连接符 355"/>
              <p:cNvCxnSpPr/>
              <p:nvPr/>
            </p:nvCxnSpPr>
            <p:spPr>
              <a:xfrm>
                <a:off x="3819392" y="2853360"/>
                <a:ext cx="0" cy="1429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7" name="直接连接符 356"/>
              <p:cNvCxnSpPr/>
              <p:nvPr/>
            </p:nvCxnSpPr>
            <p:spPr>
              <a:xfrm>
                <a:off x="4022570" y="2708871"/>
                <a:ext cx="0" cy="2873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" name="直接连接符 357"/>
              <p:cNvCxnSpPr/>
              <p:nvPr/>
            </p:nvCxnSpPr>
            <p:spPr>
              <a:xfrm>
                <a:off x="4220985" y="2564384"/>
                <a:ext cx="0" cy="43187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897" name="Oval 18"/>
              <p:cNvSpPr/>
              <p:nvPr/>
            </p:nvSpPr>
            <p:spPr>
              <a:xfrm>
                <a:off x="4197582" y="2540780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898" name="Oval 18"/>
              <p:cNvSpPr/>
              <p:nvPr/>
            </p:nvSpPr>
            <p:spPr>
              <a:xfrm>
                <a:off x="4005690" y="2684796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899" name="Oval 18"/>
              <p:cNvSpPr/>
              <p:nvPr/>
            </p:nvSpPr>
            <p:spPr>
              <a:xfrm>
                <a:off x="3807480" y="2828812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>
              <a:xfrm>
                <a:off x="7205152" y="2858123"/>
                <a:ext cx="0" cy="1444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3" name="直接连接符 362"/>
              <p:cNvCxnSpPr/>
              <p:nvPr/>
            </p:nvCxnSpPr>
            <p:spPr>
              <a:xfrm>
                <a:off x="7406743" y="2715223"/>
                <a:ext cx="0" cy="2873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4" name="直接连接符 363"/>
              <p:cNvCxnSpPr/>
              <p:nvPr/>
            </p:nvCxnSpPr>
            <p:spPr>
              <a:xfrm>
                <a:off x="7605158" y="2570735"/>
                <a:ext cx="0" cy="43187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748" name="组合 287"/>
            <p:cNvGrpSpPr/>
            <p:nvPr/>
          </p:nvGrpSpPr>
          <p:grpSpPr>
            <a:xfrm>
              <a:off x="1403648" y="3890275"/>
              <a:ext cx="7050398" cy="1356252"/>
              <a:chOff x="1503216" y="1646994"/>
              <a:chExt cx="7050398" cy="1356252"/>
            </a:xfrm>
          </p:grpSpPr>
          <p:grpSp>
            <p:nvGrpSpPr>
              <p:cNvPr id="30860" name="组合 321"/>
              <p:cNvGrpSpPr/>
              <p:nvPr/>
            </p:nvGrpSpPr>
            <p:grpSpPr>
              <a:xfrm>
                <a:off x="1647232" y="1666217"/>
                <a:ext cx="6696008" cy="250615"/>
                <a:chOff x="1849476" y="1522201"/>
                <a:chExt cx="6696008" cy="250615"/>
              </a:xfrm>
            </p:grpSpPr>
            <p:cxnSp>
              <p:nvCxnSpPr>
                <p:cNvPr id="339" name="直接连接符 338"/>
                <p:cNvCxnSpPr/>
                <p:nvPr/>
              </p:nvCxnSpPr>
              <p:spPr>
                <a:xfrm>
                  <a:off x="1921608" y="1521685"/>
                  <a:ext cx="6623900" cy="0"/>
                </a:xfrm>
                <a:prstGeom prst="line">
                  <a:avLst/>
                </a:prstGeom>
                <a:ln w="12700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0" name="直接连接符 339"/>
                <p:cNvCxnSpPr/>
                <p:nvPr/>
              </p:nvCxnSpPr>
              <p:spPr>
                <a:xfrm>
                  <a:off x="1850179" y="1772554"/>
                  <a:ext cx="3311156" cy="0"/>
                </a:xfrm>
                <a:prstGeom prst="line">
                  <a:avLst/>
                </a:prstGeom>
                <a:ln w="127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861" name="组合 322"/>
              <p:cNvGrpSpPr/>
              <p:nvPr/>
            </p:nvGrpSpPr>
            <p:grpSpPr>
              <a:xfrm>
                <a:off x="1503216" y="2164663"/>
                <a:ext cx="7050398" cy="256225"/>
                <a:chOff x="1705460" y="1516591"/>
                <a:chExt cx="7050398" cy="256225"/>
              </a:xfrm>
            </p:grpSpPr>
            <p:cxnSp>
              <p:nvCxnSpPr>
                <p:cNvPr id="337" name="直接连接符 336"/>
                <p:cNvCxnSpPr/>
                <p:nvPr/>
              </p:nvCxnSpPr>
              <p:spPr>
                <a:xfrm>
                  <a:off x="1772400" y="1516192"/>
                  <a:ext cx="6984221" cy="0"/>
                </a:xfrm>
                <a:prstGeom prst="line">
                  <a:avLst/>
                </a:prstGeom>
                <a:ln w="12700">
                  <a:solidFill>
                    <a:srgbClr val="33993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8" name="直接连接符 337"/>
                <p:cNvCxnSpPr/>
                <p:nvPr/>
              </p:nvCxnSpPr>
              <p:spPr>
                <a:xfrm>
                  <a:off x="1705732" y="1771824"/>
                  <a:ext cx="5365152" cy="0"/>
                </a:xfrm>
                <a:prstGeom prst="line">
                  <a:avLst/>
                </a:prstGeom>
                <a:ln w="12700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862" name="组合 323"/>
              <p:cNvGrpSpPr/>
              <p:nvPr/>
            </p:nvGrpSpPr>
            <p:grpSpPr>
              <a:xfrm>
                <a:off x="3243284" y="1646994"/>
                <a:ext cx="5304096" cy="1356252"/>
                <a:chOff x="3243284" y="1646994"/>
                <a:chExt cx="5304096" cy="1356252"/>
              </a:xfrm>
            </p:grpSpPr>
            <p:cxnSp>
              <p:nvCxnSpPr>
                <p:cNvPr id="325" name="直接连接符 324"/>
                <p:cNvCxnSpPr/>
                <p:nvPr/>
              </p:nvCxnSpPr>
              <p:spPr>
                <a:xfrm>
                  <a:off x="3260655" y="1916570"/>
                  <a:ext cx="0" cy="1079689"/>
                </a:xfrm>
                <a:prstGeom prst="line">
                  <a:avLst/>
                </a:prstGeom>
                <a:ln w="127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6" name="直接连接符 325"/>
                <p:cNvCxnSpPr/>
                <p:nvPr/>
              </p:nvCxnSpPr>
              <p:spPr>
                <a:xfrm>
                  <a:off x="4959091" y="1916570"/>
                  <a:ext cx="0" cy="1079689"/>
                </a:xfrm>
                <a:prstGeom prst="line">
                  <a:avLst/>
                </a:prstGeom>
                <a:ln w="127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0865" name="Oval 18"/>
                <p:cNvSpPr/>
                <p:nvPr/>
              </p:nvSpPr>
              <p:spPr>
                <a:xfrm>
                  <a:off x="3243284" y="1892708"/>
                  <a:ext cx="36000" cy="36000"/>
                </a:xfrm>
                <a:prstGeom prst="ellipse">
                  <a:avLst/>
                </a:prstGeom>
                <a:solidFill>
                  <a:srgbClr val="0000FF"/>
                </a:solidFill>
                <a:ln w="25400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endParaRPr lang="zh-CN" altLang="en-US" sz="16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cxnSp>
              <p:nvCxnSpPr>
                <p:cNvPr id="328" name="直接连接符 327"/>
                <p:cNvCxnSpPr/>
                <p:nvPr/>
              </p:nvCxnSpPr>
              <p:spPr>
                <a:xfrm>
                  <a:off x="6646415" y="1670464"/>
                  <a:ext cx="0" cy="1332147"/>
                </a:xfrm>
                <a:prstGeom prst="line">
                  <a:avLst/>
                </a:prstGeom>
                <a:ln w="12700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9" name="直接连接符 328"/>
                <p:cNvCxnSpPr/>
                <p:nvPr/>
              </p:nvCxnSpPr>
              <p:spPr>
                <a:xfrm>
                  <a:off x="8344851" y="1670464"/>
                  <a:ext cx="0" cy="1332147"/>
                </a:xfrm>
                <a:prstGeom prst="line">
                  <a:avLst/>
                </a:prstGeom>
                <a:ln w="12700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0868" name="Oval 18"/>
                <p:cNvSpPr/>
                <p:nvPr/>
              </p:nvSpPr>
              <p:spPr>
                <a:xfrm>
                  <a:off x="6622102" y="1646994"/>
                  <a:ext cx="36000" cy="36000"/>
                </a:xfrm>
                <a:prstGeom prst="ellipse">
                  <a:avLst/>
                </a:prstGeom>
                <a:solidFill>
                  <a:srgbClr val="0070C0"/>
                </a:solidFill>
                <a:ln w="25400" cap="flat" cmpd="sng">
                  <a:solidFill>
                    <a:srgbClr val="0070C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endParaRPr lang="zh-CN" altLang="en-US" sz="16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cxnSp>
              <p:nvCxnSpPr>
                <p:cNvPr id="331" name="直接连接符 330"/>
                <p:cNvCxnSpPr/>
                <p:nvPr/>
              </p:nvCxnSpPr>
              <p:spPr>
                <a:xfrm>
                  <a:off x="3465419" y="2419896"/>
                  <a:ext cx="0" cy="576364"/>
                </a:xfrm>
                <a:prstGeom prst="line">
                  <a:avLst/>
                </a:prstGeom>
                <a:ln w="12700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0870" name="Oval 18"/>
                <p:cNvSpPr/>
                <p:nvPr/>
              </p:nvSpPr>
              <p:spPr>
                <a:xfrm>
                  <a:off x="3447432" y="2396764"/>
                  <a:ext cx="36000" cy="36000"/>
                </a:xfrm>
                <a:prstGeom prst="ellipse">
                  <a:avLst/>
                </a:prstGeom>
                <a:solidFill>
                  <a:srgbClr val="006600"/>
                </a:solidFill>
                <a:ln w="25400" cap="flat" cmpd="sng">
                  <a:solidFill>
                    <a:srgbClr val="0066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endParaRPr lang="zh-CN" altLang="en-US" sz="16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cxnSp>
              <p:nvCxnSpPr>
                <p:cNvPr id="333" name="直接连接符 332"/>
                <p:cNvCxnSpPr/>
                <p:nvPr/>
              </p:nvCxnSpPr>
              <p:spPr>
                <a:xfrm>
                  <a:off x="6855941" y="2419896"/>
                  <a:ext cx="0" cy="576364"/>
                </a:xfrm>
                <a:prstGeom prst="line">
                  <a:avLst/>
                </a:prstGeom>
                <a:ln w="12700">
                  <a:solidFill>
                    <a:srgbClr val="00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4" name="直接连接符 333"/>
                <p:cNvCxnSpPr/>
                <p:nvPr/>
              </p:nvCxnSpPr>
              <p:spPr>
                <a:xfrm>
                  <a:off x="5157506" y="2167439"/>
                  <a:ext cx="0" cy="828820"/>
                </a:xfrm>
                <a:prstGeom prst="line">
                  <a:avLst/>
                </a:prstGeom>
                <a:ln w="12700">
                  <a:solidFill>
                    <a:srgbClr val="33993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0873" name="Oval 18"/>
                <p:cNvSpPr/>
                <p:nvPr/>
              </p:nvSpPr>
              <p:spPr>
                <a:xfrm>
                  <a:off x="5139244" y="2150670"/>
                  <a:ext cx="36000" cy="36000"/>
                </a:xfrm>
                <a:prstGeom prst="ellipse">
                  <a:avLst/>
                </a:prstGeom>
                <a:solidFill>
                  <a:srgbClr val="339933"/>
                </a:solidFill>
                <a:ln w="25400" cap="flat" cmpd="sng">
                  <a:solidFill>
                    <a:srgbClr val="339933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endParaRPr lang="zh-CN" altLang="en-US" sz="16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cxnSp>
              <p:nvCxnSpPr>
                <p:cNvPr id="336" name="直接连接符 335"/>
                <p:cNvCxnSpPr/>
                <p:nvPr/>
              </p:nvCxnSpPr>
              <p:spPr>
                <a:xfrm>
                  <a:off x="8548028" y="2167439"/>
                  <a:ext cx="0" cy="828820"/>
                </a:xfrm>
                <a:prstGeom prst="line">
                  <a:avLst/>
                </a:prstGeom>
                <a:ln w="12700">
                  <a:solidFill>
                    <a:srgbClr val="33993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0749" name="组合 288"/>
            <p:cNvGrpSpPr/>
            <p:nvPr/>
          </p:nvGrpSpPr>
          <p:grpSpPr>
            <a:xfrm>
              <a:off x="1849166" y="6486809"/>
              <a:ext cx="6899298" cy="276999"/>
              <a:chOff x="1948734" y="4221088"/>
              <a:chExt cx="6899298" cy="276999"/>
            </a:xfrm>
          </p:grpSpPr>
          <p:sp>
            <p:nvSpPr>
              <p:cNvPr id="30828" name="矩形 119"/>
              <p:cNvSpPr/>
              <p:nvPr/>
            </p:nvSpPr>
            <p:spPr>
              <a:xfrm>
                <a:off x="1948734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32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829" name="矩形 119"/>
              <p:cNvSpPr/>
              <p:nvPr/>
            </p:nvSpPr>
            <p:spPr>
              <a:xfrm>
                <a:off x="2172774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33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830" name="矩形 119"/>
              <p:cNvSpPr/>
              <p:nvPr/>
            </p:nvSpPr>
            <p:spPr>
              <a:xfrm>
                <a:off x="2367312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34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831" name="矩形 119"/>
              <p:cNvSpPr/>
              <p:nvPr/>
            </p:nvSpPr>
            <p:spPr>
              <a:xfrm>
                <a:off x="2569866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35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832" name="矩形 119"/>
              <p:cNvSpPr/>
              <p:nvPr/>
            </p:nvSpPr>
            <p:spPr>
              <a:xfrm>
                <a:off x="2777874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36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833" name="矩形 119"/>
              <p:cNvSpPr/>
              <p:nvPr/>
            </p:nvSpPr>
            <p:spPr>
              <a:xfrm>
                <a:off x="2980428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37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834" name="矩形 119"/>
              <p:cNvSpPr/>
              <p:nvPr/>
            </p:nvSpPr>
            <p:spPr>
              <a:xfrm>
                <a:off x="3159400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38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835" name="矩形 119"/>
              <p:cNvSpPr/>
              <p:nvPr/>
            </p:nvSpPr>
            <p:spPr>
              <a:xfrm>
                <a:off x="3361954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39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836" name="矩形 119"/>
              <p:cNvSpPr/>
              <p:nvPr/>
            </p:nvSpPr>
            <p:spPr>
              <a:xfrm>
                <a:off x="3639874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40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837" name="矩形 119"/>
              <p:cNvSpPr/>
              <p:nvPr/>
            </p:nvSpPr>
            <p:spPr>
              <a:xfrm>
                <a:off x="3863914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41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838" name="矩形 119"/>
              <p:cNvSpPr/>
              <p:nvPr/>
            </p:nvSpPr>
            <p:spPr>
              <a:xfrm>
                <a:off x="4058452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42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839" name="矩形 119"/>
              <p:cNvSpPr/>
              <p:nvPr/>
            </p:nvSpPr>
            <p:spPr>
              <a:xfrm>
                <a:off x="4261006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43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840" name="矩形 119"/>
              <p:cNvSpPr/>
              <p:nvPr/>
            </p:nvSpPr>
            <p:spPr>
              <a:xfrm>
                <a:off x="4469014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44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841" name="矩形 119"/>
              <p:cNvSpPr/>
              <p:nvPr/>
            </p:nvSpPr>
            <p:spPr>
              <a:xfrm>
                <a:off x="4671568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45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842" name="矩形 119"/>
              <p:cNvSpPr/>
              <p:nvPr/>
            </p:nvSpPr>
            <p:spPr>
              <a:xfrm>
                <a:off x="4850540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46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843" name="矩形 119"/>
              <p:cNvSpPr/>
              <p:nvPr/>
            </p:nvSpPr>
            <p:spPr>
              <a:xfrm>
                <a:off x="5053094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47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844" name="矩形 119"/>
              <p:cNvSpPr/>
              <p:nvPr/>
            </p:nvSpPr>
            <p:spPr>
              <a:xfrm>
                <a:off x="5353822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48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845" name="矩形 119"/>
              <p:cNvSpPr/>
              <p:nvPr/>
            </p:nvSpPr>
            <p:spPr>
              <a:xfrm>
                <a:off x="5577862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49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846" name="矩形 119"/>
              <p:cNvSpPr/>
              <p:nvPr/>
            </p:nvSpPr>
            <p:spPr>
              <a:xfrm>
                <a:off x="5772400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50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847" name="矩形 119"/>
              <p:cNvSpPr/>
              <p:nvPr/>
            </p:nvSpPr>
            <p:spPr>
              <a:xfrm>
                <a:off x="5974954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51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848" name="矩形 119"/>
              <p:cNvSpPr/>
              <p:nvPr/>
            </p:nvSpPr>
            <p:spPr>
              <a:xfrm>
                <a:off x="6182962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52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849" name="矩形 119"/>
              <p:cNvSpPr/>
              <p:nvPr/>
            </p:nvSpPr>
            <p:spPr>
              <a:xfrm>
                <a:off x="6385516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53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850" name="矩形 119"/>
              <p:cNvSpPr/>
              <p:nvPr/>
            </p:nvSpPr>
            <p:spPr>
              <a:xfrm>
                <a:off x="6564488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54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851" name="矩形 119"/>
              <p:cNvSpPr/>
              <p:nvPr/>
            </p:nvSpPr>
            <p:spPr>
              <a:xfrm>
                <a:off x="6767042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55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852" name="矩形 119"/>
              <p:cNvSpPr/>
              <p:nvPr/>
            </p:nvSpPr>
            <p:spPr>
              <a:xfrm>
                <a:off x="7044962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56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853" name="矩形 119"/>
              <p:cNvSpPr/>
              <p:nvPr/>
            </p:nvSpPr>
            <p:spPr>
              <a:xfrm>
                <a:off x="7269002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57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854" name="矩形 119"/>
              <p:cNvSpPr/>
              <p:nvPr/>
            </p:nvSpPr>
            <p:spPr>
              <a:xfrm>
                <a:off x="7463540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58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855" name="矩形 119"/>
              <p:cNvSpPr/>
              <p:nvPr/>
            </p:nvSpPr>
            <p:spPr>
              <a:xfrm>
                <a:off x="7666094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59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856" name="矩形 119"/>
              <p:cNvSpPr/>
              <p:nvPr/>
            </p:nvSpPr>
            <p:spPr>
              <a:xfrm>
                <a:off x="7874102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60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857" name="矩形 119"/>
              <p:cNvSpPr/>
              <p:nvPr/>
            </p:nvSpPr>
            <p:spPr>
              <a:xfrm>
                <a:off x="8076656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61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858" name="矩形 119"/>
              <p:cNvSpPr/>
              <p:nvPr/>
            </p:nvSpPr>
            <p:spPr>
              <a:xfrm>
                <a:off x="8255628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62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0859" name="矩形 119"/>
              <p:cNvSpPr/>
              <p:nvPr/>
            </p:nvSpPr>
            <p:spPr>
              <a:xfrm>
                <a:off x="8458182" y="4221088"/>
                <a:ext cx="389850" cy="2769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200" b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63</a:t>
                </a:r>
                <a:endParaRPr lang="zh-CN" altLang="en-US" sz="1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cxnSp>
          <p:nvCxnSpPr>
            <p:cNvPr id="272" name="直接连接符 271"/>
            <p:cNvCxnSpPr/>
            <p:nvPr/>
          </p:nvCxnSpPr>
          <p:spPr>
            <a:xfrm>
              <a:off x="1475350" y="1524139"/>
              <a:ext cx="0" cy="2878642"/>
            </a:xfrm>
            <a:prstGeom prst="line">
              <a:avLst/>
            </a:prstGeom>
            <a:ln w="127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直接连接符 272"/>
            <p:cNvCxnSpPr/>
            <p:nvPr/>
          </p:nvCxnSpPr>
          <p:spPr>
            <a:xfrm>
              <a:off x="1548366" y="1279621"/>
              <a:ext cx="0" cy="2880230"/>
            </a:xfrm>
            <a:prstGeom prst="line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直接连接符 273"/>
            <p:cNvCxnSpPr/>
            <p:nvPr/>
          </p:nvCxnSpPr>
          <p:spPr>
            <a:xfrm>
              <a:off x="1619795" y="1033515"/>
              <a:ext cx="0" cy="2880230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753" name="Oval 18"/>
            <p:cNvSpPr/>
            <p:nvPr/>
          </p:nvSpPr>
          <p:spPr>
            <a:xfrm>
              <a:off x="1524364" y="1262410"/>
              <a:ext cx="36000" cy="36000"/>
            </a:xfrm>
            <a:prstGeom prst="ellipse">
              <a:avLst/>
            </a:prstGeom>
            <a:solidFill>
              <a:srgbClr val="0000FF"/>
            </a:solidFill>
            <a:ln w="254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6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0754" name="Oval 18"/>
            <p:cNvSpPr/>
            <p:nvPr/>
          </p:nvSpPr>
          <p:spPr>
            <a:xfrm>
              <a:off x="1596372" y="1010386"/>
              <a:ext cx="36000" cy="36000"/>
            </a:xfrm>
            <a:prstGeom prst="ellipse">
              <a:avLst/>
            </a:prstGeom>
            <a:solidFill>
              <a:srgbClr val="0070C0"/>
            </a:solidFill>
            <a:ln w="25400" cap="flat" cmpd="sng">
              <a:solidFill>
                <a:srgbClr val="007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6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0755" name="Oval 18"/>
            <p:cNvSpPr/>
            <p:nvPr/>
          </p:nvSpPr>
          <p:spPr>
            <a:xfrm>
              <a:off x="1456606" y="1510184"/>
              <a:ext cx="36000" cy="36000"/>
            </a:xfrm>
            <a:prstGeom prst="ellipse">
              <a:avLst/>
            </a:prstGeom>
            <a:solidFill>
              <a:srgbClr val="339933"/>
            </a:solidFill>
            <a:ln w="25400" cap="flat" cmpd="sng">
              <a:solidFill>
                <a:srgbClr val="339933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6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0756" name="Oval 18"/>
            <p:cNvSpPr/>
            <p:nvPr/>
          </p:nvSpPr>
          <p:spPr>
            <a:xfrm>
              <a:off x="1386698" y="1760116"/>
              <a:ext cx="36000" cy="36000"/>
            </a:xfrm>
            <a:prstGeom prst="ellipse">
              <a:avLst/>
            </a:prstGeom>
            <a:solidFill>
              <a:srgbClr val="006600"/>
            </a:solidFill>
            <a:ln w="25400" cap="flat" cmpd="sng">
              <a:solidFill>
                <a:srgbClr val="0066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6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79" name="直接连接符 278"/>
            <p:cNvCxnSpPr/>
            <p:nvPr/>
          </p:nvCxnSpPr>
          <p:spPr>
            <a:xfrm>
              <a:off x="1115027" y="2067159"/>
              <a:ext cx="0" cy="288023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直接连接符 279"/>
            <p:cNvCxnSpPr/>
            <p:nvPr/>
          </p:nvCxnSpPr>
          <p:spPr>
            <a:xfrm>
              <a:off x="1253124" y="1922671"/>
              <a:ext cx="0" cy="288023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直接连接符 280"/>
            <p:cNvCxnSpPr/>
            <p:nvPr/>
          </p:nvCxnSpPr>
          <p:spPr>
            <a:xfrm>
              <a:off x="965818" y="2211646"/>
              <a:ext cx="0" cy="288023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760" name="Oval 18"/>
            <p:cNvSpPr/>
            <p:nvPr/>
          </p:nvSpPr>
          <p:spPr>
            <a:xfrm>
              <a:off x="1234232" y="1910482"/>
              <a:ext cx="36000" cy="36000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6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0761" name="Oval 18"/>
            <p:cNvSpPr/>
            <p:nvPr/>
          </p:nvSpPr>
          <p:spPr>
            <a:xfrm>
              <a:off x="1098666" y="2049791"/>
              <a:ext cx="36000" cy="36000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6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0762" name="Oval 18"/>
            <p:cNvSpPr/>
            <p:nvPr/>
          </p:nvSpPr>
          <p:spPr>
            <a:xfrm>
              <a:off x="948300" y="2194264"/>
              <a:ext cx="36000" cy="36000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6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85" name="直接连接符 284"/>
            <p:cNvCxnSpPr/>
            <p:nvPr/>
          </p:nvCxnSpPr>
          <p:spPr>
            <a:xfrm rot="5400000">
              <a:off x="-35401" y="3225443"/>
              <a:ext cx="2878643" cy="0"/>
            </a:xfrm>
            <a:prstGeom prst="line">
              <a:avLst/>
            </a:prstGeom>
            <a:ln w="12700"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直接连接符 486"/>
            <p:cNvCxnSpPr/>
            <p:nvPr/>
          </p:nvCxnSpPr>
          <p:spPr>
            <a:xfrm>
              <a:off x="1943609" y="3678754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直接连接符 487"/>
            <p:cNvCxnSpPr/>
            <p:nvPr/>
          </p:nvCxnSpPr>
          <p:spPr>
            <a:xfrm>
              <a:off x="2159485" y="3678754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直接连接符 488"/>
            <p:cNvCxnSpPr/>
            <p:nvPr/>
          </p:nvCxnSpPr>
          <p:spPr>
            <a:xfrm>
              <a:off x="2359488" y="3678754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直接连接符 489"/>
            <p:cNvCxnSpPr/>
            <p:nvPr/>
          </p:nvCxnSpPr>
          <p:spPr>
            <a:xfrm>
              <a:off x="2564253" y="3678754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直接连接符 490"/>
            <p:cNvCxnSpPr/>
            <p:nvPr/>
          </p:nvCxnSpPr>
          <p:spPr>
            <a:xfrm>
              <a:off x="2765843" y="3677166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直接连接符 491"/>
            <p:cNvCxnSpPr/>
            <p:nvPr/>
          </p:nvCxnSpPr>
          <p:spPr>
            <a:xfrm>
              <a:off x="2970608" y="3677166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直接连接符 492"/>
            <p:cNvCxnSpPr/>
            <p:nvPr/>
          </p:nvCxnSpPr>
          <p:spPr>
            <a:xfrm>
              <a:off x="3151563" y="3677166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直接连接符 493"/>
            <p:cNvCxnSpPr/>
            <p:nvPr/>
          </p:nvCxnSpPr>
          <p:spPr>
            <a:xfrm>
              <a:off x="3349978" y="3677166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直接连接符 494"/>
            <p:cNvCxnSpPr/>
            <p:nvPr/>
          </p:nvCxnSpPr>
          <p:spPr>
            <a:xfrm>
              <a:off x="3635696" y="3680342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直接连接符 495"/>
            <p:cNvCxnSpPr/>
            <p:nvPr/>
          </p:nvCxnSpPr>
          <p:spPr>
            <a:xfrm>
              <a:off x="3851572" y="3680342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直接连接符 496"/>
            <p:cNvCxnSpPr/>
            <p:nvPr/>
          </p:nvCxnSpPr>
          <p:spPr>
            <a:xfrm>
              <a:off x="4051574" y="3680342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直接连接符 497"/>
            <p:cNvCxnSpPr/>
            <p:nvPr/>
          </p:nvCxnSpPr>
          <p:spPr>
            <a:xfrm>
              <a:off x="4256340" y="3680342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直接连接符 498"/>
            <p:cNvCxnSpPr/>
            <p:nvPr/>
          </p:nvCxnSpPr>
          <p:spPr>
            <a:xfrm>
              <a:off x="4457929" y="3678754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直接连接符 499"/>
            <p:cNvCxnSpPr/>
            <p:nvPr/>
          </p:nvCxnSpPr>
          <p:spPr>
            <a:xfrm>
              <a:off x="4662694" y="3678754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直接连接符 500"/>
            <p:cNvCxnSpPr/>
            <p:nvPr/>
          </p:nvCxnSpPr>
          <p:spPr>
            <a:xfrm>
              <a:off x="4843649" y="3678754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直接连接符 501"/>
            <p:cNvCxnSpPr/>
            <p:nvPr/>
          </p:nvCxnSpPr>
          <p:spPr>
            <a:xfrm>
              <a:off x="5042064" y="3678754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直接连接符 502"/>
            <p:cNvCxnSpPr/>
            <p:nvPr/>
          </p:nvCxnSpPr>
          <p:spPr>
            <a:xfrm>
              <a:off x="5345243" y="3678754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直接连接符 503"/>
            <p:cNvCxnSpPr/>
            <p:nvPr/>
          </p:nvCxnSpPr>
          <p:spPr>
            <a:xfrm>
              <a:off x="5561119" y="3678754"/>
              <a:ext cx="109525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直接连接符 504"/>
            <p:cNvCxnSpPr/>
            <p:nvPr/>
          </p:nvCxnSpPr>
          <p:spPr>
            <a:xfrm>
              <a:off x="5761122" y="3678754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直接连接符 505"/>
            <p:cNvCxnSpPr/>
            <p:nvPr/>
          </p:nvCxnSpPr>
          <p:spPr>
            <a:xfrm>
              <a:off x="5965886" y="3678754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直接连接符 506"/>
            <p:cNvCxnSpPr/>
            <p:nvPr/>
          </p:nvCxnSpPr>
          <p:spPr>
            <a:xfrm>
              <a:off x="6169063" y="3677166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直接连接符 507"/>
            <p:cNvCxnSpPr/>
            <p:nvPr/>
          </p:nvCxnSpPr>
          <p:spPr>
            <a:xfrm>
              <a:off x="6373829" y="3677166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直接连接符 508"/>
            <p:cNvCxnSpPr/>
            <p:nvPr/>
          </p:nvCxnSpPr>
          <p:spPr>
            <a:xfrm>
              <a:off x="6553196" y="3677166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直接连接符 509"/>
            <p:cNvCxnSpPr/>
            <p:nvPr/>
          </p:nvCxnSpPr>
          <p:spPr>
            <a:xfrm>
              <a:off x="6751612" y="3678754"/>
              <a:ext cx="109525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直接连接符 510"/>
            <p:cNvCxnSpPr/>
            <p:nvPr/>
          </p:nvCxnSpPr>
          <p:spPr>
            <a:xfrm>
              <a:off x="7026218" y="3680342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直接连接符 511"/>
            <p:cNvCxnSpPr/>
            <p:nvPr/>
          </p:nvCxnSpPr>
          <p:spPr>
            <a:xfrm>
              <a:off x="7242094" y="3680342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直接连接符 512"/>
            <p:cNvCxnSpPr/>
            <p:nvPr/>
          </p:nvCxnSpPr>
          <p:spPr>
            <a:xfrm>
              <a:off x="7440510" y="3680342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直接连接符 513"/>
            <p:cNvCxnSpPr/>
            <p:nvPr/>
          </p:nvCxnSpPr>
          <p:spPr>
            <a:xfrm>
              <a:off x="7645274" y="3680342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直接连接符 514"/>
            <p:cNvCxnSpPr/>
            <p:nvPr/>
          </p:nvCxnSpPr>
          <p:spPr>
            <a:xfrm>
              <a:off x="7848451" y="3678754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直接连接符 515"/>
            <p:cNvCxnSpPr/>
            <p:nvPr/>
          </p:nvCxnSpPr>
          <p:spPr>
            <a:xfrm>
              <a:off x="8053216" y="3678754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直接连接符 516"/>
            <p:cNvCxnSpPr/>
            <p:nvPr/>
          </p:nvCxnSpPr>
          <p:spPr>
            <a:xfrm>
              <a:off x="8232583" y="3678754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直接连接符 517"/>
            <p:cNvCxnSpPr/>
            <p:nvPr/>
          </p:nvCxnSpPr>
          <p:spPr>
            <a:xfrm>
              <a:off x="8432586" y="3678754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直接连接符 518"/>
            <p:cNvCxnSpPr/>
            <p:nvPr/>
          </p:nvCxnSpPr>
          <p:spPr>
            <a:xfrm>
              <a:off x="1942023" y="6557397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直接连接符 519"/>
            <p:cNvCxnSpPr/>
            <p:nvPr/>
          </p:nvCxnSpPr>
          <p:spPr>
            <a:xfrm>
              <a:off x="2157898" y="6557397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直接连接符 520"/>
            <p:cNvCxnSpPr/>
            <p:nvPr/>
          </p:nvCxnSpPr>
          <p:spPr>
            <a:xfrm>
              <a:off x="2356313" y="6557397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直接连接符 521"/>
            <p:cNvCxnSpPr/>
            <p:nvPr/>
          </p:nvCxnSpPr>
          <p:spPr>
            <a:xfrm>
              <a:off x="2561079" y="6557397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直接连接符 522"/>
            <p:cNvCxnSpPr/>
            <p:nvPr/>
          </p:nvCxnSpPr>
          <p:spPr>
            <a:xfrm>
              <a:off x="2764256" y="6555809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直接连接符 523"/>
            <p:cNvCxnSpPr/>
            <p:nvPr/>
          </p:nvCxnSpPr>
          <p:spPr>
            <a:xfrm>
              <a:off x="2969020" y="6557397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5" name="直接连接符 524"/>
            <p:cNvCxnSpPr/>
            <p:nvPr/>
          </p:nvCxnSpPr>
          <p:spPr>
            <a:xfrm>
              <a:off x="3148388" y="6557397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6" name="直接连接符 525"/>
            <p:cNvCxnSpPr/>
            <p:nvPr/>
          </p:nvCxnSpPr>
          <p:spPr>
            <a:xfrm>
              <a:off x="3348391" y="6557397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7" name="直接连接符 526"/>
            <p:cNvCxnSpPr/>
            <p:nvPr/>
          </p:nvCxnSpPr>
          <p:spPr>
            <a:xfrm>
              <a:off x="3634109" y="6558984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直接连接符 527"/>
            <p:cNvCxnSpPr/>
            <p:nvPr/>
          </p:nvCxnSpPr>
          <p:spPr>
            <a:xfrm>
              <a:off x="3849985" y="6558984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直接连接符 528"/>
            <p:cNvCxnSpPr/>
            <p:nvPr/>
          </p:nvCxnSpPr>
          <p:spPr>
            <a:xfrm>
              <a:off x="4048400" y="6558984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直接连接符 529"/>
            <p:cNvCxnSpPr/>
            <p:nvPr/>
          </p:nvCxnSpPr>
          <p:spPr>
            <a:xfrm>
              <a:off x="4253165" y="6558984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直接连接符 530"/>
            <p:cNvCxnSpPr/>
            <p:nvPr/>
          </p:nvCxnSpPr>
          <p:spPr>
            <a:xfrm>
              <a:off x="4456342" y="6557397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直接连接符 531"/>
            <p:cNvCxnSpPr/>
            <p:nvPr/>
          </p:nvCxnSpPr>
          <p:spPr>
            <a:xfrm>
              <a:off x="4661107" y="6557397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直接连接符 532"/>
            <p:cNvCxnSpPr/>
            <p:nvPr/>
          </p:nvCxnSpPr>
          <p:spPr>
            <a:xfrm>
              <a:off x="4840475" y="6557397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直接连接符 533"/>
            <p:cNvCxnSpPr/>
            <p:nvPr/>
          </p:nvCxnSpPr>
          <p:spPr>
            <a:xfrm>
              <a:off x="5040477" y="6557397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直接连接符 534"/>
            <p:cNvCxnSpPr/>
            <p:nvPr/>
          </p:nvCxnSpPr>
          <p:spPr>
            <a:xfrm>
              <a:off x="5343655" y="6557397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直接连接符 535"/>
            <p:cNvCxnSpPr/>
            <p:nvPr/>
          </p:nvCxnSpPr>
          <p:spPr>
            <a:xfrm>
              <a:off x="5559531" y="6557397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直接连接符 536"/>
            <p:cNvCxnSpPr/>
            <p:nvPr/>
          </p:nvCxnSpPr>
          <p:spPr>
            <a:xfrm>
              <a:off x="5757947" y="6557397"/>
              <a:ext cx="109525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直接连接符 537"/>
            <p:cNvCxnSpPr/>
            <p:nvPr/>
          </p:nvCxnSpPr>
          <p:spPr>
            <a:xfrm>
              <a:off x="5964299" y="6557397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直接连接符 538"/>
            <p:cNvCxnSpPr/>
            <p:nvPr/>
          </p:nvCxnSpPr>
          <p:spPr>
            <a:xfrm>
              <a:off x="6165889" y="6557397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直接连接符 539"/>
            <p:cNvCxnSpPr/>
            <p:nvPr/>
          </p:nvCxnSpPr>
          <p:spPr>
            <a:xfrm>
              <a:off x="6370654" y="6557397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直接连接符 540"/>
            <p:cNvCxnSpPr/>
            <p:nvPr/>
          </p:nvCxnSpPr>
          <p:spPr>
            <a:xfrm>
              <a:off x="6550021" y="6557397"/>
              <a:ext cx="109526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直接连接符 541"/>
            <p:cNvCxnSpPr/>
            <p:nvPr/>
          </p:nvCxnSpPr>
          <p:spPr>
            <a:xfrm>
              <a:off x="6750024" y="6557397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3" name="直接连接符 542"/>
            <p:cNvCxnSpPr/>
            <p:nvPr/>
          </p:nvCxnSpPr>
          <p:spPr>
            <a:xfrm>
              <a:off x="7023043" y="6558984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直接连接符 543"/>
            <p:cNvCxnSpPr/>
            <p:nvPr/>
          </p:nvCxnSpPr>
          <p:spPr>
            <a:xfrm>
              <a:off x="7238919" y="6558984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直接连接符 544"/>
            <p:cNvCxnSpPr/>
            <p:nvPr/>
          </p:nvCxnSpPr>
          <p:spPr>
            <a:xfrm>
              <a:off x="7438922" y="6558984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直接连接符 545"/>
            <p:cNvCxnSpPr/>
            <p:nvPr/>
          </p:nvCxnSpPr>
          <p:spPr>
            <a:xfrm>
              <a:off x="7643687" y="6558984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直接连接符 546"/>
            <p:cNvCxnSpPr/>
            <p:nvPr/>
          </p:nvCxnSpPr>
          <p:spPr>
            <a:xfrm>
              <a:off x="7845277" y="6557397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直接连接符 547"/>
            <p:cNvCxnSpPr/>
            <p:nvPr/>
          </p:nvCxnSpPr>
          <p:spPr>
            <a:xfrm>
              <a:off x="8050042" y="6557397"/>
              <a:ext cx="109525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直接连接符 548"/>
            <p:cNvCxnSpPr/>
            <p:nvPr/>
          </p:nvCxnSpPr>
          <p:spPr>
            <a:xfrm>
              <a:off x="8230997" y="6557397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" name="直接连接符 549"/>
            <p:cNvCxnSpPr/>
            <p:nvPr/>
          </p:nvCxnSpPr>
          <p:spPr>
            <a:xfrm>
              <a:off x="8429412" y="6557397"/>
              <a:ext cx="1079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8" name="组合 267"/>
          <p:cNvGrpSpPr/>
          <p:nvPr/>
        </p:nvGrpSpPr>
        <p:grpSpPr>
          <a:xfrm>
            <a:off x="323850" y="260350"/>
            <a:ext cx="7716838" cy="4960938"/>
            <a:chOff x="323528" y="332656"/>
            <a:chExt cx="7717808" cy="4960407"/>
          </a:xfrm>
        </p:grpSpPr>
        <p:cxnSp>
          <p:nvCxnSpPr>
            <p:cNvPr id="238" name="直接连接符 237"/>
            <p:cNvCxnSpPr/>
            <p:nvPr/>
          </p:nvCxnSpPr>
          <p:spPr>
            <a:xfrm rot="16200000" flipV="1">
              <a:off x="-551564" y="3019212"/>
              <a:ext cx="4500080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接连接符 238"/>
            <p:cNvCxnSpPr/>
            <p:nvPr/>
          </p:nvCxnSpPr>
          <p:spPr>
            <a:xfrm rot="16200000" flipV="1">
              <a:off x="842130" y="1462042"/>
              <a:ext cx="1871463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727" name="矩形 119"/>
            <p:cNvSpPr/>
            <p:nvPr/>
          </p:nvSpPr>
          <p:spPr>
            <a:xfrm>
              <a:off x="323528" y="332656"/>
              <a:ext cx="373820" cy="3077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14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CN" altLang="en-US" sz="1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30728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3372" y="346321"/>
              <a:ext cx="326529" cy="316080"/>
            </a:xfrm>
            <a:prstGeom prst="rect">
              <a:avLst/>
            </a:prstGeom>
            <a:noFill/>
            <a:ln w="9525">
              <a:noFill/>
            </a:ln>
          </p:spPr>
        </p:pic>
        <p:cxnSp>
          <p:nvCxnSpPr>
            <p:cNvPr id="253" name="直接连接符 252"/>
            <p:cNvCxnSpPr/>
            <p:nvPr/>
          </p:nvCxnSpPr>
          <p:spPr>
            <a:xfrm>
              <a:off x="625191" y="513612"/>
              <a:ext cx="287374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直接连接符 253"/>
            <p:cNvCxnSpPr/>
            <p:nvPr/>
          </p:nvCxnSpPr>
          <p:spPr>
            <a:xfrm>
              <a:off x="1236456" y="521549"/>
              <a:ext cx="541405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接连接符 254"/>
            <p:cNvCxnSpPr/>
            <p:nvPr/>
          </p:nvCxnSpPr>
          <p:spPr>
            <a:xfrm>
              <a:off x="761733" y="764410"/>
              <a:ext cx="936743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直接连接符 255"/>
            <p:cNvCxnSpPr/>
            <p:nvPr/>
          </p:nvCxnSpPr>
          <p:spPr>
            <a:xfrm rot="5400000">
              <a:off x="643481" y="638217"/>
              <a:ext cx="252385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733" name="Oval 18"/>
            <p:cNvSpPr/>
            <p:nvPr/>
          </p:nvSpPr>
          <p:spPr>
            <a:xfrm>
              <a:off x="751542" y="494486"/>
              <a:ext cx="36000" cy="36000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6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60" name="直接连接符 259"/>
            <p:cNvCxnSpPr/>
            <p:nvPr/>
          </p:nvCxnSpPr>
          <p:spPr>
            <a:xfrm>
              <a:off x="1777861" y="2393010"/>
              <a:ext cx="6263475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735" name="Oval 18"/>
            <p:cNvSpPr/>
            <p:nvPr/>
          </p:nvSpPr>
          <p:spPr>
            <a:xfrm>
              <a:off x="2937824" y="2376743"/>
              <a:ext cx="36000" cy="36000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6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0736" name="Oval 18"/>
            <p:cNvSpPr/>
            <p:nvPr/>
          </p:nvSpPr>
          <p:spPr>
            <a:xfrm>
              <a:off x="4624406" y="2371133"/>
              <a:ext cx="36000" cy="36000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6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0737" name="Oval 18"/>
            <p:cNvSpPr/>
            <p:nvPr/>
          </p:nvSpPr>
          <p:spPr>
            <a:xfrm>
              <a:off x="6327810" y="2365523"/>
              <a:ext cx="36000" cy="36000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6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64" name="直接连接符 263"/>
            <p:cNvCxnSpPr/>
            <p:nvPr/>
          </p:nvCxnSpPr>
          <p:spPr>
            <a:xfrm>
              <a:off x="1698476" y="5274015"/>
              <a:ext cx="6336509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739" name="Oval 18"/>
            <p:cNvSpPr/>
            <p:nvPr/>
          </p:nvSpPr>
          <p:spPr>
            <a:xfrm>
              <a:off x="2937824" y="5257063"/>
              <a:ext cx="36000" cy="36000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6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0740" name="Oval 18"/>
            <p:cNvSpPr/>
            <p:nvPr/>
          </p:nvSpPr>
          <p:spPr>
            <a:xfrm>
              <a:off x="4624406" y="5251453"/>
              <a:ext cx="36000" cy="36000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6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0741" name="Oval 18"/>
            <p:cNvSpPr/>
            <p:nvPr/>
          </p:nvSpPr>
          <p:spPr>
            <a:xfrm>
              <a:off x="6327810" y="5255368"/>
              <a:ext cx="36000" cy="36000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6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30724" name="矩形 119"/>
          <p:cNvSpPr/>
          <p:nvPr/>
        </p:nvSpPr>
        <p:spPr>
          <a:xfrm>
            <a:off x="2986088" y="14288"/>
            <a:ext cx="28098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—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线译码电路</a:t>
            </a:r>
            <a:endParaRPr lang="zh-CN" altLang="en-US" sz="2400" b="1" baseline="-25000" dirty="0">
              <a:solidFill>
                <a:srgbClr val="C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5"/>
          <p:cNvSpPr txBox="1">
            <a:spLocks noChangeArrowheads="1"/>
          </p:cNvSpPr>
          <p:nvPr/>
        </p:nvSpPr>
        <p:spPr bwMode="auto">
          <a:xfrm>
            <a:off x="500063" y="0"/>
            <a:ext cx="3527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二－十进制译码器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6"/>
          <p:cNvSpPr>
            <a:spLocks noChangeArrowheads="1"/>
          </p:cNvSpPr>
          <p:nvPr/>
        </p:nvSpPr>
        <p:spPr bwMode="auto">
          <a:xfrm>
            <a:off x="714375" y="428625"/>
            <a:ext cx="78581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十进制译码器也称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BCD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译码器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，它的功能是将输入的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BCD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码译成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个高、低电平输出信号，因此也叫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—10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线译码器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72"/>
          <p:cNvGrpSpPr/>
          <p:nvPr/>
        </p:nvGrpSpPr>
        <p:grpSpPr bwMode="auto">
          <a:xfrm>
            <a:off x="428625" y="1714500"/>
            <a:ext cx="3724275" cy="5000625"/>
            <a:chOff x="428596" y="1714488"/>
            <a:chExt cx="3724299" cy="5000660"/>
          </a:xfrm>
        </p:grpSpPr>
        <p:grpSp>
          <p:nvGrpSpPr>
            <p:cNvPr id="37908" name="组合 57"/>
            <p:cNvGrpSpPr/>
            <p:nvPr/>
          </p:nvGrpSpPr>
          <p:grpSpPr bwMode="auto">
            <a:xfrm>
              <a:off x="428596" y="2071678"/>
              <a:ext cx="3724299" cy="4643470"/>
              <a:chOff x="214282" y="1905023"/>
              <a:chExt cx="3938613" cy="4810125"/>
            </a:xfrm>
          </p:grpSpPr>
          <p:pic>
            <p:nvPicPr>
              <p:cNvPr id="37910" name="Picture 3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71472" y="1905023"/>
                <a:ext cx="3286125" cy="4810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aphicFrame>
            <p:nvGraphicFramePr>
              <p:cNvPr id="37911" name="Object 11"/>
              <p:cNvGraphicFramePr>
                <a:graphicFrameLocks noChangeAspect="1"/>
              </p:cNvGraphicFramePr>
              <p:nvPr/>
            </p:nvGraphicFramePr>
            <p:xfrm>
              <a:off x="244445" y="2214554"/>
              <a:ext cx="336550" cy="317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73" name="公式" r:id="rId2" imgW="203200" imgH="177800" progId="Equation.3">
                      <p:embed/>
                    </p:oleObj>
                  </mc:Choice>
                  <mc:Fallback>
                    <p:oleObj name="公式" r:id="rId2" imgW="203200" imgH="177800" progId="Equation.3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4445" y="2214554"/>
                            <a:ext cx="336550" cy="3175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12" name="Object 5"/>
              <p:cNvGraphicFramePr>
                <a:graphicFrameLocks noChangeAspect="1"/>
              </p:cNvGraphicFramePr>
              <p:nvPr/>
            </p:nvGraphicFramePr>
            <p:xfrm>
              <a:off x="234920" y="3490915"/>
              <a:ext cx="293687" cy="2952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74" name="公式" r:id="rId4" imgW="177800" imgH="165100" progId="Equation.3">
                      <p:embed/>
                    </p:oleObj>
                  </mc:Choice>
                  <mc:Fallback>
                    <p:oleObj name="公式" r:id="rId4" imgW="177800" imgH="165100" progId="Equation.3">
                      <p:embed/>
                      <p:pic>
                        <p:nvPicPr>
                          <p:cNvPr id="0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4920" y="3490915"/>
                            <a:ext cx="293687" cy="2952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13" name="Object 6"/>
              <p:cNvGraphicFramePr>
                <a:graphicFrameLocks noChangeAspect="1"/>
              </p:cNvGraphicFramePr>
              <p:nvPr/>
            </p:nvGraphicFramePr>
            <p:xfrm>
              <a:off x="214282" y="4572008"/>
              <a:ext cx="336550" cy="2952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75" name="公式" r:id="rId6" imgW="203200" imgH="165100" progId="Equation.3">
                      <p:embed/>
                    </p:oleObj>
                  </mc:Choice>
                  <mc:Fallback>
                    <p:oleObj name="公式" r:id="rId6" imgW="203200" imgH="165100" progId="Equation.3">
                      <p:embed/>
                      <p:pic>
                        <p:nvPicPr>
                          <p:cNvPr id="0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4282" y="4572008"/>
                            <a:ext cx="336550" cy="2952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14" name="Object 7"/>
              <p:cNvGraphicFramePr>
                <a:graphicFrameLocks noChangeAspect="1"/>
              </p:cNvGraphicFramePr>
              <p:nvPr/>
            </p:nvGraphicFramePr>
            <p:xfrm>
              <a:off x="225425" y="5480050"/>
              <a:ext cx="314325" cy="317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76" name="公式" r:id="rId8" imgW="190500" imgH="177800" progId="Equation.3">
                      <p:embed/>
                    </p:oleObj>
                  </mc:Choice>
                  <mc:Fallback>
                    <p:oleObj name="公式" r:id="rId8" imgW="190500" imgH="177800" progId="Equation.3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5425" y="5480050"/>
                            <a:ext cx="314325" cy="3175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15" name="Object 3"/>
              <p:cNvGraphicFramePr>
                <a:graphicFrameLocks noChangeAspect="1"/>
              </p:cNvGraphicFramePr>
              <p:nvPr/>
            </p:nvGraphicFramePr>
            <p:xfrm>
              <a:off x="3857620" y="1928802"/>
              <a:ext cx="295275" cy="3857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77" name="公式" r:id="rId10" imgW="177800" imgH="215900" progId="Equation.3">
                      <p:embed/>
                    </p:oleObj>
                  </mc:Choice>
                  <mc:Fallback>
                    <p:oleObj name="公式" r:id="rId10" imgW="177800" imgH="215900" progId="Equation.3">
                      <p:embed/>
                      <p:pic>
                        <p:nvPicPr>
                          <p:cNvPr id="0" name="Object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57620" y="1928802"/>
                            <a:ext cx="295275" cy="3857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16" name="Object 4"/>
              <p:cNvGraphicFramePr>
                <a:graphicFrameLocks noChangeAspect="1"/>
              </p:cNvGraphicFramePr>
              <p:nvPr/>
            </p:nvGraphicFramePr>
            <p:xfrm>
              <a:off x="3857620" y="2386002"/>
              <a:ext cx="273050" cy="3619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78" name="公式" r:id="rId12" imgW="165100" imgH="203200" progId="Equation.3">
                      <p:embed/>
                    </p:oleObj>
                  </mc:Choice>
                  <mc:Fallback>
                    <p:oleObj name="公式" r:id="rId12" imgW="165100" imgH="203200" progId="Equation.3">
                      <p:embed/>
                      <p:pic>
                        <p:nvPicPr>
                          <p:cNvPr id="0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57620" y="2386002"/>
                            <a:ext cx="273050" cy="3619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17" name="Object 8"/>
              <p:cNvGraphicFramePr>
                <a:graphicFrameLocks noChangeAspect="1"/>
              </p:cNvGraphicFramePr>
              <p:nvPr/>
            </p:nvGraphicFramePr>
            <p:xfrm>
              <a:off x="3857620" y="2886068"/>
              <a:ext cx="295275" cy="3619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79" name="公式" r:id="rId14" imgW="177800" imgH="203200" progId="Equation.3">
                      <p:embed/>
                    </p:oleObj>
                  </mc:Choice>
                  <mc:Fallback>
                    <p:oleObj name="公式" r:id="rId14" imgW="177800" imgH="203200" progId="Equation.3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57620" y="2886068"/>
                            <a:ext cx="295275" cy="3619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18" name="Object 9"/>
              <p:cNvGraphicFramePr>
                <a:graphicFrameLocks noChangeAspect="1"/>
              </p:cNvGraphicFramePr>
              <p:nvPr/>
            </p:nvGraphicFramePr>
            <p:xfrm>
              <a:off x="3857620" y="3386134"/>
              <a:ext cx="295275" cy="3857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80" name="公式" r:id="rId16" imgW="177800" imgH="215900" progId="Equation.3">
                      <p:embed/>
                    </p:oleObj>
                  </mc:Choice>
                  <mc:Fallback>
                    <p:oleObj name="公式" r:id="rId16" imgW="177800" imgH="215900" progId="Equation.3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57620" y="3386134"/>
                            <a:ext cx="295275" cy="3857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19" name="Object 10"/>
              <p:cNvGraphicFramePr>
                <a:graphicFrameLocks noChangeAspect="1"/>
              </p:cNvGraphicFramePr>
              <p:nvPr/>
            </p:nvGraphicFramePr>
            <p:xfrm>
              <a:off x="3857620" y="3886200"/>
              <a:ext cx="295275" cy="3635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81" name="公式" r:id="rId18" imgW="177800" imgH="203200" progId="Equation.3">
                      <p:embed/>
                    </p:oleObj>
                  </mc:Choice>
                  <mc:Fallback>
                    <p:oleObj name="公式" r:id="rId18" imgW="177800" imgH="203200" progId="Equation.3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57620" y="3886200"/>
                            <a:ext cx="295275" cy="3635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20" name="Object 21"/>
              <p:cNvGraphicFramePr>
                <a:graphicFrameLocks noChangeAspect="1"/>
              </p:cNvGraphicFramePr>
              <p:nvPr/>
            </p:nvGraphicFramePr>
            <p:xfrm>
              <a:off x="3848097" y="4386266"/>
              <a:ext cx="295275" cy="3857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82" name="公式" r:id="rId20" imgW="177800" imgH="215900" progId="Equation.3">
                      <p:embed/>
                    </p:oleObj>
                  </mc:Choice>
                  <mc:Fallback>
                    <p:oleObj name="公式" r:id="rId20" imgW="177800" imgH="215900" progId="Equation.3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48097" y="4386266"/>
                            <a:ext cx="295275" cy="3857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21" name="Object 22"/>
              <p:cNvGraphicFramePr>
                <a:graphicFrameLocks noChangeAspect="1"/>
              </p:cNvGraphicFramePr>
              <p:nvPr/>
            </p:nvGraphicFramePr>
            <p:xfrm>
              <a:off x="3857620" y="4814894"/>
              <a:ext cx="295275" cy="3857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83" name="公式" r:id="rId22" imgW="177800" imgH="215900" progId="Equation.3">
                      <p:embed/>
                    </p:oleObj>
                  </mc:Choice>
                  <mc:Fallback>
                    <p:oleObj name="公式" r:id="rId22" imgW="177800" imgH="215900" progId="Equation.3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57620" y="4814894"/>
                            <a:ext cx="295275" cy="3857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22" name="Object 23"/>
              <p:cNvGraphicFramePr>
                <a:graphicFrameLocks noChangeAspect="1"/>
              </p:cNvGraphicFramePr>
              <p:nvPr/>
            </p:nvGraphicFramePr>
            <p:xfrm>
              <a:off x="3857620" y="5314960"/>
              <a:ext cx="295275" cy="3857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84" name="公式" r:id="rId24" imgW="177800" imgH="215900" progId="Equation.3">
                      <p:embed/>
                    </p:oleObj>
                  </mc:Choice>
                  <mc:Fallback>
                    <p:oleObj name="公式" r:id="rId24" imgW="177800" imgH="215900" progId="Equation.3">
                      <p:embed/>
                      <p:pic>
                        <p:nvPicPr>
                          <p:cNvPr id="0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57620" y="5314960"/>
                            <a:ext cx="295275" cy="3857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23" name="Object 16"/>
              <p:cNvGraphicFramePr>
                <a:graphicFrameLocks noChangeAspect="1"/>
              </p:cNvGraphicFramePr>
              <p:nvPr/>
            </p:nvGraphicFramePr>
            <p:xfrm>
              <a:off x="3857620" y="5815026"/>
              <a:ext cx="295275" cy="3857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85" name="公式" r:id="rId26" imgW="177800" imgH="215900" progId="Equation.3">
                      <p:embed/>
                    </p:oleObj>
                  </mc:Choice>
                  <mc:Fallback>
                    <p:oleObj name="公式" r:id="rId26" imgW="177800" imgH="215900" progId="Equation.3">
                      <p:embed/>
                      <p:pic>
                        <p:nvPicPr>
                          <p:cNvPr id="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57620" y="5815026"/>
                            <a:ext cx="295275" cy="3857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24" name="Object 17"/>
              <p:cNvGraphicFramePr>
                <a:graphicFrameLocks noChangeAspect="1"/>
              </p:cNvGraphicFramePr>
              <p:nvPr/>
            </p:nvGraphicFramePr>
            <p:xfrm>
              <a:off x="3857620" y="6286520"/>
              <a:ext cx="295275" cy="3857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86" name="公式" r:id="rId28" imgW="177800" imgH="215900" progId="Equation.3">
                      <p:embed/>
                    </p:oleObj>
                  </mc:Choice>
                  <mc:Fallback>
                    <p:oleObj name="公式" r:id="rId28" imgW="177800" imgH="215900" progId="Equation.3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57620" y="6286520"/>
                            <a:ext cx="295275" cy="3857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7909" name="Text Box 426"/>
            <p:cNvSpPr txBox="1">
              <a:spLocks noChangeArrowheads="1"/>
            </p:cNvSpPr>
            <p:nvPr/>
          </p:nvSpPr>
          <p:spPr bwMode="auto">
            <a:xfrm>
              <a:off x="714348" y="1714488"/>
              <a:ext cx="2160588" cy="4616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n"/>
              </a:pPr>
              <a:r>
                <a:rPr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逻辑图</a:t>
              </a:r>
              <a:endPara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组合 73"/>
          <p:cNvGrpSpPr/>
          <p:nvPr/>
        </p:nvGrpSpPr>
        <p:grpSpPr bwMode="auto">
          <a:xfrm>
            <a:off x="5214938" y="1714500"/>
            <a:ext cx="3000375" cy="4943475"/>
            <a:chOff x="5214942" y="1714488"/>
            <a:chExt cx="3000396" cy="4943473"/>
          </a:xfrm>
        </p:grpSpPr>
        <p:grpSp>
          <p:nvGrpSpPr>
            <p:cNvPr id="37895" name="Group 17"/>
            <p:cNvGrpSpPr/>
            <p:nvPr/>
          </p:nvGrpSpPr>
          <p:grpSpPr bwMode="auto">
            <a:xfrm>
              <a:off x="5214942" y="2143116"/>
              <a:ext cx="3000396" cy="4514845"/>
              <a:chOff x="930" y="559"/>
              <a:chExt cx="2185" cy="3340"/>
            </a:xfrm>
          </p:grpSpPr>
          <p:graphicFrame>
            <p:nvGraphicFramePr>
              <p:cNvPr id="37897" name="Object 18"/>
              <p:cNvGraphicFramePr>
                <a:graphicFrameLocks noChangeAspect="1"/>
              </p:cNvGraphicFramePr>
              <p:nvPr/>
            </p:nvGraphicFramePr>
            <p:xfrm>
              <a:off x="1132" y="559"/>
              <a:ext cx="1939" cy="3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87" name="公式" r:id="rId30" imgW="1435100" imgH="279400" progId="Equation.3">
                      <p:embed/>
                    </p:oleObj>
                  </mc:Choice>
                  <mc:Fallback>
                    <p:oleObj name="公式" r:id="rId30" imgW="1435100" imgH="279400" progId="Equation.3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32" y="559"/>
                            <a:ext cx="1939" cy="32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898" name="Object 19"/>
              <p:cNvGraphicFramePr>
                <a:graphicFrameLocks noChangeAspect="1"/>
              </p:cNvGraphicFramePr>
              <p:nvPr/>
            </p:nvGraphicFramePr>
            <p:xfrm>
              <a:off x="1119" y="935"/>
              <a:ext cx="1996" cy="3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88" name="公式" r:id="rId32" imgW="1409700" imgH="279400" progId="Equation.3">
                      <p:embed/>
                    </p:oleObj>
                  </mc:Choice>
                  <mc:Fallback>
                    <p:oleObj name="公式" r:id="rId32" imgW="1409700" imgH="279400" progId="Equation.3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19" y="935"/>
                            <a:ext cx="1996" cy="30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899" name="Object 20"/>
              <p:cNvGraphicFramePr>
                <a:graphicFrameLocks noChangeAspect="1"/>
              </p:cNvGraphicFramePr>
              <p:nvPr/>
            </p:nvGraphicFramePr>
            <p:xfrm>
              <a:off x="1106" y="1213"/>
              <a:ext cx="1965" cy="3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89" name="公式" r:id="rId34" imgW="1422400" imgH="279400" progId="Equation.3">
                      <p:embed/>
                    </p:oleObj>
                  </mc:Choice>
                  <mc:Fallback>
                    <p:oleObj name="公式" r:id="rId34" imgW="1422400" imgH="279400" progId="Equation.3">
                      <p:embed/>
                      <p:pic>
                        <p:nvPicPr>
                          <p:cNvPr id="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06" y="1213"/>
                            <a:ext cx="1965" cy="33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00" name="Object 21"/>
              <p:cNvGraphicFramePr>
                <a:graphicFrameLocks noChangeAspect="1"/>
              </p:cNvGraphicFramePr>
              <p:nvPr/>
            </p:nvGraphicFramePr>
            <p:xfrm>
              <a:off x="1098" y="1549"/>
              <a:ext cx="1949" cy="3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90" name="公式" r:id="rId36" imgW="1409700" imgH="279400" progId="Equation.3">
                      <p:embed/>
                    </p:oleObj>
                  </mc:Choice>
                  <mc:Fallback>
                    <p:oleObj name="公式" r:id="rId36" imgW="1409700" imgH="279400" progId="Equation.3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98" y="1549"/>
                            <a:ext cx="1949" cy="33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01" name="Object 22"/>
              <p:cNvGraphicFramePr>
                <a:graphicFrameLocks noChangeAspect="1"/>
              </p:cNvGraphicFramePr>
              <p:nvPr/>
            </p:nvGraphicFramePr>
            <p:xfrm>
              <a:off x="1106" y="1885"/>
              <a:ext cx="1965" cy="3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91" name="公式" r:id="rId38" imgW="1422400" imgH="279400" progId="Equation.3">
                      <p:embed/>
                    </p:oleObj>
                  </mc:Choice>
                  <mc:Fallback>
                    <p:oleObj name="公式" r:id="rId38" imgW="1422400" imgH="279400" progId="Equation.3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06" y="1885"/>
                            <a:ext cx="1965" cy="33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02" name="Object 23"/>
              <p:cNvGraphicFramePr>
                <a:graphicFrameLocks noChangeAspect="1"/>
              </p:cNvGraphicFramePr>
              <p:nvPr/>
            </p:nvGraphicFramePr>
            <p:xfrm>
              <a:off x="1098" y="2221"/>
              <a:ext cx="1947" cy="3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92" name="公式" r:id="rId40" imgW="1409700" imgH="279400" progId="Equation.3">
                      <p:embed/>
                    </p:oleObj>
                  </mc:Choice>
                  <mc:Fallback>
                    <p:oleObj name="公式" r:id="rId40" imgW="1409700" imgH="279400" progId="Equation.3">
                      <p:embed/>
                      <p:pic>
                        <p:nvPicPr>
                          <p:cNvPr id="0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98" y="2221"/>
                            <a:ext cx="1947" cy="33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03" name="Object 24"/>
              <p:cNvGraphicFramePr>
                <a:graphicFrameLocks noChangeAspect="1"/>
              </p:cNvGraphicFramePr>
              <p:nvPr/>
            </p:nvGraphicFramePr>
            <p:xfrm>
              <a:off x="1098" y="2557"/>
              <a:ext cx="1949" cy="3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93" name="公式" r:id="rId42" imgW="1409700" imgH="279400" progId="Equation.3">
                      <p:embed/>
                    </p:oleObj>
                  </mc:Choice>
                  <mc:Fallback>
                    <p:oleObj name="公式" r:id="rId42" imgW="1409700" imgH="279400" progId="Equation.3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98" y="2557"/>
                            <a:ext cx="1949" cy="33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04" name="Object 25"/>
              <p:cNvGraphicFramePr>
                <a:graphicFrameLocks noChangeAspect="1"/>
              </p:cNvGraphicFramePr>
              <p:nvPr/>
            </p:nvGraphicFramePr>
            <p:xfrm>
              <a:off x="1098" y="2893"/>
              <a:ext cx="1930" cy="3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94" name="公式" r:id="rId44" imgW="1397000" imgH="279400" progId="Equation.3">
                      <p:embed/>
                    </p:oleObj>
                  </mc:Choice>
                  <mc:Fallback>
                    <p:oleObj name="公式" r:id="rId44" imgW="1397000" imgH="279400" progId="Equation.3">
                      <p:embed/>
                      <p:pic>
                        <p:nvPicPr>
                          <p:cNvPr id="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98" y="2893"/>
                            <a:ext cx="1930" cy="33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05" name="Object 26"/>
              <p:cNvGraphicFramePr>
                <a:graphicFrameLocks noChangeAspect="1"/>
              </p:cNvGraphicFramePr>
              <p:nvPr/>
            </p:nvGraphicFramePr>
            <p:xfrm>
              <a:off x="1098" y="3229"/>
              <a:ext cx="1983" cy="3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95" name="公式" r:id="rId46" imgW="1435100" imgH="279400" progId="Equation.3">
                      <p:embed/>
                    </p:oleObj>
                  </mc:Choice>
                  <mc:Fallback>
                    <p:oleObj name="公式" r:id="rId46" imgW="1435100" imgH="279400" progId="Equation.3">
                      <p:embed/>
                      <p:pic>
                        <p:nvPicPr>
                          <p:cNvPr id="0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98" y="3229"/>
                            <a:ext cx="1983" cy="33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06" name="Object 27"/>
              <p:cNvGraphicFramePr>
                <a:graphicFrameLocks noChangeAspect="1"/>
              </p:cNvGraphicFramePr>
              <p:nvPr/>
            </p:nvGraphicFramePr>
            <p:xfrm>
              <a:off x="1098" y="3565"/>
              <a:ext cx="1963" cy="3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96" name="公式" r:id="rId48" imgW="1422400" imgH="279400" progId="Equation.3">
                      <p:embed/>
                    </p:oleObj>
                  </mc:Choice>
                  <mc:Fallback>
                    <p:oleObj name="公式" r:id="rId48" imgW="1422400" imgH="279400" progId="Equation.3">
                      <p:embed/>
                      <p:pic>
                        <p:nvPicPr>
                          <p:cNvPr id="0" name="Object 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98" y="3565"/>
                            <a:ext cx="1963" cy="33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7907" name="AutoShape 16"/>
              <p:cNvSpPr/>
              <p:nvPr/>
            </p:nvSpPr>
            <p:spPr bwMode="auto">
              <a:xfrm>
                <a:off x="930" y="663"/>
                <a:ext cx="144" cy="3120"/>
              </a:xfrm>
              <a:prstGeom prst="leftBrace">
                <a:avLst>
                  <a:gd name="adj1" fmla="val 180556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7896" name="Text Box 426"/>
            <p:cNvSpPr txBox="1">
              <a:spLocks noChangeArrowheads="1"/>
            </p:cNvSpPr>
            <p:nvPr/>
          </p:nvSpPr>
          <p:spPr bwMode="auto">
            <a:xfrm>
              <a:off x="5411808" y="1714488"/>
              <a:ext cx="21605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n"/>
              </a:pPr>
              <a:r>
                <a:rPr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逻辑函数式</a:t>
              </a:r>
              <a:endPara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7894" name="矩形 1"/>
          <p:cNvSpPr>
            <a:spLocks noChangeArrowheads="1"/>
          </p:cNvSpPr>
          <p:nvPr/>
        </p:nvSpPr>
        <p:spPr bwMode="auto">
          <a:xfrm>
            <a:off x="6156325" y="58738"/>
            <a:ext cx="28559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§4.3</a:t>
            </a:r>
            <a:r>
              <a:rPr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常用的</a:t>
            </a:r>
            <a:r>
              <a:rPr kumimoji="1"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</a:t>
            </a:r>
            <a:endParaRPr lang="zh-CN" altLang="en-US" sz="18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3"/>
          <p:cNvSpPr txBox="1">
            <a:spLocks noChangeArrowheads="1"/>
          </p:cNvSpPr>
          <p:nvPr/>
        </p:nvSpPr>
        <p:spPr bwMode="auto">
          <a:xfrm>
            <a:off x="1928813" y="285750"/>
            <a:ext cx="53736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二－十进制译码器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74LS42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的真值表</a:t>
            </a:r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8915" name="Picture 1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849313"/>
            <a:ext cx="7715250" cy="562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圆角矩形 32"/>
          <p:cNvSpPr/>
          <p:nvPr/>
        </p:nvSpPr>
        <p:spPr>
          <a:xfrm>
            <a:off x="1428750" y="4651375"/>
            <a:ext cx="2000250" cy="17653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3571875" y="4643438"/>
            <a:ext cx="4857750" cy="1785937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36"/>
          <p:cNvGrpSpPr/>
          <p:nvPr/>
        </p:nvGrpSpPr>
        <p:grpSpPr bwMode="auto">
          <a:xfrm>
            <a:off x="1857375" y="4714875"/>
            <a:ext cx="5429250" cy="1643063"/>
            <a:chOff x="2714612" y="2285992"/>
            <a:chExt cx="5429288" cy="1643074"/>
          </a:xfrm>
        </p:grpSpPr>
        <p:sp>
          <p:nvSpPr>
            <p:cNvPr id="35" name="椭圆 34"/>
            <p:cNvSpPr/>
            <p:nvPr/>
          </p:nvSpPr>
          <p:spPr>
            <a:xfrm>
              <a:off x="2714612" y="2285992"/>
              <a:ext cx="5429288" cy="16430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920" name="矩形 35"/>
            <p:cNvSpPr>
              <a:spLocks noChangeArrowheads="1"/>
            </p:cNvSpPr>
            <p:nvPr/>
          </p:nvSpPr>
          <p:spPr bwMode="auto">
            <a:xfrm>
              <a:off x="3143240" y="2714620"/>
              <a:ext cx="4671472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输入出现伪码时，输出全“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1”</a:t>
              </a:r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。</a:t>
              </a:r>
              <a:endPara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具备拒绝伪码的功能。</a:t>
              </a:r>
              <a:endPara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5"/>
          <p:cNvSpPr txBox="1">
            <a:spLocks noChangeArrowheads="1"/>
          </p:cNvSpPr>
          <p:nvPr/>
        </p:nvSpPr>
        <p:spPr bwMode="auto">
          <a:xfrm>
            <a:off x="357188" y="138113"/>
            <a:ext cx="2592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显示译码器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682625" y="598488"/>
            <a:ext cx="788987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将二进制代码翻译成人们习惯的形式，并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直观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地显示出来的电路，称为显示译码器。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911225" y="1519238"/>
            <a:ext cx="3832225" cy="4619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LED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显示器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—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数码管 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1646238" y="3624263"/>
            <a:ext cx="1357312" cy="4619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共阴极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Rectangle 71"/>
          <p:cNvSpPr>
            <a:spLocks noChangeArrowheads="1"/>
          </p:cNvSpPr>
          <p:nvPr/>
        </p:nvSpPr>
        <p:spPr bwMode="auto">
          <a:xfrm>
            <a:off x="1631950" y="5384800"/>
            <a:ext cx="1357313" cy="461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共阳极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2" name="Group 157"/>
          <p:cNvGrpSpPr/>
          <p:nvPr/>
        </p:nvGrpSpPr>
        <p:grpSpPr bwMode="auto">
          <a:xfrm>
            <a:off x="3725863" y="3538538"/>
            <a:ext cx="2960687" cy="1597025"/>
            <a:chOff x="2518" y="1566"/>
            <a:chExt cx="1865" cy="1006"/>
          </a:xfrm>
        </p:grpSpPr>
        <p:grpSp>
          <p:nvGrpSpPr>
            <p:cNvPr id="40046" name="Group 40"/>
            <p:cNvGrpSpPr/>
            <p:nvPr/>
          </p:nvGrpSpPr>
          <p:grpSpPr bwMode="auto">
            <a:xfrm>
              <a:off x="2608" y="1793"/>
              <a:ext cx="1775" cy="729"/>
              <a:chOff x="2608" y="1793"/>
              <a:chExt cx="1775" cy="729"/>
            </a:xfrm>
          </p:grpSpPr>
          <p:grpSp>
            <p:nvGrpSpPr>
              <p:cNvPr id="40077" name="Group 9"/>
              <p:cNvGrpSpPr/>
              <p:nvPr/>
            </p:nvGrpSpPr>
            <p:grpSpPr bwMode="auto">
              <a:xfrm>
                <a:off x="2608" y="1793"/>
                <a:ext cx="178" cy="543"/>
                <a:chOff x="3600" y="3780"/>
                <a:chExt cx="360" cy="936"/>
              </a:xfrm>
            </p:grpSpPr>
            <p:sp>
              <p:nvSpPr>
                <p:cNvPr id="67" name="Freeform 10"/>
                <p:cNvSpPr/>
                <p:nvPr/>
              </p:nvSpPr>
              <p:spPr bwMode="auto">
                <a:xfrm>
                  <a:off x="3600" y="4092"/>
                  <a:ext cx="360" cy="3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60" y="0"/>
                    </a:cxn>
                    <a:cxn ang="0">
                      <a:pos x="180" y="156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360" h="156">
                      <a:moveTo>
                        <a:pt x="0" y="0"/>
                      </a:moveTo>
                      <a:lnTo>
                        <a:pt x="360" y="0"/>
                      </a:lnTo>
                      <a:lnTo>
                        <a:pt x="180" y="15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5400" cap="flat" cmpd="sng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" name="Line 11"/>
                <p:cNvSpPr>
                  <a:spLocks noChangeShapeType="1"/>
                </p:cNvSpPr>
                <p:nvPr/>
              </p:nvSpPr>
              <p:spPr bwMode="auto">
                <a:xfrm>
                  <a:off x="3600" y="4404"/>
                  <a:ext cx="360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9" name="Line 12"/>
                <p:cNvSpPr>
                  <a:spLocks noChangeShapeType="1"/>
                </p:cNvSpPr>
                <p:nvPr/>
              </p:nvSpPr>
              <p:spPr bwMode="auto">
                <a:xfrm>
                  <a:off x="3780" y="3780"/>
                  <a:ext cx="0" cy="936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0078" name="Group 13"/>
              <p:cNvGrpSpPr/>
              <p:nvPr/>
            </p:nvGrpSpPr>
            <p:grpSpPr bwMode="auto">
              <a:xfrm>
                <a:off x="2874" y="1793"/>
                <a:ext cx="178" cy="543"/>
                <a:chOff x="3600" y="3780"/>
                <a:chExt cx="360" cy="936"/>
              </a:xfrm>
            </p:grpSpPr>
            <p:sp>
              <p:nvSpPr>
                <p:cNvPr id="64" name="Freeform 14"/>
                <p:cNvSpPr/>
                <p:nvPr/>
              </p:nvSpPr>
              <p:spPr bwMode="auto">
                <a:xfrm>
                  <a:off x="3600" y="4092"/>
                  <a:ext cx="360" cy="3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60" y="0"/>
                    </a:cxn>
                    <a:cxn ang="0">
                      <a:pos x="180" y="156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360" h="156">
                      <a:moveTo>
                        <a:pt x="0" y="0"/>
                      </a:moveTo>
                      <a:lnTo>
                        <a:pt x="360" y="0"/>
                      </a:lnTo>
                      <a:lnTo>
                        <a:pt x="180" y="15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5400" cap="flat" cmpd="sng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5" name="Line 15"/>
                <p:cNvSpPr>
                  <a:spLocks noChangeShapeType="1"/>
                </p:cNvSpPr>
                <p:nvPr/>
              </p:nvSpPr>
              <p:spPr bwMode="auto">
                <a:xfrm>
                  <a:off x="3600" y="4404"/>
                  <a:ext cx="360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" name="Line 16"/>
                <p:cNvSpPr>
                  <a:spLocks noChangeShapeType="1"/>
                </p:cNvSpPr>
                <p:nvPr/>
              </p:nvSpPr>
              <p:spPr bwMode="auto">
                <a:xfrm>
                  <a:off x="3780" y="3780"/>
                  <a:ext cx="0" cy="936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0079" name="Group 17"/>
              <p:cNvGrpSpPr/>
              <p:nvPr/>
            </p:nvGrpSpPr>
            <p:grpSpPr bwMode="auto">
              <a:xfrm>
                <a:off x="3141" y="1793"/>
                <a:ext cx="177" cy="543"/>
                <a:chOff x="3600" y="3780"/>
                <a:chExt cx="360" cy="936"/>
              </a:xfrm>
            </p:grpSpPr>
            <p:sp>
              <p:nvSpPr>
                <p:cNvPr id="61" name="Freeform 18"/>
                <p:cNvSpPr/>
                <p:nvPr/>
              </p:nvSpPr>
              <p:spPr bwMode="auto">
                <a:xfrm>
                  <a:off x="3600" y="4092"/>
                  <a:ext cx="360" cy="3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60" y="0"/>
                    </a:cxn>
                    <a:cxn ang="0">
                      <a:pos x="180" y="156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360" h="156">
                      <a:moveTo>
                        <a:pt x="0" y="0"/>
                      </a:moveTo>
                      <a:lnTo>
                        <a:pt x="360" y="0"/>
                      </a:lnTo>
                      <a:lnTo>
                        <a:pt x="180" y="15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5400" cap="flat" cmpd="sng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" name="Line 19"/>
                <p:cNvSpPr>
                  <a:spLocks noChangeShapeType="1"/>
                </p:cNvSpPr>
                <p:nvPr/>
              </p:nvSpPr>
              <p:spPr bwMode="auto">
                <a:xfrm>
                  <a:off x="3600" y="4404"/>
                  <a:ext cx="360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" name="Line 20"/>
                <p:cNvSpPr>
                  <a:spLocks noChangeShapeType="1"/>
                </p:cNvSpPr>
                <p:nvPr/>
              </p:nvSpPr>
              <p:spPr bwMode="auto">
                <a:xfrm>
                  <a:off x="3781" y="3780"/>
                  <a:ext cx="0" cy="936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0080" name="Group 21"/>
              <p:cNvGrpSpPr/>
              <p:nvPr/>
            </p:nvGrpSpPr>
            <p:grpSpPr bwMode="auto">
              <a:xfrm>
                <a:off x="3407" y="1793"/>
                <a:ext cx="177" cy="543"/>
                <a:chOff x="3600" y="3780"/>
                <a:chExt cx="360" cy="936"/>
              </a:xfrm>
            </p:grpSpPr>
            <p:sp>
              <p:nvSpPr>
                <p:cNvPr id="58" name="Freeform 22"/>
                <p:cNvSpPr/>
                <p:nvPr/>
              </p:nvSpPr>
              <p:spPr bwMode="auto">
                <a:xfrm>
                  <a:off x="3600" y="4092"/>
                  <a:ext cx="360" cy="3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60" y="0"/>
                    </a:cxn>
                    <a:cxn ang="0">
                      <a:pos x="180" y="156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360" h="156">
                      <a:moveTo>
                        <a:pt x="0" y="0"/>
                      </a:moveTo>
                      <a:lnTo>
                        <a:pt x="360" y="0"/>
                      </a:lnTo>
                      <a:lnTo>
                        <a:pt x="180" y="15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5400" cap="flat" cmpd="sng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9" name="Line 23"/>
                <p:cNvSpPr>
                  <a:spLocks noChangeShapeType="1"/>
                </p:cNvSpPr>
                <p:nvPr/>
              </p:nvSpPr>
              <p:spPr bwMode="auto">
                <a:xfrm>
                  <a:off x="3600" y="4404"/>
                  <a:ext cx="360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0" name="Line 24"/>
                <p:cNvSpPr>
                  <a:spLocks noChangeShapeType="1"/>
                </p:cNvSpPr>
                <p:nvPr/>
              </p:nvSpPr>
              <p:spPr bwMode="auto">
                <a:xfrm>
                  <a:off x="3781" y="3780"/>
                  <a:ext cx="0" cy="936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0081" name="Group 25"/>
              <p:cNvGrpSpPr/>
              <p:nvPr/>
            </p:nvGrpSpPr>
            <p:grpSpPr bwMode="auto">
              <a:xfrm>
                <a:off x="3673" y="1793"/>
                <a:ext cx="178" cy="543"/>
                <a:chOff x="3600" y="3780"/>
                <a:chExt cx="360" cy="936"/>
              </a:xfrm>
            </p:grpSpPr>
            <p:sp>
              <p:nvSpPr>
                <p:cNvPr id="55" name="Freeform 26"/>
                <p:cNvSpPr/>
                <p:nvPr/>
              </p:nvSpPr>
              <p:spPr bwMode="auto">
                <a:xfrm>
                  <a:off x="3600" y="4092"/>
                  <a:ext cx="360" cy="3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60" y="0"/>
                    </a:cxn>
                    <a:cxn ang="0">
                      <a:pos x="180" y="156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360" h="156">
                      <a:moveTo>
                        <a:pt x="0" y="0"/>
                      </a:moveTo>
                      <a:lnTo>
                        <a:pt x="360" y="0"/>
                      </a:lnTo>
                      <a:lnTo>
                        <a:pt x="180" y="15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5400" cap="flat" cmpd="sng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" name="Line 27"/>
                <p:cNvSpPr>
                  <a:spLocks noChangeShapeType="1"/>
                </p:cNvSpPr>
                <p:nvPr/>
              </p:nvSpPr>
              <p:spPr bwMode="auto">
                <a:xfrm>
                  <a:off x="3600" y="4404"/>
                  <a:ext cx="360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" name="Line 28"/>
                <p:cNvSpPr>
                  <a:spLocks noChangeShapeType="1"/>
                </p:cNvSpPr>
                <p:nvPr/>
              </p:nvSpPr>
              <p:spPr bwMode="auto">
                <a:xfrm>
                  <a:off x="3780" y="3780"/>
                  <a:ext cx="0" cy="936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0082" name="Group 29"/>
              <p:cNvGrpSpPr/>
              <p:nvPr/>
            </p:nvGrpSpPr>
            <p:grpSpPr bwMode="auto">
              <a:xfrm>
                <a:off x="3939" y="1793"/>
                <a:ext cx="178" cy="543"/>
                <a:chOff x="3600" y="3780"/>
                <a:chExt cx="360" cy="936"/>
              </a:xfrm>
            </p:grpSpPr>
            <p:sp>
              <p:nvSpPr>
                <p:cNvPr id="52" name="Freeform 30"/>
                <p:cNvSpPr/>
                <p:nvPr/>
              </p:nvSpPr>
              <p:spPr bwMode="auto">
                <a:xfrm>
                  <a:off x="3600" y="4092"/>
                  <a:ext cx="360" cy="3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60" y="0"/>
                    </a:cxn>
                    <a:cxn ang="0">
                      <a:pos x="180" y="156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360" h="156">
                      <a:moveTo>
                        <a:pt x="0" y="0"/>
                      </a:moveTo>
                      <a:lnTo>
                        <a:pt x="360" y="0"/>
                      </a:lnTo>
                      <a:lnTo>
                        <a:pt x="180" y="15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5400" cap="flat" cmpd="sng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3" name="Line 31"/>
                <p:cNvSpPr>
                  <a:spLocks noChangeShapeType="1"/>
                </p:cNvSpPr>
                <p:nvPr/>
              </p:nvSpPr>
              <p:spPr bwMode="auto">
                <a:xfrm>
                  <a:off x="3600" y="4404"/>
                  <a:ext cx="360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4" name="Line 32"/>
                <p:cNvSpPr>
                  <a:spLocks noChangeShapeType="1"/>
                </p:cNvSpPr>
                <p:nvPr/>
              </p:nvSpPr>
              <p:spPr bwMode="auto">
                <a:xfrm>
                  <a:off x="3780" y="3780"/>
                  <a:ext cx="0" cy="936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0083" name="Group 33"/>
              <p:cNvGrpSpPr/>
              <p:nvPr/>
            </p:nvGrpSpPr>
            <p:grpSpPr bwMode="auto">
              <a:xfrm>
                <a:off x="4206" y="1793"/>
                <a:ext cx="177" cy="543"/>
                <a:chOff x="3600" y="3780"/>
                <a:chExt cx="360" cy="936"/>
              </a:xfrm>
            </p:grpSpPr>
            <p:sp>
              <p:nvSpPr>
                <p:cNvPr id="49" name="Freeform 34"/>
                <p:cNvSpPr/>
                <p:nvPr/>
              </p:nvSpPr>
              <p:spPr bwMode="auto">
                <a:xfrm>
                  <a:off x="3600" y="4092"/>
                  <a:ext cx="360" cy="3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60" y="0"/>
                    </a:cxn>
                    <a:cxn ang="0">
                      <a:pos x="180" y="156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360" h="156">
                      <a:moveTo>
                        <a:pt x="0" y="0"/>
                      </a:moveTo>
                      <a:lnTo>
                        <a:pt x="360" y="0"/>
                      </a:lnTo>
                      <a:lnTo>
                        <a:pt x="180" y="15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5400" cap="flat" cmpd="sng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" name="Line 35"/>
                <p:cNvSpPr>
                  <a:spLocks noChangeShapeType="1"/>
                </p:cNvSpPr>
                <p:nvPr/>
              </p:nvSpPr>
              <p:spPr bwMode="auto">
                <a:xfrm>
                  <a:off x="3600" y="4404"/>
                  <a:ext cx="360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" name="Line 36"/>
                <p:cNvSpPr>
                  <a:spLocks noChangeShapeType="1"/>
                </p:cNvSpPr>
                <p:nvPr/>
              </p:nvSpPr>
              <p:spPr bwMode="auto">
                <a:xfrm>
                  <a:off x="3781" y="3780"/>
                  <a:ext cx="0" cy="936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7" name="Line 37"/>
              <p:cNvSpPr>
                <a:spLocks noChangeShapeType="1"/>
              </p:cNvSpPr>
              <p:nvPr/>
            </p:nvSpPr>
            <p:spPr bwMode="auto">
              <a:xfrm>
                <a:off x="2697" y="2341"/>
                <a:ext cx="1597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 b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" name="Line 38"/>
              <p:cNvSpPr>
                <a:spLocks noChangeShapeType="1"/>
              </p:cNvSpPr>
              <p:nvPr/>
            </p:nvSpPr>
            <p:spPr bwMode="auto">
              <a:xfrm>
                <a:off x="3496" y="2341"/>
                <a:ext cx="0" cy="18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 b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0" name="Rectangle 62"/>
            <p:cNvSpPr>
              <a:spLocks noChangeArrowheads="1"/>
            </p:cNvSpPr>
            <p:nvPr/>
          </p:nvSpPr>
          <p:spPr bwMode="auto">
            <a:xfrm>
              <a:off x="2562" y="1570"/>
              <a:ext cx="262" cy="23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1800" b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altLang="zh-CN" sz="1800" b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 </a:t>
              </a:r>
              <a:endParaRPr lang="zh-CN" altLang="en-US" sz="1800" b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63"/>
            <p:cNvSpPr>
              <a:spLocks noChangeArrowheads="1"/>
            </p:cNvSpPr>
            <p:nvPr/>
          </p:nvSpPr>
          <p:spPr bwMode="auto">
            <a:xfrm>
              <a:off x="2873" y="1570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800" b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b</a:t>
              </a:r>
              <a:endParaRPr lang="zh-CN" altLang="en-US" sz="1800" b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 64"/>
            <p:cNvSpPr>
              <a:spLocks noChangeArrowheads="1"/>
            </p:cNvSpPr>
            <p:nvPr/>
          </p:nvSpPr>
          <p:spPr bwMode="auto">
            <a:xfrm>
              <a:off x="3152" y="1566"/>
              <a:ext cx="181" cy="23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800" b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</a:t>
              </a:r>
              <a:endParaRPr lang="zh-CN" altLang="en-US" sz="1800" b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65"/>
            <p:cNvSpPr>
              <a:spLocks noChangeArrowheads="1"/>
            </p:cNvSpPr>
            <p:nvPr/>
          </p:nvSpPr>
          <p:spPr bwMode="auto">
            <a:xfrm>
              <a:off x="3379" y="1570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800" b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</a:t>
              </a:r>
              <a:endParaRPr lang="zh-CN" altLang="en-US" sz="1800" b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4" name="Rectangle 66"/>
            <p:cNvSpPr>
              <a:spLocks noChangeArrowheads="1"/>
            </p:cNvSpPr>
            <p:nvPr/>
          </p:nvSpPr>
          <p:spPr bwMode="auto">
            <a:xfrm>
              <a:off x="3651" y="1566"/>
              <a:ext cx="181" cy="23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800" b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</a:t>
              </a:r>
              <a:endParaRPr lang="zh-CN" altLang="en-US" sz="1800" b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67"/>
            <p:cNvSpPr>
              <a:spLocks noChangeArrowheads="1"/>
            </p:cNvSpPr>
            <p:nvPr/>
          </p:nvSpPr>
          <p:spPr bwMode="auto">
            <a:xfrm>
              <a:off x="3941" y="1570"/>
              <a:ext cx="165" cy="23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800" b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f</a:t>
              </a:r>
              <a:endParaRPr lang="zh-CN" altLang="en-US" sz="1800" b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68"/>
            <p:cNvSpPr>
              <a:spLocks noChangeArrowheads="1"/>
            </p:cNvSpPr>
            <p:nvPr/>
          </p:nvSpPr>
          <p:spPr bwMode="auto">
            <a:xfrm>
              <a:off x="4195" y="1566"/>
              <a:ext cx="188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800" b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g</a:t>
              </a:r>
              <a:endParaRPr lang="zh-CN" altLang="en-US" sz="1800" b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7" name="Rectangle 69"/>
            <p:cNvSpPr>
              <a:spLocks noChangeArrowheads="1"/>
            </p:cNvSpPr>
            <p:nvPr/>
          </p:nvSpPr>
          <p:spPr bwMode="auto">
            <a:xfrm>
              <a:off x="3470" y="2341"/>
              <a:ext cx="408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r>
                <a:rPr lang="zh-CN" altLang="en-US" sz="1800" b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altLang="zh-CN" sz="1800" b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com</a:t>
              </a:r>
              <a:endParaRPr lang="en-US" altLang="zh-CN" sz="1800" b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grpSp>
          <p:nvGrpSpPr>
            <p:cNvPr id="40055" name="Group 93"/>
            <p:cNvGrpSpPr/>
            <p:nvPr/>
          </p:nvGrpSpPr>
          <p:grpSpPr bwMode="auto">
            <a:xfrm>
              <a:off x="2518" y="2024"/>
              <a:ext cx="1723" cy="165"/>
              <a:chOff x="2518" y="2024"/>
              <a:chExt cx="1723" cy="165"/>
            </a:xfrm>
          </p:grpSpPr>
          <p:grpSp>
            <p:nvGrpSpPr>
              <p:cNvPr id="40056" name="Group 74"/>
              <p:cNvGrpSpPr/>
              <p:nvPr/>
            </p:nvGrpSpPr>
            <p:grpSpPr bwMode="auto">
              <a:xfrm>
                <a:off x="2518" y="2024"/>
                <a:ext cx="97" cy="165"/>
                <a:chOff x="2518" y="2024"/>
                <a:chExt cx="97" cy="165"/>
              </a:xfrm>
            </p:grpSpPr>
            <p:sp>
              <p:nvSpPr>
                <p:cNvPr id="38" name="Line 72"/>
                <p:cNvSpPr>
                  <a:spLocks noChangeShapeType="1"/>
                </p:cNvSpPr>
                <p:nvPr/>
              </p:nvSpPr>
              <p:spPr bwMode="auto">
                <a:xfrm flipH="1">
                  <a:off x="2518" y="2024"/>
                  <a:ext cx="9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" name="Line 73"/>
                <p:cNvSpPr>
                  <a:spLocks noChangeShapeType="1"/>
                </p:cNvSpPr>
                <p:nvPr/>
              </p:nvSpPr>
              <p:spPr bwMode="auto">
                <a:xfrm flipH="1">
                  <a:off x="2525" y="2098"/>
                  <a:ext cx="9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0057" name="Group 75"/>
              <p:cNvGrpSpPr/>
              <p:nvPr/>
            </p:nvGrpSpPr>
            <p:grpSpPr bwMode="auto">
              <a:xfrm>
                <a:off x="2783" y="2024"/>
                <a:ext cx="97" cy="165"/>
                <a:chOff x="2518" y="2024"/>
                <a:chExt cx="97" cy="165"/>
              </a:xfrm>
            </p:grpSpPr>
            <p:sp>
              <p:nvSpPr>
                <p:cNvPr id="36" name="Line 76"/>
                <p:cNvSpPr>
                  <a:spLocks noChangeShapeType="1"/>
                </p:cNvSpPr>
                <p:nvPr/>
              </p:nvSpPr>
              <p:spPr bwMode="auto">
                <a:xfrm flipH="1">
                  <a:off x="2518" y="2024"/>
                  <a:ext cx="9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" name="Line 77"/>
                <p:cNvSpPr>
                  <a:spLocks noChangeShapeType="1"/>
                </p:cNvSpPr>
                <p:nvPr/>
              </p:nvSpPr>
              <p:spPr bwMode="auto">
                <a:xfrm flipH="1">
                  <a:off x="2525" y="2098"/>
                  <a:ext cx="9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0058" name="Group 78"/>
              <p:cNvGrpSpPr/>
              <p:nvPr/>
            </p:nvGrpSpPr>
            <p:grpSpPr bwMode="auto">
              <a:xfrm>
                <a:off x="3055" y="2024"/>
                <a:ext cx="97" cy="165"/>
                <a:chOff x="2518" y="2024"/>
                <a:chExt cx="97" cy="165"/>
              </a:xfrm>
            </p:grpSpPr>
            <p:sp>
              <p:nvSpPr>
                <p:cNvPr id="34" name="Line 79"/>
                <p:cNvSpPr>
                  <a:spLocks noChangeShapeType="1"/>
                </p:cNvSpPr>
                <p:nvPr/>
              </p:nvSpPr>
              <p:spPr bwMode="auto">
                <a:xfrm flipH="1">
                  <a:off x="2518" y="2024"/>
                  <a:ext cx="9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5" name="Line 80"/>
                <p:cNvSpPr>
                  <a:spLocks noChangeShapeType="1"/>
                </p:cNvSpPr>
                <p:nvPr/>
              </p:nvSpPr>
              <p:spPr bwMode="auto">
                <a:xfrm flipH="1">
                  <a:off x="2525" y="2098"/>
                  <a:ext cx="9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0059" name="Group 81"/>
              <p:cNvGrpSpPr/>
              <p:nvPr/>
            </p:nvGrpSpPr>
            <p:grpSpPr bwMode="auto">
              <a:xfrm>
                <a:off x="3327" y="2024"/>
                <a:ext cx="97" cy="165"/>
                <a:chOff x="2518" y="2024"/>
                <a:chExt cx="97" cy="165"/>
              </a:xfrm>
            </p:grpSpPr>
            <p:sp>
              <p:nvSpPr>
                <p:cNvPr id="32" name="Line 82"/>
                <p:cNvSpPr>
                  <a:spLocks noChangeShapeType="1"/>
                </p:cNvSpPr>
                <p:nvPr/>
              </p:nvSpPr>
              <p:spPr bwMode="auto">
                <a:xfrm flipH="1">
                  <a:off x="2518" y="2024"/>
                  <a:ext cx="9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3" name="Line 83"/>
                <p:cNvSpPr>
                  <a:spLocks noChangeShapeType="1"/>
                </p:cNvSpPr>
                <p:nvPr/>
              </p:nvSpPr>
              <p:spPr bwMode="auto">
                <a:xfrm flipH="1">
                  <a:off x="2525" y="2098"/>
                  <a:ext cx="9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0060" name="Group 84"/>
              <p:cNvGrpSpPr/>
              <p:nvPr/>
            </p:nvGrpSpPr>
            <p:grpSpPr bwMode="auto">
              <a:xfrm>
                <a:off x="3599" y="2024"/>
                <a:ext cx="97" cy="165"/>
                <a:chOff x="2518" y="2024"/>
                <a:chExt cx="97" cy="165"/>
              </a:xfrm>
            </p:grpSpPr>
            <p:sp>
              <p:nvSpPr>
                <p:cNvPr id="30" name="Line 85"/>
                <p:cNvSpPr>
                  <a:spLocks noChangeShapeType="1"/>
                </p:cNvSpPr>
                <p:nvPr/>
              </p:nvSpPr>
              <p:spPr bwMode="auto">
                <a:xfrm flipH="1">
                  <a:off x="2518" y="2024"/>
                  <a:ext cx="9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1" name="Line 86"/>
                <p:cNvSpPr>
                  <a:spLocks noChangeShapeType="1"/>
                </p:cNvSpPr>
                <p:nvPr/>
              </p:nvSpPr>
              <p:spPr bwMode="auto">
                <a:xfrm flipH="1">
                  <a:off x="2525" y="2098"/>
                  <a:ext cx="9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0061" name="Group 87"/>
              <p:cNvGrpSpPr/>
              <p:nvPr/>
            </p:nvGrpSpPr>
            <p:grpSpPr bwMode="auto">
              <a:xfrm>
                <a:off x="3872" y="2024"/>
                <a:ext cx="97" cy="165"/>
                <a:chOff x="2518" y="2024"/>
                <a:chExt cx="97" cy="165"/>
              </a:xfrm>
            </p:grpSpPr>
            <p:sp>
              <p:nvSpPr>
                <p:cNvPr id="28" name="Line 88"/>
                <p:cNvSpPr>
                  <a:spLocks noChangeShapeType="1"/>
                </p:cNvSpPr>
                <p:nvPr/>
              </p:nvSpPr>
              <p:spPr bwMode="auto">
                <a:xfrm flipH="1">
                  <a:off x="2518" y="2024"/>
                  <a:ext cx="9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Line 89"/>
                <p:cNvSpPr>
                  <a:spLocks noChangeShapeType="1"/>
                </p:cNvSpPr>
                <p:nvPr/>
              </p:nvSpPr>
              <p:spPr bwMode="auto">
                <a:xfrm flipH="1">
                  <a:off x="2525" y="2098"/>
                  <a:ext cx="9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0062" name="Group 90"/>
              <p:cNvGrpSpPr/>
              <p:nvPr/>
            </p:nvGrpSpPr>
            <p:grpSpPr bwMode="auto">
              <a:xfrm>
                <a:off x="4144" y="2024"/>
                <a:ext cx="97" cy="165"/>
                <a:chOff x="2518" y="2024"/>
                <a:chExt cx="97" cy="165"/>
              </a:xfrm>
            </p:grpSpPr>
            <p:sp>
              <p:nvSpPr>
                <p:cNvPr id="26" name="Line 91"/>
                <p:cNvSpPr>
                  <a:spLocks noChangeShapeType="1"/>
                </p:cNvSpPr>
                <p:nvPr/>
              </p:nvSpPr>
              <p:spPr bwMode="auto">
                <a:xfrm flipH="1">
                  <a:off x="2518" y="2024"/>
                  <a:ext cx="9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Line 92"/>
                <p:cNvSpPr>
                  <a:spLocks noChangeShapeType="1"/>
                </p:cNvSpPr>
                <p:nvPr/>
              </p:nvSpPr>
              <p:spPr bwMode="auto">
                <a:xfrm flipH="1">
                  <a:off x="2525" y="2098"/>
                  <a:ext cx="9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grpSp>
        <p:nvGrpSpPr>
          <p:cNvPr id="50182" name="Group 158"/>
          <p:cNvGrpSpPr/>
          <p:nvPr/>
        </p:nvGrpSpPr>
        <p:grpSpPr bwMode="auto">
          <a:xfrm>
            <a:off x="3719513" y="5049838"/>
            <a:ext cx="2995612" cy="1593850"/>
            <a:chOff x="2517" y="2836"/>
            <a:chExt cx="1887" cy="1004"/>
          </a:xfrm>
        </p:grpSpPr>
        <p:grpSp>
          <p:nvGrpSpPr>
            <p:cNvPr id="39984" name="Group 148"/>
            <p:cNvGrpSpPr/>
            <p:nvPr/>
          </p:nvGrpSpPr>
          <p:grpSpPr bwMode="auto">
            <a:xfrm>
              <a:off x="2517" y="2927"/>
              <a:ext cx="1887" cy="735"/>
              <a:chOff x="2517" y="2927"/>
              <a:chExt cx="1887" cy="735"/>
            </a:xfrm>
          </p:grpSpPr>
          <p:grpSp>
            <p:nvGrpSpPr>
              <p:cNvPr id="39993" name="Group 94"/>
              <p:cNvGrpSpPr/>
              <p:nvPr/>
            </p:nvGrpSpPr>
            <p:grpSpPr bwMode="auto">
              <a:xfrm>
                <a:off x="2517" y="3347"/>
                <a:ext cx="1723" cy="165"/>
                <a:chOff x="2518" y="2024"/>
                <a:chExt cx="1723" cy="165"/>
              </a:xfrm>
            </p:grpSpPr>
            <p:grpSp>
              <p:nvGrpSpPr>
                <p:cNvPr id="40025" name="Group 95"/>
                <p:cNvGrpSpPr/>
                <p:nvPr/>
              </p:nvGrpSpPr>
              <p:grpSpPr bwMode="auto">
                <a:xfrm>
                  <a:off x="2518" y="2024"/>
                  <a:ext cx="97" cy="165"/>
                  <a:chOff x="2518" y="2024"/>
                  <a:chExt cx="97" cy="165"/>
                </a:xfrm>
              </p:grpSpPr>
              <p:sp>
                <p:nvSpPr>
                  <p:cNvPr id="131" name="Line 9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518" y="2024"/>
                    <a:ext cx="9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2" name="Line 9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525" y="2098"/>
                    <a:ext cx="9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40026" name="Group 98"/>
                <p:cNvGrpSpPr/>
                <p:nvPr/>
              </p:nvGrpSpPr>
              <p:grpSpPr bwMode="auto">
                <a:xfrm>
                  <a:off x="2783" y="2024"/>
                  <a:ext cx="97" cy="165"/>
                  <a:chOff x="2518" y="2024"/>
                  <a:chExt cx="97" cy="165"/>
                </a:xfrm>
              </p:grpSpPr>
              <p:sp>
                <p:nvSpPr>
                  <p:cNvPr id="129" name="Line 9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518" y="2024"/>
                    <a:ext cx="9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0" name="Line 10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525" y="2098"/>
                    <a:ext cx="9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40027" name="Group 101"/>
                <p:cNvGrpSpPr/>
                <p:nvPr/>
              </p:nvGrpSpPr>
              <p:grpSpPr bwMode="auto">
                <a:xfrm>
                  <a:off x="3055" y="2024"/>
                  <a:ext cx="97" cy="165"/>
                  <a:chOff x="2518" y="2024"/>
                  <a:chExt cx="97" cy="165"/>
                </a:xfrm>
              </p:grpSpPr>
              <p:sp>
                <p:nvSpPr>
                  <p:cNvPr id="127" name="Line 10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518" y="2024"/>
                    <a:ext cx="9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8" name="Line 10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525" y="2098"/>
                    <a:ext cx="9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40028" name="Group 104"/>
                <p:cNvGrpSpPr/>
                <p:nvPr/>
              </p:nvGrpSpPr>
              <p:grpSpPr bwMode="auto">
                <a:xfrm>
                  <a:off x="3327" y="2024"/>
                  <a:ext cx="97" cy="165"/>
                  <a:chOff x="2518" y="2024"/>
                  <a:chExt cx="97" cy="165"/>
                </a:xfrm>
              </p:grpSpPr>
              <p:sp>
                <p:nvSpPr>
                  <p:cNvPr id="125" name="Line 10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518" y="2024"/>
                    <a:ext cx="9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6" name="Line 10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525" y="2098"/>
                    <a:ext cx="9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40029" name="Group 107"/>
                <p:cNvGrpSpPr/>
                <p:nvPr/>
              </p:nvGrpSpPr>
              <p:grpSpPr bwMode="auto">
                <a:xfrm>
                  <a:off x="3599" y="2024"/>
                  <a:ext cx="97" cy="165"/>
                  <a:chOff x="2518" y="2024"/>
                  <a:chExt cx="97" cy="165"/>
                </a:xfrm>
              </p:grpSpPr>
              <p:sp>
                <p:nvSpPr>
                  <p:cNvPr id="123" name="Line 10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518" y="2024"/>
                    <a:ext cx="9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4" name="Line 10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525" y="2098"/>
                    <a:ext cx="9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40030" name="Group 110"/>
                <p:cNvGrpSpPr/>
                <p:nvPr/>
              </p:nvGrpSpPr>
              <p:grpSpPr bwMode="auto">
                <a:xfrm>
                  <a:off x="3872" y="2024"/>
                  <a:ext cx="97" cy="165"/>
                  <a:chOff x="2518" y="2024"/>
                  <a:chExt cx="97" cy="165"/>
                </a:xfrm>
              </p:grpSpPr>
              <p:sp>
                <p:nvSpPr>
                  <p:cNvPr id="121" name="Line 11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518" y="2024"/>
                    <a:ext cx="9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2" name="Line 11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525" y="2098"/>
                    <a:ext cx="9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40031" name="Group 113"/>
                <p:cNvGrpSpPr/>
                <p:nvPr/>
              </p:nvGrpSpPr>
              <p:grpSpPr bwMode="auto">
                <a:xfrm>
                  <a:off x="4144" y="2024"/>
                  <a:ext cx="97" cy="165"/>
                  <a:chOff x="2518" y="2024"/>
                  <a:chExt cx="97" cy="165"/>
                </a:xfrm>
              </p:grpSpPr>
              <p:sp>
                <p:nvSpPr>
                  <p:cNvPr id="119" name="Line 11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518" y="2024"/>
                    <a:ext cx="9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0" name="Line 11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525" y="2098"/>
                    <a:ext cx="9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39994" name="Group 117"/>
              <p:cNvGrpSpPr/>
              <p:nvPr/>
            </p:nvGrpSpPr>
            <p:grpSpPr bwMode="auto">
              <a:xfrm>
                <a:off x="2591" y="2927"/>
                <a:ext cx="1813" cy="735"/>
                <a:chOff x="2700" y="5184"/>
                <a:chExt cx="3600" cy="1248"/>
              </a:xfrm>
            </p:grpSpPr>
            <p:grpSp>
              <p:nvGrpSpPr>
                <p:cNvPr id="39995" name="Group 118"/>
                <p:cNvGrpSpPr/>
                <p:nvPr/>
              </p:nvGrpSpPr>
              <p:grpSpPr bwMode="auto">
                <a:xfrm>
                  <a:off x="2700" y="5496"/>
                  <a:ext cx="360" cy="936"/>
                  <a:chOff x="3600" y="3780"/>
                  <a:chExt cx="360" cy="936"/>
                </a:xfrm>
              </p:grpSpPr>
              <p:sp>
                <p:nvSpPr>
                  <p:cNvPr id="109" name="Freeform 119"/>
                  <p:cNvSpPr/>
                  <p:nvPr/>
                </p:nvSpPr>
                <p:spPr bwMode="auto">
                  <a:xfrm>
                    <a:off x="3600" y="4093"/>
                    <a:ext cx="346" cy="311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360" y="0"/>
                      </a:cxn>
                      <a:cxn ang="0">
                        <a:pos x="180" y="156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360" h="156">
                        <a:moveTo>
                          <a:pt x="0" y="0"/>
                        </a:moveTo>
                        <a:lnTo>
                          <a:pt x="360" y="0"/>
                        </a:lnTo>
                        <a:lnTo>
                          <a:pt x="180" y="15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25400" cap="flat" cmpd="sng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0" name="Line 120"/>
                  <p:cNvSpPr>
                    <a:spLocks noChangeShapeType="1"/>
                  </p:cNvSpPr>
                  <p:nvPr/>
                </p:nvSpPr>
                <p:spPr bwMode="auto">
                  <a:xfrm>
                    <a:off x="3600" y="4404"/>
                    <a:ext cx="346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1" name="Line 121"/>
                  <p:cNvSpPr>
                    <a:spLocks noChangeShapeType="1"/>
                  </p:cNvSpPr>
                  <p:nvPr/>
                </p:nvSpPr>
                <p:spPr bwMode="auto">
                  <a:xfrm>
                    <a:off x="3781" y="3780"/>
                    <a:ext cx="0" cy="936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39996" name="Group 122"/>
                <p:cNvGrpSpPr/>
                <p:nvPr/>
              </p:nvGrpSpPr>
              <p:grpSpPr bwMode="auto">
                <a:xfrm>
                  <a:off x="3240" y="5496"/>
                  <a:ext cx="360" cy="936"/>
                  <a:chOff x="3600" y="3780"/>
                  <a:chExt cx="360" cy="936"/>
                </a:xfrm>
              </p:grpSpPr>
              <p:sp>
                <p:nvSpPr>
                  <p:cNvPr id="106" name="Freeform 123"/>
                  <p:cNvSpPr/>
                  <p:nvPr/>
                </p:nvSpPr>
                <p:spPr bwMode="auto">
                  <a:xfrm>
                    <a:off x="3600" y="4093"/>
                    <a:ext cx="346" cy="311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360" y="0"/>
                      </a:cxn>
                      <a:cxn ang="0">
                        <a:pos x="180" y="156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360" h="156">
                        <a:moveTo>
                          <a:pt x="0" y="0"/>
                        </a:moveTo>
                        <a:lnTo>
                          <a:pt x="360" y="0"/>
                        </a:lnTo>
                        <a:lnTo>
                          <a:pt x="180" y="15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25400" cap="flat" cmpd="sng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7" name="Line 124"/>
                  <p:cNvSpPr>
                    <a:spLocks noChangeShapeType="1"/>
                  </p:cNvSpPr>
                  <p:nvPr/>
                </p:nvSpPr>
                <p:spPr bwMode="auto">
                  <a:xfrm>
                    <a:off x="3600" y="4404"/>
                    <a:ext cx="346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8" name="Line 125"/>
                  <p:cNvSpPr>
                    <a:spLocks noChangeShapeType="1"/>
                  </p:cNvSpPr>
                  <p:nvPr/>
                </p:nvSpPr>
                <p:spPr bwMode="auto">
                  <a:xfrm>
                    <a:off x="3781" y="3780"/>
                    <a:ext cx="0" cy="936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39997" name="Group 126"/>
                <p:cNvGrpSpPr/>
                <p:nvPr/>
              </p:nvGrpSpPr>
              <p:grpSpPr bwMode="auto">
                <a:xfrm>
                  <a:off x="3780" y="5496"/>
                  <a:ext cx="360" cy="936"/>
                  <a:chOff x="3600" y="3780"/>
                  <a:chExt cx="360" cy="936"/>
                </a:xfrm>
              </p:grpSpPr>
              <p:sp>
                <p:nvSpPr>
                  <p:cNvPr id="103" name="Freeform 127"/>
                  <p:cNvSpPr/>
                  <p:nvPr/>
                </p:nvSpPr>
                <p:spPr bwMode="auto">
                  <a:xfrm>
                    <a:off x="3600" y="4093"/>
                    <a:ext cx="346" cy="311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360" y="0"/>
                      </a:cxn>
                      <a:cxn ang="0">
                        <a:pos x="180" y="156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360" h="156">
                        <a:moveTo>
                          <a:pt x="0" y="0"/>
                        </a:moveTo>
                        <a:lnTo>
                          <a:pt x="360" y="0"/>
                        </a:lnTo>
                        <a:lnTo>
                          <a:pt x="180" y="15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25400" cap="flat" cmpd="sng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4" name="Line 128"/>
                  <p:cNvSpPr>
                    <a:spLocks noChangeShapeType="1"/>
                  </p:cNvSpPr>
                  <p:nvPr/>
                </p:nvSpPr>
                <p:spPr bwMode="auto">
                  <a:xfrm>
                    <a:off x="3600" y="4404"/>
                    <a:ext cx="346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5" name="Line 129"/>
                  <p:cNvSpPr>
                    <a:spLocks noChangeShapeType="1"/>
                  </p:cNvSpPr>
                  <p:nvPr/>
                </p:nvSpPr>
                <p:spPr bwMode="auto">
                  <a:xfrm>
                    <a:off x="3781" y="3780"/>
                    <a:ext cx="0" cy="936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39998" name="Group 130"/>
                <p:cNvGrpSpPr/>
                <p:nvPr/>
              </p:nvGrpSpPr>
              <p:grpSpPr bwMode="auto">
                <a:xfrm>
                  <a:off x="4320" y="5496"/>
                  <a:ext cx="360" cy="936"/>
                  <a:chOff x="3600" y="3780"/>
                  <a:chExt cx="360" cy="936"/>
                </a:xfrm>
              </p:grpSpPr>
              <p:sp>
                <p:nvSpPr>
                  <p:cNvPr id="100" name="Freeform 131"/>
                  <p:cNvSpPr/>
                  <p:nvPr/>
                </p:nvSpPr>
                <p:spPr bwMode="auto">
                  <a:xfrm>
                    <a:off x="3600" y="4093"/>
                    <a:ext cx="346" cy="311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360" y="0"/>
                      </a:cxn>
                      <a:cxn ang="0">
                        <a:pos x="180" y="156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360" h="156">
                        <a:moveTo>
                          <a:pt x="0" y="0"/>
                        </a:moveTo>
                        <a:lnTo>
                          <a:pt x="360" y="0"/>
                        </a:lnTo>
                        <a:lnTo>
                          <a:pt x="180" y="15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25400" cap="flat" cmpd="sng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1" name="Line 132"/>
                  <p:cNvSpPr>
                    <a:spLocks noChangeShapeType="1"/>
                  </p:cNvSpPr>
                  <p:nvPr/>
                </p:nvSpPr>
                <p:spPr bwMode="auto">
                  <a:xfrm>
                    <a:off x="3600" y="4404"/>
                    <a:ext cx="346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2" name="Line 133"/>
                  <p:cNvSpPr>
                    <a:spLocks noChangeShapeType="1"/>
                  </p:cNvSpPr>
                  <p:nvPr/>
                </p:nvSpPr>
                <p:spPr bwMode="auto">
                  <a:xfrm>
                    <a:off x="3781" y="3780"/>
                    <a:ext cx="0" cy="936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39999" name="Group 134"/>
                <p:cNvGrpSpPr/>
                <p:nvPr/>
              </p:nvGrpSpPr>
              <p:grpSpPr bwMode="auto">
                <a:xfrm>
                  <a:off x="4860" y="5496"/>
                  <a:ext cx="360" cy="936"/>
                  <a:chOff x="3600" y="3780"/>
                  <a:chExt cx="360" cy="936"/>
                </a:xfrm>
              </p:grpSpPr>
              <p:sp>
                <p:nvSpPr>
                  <p:cNvPr id="97" name="Freeform 135"/>
                  <p:cNvSpPr/>
                  <p:nvPr/>
                </p:nvSpPr>
                <p:spPr bwMode="auto">
                  <a:xfrm>
                    <a:off x="3600" y="4093"/>
                    <a:ext cx="346" cy="311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360" y="0"/>
                      </a:cxn>
                      <a:cxn ang="0">
                        <a:pos x="180" y="156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360" h="156">
                        <a:moveTo>
                          <a:pt x="0" y="0"/>
                        </a:moveTo>
                        <a:lnTo>
                          <a:pt x="360" y="0"/>
                        </a:lnTo>
                        <a:lnTo>
                          <a:pt x="180" y="15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25400" cap="flat" cmpd="sng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8" name="Line 136"/>
                  <p:cNvSpPr>
                    <a:spLocks noChangeShapeType="1"/>
                  </p:cNvSpPr>
                  <p:nvPr/>
                </p:nvSpPr>
                <p:spPr bwMode="auto">
                  <a:xfrm>
                    <a:off x="3600" y="4404"/>
                    <a:ext cx="346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9" name="Line 137"/>
                  <p:cNvSpPr>
                    <a:spLocks noChangeShapeType="1"/>
                  </p:cNvSpPr>
                  <p:nvPr/>
                </p:nvSpPr>
                <p:spPr bwMode="auto">
                  <a:xfrm>
                    <a:off x="3781" y="3780"/>
                    <a:ext cx="0" cy="936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40000" name="Group 138"/>
                <p:cNvGrpSpPr/>
                <p:nvPr/>
              </p:nvGrpSpPr>
              <p:grpSpPr bwMode="auto">
                <a:xfrm>
                  <a:off x="5400" y="5496"/>
                  <a:ext cx="360" cy="936"/>
                  <a:chOff x="3600" y="3780"/>
                  <a:chExt cx="360" cy="936"/>
                </a:xfrm>
              </p:grpSpPr>
              <p:sp>
                <p:nvSpPr>
                  <p:cNvPr id="94" name="Freeform 139"/>
                  <p:cNvSpPr/>
                  <p:nvPr/>
                </p:nvSpPr>
                <p:spPr bwMode="auto">
                  <a:xfrm>
                    <a:off x="3600" y="4093"/>
                    <a:ext cx="346" cy="311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360" y="0"/>
                      </a:cxn>
                      <a:cxn ang="0">
                        <a:pos x="180" y="156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360" h="156">
                        <a:moveTo>
                          <a:pt x="0" y="0"/>
                        </a:moveTo>
                        <a:lnTo>
                          <a:pt x="360" y="0"/>
                        </a:lnTo>
                        <a:lnTo>
                          <a:pt x="180" y="15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25400" cap="flat" cmpd="sng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5" name="Line 140"/>
                  <p:cNvSpPr>
                    <a:spLocks noChangeShapeType="1"/>
                  </p:cNvSpPr>
                  <p:nvPr/>
                </p:nvSpPr>
                <p:spPr bwMode="auto">
                  <a:xfrm>
                    <a:off x="3600" y="4404"/>
                    <a:ext cx="346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6" name="Line 141"/>
                  <p:cNvSpPr>
                    <a:spLocks noChangeShapeType="1"/>
                  </p:cNvSpPr>
                  <p:nvPr/>
                </p:nvSpPr>
                <p:spPr bwMode="auto">
                  <a:xfrm>
                    <a:off x="3781" y="3780"/>
                    <a:ext cx="0" cy="936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40001" name="Group 142"/>
                <p:cNvGrpSpPr/>
                <p:nvPr/>
              </p:nvGrpSpPr>
              <p:grpSpPr bwMode="auto">
                <a:xfrm>
                  <a:off x="5940" y="5496"/>
                  <a:ext cx="360" cy="936"/>
                  <a:chOff x="3600" y="3780"/>
                  <a:chExt cx="360" cy="936"/>
                </a:xfrm>
              </p:grpSpPr>
              <p:sp>
                <p:nvSpPr>
                  <p:cNvPr id="91" name="Freeform 143"/>
                  <p:cNvSpPr/>
                  <p:nvPr/>
                </p:nvSpPr>
                <p:spPr bwMode="auto">
                  <a:xfrm>
                    <a:off x="3614" y="4093"/>
                    <a:ext cx="346" cy="311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360" y="0"/>
                      </a:cxn>
                      <a:cxn ang="0">
                        <a:pos x="180" y="156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360" h="156">
                        <a:moveTo>
                          <a:pt x="0" y="0"/>
                        </a:moveTo>
                        <a:lnTo>
                          <a:pt x="360" y="0"/>
                        </a:lnTo>
                        <a:lnTo>
                          <a:pt x="180" y="15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25400" cap="flat" cmpd="sng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2" name="Line 144"/>
                  <p:cNvSpPr>
                    <a:spLocks noChangeShapeType="1"/>
                  </p:cNvSpPr>
                  <p:nvPr/>
                </p:nvSpPr>
                <p:spPr bwMode="auto">
                  <a:xfrm>
                    <a:off x="3614" y="4404"/>
                    <a:ext cx="346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3" name="Line 145"/>
                  <p:cNvSpPr>
                    <a:spLocks noChangeShapeType="1"/>
                  </p:cNvSpPr>
                  <p:nvPr/>
                </p:nvSpPr>
                <p:spPr bwMode="auto">
                  <a:xfrm>
                    <a:off x="3781" y="3780"/>
                    <a:ext cx="0" cy="936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9" name="Line 146"/>
                <p:cNvSpPr>
                  <a:spLocks noChangeShapeType="1"/>
                </p:cNvSpPr>
                <p:nvPr/>
              </p:nvSpPr>
              <p:spPr bwMode="auto">
                <a:xfrm>
                  <a:off x="2881" y="5496"/>
                  <a:ext cx="3239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0" name="Line 147"/>
                <p:cNvSpPr>
                  <a:spLocks noChangeShapeType="1"/>
                </p:cNvSpPr>
                <p:nvPr/>
              </p:nvSpPr>
              <p:spPr bwMode="auto">
                <a:xfrm>
                  <a:off x="4501" y="5184"/>
                  <a:ext cx="0" cy="312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72" name="Rectangle 149"/>
            <p:cNvSpPr>
              <a:spLocks noChangeArrowheads="1"/>
            </p:cNvSpPr>
            <p:nvPr/>
          </p:nvSpPr>
          <p:spPr bwMode="auto">
            <a:xfrm>
              <a:off x="2562" y="3607"/>
              <a:ext cx="262" cy="23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1800" b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altLang="zh-CN" sz="1800" b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 </a:t>
              </a:r>
              <a:endParaRPr lang="zh-CN" altLang="en-US" sz="1800" b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3" name="Rectangle 150"/>
            <p:cNvSpPr>
              <a:spLocks noChangeArrowheads="1"/>
            </p:cNvSpPr>
            <p:nvPr/>
          </p:nvSpPr>
          <p:spPr bwMode="auto">
            <a:xfrm>
              <a:off x="2873" y="3607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800" b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b</a:t>
              </a:r>
              <a:endParaRPr lang="zh-CN" altLang="en-US" sz="1800" b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4" name="Rectangle 151"/>
            <p:cNvSpPr>
              <a:spLocks noChangeArrowheads="1"/>
            </p:cNvSpPr>
            <p:nvPr/>
          </p:nvSpPr>
          <p:spPr bwMode="auto">
            <a:xfrm>
              <a:off x="3152" y="3603"/>
              <a:ext cx="181" cy="23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800" b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</a:t>
              </a:r>
              <a:endParaRPr lang="zh-CN" altLang="en-US" sz="1800" b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5" name="Rectangle 152"/>
            <p:cNvSpPr>
              <a:spLocks noChangeArrowheads="1"/>
            </p:cNvSpPr>
            <p:nvPr/>
          </p:nvSpPr>
          <p:spPr bwMode="auto">
            <a:xfrm>
              <a:off x="3379" y="3607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800" b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</a:t>
              </a:r>
              <a:endParaRPr lang="zh-CN" altLang="en-US" sz="1800" b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6" name="Rectangle 153"/>
            <p:cNvSpPr>
              <a:spLocks noChangeArrowheads="1"/>
            </p:cNvSpPr>
            <p:nvPr/>
          </p:nvSpPr>
          <p:spPr bwMode="auto">
            <a:xfrm>
              <a:off x="3651" y="3603"/>
              <a:ext cx="181" cy="23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800" b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</a:t>
              </a:r>
              <a:endParaRPr lang="zh-CN" altLang="en-US" sz="1800" b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7" name="Rectangle 154"/>
            <p:cNvSpPr>
              <a:spLocks noChangeArrowheads="1"/>
            </p:cNvSpPr>
            <p:nvPr/>
          </p:nvSpPr>
          <p:spPr bwMode="auto">
            <a:xfrm>
              <a:off x="3941" y="3607"/>
              <a:ext cx="165" cy="23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800" b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f</a:t>
              </a:r>
              <a:endParaRPr lang="zh-CN" altLang="en-US" sz="1800" b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8" name="Rectangle 155"/>
            <p:cNvSpPr>
              <a:spLocks noChangeArrowheads="1"/>
            </p:cNvSpPr>
            <p:nvPr/>
          </p:nvSpPr>
          <p:spPr bwMode="auto">
            <a:xfrm>
              <a:off x="4195" y="3603"/>
              <a:ext cx="188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800" b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g</a:t>
              </a:r>
              <a:endParaRPr lang="zh-CN" altLang="en-US" sz="1800" b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9" name="Rectangle 156"/>
            <p:cNvSpPr>
              <a:spLocks noChangeArrowheads="1"/>
            </p:cNvSpPr>
            <p:nvPr/>
          </p:nvSpPr>
          <p:spPr bwMode="auto">
            <a:xfrm>
              <a:off x="3470" y="2836"/>
              <a:ext cx="408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r>
                <a:rPr lang="zh-CN" altLang="en-US" sz="1800" b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altLang="zh-CN" sz="1800" b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com</a:t>
              </a:r>
              <a:endParaRPr lang="en-US" altLang="zh-CN" sz="1800" b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0200" name="Group 179"/>
          <p:cNvGrpSpPr/>
          <p:nvPr/>
        </p:nvGrpSpPr>
        <p:grpSpPr bwMode="auto">
          <a:xfrm>
            <a:off x="2020888" y="2111375"/>
            <a:ext cx="2347912" cy="1317625"/>
            <a:chOff x="1356" y="981"/>
            <a:chExt cx="1479" cy="830"/>
          </a:xfrm>
        </p:grpSpPr>
        <p:grpSp>
          <p:nvGrpSpPr>
            <p:cNvPr id="39947" name="Group 60"/>
            <p:cNvGrpSpPr/>
            <p:nvPr/>
          </p:nvGrpSpPr>
          <p:grpSpPr bwMode="auto">
            <a:xfrm>
              <a:off x="1356" y="981"/>
              <a:ext cx="617" cy="830"/>
              <a:chOff x="2895" y="922"/>
              <a:chExt cx="617" cy="830"/>
            </a:xfrm>
          </p:grpSpPr>
          <p:sp>
            <p:nvSpPr>
              <p:cNvPr id="155" name="Rectangle 42"/>
              <p:cNvSpPr>
                <a:spLocks noChangeArrowheads="1"/>
              </p:cNvSpPr>
              <p:nvPr/>
            </p:nvSpPr>
            <p:spPr bwMode="auto">
              <a:xfrm>
                <a:off x="2925" y="935"/>
                <a:ext cx="576" cy="81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tIns="0"/>
              <a:lstStyle/>
              <a:p>
                <a:pPr algn="just">
                  <a:defRPr/>
                </a:pPr>
                <a:r>
                  <a:rPr lang="zh-CN" altLang="en-US" sz="1000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</a:t>
                </a:r>
                <a:r>
                  <a:rPr lang="en-US" altLang="zh-CN" sz="1000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   </a:t>
                </a:r>
                <a:endParaRPr lang="en-US" altLang="zh-CN" sz="1000" b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algn="just">
                  <a:defRPr/>
                </a:pPr>
                <a:r>
                  <a:rPr lang="en-US" altLang="zh-CN" sz="1000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</a:t>
                </a:r>
                <a:endParaRPr lang="en-US" altLang="zh-CN" sz="1000" b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algn="just">
                  <a:defRPr/>
                </a:pPr>
                <a:r>
                  <a:rPr lang="en-US" altLang="zh-CN" sz="1000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            </a:t>
                </a:r>
                <a:endParaRPr lang="en-US" altLang="zh-CN" sz="1800" b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9969" name="Group 52"/>
              <p:cNvGrpSpPr/>
              <p:nvPr/>
            </p:nvGrpSpPr>
            <p:grpSpPr bwMode="auto">
              <a:xfrm>
                <a:off x="3061" y="1117"/>
                <a:ext cx="281" cy="453"/>
                <a:chOff x="3061" y="1117"/>
                <a:chExt cx="281" cy="453"/>
              </a:xfrm>
            </p:grpSpPr>
            <p:sp>
              <p:nvSpPr>
                <p:cNvPr id="164" name="Line 44"/>
                <p:cNvSpPr>
                  <a:spLocks noChangeShapeType="1"/>
                </p:cNvSpPr>
                <p:nvPr/>
              </p:nvSpPr>
              <p:spPr bwMode="auto">
                <a:xfrm>
                  <a:off x="3107" y="1117"/>
                  <a:ext cx="190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5" name="Line 45"/>
                <p:cNvSpPr>
                  <a:spLocks noChangeShapeType="1"/>
                </p:cNvSpPr>
                <p:nvPr/>
              </p:nvSpPr>
              <p:spPr bwMode="auto">
                <a:xfrm>
                  <a:off x="3061" y="1145"/>
                  <a:ext cx="0" cy="147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6" name="Line 46"/>
                <p:cNvSpPr>
                  <a:spLocks noChangeShapeType="1"/>
                </p:cNvSpPr>
                <p:nvPr/>
              </p:nvSpPr>
              <p:spPr bwMode="auto">
                <a:xfrm>
                  <a:off x="3342" y="1145"/>
                  <a:ext cx="0" cy="147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7" name="Line 47"/>
                <p:cNvSpPr>
                  <a:spLocks noChangeShapeType="1"/>
                </p:cNvSpPr>
                <p:nvPr/>
              </p:nvSpPr>
              <p:spPr bwMode="auto">
                <a:xfrm>
                  <a:off x="3107" y="1344"/>
                  <a:ext cx="181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8" name="Line 48"/>
                <p:cNvSpPr>
                  <a:spLocks noChangeShapeType="1"/>
                </p:cNvSpPr>
                <p:nvPr/>
              </p:nvSpPr>
              <p:spPr bwMode="auto">
                <a:xfrm>
                  <a:off x="3061" y="1389"/>
                  <a:ext cx="0" cy="147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9" name="Line 50"/>
                <p:cNvSpPr>
                  <a:spLocks noChangeShapeType="1"/>
                </p:cNvSpPr>
                <p:nvPr/>
              </p:nvSpPr>
              <p:spPr bwMode="auto">
                <a:xfrm>
                  <a:off x="3342" y="1389"/>
                  <a:ext cx="0" cy="147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0" name="Line 51"/>
                <p:cNvSpPr>
                  <a:spLocks noChangeShapeType="1"/>
                </p:cNvSpPr>
                <p:nvPr/>
              </p:nvSpPr>
              <p:spPr bwMode="auto">
                <a:xfrm>
                  <a:off x="3107" y="1570"/>
                  <a:ext cx="190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9970" name="Rectangle 53"/>
              <p:cNvSpPr>
                <a:spLocks noChangeArrowheads="1"/>
              </p:cNvSpPr>
              <p:nvPr/>
            </p:nvSpPr>
            <p:spPr bwMode="auto">
              <a:xfrm>
                <a:off x="3092" y="922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8" name="Rectangle 54"/>
              <p:cNvSpPr>
                <a:spLocks noChangeArrowheads="1"/>
              </p:cNvSpPr>
              <p:nvPr/>
            </p:nvSpPr>
            <p:spPr bwMode="auto">
              <a:xfrm>
                <a:off x="3334" y="1117"/>
                <a:ext cx="178" cy="19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CN" sz="1400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b</a:t>
                </a:r>
                <a:endParaRPr lang="zh-CN" altLang="en-US" sz="1400" b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9" name="Rectangle 55"/>
              <p:cNvSpPr>
                <a:spLocks noChangeArrowheads="1"/>
              </p:cNvSpPr>
              <p:nvPr/>
            </p:nvSpPr>
            <p:spPr bwMode="auto">
              <a:xfrm>
                <a:off x="3334" y="1344"/>
                <a:ext cx="173" cy="19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CN" sz="1400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c</a:t>
                </a:r>
                <a:endParaRPr lang="zh-CN" altLang="en-US" sz="1400" b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973" name="Rectangle 56"/>
              <p:cNvSpPr>
                <a:spLocks noChangeArrowheads="1"/>
              </p:cNvSpPr>
              <p:nvPr/>
            </p:nvSpPr>
            <p:spPr bwMode="auto">
              <a:xfrm>
                <a:off x="3107" y="1560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endPara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974" name="Rectangle 57"/>
              <p:cNvSpPr>
                <a:spLocks noChangeArrowheads="1"/>
              </p:cNvSpPr>
              <p:nvPr/>
            </p:nvSpPr>
            <p:spPr bwMode="auto">
              <a:xfrm>
                <a:off x="2895" y="1344"/>
                <a:ext cx="173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endPara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2" name="Rectangle 58"/>
              <p:cNvSpPr>
                <a:spLocks noChangeArrowheads="1"/>
              </p:cNvSpPr>
              <p:nvPr/>
            </p:nvSpPr>
            <p:spPr bwMode="auto">
              <a:xfrm>
                <a:off x="2908" y="1117"/>
                <a:ext cx="154" cy="19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CN" sz="1400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f</a:t>
                </a:r>
                <a:endParaRPr lang="zh-CN" altLang="en-US" sz="1400" b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976" name="Rectangle 59"/>
              <p:cNvSpPr>
                <a:spLocks noChangeArrowheads="1"/>
              </p:cNvSpPr>
              <p:nvPr/>
            </p:nvSpPr>
            <p:spPr bwMode="auto">
              <a:xfrm>
                <a:off x="3107" y="1152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endPara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9948" name="Group 178"/>
            <p:cNvGrpSpPr/>
            <p:nvPr/>
          </p:nvGrpSpPr>
          <p:grpSpPr bwMode="auto">
            <a:xfrm>
              <a:off x="2218" y="981"/>
              <a:ext cx="617" cy="830"/>
              <a:chOff x="2218" y="981"/>
              <a:chExt cx="617" cy="830"/>
            </a:xfrm>
          </p:grpSpPr>
          <p:grpSp>
            <p:nvGrpSpPr>
              <p:cNvPr id="39949" name="Group 159"/>
              <p:cNvGrpSpPr/>
              <p:nvPr/>
            </p:nvGrpSpPr>
            <p:grpSpPr bwMode="auto">
              <a:xfrm>
                <a:off x="2218" y="981"/>
                <a:ext cx="617" cy="830"/>
                <a:chOff x="2895" y="922"/>
                <a:chExt cx="617" cy="830"/>
              </a:xfrm>
            </p:grpSpPr>
            <p:sp>
              <p:nvSpPr>
                <p:cNvPr id="139" name="Rectangle 160"/>
                <p:cNvSpPr>
                  <a:spLocks noChangeArrowheads="1"/>
                </p:cNvSpPr>
                <p:nvPr/>
              </p:nvSpPr>
              <p:spPr bwMode="auto">
                <a:xfrm>
                  <a:off x="2925" y="935"/>
                  <a:ext cx="576" cy="811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tIns="0"/>
                <a:lstStyle/>
                <a:p>
                  <a:pPr algn="just">
                    <a:defRPr/>
                  </a:pPr>
                  <a:r>
                    <a:rPr lang="zh-CN" altLang="en-US" sz="1000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rPr>
                    <a:t>     </a:t>
                  </a:r>
                  <a:r>
                    <a:rPr lang="en-US" altLang="zh-CN" sz="1000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rPr>
                    <a:t>         </a:t>
                  </a:r>
                  <a:endParaRPr lang="en-US" altLang="zh-CN" sz="1000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  <a:p>
                  <a:pPr algn="just">
                    <a:defRPr/>
                  </a:pPr>
                  <a:r>
                    <a:rPr lang="en-US" altLang="zh-CN" sz="1000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rPr>
                    <a:t>  </a:t>
                  </a:r>
                  <a:endParaRPr lang="en-US" altLang="zh-CN" sz="1000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  <a:p>
                  <a:pPr algn="just">
                    <a:defRPr/>
                  </a:pPr>
                  <a:r>
                    <a:rPr lang="en-US" altLang="zh-CN" sz="1000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rPr>
                    <a:t>                  </a:t>
                  </a:r>
                  <a:endParaRPr lang="en-US" altLang="zh-CN" sz="1800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39953" name="Group 161"/>
                <p:cNvGrpSpPr/>
                <p:nvPr/>
              </p:nvGrpSpPr>
              <p:grpSpPr bwMode="auto">
                <a:xfrm>
                  <a:off x="3061" y="1117"/>
                  <a:ext cx="281" cy="453"/>
                  <a:chOff x="3061" y="1117"/>
                  <a:chExt cx="281" cy="453"/>
                </a:xfrm>
              </p:grpSpPr>
              <p:sp>
                <p:nvSpPr>
                  <p:cNvPr id="148" name="Line 162"/>
                  <p:cNvSpPr>
                    <a:spLocks noChangeShapeType="1"/>
                  </p:cNvSpPr>
                  <p:nvPr/>
                </p:nvSpPr>
                <p:spPr bwMode="auto">
                  <a:xfrm>
                    <a:off x="3107" y="1117"/>
                    <a:ext cx="190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FF0000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49" name="Line 163"/>
                  <p:cNvSpPr>
                    <a:spLocks noChangeShapeType="1"/>
                  </p:cNvSpPr>
                  <p:nvPr/>
                </p:nvSpPr>
                <p:spPr bwMode="auto">
                  <a:xfrm>
                    <a:off x="3061" y="1145"/>
                    <a:ext cx="0" cy="147"/>
                  </a:xfrm>
                  <a:prstGeom prst="line">
                    <a:avLst/>
                  </a:prstGeom>
                  <a:noFill/>
                  <a:ln w="38100">
                    <a:solidFill>
                      <a:srgbClr val="FF0000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0" name="Line 164"/>
                  <p:cNvSpPr>
                    <a:spLocks noChangeShapeType="1"/>
                  </p:cNvSpPr>
                  <p:nvPr/>
                </p:nvSpPr>
                <p:spPr bwMode="auto">
                  <a:xfrm>
                    <a:off x="3342" y="1145"/>
                    <a:ext cx="0" cy="147"/>
                  </a:xfrm>
                  <a:prstGeom prst="line">
                    <a:avLst/>
                  </a:prstGeom>
                  <a:noFill/>
                  <a:ln w="38100">
                    <a:solidFill>
                      <a:srgbClr val="FF0000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1" name="Line 165"/>
                  <p:cNvSpPr>
                    <a:spLocks noChangeShapeType="1"/>
                  </p:cNvSpPr>
                  <p:nvPr/>
                </p:nvSpPr>
                <p:spPr bwMode="auto">
                  <a:xfrm>
                    <a:off x="3107" y="1344"/>
                    <a:ext cx="181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FF0000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2" name="Line 166"/>
                  <p:cNvSpPr>
                    <a:spLocks noChangeShapeType="1"/>
                  </p:cNvSpPr>
                  <p:nvPr/>
                </p:nvSpPr>
                <p:spPr bwMode="auto">
                  <a:xfrm>
                    <a:off x="3061" y="1389"/>
                    <a:ext cx="0" cy="147"/>
                  </a:xfrm>
                  <a:prstGeom prst="line">
                    <a:avLst/>
                  </a:prstGeom>
                  <a:noFill/>
                  <a:ln w="38100">
                    <a:solidFill>
                      <a:srgbClr val="FF0000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3" name="Line 167"/>
                  <p:cNvSpPr>
                    <a:spLocks noChangeShapeType="1"/>
                  </p:cNvSpPr>
                  <p:nvPr/>
                </p:nvSpPr>
                <p:spPr bwMode="auto">
                  <a:xfrm>
                    <a:off x="3342" y="1389"/>
                    <a:ext cx="0" cy="147"/>
                  </a:xfrm>
                  <a:prstGeom prst="line">
                    <a:avLst/>
                  </a:prstGeom>
                  <a:noFill/>
                  <a:ln w="38100">
                    <a:solidFill>
                      <a:srgbClr val="FF0000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4" name="Line 168"/>
                  <p:cNvSpPr>
                    <a:spLocks noChangeShapeType="1"/>
                  </p:cNvSpPr>
                  <p:nvPr/>
                </p:nvSpPr>
                <p:spPr bwMode="auto">
                  <a:xfrm>
                    <a:off x="3107" y="1570"/>
                    <a:ext cx="190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FF0000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39954" name="Rectangle 169"/>
                <p:cNvSpPr>
                  <a:spLocks noChangeArrowheads="1"/>
                </p:cNvSpPr>
                <p:nvPr/>
              </p:nvSpPr>
              <p:spPr bwMode="auto">
                <a:xfrm>
                  <a:off x="3092" y="922"/>
                  <a:ext cx="172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endParaRPr lang="en-US" altLang="zh-CN" sz="14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2" name="Rectangle 170"/>
                <p:cNvSpPr>
                  <a:spLocks noChangeArrowheads="1"/>
                </p:cNvSpPr>
                <p:nvPr/>
              </p:nvSpPr>
              <p:spPr bwMode="auto">
                <a:xfrm>
                  <a:off x="3334" y="1117"/>
                  <a:ext cx="178" cy="192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altLang="zh-CN" sz="1400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rPr>
                    <a:t>b</a:t>
                  </a:r>
                  <a:endParaRPr lang="zh-CN" altLang="en-US" sz="1400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3" name="Rectangle 171"/>
                <p:cNvSpPr>
                  <a:spLocks noChangeArrowheads="1"/>
                </p:cNvSpPr>
                <p:nvPr/>
              </p:nvSpPr>
              <p:spPr bwMode="auto">
                <a:xfrm>
                  <a:off x="3334" y="1344"/>
                  <a:ext cx="173" cy="194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altLang="zh-CN" sz="1400" b="1" dirty="0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rPr>
                    <a:t>c</a:t>
                  </a:r>
                  <a:endParaRPr lang="zh-CN" altLang="en-US" sz="1400" b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957" name="Rectangle 172"/>
                <p:cNvSpPr>
                  <a:spLocks noChangeArrowheads="1"/>
                </p:cNvSpPr>
                <p:nvPr/>
              </p:nvSpPr>
              <p:spPr bwMode="auto">
                <a:xfrm>
                  <a:off x="3107" y="1560"/>
                  <a:ext cx="17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  <a:endParaRPr lang="en-US" altLang="zh-CN" sz="14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958" name="Rectangle 173"/>
                <p:cNvSpPr>
                  <a:spLocks noChangeArrowheads="1"/>
                </p:cNvSpPr>
                <p:nvPr/>
              </p:nvSpPr>
              <p:spPr bwMode="auto">
                <a:xfrm>
                  <a:off x="2895" y="1344"/>
                  <a:ext cx="173" cy="1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  <a:endParaRPr lang="en-US" altLang="zh-CN" sz="14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6" name="Rectangle 174"/>
                <p:cNvSpPr>
                  <a:spLocks noChangeArrowheads="1"/>
                </p:cNvSpPr>
                <p:nvPr/>
              </p:nvSpPr>
              <p:spPr bwMode="auto">
                <a:xfrm>
                  <a:off x="2908" y="1117"/>
                  <a:ext cx="154" cy="194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altLang="zh-CN" sz="1400" b="1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rPr>
                    <a:t>f</a:t>
                  </a:r>
                  <a:endParaRPr lang="zh-CN" altLang="en-US" sz="1400" b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960" name="Rectangle 175"/>
                <p:cNvSpPr>
                  <a:spLocks noChangeArrowheads="1"/>
                </p:cNvSpPr>
                <p:nvPr/>
              </p:nvSpPr>
              <p:spPr bwMode="auto">
                <a:xfrm>
                  <a:off x="3107" y="1152"/>
                  <a:ext cx="172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  <a:endParaRPr lang="en-US" altLang="zh-CN" sz="14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37" name="Oval 176"/>
              <p:cNvSpPr>
                <a:spLocks noChangeArrowheads="1"/>
              </p:cNvSpPr>
              <p:nvPr/>
            </p:nvSpPr>
            <p:spPr bwMode="auto">
              <a:xfrm>
                <a:off x="2715" y="1594"/>
                <a:ext cx="45" cy="45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b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951" name="Rectangle 177"/>
              <p:cNvSpPr>
                <a:spLocks noChangeArrowheads="1"/>
              </p:cNvSpPr>
              <p:nvPr/>
            </p:nvSpPr>
            <p:spPr bwMode="auto">
              <a:xfrm>
                <a:off x="2657" y="1616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endPara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9946" name="矩形 1"/>
          <p:cNvSpPr>
            <a:spLocks noChangeArrowheads="1"/>
          </p:cNvSpPr>
          <p:nvPr/>
        </p:nvSpPr>
        <p:spPr bwMode="auto">
          <a:xfrm>
            <a:off x="6156325" y="58738"/>
            <a:ext cx="28559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§4.3</a:t>
            </a:r>
            <a:r>
              <a:rPr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常用的</a:t>
            </a:r>
            <a:r>
              <a:rPr kumimoji="1"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</a:t>
            </a:r>
            <a:endParaRPr lang="zh-CN" altLang="en-US" sz="18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0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01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01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矩形 1"/>
          <p:cNvSpPr>
            <a:spLocks noChangeArrowheads="1"/>
          </p:cNvSpPr>
          <p:nvPr/>
        </p:nvSpPr>
        <p:spPr bwMode="auto">
          <a:xfrm>
            <a:off x="357188" y="214313"/>
            <a:ext cx="67865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BCD—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共阴极七段字符显示译码器</a:t>
            </a:r>
            <a:endParaRPr lang="zh-CN" altLang="en-US" sz="2400">
              <a:solidFill>
                <a:srgbClr val="0000FF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428625" y="681038"/>
            <a:ext cx="76755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将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BCD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码翻译出来，并控制数码管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直观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地显示。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214438" y="1895475"/>
            <a:ext cx="5561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输入：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四位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8421BCD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码，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400" b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400" b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zh-CN" altLang="en-US" sz="2400" b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400"/>
          </a:p>
        </p:txBody>
      </p:sp>
      <p:grpSp>
        <p:nvGrpSpPr>
          <p:cNvPr id="2" name="组合 17"/>
          <p:cNvGrpSpPr/>
          <p:nvPr/>
        </p:nvGrpSpPr>
        <p:grpSpPr bwMode="auto">
          <a:xfrm>
            <a:off x="1214438" y="2428875"/>
            <a:ext cx="6143625" cy="1000125"/>
            <a:chOff x="1214414" y="2000240"/>
            <a:chExt cx="6143668" cy="1000132"/>
          </a:xfrm>
        </p:grpSpPr>
        <p:sp>
          <p:nvSpPr>
            <p:cNvPr id="40994" name="矩形 4"/>
            <p:cNvSpPr>
              <a:spLocks noChangeArrowheads="1"/>
            </p:cNvSpPr>
            <p:nvPr/>
          </p:nvSpPr>
          <p:spPr bwMode="auto">
            <a:xfrm>
              <a:off x="1214414" y="2000240"/>
              <a:ext cx="5753538" cy="4616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输出：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共阴极数码管控制信号</a:t>
              </a:r>
              <a:r>
                <a:rPr kumimoji="1" lang="zh-CN" altLang="en-US" sz="24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（段码）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。</a:t>
              </a:r>
              <a:endParaRPr lang="zh-CN" altLang="en-US" sz="2400"/>
            </a:p>
          </p:txBody>
        </p:sp>
        <p:sp>
          <p:nvSpPr>
            <p:cNvPr id="40995" name="Rectangle 217"/>
            <p:cNvSpPr>
              <a:spLocks noChangeArrowheads="1"/>
            </p:cNvSpPr>
            <p:nvPr/>
          </p:nvSpPr>
          <p:spPr bwMode="auto">
            <a:xfrm>
              <a:off x="3428992" y="2500306"/>
              <a:ext cx="781169" cy="456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4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Y</a:t>
              </a:r>
              <a:r>
                <a:rPr lang="en-US" altLang="zh-CN" sz="2400" b="1" baseline="-2500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 sz="2400" b="1" baseline="-2500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996" name="Rectangle 214"/>
            <p:cNvSpPr>
              <a:spLocks noChangeArrowheads="1"/>
            </p:cNvSpPr>
            <p:nvPr/>
          </p:nvSpPr>
          <p:spPr bwMode="auto">
            <a:xfrm>
              <a:off x="4786314" y="2500306"/>
              <a:ext cx="596199" cy="388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4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400" b="1" baseline="-2500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en-US" altLang="zh-CN" sz="2400" b="1" baseline="-2500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997" name="Rectangle 215"/>
            <p:cNvSpPr>
              <a:spLocks noChangeArrowheads="1"/>
            </p:cNvSpPr>
            <p:nvPr/>
          </p:nvSpPr>
          <p:spPr bwMode="auto">
            <a:xfrm>
              <a:off x="4357686" y="2500306"/>
              <a:ext cx="594547" cy="388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4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400" b="1" baseline="-2500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US" altLang="zh-CN" sz="2400" b="1" baseline="-2500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998" name="Rectangle 216"/>
            <p:cNvSpPr>
              <a:spLocks noChangeArrowheads="1"/>
            </p:cNvSpPr>
            <p:nvPr/>
          </p:nvSpPr>
          <p:spPr bwMode="auto">
            <a:xfrm>
              <a:off x="3929058" y="2500306"/>
              <a:ext cx="520229" cy="388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4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400" b="1" baseline="-2500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2400" b="1" baseline="-2500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999" name="Rectangle 218"/>
            <p:cNvSpPr>
              <a:spLocks noChangeArrowheads="1"/>
            </p:cNvSpPr>
            <p:nvPr/>
          </p:nvSpPr>
          <p:spPr bwMode="auto">
            <a:xfrm>
              <a:off x="3143240" y="2500306"/>
              <a:ext cx="520229" cy="388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4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400" b="1" baseline="-2500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 sz="2400" b="1" baseline="-2500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000" name="Rectangle 219"/>
            <p:cNvSpPr>
              <a:spLocks noChangeArrowheads="1"/>
            </p:cNvSpPr>
            <p:nvPr/>
          </p:nvSpPr>
          <p:spPr bwMode="auto">
            <a:xfrm>
              <a:off x="2714612" y="2500306"/>
              <a:ext cx="521880" cy="388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4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400" b="1" baseline="-2500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2400" b="1" baseline="-2500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001" name="Rectangle 220"/>
            <p:cNvSpPr>
              <a:spLocks noChangeArrowheads="1"/>
            </p:cNvSpPr>
            <p:nvPr/>
          </p:nvSpPr>
          <p:spPr bwMode="auto">
            <a:xfrm>
              <a:off x="2285984" y="2500306"/>
              <a:ext cx="520229" cy="388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4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400" b="1" baseline="-2500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24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002" name="矩形 16"/>
            <p:cNvSpPr>
              <a:spLocks noChangeArrowheads="1"/>
            </p:cNvSpPr>
            <p:nvPr/>
          </p:nvSpPr>
          <p:spPr bwMode="auto">
            <a:xfrm>
              <a:off x="5317139" y="2538707"/>
              <a:ext cx="20409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高电平有效。</a:t>
              </a:r>
              <a:endParaRPr lang="zh-CN" altLang="en-US" sz="2400" b="1">
                <a:solidFill>
                  <a:srgbClr val="C00000"/>
                </a:solidFill>
              </a:endParaRPr>
            </a:p>
          </p:txBody>
        </p:sp>
      </p:grp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928688" y="1357313"/>
            <a:ext cx="35845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显示译码器的设计要求</a:t>
            </a:r>
            <a:endParaRPr lang="zh-CN" altLang="en-US" sz="2400">
              <a:solidFill>
                <a:srgbClr val="C00000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6"/>
          <p:cNvGrpSpPr/>
          <p:nvPr/>
        </p:nvGrpSpPr>
        <p:grpSpPr bwMode="auto">
          <a:xfrm>
            <a:off x="1276350" y="3786188"/>
            <a:ext cx="6296025" cy="2857500"/>
            <a:chOff x="1276179" y="3786190"/>
            <a:chExt cx="6296217" cy="2857520"/>
          </a:xfrm>
        </p:grpSpPr>
        <p:cxnSp>
          <p:nvCxnSpPr>
            <p:cNvPr id="21" name="直接箭头连接符 20"/>
            <p:cNvCxnSpPr/>
            <p:nvPr/>
          </p:nvCxnSpPr>
          <p:spPr>
            <a:xfrm>
              <a:off x="1857222" y="4429131"/>
              <a:ext cx="1071596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/>
            <p:nvPr/>
          </p:nvCxnSpPr>
          <p:spPr>
            <a:xfrm>
              <a:off x="1857222" y="4927610"/>
              <a:ext cx="1071596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/>
            <p:nvPr/>
          </p:nvCxnSpPr>
          <p:spPr>
            <a:xfrm>
              <a:off x="1857222" y="5427676"/>
              <a:ext cx="1071596" cy="158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/>
            <p:nvPr/>
          </p:nvCxnSpPr>
          <p:spPr>
            <a:xfrm>
              <a:off x="1857222" y="5927742"/>
              <a:ext cx="1071596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/>
            <p:nvPr/>
          </p:nvCxnSpPr>
          <p:spPr>
            <a:xfrm>
              <a:off x="4786249" y="4143379"/>
              <a:ext cx="1071595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>
              <a:off x="4786249" y="4498982"/>
              <a:ext cx="1071595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/>
            <p:nvPr/>
          </p:nvCxnSpPr>
          <p:spPr>
            <a:xfrm>
              <a:off x="4786249" y="4857759"/>
              <a:ext cx="1071595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/>
            <p:nvPr/>
          </p:nvCxnSpPr>
          <p:spPr>
            <a:xfrm>
              <a:off x="4786249" y="5213362"/>
              <a:ext cx="1071595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/>
            <p:nvPr/>
          </p:nvCxnSpPr>
          <p:spPr>
            <a:xfrm>
              <a:off x="4786249" y="5572139"/>
              <a:ext cx="1071595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/>
            <p:nvPr/>
          </p:nvCxnSpPr>
          <p:spPr>
            <a:xfrm>
              <a:off x="4786249" y="5927742"/>
              <a:ext cx="1071595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/>
            <p:nvPr/>
          </p:nvCxnSpPr>
          <p:spPr>
            <a:xfrm>
              <a:off x="4786249" y="6286519"/>
              <a:ext cx="1071595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矩形 32"/>
            <p:cNvSpPr/>
            <p:nvPr/>
          </p:nvSpPr>
          <p:spPr>
            <a:xfrm>
              <a:off x="2928817" y="3786190"/>
              <a:ext cx="1857432" cy="2857520"/>
            </a:xfrm>
            <a:prstGeom prst="rect">
              <a:avLst/>
            </a:prstGeom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0981" name="Rectangle 217"/>
            <p:cNvSpPr>
              <a:spLocks noChangeArrowheads="1"/>
            </p:cNvSpPr>
            <p:nvPr/>
          </p:nvSpPr>
          <p:spPr bwMode="auto">
            <a:xfrm>
              <a:off x="4929190" y="4857760"/>
              <a:ext cx="781169" cy="456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1800" b="1" i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Y</a:t>
              </a:r>
              <a:r>
                <a:rPr lang="en-US" altLang="zh-CN" sz="1800" b="1" i="1" baseline="-2500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 sz="1800" b="1" i="1" baseline="-2500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982" name="Rectangle 214"/>
            <p:cNvSpPr>
              <a:spLocks noChangeArrowheads="1"/>
            </p:cNvSpPr>
            <p:nvPr/>
          </p:nvSpPr>
          <p:spPr bwMode="auto">
            <a:xfrm>
              <a:off x="5072066" y="5929330"/>
              <a:ext cx="596199" cy="388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b="1" i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000" b="1" i="1" baseline="-2500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en-US" altLang="zh-CN" sz="2000" b="1" i="1" baseline="-2500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983" name="Rectangle 215"/>
            <p:cNvSpPr>
              <a:spLocks noChangeArrowheads="1"/>
            </p:cNvSpPr>
            <p:nvPr/>
          </p:nvSpPr>
          <p:spPr bwMode="auto">
            <a:xfrm>
              <a:off x="5049023" y="5572140"/>
              <a:ext cx="594547" cy="388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b="1" i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000" b="1" i="1" baseline="-2500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US" altLang="zh-CN" sz="2000" b="1" i="1" baseline="-2500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984" name="Rectangle 216"/>
            <p:cNvSpPr>
              <a:spLocks noChangeArrowheads="1"/>
            </p:cNvSpPr>
            <p:nvPr/>
          </p:nvSpPr>
          <p:spPr bwMode="auto">
            <a:xfrm>
              <a:off x="5072066" y="5214950"/>
              <a:ext cx="520229" cy="388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b="1" i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000" b="1" i="1" baseline="-2500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2000" b="1" i="1" baseline="-2500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985" name="Rectangle 218"/>
            <p:cNvSpPr>
              <a:spLocks noChangeArrowheads="1"/>
            </p:cNvSpPr>
            <p:nvPr/>
          </p:nvSpPr>
          <p:spPr bwMode="auto">
            <a:xfrm>
              <a:off x="5072066" y="4500570"/>
              <a:ext cx="520229" cy="388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b="1" i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000" b="1" i="1" baseline="-2500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 sz="2000" b="1" i="1" baseline="-2500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986" name="Rectangle 219"/>
            <p:cNvSpPr>
              <a:spLocks noChangeArrowheads="1"/>
            </p:cNvSpPr>
            <p:nvPr/>
          </p:nvSpPr>
          <p:spPr bwMode="auto">
            <a:xfrm>
              <a:off x="5072066" y="4143380"/>
              <a:ext cx="521880" cy="388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b="1" i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000" b="1" i="1" baseline="-2500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2000" b="1" i="1" baseline="-2500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987" name="Rectangle 220"/>
            <p:cNvSpPr>
              <a:spLocks noChangeArrowheads="1"/>
            </p:cNvSpPr>
            <p:nvPr/>
          </p:nvSpPr>
          <p:spPr bwMode="auto">
            <a:xfrm>
              <a:off x="5072066" y="3786190"/>
              <a:ext cx="520229" cy="388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b="1" i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000" b="1" i="1" baseline="-2500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2000" b="1" i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988" name="矩形 40"/>
            <p:cNvSpPr>
              <a:spLocks noChangeArrowheads="1"/>
            </p:cNvSpPr>
            <p:nvPr/>
          </p:nvSpPr>
          <p:spPr bwMode="auto">
            <a:xfrm>
              <a:off x="1357290" y="4143380"/>
              <a:ext cx="5613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kumimoji="1" lang="en-US" altLang="zh-CN" sz="2400" b="1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kumimoji="1" lang="zh-CN" altLang="en-US" sz="2400" b="1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400"/>
            </a:p>
          </p:txBody>
        </p:sp>
        <p:sp>
          <p:nvSpPr>
            <p:cNvPr id="40989" name="矩形 41"/>
            <p:cNvSpPr>
              <a:spLocks noChangeArrowheads="1"/>
            </p:cNvSpPr>
            <p:nvPr/>
          </p:nvSpPr>
          <p:spPr bwMode="auto">
            <a:xfrm>
              <a:off x="1276179" y="4643446"/>
              <a:ext cx="65261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kumimoji="1" lang="en-US" altLang="zh-CN" sz="2400" b="1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kumimoji="1" lang="zh-CN" altLang="en-US" sz="2400" b="1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400"/>
            </a:p>
          </p:txBody>
        </p:sp>
        <p:sp>
          <p:nvSpPr>
            <p:cNvPr id="40990" name="矩形 42"/>
            <p:cNvSpPr>
              <a:spLocks noChangeArrowheads="1"/>
            </p:cNvSpPr>
            <p:nvPr/>
          </p:nvSpPr>
          <p:spPr bwMode="auto">
            <a:xfrm>
              <a:off x="1327476" y="5143512"/>
              <a:ext cx="60131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kumimoji="1" lang="en-US" altLang="zh-CN" sz="2400" b="1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kumimoji="1" lang="zh-CN" altLang="en-US" sz="2400" b="1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400"/>
            </a:p>
          </p:txBody>
        </p:sp>
        <p:sp>
          <p:nvSpPr>
            <p:cNvPr id="40991" name="矩形 43"/>
            <p:cNvSpPr>
              <a:spLocks noChangeArrowheads="1"/>
            </p:cNvSpPr>
            <p:nvPr/>
          </p:nvSpPr>
          <p:spPr bwMode="auto">
            <a:xfrm>
              <a:off x="1347280" y="5715016"/>
              <a:ext cx="51007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kumimoji="1" lang="en-US" altLang="zh-CN" sz="2400" b="1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2400"/>
            </a:p>
          </p:txBody>
        </p:sp>
        <p:sp>
          <p:nvSpPr>
            <p:cNvPr id="40992" name="矩形 44"/>
            <p:cNvSpPr>
              <a:spLocks noChangeArrowheads="1"/>
            </p:cNvSpPr>
            <p:nvPr/>
          </p:nvSpPr>
          <p:spPr bwMode="auto">
            <a:xfrm>
              <a:off x="3143240" y="4714884"/>
              <a:ext cx="1422184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字符显示</a:t>
              </a:r>
              <a:endPara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译  码  器</a:t>
              </a:r>
              <a:endParaRPr lang="zh-CN" altLang="en-US" sz="2400"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0993" name="Picture 3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57884" y="3857628"/>
              <a:ext cx="1714512" cy="2743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0968" name="矩形 1"/>
          <p:cNvSpPr>
            <a:spLocks noChangeArrowheads="1"/>
          </p:cNvSpPr>
          <p:nvPr/>
        </p:nvSpPr>
        <p:spPr bwMode="auto">
          <a:xfrm>
            <a:off x="6156325" y="58738"/>
            <a:ext cx="28559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§4.3</a:t>
            </a:r>
            <a:r>
              <a:rPr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常用的</a:t>
            </a:r>
            <a:r>
              <a:rPr kumimoji="1"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</a:t>
            </a:r>
            <a:endParaRPr lang="zh-CN" altLang="en-US" sz="18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6" name="组合 259"/>
          <p:cNvGrpSpPr/>
          <p:nvPr/>
        </p:nvGrpSpPr>
        <p:grpSpPr bwMode="auto">
          <a:xfrm>
            <a:off x="884238" y="642938"/>
            <a:ext cx="7473950" cy="6000750"/>
            <a:chOff x="312738" y="571480"/>
            <a:chExt cx="7473972" cy="6000792"/>
          </a:xfrm>
        </p:grpSpPr>
        <p:sp>
          <p:nvSpPr>
            <p:cNvPr id="42004" name="Line 228"/>
            <p:cNvSpPr>
              <a:spLocks noChangeShapeType="1"/>
            </p:cNvSpPr>
            <p:nvPr/>
          </p:nvSpPr>
          <p:spPr bwMode="auto">
            <a:xfrm>
              <a:off x="312738" y="587375"/>
              <a:ext cx="726669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5" name="Rectangle 5"/>
            <p:cNvSpPr>
              <a:spLocks noChangeArrowheads="1"/>
            </p:cNvSpPr>
            <p:nvPr/>
          </p:nvSpPr>
          <p:spPr bwMode="auto">
            <a:xfrm>
              <a:off x="6999741" y="5906110"/>
              <a:ext cx="64409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06" name="Rectangle 6"/>
            <p:cNvSpPr>
              <a:spLocks noChangeArrowheads="1"/>
            </p:cNvSpPr>
            <p:nvPr/>
          </p:nvSpPr>
          <p:spPr bwMode="auto">
            <a:xfrm>
              <a:off x="6403542" y="5906110"/>
              <a:ext cx="59619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07" name="Rectangle 7"/>
            <p:cNvSpPr>
              <a:spLocks noChangeArrowheads="1"/>
            </p:cNvSpPr>
            <p:nvPr/>
          </p:nvSpPr>
          <p:spPr bwMode="auto">
            <a:xfrm>
              <a:off x="5808995" y="5906110"/>
              <a:ext cx="594547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08" name="Rectangle 8"/>
            <p:cNvSpPr>
              <a:spLocks noChangeArrowheads="1"/>
            </p:cNvSpPr>
            <p:nvPr/>
          </p:nvSpPr>
          <p:spPr bwMode="auto">
            <a:xfrm>
              <a:off x="5288766" y="5906110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09" name="Rectangle 9"/>
            <p:cNvSpPr>
              <a:spLocks noChangeArrowheads="1"/>
            </p:cNvSpPr>
            <p:nvPr/>
          </p:nvSpPr>
          <p:spPr bwMode="auto">
            <a:xfrm>
              <a:off x="4766885" y="5906110"/>
              <a:ext cx="521880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10" name="Rectangle 10"/>
            <p:cNvSpPr>
              <a:spLocks noChangeArrowheads="1"/>
            </p:cNvSpPr>
            <p:nvPr/>
          </p:nvSpPr>
          <p:spPr bwMode="auto">
            <a:xfrm>
              <a:off x="4246657" y="5906110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11" name="Rectangle 11"/>
            <p:cNvSpPr>
              <a:spLocks noChangeArrowheads="1"/>
            </p:cNvSpPr>
            <p:nvPr/>
          </p:nvSpPr>
          <p:spPr bwMode="auto">
            <a:xfrm>
              <a:off x="3724776" y="5906110"/>
              <a:ext cx="521880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12" name="Rectangle 12"/>
            <p:cNvSpPr>
              <a:spLocks noChangeArrowheads="1"/>
            </p:cNvSpPr>
            <p:nvPr/>
          </p:nvSpPr>
          <p:spPr bwMode="auto">
            <a:xfrm>
              <a:off x="3204547" y="5906110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13" name="Rectangle 13"/>
            <p:cNvSpPr>
              <a:spLocks noChangeArrowheads="1"/>
            </p:cNvSpPr>
            <p:nvPr/>
          </p:nvSpPr>
          <p:spPr bwMode="auto">
            <a:xfrm>
              <a:off x="2545594" y="5906110"/>
              <a:ext cx="594547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14" name="Rectangle 14"/>
            <p:cNvSpPr>
              <a:spLocks noChangeArrowheads="1"/>
            </p:cNvSpPr>
            <p:nvPr/>
          </p:nvSpPr>
          <p:spPr bwMode="auto">
            <a:xfrm>
              <a:off x="2098032" y="5906110"/>
              <a:ext cx="447562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15" name="Rectangle 15"/>
            <p:cNvSpPr>
              <a:spLocks noChangeArrowheads="1"/>
            </p:cNvSpPr>
            <p:nvPr/>
          </p:nvSpPr>
          <p:spPr bwMode="auto">
            <a:xfrm>
              <a:off x="1665333" y="5906110"/>
              <a:ext cx="432698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16" name="Rectangle 16"/>
            <p:cNvSpPr>
              <a:spLocks noChangeArrowheads="1"/>
            </p:cNvSpPr>
            <p:nvPr/>
          </p:nvSpPr>
          <p:spPr bwMode="auto">
            <a:xfrm>
              <a:off x="1206211" y="5906110"/>
              <a:ext cx="45912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17" name="Rectangle 18"/>
            <p:cNvSpPr>
              <a:spLocks noChangeArrowheads="1"/>
            </p:cNvSpPr>
            <p:nvPr/>
          </p:nvSpPr>
          <p:spPr bwMode="auto">
            <a:xfrm>
              <a:off x="6999741" y="6228816"/>
              <a:ext cx="64409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18" name="Rectangle 19"/>
            <p:cNvSpPr>
              <a:spLocks noChangeArrowheads="1"/>
            </p:cNvSpPr>
            <p:nvPr/>
          </p:nvSpPr>
          <p:spPr bwMode="auto">
            <a:xfrm>
              <a:off x="6403542" y="6228816"/>
              <a:ext cx="59619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19" name="Rectangle 20"/>
            <p:cNvSpPr>
              <a:spLocks noChangeArrowheads="1"/>
            </p:cNvSpPr>
            <p:nvPr/>
          </p:nvSpPr>
          <p:spPr bwMode="auto">
            <a:xfrm>
              <a:off x="5808995" y="6228816"/>
              <a:ext cx="594547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20" name="Rectangle 21"/>
            <p:cNvSpPr>
              <a:spLocks noChangeArrowheads="1"/>
            </p:cNvSpPr>
            <p:nvPr/>
          </p:nvSpPr>
          <p:spPr bwMode="auto">
            <a:xfrm>
              <a:off x="5288766" y="6228816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21" name="Rectangle 22"/>
            <p:cNvSpPr>
              <a:spLocks noChangeArrowheads="1"/>
            </p:cNvSpPr>
            <p:nvPr/>
          </p:nvSpPr>
          <p:spPr bwMode="auto">
            <a:xfrm>
              <a:off x="4766885" y="6228816"/>
              <a:ext cx="521880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22" name="Rectangle 23"/>
            <p:cNvSpPr>
              <a:spLocks noChangeArrowheads="1"/>
            </p:cNvSpPr>
            <p:nvPr/>
          </p:nvSpPr>
          <p:spPr bwMode="auto">
            <a:xfrm>
              <a:off x="4246657" y="6228816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23" name="Rectangle 24"/>
            <p:cNvSpPr>
              <a:spLocks noChangeArrowheads="1"/>
            </p:cNvSpPr>
            <p:nvPr/>
          </p:nvSpPr>
          <p:spPr bwMode="auto">
            <a:xfrm>
              <a:off x="3724776" y="6228816"/>
              <a:ext cx="521880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24" name="Rectangle 25"/>
            <p:cNvSpPr>
              <a:spLocks noChangeArrowheads="1"/>
            </p:cNvSpPr>
            <p:nvPr/>
          </p:nvSpPr>
          <p:spPr bwMode="auto">
            <a:xfrm>
              <a:off x="3204547" y="6228816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25" name="Rectangle 26"/>
            <p:cNvSpPr>
              <a:spLocks noChangeArrowheads="1"/>
            </p:cNvSpPr>
            <p:nvPr/>
          </p:nvSpPr>
          <p:spPr bwMode="auto">
            <a:xfrm>
              <a:off x="2545594" y="6228816"/>
              <a:ext cx="594547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26" name="Rectangle 27"/>
            <p:cNvSpPr>
              <a:spLocks noChangeArrowheads="1"/>
            </p:cNvSpPr>
            <p:nvPr/>
          </p:nvSpPr>
          <p:spPr bwMode="auto">
            <a:xfrm>
              <a:off x="2098032" y="6228816"/>
              <a:ext cx="447562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27" name="Rectangle 28"/>
            <p:cNvSpPr>
              <a:spLocks noChangeArrowheads="1"/>
            </p:cNvSpPr>
            <p:nvPr/>
          </p:nvSpPr>
          <p:spPr bwMode="auto">
            <a:xfrm>
              <a:off x="1665333" y="6228816"/>
              <a:ext cx="432698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28" name="Rectangle 29"/>
            <p:cNvSpPr>
              <a:spLocks noChangeArrowheads="1"/>
            </p:cNvSpPr>
            <p:nvPr/>
          </p:nvSpPr>
          <p:spPr bwMode="auto">
            <a:xfrm>
              <a:off x="1206211" y="6228816"/>
              <a:ext cx="45912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29" name="Rectangle 31"/>
            <p:cNvSpPr>
              <a:spLocks noChangeArrowheads="1"/>
            </p:cNvSpPr>
            <p:nvPr/>
          </p:nvSpPr>
          <p:spPr bwMode="auto">
            <a:xfrm>
              <a:off x="6999741" y="5583404"/>
              <a:ext cx="64409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30" name="Rectangle 32"/>
            <p:cNvSpPr>
              <a:spLocks noChangeArrowheads="1"/>
            </p:cNvSpPr>
            <p:nvPr/>
          </p:nvSpPr>
          <p:spPr bwMode="auto">
            <a:xfrm>
              <a:off x="6403542" y="5583404"/>
              <a:ext cx="59619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31" name="Rectangle 33"/>
            <p:cNvSpPr>
              <a:spLocks noChangeArrowheads="1"/>
            </p:cNvSpPr>
            <p:nvPr/>
          </p:nvSpPr>
          <p:spPr bwMode="auto">
            <a:xfrm>
              <a:off x="5808995" y="5583404"/>
              <a:ext cx="594547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32" name="Rectangle 34"/>
            <p:cNvSpPr>
              <a:spLocks noChangeArrowheads="1"/>
            </p:cNvSpPr>
            <p:nvPr/>
          </p:nvSpPr>
          <p:spPr bwMode="auto">
            <a:xfrm>
              <a:off x="5288766" y="5583404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33" name="Rectangle 35"/>
            <p:cNvSpPr>
              <a:spLocks noChangeArrowheads="1"/>
            </p:cNvSpPr>
            <p:nvPr/>
          </p:nvSpPr>
          <p:spPr bwMode="auto">
            <a:xfrm>
              <a:off x="4766885" y="5583404"/>
              <a:ext cx="521880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34" name="Rectangle 36"/>
            <p:cNvSpPr>
              <a:spLocks noChangeArrowheads="1"/>
            </p:cNvSpPr>
            <p:nvPr/>
          </p:nvSpPr>
          <p:spPr bwMode="auto">
            <a:xfrm>
              <a:off x="4246657" y="5583404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35" name="Rectangle 37"/>
            <p:cNvSpPr>
              <a:spLocks noChangeArrowheads="1"/>
            </p:cNvSpPr>
            <p:nvPr/>
          </p:nvSpPr>
          <p:spPr bwMode="auto">
            <a:xfrm>
              <a:off x="3724776" y="5583404"/>
              <a:ext cx="521880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36" name="Rectangle 38"/>
            <p:cNvSpPr>
              <a:spLocks noChangeArrowheads="1"/>
            </p:cNvSpPr>
            <p:nvPr/>
          </p:nvSpPr>
          <p:spPr bwMode="auto">
            <a:xfrm>
              <a:off x="3204547" y="5583404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37" name="Rectangle 39"/>
            <p:cNvSpPr>
              <a:spLocks noChangeArrowheads="1"/>
            </p:cNvSpPr>
            <p:nvPr/>
          </p:nvSpPr>
          <p:spPr bwMode="auto">
            <a:xfrm>
              <a:off x="2545594" y="5583404"/>
              <a:ext cx="594547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38" name="Rectangle 40"/>
            <p:cNvSpPr>
              <a:spLocks noChangeArrowheads="1"/>
            </p:cNvSpPr>
            <p:nvPr/>
          </p:nvSpPr>
          <p:spPr bwMode="auto">
            <a:xfrm>
              <a:off x="2098032" y="5583404"/>
              <a:ext cx="447562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39" name="Rectangle 41"/>
            <p:cNvSpPr>
              <a:spLocks noChangeArrowheads="1"/>
            </p:cNvSpPr>
            <p:nvPr/>
          </p:nvSpPr>
          <p:spPr bwMode="auto">
            <a:xfrm>
              <a:off x="1665333" y="5583404"/>
              <a:ext cx="432698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40" name="Rectangle 42"/>
            <p:cNvSpPr>
              <a:spLocks noChangeArrowheads="1"/>
            </p:cNvSpPr>
            <p:nvPr/>
          </p:nvSpPr>
          <p:spPr bwMode="auto">
            <a:xfrm>
              <a:off x="1206211" y="5583404"/>
              <a:ext cx="45912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41" name="Rectangle 44"/>
            <p:cNvSpPr>
              <a:spLocks noChangeArrowheads="1"/>
            </p:cNvSpPr>
            <p:nvPr/>
          </p:nvSpPr>
          <p:spPr bwMode="auto">
            <a:xfrm>
              <a:off x="6999741" y="5260698"/>
              <a:ext cx="64409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42" name="Rectangle 45"/>
            <p:cNvSpPr>
              <a:spLocks noChangeArrowheads="1"/>
            </p:cNvSpPr>
            <p:nvPr/>
          </p:nvSpPr>
          <p:spPr bwMode="auto">
            <a:xfrm>
              <a:off x="6403542" y="5260698"/>
              <a:ext cx="59619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43" name="Rectangle 46"/>
            <p:cNvSpPr>
              <a:spLocks noChangeArrowheads="1"/>
            </p:cNvSpPr>
            <p:nvPr/>
          </p:nvSpPr>
          <p:spPr bwMode="auto">
            <a:xfrm>
              <a:off x="5808995" y="5260698"/>
              <a:ext cx="594547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44" name="Rectangle 47"/>
            <p:cNvSpPr>
              <a:spLocks noChangeArrowheads="1"/>
            </p:cNvSpPr>
            <p:nvPr/>
          </p:nvSpPr>
          <p:spPr bwMode="auto">
            <a:xfrm>
              <a:off x="5288766" y="5260698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45" name="Rectangle 48"/>
            <p:cNvSpPr>
              <a:spLocks noChangeArrowheads="1"/>
            </p:cNvSpPr>
            <p:nvPr/>
          </p:nvSpPr>
          <p:spPr bwMode="auto">
            <a:xfrm>
              <a:off x="4766885" y="5260698"/>
              <a:ext cx="521880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46" name="Rectangle 49"/>
            <p:cNvSpPr>
              <a:spLocks noChangeArrowheads="1"/>
            </p:cNvSpPr>
            <p:nvPr/>
          </p:nvSpPr>
          <p:spPr bwMode="auto">
            <a:xfrm>
              <a:off x="4246657" y="5260698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47" name="Rectangle 50"/>
            <p:cNvSpPr>
              <a:spLocks noChangeArrowheads="1"/>
            </p:cNvSpPr>
            <p:nvPr/>
          </p:nvSpPr>
          <p:spPr bwMode="auto">
            <a:xfrm>
              <a:off x="3724776" y="5260698"/>
              <a:ext cx="521880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48" name="Rectangle 51"/>
            <p:cNvSpPr>
              <a:spLocks noChangeArrowheads="1"/>
            </p:cNvSpPr>
            <p:nvPr/>
          </p:nvSpPr>
          <p:spPr bwMode="auto">
            <a:xfrm>
              <a:off x="3204547" y="5260698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49" name="Rectangle 52"/>
            <p:cNvSpPr>
              <a:spLocks noChangeArrowheads="1"/>
            </p:cNvSpPr>
            <p:nvPr/>
          </p:nvSpPr>
          <p:spPr bwMode="auto">
            <a:xfrm>
              <a:off x="2545594" y="5260698"/>
              <a:ext cx="594547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50" name="Rectangle 53"/>
            <p:cNvSpPr>
              <a:spLocks noChangeArrowheads="1"/>
            </p:cNvSpPr>
            <p:nvPr/>
          </p:nvSpPr>
          <p:spPr bwMode="auto">
            <a:xfrm>
              <a:off x="2098032" y="5260698"/>
              <a:ext cx="447562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51" name="Rectangle 54"/>
            <p:cNvSpPr>
              <a:spLocks noChangeArrowheads="1"/>
            </p:cNvSpPr>
            <p:nvPr/>
          </p:nvSpPr>
          <p:spPr bwMode="auto">
            <a:xfrm>
              <a:off x="1665333" y="5260698"/>
              <a:ext cx="432698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52" name="Rectangle 55"/>
            <p:cNvSpPr>
              <a:spLocks noChangeArrowheads="1"/>
            </p:cNvSpPr>
            <p:nvPr/>
          </p:nvSpPr>
          <p:spPr bwMode="auto">
            <a:xfrm>
              <a:off x="1206211" y="5260698"/>
              <a:ext cx="45912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53" name="Rectangle 57"/>
            <p:cNvSpPr>
              <a:spLocks noChangeArrowheads="1"/>
            </p:cNvSpPr>
            <p:nvPr/>
          </p:nvSpPr>
          <p:spPr bwMode="auto">
            <a:xfrm>
              <a:off x="6999741" y="4937992"/>
              <a:ext cx="64409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54" name="Rectangle 58"/>
            <p:cNvSpPr>
              <a:spLocks noChangeArrowheads="1"/>
            </p:cNvSpPr>
            <p:nvPr/>
          </p:nvSpPr>
          <p:spPr bwMode="auto">
            <a:xfrm>
              <a:off x="6403542" y="4937992"/>
              <a:ext cx="59619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55" name="Rectangle 59"/>
            <p:cNvSpPr>
              <a:spLocks noChangeArrowheads="1"/>
            </p:cNvSpPr>
            <p:nvPr/>
          </p:nvSpPr>
          <p:spPr bwMode="auto">
            <a:xfrm>
              <a:off x="5808995" y="4937992"/>
              <a:ext cx="594547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56" name="Rectangle 60"/>
            <p:cNvSpPr>
              <a:spLocks noChangeArrowheads="1"/>
            </p:cNvSpPr>
            <p:nvPr/>
          </p:nvSpPr>
          <p:spPr bwMode="auto">
            <a:xfrm>
              <a:off x="5288766" y="4937992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57" name="Rectangle 61"/>
            <p:cNvSpPr>
              <a:spLocks noChangeArrowheads="1"/>
            </p:cNvSpPr>
            <p:nvPr/>
          </p:nvSpPr>
          <p:spPr bwMode="auto">
            <a:xfrm>
              <a:off x="4766885" y="4937992"/>
              <a:ext cx="521880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58" name="Rectangle 62"/>
            <p:cNvSpPr>
              <a:spLocks noChangeArrowheads="1"/>
            </p:cNvSpPr>
            <p:nvPr/>
          </p:nvSpPr>
          <p:spPr bwMode="auto">
            <a:xfrm>
              <a:off x="4246657" y="4937992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59" name="Rectangle 63"/>
            <p:cNvSpPr>
              <a:spLocks noChangeArrowheads="1"/>
            </p:cNvSpPr>
            <p:nvPr/>
          </p:nvSpPr>
          <p:spPr bwMode="auto">
            <a:xfrm>
              <a:off x="3724776" y="4937992"/>
              <a:ext cx="521880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60" name="Rectangle 64"/>
            <p:cNvSpPr>
              <a:spLocks noChangeArrowheads="1"/>
            </p:cNvSpPr>
            <p:nvPr/>
          </p:nvSpPr>
          <p:spPr bwMode="auto">
            <a:xfrm>
              <a:off x="3204547" y="4937992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61" name="Rectangle 65"/>
            <p:cNvSpPr>
              <a:spLocks noChangeArrowheads="1"/>
            </p:cNvSpPr>
            <p:nvPr/>
          </p:nvSpPr>
          <p:spPr bwMode="auto">
            <a:xfrm>
              <a:off x="2545594" y="4937992"/>
              <a:ext cx="594547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62" name="Rectangle 66"/>
            <p:cNvSpPr>
              <a:spLocks noChangeArrowheads="1"/>
            </p:cNvSpPr>
            <p:nvPr/>
          </p:nvSpPr>
          <p:spPr bwMode="auto">
            <a:xfrm>
              <a:off x="2098032" y="4937992"/>
              <a:ext cx="447562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63" name="Rectangle 67"/>
            <p:cNvSpPr>
              <a:spLocks noChangeArrowheads="1"/>
            </p:cNvSpPr>
            <p:nvPr/>
          </p:nvSpPr>
          <p:spPr bwMode="auto">
            <a:xfrm>
              <a:off x="1665333" y="4937992"/>
              <a:ext cx="432698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64" name="Rectangle 68"/>
            <p:cNvSpPr>
              <a:spLocks noChangeArrowheads="1"/>
            </p:cNvSpPr>
            <p:nvPr/>
          </p:nvSpPr>
          <p:spPr bwMode="auto">
            <a:xfrm>
              <a:off x="1206211" y="4937992"/>
              <a:ext cx="45912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65" name="Rectangle 70"/>
            <p:cNvSpPr>
              <a:spLocks noChangeArrowheads="1"/>
            </p:cNvSpPr>
            <p:nvPr/>
          </p:nvSpPr>
          <p:spPr bwMode="auto">
            <a:xfrm>
              <a:off x="6999741" y="4615286"/>
              <a:ext cx="64409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66" name="Rectangle 71"/>
            <p:cNvSpPr>
              <a:spLocks noChangeArrowheads="1"/>
            </p:cNvSpPr>
            <p:nvPr/>
          </p:nvSpPr>
          <p:spPr bwMode="auto">
            <a:xfrm>
              <a:off x="6403542" y="4615286"/>
              <a:ext cx="59619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67" name="Rectangle 72"/>
            <p:cNvSpPr>
              <a:spLocks noChangeArrowheads="1"/>
            </p:cNvSpPr>
            <p:nvPr/>
          </p:nvSpPr>
          <p:spPr bwMode="auto">
            <a:xfrm>
              <a:off x="5808995" y="4615286"/>
              <a:ext cx="594547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68" name="Rectangle 73"/>
            <p:cNvSpPr>
              <a:spLocks noChangeArrowheads="1"/>
            </p:cNvSpPr>
            <p:nvPr/>
          </p:nvSpPr>
          <p:spPr bwMode="auto">
            <a:xfrm>
              <a:off x="5288766" y="4615286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69" name="Rectangle 74"/>
            <p:cNvSpPr>
              <a:spLocks noChangeArrowheads="1"/>
            </p:cNvSpPr>
            <p:nvPr/>
          </p:nvSpPr>
          <p:spPr bwMode="auto">
            <a:xfrm>
              <a:off x="4766885" y="4615286"/>
              <a:ext cx="521880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70" name="Rectangle 75"/>
            <p:cNvSpPr>
              <a:spLocks noChangeArrowheads="1"/>
            </p:cNvSpPr>
            <p:nvPr/>
          </p:nvSpPr>
          <p:spPr bwMode="auto">
            <a:xfrm>
              <a:off x="4246657" y="4615286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71" name="Rectangle 76"/>
            <p:cNvSpPr>
              <a:spLocks noChangeArrowheads="1"/>
            </p:cNvSpPr>
            <p:nvPr/>
          </p:nvSpPr>
          <p:spPr bwMode="auto">
            <a:xfrm>
              <a:off x="3724776" y="4615286"/>
              <a:ext cx="521880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72" name="Rectangle 77"/>
            <p:cNvSpPr>
              <a:spLocks noChangeArrowheads="1"/>
            </p:cNvSpPr>
            <p:nvPr/>
          </p:nvSpPr>
          <p:spPr bwMode="auto">
            <a:xfrm>
              <a:off x="3204547" y="4615286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73" name="Rectangle 78"/>
            <p:cNvSpPr>
              <a:spLocks noChangeArrowheads="1"/>
            </p:cNvSpPr>
            <p:nvPr/>
          </p:nvSpPr>
          <p:spPr bwMode="auto">
            <a:xfrm>
              <a:off x="2545594" y="4615286"/>
              <a:ext cx="594547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74" name="Rectangle 79"/>
            <p:cNvSpPr>
              <a:spLocks noChangeArrowheads="1"/>
            </p:cNvSpPr>
            <p:nvPr/>
          </p:nvSpPr>
          <p:spPr bwMode="auto">
            <a:xfrm>
              <a:off x="2098032" y="4615286"/>
              <a:ext cx="447562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75" name="Rectangle 80"/>
            <p:cNvSpPr>
              <a:spLocks noChangeArrowheads="1"/>
            </p:cNvSpPr>
            <p:nvPr/>
          </p:nvSpPr>
          <p:spPr bwMode="auto">
            <a:xfrm>
              <a:off x="1665333" y="4615286"/>
              <a:ext cx="432698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76" name="Rectangle 81"/>
            <p:cNvSpPr>
              <a:spLocks noChangeArrowheads="1"/>
            </p:cNvSpPr>
            <p:nvPr/>
          </p:nvSpPr>
          <p:spPr bwMode="auto">
            <a:xfrm>
              <a:off x="1206211" y="4615286"/>
              <a:ext cx="45912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77" name="Rectangle 82"/>
            <p:cNvSpPr>
              <a:spLocks noChangeArrowheads="1"/>
            </p:cNvSpPr>
            <p:nvPr/>
          </p:nvSpPr>
          <p:spPr bwMode="auto">
            <a:xfrm>
              <a:off x="320941" y="5429264"/>
              <a:ext cx="89347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CN" altLang="en-US" sz="20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伪码</a:t>
              </a:r>
              <a:endParaRPr lang="en-US" altLang="zh-CN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78" name="Rectangle 83"/>
            <p:cNvSpPr>
              <a:spLocks noChangeArrowheads="1"/>
            </p:cNvSpPr>
            <p:nvPr/>
          </p:nvSpPr>
          <p:spPr bwMode="auto">
            <a:xfrm>
              <a:off x="6999741" y="4292580"/>
              <a:ext cx="64409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79" name="Rectangle 84"/>
            <p:cNvSpPr>
              <a:spLocks noChangeArrowheads="1"/>
            </p:cNvSpPr>
            <p:nvPr/>
          </p:nvSpPr>
          <p:spPr bwMode="auto">
            <a:xfrm>
              <a:off x="6403542" y="4292580"/>
              <a:ext cx="59619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80" name="Rectangle 85"/>
            <p:cNvSpPr>
              <a:spLocks noChangeArrowheads="1"/>
            </p:cNvSpPr>
            <p:nvPr/>
          </p:nvSpPr>
          <p:spPr bwMode="auto">
            <a:xfrm>
              <a:off x="5808995" y="4292580"/>
              <a:ext cx="594547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81" name="Rectangle 86"/>
            <p:cNvSpPr>
              <a:spLocks noChangeArrowheads="1"/>
            </p:cNvSpPr>
            <p:nvPr/>
          </p:nvSpPr>
          <p:spPr bwMode="auto">
            <a:xfrm>
              <a:off x="5288766" y="4292580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82" name="Rectangle 87"/>
            <p:cNvSpPr>
              <a:spLocks noChangeArrowheads="1"/>
            </p:cNvSpPr>
            <p:nvPr/>
          </p:nvSpPr>
          <p:spPr bwMode="auto">
            <a:xfrm>
              <a:off x="4766885" y="4292580"/>
              <a:ext cx="521880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83" name="Rectangle 88"/>
            <p:cNvSpPr>
              <a:spLocks noChangeArrowheads="1"/>
            </p:cNvSpPr>
            <p:nvPr/>
          </p:nvSpPr>
          <p:spPr bwMode="auto">
            <a:xfrm>
              <a:off x="4246657" y="4292580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84" name="Rectangle 89"/>
            <p:cNvSpPr>
              <a:spLocks noChangeArrowheads="1"/>
            </p:cNvSpPr>
            <p:nvPr/>
          </p:nvSpPr>
          <p:spPr bwMode="auto">
            <a:xfrm>
              <a:off x="3724776" y="4292580"/>
              <a:ext cx="521880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85" name="Rectangle 90"/>
            <p:cNvSpPr>
              <a:spLocks noChangeArrowheads="1"/>
            </p:cNvSpPr>
            <p:nvPr/>
          </p:nvSpPr>
          <p:spPr bwMode="auto">
            <a:xfrm>
              <a:off x="3204547" y="4292580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86" name="Rectangle 91"/>
            <p:cNvSpPr>
              <a:spLocks noChangeArrowheads="1"/>
            </p:cNvSpPr>
            <p:nvPr/>
          </p:nvSpPr>
          <p:spPr bwMode="auto">
            <a:xfrm>
              <a:off x="2545594" y="4292580"/>
              <a:ext cx="594547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87" name="Rectangle 92"/>
            <p:cNvSpPr>
              <a:spLocks noChangeArrowheads="1"/>
            </p:cNvSpPr>
            <p:nvPr/>
          </p:nvSpPr>
          <p:spPr bwMode="auto">
            <a:xfrm>
              <a:off x="2098032" y="4292580"/>
              <a:ext cx="447562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88" name="Rectangle 93"/>
            <p:cNvSpPr>
              <a:spLocks noChangeArrowheads="1"/>
            </p:cNvSpPr>
            <p:nvPr/>
          </p:nvSpPr>
          <p:spPr bwMode="auto">
            <a:xfrm>
              <a:off x="1665333" y="4292580"/>
              <a:ext cx="432698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89" name="Rectangle 94"/>
            <p:cNvSpPr>
              <a:spLocks noChangeArrowheads="1"/>
            </p:cNvSpPr>
            <p:nvPr/>
          </p:nvSpPr>
          <p:spPr bwMode="auto">
            <a:xfrm>
              <a:off x="1206211" y="4292580"/>
              <a:ext cx="45912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90" name="Rectangle 95"/>
            <p:cNvSpPr>
              <a:spLocks noChangeArrowheads="1"/>
            </p:cNvSpPr>
            <p:nvPr/>
          </p:nvSpPr>
          <p:spPr bwMode="auto">
            <a:xfrm>
              <a:off x="312738" y="4292580"/>
              <a:ext cx="89347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91" name="Rectangle 96"/>
            <p:cNvSpPr>
              <a:spLocks noChangeArrowheads="1"/>
            </p:cNvSpPr>
            <p:nvPr/>
          </p:nvSpPr>
          <p:spPr bwMode="auto">
            <a:xfrm>
              <a:off x="6999741" y="3969874"/>
              <a:ext cx="64409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92" name="Rectangle 97"/>
            <p:cNvSpPr>
              <a:spLocks noChangeArrowheads="1"/>
            </p:cNvSpPr>
            <p:nvPr/>
          </p:nvSpPr>
          <p:spPr bwMode="auto">
            <a:xfrm>
              <a:off x="6403542" y="3969874"/>
              <a:ext cx="59619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93" name="Rectangle 98"/>
            <p:cNvSpPr>
              <a:spLocks noChangeArrowheads="1"/>
            </p:cNvSpPr>
            <p:nvPr/>
          </p:nvSpPr>
          <p:spPr bwMode="auto">
            <a:xfrm>
              <a:off x="5808995" y="3969874"/>
              <a:ext cx="594547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94" name="Rectangle 99"/>
            <p:cNvSpPr>
              <a:spLocks noChangeArrowheads="1"/>
            </p:cNvSpPr>
            <p:nvPr/>
          </p:nvSpPr>
          <p:spPr bwMode="auto">
            <a:xfrm>
              <a:off x="5288766" y="3969874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95" name="Rectangle 100"/>
            <p:cNvSpPr>
              <a:spLocks noChangeArrowheads="1"/>
            </p:cNvSpPr>
            <p:nvPr/>
          </p:nvSpPr>
          <p:spPr bwMode="auto">
            <a:xfrm>
              <a:off x="4766885" y="3969874"/>
              <a:ext cx="521880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96" name="Rectangle 101"/>
            <p:cNvSpPr>
              <a:spLocks noChangeArrowheads="1"/>
            </p:cNvSpPr>
            <p:nvPr/>
          </p:nvSpPr>
          <p:spPr bwMode="auto">
            <a:xfrm>
              <a:off x="4246657" y="3969874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97" name="Rectangle 102"/>
            <p:cNvSpPr>
              <a:spLocks noChangeArrowheads="1"/>
            </p:cNvSpPr>
            <p:nvPr/>
          </p:nvSpPr>
          <p:spPr bwMode="auto">
            <a:xfrm>
              <a:off x="3724776" y="3969874"/>
              <a:ext cx="521880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98" name="Rectangle 103"/>
            <p:cNvSpPr>
              <a:spLocks noChangeArrowheads="1"/>
            </p:cNvSpPr>
            <p:nvPr/>
          </p:nvSpPr>
          <p:spPr bwMode="auto">
            <a:xfrm>
              <a:off x="3204547" y="3969874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99" name="Rectangle 104"/>
            <p:cNvSpPr>
              <a:spLocks noChangeArrowheads="1"/>
            </p:cNvSpPr>
            <p:nvPr/>
          </p:nvSpPr>
          <p:spPr bwMode="auto">
            <a:xfrm>
              <a:off x="2545594" y="3969874"/>
              <a:ext cx="594547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00" name="Rectangle 105"/>
            <p:cNvSpPr>
              <a:spLocks noChangeArrowheads="1"/>
            </p:cNvSpPr>
            <p:nvPr/>
          </p:nvSpPr>
          <p:spPr bwMode="auto">
            <a:xfrm>
              <a:off x="2098032" y="3969874"/>
              <a:ext cx="447562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01" name="Rectangle 106"/>
            <p:cNvSpPr>
              <a:spLocks noChangeArrowheads="1"/>
            </p:cNvSpPr>
            <p:nvPr/>
          </p:nvSpPr>
          <p:spPr bwMode="auto">
            <a:xfrm>
              <a:off x="1665333" y="3969874"/>
              <a:ext cx="432698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02" name="Rectangle 107"/>
            <p:cNvSpPr>
              <a:spLocks noChangeArrowheads="1"/>
            </p:cNvSpPr>
            <p:nvPr/>
          </p:nvSpPr>
          <p:spPr bwMode="auto">
            <a:xfrm>
              <a:off x="1206211" y="3969874"/>
              <a:ext cx="45912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03" name="Rectangle 108"/>
            <p:cNvSpPr>
              <a:spLocks noChangeArrowheads="1"/>
            </p:cNvSpPr>
            <p:nvPr/>
          </p:nvSpPr>
          <p:spPr bwMode="auto">
            <a:xfrm>
              <a:off x="312738" y="3969874"/>
              <a:ext cx="89347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04" name="Rectangle 109"/>
            <p:cNvSpPr>
              <a:spLocks noChangeArrowheads="1"/>
            </p:cNvSpPr>
            <p:nvPr/>
          </p:nvSpPr>
          <p:spPr bwMode="auto">
            <a:xfrm>
              <a:off x="6999741" y="3647168"/>
              <a:ext cx="64409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05" name="Rectangle 110"/>
            <p:cNvSpPr>
              <a:spLocks noChangeArrowheads="1"/>
            </p:cNvSpPr>
            <p:nvPr/>
          </p:nvSpPr>
          <p:spPr bwMode="auto">
            <a:xfrm>
              <a:off x="6403542" y="3647168"/>
              <a:ext cx="59619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06" name="Rectangle 111"/>
            <p:cNvSpPr>
              <a:spLocks noChangeArrowheads="1"/>
            </p:cNvSpPr>
            <p:nvPr/>
          </p:nvSpPr>
          <p:spPr bwMode="auto">
            <a:xfrm>
              <a:off x="5808995" y="3647168"/>
              <a:ext cx="594547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07" name="Rectangle 112"/>
            <p:cNvSpPr>
              <a:spLocks noChangeArrowheads="1"/>
            </p:cNvSpPr>
            <p:nvPr/>
          </p:nvSpPr>
          <p:spPr bwMode="auto">
            <a:xfrm>
              <a:off x="5288766" y="3647168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08" name="Rectangle 113"/>
            <p:cNvSpPr>
              <a:spLocks noChangeArrowheads="1"/>
            </p:cNvSpPr>
            <p:nvPr/>
          </p:nvSpPr>
          <p:spPr bwMode="auto">
            <a:xfrm>
              <a:off x="4766885" y="3647168"/>
              <a:ext cx="521880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09" name="Rectangle 114"/>
            <p:cNvSpPr>
              <a:spLocks noChangeArrowheads="1"/>
            </p:cNvSpPr>
            <p:nvPr/>
          </p:nvSpPr>
          <p:spPr bwMode="auto">
            <a:xfrm>
              <a:off x="4246657" y="3647168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10" name="Rectangle 115"/>
            <p:cNvSpPr>
              <a:spLocks noChangeArrowheads="1"/>
            </p:cNvSpPr>
            <p:nvPr/>
          </p:nvSpPr>
          <p:spPr bwMode="auto">
            <a:xfrm>
              <a:off x="3724776" y="3647168"/>
              <a:ext cx="521880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11" name="Rectangle 116"/>
            <p:cNvSpPr>
              <a:spLocks noChangeArrowheads="1"/>
            </p:cNvSpPr>
            <p:nvPr/>
          </p:nvSpPr>
          <p:spPr bwMode="auto">
            <a:xfrm>
              <a:off x="3204547" y="3647168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12" name="Rectangle 117"/>
            <p:cNvSpPr>
              <a:spLocks noChangeArrowheads="1"/>
            </p:cNvSpPr>
            <p:nvPr/>
          </p:nvSpPr>
          <p:spPr bwMode="auto">
            <a:xfrm>
              <a:off x="2545594" y="3647168"/>
              <a:ext cx="594547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13" name="Rectangle 118"/>
            <p:cNvSpPr>
              <a:spLocks noChangeArrowheads="1"/>
            </p:cNvSpPr>
            <p:nvPr/>
          </p:nvSpPr>
          <p:spPr bwMode="auto">
            <a:xfrm>
              <a:off x="2098032" y="3647168"/>
              <a:ext cx="447562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14" name="Rectangle 119"/>
            <p:cNvSpPr>
              <a:spLocks noChangeArrowheads="1"/>
            </p:cNvSpPr>
            <p:nvPr/>
          </p:nvSpPr>
          <p:spPr bwMode="auto">
            <a:xfrm>
              <a:off x="1665333" y="3647168"/>
              <a:ext cx="432698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15" name="Rectangle 120"/>
            <p:cNvSpPr>
              <a:spLocks noChangeArrowheads="1"/>
            </p:cNvSpPr>
            <p:nvPr/>
          </p:nvSpPr>
          <p:spPr bwMode="auto">
            <a:xfrm>
              <a:off x="1206211" y="3647168"/>
              <a:ext cx="45912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16" name="Rectangle 121"/>
            <p:cNvSpPr>
              <a:spLocks noChangeArrowheads="1"/>
            </p:cNvSpPr>
            <p:nvPr/>
          </p:nvSpPr>
          <p:spPr bwMode="auto">
            <a:xfrm>
              <a:off x="312738" y="3647168"/>
              <a:ext cx="89347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17" name="Rectangle 122"/>
            <p:cNvSpPr>
              <a:spLocks noChangeArrowheads="1"/>
            </p:cNvSpPr>
            <p:nvPr/>
          </p:nvSpPr>
          <p:spPr bwMode="auto">
            <a:xfrm>
              <a:off x="6999741" y="3324462"/>
              <a:ext cx="64409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18" name="Rectangle 123"/>
            <p:cNvSpPr>
              <a:spLocks noChangeArrowheads="1"/>
            </p:cNvSpPr>
            <p:nvPr/>
          </p:nvSpPr>
          <p:spPr bwMode="auto">
            <a:xfrm>
              <a:off x="6403542" y="3324462"/>
              <a:ext cx="59619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19" name="Rectangle 124"/>
            <p:cNvSpPr>
              <a:spLocks noChangeArrowheads="1"/>
            </p:cNvSpPr>
            <p:nvPr/>
          </p:nvSpPr>
          <p:spPr bwMode="auto">
            <a:xfrm>
              <a:off x="5808995" y="3324462"/>
              <a:ext cx="594547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20" name="Rectangle 125"/>
            <p:cNvSpPr>
              <a:spLocks noChangeArrowheads="1"/>
            </p:cNvSpPr>
            <p:nvPr/>
          </p:nvSpPr>
          <p:spPr bwMode="auto">
            <a:xfrm>
              <a:off x="5288766" y="3324462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21" name="Rectangle 126"/>
            <p:cNvSpPr>
              <a:spLocks noChangeArrowheads="1"/>
            </p:cNvSpPr>
            <p:nvPr/>
          </p:nvSpPr>
          <p:spPr bwMode="auto">
            <a:xfrm>
              <a:off x="4766885" y="3324462"/>
              <a:ext cx="521880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22" name="Rectangle 127"/>
            <p:cNvSpPr>
              <a:spLocks noChangeArrowheads="1"/>
            </p:cNvSpPr>
            <p:nvPr/>
          </p:nvSpPr>
          <p:spPr bwMode="auto">
            <a:xfrm>
              <a:off x="4246657" y="3324462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23" name="Rectangle 128"/>
            <p:cNvSpPr>
              <a:spLocks noChangeArrowheads="1"/>
            </p:cNvSpPr>
            <p:nvPr/>
          </p:nvSpPr>
          <p:spPr bwMode="auto">
            <a:xfrm>
              <a:off x="3724776" y="3324462"/>
              <a:ext cx="521880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24" name="Rectangle 129"/>
            <p:cNvSpPr>
              <a:spLocks noChangeArrowheads="1"/>
            </p:cNvSpPr>
            <p:nvPr/>
          </p:nvSpPr>
          <p:spPr bwMode="auto">
            <a:xfrm>
              <a:off x="3204547" y="3324462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25" name="Rectangle 130"/>
            <p:cNvSpPr>
              <a:spLocks noChangeArrowheads="1"/>
            </p:cNvSpPr>
            <p:nvPr/>
          </p:nvSpPr>
          <p:spPr bwMode="auto">
            <a:xfrm>
              <a:off x="2545594" y="3324462"/>
              <a:ext cx="594547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26" name="Rectangle 131"/>
            <p:cNvSpPr>
              <a:spLocks noChangeArrowheads="1"/>
            </p:cNvSpPr>
            <p:nvPr/>
          </p:nvSpPr>
          <p:spPr bwMode="auto">
            <a:xfrm>
              <a:off x="2098032" y="3324462"/>
              <a:ext cx="447562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27" name="Rectangle 132"/>
            <p:cNvSpPr>
              <a:spLocks noChangeArrowheads="1"/>
            </p:cNvSpPr>
            <p:nvPr/>
          </p:nvSpPr>
          <p:spPr bwMode="auto">
            <a:xfrm>
              <a:off x="1665333" y="3324462"/>
              <a:ext cx="432698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28" name="Rectangle 133"/>
            <p:cNvSpPr>
              <a:spLocks noChangeArrowheads="1"/>
            </p:cNvSpPr>
            <p:nvPr/>
          </p:nvSpPr>
          <p:spPr bwMode="auto">
            <a:xfrm>
              <a:off x="1206211" y="3324462"/>
              <a:ext cx="45912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29" name="Rectangle 134"/>
            <p:cNvSpPr>
              <a:spLocks noChangeArrowheads="1"/>
            </p:cNvSpPr>
            <p:nvPr/>
          </p:nvSpPr>
          <p:spPr bwMode="auto">
            <a:xfrm>
              <a:off x="312738" y="3324462"/>
              <a:ext cx="89347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30" name="Rectangle 135"/>
            <p:cNvSpPr>
              <a:spLocks noChangeArrowheads="1"/>
            </p:cNvSpPr>
            <p:nvPr/>
          </p:nvSpPr>
          <p:spPr bwMode="auto">
            <a:xfrm>
              <a:off x="6999741" y="3001756"/>
              <a:ext cx="64409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31" name="Rectangle 136"/>
            <p:cNvSpPr>
              <a:spLocks noChangeArrowheads="1"/>
            </p:cNvSpPr>
            <p:nvPr/>
          </p:nvSpPr>
          <p:spPr bwMode="auto">
            <a:xfrm>
              <a:off x="6403542" y="3001756"/>
              <a:ext cx="59619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32" name="Rectangle 137"/>
            <p:cNvSpPr>
              <a:spLocks noChangeArrowheads="1"/>
            </p:cNvSpPr>
            <p:nvPr/>
          </p:nvSpPr>
          <p:spPr bwMode="auto">
            <a:xfrm>
              <a:off x="5808995" y="3001756"/>
              <a:ext cx="594547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33" name="Rectangle 138"/>
            <p:cNvSpPr>
              <a:spLocks noChangeArrowheads="1"/>
            </p:cNvSpPr>
            <p:nvPr/>
          </p:nvSpPr>
          <p:spPr bwMode="auto">
            <a:xfrm>
              <a:off x="5288766" y="3001756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34" name="Rectangle 139"/>
            <p:cNvSpPr>
              <a:spLocks noChangeArrowheads="1"/>
            </p:cNvSpPr>
            <p:nvPr/>
          </p:nvSpPr>
          <p:spPr bwMode="auto">
            <a:xfrm>
              <a:off x="4766885" y="3001756"/>
              <a:ext cx="521880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35" name="Rectangle 140"/>
            <p:cNvSpPr>
              <a:spLocks noChangeArrowheads="1"/>
            </p:cNvSpPr>
            <p:nvPr/>
          </p:nvSpPr>
          <p:spPr bwMode="auto">
            <a:xfrm>
              <a:off x="4246657" y="3001756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36" name="Rectangle 141"/>
            <p:cNvSpPr>
              <a:spLocks noChangeArrowheads="1"/>
            </p:cNvSpPr>
            <p:nvPr/>
          </p:nvSpPr>
          <p:spPr bwMode="auto">
            <a:xfrm>
              <a:off x="3724776" y="3001756"/>
              <a:ext cx="521880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37" name="Rectangle 142"/>
            <p:cNvSpPr>
              <a:spLocks noChangeArrowheads="1"/>
            </p:cNvSpPr>
            <p:nvPr/>
          </p:nvSpPr>
          <p:spPr bwMode="auto">
            <a:xfrm>
              <a:off x="3204547" y="3001756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38" name="Rectangle 143"/>
            <p:cNvSpPr>
              <a:spLocks noChangeArrowheads="1"/>
            </p:cNvSpPr>
            <p:nvPr/>
          </p:nvSpPr>
          <p:spPr bwMode="auto">
            <a:xfrm>
              <a:off x="2545594" y="3001756"/>
              <a:ext cx="594547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39" name="Rectangle 144"/>
            <p:cNvSpPr>
              <a:spLocks noChangeArrowheads="1"/>
            </p:cNvSpPr>
            <p:nvPr/>
          </p:nvSpPr>
          <p:spPr bwMode="auto">
            <a:xfrm>
              <a:off x="2098032" y="3001756"/>
              <a:ext cx="447562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40" name="Rectangle 145"/>
            <p:cNvSpPr>
              <a:spLocks noChangeArrowheads="1"/>
            </p:cNvSpPr>
            <p:nvPr/>
          </p:nvSpPr>
          <p:spPr bwMode="auto">
            <a:xfrm>
              <a:off x="1665333" y="3001756"/>
              <a:ext cx="432698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41" name="Rectangle 146"/>
            <p:cNvSpPr>
              <a:spLocks noChangeArrowheads="1"/>
            </p:cNvSpPr>
            <p:nvPr/>
          </p:nvSpPr>
          <p:spPr bwMode="auto">
            <a:xfrm>
              <a:off x="1206211" y="3001756"/>
              <a:ext cx="45912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42" name="Rectangle 147"/>
            <p:cNvSpPr>
              <a:spLocks noChangeArrowheads="1"/>
            </p:cNvSpPr>
            <p:nvPr/>
          </p:nvSpPr>
          <p:spPr bwMode="auto">
            <a:xfrm>
              <a:off x="312738" y="3001756"/>
              <a:ext cx="89347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43" name="Rectangle 148"/>
            <p:cNvSpPr>
              <a:spLocks noChangeArrowheads="1"/>
            </p:cNvSpPr>
            <p:nvPr/>
          </p:nvSpPr>
          <p:spPr bwMode="auto">
            <a:xfrm>
              <a:off x="6999741" y="2679050"/>
              <a:ext cx="64409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44" name="Rectangle 149"/>
            <p:cNvSpPr>
              <a:spLocks noChangeArrowheads="1"/>
            </p:cNvSpPr>
            <p:nvPr/>
          </p:nvSpPr>
          <p:spPr bwMode="auto">
            <a:xfrm>
              <a:off x="6403542" y="2679050"/>
              <a:ext cx="59619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45" name="Rectangle 150"/>
            <p:cNvSpPr>
              <a:spLocks noChangeArrowheads="1"/>
            </p:cNvSpPr>
            <p:nvPr/>
          </p:nvSpPr>
          <p:spPr bwMode="auto">
            <a:xfrm>
              <a:off x="5808995" y="2679050"/>
              <a:ext cx="594547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46" name="Rectangle 151"/>
            <p:cNvSpPr>
              <a:spLocks noChangeArrowheads="1"/>
            </p:cNvSpPr>
            <p:nvPr/>
          </p:nvSpPr>
          <p:spPr bwMode="auto">
            <a:xfrm>
              <a:off x="5288766" y="2679050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47" name="Rectangle 152"/>
            <p:cNvSpPr>
              <a:spLocks noChangeArrowheads="1"/>
            </p:cNvSpPr>
            <p:nvPr/>
          </p:nvSpPr>
          <p:spPr bwMode="auto">
            <a:xfrm>
              <a:off x="4766885" y="2679050"/>
              <a:ext cx="521880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48" name="Rectangle 153"/>
            <p:cNvSpPr>
              <a:spLocks noChangeArrowheads="1"/>
            </p:cNvSpPr>
            <p:nvPr/>
          </p:nvSpPr>
          <p:spPr bwMode="auto">
            <a:xfrm>
              <a:off x="4246657" y="2679050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49" name="Rectangle 154"/>
            <p:cNvSpPr>
              <a:spLocks noChangeArrowheads="1"/>
            </p:cNvSpPr>
            <p:nvPr/>
          </p:nvSpPr>
          <p:spPr bwMode="auto">
            <a:xfrm>
              <a:off x="3724776" y="2679050"/>
              <a:ext cx="521880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50" name="Rectangle 155"/>
            <p:cNvSpPr>
              <a:spLocks noChangeArrowheads="1"/>
            </p:cNvSpPr>
            <p:nvPr/>
          </p:nvSpPr>
          <p:spPr bwMode="auto">
            <a:xfrm>
              <a:off x="3204547" y="2679050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51" name="Rectangle 156"/>
            <p:cNvSpPr>
              <a:spLocks noChangeArrowheads="1"/>
            </p:cNvSpPr>
            <p:nvPr/>
          </p:nvSpPr>
          <p:spPr bwMode="auto">
            <a:xfrm>
              <a:off x="2545594" y="2679050"/>
              <a:ext cx="594547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52" name="Rectangle 157"/>
            <p:cNvSpPr>
              <a:spLocks noChangeArrowheads="1"/>
            </p:cNvSpPr>
            <p:nvPr/>
          </p:nvSpPr>
          <p:spPr bwMode="auto">
            <a:xfrm>
              <a:off x="2098032" y="2679050"/>
              <a:ext cx="447562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53" name="Rectangle 158"/>
            <p:cNvSpPr>
              <a:spLocks noChangeArrowheads="1"/>
            </p:cNvSpPr>
            <p:nvPr/>
          </p:nvSpPr>
          <p:spPr bwMode="auto">
            <a:xfrm>
              <a:off x="1665333" y="2679050"/>
              <a:ext cx="432698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54" name="Rectangle 159"/>
            <p:cNvSpPr>
              <a:spLocks noChangeArrowheads="1"/>
            </p:cNvSpPr>
            <p:nvPr/>
          </p:nvSpPr>
          <p:spPr bwMode="auto">
            <a:xfrm>
              <a:off x="1206211" y="2679050"/>
              <a:ext cx="45912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55" name="Rectangle 160"/>
            <p:cNvSpPr>
              <a:spLocks noChangeArrowheads="1"/>
            </p:cNvSpPr>
            <p:nvPr/>
          </p:nvSpPr>
          <p:spPr bwMode="auto">
            <a:xfrm>
              <a:off x="312738" y="2679050"/>
              <a:ext cx="89347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56" name="Rectangle 161"/>
            <p:cNvSpPr>
              <a:spLocks noChangeArrowheads="1"/>
            </p:cNvSpPr>
            <p:nvPr/>
          </p:nvSpPr>
          <p:spPr bwMode="auto">
            <a:xfrm>
              <a:off x="6999741" y="2356344"/>
              <a:ext cx="64409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57" name="Rectangle 162"/>
            <p:cNvSpPr>
              <a:spLocks noChangeArrowheads="1"/>
            </p:cNvSpPr>
            <p:nvPr/>
          </p:nvSpPr>
          <p:spPr bwMode="auto">
            <a:xfrm>
              <a:off x="6403542" y="2356344"/>
              <a:ext cx="59619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58" name="Rectangle 163"/>
            <p:cNvSpPr>
              <a:spLocks noChangeArrowheads="1"/>
            </p:cNvSpPr>
            <p:nvPr/>
          </p:nvSpPr>
          <p:spPr bwMode="auto">
            <a:xfrm>
              <a:off x="5808995" y="2356344"/>
              <a:ext cx="594547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59" name="Rectangle 164"/>
            <p:cNvSpPr>
              <a:spLocks noChangeArrowheads="1"/>
            </p:cNvSpPr>
            <p:nvPr/>
          </p:nvSpPr>
          <p:spPr bwMode="auto">
            <a:xfrm>
              <a:off x="5288766" y="2356344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60" name="Rectangle 165"/>
            <p:cNvSpPr>
              <a:spLocks noChangeArrowheads="1"/>
            </p:cNvSpPr>
            <p:nvPr/>
          </p:nvSpPr>
          <p:spPr bwMode="auto">
            <a:xfrm>
              <a:off x="4766885" y="2356344"/>
              <a:ext cx="521880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61" name="Rectangle 166"/>
            <p:cNvSpPr>
              <a:spLocks noChangeArrowheads="1"/>
            </p:cNvSpPr>
            <p:nvPr/>
          </p:nvSpPr>
          <p:spPr bwMode="auto">
            <a:xfrm>
              <a:off x="4246657" y="2356344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62" name="Rectangle 167"/>
            <p:cNvSpPr>
              <a:spLocks noChangeArrowheads="1"/>
            </p:cNvSpPr>
            <p:nvPr/>
          </p:nvSpPr>
          <p:spPr bwMode="auto">
            <a:xfrm>
              <a:off x="3724776" y="2356344"/>
              <a:ext cx="521880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63" name="Rectangle 168"/>
            <p:cNvSpPr>
              <a:spLocks noChangeArrowheads="1"/>
            </p:cNvSpPr>
            <p:nvPr/>
          </p:nvSpPr>
          <p:spPr bwMode="auto">
            <a:xfrm>
              <a:off x="3204547" y="2356344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64" name="Rectangle 169"/>
            <p:cNvSpPr>
              <a:spLocks noChangeArrowheads="1"/>
            </p:cNvSpPr>
            <p:nvPr/>
          </p:nvSpPr>
          <p:spPr bwMode="auto">
            <a:xfrm>
              <a:off x="2545594" y="2356344"/>
              <a:ext cx="594547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65" name="Rectangle 170"/>
            <p:cNvSpPr>
              <a:spLocks noChangeArrowheads="1"/>
            </p:cNvSpPr>
            <p:nvPr/>
          </p:nvSpPr>
          <p:spPr bwMode="auto">
            <a:xfrm>
              <a:off x="2098032" y="2356344"/>
              <a:ext cx="447562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66" name="Rectangle 171"/>
            <p:cNvSpPr>
              <a:spLocks noChangeArrowheads="1"/>
            </p:cNvSpPr>
            <p:nvPr/>
          </p:nvSpPr>
          <p:spPr bwMode="auto">
            <a:xfrm>
              <a:off x="1665333" y="2356344"/>
              <a:ext cx="432698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67" name="Rectangle 172"/>
            <p:cNvSpPr>
              <a:spLocks noChangeArrowheads="1"/>
            </p:cNvSpPr>
            <p:nvPr/>
          </p:nvSpPr>
          <p:spPr bwMode="auto">
            <a:xfrm>
              <a:off x="1206211" y="2356344"/>
              <a:ext cx="45912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68" name="Rectangle 173"/>
            <p:cNvSpPr>
              <a:spLocks noChangeArrowheads="1"/>
            </p:cNvSpPr>
            <p:nvPr/>
          </p:nvSpPr>
          <p:spPr bwMode="auto">
            <a:xfrm>
              <a:off x="312738" y="2356344"/>
              <a:ext cx="89347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69" name="Rectangle 174"/>
            <p:cNvSpPr>
              <a:spLocks noChangeArrowheads="1"/>
            </p:cNvSpPr>
            <p:nvPr/>
          </p:nvSpPr>
          <p:spPr bwMode="auto">
            <a:xfrm>
              <a:off x="6999741" y="2033638"/>
              <a:ext cx="64409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70" name="Rectangle 175"/>
            <p:cNvSpPr>
              <a:spLocks noChangeArrowheads="1"/>
            </p:cNvSpPr>
            <p:nvPr/>
          </p:nvSpPr>
          <p:spPr bwMode="auto">
            <a:xfrm>
              <a:off x="6403542" y="2033638"/>
              <a:ext cx="59619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71" name="Rectangle 176"/>
            <p:cNvSpPr>
              <a:spLocks noChangeArrowheads="1"/>
            </p:cNvSpPr>
            <p:nvPr/>
          </p:nvSpPr>
          <p:spPr bwMode="auto">
            <a:xfrm>
              <a:off x="5808995" y="2033638"/>
              <a:ext cx="594547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72" name="Rectangle 177"/>
            <p:cNvSpPr>
              <a:spLocks noChangeArrowheads="1"/>
            </p:cNvSpPr>
            <p:nvPr/>
          </p:nvSpPr>
          <p:spPr bwMode="auto">
            <a:xfrm>
              <a:off x="5288766" y="2033638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73" name="Rectangle 178"/>
            <p:cNvSpPr>
              <a:spLocks noChangeArrowheads="1"/>
            </p:cNvSpPr>
            <p:nvPr/>
          </p:nvSpPr>
          <p:spPr bwMode="auto">
            <a:xfrm>
              <a:off x="4766885" y="2033638"/>
              <a:ext cx="521880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74" name="Rectangle 179"/>
            <p:cNvSpPr>
              <a:spLocks noChangeArrowheads="1"/>
            </p:cNvSpPr>
            <p:nvPr/>
          </p:nvSpPr>
          <p:spPr bwMode="auto">
            <a:xfrm>
              <a:off x="4246657" y="2033638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75" name="Rectangle 180"/>
            <p:cNvSpPr>
              <a:spLocks noChangeArrowheads="1"/>
            </p:cNvSpPr>
            <p:nvPr/>
          </p:nvSpPr>
          <p:spPr bwMode="auto">
            <a:xfrm>
              <a:off x="3724776" y="2033638"/>
              <a:ext cx="521880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76" name="Rectangle 181"/>
            <p:cNvSpPr>
              <a:spLocks noChangeArrowheads="1"/>
            </p:cNvSpPr>
            <p:nvPr/>
          </p:nvSpPr>
          <p:spPr bwMode="auto">
            <a:xfrm>
              <a:off x="3204547" y="2033638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77" name="Rectangle 182"/>
            <p:cNvSpPr>
              <a:spLocks noChangeArrowheads="1"/>
            </p:cNvSpPr>
            <p:nvPr/>
          </p:nvSpPr>
          <p:spPr bwMode="auto">
            <a:xfrm>
              <a:off x="2545594" y="2033638"/>
              <a:ext cx="594547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78" name="Rectangle 183"/>
            <p:cNvSpPr>
              <a:spLocks noChangeArrowheads="1"/>
            </p:cNvSpPr>
            <p:nvPr/>
          </p:nvSpPr>
          <p:spPr bwMode="auto">
            <a:xfrm>
              <a:off x="2098032" y="2033638"/>
              <a:ext cx="447562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79" name="Rectangle 184"/>
            <p:cNvSpPr>
              <a:spLocks noChangeArrowheads="1"/>
            </p:cNvSpPr>
            <p:nvPr/>
          </p:nvSpPr>
          <p:spPr bwMode="auto">
            <a:xfrm>
              <a:off x="1665333" y="2033638"/>
              <a:ext cx="432698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80" name="Rectangle 185"/>
            <p:cNvSpPr>
              <a:spLocks noChangeArrowheads="1"/>
            </p:cNvSpPr>
            <p:nvPr/>
          </p:nvSpPr>
          <p:spPr bwMode="auto">
            <a:xfrm>
              <a:off x="1206211" y="2033638"/>
              <a:ext cx="45912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81" name="Rectangle 186"/>
            <p:cNvSpPr>
              <a:spLocks noChangeArrowheads="1"/>
            </p:cNvSpPr>
            <p:nvPr/>
          </p:nvSpPr>
          <p:spPr bwMode="auto">
            <a:xfrm>
              <a:off x="312738" y="2033638"/>
              <a:ext cx="89347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82" name="Rectangle 187"/>
            <p:cNvSpPr>
              <a:spLocks noChangeArrowheads="1"/>
            </p:cNvSpPr>
            <p:nvPr/>
          </p:nvSpPr>
          <p:spPr bwMode="auto">
            <a:xfrm>
              <a:off x="6999741" y="1710932"/>
              <a:ext cx="64409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83" name="Rectangle 188"/>
            <p:cNvSpPr>
              <a:spLocks noChangeArrowheads="1"/>
            </p:cNvSpPr>
            <p:nvPr/>
          </p:nvSpPr>
          <p:spPr bwMode="auto">
            <a:xfrm>
              <a:off x="6403542" y="1710932"/>
              <a:ext cx="59619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84" name="Rectangle 189"/>
            <p:cNvSpPr>
              <a:spLocks noChangeArrowheads="1"/>
            </p:cNvSpPr>
            <p:nvPr/>
          </p:nvSpPr>
          <p:spPr bwMode="auto">
            <a:xfrm>
              <a:off x="5808995" y="1710932"/>
              <a:ext cx="594547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85" name="Rectangle 190"/>
            <p:cNvSpPr>
              <a:spLocks noChangeArrowheads="1"/>
            </p:cNvSpPr>
            <p:nvPr/>
          </p:nvSpPr>
          <p:spPr bwMode="auto">
            <a:xfrm>
              <a:off x="5288766" y="1710932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86" name="Rectangle 191"/>
            <p:cNvSpPr>
              <a:spLocks noChangeArrowheads="1"/>
            </p:cNvSpPr>
            <p:nvPr/>
          </p:nvSpPr>
          <p:spPr bwMode="auto">
            <a:xfrm>
              <a:off x="4766885" y="1710932"/>
              <a:ext cx="521880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87" name="Rectangle 192"/>
            <p:cNvSpPr>
              <a:spLocks noChangeArrowheads="1"/>
            </p:cNvSpPr>
            <p:nvPr/>
          </p:nvSpPr>
          <p:spPr bwMode="auto">
            <a:xfrm>
              <a:off x="4246657" y="1710932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88" name="Rectangle 193"/>
            <p:cNvSpPr>
              <a:spLocks noChangeArrowheads="1"/>
            </p:cNvSpPr>
            <p:nvPr/>
          </p:nvSpPr>
          <p:spPr bwMode="auto">
            <a:xfrm>
              <a:off x="3724776" y="1710932"/>
              <a:ext cx="521880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89" name="Rectangle 194"/>
            <p:cNvSpPr>
              <a:spLocks noChangeArrowheads="1"/>
            </p:cNvSpPr>
            <p:nvPr/>
          </p:nvSpPr>
          <p:spPr bwMode="auto">
            <a:xfrm>
              <a:off x="3204547" y="1710932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90" name="Rectangle 195"/>
            <p:cNvSpPr>
              <a:spLocks noChangeArrowheads="1"/>
            </p:cNvSpPr>
            <p:nvPr/>
          </p:nvSpPr>
          <p:spPr bwMode="auto">
            <a:xfrm>
              <a:off x="2545594" y="1710932"/>
              <a:ext cx="594547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91" name="Rectangle 196"/>
            <p:cNvSpPr>
              <a:spLocks noChangeArrowheads="1"/>
            </p:cNvSpPr>
            <p:nvPr/>
          </p:nvSpPr>
          <p:spPr bwMode="auto">
            <a:xfrm>
              <a:off x="2098032" y="1710932"/>
              <a:ext cx="447562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92" name="Rectangle 197"/>
            <p:cNvSpPr>
              <a:spLocks noChangeArrowheads="1"/>
            </p:cNvSpPr>
            <p:nvPr/>
          </p:nvSpPr>
          <p:spPr bwMode="auto">
            <a:xfrm>
              <a:off x="1665333" y="1710932"/>
              <a:ext cx="432698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93" name="Rectangle 198"/>
            <p:cNvSpPr>
              <a:spLocks noChangeArrowheads="1"/>
            </p:cNvSpPr>
            <p:nvPr/>
          </p:nvSpPr>
          <p:spPr bwMode="auto">
            <a:xfrm>
              <a:off x="1206211" y="1710932"/>
              <a:ext cx="45912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94" name="Rectangle 199"/>
            <p:cNvSpPr>
              <a:spLocks noChangeArrowheads="1"/>
            </p:cNvSpPr>
            <p:nvPr/>
          </p:nvSpPr>
          <p:spPr bwMode="auto">
            <a:xfrm>
              <a:off x="312738" y="1710932"/>
              <a:ext cx="89347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95" name="Rectangle 200"/>
            <p:cNvSpPr>
              <a:spLocks noChangeArrowheads="1"/>
            </p:cNvSpPr>
            <p:nvPr/>
          </p:nvSpPr>
          <p:spPr bwMode="auto">
            <a:xfrm>
              <a:off x="6935335" y="1388226"/>
              <a:ext cx="64409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96" name="Rectangle 201"/>
            <p:cNvSpPr>
              <a:spLocks noChangeArrowheads="1"/>
            </p:cNvSpPr>
            <p:nvPr/>
          </p:nvSpPr>
          <p:spPr bwMode="auto">
            <a:xfrm>
              <a:off x="6404693" y="1388226"/>
              <a:ext cx="59619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97" name="Rectangle 202"/>
            <p:cNvSpPr>
              <a:spLocks noChangeArrowheads="1"/>
            </p:cNvSpPr>
            <p:nvPr/>
          </p:nvSpPr>
          <p:spPr bwMode="auto">
            <a:xfrm>
              <a:off x="5810146" y="1388226"/>
              <a:ext cx="594547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98" name="Rectangle 203"/>
            <p:cNvSpPr>
              <a:spLocks noChangeArrowheads="1"/>
            </p:cNvSpPr>
            <p:nvPr/>
          </p:nvSpPr>
          <p:spPr bwMode="auto">
            <a:xfrm>
              <a:off x="5289917" y="1388226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99" name="Rectangle 204"/>
            <p:cNvSpPr>
              <a:spLocks noChangeArrowheads="1"/>
            </p:cNvSpPr>
            <p:nvPr/>
          </p:nvSpPr>
          <p:spPr bwMode="auto">
            <a:xfrm>
              <a:off x="4768036" y="1388226"/>
              <a:ext cx="521880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200" name="Rectangle 205"/>
            <p:cNvSpPr>
              <a:spLocks noChangeArrowheads="1"/>
            </p:cNvSpPr>
            <p:nvPr/>
          </p:nvSpPr>
          <p:spPr bwMode="auto">
            <a:xfrm>
              <a:off x="4247808" y="1388226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201" name="Rectangle 206"/>
            <p:cNvSpPr>
              <a:spLocks noChangeArrowheads="1"/>
            </p:cNvSpPr>
            <p:nvPr/>
          </p:nvSpPr>
          <p:spPr bwMode="auto">
            <a:xfrm>
              <a:off x="3725927" y="1388226"/>
              <a:ext cx="521880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202" name="Rectangle 207"/>
            <p:cNvSpPr>
              <a:spLocks noChangeArrowheads="1"/>
            </p:cNvSpPr>
            <p:nvPr/>
          </p:nvSpPr>
          <p:spPr bwMode="auto">
            <a:xfrm>
              <a:off x="3205698" y="1388226"/>
              <a:ext cx="520229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203" name="Rectangle 208"/>
            <p:cNvSpPr>
              <a:spLocks noChangeArrowheads="1"/>
            </p:cNvSpPr>
            <p:nvPr/>
          </p:nvSpPr>
          <p:spPr bwMode="auto">
            <a:xfrm>
              <a:off x="2545594" y="1388226"/>
              <a:ext cx="594547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204" name="Rectangle 209"/>
            <p:cNvSpPr>
              <a:spLocks noChangeArrowheads="1"/>
            </p:cNvSpPr>
            <p:nvPr/>
          </p:nvSpPr>
          <p:spPr bwMode="auto">
            <a:xfrm>
              <a:off x="2098032" y="1388226"/>
              <a:ext cx="447562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205" name="Rectangle 210"/>
            <p:cNvSpPr>
              <a:spLocks noChangeArrowheads="1"/>
            </p:cNvSpPr>
            <p:nvPr/>
          </p:nvSpPr>
          <p:spPr bwMode="auto">
            <a:xfrm>
              <a:off x="1665333" y="1388226"/>
              <a:ext cx="432698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206" name="Rectangle 211"/>
            <p:cNvSpPr>
              <a:spLocks noChangeArrowheads="1"/>
            </p:cNvSpPr>
            <p:nvPr/>
          </p:nvSpPr>
          <p:spPr bwMode="auto">
            <a:xfrm>
              <a:off x="1206211" y="1388226"/>
              <a:ext cx="45912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207" name="Rectangle 212"/>
            <p:cNvSpPr>
              <a:spLocks noChangeArrowheads="1"/>
            </p:cNvSpPr>
            <p:nvPr/>
          </p:nvSpPr>
          <p:spPr bwMode="auto">
            <a:xfrm>
              <a:off x="312738" y="1388226"/>
              <a:ext cx="893473" cy="32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208" name="Rectangle 213"/>
            <p:cNvSpPr>
              <a:spLocks noChangeArrowheads="1"/>
            </p:cNvSpPr>
            <p:nvPr/>
          </p:nvSpPr>
          <p:spPr bwMode="auto">
            <a:xfrm>
              <a:off x="6908524" y="825823"/>
              <a:ext cx="878186" cy="388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字形</a:t>
              </a:r>
              <a:endPara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209" name="Rectangle 214"/>
            <p:cNvSpPr>
              <a:spLocks noChangeArrowheads="1"/>
            </p:cNvSpPr>
            <p:nvPr/>
          </p:nvSpPr>
          <p:spPr bwMode="auto">
            <a:xfrm>
              <a:off x="6339136" y="1000108"/>
              <a:ext cx="596199" cy="388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000" b="1" baseline="-25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en-US" altLang="zh-CN" sz="2000" b="1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210" name="Rectangle 215"/>
            <p:cNvSpPr>
              <a:spLocks noChangeArrowheads="1"/>
            </p:cNvSpPr>
            <p:nvPr/>
          </p:nvSpPr>
          <p:spPr bwMode="auto">
            <a:xfrm>
              <a:off x="5744589" y="1000108"/>
              <a:ext cx="594547" cy="388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000" b="1" baseline="-25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US" altLang="zh-CN" sz="2000" b="1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211" name="Rectangle 216"/>
            <p:cNvSpPr>
              <a:spLocks noChangeArrowheads="1"/>
            </p:cNvSpPr>
            <p:nvPr/>
          </p:nvSpPr>
          <p:spPr bwMode="auto">
            <a:xfrm>
              <a:off x="5224360" y="1000108"/>
              <a:ext cx="520229" cy="388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000" b="1" baseline="-25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2000" b="1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212" name="Rectangle 217"/>
            <p:cNvSpPr>
              <a:spLocks noChangeArrowheads="1"/>
            </p:cNvSpPr>
            <p:nvPr/>
          </p:nvSpPr>
          <p:spPr bwMode="auto">
            <a:xfrm>
              <a:off x="4702479" y="1000108"/>
              <a:ext cx="781169" cy="456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Y</a:t>
              </a:r>
              <a:r>
                <a:rPr lang="en-US" altLang="zh-CN" sz="2000" b="1" baseline="-25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 sz="2000" b="1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213" name="Rectangle 218"/>
            <p:cNvSpPr>
              <a:spLocks noChangeArrowheads="1"/>
            </p:cNvSpPr>
            <p:nvPr/>
          </p:nvSpPr>
          <p:spPr bwMode="auto">
            <a:xfrm>
              <a:off x="4182251" y="1000108"/>
              <a:ext cx="520229" cy="388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000" b="1" baseline="-25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 sz="2000" b="1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214" name="Rectangle 219"/>
            <p:cNvSpPr>
              <a:spLocks noChangeArrowheads="1"/>
            </p:cNvSpPr>
            <p:nvPr/>
          </p:nvSpPr>
          <p:spPr bwMode="auto">
            <a:xfrm>
              <a:off x="3660370" y="1000108"/>
              <a:ext cx="521880" cy="388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000" b="1" baseline="-25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2000" b="1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215" name="Rectangle 220"/>
            <p:cNvSpPr>
              <a:spLocks noChangeArrowheads="1"/>
            </p:cNvSpPr>
            <p:nvPr/>
          </p:nvSpPr>
          <p:spPr bwMode="auto">
            <a:xfrm>
              <a:off x="3140141" y="1000108"/>
              <a:ext cx="520229" cy="388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000" b="1" baseline="-25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216" name="Rectangle 221"/>
            <p:cNvSpPr>
              <a:spLocks noChangeArrowheads="1"/>
            </p:cNvSpPr>
            <p:nvPr/>
          </p:nvSpPr>
          <p:spPr bwMode="auto">
            <a:xfrm>
              <a:off x="2545594" y="1000108"/>
              <a:ext cx="594547" cy="388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A</a:t>
              </a:r>
              <a:r>
                <a:rPr lang="en-US" altLang="zh-CN" sz="2000" b="1" baseline="-2500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 b="1" baseline="-2500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217" name="Rectangle 222"/>
            <p:cNvSpPr>
              <a:spLocks noChangeArrowheads="1"/>
            </p:cNvSpPr>
            <p:nvPr/>
          </p:nvSpPr>
          <p:spPr bwMode="auto">
            <a:xfrm>
              <a:off x="2098032" y="1000108"/>
              <a:ext cx="578032" cy="388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000" b="1" baseline="-2500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baseline="-2500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218" name="Rectangle 223"/>
            <p:cNvSpPr>
              <a:spLocks noChangeArrowheads="1"/>
            </p:cNvSpPr>
            <p:nvPr/>
          </p:nvSpPr>
          <p:spPr bwMode="auto">
            <a:xfrm>
              <a:off x="1665333" y="1000108"/>
              <a:ext cx="520229" cy="388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000" b="1" baseline="-2500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000" b="1" baseline="-2500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219" name="Rectangle 224"/>
            <p:cNvSpPr>
              <a:spLocks noChangeArrowheads="1"/>
            </p:cNvSpPr>
            <p:nvPr/>
          </p:nvSpPr>
          <p:spPr bwMode="auto">
            <a:xfrm>
              <a:off x="1206211" y="1000108"/>
              <a:ext cx="520229" cy="388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000" b="1" baseline="-2500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0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220" name="Rectangle 225"/>
            <p:cNvSpPr>
              <a:spLocks noChangeArrowheads="1"/>
            </p:cNvSpPr>
            <p:nvPr/>
          </p:nvSpPr>
          <p:spPr bwMode="auto">
            <a:xfrm>
              <a:off x="428596" y="825823"/>
              <a:ext cx="714380" cy="388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数字</a:t>
              </a:r>
              <a:endParaRPr lang="zh-CN" altLang="en-US" sz="2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221" name="Rectangle 226"/>
            <p:cNvSpPr>
              <a:spLocks noChangeArrowheads="1"/>
            </p:cNvSpPr>
            <p:nvPr/>
          </p:nvSpPr>
          <p:spPr bwMode="auto">
            <a:xfrm>
              <a:off x="3140141" y="600891"/>
              <a:ext cx="4439287" cy="3987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CN" altLang="en-US" sz="20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输                    出</a:t>
              </a:r>
              <a:endParaRPr lang="zh-CN" alt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222" name="Rectangle 227"/>
            <p:cNvSpPr>
              <a:spLocks noChangeArrowheads="1"/>
            </p:cNvSpPr>
            <p:nvPr/>
          </p:nvSpPr>
          <p:spPr bwMode="auto">
            <a:xfrm>
              <a:off x="1214414" y="600891"/>
              <a:ext cx="1925727" cy="3987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CN" altLang="en-US" sz="20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输              入</a:t>
              </a:r>
              <a:endParaRPr lang="zh-CN" altLang="en-US" sz="20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223" name="Line 230"/>
            <p:cNvSpPr>
              <a:spLocks noChangeShapeType="1"/>
            </p:cNvSpPr>
            <p:nvPr/>
          </p:nvSpPr>
          <p:spPr bwMode="auto">
            <a:xfrm>
              <a:off x="312738" y="1388226"/>
              <a:ext cx="8934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224" name="Line 240"/>
            <p:cNvSpPr>
              <a:spLocks noChangeShapeType="1"/>
            </p:cNvSpPr>
            <p:nvPr/>
          </p:nvSpPr>
          <p:spPr bwMode="auto">
            <a:xfrm>
              <a:off x="312738" y="4669352"/>
              <a:ext cx="662259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225" name="Line 245"/>
            <p:cNvSpPr>
              <a:spLocks noChangeShapeType="1"/>
            </p:cNvSpPr>
            <p:nvPr/>
          </p:nvSpPr>
          <p:spPr bwMode="auto">
            <a:xfrm>
              <a:off x="312738" y="6572272"/>
              <a:ext cx="8934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226" name="Line 246"/>
            <p:cNvSpPr>
              <a:spLocks noChangeShapeType="1"/>
            </p:cNvSpPr>
            <p:nvPr/>
          </p:nvSpPr>
          <p:spPr bwMode="auto">
            <a:xfrm>
              <a:off x="312738" y="600891"/>
              <a:ext cx="0" cy="59506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227" name="Line 247"/>
            <p:cNvSpPr>
              <a:spLocks noChangeShapeType="1"/>
            </p:cNvSpPr>
            <p:nvPr/>
          </p:nvSpPr>
          <p:spPr bwMode="auto">
            <a:xfrm>
              <a:off x="3140141" y="600891"/>
              <a:ext cx="0" cy="3987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228" name="Line 248"/>
            <p:cNvSpPr>
              <a:spLocks noChangeShapeType="1"/>
            </p:cNvSpPr>
            <p:nvPr/>
          </p:nvSpPr>
          <p:spPr bwMode="auto">
            <a:xfrm>
              <a:off x="7579428" y="600891"/>
              <a:ext cx="0" cy="78733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229" name="Line 250"/>
            <p:cNvSpPr>
              <a:spLocks noChangeShapeType="1"/>
            </p:cNvSpPr>
            <p:nvPr/>
          </p:nvSpPr>
          <p:spPr bwMode="auto">
            <a:xfrm>
              <a:off x="1142976" y="999628"/>
              <a:ext cx="5729125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230" name="Line 252"/>
            <p:cNvSpPr>
              <a:spLocks noChangeShapeType="1"/>
            </p:cNvSpPr>
            <p:nvPr/>
          </p:nvSpPr>
          <p:spPr bwMode="auto">
            <a:xfrm>
              <a:off x="3140141" y="999628"/>
              <a:ext cx="0" cy="555189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231" name="Line 253"/>
            <p:cNvSpPr>
              <a:spLocks noChangeShapeType="1"/>
            </p:cNvSpPr>
            <p:nvPr/>
          </p:nvSpPr>
          <p:spPr bwMode="auto">
            <a:xfrm>
              <a:off x="1206211" y="1388226"/>
              <a:ext cx="637321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232" name="Line 254"/>
            <p:cNvSpPr>
              <a:spLocks noChangeShapeType="1"/>
            </p:cNvSpPr>
            <p:nvPr/>
          </p:nvSpPr>
          <p:spPr bwMode="auto">
            <a:xfrm>
              <a:off x="1206211" y="6572272"/>
              <a:ext cx="637321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233" name="Line 256"/>
            <p:cNvSpPr>
              <a:spLocks noChangeShapeType="1"/>
            </p:cNvSpPr>
            <p:nvPr/>
          </p:nvSpPr>
          <p:spPr bwMode="auto">
            <a:xfrm>
              <a:off x="1142976" y="571480"/>
              <a:ext cx="0" cy="60007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234" name="Line 258"/>
            <p:cNvSpPr>
              <a:spLocks noChangeShapeType="1"/>
            </p:cNvSpPr>
            <p:nvPr/>
          </p:nvSpPr>
          <p:spPr bwMode="auto">
            <a:xfrm flipH="1">
              <a:off x="6856061" y="592230"/>
              <a:ext cx="0" cy="598004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235" name="Line 259"/>
            <p:cNvSpPr>
              <a:spLocks noChangeShapeType="1"/>
            </p:cNvSpPr>
            <p:nvPr/>
          </p:nvSpPr>
          <p:spPr bwMode="auto">
            <a:xfrm>
              <a:off x="6929454" y="4669352"/>
              <a:ext cx="644093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236" name="Line 260"/>
            <p:cNvSpPr>
              <a:spLocks noChangeShapeType="1"/>
            </p:cNvSpPr>
            <p:nvPr/>
          </p:nvSpPr>
          <p:spPr bwMode="auto">
            <a:xfrm>
              <a:off x="7579428" y="1388226"/>
              <a:ext cx="0" cy="516329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987" name="矩形 260"/>
          <p:cNvSpPr>
            <a:spLocks noChangeArrowheads="1"/>
          </p:cNvSpPr>
          <p:nvPr/>
        </p:nvSpPr>
        <p:spPr bwMode="auto">
          <a:xfrm>
            <a:off x="1404938" y="142875"/>
            <a:ext cx="61674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BCD—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共阴极七段字符显示译码器真值表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267"/>
          <p:cNvGrpSpPr/>
          <p:nvPr/>
        </p:nvGrpSpPr>
        <p:grpSpPr bwMode="auto">
          <a:xfrm>
            <a:off x="1785938" y="1500188"/>
            <a:ext cx="5572125" cy="1571625"/>
            <a:chOff x="1785918" y="1500174"/>
            <a:chExt cx="5572164" cy="1571636"/>
          </a:xfrm>
        </p:grpSpPr>
        <p:sp>
          <p:nvSpPr>
            <p:cNvPr id="264" name="矩形 263"/>
            <p:cNvSpPr/>
            <p:nvPr/>
          </p:nvSpPr>
          <p:spPr>
            <a:xfrm>
              <a:off x="1785918" y="1500174"/>
              <a:ext cx="1857388" cy="15716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66" name="矩形 265"/>
            <p:cNvSpPr/>
            <p:nvPr/>
          </p:nvSpPr>
          <p:spPr>
            <a:xfrm>
              <a:off x="3786182" y="1500174"/>
              <a:ext cx="3571900" cy="15716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4" name="组合 268"/>
          <p:cNvGrpSpPr/>
          <p:nvPr/>
        </p:nvGrpSpPr>
        <p:grpSpPr bwMode="auto">
          <a:xfrm>
            <a:off x="1857375" y="3500438"/>
            <a:ext cx="5500688" cy="1214437"/>
            <a:chOff x="1857356" y="3500438"/>
            <a:chExt cx="5500726" cy="1214446"/>
          </a:xfrm>
        </p:grpSpPr>
        <p:sp>
          <p:nvSpPr>
            <p:cNvPr id="265" name="矩形 264"/>
            <p:cNvSpPr/>
            <p:nvPr/>
          </p:nvSpPr>
          <p:spPr>
            <a:xfrm>
              <a:off x="1857356" y="3500438"/>
              <a:ext cx="1785950" cy="12144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67" name="矩形 266"/>
            <p:cNvSpPr/>
            <p:nvPr/>
          </p:nvSpPr>
          <p:spPr>
            <a:xfrm>
              <a:off x="3786182" y="3500438"/>
              <a:ext cx="3571900" cy="12144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270" name="矩形 269"/>
          <p:cNvSpPr/>
          <p:nvPr/>
        </p:nvSpPr>
        <p:spPr>
          <a:xfrm>
            <a:off x="1785938" y="3000375"/>
            <a:ext cx="1785937" cy="5000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72" name="矩形 271"/>
          <p:cNvSpPr/>
          <p:nvPr/>
        </p:nvSpPr>
        <p:spPr>
          <a:xfrm>
            <a:off x="3857625" y="3000375"/>
            <a:ext cx="3429000" cy="5000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73" name="矩形 272"/>
          <p:cNvSpPr/>
          <p:nvPr/>
        </p:nvSpPr>
        <p:spPr>
          <a:xfrm>
            <a:off x="857250" y="4760913"/>
            <a:ext cx="7643813" cy="20716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275" name="Picture 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0938" y="2071688"/>
            <a:ext cx="142875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组合 281"/>
          <p:cNvGrpSpPr/>
          <p:nvPr/>
        </p:nvGrpSpPr>
        <p:grpSpPr bwMode="auto">
          <a:xfrm>
            <a:off x="7908925" y="2484438"/>
            <a:ext cx="560388" cy="1477962"/>
            <a:chOff x="7908434" y="2485065"/>
            <a:chExt cx="561538" cy="1476734"/>
          </a:xfrm>
        </p:grpSpPr>
        <p:sp>
          <p:nvSpPr>
            <p:cNvPr id="283" name="六边形 282"/>
            <p:cNvSpPr/>
            <p:nvPr/>
          </p:nvSpPr>
          <p:spPr>
            <a:xfrm>
              <a:off x="8088190" y="2485065"/>
              <a:ext cx="373828" cy="101516"/>
            </a:xfrm>
            <a:prstGeom prst="hexagon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84" name="六边形 283"/>
            <p:cNvSpPr/>
            <p:nvPr/>
          </p:nvSpPr>
          <p:spPr>
            <a:xfrm>
              <a:off x="7994335" y="3143330"/>
              <a:ext cx="373829" cy="101516"/>
            </a:xfrm>
            <a:prstGeom prst="hexagon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85" name="六边形 284"/>
            <p:cNvSpPr/>
            <p:nvPr/>
          </p:nvSpPr>
          <p:spPr>
            <a:xfrm>
              <a:off x="7954566" y="3860283"/>
              <a:ext cx="375419" cy="101516"/>
            </a:xfrm>
            <a:prstGeom prst="hexagon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86" name="六边形 285"/>
            <p:cNvSpPr/>
            <p:nvPr/>
          </p:nvSpPr>
          <p:spPr>
            <a:xfrm rot="5707253">
              <a:off x="7753124" y="2840234"/>
              <a:ext cx="404476" cy="93855"/>
            </a:xfrm>
            <a:prstGeom prst="hexagon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87" name="六边形 286"/>
            <p:cNvSpPr/>
            <p:nvPr/>
          </p:nvSpPr>
          <p:spPr>
            <a:xfrm rot="5707253">
              <a:off x="8220806" y="3504844"/>
              <a:ext cx="404477" cy="93855"/>
            </a:xfrm>
            <a:prstGeom prst="hexagon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4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9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5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" grpId="0" animBg="1"/>
      <p:bldP spid="272" grpId="0" animBg="1"/>
      <p:bldP spid="27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4"/>
          <p:cNvSpPr txBox="1">
            <a:spLocks noChangeArrowheads="1"/>
          </p:cNvSpPr>
          <p:nvPr/>
        </p:nvSpPr>
        <p:spPr bwMode="auto">
          <a:xfrm>
            <a:off x="785813" y="71438"/>
            <a:ext cx="19605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卡诺图化简</a:t>
            </a:r>
            <a:endParaRPr kumimoji="1" lang="zh-CN" altLang="en-US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组合 7"/>
          <p:cNvGrpSpPr/>
          <p:nvPr/>
        </p:nvGrpSpPr>
        <p:grpSpPr bwMode="auto">
          <a:xfrm>
            <a:off x="928688" y="500063"/>
            <a:ext cx="6786562" cy="6291262"/>
            <a:chOff x="928662" y="500042"/>
            <a:chExt cx="6786588" cy="6291283"/>
          </a:xfrm>
        </p:grpSpPr>
        <p:pic>
          <p:nvPicPr>
            <p:cNvPr id="43013" name="Picture 4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4413" y="703263"/>
              <a:ext cx="6700837" cy="6088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014" name="Rectangle 220"/>
            <p:cNvSpPr>
              <a:spLocks noChangeArrowheads="1"/>
            </p:cNvSpPr>
            <p:nvPr/>
          </p:nvSpPr>
          <p:spPr bwMode="auto">
            <a:xfrm>
              <a:off x="979939" y="500042"/>
              <a:ext cx="520227" cy="388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000" b="1" baseline="-25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015" name="Rectangle 220"/>
            <p:cNvSpPr>
              <a:spLocks noChangeArrowheads="1"/>
            </p:cNvSpPr>
            <p:nvPr/>
          </p:nvSpPr>
          <p:spPr bwMode="auto">
            <a:xfrm>
              <a:off x="4480401" y="500042"/>
              <a:ext cx="520227" cy="388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000" b="1" baseline="-25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016" name="Rectangle 220"/>
            <p:cNvSpPr>
              <a:spLocks noChangeArrowheads="1"/>
            </p:cNvSpPr>
            <p:nvPr/>
          </p:nvSpPr>
          <p:spPr bwMode="auto">
            <a:xfrm>
              <a:off x="928662" y="3397594"/>
              <a:ext cx="520227" cy="388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000" b="1" baseline="-25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017" name="Rectangle 220"/>
            <p:cNvSpPr>
              <a:spLocks noChangeArrowheads="1"/>
            </p:cNvSpPr>
            <p:nvPr/>
          </p:nvSpPr>
          <p:spPr bwMode="auto">
            <a:xfrm>
              <a:off x="4480401" y="3429000"/>
              <a:ext cx="520227" cy="388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000" b="1" baseline="-25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3012" name="矩形 1"/>
          <p:cNvSpPr>
            <a:spLocks noChangeArrowheads="1"/>
          </p:cNvSpPr>
          <p:nvPr/>
        </p:nvSpPr>
        <p:spPr bwMode="auto">
          <a:xfrm>
            <a:off x="6156325" y="58738"/>
            <a:ext cx="28559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§4.3</a:t>
            </a:r>
            <a:r>
              <a:rPr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常用的</a:t>
            </a:r>
            <a:r>
              <a:rPr kumimoji="1"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</a:t>
            </a:r>
            <a:endParaRPr lang="zh-CN" altLang="en-US" sz="18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34" name="组合 11"/>
          <p:cNvGrpSpPr/>
          <p:nvPr/>
        </p:nvGrpSpPr>
        <p:grpSpPr bwMode="auto">
          <a:xfrm>
            <a:off x="785813" y="71438"/>
            <a:ext cx="7143750" cy="6569075"/>
            <a:chOff x="928662" y="71414"/>
            <a:chExt cx="7143776" cy="6569076"/>
          </a:xfrm>
        </p:grpSpPr>
        <p:grpSp>
          <p:nvGrpSpPr>
            <p:cNvPr id="44040" name="组合 5"/>
            <p:cNvGrpSpPr/>
            <p:nvPr/>
          </p:nvGrpSpPr>
          <p:grpSpPr bwMode="auto">
            <a:xfrm>
              <a:off x="1000125" y="214290"/>
              <a:ext cx="7072313" cy="6426200"/>
              <a:chOff x="1000100" y="152400"/>
              <a:chExt cx="7072363" cy="6426034"/>
            </a:xfrm>
          </p:grpSpPr>
          <p:pic>
            <p:nvPicPr>
              <p:cNvPr id="44044" name="Picture 2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4889" y="152400"/>
                <a:ext cx="7067574" cy="32459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4045" name="Picture 3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0100" y="3414735"/>
                <a:ext cx="3462337" cy="31636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4041" name="Rectangle 220"/>
            <p:cNvSpPr>
              <a:spLocks noChangeArrowheads="1"/>
            </p:cNvSpPr>
            <p:nvPr/>
          </p:nvSpPr>
          <p:spPr bwMode="auto">
            <a:xfrm>
              <a:off x="979939" y="71414"/>
              <a:ext cx="520227" cy="388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000" b="1" baseline="-25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042" name="Rectangle 220"/>
            <p:cNvSpPr>
              <a:spLocks noChangeArrowheads="1"/>
            </p:cNvSpPr>
            <p:nvPr/>
          </p:nvSpPr>
          <p:spPr bwMode="auto">
            <a:xfrm>
              <a:off x="4480401" y="71414"/>
              <a:ext cx="520227" cy="388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000" b="1" baseline="-25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US" altLang="zh-CN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043" name="Rectangle 220"/>
            <p:cNvSpPr>
              <a:spLocks noChangeArrowheads="1"/>
            </p:cNvSpPr>
            <p:nvPr/>
          </p:nvSpPr>
          <p:spPr bwMode="auto">
            <a:xfrm>
              <a:off x="928662" y="3254718"/>
              <a:ext cx="520227" cy="388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000" b="1" baseline="-25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en-US" altLang="zh-CN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组合 9"/>
          <p:cNvGrpSpPr/>
          <p:nvPr/>
        </p:nvGrpSpPr>
        <p:grpSpPr bwMode="auto">
          <a:xfrm>
            <a:off x="4929188" y="3357563"/>
            <a:ext cx="3500437" cy="3429000"/>
            <a:chOff x="5072063" y="3357562"/>
            <a:chExt cx="3500466" cy="3429024"/>
          </a:xfrm>
        </p:grpSpPr>
        <p:pic>
          <p:nvPicPr>
            <p:cNvPr id="44037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7825" y="3857652"/>
              <a:ext cx="3171827" cy="28106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038" name="Rectangle 16"/>
            <p:cNvSpPr>
              <a:spLocks noChangeArrowheads="1"/>
            </p:cNvSpPr>
            <p:nvPr/>
          </p:nvSpPr>
          <p:spPr bwMode="auto">
            <a:xfrm>
              <a:off x="5072063" y="3786214"/>
              <a:ext cx="3500466" cy="3000372"/>
            </a:xfrm>
            <a:prstGeom prst="rect">
              <a:avLst/>
            </a:prstGeom>
            <a:noFill/>
            <a:ln w="57150" cmpd="thickThin">
              <a:solidFill>
                <a:srgbClr val="33CC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endPara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039" name="Text Box 4"/>
            <p:cNvSpPr txBox="1">
              <a:spLocks noChangeArrowheads="1"/>
            </p:cNvSpPr>
            <p:nvPr/>
          </p:nvSpPr>
          <p:spPr bwMode="auto">
            <a:xfrm>
              <a:off x="5862785" y="3357562"/>
              <a:ext cx="192392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n"/>
              </a:pPr>
              <a:r>
                <a:rPr kumimoji="1"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逻辑函数式：</a:t>
              </a:r>
              <a:endParaRPr kumimoji="1" lang="zh-CN" altLang="en-US" sz="20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4036" name="矩形 1"/>
          <p:cNvSpPr>
            <a:spLocks noChangeArrowheads="1"/>
          </p:cNvSpPr>
          <p:nvPr/>
        </p:nvSpPr>
        <p:spPr bwMode="auto">
          <a:xfrm>
            <a:off x="6156325" y="58738"/>
            <a:ext cx="28559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§4.3</a:t>
            </a:r>
            <a:r>
              <a:rPr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常用的</a:t>
            </a:r>
            <a:r>
              <a:rPr kumimoji="1"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</a:t>
            </a:r>
            <a:endParaRPr lang="zh-CN" altLang="en-US" sz="18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6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913" y="571500"/>
            <a:ext cx="5416550" cy="613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66713" y="55563"/>
            <a:ext cx="8205787" cy="515937"/>
          </a:xfrm>
          <a:prstGeom prst="rect">
            <a:avLst/>
          </a:prstGeom>
        </p:spPr>
        <p:txBody>
          <a:bodyPr/>
          <a:lstStyle/>
          <a:p>
            <a:pPr>
              <a:buFont typeface="Wingdings" panose="05000000000000000000" pitchFamily="2" charset="2"/>
              <a:buChar char="n"/>
              <a:defRPr/>
            </a:pPr>
            <a:r>
              <a:rPr lang="en-US" altLang="zh-CN" sz="2400" b="1" kern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BCD-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共阴极</a:t>
            </a:r>
            <a:r>
              <a:rPr lang="zh-CN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七段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显示译码器</a:t>
            </a:r>
            <a:r>
              <a:rPr lang="en-US" altLang="zh-CN" sz="24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74LS48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的逻辑图</a:t>
            </a:r>
            <a:endParaRPr lang="zh-CN" altLang="en-US" sz="2400" b="1" kern="0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pSp>
        <p:nvGrpSpPr>
          <p:cNvPr id="2" name="组合 12"/>
          <p:cNvGrpSpPr/>
          <p:nvPr/>
        </p:nvGrpSpPr>
        <p:grpSpPr bwMode="auto">
          <a:xfrm>
            <a:off x="357188" y="3357563"/>
            <a:ext cx="3001962" cy="3311525"/>
            <a:chOff x="357158" y="3357582"/>
            <a:chExt cx="3002660" cy="3311270"/>
          </a:xfrm>
        </p:grpSpPr>
        <p:sp>
          <p:nvSpPr>
            <p:cNvPr id="10" name="椭圆 9"/>
            <p:cNvSpPr/>
            <p:nvPr/>
          </p:nvSpPr>
          <p:spPr>
            <a:xfrm rot="20719313">
              <a:off x="1994251" y="4383028"/>
              <a:ext cx="1365567" cy="2285824"/>
            </a:xfrm>
            <a:prstGeom prst="ellipse">
              <a:avLst/>
            </a:prstGeom>
            <a:noFill/>
            <a:ln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1" name="圆角矩形标注 10"/>
            <p:cNvSpPr/>
            <p:nvPr/>
          </p:nvSpPr>
          <p:spPr bwMode="auto">
            <a:xfrm>
              <a:off x="357158" y="3357582"/>
              <a:ext cx="2188084" cy="642887"/>
            </a:xfrm>
            <a:prstGeom prst="wedgeRoundRectCallout">
              <a:avLst>
                <a:gd name="adj1" fmla="val 32587"/>
                <a:gd name="adj2" fmla="val 133470"/>
                <a:gd name="adj3" fmla="val 16667"/>
              </a:avLst>
            </a:prstGeom>
            <a:solidFill>
              <a:srgbClr val="FFFF00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5063" name="矩形 11"/>
            <p:cNvSpPr>
              <a:spLocks noChangeArrowheads="1"/>
            </p:cNvSpPr>
            <p:nvPr/>
          </p:nvSpPr>
          <p:spPr bwMode="auto">
            <a:xfrm>
              <a:off x="687074" y="3457517"/>
              <a:ext cx="173316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solidFill>
                    <a:srgbClr val="0000FF"/>
                  </a:solidFill>
                  <a:latin typeface="宋体" panose="02010600030101010101" pitchFamily="2" charset="-122"/>
                </a:rPr>
                <a:t>附加控制端。</a:t>
              </a:r>
              <a:endParaRPr lang="zh-CN" altLang="en-US" sz="2000">
                <a:solidFill>
                  <a:srgbClr val="0000FF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5"/>
          <p:cNvSpPr txBox="1">
            <a:spLocks noChangeArrowheads="1"/>
          </p:cNvSpPr>
          <p:nvPr/>
        </p:nvSpPr>
        <p:spPr bwMode="auto">
          <a:xfrm>
            <a:off x="357188" y="142875"/>
            <a:ext cx="612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三、数据选择器（</a:t>
            </a:r>
            <a:r>
              <a:rPr lang="en-US" altLang="zh-CN" sz="28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Selector</a:t>
            </a: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800" b="1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5"/>
          <p:cNvGrpSpPr/>
          <p:nvPr/>
        </p:nvGrpSpPr>
        <p:grpSpPr bwMode="auto">
          <a:xfrm>
            <a:off x="357188" y="785813"/>
            <a:ext cx="8358187" cy="1285875"/>
            <a:chOff x="428596" y="928670"/>
            <a:chExt cx="8358246" cy="1571636"/>
          </a:xfrm>
        </p:grpSpPr>
        <p:sp>
          <p:nvSpPr>
            <p:cNvPr id="46104" name="Text Box 6"/>
            <p:cNvSpPr txBox="1">
              <a:spLocks noChangeArrowheads="1"/>
            </p:cNvSpPr>
            <p:nvPr/>
          </p:nvSpPr>
          <p:spPr bwMode="auto">
            <a:xfrm>
              <a:off x="468313" y="1098457"/>
              <a:ext cx="8175653" cy="1052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kumimoji="1"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数据选择器又称</a:t>
              </a:r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多路选择器</a:t>
              </a:r>
              <a:r>
                <a:rPr kumimoji="1"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（</a:t>
              </a:r>
              <a:r>
                <a:rPr kumimoji="1"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Multiplexer, </a:t>
              </a:r>
              <a:r>
                <a:rPr kumimoji="1"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简称</a:t>
              </a:r>
              <a:r>
                <a:rPr kumimoji="1"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MUX</a:t>
              </a:r>
              <a:r>
                <a:rPr kumimoji="1"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）。每次在地址输入的控制下，从多路输入数据中选择一路输出。</a:t>
              </a:r>
              <a:endPara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105" name="Rectangle 16"/>
            <p:cNvSpPr>
              <a:spLocks noChangeArrowheads="1"/>
            </p:cNvSpPr>
            <p:nvPr/>
          </p:nvSpPr>
          <p:spPr bwMode="auto">
            <a:xfrm>
              <a:off x="428596" y="928670"/>
              <a:ext cx="8358246" cy="1571636"/>
            </a:xfrm>
            <a:prstGeom prst="rect">
              <a:avLst/>
            </a:prstGeom>
            <a:noFill/>
            <a:ln w="57150" cmpd="thickThin">
              <a:solidFill>
                <a:srgbClr val="33CC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endPara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组合 29"/>
          <p:cNvGrpSpPr/>
          <p:nvPr/>
        </p:nvGrpSpPr>
        <p:grpSpPr bwMode="auto">
          <a:xfrm>
            <a:off x="3143250" y="2500313"/>
            <a:ext cx="5357813" cy="2714625"/>
            <a:chOff x="3500430" y="2786058"/>
            <a:chExt cx="5357850" cy="2714644"/>
          </a:xfrm>
        </p:grpSpPr>
        <p:sp>
          <p:nvSpPr>
            <p:cNvPr id="31" name="椭圆 30"/>
            <p:cNvSpPr/>
            <p:nvPr/>
          </p:nvSpPr>
          <p:spPr>
            <a:xfrm>
              <a:off x="3500430" y="2786058"/>
              <a:ext cx="1643074" cy="2286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46101" name="组合 26"/>
            <p:cNvGrpSpPr/>
            <p:nvPr/>
          </p:nvGrpSpPr>
          <p:grpSpPr bwMode="auto">
            <a:xfrm>
              <a:off x="5572132" y="4786323"/>
              <a:ext cx="3286148" cy="714379"/>
              <a:chOff x="5572132" y="4786323"/>
              <a:chExt cx="3286148" cy="714379"/>
            </a:xfrm>
          </p:grpSpPr>
          <p:sp>
            <p:nvSpPr>
              <p:cNvPr id="33" name="圆角矩形标注 32"/>
              <p:cNvSpPr/>
              <p:nvPr/>
            </p:nvSpPr>
            <p:spPr>
              <a:xfrm>
                <a:off x="5572132" y="4786322"/>
                <a:ext cx="3286148" cy="714380"/>
              </a:xfrm>
              <a:prstGeom prst="wedgeRoundRectCallout">
                <a:avLst>
                  <a:gd name="adj1" fmla="val -64338"/>
                  <a:gd name="adj2" fmla="val -130306"/>
                  <a:gd name="adj3" fmla="val 16667"/>
                </a:avLst>
              </a:prstGeom>
              <a:solidFill>
                <a:srgbClr val="0000FF"/>
              </a:solidFill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46103" name="矩形 33"/>
              <p:cNvSpPr>
                <a:spLocks noChangeArrowheads="1"/>
              </p:cNvSpPr>
              <p:nvPr/>
            </p:nvSpPr>
            <p:spPr bwMode="auto">
              <a:xfrm>
                <a:off x="5643570" y="4929198"/>
                <a:ext cx="32147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000" b="1">
                    <a:solidFill>
                      <a:srgbClr val="FFFF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类似于一个单刀多掷开关。 </a:t>
                </a:r>
                <a:endParaRPr lang="zh-CN" altLang="en-US" sz="2000" b="1">
                  <a:solidFill>
                    <a:srgbClr val="FFFF00"/>
                  </a:solidFill>
                </a:endParaRPr>
              </a:p>
            </p:txBody>
          </p:sp>
        </p:grpSp>
      </p:grpSp>
      <p:grpSp>
        <p:nvGrpSpPr>
          <p:cNvPr id="5" name="组合 28"/>
          <p:cNvGrpSpPr/>
          <p:nvPr/>
        </p:nvGrpSpPr>
        <p:grpSpPr bwMode="auto">
          <a:xfrm>
            <a:off x="1500188" y="2743200"/>
            <a:ext cx="4941887" cy="2657475"/>
            <a:chOff x="1857356" y="3028890"/>
            <a:chExt cx="4942646" cy="2657608"/>
          </a:xfrm>
        </p:grpSpPr>
        <p:cxnSp>
          <p:nvCxnSpPr>
            <p:cNvPr id="8" name="直接箭头连接符 7"/>
            <p:cNvCxnSpPr/>
            <p:nvPr/>
          </p:nvCxnSpPr>
          <p:spPr>
            <a:xfrm>
              <a:off x="2357495" y="3286078"/>
              <a:ext cx="1500418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/>
            <p:cNvCxnSpPr/>
            <p:nvPr/>
          </p:nvCxnSpPr>
          <p:spPr>
            <a:xfrm>
              <a:off x="2357495" y="3641696"/>
              <a:ext cx="1500418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/>
            <p:cNvCxnSpPr/>
            <p:nvPr/>
          </p:nvCxnSpPr>
          <p:spPr>
            <a:xfrm>
              <a:off x="2357495" y="4498989"/>
              <a:ext cx="1500418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 flipH="1">
              <a:off x="4858192" y="3857606"/>
              <a:ext cx="1500417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/>
            <p:nvPr/>
          </p:nvCxnSpPr>
          <p:spPr>
            <a:xfrm>
              <a:off x="3857913" y="3286078"/>
              <a:ext cx="1000279" cy="571529"/>
            </a:xfrm>
            <a:prstGeom prst="straightConnector1">
              <a:avLst/>
            </a:prstGeom>
            <a:ln w="25400">
              <a:solidFill>
                <a:srgbClr val="0000FF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/>
            <p:nvPr/>
          </p:nvCxnSpPr>
          <p:spPr>
            <a:xfrm rot="16200000" flipV="1">
              <a:off x="3429311" y="4429135"/>
              <a:ext cx="1714586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094" name="矩形 17"/>
            <p:cNvSpPr>
              <a:spLocks noChangeArrowheads="1"/>
            </p:cNvSpPr>
            <p:nvPr/>
          </p:nvSpPr>
          <p:spPr bwMode="auto">
            <a:xfrm>
              <a:off x="3428992" y="5286388"/>
              <a:ext cx="1681871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kumimoji="1" lang="zh-CN" altLang="en-US" sz="20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位地址选择</a:t>
              </a: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095" name="矩形 18"/>
            <p:cNvSpPr>
              <a:spLocks noChangeArrowheads="1"/>
            </p:cNvSpPr>
            <p:nvPr/>
          </p:nvSpPr>
          <p:spPr bwMode="auto">
            <a:xfrm>
              <a:off x="1857356" y="3028890"/>
              <a:ext cx="45557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0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sz="2000" baseline="-25000"/>
            </a:p>
          </p:txBody>
        </p:sp>
        <p:sp>
          <p:nvSpPr>
            <p:cNvPr id="46096" name="矩形 19"/>
            <p:cNvSpPr>
              <a:spLocks noChangeArrowheads="1"/>
            </p:cNvSpPr>
            <p:nvPr/>
          </p:nvSpPr>
          <p:spPr bwMode="auto">
            <a:xfrm>
              <a:off x="1857356" y="3429000"/>
              <a:ext cx="45557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0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000" baseline="-25000"/>
            </a:p>
          </p:txBody>
        </p:sp>
        <p:sp>
          <p:nvSpPr>
            <p:cNvPr id="46097" name="矩形 20"/>
            <p:cNvSpPr>
              <a:spLocks noChangeArrowheads="1"/>
            </p:cNvSpPr>
            <p:nvPr/>
          </p:nvSpPr>
          <p:spPr bwMode="auto">
            <a:xfrm>
              <a:off x="1857356" y="4314774"/>
              <a:ext cx="636811" cy="400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0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N-1</a:t>
              </a:r>
              <a:endParaRPr lang="zh-CN" altLang="en-US" sz="2000" baseline="-25000"/>
            </a:p>
          </p:txBody>
        </p:sp>
        <p:sp>
          <p:nvSpPr>
            <p:cNvPr id="46098" name="矩形 21"/>
            <p:cNvSpPr>
              <a:spLocks noChangeArrowheads="1"/>
            </p:cNvSpPr>
            <p:nvPr/>
          </p:nvSpPr>
          <p:spPr bwMode="auto">
            <a:xfrm>
              <a:off x="6429388" y="3643314"/>
              <a:ext cx="37061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CN" altLang="en-US" sz="2000" baseline="-25000"/>
            </a:p>
          </p:txBody>
        </p:sp>
        <p:sp>
          <p:nvSpPr>
            <p:cNvPr id="46099" name="矩形 23"/>
            <p:cNvSpPr>
              <a:spLocks noChangeArrowheads="1"/>
            </p:cNvSpPr>
            <p:nvPr/>
          </p:nvSpPr>
          <p:spPr bwMode="auto">
            <a:xfrm rot="5400000">
              <a:off x="2566606" y="3767789"/>
              <a:ext cx="595035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zh-CN" altLang="en-US" sz="4800" baseline="-25000"/>
            </a:p>
          </p:txBody>
        </p:sp>
      </p:grpSp>
      <p:sp>
        <p:nvSpPr>
          <p:cNvPr id="35" name="矩形 34"/>
          <p:cNvSpPr>
            <a:spLocks noChangeArrowheads="1"/>
          </p:cNvSpPr>
          <p:nvPr/>
        </p:nvSpPr>
        <p:spPr bwMode="auto">
          <a:xfrm>
            <a:off x="785813" y="5857875"/>
            <a:ext cx="7623175" cy="461963"/>
          </a:xfrm>
          <a:prstGeom prst="rect">
            <a:avLst/>
          </a:prstGeom>
          <a:noFill/>
          <a:ln w="25400" cmpd="thickThin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4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输入数据的路数</a:t>
            </a:r>
            <a:r>
              <a:rPr kumimoji="1"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zh-CN" altLang="en-US" sz="24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与地址位数</a:t>
            </a:r>
            <a:r>
              <a:rPr kumimoji="1"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kumimoji="1" lang="zh-CN" altLang="en-US" sz="24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之间满足：</a:t>
            </a:r>
            <a:r>
              <a:rPr kumimoji="1"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N=2</a:t>
            </a:r>
            <a:r>
              <a:rPr kumimoji="1" lang="en-US" altLang="zh-CN" sz="2400" b="1" baseline="30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CN" sz="24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4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。</a:t>
            </a:r>
            <a:endParaRPr lang="zh-CN" altLang="en-US" sz="240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087" name="矩形 1"/>
          <p:cNvSpPr>
            <a:spLocks noChangeArrowheads="1"/>
          </p:cNvSpPr>
          <p:nvPr/>
        </p:nvSpPr>
        <p:spPr bwMode="auto">
          <a:xfrm>
            <a:off x="6156325" y="58738"/>
            <a:ext cx="28559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§4.3</a:t>
            </a:r>
            <a:r>
              <a:rPr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常用的</a:t>
            </a:r>
            <a:r>
              <a:rPr kumimoji="1"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</a:t>
            </a:r>
            <a:endParaRPr lang="zh-CN" altLang="en-US" sz="18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69900" y="214313"/>
            <a:ext cx="4816475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集成双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选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数据选择器</a:t>
            </a:r>
            <a:r>
              <a:rPr lang="en-US" altLang="zh-CN" sz="24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74HC153</a:t>
            </a:r>
            <a:endParaRPr lang="zh-CN" altLang="en-US" sz="2400" b="1" kern="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7107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3" y="714375"/>
            <a:ext cx="4548187" cy="593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8"/>
          <p:cNvGrpSpPr/>
          <p:nvPr/>
        </p:nvGrpSpPr>
        <p:grpSpPr bwMode="auto">
          <a:xfrm>
            <a:off x="4429125" y="3290888"/>
            <a:ext cx="4000500" cy="1276350"/>
            <a:chOff x="4429124" y="3290972"/>
            <a:chExt cx="4000528" cy="1276188"/>
          </a:xfrm>
        </p:grpSpPr>
        <p:sp>
          <p:nvSpPr>
            <p:cNvPr id="5" name="右箭头 4"/>
            <p:cNvSpPr/>
            <p:nvPr/>
          </p:nvSpPr>
          <p:spPr>
            <a:xfrm rot="1717816">
              <a:off x="4429124" y="3290972"/>
              <a:ext cx="1285884" cy="285714"/>
            </a:xfrm>
            <a:prstGeom prst="rightArrow">
              <a:avLst/>
            </a:prstGeom>
            <a:solidFill>
              <a:srgbClr val="006600"/>
            </a:soli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" name="右箭头 5"/>
            <p:cNvSpPr/>
            <p:nvPr/>
          </p:nvSpPr>
          <p:spPr>
            <a:xfrm rot="19882184" flipV="1">
              <a:off x="4438649" y="4281446"/>
              <a:ext cx="1285884" cy="285714"/>
            </a:xfrm>
            <a:prstGeom prst="rightArrow">
              <a:avLst/>
            </a:prstGeom>
            <a:solidFill>
              <a:srgbClr val="006600"/>
            </a:soli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5643571" y="3357639"/>
              <a:ext cx="2786081" cy="1142855"/>
            </a:xfrm>
            <a:prstGeom prst="roundRect">
              <a:avLst/>
            </a:prstGeom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5929323" y="3429066"/>
              <a:ext cx="2357453" cy="96349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lnSpc>
                  <a:spcPts val="3400"/>
                </a:lnSpc>
                <a:defRPr/>
              </a:pPr>
              <a:r>
                <a:rPr lang="zh-CN" altLang="en-US" sz="2400" b="1" kern="0" dirty="0">
                  <a:solidFill>
                    <a:srgbClr val="FF339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相互独立控制，</a:t>
              </a:r>
              <a:endParaRPr lang="en-US" altLang="zh-CN" sz="2400" b="1" kern="0" dirty="0">
                <a:solidFill>
                  <a:srgbClr val="FF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>
                <a:lnSpc>
                  <a:spcPts val="3400"/>
                </a:lnSpc>
                <a:defRPr/>
              </a:pPr>
              <a:r>
                <a:rPr lang="zh-CN" altLang="en-US" sz="2400" b="1" kern="0" dirty="0">
                  <a:solidFill>
                    <a:srgbClr val="FF339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共用地址输入。</a:t>
              </a:r>
              <a:endParaRPr lang="zh-CN" altLang="en-US" sz="2400" dirty="0">
                <a:solidFill>
                  <a:srgbClr val="FF3399"/>
                </a:solidFill>
              </a:endParaRPr>
            </a:p>
          </p:txBody>
        </p:sp>
      </p:grpSp>
      <p:sp>
        <p:nvSpPr>
          <p:cNvPr id="47109" name="矩形 1"/>
          <p:cNvSpPr>
            <a:spLocks noChangeArrowheads="1"/>
          </p:cNvSpPr>
          <p:nvPr/>
        </p:nvSpPr>
        <p:spPr bwMode="auto">
          <a:xfrm>
            <a:off x="6156325" y="58738"/>
            <a:ext cx="28559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§4.3</a:t>
            </a:r>
            <a:r>
              <a:rPr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常用的</a:t>
            </a:r>
            <a:r>
              <a:rPr kumimoji="1"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</a:t>
            </a:r>
            <a:endParaRPr lang="zh-CN" altLang="en-US" sz="18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2875" y="142875"/>
            <a:ext cx="4051300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）数据选择器的工作原理</a:t>
            </a:r>
            <a:endParaRPr lang="zh-CN" altLang="en-US" sz="24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pic>
        <p:nvPicPr>
          <p:cNvPr id="38915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00" y="1000125"/>
            <a:ext cx="5360988" cy="407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2" name="Text Box 116"/>
          <p:cNvSpPr txBox="1">
            <a:spLocks noChangeArrowheads="1"/>
          </p:cNvSpPr>
          <p:nvPr/>
        </p:nvSpPr>
        <p:spPr bwMode="auto">
          <a:xfrm>
            <a:off x="6643688" y="642938"/>
            <a:ext cx="16430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功能表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组合 42"/>
          <p:cNvGrpSpPr/>
          <p:nvPr/>
        </p:nvGrpSpPr>
        <p:grpSpPr bwMode="auto">
          <a:xfrm>
            <a:off x="428625" y="928688"/>
            <a:ext cx="288925" cy="642937"/>
            <a:chOff x="428596" y="928670"/>
            <a:chExt cx="288862" cy="642942"/>
          </a:xfrm>
        </p:grpSpPr>
        <p:sp>
          <p:nvSpPr>
            <p:cNvPr id="48182" name="矩形 14"/>
            <p:cNvSpPr>
              <a:spLocks noChangeArrowheads="1"/>
            </p:cNvSpPr>
            <p:nvPr/>
          </p:nvSpPr>
          <p:spPr bwMode="auto">
            <a:xfrm>
              <a:off x="428596" y="928670"/>
              <a:ext cx="28886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rgbClr val="0000FF"/>
                  </a:solidFill>
                  <a:latin typeface="宋体" panose="02010600030101010101" pitchFamily="2" charset="-122"/>
                </a:rPr>
                <a:t>0</a:t>
              </a:r>
              <a:endParaRPr lang="zh-CN" altLang="en-US" sz="1600" b="1">
                <a:solidFill>
                  <a:srgbClr val="0000FF"/>
                </a:solidFill>
              </a:endParaRPr>
            </a:p>
          </p:txBody>
        </p:sp>
        <p:sp>
          <p:nvSpPr>
            <p:cNvPr id="48183" name="矩形 15"/>
            <p:cNvSpPr>
              <a:spLocks noChangeArrowheads="1"/>
            </p:cNvSpPr>
            <p:nvPr/>
          </p:nvSpPr>
          <p:spPr bwMode="auto">
            <a:xfrm>
              <a:off x="428596" y="1233058"/>
              <a:ext cx="28886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rgbClr val="0000FF"/>
                  </a:solidFill>
                  <a:latin typeface="宋体" panose="02010600030101010101" pitchFamily="2" charset="-122"/>
                </a:rPr>
                <a:t>0</a:t>
              </a:r>
              <a:endParaRPr lang="zh-CN" altLang="en-US" sz="1600" b="1">
                <a:solidFill>
                  <a:srgbClr val="0000FF"/>
                </a:solidFill>
              </a:endParaRPr>
            </a:p>
          </p:txBody>
        </p:sp>
      </p:grpSp>
      <p:grpSp>
        <p:nvGrpSpPr>
          <p:cNvPr id="4" name="组合 23"/>
          <p:cNvGrpSpPr/>
          <p:nvPr/>
        </p:nvGrpSpPr>
        <p:grpSpPr bwMode="auto">
          <a:xfrm>
            <a:off x="1427163" y="1214438"/>
            <a:ext cx="439737" cy="2160587"/>
            <a:chOff x="1427934" y="1214422"/>
            <a:chExt cx="438646" cy="2160000"/>
          </a:xfrm>
        </p:grpSpPr>
        <p:cxnSp>
          <p:nvCxnSpPr>
            <p:cNvPr id="20" name="直接连接符 19"/>
            <p:cNvCxnSpPr/>
            <p:nvPr/>
          </p:nvCxnSpPr>
          <p:spPr>
            <a:xfrm rot="5400000">
              <a:off x="348726" y="2293630"/>
              <a:ext cx="2160000" cy="1583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1429517" y="1890513"/>
              <a:ext cx="437063" cy="0"/>
            </a:xfrm>
            <a:prstGeom prst="line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1429517" y="3356965"/>
              <a:ext cx="437063" cy="0"/>
            </a:xfrm>
            <a:prstGeom prst="line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24"/>
          <p:cNvGrpSpPr/>
          <p:nvPr/>
        </p:nvGrpSpPr>
        <p:grpSpPr bwMode="auto">
          <a:xfrm>
            <a:off x="3000375" y="1554163"/>
            <a:ext cx="438150" cy="3017837"/>
            <a:chOff x="1427934" y="357166"/>
            <a:chExt cx="438646" cy="3018050"/>
          </a:xfrm>
        </p:grpSpPr>
        <p:cxnSp>
          <p:nvCxnSpPr>
            <p:cNvPr id="26" name="直接连接符 25"/>
            <p:cNvCxnSpPr/>
            <p:nvPr/>
          </p:nvCxnSpPr>
          <p:spPr>
            <a:xfrm rot="16200000" flipH="1">
              <a:off x="-81092" y="1866192"/>
              <a:ext cx="3018050" cy="0"/>
            </a:xfrm>
            <a:prstGeom prst="line">
              <a:avLst/>
            </a:prstGeom>
            <a:ln w="31750">
              <a:solidFill>
                <a:srgbClr val="33CC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1427934" y="1071591"/>
              <a:ext cx="438646" cy="0"/>
            </a:xfrm>
            <a:prstGeom prst="line">
              <a:avLst/>
            </a:prstGeom>
            <a:ln w="31750">
              <a:solidFill>
                <a:srgbClr val="33CC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1427934" y="3357753"/>
              <a:ext cx="438646" cy="0"/>
            </a:xfrm>
            <a:prstGeom prst="line">
              <a:avLst/>
            </a:prstGeom>
            <a:ln w="31750">
              <a:solidFill>
                <a:srgbClr val="33CC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41"/>
          <p:cNvGrpSpPr/>
          <p:nvPr/>
        </p:nvGrpSpPr>
        <p:grpSpPr bwMode="auto">
          <a:xfrm>
            <a:off x="500063" y="2357438"/>
            <a:ext cx="4714875" cy="1001712"/>
            <a:chOff x="500034" y="2357430"/>
            <a:chExt cx="4714908" cy="1001720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500034" y="2357430"/>
              <a:ext cx="2071701" cy="1587"/>
            </a:xfrm>
            <a:prstGeom prst="line">
              <a:avLst/>
            </a:prstGeom>
            <a:ln w="31750">
              <a:solidFill>
                <a:srgbClr val="0000FF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rot="5400000">
              <a:off x="2357422" y="2571744"/>
              <a:ext cx="428628" cy="3175"/>
            </a:xfrm>
            <a:prstGeom prst="line">
              <a:avLst/>
            </a:prstGeom>
            <a:ln w="31750">
              <a:solidFill>
                <a:srgbClr val="0000FF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>
              <a:off x="2571735" y="2786058"/>
              <a:ext cx="1428760" cy="1587"/>
            </a:xfrm>
            <a:prstGeom prst="line">
              <a:avLst/>
            </a:prstGeom>
            <a:ln w="31750">
              <a:solidFill>
                <a:srgbClr val="0000FF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rot="16200000" flipH="1">
              <a:off x="3716331" y="3071811"/>
              <a:ext cx="571505" cy="0"/>
            </a:xfrm>
            <a:prstGeom prst="line">
              <a:avLst/>
            </a:prstGeom>
            <a:ln w="31750">
              <a:solidFill>
                <a:srgbClr val="0000FF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>
              <a:off x="4000495" y="3357563"/>
              <a:ext cx="1214447" cy="1587"/>
            </a:xfrm>
            <a:prstGeom prst="line">
              <a:avLst/>
            </a:prstGeom>
            <a:ln w="31750">
              <a:solidFill>
                <a:srgbClr val="0000FF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矩形 43"/>
          <p:cNvSpPr/>
          <p:nvPr/>
        </p:nvSpPr>
        <p:spPr>
          <a:xfrm>
            <a:off x="1571625" y="4214813"/>
            <a:ext cx="642938" cy="5000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1500188" y="2786063"/>
            <a:ext cx="642937" cy="5000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3214688" y="3857625"/>
            <a:ext cx="642937" cy="5000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4814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9313" y="1071563"/>
            <a:ext cx="2743200" cy="241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41"/>
          <p:cNvGrpSpPr/>
          <p:nvPr/>
        </p:nvGrpSpPr>
        <p:grpSpPr bwMode="auto">
          <a:xfrm>
            <a:off x="5786438" y="4143375"/>
            <a:ext cx="3246437" cy="400050"/>
            <a:chOff x="5143504" y="5857892"/>
            <a:chExt cx="3246402" cy="400110"/>
          </a:xfrm>
        </p:grpSpPr>
        <p:cxnSp>
          <p:nvCxnSpPr>
            <p:cNvPr id="37" name="直接连接符 36"/>
            <p:cNvCxnSpPr/>
            <p:nvPr/>
          </p:nvCxnSpPr>
          <p:spPr>
            <a:xfrm flipV="1">
              <a:off x="5176841" y="5929341"/>
              <a:ext cx="252410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170" name="矩形 40"/>
            <p:cNvSpPr>
              <a:spLocks noChangeArrowheads="1"/>
            </p:cNvSpPr>
            <p:nvPr/>
          </p:nvSpPr>
          <p:spPr bwMode="auto">
            <a:xfrm>
              <a:off x="5143504" y="5857892"/>
              <a:ext cx="324640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 </a:t>
              </a:r>
              <a:r>
                <a:rPr lang="en-US" altLang="zh-CN" sz="2000" b="1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=0</a:t>
              </a:r>
              <a:r>
                <a:rPr lang="zh-CN" altLang="en-US" sz="2000" b="1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时，数据选择器工作；</a:t>
              </a:r>
              <a:endParaRPr lang="en-US" altLang="zh-CN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组合 46"/>
          <p:cNvGrpSpPr/>
          <p:nvPr/>
        </p:nvGrpSpPr>
        <p:grpSpPr bwMode="auto">
          <a:xfrm>
            <a:off x="5797550" y="4529138"/>
            <a:ext cx="3060700" cy="400050"/>
            <a:chOff x="1116257" y="5643578"/>
            <a:chExt cx="3060453" cy="400110"/>
          </a:xfrm>
        </p:grpSpPr>
        <p:cxnSp>
          <p:nvCxnSpPr>
            <p:cNvPr id="39" name="直接连接符 38"/>
            <p:cNvCxnSpPr/>
            <p:nvPr/>
          </p:nvCxnSpPr>
          <p:spPr>
            <a:xfrm flipV="1">
              <a:off x="1143243" y="5715026"/>
              <a:ext cx="252392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168" name="矩形 42"/>
            <p:cNvSpPr>
              <a:spLocks noChangeArrowheads="1"/>
            </p:cNvSpPr>
            <p:nvPr/>
          </p:nvSpPr>
          <p:spPr bwMode="auto">
            <a:xfrm>
              <a:off x="1116257" y="5643578"/>
              <a:ext cx="306045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 </a:t>
              </a:r>
              <a:r>
                <a:rPr lang="en-US" altLang="zh-CN" sz="2000" b="1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=1</a:t>
              </a:r>
              <a:r>
                <a:rPr lang="zh-CN" altLang="en-US" sz="2000" b="1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时，</a:t>
              </a:r>
              <a:r>
                <a:rPr lang="en-US" altLang="zh-CN" sz="2000" b="1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Y=0, </a:t>
              </a:r>
              <a:r>
                <a:rPr lang="zh-CN" altLang="en-US" sz="2000" b="1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输出无效。</a:t>
              </a:r>
              <a:endParaRPr lang="zh-CN" alt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组合 69"/>
          <p:cNvGrpSpPr/>
          <p:nvPr/>
        </p:nvGrpSpPr>
        <p:grpSpPr bwMode="auto">
          <a:xfrm>
            <a:off x="5715000" y="3714750"/>
            <a:ext cx="3143250" cy="1285875"/>
            <a:chOff x="5715008" y="3714752"/>
            <a:chExt cx="3143272" cy="1285875"/>
          </a:xfrm>
        </p:grpSpPr>
        <p:sp>
          <p:nvSpPr>
            <p:cNvPr id="48163" name="Rectangle 16"/>
            <p:cNvSpPr>
              <a:spLocks noChangeArrowheads="1"/>
            </p:cNvSpPr>
            <p:nvPr/>
          </p:nvSpPr>
          <p:spPr bwMode="auto">
            <a:xfrm>
              <a:off x="5715008" y="3714752"/>
              <a:ext cx="3143272" cy="1285875"/>
            </a:xfrm>
            <a:prstGeom prst="rect">
              <a:avLst/>
            </a:prstGeom>
            <a:noFill/>
            <a:ln w="57150" cmpd="thickThin">
              <a:solidFill>
                <a:srgbClr val="33CC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endPara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8164" name="组合 48"/>
            <p:cNvGrpSpPr/>
            <p:nvPr/>
          </p:nvGrpSpPr>
          <p:grpSpPr bwMode="auto">
            <a:xfrm>
              <a:off x="5786446" y="3786190"/>
              <a:ext cx="2133918" cy="400110"/>
              <a:chOff x="3000364" y="6286520"/>
              <a:chExt cx="2133918" cy="400110"/>
            </a:xfrm>
          </p:grpSpPr>
          <p:cxnSp>
            <p:nvCxnSpPr>
              <p:cNvPr id="33" name="直接连接符 32"/>
              <p:cNvCxnSpPr/>
              <p:nvPr/>
            </p:nvCxnSpPr>
            <p:spPr>
              <a:xfrm flipV="1">
                <a:off x="3021001" y="6370657"/>
                <a:ext cx="252415" cy="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166" name="矩形 47"/>
              <p:cNvSpPr>
                <a:spLocks noChangeArrowheads="1"/>
              </p:cNvSpPr>
              <p:nvPr/>
            </p:nvSpPr>
            <p:spPr bwMode="auto">
              <a:xfrm>
                <a:off x="3000364" y="6286520"/>
                <a:ext cx="213391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Tx/>
                  <a:buNone/>
                </a:pPr>
                <a:r>
                  <a:rPr lang="en-US" altLang="zh-CN" sz="2000" b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zh-CN" altLang="en-US" sz="2000" b="1">
                    <a:solidFill>
                      <a:srgbClr val="0066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：选通控制端。</a:t>
                </a:r>
                <a:endParaRPr lang="zh-CN" altLang="en-US" sz="20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50" name="Text Box 4"/>
          <p:cNvSpPr txBox="1">
            <a:spLocks noChangeArrowheads="1"/>
          </p:cNvSpPr>
          <p:nvPr/>
        </p:nvSpPr>
        <p:spPr bwMode="auto">
          <a:xfrm>
            <a:off x="1071563" y="5357813"/>
            <a:ext cx="2270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逻辑函数式：</a:t>
            </a:r>
            <a:endParaRPr kumimoji="1" lang="zh-CN" altLang="en-US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6072188" y="1538288"/>
            <a:ext cx="571500" cy="2857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8001000" y="1525588"/>
            <a:ext cx="571500" cy="3317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8001000" y="1903413"/>
            <a:ext cx="571500" cy="3317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8001000" y="2298700"/>
            <a:ext cx="571500" cy="3317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8001000" y="2689225"/>
            <a:ext cx="571500" cy="3317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8013700" y="3097213"/>
            <a:ext cx="571500" cy="3317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929438" y="1533525"/>
            <a:ext cx="857250" cy="260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2" name="矩形 61"/>
          <p:cNvSpPr/>
          <p:nvPr/>
        </p:nvSpPr>
        <p:spPr>
          <a:xfrm>
            <a:off x="6929438" y="1928813"/>
            <a:ext cx="857250" cy="260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6929438" y="2336800"/>
            <a:ext cx="857250" cy="260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6929438" y="2714625"/>
            <a:ext cx="857250" cy="260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6896100" y="3125788"/>
            <a:ext cx="857250" cy="260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6072188" y="1928813"/>
            <a:ext cx="571500" cy="2857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6072188" y="2319338"/>
            <a:ext cx="571500" cy="2857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6072188" y="2714625"/>
            <a:ext cx="571500" cy="2857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6072188" y="3109913"/>
            <a:ext cx="571500" cy="2857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5715000" y="642938"/>
            <a:ext cx="3214688" cy="3000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aphicFrame>
        <p:nvGraphicFramePr>
          <p:cNvPr id="10" name="Object 28"/>
          <p:cNvGraphicFramePr>
            <a:graphicFrameLocks noChangeAspect="1"/>
          </p:cNvGraphicFramePr>
          <p:nvPr/>
        </p:nvGraphicFramePr>
        <p:xfrm>
          <a:off x="1357313" y="5926138"/>
          <a:ext cx="5929312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86" name="公式" r:id="rId3" imgW="4521835" imgH="162560" progId="Equation.3">
                  <p:embed/>
                </p:oleObj>
              </mc:Choice>
              <mc:Fallback>
                <p:oleObj name="公式" r:id="rId3" imgW="4521835" imgH="16256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5926138"/>
                        <a:ext cx="5929312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62" name="矩形 1"/>
          <p:cNvSpPr>
            <a:spLocks noChangeArrowheads="1"/>
          </p:cNvSpPr>
          <p:nvPr/>
        </p:nvSpPr>
        <p:spPr bwMode="auto">
          <a:xfrm>
            <a:off x="6156325" y="58738"/>
            <a:ext cx="28559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§4.3</a:t>
            </a:r>
            <a:r>
              <a:rPr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常用的</a:t>
            </a:r>
            <a:r>
              <a:rPr kumimoji="1"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</a:t>
            </a:r>
            <a:endParaRPr lang="zh-CN" altLang="en-US" sz="18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50" grpId="0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500063" y="285750"/>
            <a:ext cx="7929562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22300" indent="-6223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例：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用一片双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选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数据选择器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74HC153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组成一个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选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数据选择器。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4738" y="2247900"/>
            <a:ext cx="2513012" cy="413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34"/>
          <p:cNvGrpSpPr/>
          <p:nvPr/>
        </p:nvGrpSpPr>
        <p:grpSpPr bwMode="auto">
          <a:xfrm>
            <a:off x="571500" y="2928938"/>
            <a:ext cx="1785938" cy="1357312"/>
            <a:chOff x="571472" y="2928934"/>
            <a:chExt cx="1785950" cy="1357322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1071538" y="4117980"/>
              <a:ext cx="1285884" cy="1588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1071538" y="3182936"/>
              <a:ext cx="1285884" cy="1587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1071538" y="3487738"/>
              <a:ext cx="1285884" cy="1587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1071538" y="3811591"/>
              <a:ext cx="1285884" cy="1587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220" name="矩形 14"/>
            <p:cNvSpPr>
              <a:spLocks noChangeArrowheads="1"/>
            </p:cNvSpPr>
            <p:nvPr/>
          </p:nvSpPr>
          <p:spPr bwMode="auto">
            <a:xfrm>
              <a:off x="571472" y="2928934"/>
              <a:ext cx="45557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>
                  <a:schemeClr val="hlink"/>
                </a:buClr>
                <a:buSzPct val="70000"/>
                <a:buFontTx/>
                <a:buNone/>
              </a:pPr>
              <a:r>
                <a:rPr lang="en-US" altLang="zh-CN" sz="20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2000" b="1" baseline="-2500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 b="1" baseline="-2500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221" name="矩形 15"/>
            <p:cNvSpPr>
              <a:spLocks noChangeArrowheads="1"/>
            </p:cNvSpPr>
            <p:nvPr/>
          </p:nvSpPr>
          <p:spPr bwMode="auto">
            <a:xfrm>
              <a:off x="571472" y="3243204"/>
              <a:ext cx="45557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>
                  <a:schemeClr val="hlink"/>
                </a:buClr>
                <a:buSzPct val="70000"/>
                <a:buFontTx/>
                <a:buNone/>
              </a:pPr>
              <a:r>
                <a:rPr lang="en-US" altLang="zh-CN" sz="20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2000" b="1" baseline="-2500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baseline="-2500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222" name="矩形 16"/>
            <p:cNvSpPr>
              <a:spLocks noChangeArrowheads="1"/>
            </p:cNvSpPr>
            <p:nvPr/>
          </p:nvSpPr>
          <p:spPr bwMode="auto">
            <a:xfrm>
              <a:off x="571472" y="3571876"/>
              <a:ext cx="45557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>
                  <a:schemeClr val="hlink"/>
                </a:buClr>
                <a:buSzPct val="70000"/>
                <a:buFontTx/>
                <a:buNone/>
              </a:pPr>
              <a:r>
                <a:rPr lang="en-US" altLang="zh-CN" sz="20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2000" b="1" baseline="-2500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000" b="1" baseline="-2500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223" name="矩形 17"/>
            <p:cNvSpPr>
              <a:spLocks noChangeArrowheads="1"/>
            </p:cNvSpPr>
            <p:nvPr/>
          </p:nvSpPr>
          <p:spPr bwMode="auto">
            <a:xfrm>
              <a:off x="571472" y="3886146"/>
              <a:ext cx="45557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>
                  <a:schemeClr val="hlink"/>
                </a:buClr>
                <a:buSzPct val="70000"/>
                <a:buFontTx/>
                <a:buNone/>
              </a:pPr>
              <a:r>
                <a:rPr lang="en-US" altLang="zh-CN" sz="20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2000" b="1" baseline="-2500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000" b="1" baseline="-2500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组合 35"/>
          <p:cNvGrpSpPr/>
          <p:nvPr/>
        </p:nvGrpSpPr>
        <p:grpSpPr bwMode="auto">
          <a:xfrm>
            <a:off x="571500" y="4929188"/>
            <a:ext cx="1785938" cy="1357312"/>
            <a:chOff x="571472" y="4929198"/>
            <a:chExt cx="1785950" cy="1357322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1071538" y="5187962"/>
              <a:ext cx="1285884" cy="1588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1071538" y="5499114"/>
              <a:ext cx="1285884" cy="1588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1071538" y="5797566"/>
              <a:ext cx="1285884" cy="1588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1071538" y="6121419"/>
              <a:ext cx="1285884" cy="1588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212" name="矩形 18"/>
            <p:cNvSpPr>
              <a:spLocks noChangeArrowheads="1"/>
            </p:cNvSpPr>
            <p:nvPr/>
          </p:nvSpPr>
          <p:spPr bwMode="auto">
            <a:xfrm>
              <a:off x="571472" y="4929198"/>
              <a:ext cx="45557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>
                  <a:schemeClr val="hlink"/>
                </a:buClr>
                <a:buSzPct val="70000"/>
                <a:buFontTx/>
                <a:buNone/>
              </a:pPr>
              <a:r>
                <a:rPr lang="en-US" altLang="zh-CN" sz="20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2000" b="1" baseline="-2500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000" b="1" baseline="-2500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213" name="矩形 19"/>
            <p:cNvSpPr>
              <a:spLocks noChangeArrowheads="1"/>
            </p:cNvSpPr>
            <p:nvPr/>
          </p:nvSpPr>
          <p:spPr bwMode="auto">
            <a:xfrm>
              <a:off x="571472" y="5243468"/>
              <a:ext cx="45557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>
                  <a:schemeClr val="hlink"/>
                </a:buClr>
                <a:buSzPct val="70000"/>
                <a:buFontTx/>
                <a:buNone/>
              </a:pPr>
              <a:r>
                <a:rPr lang="en-US" altLang="zh-CN" sz="20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2000" b="1" baseline="-2500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000" b="1" baseline="-2500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214" name="矩形 20"/>
            <p:cNvSpPr>
              <a:spLocks noChangeArrowheads="1"/>
            </p:cNvSpPr>
            <p:nvPr/>
          </p:nvSpPr>
          <p:spPr bwMode="auto">
            <a:xfrm>
              <a:off x="571472" y="5572140"/>
              <a:ext cx="45557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>
                  <a:schemeClr val="hlink"/>
                </a:buClr>
                <a:buSzPct val="70000"/>
                <a:buFontTx/>
                <a:buNone/>
              </a:pPr>
              <a:r>
                <a:rPr lang="en-US" altLang="zh-CN" sz="20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2000" b="1" baseline="-2500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000" b="1" baseline="-2500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215" name="矩形 21"/>
            <p:cNvSpPr>
              <a:spLocks noChangeArrowheads="1"/>
            </p:cNvSpPr>
            <p:nvPr/>
          </p:nvSpPr>
          <p:spPr bwMode="auto">
            <a:xfrm>
              <a:off x="571472" y="5886410"/>
              <a:ext cx="45557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>
                  <a:schemeClr val="hlink"/>
                </a:buClr>
                <a:buSzPct val="70000"/>
                <a:buFontTx/>
                <a:buNone/>
              </a:pPr>
              <a:r>
                <a:rPr lang="en-US" altLang="zh-CN" sz="20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2000" b="1" baseline="-2500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2000" b="1" baseline="-2500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组合 53"/>
          <p:cNvGrpSpPr/>
          <p:nvPr/>
        </p:nvGrpSpPr>
        <p:grpSpPr bwMode="auto">
          <a:xfrm>
            <a:off x="571500" y="2130425"/>
            <a:ext cx="1785938" cy="2767013"/>
            <a:chOff x="571472" y="2143116"/>
            <a:chExt cx="1786098" cy="2767511"/>
          </a:xfrm>
        </p:grpSpPr>
        <p:grpSp>
          <p:nvGrpSpPr>
            <p:cNvPr id="49197" name="组合 36"/>
            <p:cNvGrpSpPr/>
            <p:nvPr/>
          </p:nvGrpSpPr>
          <p:grpSpPr bwMode="auto">
            <a:xfrm>
              <a:off x="1786019" y="2357468"/>
              <a:ext cx="571551" cy="2553159"/>
              <a:chOff x="1786019" y="2357468"/>
              <a:chExt cx="571551" cy="2553159"/>
            </a:xfrm>
          </p:grpSpPr>
          <p:grpSp>
            <p:nvGrpSpPr>
              <p:cNvPr id="49200" name="组合 131"/>
              <p:cNvGrpSpPr/>
              <p:nvPr/>
            </p:nvGrpSpPr>
            <p:grpSpPr bwMode="auto">
              <a:xfrm rot="5400000">
                <a:off x="1832818" y="4239749"/>
                <a:ext cx="406509" cy="500107"/>
                <a:chOff x="3000730" y="4714739"/>
                <a:chExt cx="610588" cy="500110"/>
              </a:xfrm>
            </p:grpSpPr>
            <p:sp>
              <p:nvSpPr>
                <p:cNvPr id="24" name="等腰三角形 23"/>
                <p:cNvSpPr/>
                <p:nvPr/>
              </p:nvSpPr>
              <p:spPr>
                <a:xfrm rot="5400000">
                  <a:off x="2965435" y="4750153"/>
                  <a:ext cx="500110" cy="429282"/>
                </a:xfrm>
                <a:prstGeom prst="triangl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椭圆 24"/>
                <p:cNvSpPr/>
                <p:nvPr/>
              </p:nvSpPr>
              <p:spPr>
                <a:xfrm>
                  <a:off x="3449210" y="4867154"/>
                  <a:ext cx="162173" cy="10796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26" name="直接连接符 25"/>
              <p:cNvCxnSpPr/>
              <p:nvPr/>
            </p:nvCxnSpPr>
            <p:spPr>
              <a:xfrm rot="5400000">
                <a:off x="1107215" y="3322047"/>
                <a:ext cx="1929159" cy="0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/>
            </p:nvCxnSpPr>
            <p:spPr>
              <a:xfrm>
                <a:off x="2071794" y="2878262"/>
                <a:ext cx="285776" cy="1587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 flipV="1">
                <a:off x="2033691" y="4905863"/>
                <a:ext cx="323879" cy="0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 rot="5400000">
                <a:off x="1937629" y="4801864"/>
                <a:ext cx="215939" cy="1588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椭圆 33"/>
              <p:cNvSpPr/>
              <p:nvPr/>
            </p:nvSpPr>
            <p:spPr bwMode="auto">
              <a:xfrm>
                <a:off x="2033691" y="2838566"/>
                <a:ext cx="71443" cy="71451"/>
              </a:xfrm>
              <a:prstGeom prst="ellipse">
                <a:avLst/>
              </a:prstGeom>
              <a:solidFill>
                <a:srgbClr val="0000FF"/>
              </a:solidFill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39" name="直接连接符 38"/>
            <p:cNvCxnSpPr/>
            <p:nvPr/>
          </p:nvCxnSpPr>
          <p:spPr>
            <a:xfrm>
              <a:off x="1071580" y="2357468"/>
              <a:ext cx="1000215" cy="1587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199" name="矩形 49"/>
            <p:cNvSpPr>
              <a:spLocks noChangeArrowheads="1"/>
            </p:cNvSpPr>
            <p:nvPr/>
          </p:nvSpPr>
          <p:spPr bwMode="auto">
            <a:xfrm>
              <a:off x="571472" y="2143116"/>
              <a:ext cx="51007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>
                  <a:schemeClr val="hlink"/>
                </a:buClr>
                <a:buSzPct val="70000"/>
                <a:buFontTx/>
                <a:buNone/>
              </a:pP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组合 52"/>
          <p:cNvGrpSpPr/>
          <p:nvPr/>
        </p:nvGrpSpPr>
        <p:grpSpPr bwMode="auto">
          <a:xfrm>
            <a:off x="571500" y="1285875"/>
            <a:ext cx="3429000" cy="1001713"/>
            <a:chOff x="571472" y="1285860"/>
            <a:chExt cx="3429818" cy="1002514"/>
          </a:xfrm>
        </p:grpSpPr>
        <p:cxnSp>
          <p:nvCxnSpPr>
            <p:cNvPr id="41" name="直接连接符 40"/>
            <p:cNvCxnSpPr/>
            <p:nvPr/>
          </p:nvCxnSpPr>
          <p:spPr>
            <a:xfrm>
              <a:off x="1071654" y="1929312"/>
              <a:ext cx="2304011" cy="1588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>
              <a:off x="1071654" y="1500344"/>
              <a:ext cx="2928048" cy="1588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rot="5400000">
              <a:off x="3190577" y="2108049"/>
              <a:ext cx="359062" cy="1588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rot="5400000" flipH="1" flipV="1">
              <a:off x="3607277" y="1892770"/>
              <a:ext cx="786440" cy="1587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195" name="矩形 50"/>
            <p:cNvSpPr>
              <a:spLocks noChangeArrowheads="1"/>
            </p:cNvSpPr>
            <p:nvPr/>
          </p:nvSpPr>
          <p:spPr bwMode="auto">
            <a:xfrm>
              <a:off x="571472" y="1714488"/>
              <a:ext cx="51007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196" name="矩形 51"/>
            <p:cNvSpPr>
              <a:spLocks noChangeArrowheads="1"/>
            </p:cNvSpPr>
            <p:nvPr/>
          </p:nvSpPr>
          <p:spPr bwMode="auto">
            <a:xfrm>
              <a:off x="571472" y="1285860"/>
              <a:ext cx="51007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组合 70"/>
          <p:cNvGrpSpPr/>
          <p:nvPr/>
        </p:nvGrpSpPr>
        <p:grpSpPr bwMode="auto">
          <a:xfrm>
            <a:off x="4811713" y="3630613"/>
            <a:ext cx="2901950" cy="1735137"/>
            <a:chOff x="4786314" y="3643314"/>
            <a:chExt cx="2901907" cy="1735150"/>
          </a:xfrm>
        </p:grpSpPr>
        <p:grpSp>
          <p:nvGrpSpPr>
            <p:cNvPr id="49179" name="组合 50"/>
            <p:cNvGrpSpPr/>
            <p:nvPr/>
          </p:nvGrpSpPr>
          <p:grpSpPr bwMode="auto">
            <a:xfrm>
              <a:off x="5067304" y="4227518"/>
              <a:ext cx="1500188" cy="571500"/>
              <a:chOff x="3786253" y="4572007"/>
              <a:chExt cx="1500238" cy="571504"/>
            </a:xfrm>
          </p:grpSpPr>
          <p:sp>
            <p:nvSpPr>
              <p:cNvPr id="56" name="弧形 55"/>
              <p:cNvSpPr/>
              <p:nvPr/>
            </p:nvSpPr>
            <p:spPr>
              <a:xfrm>
                <a:off x="3786246" y="4572007"/>
                <a:ext cx="1500216" cy="571508"/>
              </a:xfrm>
              <a:prstGeom prst="arc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弧形 56"/>
              <p:cNvSpPr/>
              <p:nvPr/>
            </p:nvSpPr>
            <p:spPr>
              <a:xfrm flipV="1">
                <a:off x="3786246" y="4572007"/>
                <a:ext cx="1500216" cy="571508"/>
              </a:xfrm>
              <a:prstGeom prst="arc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弧形 57"/>
              <p:cNvSpPr/>
              <p:nvPr/>
            </p:nvSpPr>
            <p:spPr>
              <a:xfrm>
                <a:off x="4383157" y="4572007"/>
                <a:ext cx="331794" cy="571508"/>
              </a:xfrm>
              <a:prstGeom prst="arc">
                <a:avLst>
                  <a:gd name="adj1" fmla="val 16200000"/>
                  <a:gd name="adj2" fmla="val 5186173"/>
                </a:avLst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59" name="直接连接符 58"/>
            <p:cNvCxnSpPr/>
            <p:nvPr/>
          </p:nvCxnSpPr>
          <p:spPr>
            <a:xfrm>
              <a:off x="4786314" y="3643314"/>
              <a:ext cx="571492" cy="1587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>
              <a:off x="4794251" y="5376877"/>
              <a:ext cx="571492" cy="1587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rot="5400000" flipH="1" flipV="1">
              <a:off x="5037128" y="3963991"/>
              <a:ext cx="642942" cy="1587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rot="5400000" flipH="1" flipV="1">
              <a:off x="5037922" y="5036355"/>
              <a:ext cx="641355" cy="1587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>
              <a:off x="5357806" y="4286256"/>
              <a:ext cx="571492" cy="1588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>
              <a:off x="5357806" y="4727584"/>
              <a:ext cx="571492" cy="1588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>
              <a:off x="6572225" y="4508507"/>
              <a:ext cx="571492" cy="1588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187" name="矩形 69"/>
            <p:cNvSpPr>
              <a:spLocks noChangeArrowheads="1"/>
            </p:cNvSpPr>
            <p:nvPr/>
          </p:nvSpPr>
          <p:spPr bwMode="auto">
            <a:xfrm>
              <a:off x="7215206" y="4253219"/>
              <a:ext cx="47301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3" name="Group 30"/>
          <p:cNvGraphicFramePr>
            <a:graphicFrameLocks noGrp="1"/>
          </p:cNvGraphicFramePr>
          <p:nvPr/>
        </p:nvGraphicFramePr>
        <p:xfrm>
          <a:off x="4756150" y="1490663"/>
          <a:ext cx="3744913" cy="1223963"/>
        </p:xfrm>
        <a:graphic>
          <a:graphicData uri="http://schemas.openxmlformats.org/drawingml/2006/table">
            <a:tbl>
              <a:tblPr/>
              <a:tblGrid>
                <a:gridCol w="792163"/>
                <a:gridCol w="1655762"/>
                <a:gridCol w="1296988"/>
              </a:tblGrid>
              <a:tr h="431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000" b="1" i="0" u="none" strike="noStrike" cap="none" normalizeH="0" baseline="-2500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A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9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 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～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000" b="1" i="0" u="none" strike="noStrike" cap="none" normalizeH="0" baseline="-2500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9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 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～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0" lang="en-US" altLang="zh-CN" sz="2000" b="1" i="0" u="none" strike="noStrike" cap="none" normalizeH="0" baseline="-2500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0"/>
          <p:cNvSpPr txBox="1">
            <a:spLocks noChangeArrowheads="1"/>
          </p:cNvSpPr>
          <p:nvPr/>
        </p:nvSpPr>
        <p:spPr bwMode="auto">
          <a:xfrm>
            <a:off x="541338" y="765175"/>
            <a:ext cx="2530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逻辑函数式</a:t>
            </a:r>
            <a:endParaRPr kumimoji="1" lang="zh-CN" altLang="en-US" sz="240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857250" y="1395413"/>
          <a:ext cx="7643813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7" name="公式" r:id="rId1" imgW="5285740" imgH="525780" progId="Equation.3">
                  <p:embed/>
                </p:oleObj>
              </mc:Choice>
              <mc:Fallback>
                <p:oleObj name="公式" r:id="rId1" imgW="5285740" imgH="5257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1395413"/>
                        <a:ext cx="7643813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" y="3357563"/>
            <a:ext cx="4410075" cy="235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15"/>
          <p:cNvSpPr txBox="1">
            <a:spLocks noChangeArrowheads="1"/>
          </p:cNvSpPr>
          <p:nvPr/>
        </p:nvSpPr>
        <p:spPr bwMode="auto">
          <a:xfrm>
            <a:off x="1071563" y="6000750"/>
            <a:ext cx="4176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特点：输出端为互补形式。</a:t>
            </a:r>
            <a:endParaRPr kumimoji="1" lang="zh-CN" altLang="en-US" sz="24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182" name="矩形 6"/>
          <p:cNvSpPr>
            <a:spLocks noChangeArrowheads="1"/>
          </p:cNvSpPr>
          <p:nvPr/>
        </p:nvSpPr>
        <p:spPr bwMode="auto">
          <a:xfrm>
            <a:off x="508000" y="142875"/>
            <a:ext cx="44211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PMingLiU-ExtB" panose="02020500000000000000" pitchFamily="18" charset="-120"/>
                <a:cs typeface="Times New Roman" panose="02020603050405020304" pitchFamily="18" charset="0"/>
              </a:rPr>
              <a:t>2.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PMingLiU-ExtB" panose="02020500000000000000" pitchFamily="18" charset="-120"/>
                <a:cs typeface="Times New Roman" panose="02020603050405020304" pitchFamily="18" charset="0"/>
              </a:rPr>
              <a:t> 集成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PMingLiU-ExtB" panose="02020500000000000000" pitchFamily="18" charset="-120"/>
                <a:cs typeface="Times New Roman" panose="02020603050405020304" pitchFamily="18" charset="0"/>
              </a:rPr>
              <a:t>8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PMingLiU-ExtB" panose="02020500000000000000" pitchFamily="18" charset="-120"/>
                <a:cs typeface="Times New Roman" panose="02020603050405020304" pitchFamily="18" charset="0"/>
              </a:rPr>
              <a:t>选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PMingLiU-ExtB" panose="02020500000000000000" pitchFamily="18" charset="-120"/>
                <a:cs typeface="Times New Roman" panose="02020603050405020304" pitchFamily="18" charset="0"/>
              </a:rPr>
              <a:t>1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PMingLiU-ExtB" panose="02020500000000000000" pitchFamily="18" charset="-120"/>
                <a:cs typeface="Times New Roman" panose="02020603050405020304" pitchFamily="18" charset="0"/>
              </a:rPr>
              <a:t>数据选择器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PMingLiU-ExtB" panose="02020500000000000000" pitchFamily="18" charset="-120"/>
                <a:cs typeface="Times New Roman" panose="02020603050405020304" pitchFamily="18" charset="0"/>
              </a:rPr>
              <a:t>74LS151</a:t>
            </a:r>
            <a:endParaRPr lang="zh-CN" altLang="en-US" sz="2400">
              <a:solidFill>
                <a:srgbClr val="0000FF"/>
              </a:solidFill>
              <a:latin typeface="Times New Roman" panose="02020603050405020304" pitchFamily="18" charset="0"/>
              <a:ea typeface="PMingLiU-ExtB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541338" y="2895600"/>
            <a:ext cx="2530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逻辑符号</a:t>
            </a:r>
            <a:endParaRPr kumimoji="1" lang="zh-CN" altLang="en-US" sz="240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184" name="矩形 1"/>
          <p:cNvSpPr>
            <a:spLocks noChangeArrowheads="1"/>
          </p:cNvSpPr>
          <p:nvPr/>
        </p:nvSpPr>
        <p:spPr bwMode="auto">
          <a:xfrm>
            <a:off x="6156325" y="58738"/>
            <a:ext cx="28559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§4.3</a:t>
            </a:r>
            <a:r>
              <a:rPr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常用的</a:t>
            </a:r>
            <a:r>
              <a:rPr kumimoji="1"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</a:t>
            </a:r>
            <a:endParaRPr lang="zh-CN" altLang="en-US" sz="18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5"/>
          <p:cNvSpPr txBox="1">
            <a:spLocks noChangeArrowheads="1"/>
          </p:cNvSpPr>
          <p:nvPr/>
        </p:nvSpPr>
        <p:spPr bwMode="auto">
          <a:xfrm>
            <a:off x="414338" y="71438"/>
            <a:ext cx="36750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四、加法器（</a:t>
            </a:r>
            <a:r>
              <a:rPr lang="en-US" altLang="zh-CN" sz="28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Adder</a:t>
            </a: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800" b="1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628650" y="1143000"/>
            <a:ext cx="18875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）半加器</a:t>
            </a:r>
            <a:endParaRPr kumimoji="1" lang="zh-CN" altLang="en-US" sz="240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628650" y="642938"/>
            <a:ext cx="2376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一位加法器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17"/>
          <p:cNvSpPr txBox="1">
            <a:spLocks noChangeArrowheads="1"/>
          </p:cNvSpPr>
          <p:nvPr/>
        </p:nvSpPr>
        <p:spPr bwMode="auto">
          <a:xfrm>
            <a:off x="1570038" y="3694113"/>
            <a:ext cx="20716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lang="zh-CN" alt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半加器真值表</a:t>
            </a:r>
            <a:endParaRPr lang="zh-CN" altLang="en-US" sz="20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1414463" y="1571625"/>
            <a:ext cx="71104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不考虑低位进位，</a:t>
            </a: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将两个一位二进制数</a:t>
            </a: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相加。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Group 51"/>
          <p:cNvGraphicFramePr>
            <a:graphicFrameLocks noGrp="1"/>
          </p:cNvGraphicFramePr>
          <p:nvPr/>
        </p:nvGraphicFramePr>
        <p:xfrm>
          <a:off x="1570038" y="4122738"/>
          <a:ext cx="2130425" cy="2378076"/>
        </p:xfrm>
        <a:graphic>
          <a:graphicData uri="http://schemas.openxmlformats.org/drawingml/2006/table">
            <a:tbl>
              <a:tblPr/>
              <a:tblGrid>
                <a:gridCol w="441325"/>
                <a:gridCol w="646112"/>
                <a:gridCol w="357188"/>
                <a:gridCol w="685800"/>
              </a:tblGrid>
              <a:tr h="396346"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输入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输出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39634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4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4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4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4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" name="组合 16"/>
          <p:cNvGrpSpPr/>
          <p:nvPr/>
        </p:nvGrpSpPr>
        <p:grpSpPr bwMode="auto">
          <a:xfrm>
            <a:off x="5200650" y="2071688"/>
            <a:ext cx="2593975" cy="1235075"/>
            <a:chOff x="5357818" y="3929066"/>
            <a:chExt cx="2593974" cy="1234782"/>
          </a:xfrm>
        </p:grpSpPr>
        <p:graphicFrame>
          <p:nvGraphicFramePr>
            <p:cNvPr id="51248" name="Object 3"/>
            <p:cNvGraphicFramePr>
              <a:graphicFrameLocks noChangeAspect="1"/>
            </p:cNvGraphicFramePr>
            <p:nvPr/>
          </p:nvGraphicFramePr>
          <p:xfrm>
            <a:off x="5572132" y="4357694"/>
            <a:ext cx="2379660" cy="3800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55" name="公式" r:id="rId1" imgW="1473200" imgH="215900" progId="Equation.3">
                    <p:embed/>
                  </p:oleObj>
                </mc:Choice>
                <mc:Fallback>
                  <p:oleObj name="公式" r:id="rId1" imgW="1473200" imgH="2159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72132" y="4357694"/>
                          <a:ext cx="2379660" cy="3800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49" name="Object 4"/>
            <p:cNvGraphicFramePr>
              <a:graphicFrameLocks noChangeAspect="1"/>
            </p:cNvGraphicFramePr>
            <p:nvPr/>
          </p:nvGraphicFramePr>
          <p:xfrm>
            <a:off x="5586407" y="4857760"/>
            <a:ext cx="1008063" cy="3060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56" name="公式" r:id="rId3" imgW="647700" imgH="177800" progId="Equation.3">
                    <p:embed/>
                  </p:oleObj>
                </mc:Choice>
                <mc:Fallback>
                  <p:oleObj name="公式" r:id="rId3" imgW="647700" imgH="1778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86407" y="4857760"/>
                          <a:ext cx="1008063" cy="3060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50" name="Text Box 10"/>
            <p:cNvSpPr txBox="1">
              <a:spLocks noChangeArrowheads="1"/>
            </p:cNvSpPr>
            <p:nvPr/>
          </p:nvSpPr>
          <p:spPr bwMode="auto">
            <a:xfrm>
              <a:off x="5357818" y="3929066"/>
              <a:ext cx="253047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n"/>
              </a:pPr>
              <a:r>
                <a:rPr kumimoji="1" lang="zh-CN" altLang="en-US" sz="20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逻辑函数式</a:t>
              </a:r>
              <a:endParaRPr kumimoji="1" lang="zh-CN" alt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组合 20"/>
          <p:cNvGrpSpPr/>
          <p:nvPr/>
        </p:nvGrpSpPr>
        <p:grpSpPr bwMode="auto">
          <a:xfrm>
            <a:off x="5200650" y="3429000"/>
            <a:ext cx="2571750" cy="1714500"/>
            <a:chOff x="5143504" y="3571876"/>
            <a:chExt cx="2571768" cy="1714512"/>
          </a:xfrm>
        </p:grpSpPr>
        <p:pic>
          <p:nvPicPr>
            <p:cNvPr id="51246" name="Picture 10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1172" y="3905263"/>
              <a:ext cx="2324100" cy="1381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247" name="Text Box 10"/>
            <p:cNvSpPr txBox="1">
              <a:spLocks noChangeArrowheads="1"/>
            </p:cNvSpPr>
            <p:nvPr/>
          </p:nvSpPr>
          <p:spPr bwMode="auto">
            <a:xfrm>
              <a:off x="5143504" y="3571876"/>
              <a:ext cx="253047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n"/>
              </a:pPr>
              <a:r>
                <a:rPr kumimoji="1" lang="zh-CN" altLang="en-US" sz="20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逻辑图</a:t>
              </a:r>
              <a:endParaRPr kumimoji="1" lang="zh-CN" alt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组合 22"/>
          <p:cNvGrpSpPr/>
          <p:nvPr/>
        </p:nvGrpSpPr>
        <p:grpSpPr bwMode="auto">
          <a:xfrm>
            <a:off x="5200650" y="5172075"/>
            <a:ext cx="2530475" cy="1543050"/>
            <a:chOff x="5143504" y="5172030"/>
            <a:chExt cx="2530475" cy="1542835"/>
          </a:xfrm>
        </p:grpSpPr>
        <p:sp>
          <p:nvSpPr>
            <p:cNvPr id="51244" name="Text Box 10"/>
            <p:cNvSpPr txBox="1">
              <a:spLocks noChangeArrowheads="1"/>
            </p:cNvSpPr>
            <p:nvPr/>
          </p:nvSpPr>
          <p:spPr bwMode="auto">
            <a:xfrm>
              <a:off x="5143504" y="5172030"/>
              <a:ext cx="253047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n"/>
              </a:pPr>
              <a:r>
                <a:rPr kumimoji="1" lang="zh-CN" altLang="en-US" sz="20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逻辑符号</a:t>
              </a:r>
              <a:endParaRPr kumimoji="1" lang="zh-CN" alt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51245" name="Picture 11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29256" y="5572140"/>
              <a:ext cx="2071702" cy="114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8" name="组合 24"/>
          <p:cNvGrpSpPr/>
          <p:nvPr/>
        </p:nvGrpSpPr>
        <p:grpSpPr bwMode="auto">
          <a:xfrm>
            <a:off x="1431925" y="2214563"/>
            <a:ext cx="3268663" cy="1285875"/>
            <a:chOff x="785786" y="2214532"/>
            <a:chExt cx="3269351" cy="1285875"/>
          </a:xfrm>
        </p:grpSpPr>
        <p:sp>
          <p:nvSpPr>
            <p:cNvPr id="51240" name="矩形 9"/>
            <p:cNvSpPr>
              <a:spLocks noChangeArrowheads="1"/>
            </p:cNvSpPr>
            <p:nvPr/>
          </p:nvSpPr>
          <p:spPr bwMode="auto">
            <a:xfrm>
              <a:off x="893694" y="2285970"/>
              <a:ext cx="28648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输入：</a:t>
              </a:r>
              <a:r>
                <a:rPr kumimoji="1"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两个加数</a:t>
              </a:r>
              <a:r>
                <a:rPr kumimoji="1"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kumimoji="1"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、</a:t>
              </a:r>
              <a:r>
                <a:rPr kumimoji="1"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kumimoji="1"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。</a:t>
              </a:r>
              <a:endPara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241" name="矩形 11"/>
            <p:cNvSpPr>
              <a:spLocks noChangeArrowheads="1"/>
            </p:cNvSpPr>
            <p:nvPr/>
          </p:nvSpPr>
          <p:spPr bwMode="auto">
            <a:xfrm>
              <a:off x="893694" y="2681561"/>
              <a:ext cx="316144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输出：</a:t>
              </a:r>
              <a:r>
                <a:rPr kumimoji="1"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相加的和</a:t>
              </a:r>
              <a:r>
                <a:rPr kumimoji="1"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kumimoji="1"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；            </a:t>
              </a:r>
              <a:endPara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242" name="Rectangle 16"/>
            <p:cNvSpPr>
              <a:spLocks noChangeArrowheads="1"/>
            </p:cNvSpPr>
            <p:nvPr/>
          </p:nvSpPr>
          <p:spPr bwMode="auto">
            <a:xfrm>
              <a:off x="785786" y="2214532"/>
              <a:ext cx="3143250" cy="1285875"/>
            </a:xfrm>
            <a:prstGeom prst="rect">
              <a:avLst/>
            </a:prstGeom>
            <a:noFill/>
            <a:ln w="57150" cmpd="thickThin">
              <a:solidFill>
                <a:srgbClr val="33CC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endPara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243" name="矩形 23"/>
            <p:cNvSpPr>
              <a:spLocks noChangeArrowheads="1"/>
            </p:cNvSpPr>
            <p:nvPr/>
          </p:nvSpPr>
          <p:spPr bwMode="auto">
            <a:xfrm>
              <a:off x="1714480" y="3071810"/>
              <a:ext cx="221457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向高位的进位</a:t>
              </a:r>
              <a:r>
                <a:rPr kumimoji="1"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</a:t>
              </a:r>
              <a:r>
                <a:rPr kumimoji="1"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。 </a:t>
              </a:r>
              <a:endParaRPr lang="zh-CN" altLang="en-US" sz="2000"/>
            </a:p>
          </p:txBody>
        </p:sp>
      </p:grpSp>
      <p:sp>
        <p:nvSpPr>
          <p:cNvPr id="51239" name="矩形 1"/>
          <p:cNvSpPr>
            <a:spLocks noChangeArrowheads="1"/>
          </p:cNvSpPr>
          <p:nvPr/>
        </p:nvSpPr>
        <p:spPr bwMode="auto">
          <a:xfrm>
            <a:off x="6156325" y="58738"/>
            <a:ext cx="28559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§4.3</a:t>
            </a:r>
            <a:r>
              <a:rPr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常用的</a:t>
            </a:r>
            <a:r>
              <a:rPr kumimoji="1"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</a:t>
            </a:r>
            <a:endParaRPr lang="zh-CN" altLang="en-US" sz="18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1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6"/>
          <p:cNvSpPr>
            <a:spLocks noChangeArrowheads="1"/>
          </p:cNvSpPr>
          <p:nvPr/>
        </p:nvSpPr>
        <p:spPr bwMode="auto">
          <a:xfrm>
            <a:off x="285750" y="142875"/>
            <a:ext cx="18859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）全加器</a:t>
            </a:r>
            <a:endParaRPr kumimoji="1" lang="zh-CN" altLang="en-US" sz="240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1071563" y="571500"/>
            <a:ext cx="6991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考虑低位进位，</a:t>
            </a: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将两个加数和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低位进位</a:t>
            </a: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一起相加。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15"/>
          <p:cNvGrpSpPr/>
          <p:nvPr/>
        </p:nvGrpSpPr>
        <p:grpSpPr bwMode="auto">
          <a:xfrm>
            <a:off x="1143000" y="1143000"/>
            <a:ext cx="4786313" cy="1000125"/>
            <a:chOff x="785786" y="1071547"/>
            <a:chExt cx="4786346" cy="1000132"/>
          </a:xfrm>
        </p:grpSpPr>
        <p:sp>
          <p:nvSpPr>
            <p:cNvPr id="52294" name="矩形 4"/>
            <p:cNvSpPr>
              <a:spLocks noChangeArrowheads="1"/>
            </p:cNvSpPr>
            <p:nvPr/>
          </p:nvSpPr>
          <p:spPr bwMode="auto">
            <a:xfrm>
              <a:off x="893694" y="1142984"/>
              <a:ext cx="28648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输入：</a:t>
              </a:r>
              <a:r>
                <a:rPr kumimoji="1"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两个加数</a:t>
              </a:r>
              <a:r>
                <a:rPr kumimoji="1"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kumimoji="1"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、</a:t>
              </a:r>
              <a:r>
                <a:rPr kumimoji="1"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kumimoji="1"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；</a:t>
              </a:r>
              <a:endPara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295" name="矩形 5"/>
            <p:cNvSpPr>
              <a:spLocks noChangeArrowheads="1"/>
            </p:cNvSpPr>
            <p:nvPr/>
          </p:nvSpPr>
          <p:spPr bwMode="auto">
            <a:xfrm>
              <a:off x="893694" y="1578097"/>
              <a:ext cx="245612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输出：</a:t>
              </a:r>
              <a:r>
                <a:rPr kumimoji="1"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相加的和</a:t>
              </a:r>
              <a:r>
                <a:rPr kumimoji="1"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kumimoji="1"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；</a:t>
              </a:r>
              <a:endPara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296" name="Rectangle 16"/>
            <p:cNvSpPr>
              <a:spLocks noChangeArrowheads="1"/>
            </p:cNvSpPr>
            <p:nvPr/>
          </p:nvSpPr>
          <p:spPr bwMode="auto">
            <a:xfrm>
              <a:off x="785786" y="1071547"/>
              <a:ext cx="4786346" cy="1000132"/>
            </a:xfrm>
            <a:prstGeom prst="rect">
              <a:avLst/>
            </a:prstGeom>
            <a:noFill/>
            <a:ln w="57150" cmpd="thickThin">
              <a:solidFill>
                <a:srgbClr val="33CC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endPara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297" name="矩形 7"/>
            <p:cNvSpPr>
              <a:spLocks noChangeArrowheads="1"/>
            </p:cNvSpPr>
            <p:nvPr/>
          </p:nvSpPr>
          <p:spPr bwMode="auto">
            <a:xfrm>
              <a:off x="3643306" y="1142984"/>
              <a:ext cx="176041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低位的进位</a:t>
              </a:r>
              <a:r>
                <a:rPr kumimoji="1" lang="en-US" altLang="zh-CN" sz="2000" b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CI</a:t>
              </a:r>
              <a:endParaRPr lang="zh-CN" altLang="en-US" sz="200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298" name="矩形 8"/>
            <p:cNvSpPr>
              <a:spLocks noChangeArrowheads="1"/>
            </p:cNvSpPr>
            <p:nvPr/>
          </p:nvSpPr>
          <p:spPr bwMode="auto">
            <a:xfrm>
              <a:off x="3071802" y="1571612"/>
              <a:ext cx="221457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向高位的进位</a:t>
              </a:r>
              <a:r>
                <a:rPr kumimoji="1"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</a:t>
              </a:r>
              <a:r>
                <a:rPr kumimoji="1"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。 </a:t>
              </a:r>
              <a:endParaRPr lang="zh-CN" altLang="en-US" sz="2000"/>
            </a:p>
          </p:txBody>
        </p:sp>
      </p:grpSp>
      <p:graphicFrame>
        <p:nvGraphicFramePr>
          <p:cNvPr id="10" name="Group 3"/>
          <p:cNvGraphicFramePr>
            <a:graphicFrameLocks noGrp="1"/>
          </p:cNvGraphicFramePr>
          <p:nvPr/>
        </p:nvGraphicFramePr>
        <p:xfrm>
          <a:off x="857250" y="2752725"/>
          <a:ext cx="3286125" cy="3962400"/>
        </p:xfrm>
        <a:graphic>
          <a:graphicData uri="http://schemas.openxmlformats.org/drawingml/2006/table">
            <a:tbl>
              <a:tblPr/>
              <a:tblGrid>
                <a:gridCol w="554038"/>
                <a:gridCol w="544512"/>
                <a:gridCol w="728663"/>
                <a:gridCol w="682625"/>
                <a:gridCol w="776287"/>
              </a:tblGrid>
              <a:tr h="396240">
                <a:tc grid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    入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    出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CI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1428750" y="2324100"/>
            <a:ext cx="20716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lang="zh-CN" alt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全加器真值表</a:t>
            </a:r>
            <a:endParaRPr lang="zh-CN" altLang="en-US" sz="20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9635" name="Object 3"/>
          <p:cNvGraphicFramePr>
            <a:graphicFrameLocks noChangeAspect="1"/>
          </p:cNvGraphicFramePr>
          <p:nvPr/>
        </p:nvGraphicFramePr>
        <p:xfrm>
          <a:off x="4929188" y="2928938"/>
          <a:ext cx="3714750" cy="155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03" name="公式" r:id="rId1" imgW="2349500" imgH="952500" progId="Equation.3">
                  <p:embed/>
                </p:oleObj>
              </mc:Choice>
              <mc:Fallback>
                <p:oleObj name="公式" r:id="rId1" imgW="2349500" imgH="952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9188" y="2928938"/>
                        <a:ext cx="3714750" cy="155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6" name="Object 4"/>
          <p:cNvGraphicFramePr>
            <a:graphicFrameLocks noChangeAspect="1"/>
          </p:cNvGraphicFramePr>
          <p:nvPr/>
        </p:nvGraphicFramePr>
        <p:xfrm>
          <a:off x="4935538" y="4900613"/>
          <a:ext cx="3636962" cy="117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04" name="公式" r:id="rId3" imgW="2451100" imgH="698500" progId="Equation.3">
                  <p:embed/>
                </p:oleObj>
              </mc:Choice>
              <mc:Fallback>
                <p:oleObj name="公式" r:id="rId3" imgW="2451100" imgH="698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5538" y="4900613"/>
                        <a:ext cx="3636962" cy="1177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4643438" y="2314575"/>
            <a:ext cx="2530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kumimoji="1" lang="zh-CN" alt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逻辑函数式</a:t>
            </a:r>
            <a:endParaRPr kumimoji="1" lang="zh-CN" altLang="en-US" sz="20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293" name="矩形 1"/>
          <p:cNvSpPr>
            <a:spLocks noChangeArrowheads="1"/>
          </p:cNvSpPr>
          <p:nvPr/>
        </p:nvSpPr>
        <p:spPr bwMode="auto">
          <a:xfrm>
            <a:off x="6156325" y="58738"/>
            <a:ext cx="28559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§4.3</a:t>
            </a:r>
            <a:r>
              <a:rPr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常用的</a:t>
            </a:r>
            <a:r>
              <a:rPr kumimoji="1"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</a:t>
            </a:r>
            <a:endParaRPr lang="zh-CN" altLang="en-US" sz="18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1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10"/>
          <p:cNvSpPr txBox="1">
            <a:spLocks noChangeArrowheads="1"/>
          </p:cNvSpPr>
          <p:nvPr/>
        </p:nvSpPr>
        <p:spPr bwMode="auto">
          <a:xfrm>
            <a:off x="642938" y="214313"/>
            <a:ext cx="2530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逻辑图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5"/>
          <p:cNvGrpSpPr/>
          <p:nvPr/>
        </p:nvGrpSpPr>
        <p:grpSpPr bwMode="auto">
          <a:xfrm>
            <a:off x="642938" y="4405313"/>
            <a:ext cx="2578100" cy="1809750"/>
            <a:chOff x="5756275" y="428625"/>
            <a:chExt cx="2578100" cy="1809750"/>
          </a:xfrm>
        </p:grpSpPr>
        <p:sp>
          <p:nvSpPr>
            <p:cNvPr id="58383" name="Text Box 10"/>
            <p:cNvSpPr txBox="1">
              <a:spLocks noChangeArrowheads="1"/>
            </p:cNvSpPr>
            <p:nvPr/>
          </p:nvSpPr>
          <p:spPr bwMode="auto">
            <a:xfrm>
              <a:off x="5756275" y="428625"/>
              <a:ext cx="253047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n"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逻辑符号</a:t>
              </a: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58384" name="Picture 31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0750" y="1143000"/>
              <a:ext cx="2333625" cy="1095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59396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313" y="642938"/>
            <a:ext cx="4105275" cy="339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17"/>
          <p:cNvGrpSpPr/>
          <p:nvPr/>
        </p:nvGrpSpPr>
        <p:grpSpPr bwMode="auto">
          <a:xfrm>
            <a:off x="5143500" y="571500"/>
            <a:ext cx="3143250" cy="4500563"/>
            <a:chOff x="5143526" y="714353"/>
            <a:chExt cx="3143263" cy="4500597"/>
          </a:xfrm>
        </p:grpSpPr>
        <p:sp>
          <p:nvSpPr>
            <p:cNvPr id="51" name="矩形 50"/>
            <p:cNvSpPr/>
            <p:nvPr/>
          </p:nvSpPr>
          <p:spPr bwMode="auto">
            <a:xfrm>
              <a:off x="6929471" y="714353"/>
              <a:ext cx="1357318" cy="1500199"/>
            </a:xfrm>
            <a:prstGeom prst="rect">
              <a:avLst/>
            </a:prstGeom>
            <a:noFill/>
            <a:ln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矩形 51"/>
            <p:cNvSpPr/>
            <p:nvPr/>
          </p:nvSpPr>
          <p:spPr bwMode="auto">
            <a:xfrm>
              <a:off x="6929471" y="2357428"/>
              <a:ext cx="1357318" cy="1857389"/>
            </a:xfrm>
            <a:prstGeom prst="rect">
              <a:avLst/>
            </a:prstGeom>
            <a:noFill/>
            <a:ln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圆角矩形标注 52"/>
            <p:cNvSpPr/>
            <p:nvPr/>
          </p:nvSpPr>
          <p:spPr bwMode="auto">
            <a:xfrm>
              <a:off x="5167339" y="4429131"/>
              <a:ext cx="3119450" cy="785819"/>
            </a:xfrm>
            <a:prstGeom prst="wedgeRoundRectCallout">
              <a:avLst>
                <a:gd name="adj1" fmla="val 30400"/>
                <a:gd name="adj2" fmla="val -76328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382" name="Text Box 10"/>
            <p:cNvSpPr txBox="1">
              <a:spLocks noChangeArrowheads="1"/>
            </p:cNvSpPr>
            <p:nvPr/>
          </p:nvSpPr>
          <p:spPr bwMode="auto">
            <a:xfrm>
              <a:off x="5143526" y="4591062"/>
              <a:ext cx="31432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用 “与或非门”实现</a:t>
              </a: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59404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785813"/>
            <a:ext cx="3795713" cy="250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组合 16"/>
          <p:cNvGrpSpPr/>
          <p:nvPr/>
        </p:nvGrpSpPr>
        <p:grpSpPr bwMode="auto">
          <a:xfrm>
            <a:off x="857250" y="500063"/>
            <a:ext cx="3119438" cy="4071937"/>
            <a:chOff x="857224" y="500042"/>
            <a:chExt cx="3119437" cy="4071966"/>
          </a:xfrm>
        </p:grpSpPr>
        <p:sp>
          <p:nvSpPr>
            <p:cNvPr id="13" name="圆角矩形标注 12"/>
            <p:cNvSpPr/>
            <p:nvPr/>
          </p:nvSpPr>
          <p:spPr bwMode="auto">
            <a:xfrm>
              <a:off x="857224" y="3741740"/>
              <a:ext cx="3119437" cy="785818"/>
            </a:xfrm>
            <a:prstGeom prst="wedgeRoundRectCallout">
              <a:avLst>
                <a:gd name="adj1" fmla="val -439"/>
                <a:gd name="adj2" fmla="val -90873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377" name="Text Box 10"/>
            <p:cNvSpPr txBox="1">
              <a:spLocks noChangeArrowheads="1"/>
            </p:cNvSpPr>
            <p:nvPr/>
          </p:nvSpPr>
          <p:spPr bwMode="auto">
            <a:xfrm>
              <a:off x="1000122" y="3741011"/>
              <a:ext cx="2857498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用 “异或门” 和“与或非门”实现</a:t>
              </a: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1857349" y="500042"/>
              <a:ext cx="1357313" cy="2928958"/>
            </a:xfrm>
            <a:prstGeom prst="ellipse">
              <a:avLst/>
            </a:prstGeom>
            <a:noFill/>
            <a:ln>
              <a:solidFill>
                <a:srgbClr val="FF006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6"/>
          <p:cNvSpPr txBox="1">
            <a:spLocks noChangeArrowheads="1"/>
          </p:cNvSpPr>
          <p:nvPr/>
        </p:nvSpPr>
        <p:spPr bwMode="auto">
          <a:xfrm>
            <a:off x="539750" y="214313"/>
            <a:ext cx="2174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多位加法器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7"/>
          <p:cNvSpPr>
            <a:spLocks noChangeArrowheads="1"/>
          </p:cNvSpPr>
          <p:nvPr/>
        </p:nvSpPr>
        <p:spPr bwMode="auto">
          <a:xfrm>
            <a:off x="428625" y="766763"/>
            <a:ext cx="3460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）串行进位加法器</a:t>
            </a:r>
            <a:endParaRPr kumimoji="1" lang="zh-CN" altLang="en-US" sz="240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438" y="2085975"/>
            <a:ext cx="7237412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12"/>
          <p:cNvSpPr txBox="1">
            <a:spLocks noChangeArrowheads="1"/>
          </p:cNvSpPr>
          <p:nvPr/>
        </p:nvSpPr>
        <p:spPr bwMode="auto">
          <a:xfrm>
            <a:off x="1214438" y="1409700"/>
            <a:ext cx="39290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位串行进位加法器</a:t>
            </a:r>
            <a:endParaRPr lang="zh-CN" altLang="en-US" sz="24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571500" y="4657725"/>
            <a:ext cx="807243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400" b="1">
                <a:solidFill>
                  <a:srgbClr val="006600"/>
                </a:solidFill>
              </a:rPr>
              <a:t> 特点：</a:t>
            </a:r>
            <a:endParaRPr kumimoji="1" lang="en-US" altLang="zh-CN" sz="2400" b="1">
              <a:solidFill>
                <a:srgbClr val="006600"/>
              </a:solidFill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/>
              <a:t>        进位信号由低向高位逐级传递，每一位的相加结果都必须等到低位进位产生以后才能建立，</a:t>
            </a:r>
            <a:r>
              <a:rPr kumimoji="1" lang="zh-CN" altLang="en-US" sz="2400" b="1">
                <a:solidFill>
                  <a:srgbClr val="FF0000"/>
                </a:solidFill>
              </a:rPr>
              <a:t>传输延迟时间长</a:t>
            </a:r>
            <a:r>
              <a:rPr kumimoji="1" lang="zh-CN" altLang="en-US" sz="2400" b="1"/>
              <a:t>。</a:t>
            </a:r>
            <a:endParaRPr kumimoji="1" lang="zh-CN" altLang="en-US" sz="2400" b="1"/>
          </a:p>
        </p:txBody>
      </p:sp>
      <p:sp>
        <p:nvSpPr>
          <p:cNvPr id="54279" name="矩形 1"/>
          <p:cNvSpPr>
            <a:spLocks noChangeArrowheads="1"/>
          </p:cNvSpPr>
          <p:nvPr/>
        </p:nvSpPr>
        <p:spPr bwMode="auto">
          <a:xfrm>
            <a:off x="6156325" y="58738"/>
            <a:ext cx="28559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§4.3</a:t>
            </a:r>
            <a:r>
              <a:rPr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常用的</a:t>
            </a:r>
            <a:r>
              <a:rPr kumimoji="1"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</a:t>
            </a:r>
            <a:endParaRPr lang="zh-CN" altLang="en-US" sz="18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ChangeArrowheads="1"/>
          </p:cNvSpPr>
          <p:nvPr/>
        </p:nvSpPr>
        <p:spPr bwMode="auto">
          <a:xfrm>
            <a:off x="71438" y="214313"/>
            <a:ext cx="3460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）超前进位加法器</a:t>
            </a:r>
            <a:endParaRPr kumimoji="1" lang="zh-CN" altLang="en-US" sz="240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571500" y="785813"/>
            <a:ext cx="821531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kumimoji="1"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基本思想：</a:t>
            </a:r>
            <a:endParaRPr kumimoji="1" lang="en-US" altLang="zh-CN" sz="24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本位两个加数相加的同时也已获得低位的进位 </a:t>
            </a:r>
            <a:r>
              <a:rPr kumimoji="1"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r>
              <a:rPr kumimoji="1"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 -1</a:t>
            </a: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，则</a:t>
            </a:r>
            <a:r>
              <a:rPr kumimoji="1" lang="zh-CN" altLang="en-US" sz="2400" b="1">
                <a:latin typeface="宋体" panose="02010600030101010101" pitchFamily="2" charset="-122"/>
              </a:rPr>
              <a:t>一次就可以完成多位加法运算</a:t>
            </a: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188" y="2728913"/>
            <a:ext cx="6143625" cy="209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15"/>
          <p:cNvGrpSpPr/>
          <p:nvPr/>
        </p:nvGrpSpPr>
        <p:grpSpPr bwMode="auto">
          <a:xfrm>
            <a:off x="1624013" y="4156075"/>
            <a:ext cx="6805612" cy="2273300"/>
            <a:chOff x="1624039" y="3713150"/>
            <a:chExt cx="6805613" cy="2273316"/>
          </a:xfrm>
        </p:grpSpPr>
        <p:pic>
          <p:nvPicPr>
            <p:cNvPr id="55305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4039" y="4529141"/>
              <a:ext cx="6734175" cy="145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1" name="直接箭头连接符 10"/>
            <p:cNvCxnSpPr/>
            <p:nvPr/>
          </p:nvCxnSpPr>
          <p:spPr>
            <a:xfrm rot="5400000" flipH="1" flipV="1">
              <a:off x="2928167" y="4140984"/>
              <a:ext cx="857256" cy="1588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/>
            <p:nvPr/>
          </p:nvCxnSpPr>
          <p:spPr>
            <a:xfrm rot="5400000" flipH="1" flipV="1">
              <a:off x="4714106" y="4140984"/>
              <a:ext cx="857256" cy="1587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/>
            <p:nvPr/>
          </p:nvCxnSpPr>
          <p:spPr>
            <a:xfrm rot="5400000" flipH="1" flipV="1">
              <a:off x="6357168" y="4140984"/>
              <a:ext cx="857256" cy="1588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/>
            <p:nvPr/>
          </p:nvCxnSpPr>
          <p:spPr>
            <a:xfrm rot="5400000" flipH="1" flipV="1">
              <a:off x="7714481" y="4356887"/>
              <a:ext cx="428628" cy="1588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/>
            <p:nvPr/>
          </p:nvCxnSpPr>
          <p:spPr>
            <a:xfrm>
              <a:off x="7929590" y="4140191"/>
              <a:ext cx="500062" cy="1587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3857625" y="5229225"/>
            <a:ext cx="17319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超前进位链</a:t>
            </a:r>
            <a:endParaRPr lang="zh-CN" altLang="en-US" sz="2400"/>
          </a:p>
        </p:txBody>
      </p:sp>
      <p:graphicFrame>
        <p:nvGraphicFramePr>
          <p:cNvPr id="47110" name="Object 6"/>
          <p:cNvGraphicFramePr>
            <a:graphicFrameLocks noChangeAspect="1"/>
          </p:cNvGraphicFramePr>
          <p:nvPr/>
        </p:nvGraphicFramePr>
        <p:xfrm>
          <a:off x="1428750" y="2081213"/>
          <a:ext cx="44291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13" name="公式" r:id="rId3" imgW="2463800" imgH="228600" progId="Equation.3">
                  <p:embed/>
                </p:oleObj>
              </mc:Choice>
              <mc:Fallback>
                <p:oleObj name="公式" r:id="rId3" imgW="24638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2081213"/>
                        <a:ext cx="44291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4" name="矩形 1"/>
          <p:cNvSpPr>
            <a:spLocks noChangeArrowheads="1"/>
          </p:cNvSpPr>
          <p:nvPr/>
        </p:nvSpPr>
        <p:spPr bwMode="auto">
          <a:xfrm>
            <a:off x="6156325" y="58738"/>
            <a:ext cx="28559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§4.3</a:t>
            </a:r>
            <a:r>
              <a:rPr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常用的</a:t>
            </a:r>
            <a:r>
              <a:rPr kumimoji="1"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</a:t>
            </a:r>
            <a:endParaRPr lang="zh-CN" altLang="en-US" sz="18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7"/>
          <p:cNvSpPr txBox="1">
            <a:spLocks noChangeArrowheads="1"/>
          </p:cNvSpPr>
          <p:nvPr/>
        </p:nvSpPr>
        <p:spPr bwMode="auto">
          <a:xfrm>
            <a:off x="1876425" y="1395413"/>
            <a:ext cx="6553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r>
              <a:rPr kumimoji="1" lang="en-US" altLang="zh-CN" sz="2400" b="1" i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kumimoji="1" lang="zh-CN" altLang="en-US" sz="2400" b="1" i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400" b="1" i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i-1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,A</a:t>
            </a:r>
            <a:r>
              <a:rPr kumimoji="1" lang="en-US" altLang="zh-CN" sz="2400" b="1" i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i-2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,......,A</a:t>
            </a:r>
            <a:r>
              <a:rPr kumimoji="1" lang="en-US" altLang="zh-CN" sz="2400" b="1" i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；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CN" sz="2400" b="1" i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i-1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,B</a:t>
            </a:r>
            <a:r>
              <a:rPr kumimoji="1" lang="en-US" altLang="zh-CN" sz="2400" b="1" i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i-2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,......, B</a:t>
            </a:r>
            <a:r>
              <a:rPr kumimoji="1" lang="en-US" altLang="zh-CN" sz="2400" b="1" i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kumimoji="1" lang="en-US" altLang="zh-CN" sz="2400" b="1" i="1" baseline="-25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10"/>
          <p:cNvSpPr txBox="1">
            <a:spLocks noChangeArrowheads="1"/>
          </p:cNvSpPr>
          <p:nvPr/>
        </p:nvSpPr>
        <p:spPr bwMode="auto">
          <a:xfrm>
            <a:off x="1428750" y="4448175"/>
            <a:ext cx="6599238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G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+P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i-1 </a:t>
            </a:r>
            <a:endParaRPr kumimoji="1" lang="en-US" altLang="zh-CN" sz="2000" b="1" i="1" baseline="-250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G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+P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(G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i-1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+P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i-1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i-2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endParaRPr kumimoji="1" lang="en-US" altLang="zh-CN" sz="2000" b="1" i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. . . . . . </a:t>
            </a:r>
            <a:endParaRPr kumimoji="1" lang="en-US" altLang="zh-CN" sz="2000" b="1" i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G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+P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i-1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+P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i-1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i-2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. . . +P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i-1 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. . P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+P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i-1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. .P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kumimoji="1" lang="en-US" altLang="zh-CN" sz="2000" b="1" i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143000" y="857250"/>
            <a:ext cx="7429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进位 </a:t>
            </a:r>
            <a:r>
              <a:rPr kumimoji="1"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r>
              <a:rPr kumimoji="1" lang="en-US" altLang="zh-CN" sz="2400" b="1" i="1" baseline="-25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 </a:t>
            </a:r>
            <a:r>
              <a:rPr kumimoji="1"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400" b="1" i="1" baseline="-25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i-1</a:t>
            </a:r>
            <a:r>
              <a:rPr kumimoji="1"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,A</a:t>
            </a:r>
            <a:r>
              <a:rPr kumimoji="1" lang="en-US" altLang="zh-CN" sz="2400" b="1" i="1" baseline="-25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i-2</a:t>
            </a:r>
            <a:r>
              <a:rPr kumimoji="1"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,......,A</a:t>
            </a:r>
            <a:r>
              <a:rPr kumimoji="1" lang="en-US" altLang="zh-CN" sz="2400" b="1" i="1" baseline="-25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及 </a:t>
            </a:r>
            <a:r>
              <a:rPr kumimoji="1"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CN" sz="2400" b="1" i="1" baseline="-25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i-1</a:t>
            </a:r>
            <a:r>
              <a:rPr kumimoji="1"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,B</a:t>
            </a:r>
            <a:r>
              <a:rPr kumimoji="1" lang="en-US" altLang="zh-CN" sz="2400" b="1" i="1" baseline="-25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i-2</a:t>
            </a:r>
            <a:r>
              <a:rPr kumimoji="1"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,......, B</a:t>
            </a:r>
            <a:r>
              <a:rPr kumimoji="1" lang="en-US" altLang="zh-CN" sz="2400" b="1" i="1" baseline="-25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的函数。</a:t>
            </a:r>
            <a:endParaRPr lang="zh-CN" altLang="en-US" sz="240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928688" y="2286000"/>
            <a:ext cx="65532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None/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1" lang="zh-CN" altLang="en-US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+(A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)CI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endParaRPr kumimoji="1" lang="en-US" altLang="zh-CN" sz="2000" b="1" i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kumimoji="1" lang="zh-CN" altLang="en-US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令    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zh-CN" altLang="en-US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=(A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en-US" altLang="zh-CN" sz="2000" b="1" i="1" baseline="-250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kumimoji="1" lang="zh-CN" altLang="en-US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    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=G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+P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=G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+P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i-1</a:t>
            </a:r>
            <a:endParaRPr kumimoji="1" lang="en-US" altLang="zh-CN" sz="2000" b="1" i="1" baseline="-250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326" name="矩形 6"/>
          <p:cNvSpPr>
            <a:spLocks noChangeArrowheads="1"/>
          </p:cNvSpPr>
          <p:nvPr/>
        </p:nvSpPr>
        <p:spPr bwMode="auto">
          <a:xfrm>
            <a:off x="857250" y="285750"/>
            <a:ext cx="19605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kumimoji="1"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进位链函数</a:t>
            </a:r>
            <a:endParaRPr kumimoji="1" lang="en-US" altLang="zh-CN" sz="24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1071563" y="1857375"/>
            <a:ext cx="1152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006600"/>
                </a:solidFill>
              </a:rPr>
              <a:t>分析：</a:t>
            </a:r>
            <a:endParaRPr lang="zh-CN" altLang="en-US" sz="2400" b="1">
              <a:solidFill>
                <a:srgbClr val="006600"/>
              </a:solidFill>
            </a:endParaRP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1428750" y="4000500"/>
            <a:ext cx="2428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006600"/>
                </a:solidFill>
              </a:rPr>
              <a:t>展开后可得：</a:t>
            </a:r>
            <a:endParaRPr lang="zh-CN" altLang="en-US" sz="2400" b="1">
              <a:solidFill>
                <a:srgbClr val="006600"/>
              </a:solidFill>
            </a:endParaRPr>
          </a:p>
        </p:txBody>
      </p:sp>
      <p:sp>
        <p:nvSpPr>
          <p:cNvPr id="56329" name="矩形 1"/>
          <p:cNvSpPr>
            <a:spLocks noChangeArrowheads="1"/>
          </p:cNvSpPr>
          <p:nvPr/>
        </p:nvSpPr>
        <p:spPr bwMode="auto">
          <a:xfrm>
            <a:off x="6156325" y="58738"/>
            <a:ext cx="28559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§4.3</a:t>
            </a:r>
            <a:r>
              <a:rPr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常用的</a:t>
            </a:r>
            <a:r>
              <a:rPr kumimoji="1"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</a:t>
            </a:r>
            <a:endParaRPr lang="zh-CN" altLang="en-US" sz="18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8" grpId="0"/>
      <p:bldP spid="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矩形 1"/>
          <p:cNvSpPr>
            <a:spLocks noChangeArrowheads="1"/>
          </p:cNvSpPr>
          <p:nvPr/>
        </p:nvSpPr>
        <p:spPr bwMode="auto">
          <a:xfrm>
            <a:off x="214313" y="142875"/>
            <a:ext cx="41894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kumimoji="1"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位超前进位加法器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74LS283</a:t>
            </a:r>
            <a:endParaRPr kumimoji="1" lang="en-US" altLang="zh-CN" sz="240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1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928688"/>
            <a:ext cx="3844925" cy="521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5000625" y="785813"/>
            <a:ext cx="4000500" cy="168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优点：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工作速度快，每位的</a:t>
            </a: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及最后的</a:t>
            </a: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进位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基本同时产生。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000625" y="2513013"/>
            <a:ext cx="29051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缺点：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电路复杂。</a:t>
            </a:r>
            <a:endParaRPr lang="zh-CN" altLang="en-US" sz="2400"/>
          </a:p>
        </p:txBody>
      </p:sp>
      <p:grpSp>
        <p:nvGrpSpPr>
          <p:cNvPr id="2" name="组合 8"/>
          <p:cNvGrpSpPr/>
          <p:nvPr/>
        </p:nvGrpSpPr>
        <p:grpSpPr bwMode="auto">
          <a:xfrm>
            <a:off x="5072063" y="3286125"/>
            <a:ext cx="2071687" cy="3367088"/>
            <a:chOff x="5072066" y="3286127"/>
            <a:chExt cx="2071783" cy="3367094"/>
          </a:xfrm>
        </p:grpSpPr>
        <p:pic>
          <p:nvPicPr>
            <p:cNvPr id="5735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4020" y="4000505"/>
              <a:ext cx="1609829" cy="26527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359" name="矩形 6"/>
            <p:cNvSpPr>
              <a:spLocks noChangeArrowheads="1"/>
            </p:cNvSpPr>
            <p:nvPr/>
          </p:nvSpPr>
          <p:spPr bwMode="auto">
            <a:xfrm>
              <a:off x="5072066" y="3286127"/>
              <a:ext cx="165141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spcBef>
                  <a:spcPct val="0"/>
                </a:spcBef>
                <a:buFont typeface="Wingdings" panose="05000000000000000000" pitchFamily="2" charset="2"/>
                <a:buChar char="l"/>
              </a:pPr>
              <a:r>
                <a:rPr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逻辑符号</a:t>
              </a:r>
              <a:endPara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组合 14"/>
          <p:cNvGrpSpPr/>
          <p:nvPr/>
        </p:nvGrpSpPr>
        <p:grpSpPr bwMode="auto">
          <a:xfrm>
            <a:off x="1000125" y="714375"/>
            <a:ext cx="2857500" cy="5715000"/>
            <a:chOff x="1000101" y="714356"/>
            <a:chExt cx="2857518" cy="5715040"/>
          </a:xfrm>
        </p:grpSpPr>
        <p:cxnSp>
          <p:nvCxnSpPr>
            <p:cNvPr id="10" name="直接连接符 9"/>
            <p:cNvCxnSpPr/>
            <p:nvPr/>
          </p:nvCxnSpPr>
          <p:spPr>
            <a:xfrm rot="16200000" flipH="1">
              <a:off x="-1214477" y="3571876"/>
              <a:ext cx="5715040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 rot="16200000" flipH="1">
              <a:off x="-32" y="3571876"/>
              <a:ext cx="5715040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rot="16200000" flipH="1">
              <a:off x="500034" y="3571876"/>
              <a:ext cx="5715040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rot="16200000" flipH="1">
              <a:off x="-1857419" y="3571876"/>
              <a:ext cx="5715040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6200000" flipH="1">
              <a:off x="1000099" y="3571876"/>
              <a:ext cx="5715040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352" name="矩形 1"/>
          <p:cNvSpPr>
            <a:spLocks noChangeArrowheads="1"/>
          </p:cNvSpPr>
          <p:nvPr/>
        </p:nvSpPr>
        <p:spPr bwMode="auto">
          <a:xfrm>
            <a:off x="6156325" y="58738"/>
            <a:ext cx="28559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§4.3</a:t>
            </a:r>
            <a:r>
              <a:rPr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常用的</a:t>
            </a:r>
            <a:r>
              <a:rPr kumimoji="1"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</a:t>
            </a:r>
            <a:endParaRPr lang="zh-CN" altLang="en-US" sz="18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6"/>
          <p:cNvSpPr txBox="1">
            <a:spLocks noChangeArrowheads="1"/>
          </p:cNvSpPr>
          <p:nvPr/>
        </p:nvSpPr>
        <p:spPr bwMode="auto">
          <a:xfrm>
            <a:off x="500063" y="123825"/>
            <a:ext cx="612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五、数值比较器（</a:t>
            </a:r>
            <a:r>
              <a:rPr lang="en-US" altLang="zh-CN" sz="28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Comparator</a:t>
            </a: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800" b="1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18"/>
          <p:cNvGrpSpPr/>
          <p:nvPr/>
        </p:nvGrpSpPr>
        <p:grpSpPr bwMode="auto">
          <a:xfrm>
            <a:off x="714375" y="857250"/>
            <a:ext cx="7715250" cy="1000125"/>
            <a:chOff x="714375" y="785813"/>
            <a:chExt cx="7715250" cy="1000125"/>
          </a:xfrm>
        </p:grpSpPr>
        <p:sp>
          <p:nvSpPr>
            <p:cNvPr id="58388" name="Rectangle 4"/>
            <p:cNvSpPr>
              <a:spLocks noChangeArrowheads="1"/>
            </p:cNvSpPr>
            <p:nvPr/>
          </p:nvSpPr>
          <p:spPr bwMode="auto">
            <a:xfrm>
              <a:off x="755650" y="868363"/>
              <a:ext cx="7632700" cy="830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用来将两个</a:t>
              </a:r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同样位数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的二进制数</a:t>
              </a: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、</a:t>
              </a: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进行比较，并能判别其大小关系的逻辑器件，叫做数值比较器。</a:t>
              </a:r>
              <a:endPara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389" name="Rectangle 16"/>
            <p:cNvSpPr>
              <a:spLocks noChangeArrowheads="1"/>
            </p:cNvSpPr>
            <p:nvPr/>
          </p:nvSpPr>
          <p:spPr bwMode="auto">
            <a:xfrm>
              <a:off x="714375" y="785813"/>
              <a:ext cx="7715250" cy="1000125"/>
            </a:xfrm>
            <a:prstGeom prst="rect">
              <a:avLst/>
            </a:prstGeom>
            <a:noFill/>
            <a:ln w="57150" cmpd="thickThin">
              <a:solidFill>
                <a:srgbClr val="33CC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endPara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3560" name="矩形 17"/>
          <p:cNvSpPr>
            <a:spLocks noChangeArrowheads="1"/>
          </p:cNvSpPr>
          <p:nvPr/>
        </p:nvSpPr>
        <p:spPr bwMode="auto">
          <a:xfrm>
            <a:off x="714375" y="2143125"/>
            <a:ext cx="26606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一位数值比较器</a:t>
            </a:r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61" name="Text Box 7"/>
          <p:cNvSpPr txBox="1">
            <a:spLocks noChangeArrowheads="1"/>
          </p:cNvSpPr>
          <p:nvPr/>
        </p:nvSpPr>
        <p:spPr bwMode="auto">
          <a:xfrm>
            <a:off x="939800" y="2603500"/>
            <a:ext cx="3989388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① </a:t>
            </a: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A&gt;B</a:t>
            </a: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A=1</a:t>
            </a: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B=0</a:t>
            </a: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）；</a:t>
            </a:r>
            <a:endParaRPr kumimoji="1"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② </a:t>
            </a: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A&lt;B</a:t>
            </a: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A=0</a:t>
            </a: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B=1</a:t>
            </a: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）；</a:t>
            </a:r>
            <a:endParaRPr kumimoji="1"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③ </a:t>
            </a: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A=B</a:t>
            </a: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A=B=0</a:t>
            </a: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A=B=1</a:t>
            </a: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）；</a:t>
            </a:r>
            <a:endParaRPr kumimoji="1"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组合 19"/>
          <p:cNvGrpSpPr/>
          <p:nvPr/>
        </p:nvGrpSpPr>
        <p:grpSpPr bwMode="auto">
          <a:xfrm>
            <a:off x="4857750" y="2651125"/>
            <a:ext cx="2928938" cy="1639888"/>
            <a:chOff x="4857750" y="2436810"/>
            <a:chExt cx="2928960" cy="1639891"/>
          </a:xfrm>
        </p:grpSpPr>
        <p:grpSp>
          <p:nvGrpSpPr>
            <p:cNvPr id="58377" name="组合 17"/>
            <p:cNvGrpSpPr/>
            <p:nvPr/>
          </p:nvGrpSpPr>
          <p:grpSpPr bwMode="auto">
            <a:xfrm>
              <a:off x="6132535" y="3571876"/>
              <a:ext cx="1654175" cy="504825"/>
              <a:chOff x="6132535" y="3571876"/>
              <a:chExt cx="1654175" cy="504825"/>
            </a:xfrm>
          </p:grpSpPr>
          <p:grpSp>
            <p:nvGrpSpPr>
              <p:cNvPr id="58382" name="组合 16"/>
              <p:cNvGrpSpPr/>
              <p:nvPr/>
            </p:nvGrpSpPr>
            <p:grpSpPr bwMode="auto">
              <a:xfrm>
                <a:off x="6132535" y="3571876"/>
                <a:ext cx="1654175" cy="504825"/>
                <a:chOff x="6132535" y="3571876"/>
                <a:chExt cx="1654175" cy="504825"/>
              </a:xfrm>
            </p:grpSpPr>
            <p:graphicFrame>
              <p:nvGraphicFramePr>
                <p:cNvPr id="58386" name="Object 15"/>
                <p:cNvGraphicFramePr>
                  <a:graphicFrameLocks noChangeAspect="1"/>
                </p:cNvGraphicFramePr>
                <p:nvPr/>
              </p:nvGraphicFramePr>
              <p:xfrm>
                <a:off x="6132535" y="3571876"/>
                <a:ext cx="1654175" cy="5048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8396" name="公式" r:id="rId1" imgW="1014730" imgH="137795" progId="Equation.3">
                        <p:embed/>
                      </p:oleObj>
                    </mc:Choice>
                    <mc:Fallback>
                      <p:oleObj name="公式" r:id="rId1" imgW="1014730" imgH="137795" progId="Equation.3">
                        <p:embed/>
                        <p:pic>
                          <p:nvPicPr>
                            <p:cNvPr id="0" name="Object 1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132535" y="3571876"/>
                              <a:ext cx="1654175" cy="50482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6" name="矩形 15"/>
                <p:cNvSpPr/>
                <p:nvPr/>
              </p:nvSpPr>
              <p:spPr>
                <a:xfrm>
                  <a:off x="7286643" y="3571875"/>
                  <a:ext cx="214315" cy="357188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</p:grpSp>
          <p:grpSp>
            <p:nvGrpSpPr>
              <p:cNvPr id="58383" name="组合 29"/>
              <p:cNvGrpSpPr/>
              <p:nvPr/>
            </p:nvGrpSpPr>
            <p:grpSpPr bwMode="auto">
              <a:xfrm>
                <a:off x="7286644" y="3676652"/>
                <a:ext cx="215900" cy="215900"/>
                <a:chOff x="5395918" y="3551238"/>
                <a:chExt cx="216000" cy="216000"/>
              </a:xfrm>
            </p:grpSpPr>
            <p:sp>
              <p:nvSpPr>
                <p:cNvPr id="27" name="椭圆 26"/>
                <p:cNvSpPr/>
                <p:nvPr/>
              </p:nvSpPr>
              <p:spPr>
                <a:xfrm>
                  <a:off x="5395917" y="3551236"/>
                  <a:ext cx="216002" cy="216000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sp>
              <p:nvSpPr>
                <p:cNvPr id="28" name="椭圆 27"/>
                <p:cNvSpPr/>
                <p:nvPr/>
              </p:nvSpPr>
              <p:spPr>
                <a:xfrm>
                  <a:off x="5488035" y="3643354"/>
                  <a:ext cx="36530" cy="36529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</p:grpSp>
        </p:grpSp>
        <p:sp>
          <p:nvSpPr>
            <p:cNvPr id="33" name="右箭头 32"/>
            <p:cNvSpPr/>
            <p:nvPr/>
          </p:nvSpPr>
          <p:spPr>
            <a:xfrm>
              <a:off x="4857750" y="3163886"/>
              <a:ext cx="571504" cy="21431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4" name="左大括号 33"/>
            <p:cNvSpPr/>
            <p:nvPr/>
          </p:nvSpPr>
          <p:spPr>
            <a:xfrm>
              <a:off x="5786445" y="2643185"/>
              <a:ext cx="214314" cy="1214440"/>
            </a:xfrm>
            <a:prstGeom prst="leftBrace">
              <a:avLst>
                <a:gd name="adj1" fmla="val 58111"/>
                <a:gd name="adj2" fmla="val 51112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aphicFrame>
          <p:nvGraphicFramePr>
            <p:cNvPr id="58380" name="Object 13"/>
            <p:cNvGraphicFramePr>
              <a:graphicFrameLocks noChangeAspect="1"/>
            </p:cNvGraphicFramePr>
            <p:nvPr/>
          </p:nvGraphicFramePr>
          <p:xfrm>
            <a:off x="6154760" y="2436810"/>
            <a:ext cx="1560512" cy="563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397" name="公式" r:id="rId3" imgW="789305" imgH="175260" progId="Equation.3">
                    <p:embed/>
                  </p:oleObj>
                </mc:Choice>
                <mc:Fallback>
                  <p:oleObj name="公式" r:id="rId3" imgW="789305" imgH="17526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54760" y="2436810"/>
                          <a:ext cx="1560512" cy="5635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381" name="Object 14"/>
            <p:cNvGraphicFramePr>
              <a:graphicFrameLocks noChangeAspect="1"/>
            </p:cNvGraphicFramePr>
            <p:nvPr/>
          </p:nvGraphicFramePr>
          <p:xfrm>
            <a:off x="6143636" y="3000372"/>
            <a:ext cx="1514475" cy="554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398" name="公式" r:id="rId5" imgW="776605" imgH="175260" progId="Equation.3">
                    <p:embed/>
                  </p:oleObj>
                </mc:Choice>
                <mc:Fallback>
                  <p:oleObj name="公式" r:id="rId5" imgW="776605" imgH="17526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43636" y="3000372"/>
                          <a:ext cx="1514475" cy="5540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3568" name="Picture 1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" y="4643438"/>
            <a:ext cx="7462838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6" name="矩形 1"/>
          <p:cNvSpPr>
            <a:spLocks noChangeArrowheads="1"/>
          </p:cNvSpPr>
          <p:nvPr/>
        </p:nvSpPr>
        <p:spPr bwMode="auto">
          <a:xfrm>
            <a:off x="6156325" y="58738"/>
            <a:ext cx="28559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§4.3</a:t>
            </a:r>
            <a:r>
              <a:rPr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常用的</a:t>
            </a:r>
            <a:r>
              <a:rPr kumimoji="1"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</a:t>
            </a:r>
            <a:endParaRPr lang="zh-CN" altLang="en-US" sz="18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60" grpId="0"/>
      <p:bldP spid="2356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13"/>
          <p:cNvSpPr txBox="1">
            <a:spLocks noChangeArrowheads="1"/>
          </p:cNvSpPr>
          <p:nvPr/>
        </p:nvSpPr>
        <p:spPr bwMode="auto">
          <a:xfrm>
            <a:off x="428625" y="285750"/>
            <a:ext cx="3600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多位数值比较器  </a:t>
            </a:r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117"/>
          <p:cNvGrpSpPr/>
          <p:nvPr/>
        </p:nvGrpSpPr>
        <p:grpSpPr bwMode="auto">
          <a:xfrm>
            <a:off x="1481138" y="3411538"/>
            <a:ext cx="3644900" cy="1285875"/>
            <a:chOff x="1285852" y="2239954"/>
            <a:chExt cx="3645024" cy="1285884"/>
          </a:xfrm>
        </p:grpSpPr>
        <p:grpSp>
          <p:nvGrpSpPr>
            <p:cNvPr id="59439" name="组合 78"/>
            <p:cNvGrpSpPr/>
            <p:nvPr/>
          </p:nvGrpSpPr>
          <p:grpSpPr bwMode="auto">
            <a:xfrm>
              <a:off x="2357422" y="2239954"/>
              <a:ext cx="2573454" cy="1285884"/>
              <a:chOff x="3570182" y="1571612"/>
              <a:chExt cx="2573454" cy="1285884"/>
            </a:xfrm>
          </p:grpSpPr>
          <p:sp>
            <p:nvSpPr>
              <p:cNvPr id="59443" name="AutoShape 29"/>
              <p:cNvSpPr/>
              <p:nvPr/>
            </p:nvSpPr>
            <p:spPr bwMode="auto">
              <a:xfrm>
                <a:off x="3570182" y="1714488"/>
                <a:ext cx="216000" cy="972000"/>
              </a:xfrm>
              <a:prstGeom prst="leftBrace">
                <a:avLst>
                  <a:gd name="adj1" fmla="val 58333"/>
                  <a:gd name="adj2" fmla="val 47273"/>
                </a:avLst>
              </a:prstGeom>
              <a:noFill/>
              <a:ln w="38100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9444" name="组合 69"/>
              <p:cNvGrpSpPr/>
              <p:nvPr/>
            </p:nvGrpSpPr>
            <p:grpSpPr bwMode="auto">
              <a:xfrm>
                <a:off x="3786182" y="1571612"/>
                <a:ext cx="2357454" cy="1285884"/>
                <a:chOff x="785786" y="1357298"/>
                <a:chExt cx="2357454" cy="1285884"/>
              </a:xfrm>
            </p:grpSpPr>
            <p:sp>
              <p:nvSpPr>
                <p:cNvPr id="59445" name="Rectangle 38"/>
                <p:cNvSpPr>
                  <a:spLocks noChangeArrowheads="1"/>
                </p:cNvSpPr>
                <p:nvPr/>
              </p:nvSpPr>
              <p:spPr bwMode="auto">
                <a:xfrm>
                  <a:off x="2428860" y="1785926"/>
                  <a:ext cx="688009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0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A&lt;B</a:t>
                  </a:r>
                  <a:endParaRPr kumimoji="1"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9446" name="Rectangle 33"/>
                <p:cNvSpPr>
                  <a:spLocks noChangeArrowheads="1"/>
                </p:cNvSpPr>
                <p:nvPr/>
              </p:nvSpPr>
              <p:spPr bwMode="auto">
                <a:xfrm>
                  <a:off x="785786" y="1814444"/>
                  <a:ext cx="1050288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0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kumimoji="1" lang="en-US" altLang="zh-CN" sz="2000" b="1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kumimoji="1" lang="en-US" altLang="zh-CN" sz="20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&lt; B</a:t>
                  </a:r>
                  <a:r>
                    <a:rPr kumimoji="1" lang="en-US" altLang="zh-CN" sz="2000" b="1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kumimoji="1" lang="en-US" altLang="zh-CN" sz="20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kumimoji="1"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9447" name="Line 18"/>
                <p:cNvSpPr>
                  <a:spLocks noChangeShapeType="1"/>
                </p:cNvSpPr>
                <p:nvPr/>
              </p:nvSpPr>
              <p:spPr bwMode="auto">
                <a:xfrm>
                  <a:off x="1785918" y="1571612"/>
                  <a:ext cx="609600" cy="0"/>
                </a:xfrm>
                <a:prstGeom prst="line">
                  <a:avLst/>
                </a:prstGeom>
                <a:noFill/>
                <a:ln w="50800">
                  <a:solidFill>
                    <a:srgbClr val="C000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448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785786" y="1357298"/>
                  <a:ext cx="107157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0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kumimoji="1" lang="en-US" altLang="zh-CN" sz="2000" b="1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kumimoji="1" lang="en-US" altLang="zh-CN" sz="20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&gt; B</a:t>
                  </a:r>
                  <a:r>
                    <a:rPr kumimoji="1" lang="en-US" altLang="zh-CN" sz="2000" b="1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kumimoji="1"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9449" name="Rectangle 35"/>
                <p:cNvSpPr>
                  <a:spLocks noChangeArrowheads="1"/>
                </p:cNvSpPr>
                <p:nvPr/>
              </p:nvSpPr>
              <p:spPr bwMode="auto">
                <a:xfrm>
                  <a:off x="785786" y="2243072"/>
                  <a:ext cx="986167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0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kumimoji="1" lang="en-US" altLang="zh-CN" sz="2000" b="1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kumimoji="1" lang="en-US" altLang="zh-CN" sz="20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= B</a:t>
                  </a:r>
                  <a:r>
                    <a:rPr kumimoji="1" lang="en-US" altLang="zh-CN" sz="2000" b="1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kumimoji="1" lang="en-US" altLang="zh-CN" sz="2000" b="1" baseline="-25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9450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2428860" y="1357298"/>
                  <a:ext cx="71438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kumimoji="1" lang="en-US" altLang="zh-CN" sz="20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A&gt;B</a:t>
                  </a:r>
                  <a:r>
                    <a:rPr kumimoji="1" lang="en-US" altLang="zh-CN" sz="2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kumimoji="1"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9451" name="Line 18"/>
                <p:cNvSpPr>
                  <a:spLocks noChangeShapeType="1"/>
                </p:cNvSpPr>
                <p:nvPr/>
              </p:nvSpPr>
              <p:spPr bwMode="auto">
                <a:xfrm>
                  <a:off x="1785918" y="2000240"/>
                  <a:ext cx="609600" cy="0"/>
                </a:xfrm>
                <a:prstGeom prst="line">
                  <a:avLst/>
                </a:prstGeom>
                <a:noFill/>
                <a:ln w="50800">
                  <a:solidFill>
                    <a:srgbClr val="0066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9440" name="组合 80"/>
            <p:cNvGrpSpPr/>
            <p:nvPr/>
          </p:nvGrpSpPr>
          <p:grpSpPr bwMode="auto">
            <a:xfrm>
              <a:off x="1285852" y="2571744"/>
              <a:ext cx="1071570" cy="285752"/>
              <a:chOff x="1285852" y="2571744"/>
              <a:chExt cx="1571636" cy="285752"/>
            </a:xfrm>
          </p:grpSpPr>
          <p:sp>
            <p:nvSpPr>
              <p:cNvPr id="59441" name="Line 18"/>
              <p:cNvSpPr>
                <a:spLocks noChangeShapeType="1"/>
              </p:cNvSpPr>
              <p:nvPr/>
            </p:nvSpPr>
            <p:spPr bwMode="auto">
              <a:xfrm flipV="1">
                <a:off x="1285852" y="2857496"/>
                <a:ext cx="1571636" cy="0"/>
              </a:xfrm>
              <a:prstGeom prst="line">
                <a:avLst/>
              </a:prstGeom>
              <a:noFill/>
              <a:ln w="50800">
                <a:solidFill>
                  <a:srgbClr val="0000FF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9442" name="Line 18"/>
              <p:cNvSpPr>
                <a:spLocks noChangeShapeType="1"/>
              </p:cNvSpPr>
              <p:nvPr/>
            </p:nvSpPr>
            <p:spPr bwMode="auto">
              <a:xfrm>
                <a:off x="1285852" y="2571744"/>
                <a:ext cx="0" cy="285752"/>
              </a:xfrm>
              <a:prstGeom prst="line">
                <a:avLst/>
              </a:prstGeom>
              <a:noFill/>
              <a:ln w="50800">
                <a:solidFill>
                  <a:srgbClr val="0000FF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组合 118"/>
          <p:cNvGrpSpPr/>
          <p:nvPr/>
        </p:nvGrpSpPr>
        <p:grpSpPr bwMode="auto">
          <a:xfrm>
            <a:off x="3267075" y="4340225"/>
            <a:ext cx="3644900" cy="1285875"/>
            <a:chOff x="3071802" y="3168648"/>
            <a:chExt cx="3645024" cy="1285884"/>
          </a:xfrm>
        </p:grpSpPr>
        <p:grpSp>
          <p:nvGrpSpPr>
            <p:cNvPr id="59426" name="组合 85"/>
            <p:cNvGrpSpPr/>
            <p:nvPr/>
          </p:nvGrpSpPr>
          <p:grpSpPr bwMode="auto">
            <a:xfrm>
              <a:off x="4143372" y="3168648"/>
              <a:ext cx="2573454" cy="1285884"/>
              <a:chOff x="3570182" y="1571612"/>
              <a:chExt cx="2573454" cy="1285884"/>
            </a:xfrm>
          </p:grpSpPr>
          <p:sp>
            <p:nvSpPr>
              <p:cNvPr id="59430" name="AutoShape 29"/>
              <p:cNvSpPr/>
              <p:nvPr/>
            </p:nvSpPr>
            <p:spPr bwMode="auto">
              <a:xfrm>
                <a:off x="3570182" y="1714488"/>
                <a:ext cx="216000" cy="972000"/>
              </a:xfrm>
              <a:prstGeom prst="leftBrace">
                <a:avLst>
                  <a:gd name="adj1" fmla="val 58333"/>
                  <a:gd name="adj2" fmla="val 47273"/>
                </a:avLst>
              </a:prstGeom>
              <a:noFill/>
              <a:ln w="38100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9431" name="组合 69"/>
              <p:cNvGrpSpPr/>
              <p:nvPr/>
            </p:nvGrpSpPr>
            <p:grpSpPr bwMode="auto">
              <a:xfrm>
                <a:off x="3786182" y="1571612"/>
                <a:ext cx="2357454" cy="1285884"/>
                <a:chOff x="785786" y="1357298"/>
                <a:chExt cx="2357454" cy="1285884"/>
              </a:xfrm>
            </p:grpSpPr>
            <p:sp>
              <p:nvSpPr>
                <p:cNvPr id="59432" name="Rectangle 38"/>
                <p:cNvSpPr>
                  <a:spLocks noChangeArrowheads="1"/>
                </p:cNvSpPr>
                <p:nvPr/>
              </p:nvSpPr>
              <p:spPr bwMode="auto">
                <a:xfrm>
                  <a:off x="2428860" y="1785926"/>
                  <a:ext cx="688009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0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A&lt;B</a:t>
                  </a:r>
                  <a:endParaRPr kumimoji="1"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9433" name="Rectangle 33"/>
                <p:cNvSpPr>
                  <a:spLocks noChangeArrowheads="1"/>
                </p:cNvSpPr>
                <p:nvPr/>
              </p:nvSpPr>
              <p:spPr bwMode="auto">
                <a:xfrm>
                  <a:off x="785786" y="1814444"/>
                  <a:ext cx="986167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0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kumimoji="1" lang="en-US" altLang="zh-CN" sz="2000" b="1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r>
                    <a:rPr kumimoji="1" lang="en-US" altLang="zh-CN" sz="20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&lt; B</a:t>
                  </a:r>
                  <a:r>
                    <a:rPr kumimoji="1" lang="en-US" altLang="zh-CN" sz="2000" b="1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kumimoji="1"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9434" name="Line 18"/>
                <p:cNvSpPr>
                  <a:spLocks noChangeShapeType="1"/>
                </p:cNvSpPr>
                <p:nvPr/>
              </p:nvSpPr>
              <p:spPr bwMode="auto">
                <a:xfrm>
                  <a:off x="1785918" y="1571612"/>
                  <a:ext cx="609600" cy="0"/>
                </a:xfrm>
                <a:prstGeom prst="line">
                  <a:avLst/>
                </a:prstGeom>
                <a:noFill/>
                <a:ln w="50800">
                  <a:solidFill>
                    <a:srgbClr val="C000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435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785786" y="1357298"/>
                  <a:ext cx="107157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0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kumimoji="1" lang="en-US" altLang="zh-CN" sz="2000" b="1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r>
                    <a:rPr kumimoji="1" lang="en-US" altLang="zh-CN" sz="20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&gt; B</a:t>
                  </a:r>
                  <a:r>
                    <a:rPr kumimoji="1" lang="en-US" altLang="zh-CN" sz="2000" b="1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kumimoji="1"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9436" name="Rectangle 35"/>
                <p:cNvSpPr>
                  <a:spLocks noChangeArrowheads="1"/>
                </p:cNvSpPr>
                <p:nvPr/>
              </p:nvSpPr>
              <p:spPr bwMode="auto">
                <a:xfrm>
                  <a:off x="785786" y="2243072"/>
                  <a:ext cx="986167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0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kumimoji="1" lang="en-US" altLang="zh-CN" sz="2000" b="1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r>
                    <a:rPr kumimoji="1" lang="en-US" altLang="zh-CN" sz="20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= B</a:t>
                  </a:r>
                  <a:r>
                    <a:rPr kumimoji="1" lang="en-US" altLang="zh-CN" sz="2000" b="1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kumimoji="1" lang="en-US" altLang="zh-CN" sz="2000" b="1" baseline="-25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9437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2428860" y="1357298"/>
                  <a:ext cx="71438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kumimoji="1" lang="en-US" altLang="zh-CN" sz="20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A&gt;B</a:t>
                  </a:r>
                  <a:r>
                    <a:rPr kumimoji="1" lang="en-US" altLang="zh-CN" sz="2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kumimoji="1"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9438" name="Line 18"/>
                <p:cNvSpPr>
                  <a:spLocks noChangeShapeType="1"/>
                </p:cNvSpPr>
                <p:nvPr/>
              </p:nvSpPr>
              <p:spPr bwMode="auto">
                <a:xfrm>
                  <a:off x="1785918" y="2000240"/>
                  <a:ext cx="609600" cy="0"/>
                </a:xfrm>
                <a:prstGeom prst="line">
                  <a:avLst/>
                </a:prstGeom>
                <a:noFill/>
                <a:ln w="50800">
                  <a:solidFill>
                    <a:srgbClr val="0066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9427" name="组合 108"/>
            <p:cNvGrpSpPr/>
            <p:nvPr/>
          </p:nvGrpSpPr>
          <p:grpSpPr bwMode="auto">
            <a:xfrm>
              <a:off x="3071802" y="3500438"/>
              <a:ext cx="1071570" cy="285752"/>
              <a:chOff x="1285852" y="2571744"/>
              <a:chExt cx="1571636" cy="285752"/>
            </a:xfrm>
          </p:grpSpPr>
          <p:sp>
            <p:nvSpPr>
              <p:cNvPr id="59428" name="Line 18"/>
              <p:cNvSpPr>
                <a:spLocks noChangeShapeType="1"/>
              </p:cNvSpPr>
              <p:nvPr/>
            </p:nvSpPr>
            <p:spPr bwMode="auto">
              <a:xfrm flipV="1">
                <a:off x="1285852" y="2857496"/>
                <a:ext cx="1571636" cy="0"/>
              </a:xfrm>
              <a:prstGeom prst="line">
                <a:avLst/>
              </a:prstGeom>
              <a:noFill/>
              <a:ln w="50800">
                <a:solidFill>
                  <a:srgbClr val="0000FF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9429" name="Line 18"/>
              <p:cNvSpPr>
                <a:spLocks noChangeShapeType="1"/>
              </p:cNvSpPr>
              <p:nvPr/>
            </p:nvSpPr>
            <p:spPr bwMode="auto">
              <a:xfrm>
                <a:off x="1285852" y="2571744"/>
                <a:ext cx="0" cy="285752"/>
              </a:xfrm>
              <a:prstGeom prst="line">
                <a:avLst/>
              </a:prstGeom>
              <a:noFill/>
              <a:ln w="50800">
                <a:solidFill>
                  <a:srgbClr val="0000FF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0" name="组合 115"/>
          <p:cNvGrpSpPr/>
          <p:nvPr/>
        </p:nvGrpSpPr>
        <p:grpSpPr bwMode="auto">
          <a:xfrm>
            <a:off x="765175" y="2528888"/>
            <a:ext cx="2573338" cy="1285875"/>
            <a:chOff x="569786" y="1357298"/>
            <a:chExt cx="2573454" cy="1285884"/>
          </a:xfrm>
        </p:grpSpPr>
        <p:sp>
          <p:nvSpPr>
            <p:cNvPr id="59418" name="Rectangle 38"/>
            <p:cNvSpPr>
              <a:spLocks noChangeArrowheads="1"/>
            </p:cNvSpPr>
            <p:nvPr/>
          </p:nvSpPr>
          <p:spPr bwMode="auto">
            <a:xfrm>
              <a:off x="2428860" y="1785926"/>
              <a:ext cx="68800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A&lt;B</a:t>
              </a:r>
              <a:endParaRPr kumimoji="1"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419" name="Rectangle 33"/>
            <p:cNvSpPr>
              <a:spLocks noChangeArrowheads="1"/>
            </p:cNvSpPr>
            <p:nvPr/>
          </p:nvSpPr>
          <p:spPr bwMode="auto">
            <a:xfrm>
              <a:off x="785786" y="1814444"/>
              <a:ext cx="105028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kumimoji="1" lang="en-US" altLang="zh-CN" sz="20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kumimoji="1"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&lt; B</a:t>
              </a:r>
              <a:r>
                <a:rPr kumimoji="1" lang="en-US" altLang="zh-CN" sz="20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kumimoji="1"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kumimoji="1"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420" name="Line 18"/>
            <p:cNvSpPr>
              <a:spLocks noChangeShapeType="1"/>
            </p:cNvSpPr>
            <p:nvPr/>
          </p:nvSpPr>
          <p:spPr bwMode="auto">
            <a:xfrm>
              <a:off x="1785918" y="1571612"/>
              <a:ext cx="609600" cy="0"/>
            </a:xfrm>
            <a:prstGeom prst="line">
              <a:avLst/>
            </a:prstGeom>
            <a:noFill/>
            <a:ln w="50800">
              <a:solidFill>
                <a:srgbClr val="C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9421" name="Text Box 32"/>
            <p:cNvSpPr txBox="1">
              <a:spLocks noChangeArrowheads="1"/>
            </p:cNvSpPr>
            <p:nvPr/>
          </p:nvSpPr>
          <p:spPr bwMode="auto">
            <a:xfrm>
              <a:off x="785786" y="1357298"/>
              <a:ext cx="107157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kumimoji="1" lang="en-US" altLang="zh-CN" sz="20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kumimoji="1"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&gt; B</a:t>
              </a:r>
              <a:r>
                <a:rPr kumimoji="1" lang="en-US" altLang="zh-CN" sz="20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422" name="Rectangle 35"/>
            <p:cNvSpPr>
              <a:spLocks noChangeArrowheads="1"/>
            </p:cNvSpPr>
            <p:nvPr/>
          </p:nvSpPr>
          <p:spPr bwMode="auto">
            <a:xfrm>
              <a:off x="785786" y="2243072"/>
              <a:ext cx="98616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kumimoji="1" lang="en-US" altLang="zh-CN" sz="20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kumimoji="1"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= B</a:t>
              </a:r>
              <a:r>
                <a:rPr kumimoji="1" lang="en-US" altLang="zh-CN" sz="20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en-US" altLang="zh-CN" sz="2000" b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423" name="Text Box 39"/>
            <p:cNvSpPr txBox="1">
              <a:spLocks noChangeArrowheads="1"/>
            </p:cNvSpPr>
            <p:nvPr/>
          </p:nvSpPr>
          <p:spPr bwMode="auto">
            <a:xfrm>
              <a:off x="2428860" y="1357298"/>
              <a:ext cx="71438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A&gt;B</a:t>
              </a:r>
              <a:r>
                <a:rPr kumimoji="1"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kumimoji="1"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424" name="Line 18"/>
            <p:cNvSpPr>
              <a:spLocks noChangeShapeType="1"/>
            </p:cNvSpPr>
            <p:nvPr/>
          </p:nvSpPr>
          <p:spPr bwMode="auto">
            <a:xfrm>
              <a:off x="1785918" y="2000240"/>
              <a:ext cx="609600" cy="0"/>
            </a:xfrm>
            <a:prstGeom prst="line">
              <a:avLst/>
            </a:prstGeom>
            <a:noFill/>
            <a:ln w="50800">
              <a:solidFill>
                <a:srgbClr val="0066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9425" name="AutoShape 29"/>
            <p:cNvSpPr/>
            <p:nvPr/>
          </p:nvSpPr>
          <p:spPr bwMode="auto">
            <a:xfrm>
              <a:off x="569786" y="1528306"/>
              <a:ext cx="216000" cy="972000"/>
            </a:xfrm>
            <a:prstGeom prst="leftBrace">
              <a:avLst>
                <a:gd name="adj1" fmla="val 58333"/>
                <a:gd name="adj2" fmla="val 47273"/>
              </a:avLst>
            </a:prstGeom>
            <a:noFill/>
            <a:ln w="381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组合 119"/>
          <p:cNvGrpSpPr/>
          <p:nvPr/>
        </p:nvGrpSpPr>
        <p:grpSpPr bwMode="auto">
          <a:xfrm>
            <a:off x="5053013" y="5268913"/>
            <a:ext cx="3590925" cy="1303337"/>
            <a:chOff x="4857752" y="4097342"/>
            <a:chExt cx="3590959" cy="1303404"/>
          </a:xfrm>
        </p:grpSpPr>
        <p:sp>
          <p:nvSpPr>
            <p:cNvPr id="59403" name="Rectangle 46"/>
            <p:cNvSpPr>
              <a:spLocks noChangeArrowheads="1"/>
            </p:cNvSpPr>
            <p:nvPr/>
          </p:nvSpPr>
          <p:spPr bwMode="auto">
            <a:xfrm>
              <a:off x="7715272" y="5000636"/>
              <a:ext cx="73343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A=B</a:t>
              </a:r>
              <a:endParaRPr kumimoji="1"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9404" name="组合 98"/>
            <p:cNvGrpSpPr/>
            <p:nvPr/>
          </p:nvGrpSpPr>
          <p:grpSpPr bwMode="auto">
            <a:xfrm>
              <a:off x="5857884" y="4097342"/>
              <a:ext cx="2573454" cy="1285884"/>
              <a:chOff x="3570182" y="1571612"/>
              <a:chExt cx="2573454" cy="1285884"/>
            </a:xfrm>
          </p:grpSpPr>
          <p:sp>
            <p:nvSpPr>
              <p:cNvPr id="59409" name="AutoShape 29"/>
              <p:cNvSpPr/>
              <p:nvPr/>
            </p:nvSpPr>
            <p:spPr bwMode="auto">
              <a:xfrm>
                <a:off x="3570182" y="1714488"/>
                <a:ext cx="216000" cy="972000"/>
              </a:xfrm>
              <a:prstGeom prst="leftBrace">
                <a:avLst>
                  <a:gd name="adj1" fmla="val 58333"/>
                  <a:gd name="adj2" fmla="val 47273"/>
                </a:avLst>
              </a:prstGeom>
              <a:noFill/>
              <a:ln w="38100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9410" name="组合 69"/>
              <p:cNvGrpSpPr/>
              <p:nvPr/>
            </p:nvGrpSpPr>
            <p:grpSpPr bwMode="auto">
              <a:xfrm>
                <a:off x="3786182" y="1571612"/>
                <a:ext cx="2357454" cy="1285884"/>
                <a:chOff x="785786" y="1357298"/>
                <a:chExt cx="2357454" cy="1285884"/>
              </a:xfrm>
            </p:grpSpPr>
            <p:sp>
              <p:nvSpPr>
                <p:cNvPr id="59411" name="Rectangle 38"/>
                <p:cNvSpPr>
                  <a:spLocks noChangeArrowheads="1"/>
                </p:cNvSpPr>
                <p:nvPr/>
              </p:nvSpPr>
              <p:spPr bwMode="auto">
                <a:xfrm>
                  <a:off x="2428860" y="1785926"/>
                  <a:ext cx="688009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0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A&lt;B</a:t>
                  </a:r>
                  <a:endParaRPr kumimoji="1"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9412" name="Rectangle 33"/>
                <p:cNvSpPr>
                  <a:spLocks noChangeArrowheads="1"/>
                </p:cNvSpPr>
                <p:nvPr/>
              </p:nvSpPr>
              <p:spPr bwMode="auto">
                <a:xfrm>
                  <a:off x="785786" y="1814444"/>
                  <a:ext cx="1050288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0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kumimoji="1" lang="en-US" altLang="zh-CN" sz="2000" b="1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r>
                    <a:rPr kumimoji="1" lang="en-US" altLang="zh-CN" sz="20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&lt; B</a:t>
                  </a:r>
                  <a:r>
                    <a:rPr kumimoji="1" lang="en-US" altLang="zh-CN" sz="2000" b="1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r>
                    <a:rPr kumimoji="1" lang="en-US" altLang="zh-CN" sz="20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kumimoji="1"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9413" name="Line 18"/>
                <p:cNvSpPr>
                  <a:spLocks noChangeShapeType="1"/>
                </p:cNvSpPr>
                <p:nvPr/>
              </p:nvSpPr>
              <p:spPr bwMode="auto">
                <a:xfrm>
                  <a:off x="1785918" y="1571612"/>
                  <a:ext cx="609600" cy="0"/>
                </a:xfrm>
                <a:prstGeom prst="line">
                  <a:avLst/>
                </a:prstGeom>
                <a:noFill/>
                <a:ln w="50800">
                  <a:solidFill>
                    <a:srgbClr val="C000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414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785786" y="1357298"/>
                  <a:ext cx="107157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0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kumimoji="1" lang="en-US" altLang="zh-CN" sz="2000" b="1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r>
                    <a:rPr kumimoji="1" lang="en-US" altLang="zh-CN" sz="20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&gt; B</a:t>
                  </a:r>
                  <a:r>
                    <a:rPr kumimoji="1" lang="en-US" altLang="zh-CN" sz="2000" b="1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endParaRPr kumimoji="1"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9415" name="Rectangle 35"/>
                <p:cNvSpPr>
                  <a:spLocks noChangeArrowheads="1"/>
                </p:cNvSpPr>
                <p:nvPr/>
              </p:nvSpPr>
              <p:spPr bwMode="auto">
                <a:xfrm>
                  <a:off x="785786" y="2243072"/>
                  <a:ext cx="986167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0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kumimoji="1" lang="en-US" altLang="zh-CN" sz="2000" b="1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r>
                    <a:rPr kumimoji="1" lang="en-US" altLang="zh-CN" sz="20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= B</a:t>
                  </a:r>
                  <a:r>
                    <a:rPr kumimoji="1" lang="en-US" altLang="zh-CN" sz="2000" b="1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endParaRPr kumimoji="1" lang="en-US" altLang="zh-CN" sz="2000" b="1" baseline="-25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9416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2428860" y="1357298"/>
                  <a:ext cx="71438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kumimoji="1" lang="en-US" altLang="zh-CN" sz="20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A&gt;B</a:t>
                  </a:r>
                  <a:r>
                    <a:rPr kumimoji="1" lang="en-US" altLang="zh-CN" sz="2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kumimoji="1"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9417" name="Line 18"/>
                <p:cNvSpPr>
                  <a:spLocks noChangeShapeType="1"/>
                </p:cNvSpPr>
                <p:nvPr/>
              </p:nvSpPr>
              <p:spPr bwMode="auto">
                <a:xfrm>
                  <a:off x="1785918" y="2000240"/>
                  <a:ext cx="609600" cy="0"/>
                </a:xfrm>
                <a:prstGeom prst="line">
                  <a:avLst/>
                </a:prstGeom>
                <a:noFill/>
                <a:ln w="50800">
                  <a:solidFill>
                    <a:srgbClr val="0066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9405" name="组合 111"/>
            <p:cNvGrpSpPr/>
            <p:nvPr/>
          </p:nvGrpSpPr>
          <p:grpSpPr bwMode="auto">
            <a:xfrm>
              <a:off x="4857752" y="4429132"/>
              <a:ext cx="1071570" cy="285752"/>
              <a:chOff x="1285852" y="2571744"/>
              <a:chExt cx="1571636" cy="285752"/>
            </a:xfrm>
          </p:grpSpPr>
          <p:sp>
            <p:nvSpPr>
              <p:cNvPr id="59407" name="Line 18"/>
              <p:cNvSpPr>
                <a:spLocks noChangeShapeType="1"/>
              </p:cNvSpPr>
              <p:nvPr/>
            </p:nvSpPr>
            <p:spPr bwMode="auto">
              <a:xfrm flipV="1">
                <a:off x="1285852" y="2857496"/>
                <a:ext cx="1571636" cy="0"/>
              </a:xfrm>
              <a:prstGeom prst="line">
                <a:avLst/>
              </a:prstGeom>
              <a:noFill/>
              <a:ln w="50800">
                <a:solidFill>
                  <a:srgbClr val="0000FF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9408" name="Line 18"/>
              <p:cNvSpPr>
                <a:spLocks noChangeShapeType="1"/>
              </p:cNvSpPr>
              <p:nvPr/>
            </p:nvSpPr>
            <p:spPr bwMode="auto">
              <a:xfrm>
                <a:off x="1285852" y="2571744"/>
                <a:ext cx="0" cy="285752"/>
              </a:xfrm>
              <a:prstGeom prst="line">
                <a:avLst/>
              </a:prstGeom>
              <a:noFill/>
              <a:ln w="50800">
                <a:solidFill>
                  <a:srgbClr val="0000FF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9406" name="Line 18"/>
            <p:cNvSpPr>
              <a:spLocks noChangeShapeType="1"/>
            </p:cNvSpPr>
            <p:nvPr/>
          </p:nvSpPr>
          <p:spPr bwMode="auto">
            <a:xfrm>
              <a:off x="7072330" y="5214950"/>
              <a:ext cx="642942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21" name="矩形 120"/>
          <p:cNvSpPr>
            <a:spLocks noChangeArrowheads="1"/>
          </p:cNvSpPr>
          <p:nvPr/>
        </p:nvSpPr>
        <p:spPr bwMode="auto">
          <a:xfrm>
            <a:off x="687388" y="1243013"/>
            <a:ext cx="6889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比较两个多位数</a:t>
            </a: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，需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从高向低逐位比较</a:t>
            </a: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矩形 121"/>
          <p:cNvSpPr>
            <a:spLocks noChangeArrowheads="1"/>
          </p:cNvSpPr>
          <p:nvPr/>
        </p:nvSpPr>
        <p:spPr bwMode="auto">
          <a:xfrm>
            <a:off x="642938" y="1671638"/>
            <a:ext cx="75850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4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如两个</a:t>
            </a:r>
            <a:r>
              <a:rPr kumimoji="1" lang="en-US" altLang="zh-CN" sz="24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zh-CN" altLang="en-US" sz="24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位二进制数</a:t>
            </a:r>
            <a:r>
              <a:rPr kumimoji="1" lang="en-US" altLang="zh-CN" sz="24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400" b="1" baseline="-2500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en-US" altLang="zh-CN" sz="24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400" b="1" baseline="-2500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4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400" b="1" baseline="-2500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CN" sz="24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400" b="1" baseline="-2500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zh-CN" altLang="en-US" sz="24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kumimoji="1" lang="en-US" altLang="zh-CN" sz="24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CN" sz="2400" b="1" baseline="-2500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en-US" altLang="zh-CN" sz="24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CN" sz="2400" b="1" baseline="-2500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4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CN" sz="2400" b="1" baseline="-2500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CN" sz="24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CN" sz="2400" b="1" baseline="-2500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zh-CN" altLang="en-US" sz="24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进行比较：</a:t>
            </a:r>
            <a:endParaRPr kumimoji="1" lang="zh-CN" altLang="en-US" sz="2400" b="1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矩形 122"/>
          <p:cNvSpPr>
            <a:spLocks noChangeArrowheads="1"/>
          </p:cNvSpPr>
          <p:nvPr/>
        </p:nvSpPr>
        <p:spPr bwMode="auto">
          <a:xfrm>
            <a:off x="428625" y="785813"/>
            <a:ext cx="21955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）比较方法</a:t>
            </a:r>
            <a:endParaRPr lang="zh-CN" altLang="en-US" sz="2400">
              <a:solidFill>
                <a:srgbClr val="0000FF"/>
              </a:solidFill>
            </a:endParaRPr>
          </a:p>
        </p:txBody>
      </p:sp>
      <p:sp>
        <p:nvSpPr>
          <p:cNvPr id="59402" name="矩形 1"/>
          <p:cNvSpPr>
            <a:spLocks noChangeArrowheads="1"/>
          </p:cNvSpPr>
          <p:nvPr/>
        </p:nvSpPr>
        <p:spPr bwMode="auto">
          <a:xfrm>
            <a:off x="6156325" y="58738"/>
            <a:ext cx="28559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§4.3</a:t>
            </a:r>
            <a:r>
              <a:rPr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常用的</a:t>
            </a:r>
            <a:r>
              <a:rPr kumimoji="1"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</a:t>
            </a:r>
            <a:endParaRPr lang="zh-CN" altLang="en-US" sz="18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/>
      <p:bldP spid="122" grpId="0"/>
      <p:bldP spid="12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7"/>
          <p:cNvSpPr txBox="1">
            <a:spLocks noChangeArrowheads="1"/>
          </p:cNvSpPr>
          <p:nvPr/>
        </p:nvSpPr>
        <p:spPr bwMode="auto">
          <a:xfrm>
            <a:off x="214313" y="214313"/>
            <a:ext cx="52149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）集成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位数值比较器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74LS85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236663"/>
            <a:ext cx="8072438" cy="476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矩形 4"/>
          <p:cNvSpPr>
            <a:spLocks noChangeArrowheads="1"/>
          </p:cNvSpPr>
          <p:nvPr/>
        </p:nvSpPr>
        <p:spPr bwMode="auto">
          <a:xfrm>
            <a:off x="785813" y="742950"/>
            <a:ext cx="2041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lang="en-US" altLang="zh-CN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74LS85</a:t>
            </a:r>
            <a:r>
              <a:rPr lang="zh-CN" alt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功能表</a:t>
            </a:r>
            <a:endParaRPr lang="zh-CN" altLang="en-US" sz="20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23"/>
          <p:cNvGrpSpPr/>
          <p:nvPr/>
        </p:nvGrpSpPr>
        <p:grpSpPr bwMode="auto">
          <a:xfrm>
            <a:off x="4500563" y="1643063"/>
            <a:ext cx="4214812" cy="2071687"/>
            <a:chOff x="4500562" y="1643050"/>
            <a:chExt cx="4214820" cy="2071702"/>
          </a:xfrm>
        </p:grpSpPr>
        <p:sp>
          <p:nvSpPr>
            <p:cNvPr id="21" name="椭圆 20"/>
            <p:cNvSpPr/>
            <p:nvPr/>
          </p:nvSpPr>
          <p:spPr bwMode="auto">
            <a:xfrm>
              <a:off x="4500562" y="1643050"/>
              <a:ext cx="1928816" cy="500066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圆角矩形标注 21"/>
            <p:cNvSpPr/>
            <p:nvPr/>
          </p:nvSpPr>
          <p:spPr bwMode="auto">
            <a:xfrm>
              <a:off x="5500689" y="2786058"/>
              <a:ext cx="3214693" cy="928694"/>
            </a:xfrm>
            <a:prstGeom prst="wedgeRoundRectCallout">
              <a:avLst>
                <a:gd name="adj1" fmla="val -43351"/>
                <a:gd name="adj2" fmla="val -120942"/>
                <a:gd name="adj3" fmla="val 16667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25" name="矩形 11"/>
            <p:cNvSpPr>
              <a:spLocks noChangeArrowheads="1"/>
            </p:cNvSpPr>
            <p:nvPr/>
          </p:nvSpPr>
          <p:spPr bwMode="auto">
            <a:xfrm>
              <a:off x="5715007" y="2884651"/>
              <a:ext cx="2765482" cy="707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来自低位的比较结果。</a:t>
              </a:r>
              <a:endParaRPr kumimoji="1"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用于级联。</a:t>
              </a:r>
              <a:endPara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0422" name="矩形 1"/>
          <p:cNvSpPr>
            <a:spLocks noChangeArrowheads="1"/>
          </p:cNvSpPr>
          <p:nvPr/>
        </p:nvSpPr>
        <p:spPr bwMode="auto">
          <a:xfrm>
            <a:off x="6156325" y="58738"/>
            <a:ext cx="28559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§4.3</a:t>
            </a:r>
            <a:r>
              <a:rPr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常用的</a:t>
            </a:r>
            <a:r>
              <a:rPr kumimoji="1"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</a:t>
            </a:r>
            <a:endParaRPr lang="zh-CN" altLang="en-US" sz="18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3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" y="766763"/>
            <a:ext cx="6010275" cy="544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3" name="矩形 4"/>
          <p:cNvSpPr>
            <a:spLocks noChangeArrowheads="1"/>
          </p:cNvSpPr>
          <p:nvPr/>
        </p:nvSpPr>
        <p:spPr bwMode="auto">
          <a:xfrm>
            <a:off x="785813" y="214313"/>
            <a:ext cx="35893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lang="en-US" altLang="zh-CN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74LS85</a:t>
            </a:r>
            <a:r>
              <a:rPr lang="zh-CN" alt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内部结构与逻辑符号</a:t>
            </a:r>
            <a:endParaRPr lang="zh-CN" altLang="en-US" sz="20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21"/>
          <p:cNvGrpSpPr/>
          <p:nvPr/>
        </p:nvGrpSpPr>
        <p:grpSpPr bwMode="auto">
          <a:xfrm>
            <a:off x="7000875" y="2286000"/>
            <a:ext cx="1757363" cy="2749550"/>
            <a:chOff x="357188" y="1643046"/>
            <a:chExt cx="1757362" cy="2749550"/>
          </a:xfrm>
        </p:grpSpPr>
        <p:pic>
          <p:nvPicPr>
            <p:cNvPr id="61446" name="Picture 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188" y="1643046"/>
              <a:ext cx="1757362" cy="274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447" name="矩形 20"/>
            <p:cNvSpPr>
              <a:spLocks noChangeArrowheads="1"/>
            </p:cNvSpPr>
            <p:nvPr/>
          </p:nvSpPr>
          <p:spPr bwMode="auto">
            <a:xfrm rot="-5400000">
              <a:off x="622811" y="2806158"/>
              <a:ext cx="10118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74LS85</a:t>
              </a:r>
              <a:endPara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1445" name="矩形 1"/>
          <p:cNvSpPr>
            <a:spLocks noChangeArrowheads="1"/>
          </p:cNvSpPr>
          <p:nvPr/>
        </p:nvSpPr>
        <p:spPr bwMode="auto">
          <a:xfrm>
            <a:off x="6156325" y="58738"/>
            <a:ext cx="28559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§4.3</a:t>
            </a:r>
            <a:r>
              <a:rPr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常用的</a:t>
            </a:r>
            <a:r>
              <a:rPr kumimoji="1"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</a:t>
            </a:r>
            <a:endParaRPr lang="zh-CN" altLang="en-US" sz="1800" b="1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75" y="1071563"/>
            <a:ext cx="5715000" cy="298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7" name="矩形 3"/>
          <p:cNvSpPr>
            <a:spLocks noChangeArrowheads="1"/>
          </p:cNvSpPr>
          <p:nvPr/>
        </p:nvSpPr>
        <p:spPr bwMode="auto">
          <a:xfrm>
            <a:off x="571500" y="357188"/>
            <a:ext cx="5459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kumimoji="1" lang="zh-CN" alt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例：试用两片</a:t>
            </a:r>
            <a:r>
              <a:rPr kumimoji="1" lang="en-US" altLang="zh-CN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74LS85</a:t>
            </a:r>
            <a:r>
              <a:rPr kumimoji="1" lang="zh-CN" alt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比较两个</a:t>
            </a:r>
            <a:r>
              <a:rPr kumimoji="1" lang="en-US" altLang="zh-CN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kumimoji="1" lang="zh-CN" alt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位二进制数。</a:t>
            </a:r>
            <a:endParaRPr kumimoji="1" lang="zh-CN" altLang="en-US" sz="20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19"/>
          <p:cNvGrpSpPr/>
          <p:nvPr/>
        </p:nvGrpSpPr>
        <p:grpSpPr bwMode="auto">
          <a:xfrm>
            <a:off x="1857375" y="2928938"/>
            <a:ext cx="4714875" cy="2643187"/>
            <a:chOff x="3857620" y="3714752"/>
            <a:chExt cx="4714908" cy="2643206"/>
          </a:xfrm>
        </p:grpSpPr>
        <p:sp>
          <p:nvSpPr>
            <p:cNvPr id="6" name="椭圆 5"/>
            <p:cNvSpPr/>
            <p:nvPr/>
          </p:nvSpPr>
          <p:spPr>
            <a:xfrm>
              <a:off x="3857620" y="3714752"/>
              <a:ext cx="857256" cy="1143008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圆角矩形标注 6"/>
            <p:cNvSpPr/>
            <p:nvPr/>
          </p:nvSpPr>
          <p:spPr>
            <a:xfrm>
              <a:off x="4214811" y="5429264"/>
              <a:ext cx="4357717" cy="928694"/>
            </a:xfrm>
            <a:prstGeom prst="wedgeRoundRectCallout">
              <a:avLst>
                <a:gd name="adj1" fmla="val -43351"/>
                <a:gd name="adj2" fmla="val -120942"/>
                <a:gd name="adj3" fmla="val 16667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471" name="矩形 17"/>
            <p:cNvSpPr>
              <a:spLocks noChangeArrowheads="1"/>
            </p:cNvSpPr>
            <p:nvPr/>
          </p:nvSpPr>
          <p:spPr bwMode="auto">
            <a:xfrm>
              <a:off x="4429124" y="5814972"/>
              <a:ext cx="405591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表示来自低位的比较结果为相等。</a:t>
              </a:r>
              <a:endParaRPr kumimoji="1"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472" name="矩形 18"/>
            <p:cNvSpPr>
              <a:spLocks noChangeArrowheads="1"/>
            </p:cNvSpPr>
            <p:nvPr/>
          </p:nvSpPr>
          <p:spPr bwMode="auto">
            <a:xfrm>
              <a:off x="4572000" y="5429264"/>
              <a:ext cx="106311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(A=B)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=1</a:t>
              </a:r>
              <a:endParaRPr lang="zh-CN" altLang="en-US" sz="200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42875"/>
            <a:ext cx="8985250" cy="6461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§4.4</a:t>
            </a:r>
            <a:r>
              <a:rPr lang="zh-CN" altLang="en-US" sz="3600" b="1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3600" b="1" dirty="0">
                <a:solidFill>
                  <a:srgbClr val="FF0066"/>
                </a:solidFill>
                <a:latin typeface="+mn-ea"/>
                <a:ea typeface="+mn-ea"/>
              </a:rPr>
              <a:t>用中规模集成电路实现组合电路设计 </a:t>
            </a:r>
            <a:endParaRPr lang="zh-CN" altLang="en-US" sz="3600" b="1" dirty="0">
              <a:solidFill>
                <a:srgbClr val="FF0066"/>
              </a:solidFill>
              <a:latin typeface="+mn-ea"/>
              <a:ea typeface="+mn-ea"/>
            </a:endParaRPr>
          </a:p>
        </p:txBody>
      </p:sp>
      <p:sp>
        <p:nvSpPr>
          <p:cNvPr id="17" name="Text Box 23"/>
          <p:cNvSpPr txBox="1">
            <a:spLocks noChangeArrowheads="1"/>
          </p:cNvSpPr>
          <p:nvPr/>
        </p:nvSpPr>
        <p:spPr bwMode="auto">
          <a:xfrm>
            <a:off x="523875" y="833438"/>
            <a:ext cx="6604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6600"/>
                </a:solidFill>
                <a:latin typeface="宋体" panose="02010600030101010101" pitchFamily="2" charset="-122"/>
              </a:rPr>
              <a:t>一、用译码器设计组合逻辑电路</a:t>
            </a:r>
            <a:endParaRPr lang="zh-CN" altLang="en-US" sz="2800" b="1">
              <a:solidFill>
                <a:srgbClr val="006600"/>
              </a:solidFill>
              <a:latin typeface="宋体" panose="02010600030101010101" pitchFamily="2" charset="-122"/>
            </a:endParaRPr>
          </a:p>
        </p:txBody>
      </p:sp>
      <p:sp>
        <p:nvSpPr>
          <p:cNvPr id="18" name="Rectangle 25"/>
          <p:cNvSpPr>
            <a:spLocks noChangeArrowheads="1"/>
          </p:cNvSpPr>
          <p:nvPr/>
        </p:nvSpPr>
        <p:spPr bwMode="auto">
          <a:xfrm>
            <a:off x="904875" y="4410075"/>
            <a:ext cx="7723188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5600" indent="-3556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600" b="1">
                <a:latin typeface="宋体" panose="02010600030101010101" pitchFamily="2" charset="-122"/>
              </a:rPr>
              <a:t>①</a:t>
            </a:r>
            <a:r>
              <a:rPr kumimoji="1" lang="zh-CN" altLang="en-US" sz="2600" b="1">
                <a:latin typeface="宋体" panose="02010600030101010101" pitchFamily="2" charset="-122"/>
              </a:rPr>
              <a:t>写出函数的</a:t>
            </a:r>
            <a:r>
              <a:rPr kumimoji="1" lang="zh-CN" altLang="en-US" sz="2600" b="1">
                <a:solidFill>
                  <a:srgbClr val="FF0000"/>
                </a:solidFill>
                <a:latin typeface="宋体" panose="02010600030101010101" pitchFamily="2" charset="-122"/>
              </a:rPr>
              <a:t>标准与或表达式（最小项之和）</a:t>
            </a:r>
            <a:r>
              <a:rPr kumimoji="1" lang="zh-CN" altLang="en-US" sz="2600" b="1">
                <a:latin typeface="宋体" panose="02010600030101010101" pitchFamily="2" charset="-122"/>
              </a:rPr>
              <a:t>，并变换为</a:t>
            </a:r>
            <a:r>
              <a:rPr kumimoji="1" lang="zh-CN" altLang="en-US" sz="2600" b="1">
                <a:solidFill>
                  <a:srgbClr val="FF0000"/>
                </a:solidFill>
                <a:latin typeface="宋体" panose="02010600030101010101" pitchFamily="2" charset="-122"/>
              </a:rPr>
              <a:t>与非</a:t>
            </a:r>
            <a:r>
              <a:rPr kumimoji="1" lang="en-US" altLang="zh-CN" sz="2600" b="1">
                <a:solidFill>
                  <a:srgbClr val="FF0000"/>
                </a:solidFill>
                <a:latin typeface="宋体" panose="02010600030101010101" pitchFamily="2" charset="-122"/>
              </a:rPr>
              <a:t>-</a:t>
            </a:r>
            <a:r>
              <a:rPr kumimoji="1" lang="zh-CN" altLang="en-US" sz="2600" b="1">
                <a:solidFill>
                  <a:srgbClr val="FF0000"/>
                </a:solidFill>
                <a:latin typeface="宋体" panose="02010600030101010101" pitchFamily="2" charset="-122"/>
              </a:rPr>
              <a:t>与非形式。</a:t>
            </a:r>
            <a:endParaRPr kumimoji="1" lang="zh-CN" altLang="en-US" sz="2600" b="1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19" name="Text Box 26"/>
          <p:cNvSpPr txBox="1">
            <a:spLocks noChangeArrowheads="1"/>
          </p:cNvSpPr>
          <p:nvPr/>
        </p:nvSpPr>
        <p:spPr bwMode="auto">
          <a:xfrm>
            <a:off x="887413" y="5329238"/>
            <a:ext cx="77406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5600" indent="-3556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600" b="1">
                <a:latin typeface="Times New Roman" panose="02020603050405020304" pitchFamily="18" charset="0"/>
              </a:rPr>
              <a:t>②</a:t>
            </a:r>
            <a:r>
              <a:rPr kumimoji="1" lang="zh-CN" altLang="en-US" sz="2600" b="1">
                <a:latin typeface="Times New Roman" panose="02020603050405020304" pitchFamily="18" charset="0"/>
              </a:rPr>
              <a:t>画出用二进制译码器和与非门实现这些函数的接线图。</a:t>
            </a:r>
            <a:endParaRPr kumimoji="1" lang="zh-CN" altLang="en-US" sz="2600" b="1">
              <a:latin typeface="Times New Roman" panose="02020603050405020304" pitchFamily="18" charset="0"/>
            </a:endParaRPr>
          </a:p>
        </p:txBody>
      </p:sp>
      <p:sp>
        <p:nvSpPr>
          <p:cNvPr id="23" name="Text Box 30"/>
          <p:cNvSpPr txBox="1">
            <a:spLocks noChangeArrowheads="1"/>
          </p:cNvSpPr>
          <p:nvPr/>
        </p:nvSpPr>
        <p:spPr bwMode="auto">
          <a:xfrm>
            <a:off x="739775" y="3889375"/>
            <a:ext cx="215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0000FF"/>
                </a:solidFill>
              </a:rPr>
              <a:t>一般步骤：</a:t>
            </a:r>
            <a:endParaRPr lang="zh-CN" altLang="en-US" sz="2400" b="1">
              <a:solidFill>
                <a:srgbClr val="0000FF"/>
              </a:solidFill>
            </a:endParaRPr>
          </a:p>
        </p:txBody>
      </p:sp>
      <p:grpSp>
        <p:nvGrpSpPr>
          <p:cNvPr id="2" name="组合 10"/>
          <p:cNvGrpSpPr/>
          <p:nvPr/>
        </p:nvGrpSpPr>
        <p:grpSpPr bwMode="auto">
          <a:xfrm>
            <a:off x="484188" y="1360488"/>
            <a:ext cx="8215312" cy="2308225"/>
            <a:chOff x="571472" y="1360488"/>
            <a:chExt cx="8215370" cy="2308225"/>
          </a:xfrm>
        </p:grpSpPr>
        <p:grpSp>
          <p:nvGrpSpPr>
            <p:cNvPr id="63496" name="Group 31"/>
            <p:cNvGrpSpPr/>
            <p:nvPr/>
          </p:nvGrpSpPr>
          <p:grpSpPr bwMode="auto">
            <a:xfrm>
              <a:off x="658812" y="1360488"/>
              <a:ext cx="7975601" cy="2308225"/>
              <a:chOff x="415" y="754"/>
              <a:chExt cx="5024" cy="1454"/>
            </a:xfrm>
          </p:grpSpPr>
          <p:sp>
            <p:nvSpPr>
              <p:cNvPr id="63498" name="Text Box 24"/>
              <p:cNvSpPr txBox="1">
                <a:spLocks noChangeArrowheads="1"/>
              </p:cNvSpPr>
              <p:nvPr/>
            </p:nvSpPr>
            <p:spPr bwMode="auto">
              <a:xfrm>
                <a:off x="415" y="754"/>
                <a:ext cx="5024" cy="14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rIns="1800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b="1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    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 </a:t>
                </a:r>
                <a:r>
                  <a:rPr kumimoji="1" lang="en-US" altLang="zh-CN" sz="2400" b="1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n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线</a:t>
                </a:r>
                <a:r>
                  <a:rPr kumimoji="1" lang="en-US" altLang="zh-CN" sz="2400" b="1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—2</a:t>
                </a:r>
                <a:r>
                  <a:rPr kumimoji="1" lang="en-US" altLang="zh-CN" sz="2400" b="1" baseline="500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n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线译码器有</a:t>
                </a:r>
                <a:r>
                  <a:rPr kumimoji="1" lang="en-US" altLang="zh-CN" sz="2400" b="1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2</a:t>
                </a:r>
                <a:r>
                  <a:rPr kumimoji="1" lang="en-US" altLang="zh-CN" sz="2400" b="1" baseline="500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n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个代码组合，包含了</a:t>
                </a:r>
                <a:r>
                  <a:rPr kumimoji="1" lang="en-US" altLang="zh-CN" sz="2400" b="1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n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变量函数的全部最小项。当译码器的</a:t>
                </a:r>
                <a:r>
                  <a:rPr kumimoji="1" lang="zh-CN" altLang="en-US" sz="2400" b="1">
                    <a:solidFill>
                      <a:srgbClr val="FF0000"/>
                    </a:solidFill>
                    <a:latin typeface="宋体" panose="02010600030101010101" pitchFamily="2" charset="-122"/>
                  </a:rPr>
                  <a:t>使能端有效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时，每个输出</a:t>
                </a:r>
                <a:r>
                  <a:rPr kumimoji="1" lang="zh-CN" altLang="en-US" sz="2400" b="1">
                    <a:solidFill>
                      <a:srgbClr val="FF0000"/>
                    </a:solidFill>
                    <a:latin typeface="宋体" panose="02010600030101010101" pitchFamily="2" charset="-122"/>
                  </a:rPr>
                  <a:t>（一般为低电平输出）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对应相应的最小项</a:t>
                </a:r>
                <a:r>
                  <a:rPr kumimoji="1" lang="en-US" altLang="zh-CN" sz="2400" b="1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,</a:t>
                </a:r>
                <a:r>
                  <a:rPr kumimoji="1" lang="zh-CN" altLang="en-US" sz="2400" b="1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即             。因此只要将函数的输入变量加至译码器的地址输入端，并在输出端辅以少量的门电路，便可以实现逻辑函数。 </a:t>
                </a:r>
                <a:endParaRPr kumimoji="1"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graphicFrame>
            <p:nvGraphicFramePr>
              <p:cNvPr id="63499" name="Object 17"/>
              <p:cNvGraphicFramePr>
                <a:graphicFrameLocks noChangeAspect="1"/>
              </p:cNvGraphicFramePr>
              <p:nvPr/>
            </p:nvGraphicFramePr>
            <p:xfrm>
              <a:off x="3961" y="1344"/>
              <a:ext cx="1179" cy="3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3502" name="公式" r:id="rId1" imgW="1039495" imgH="162560" progId="Equation.3">
                      <p:embed/>
                    </p:oleObj>
                  </mc:Choice>
                  <mc:Fallback>
                    <p:oleObj name="公式" r:id="rId1" imgW="1039495" imgH="162560" progId="Equation.3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61" y="1344"/>
                            <a:ext cx="1179" cy="32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63497" name="Rectangle 16"/>
            <p:cNvSpPr>
              <a:spLocks noChangeArrowheads="1"/>
            </p:cNvSpPr>
            <p:nvPr/>
          </p:nvSpPr>
          <p:spPr bwMode="auto">
            <a:xfrm>
              <a:off x="571472" y="1428736"/>
              <a:ext cx="8215370" cy="2214578"/>
            </a:xfrm>
            <a:prstGeom prst="rect">
              <a:avLst/>
            </a:prstGeom>
            <a:noFill/>
            <a:ln w="57150" cmpd="thickThin">
              <a:solidFill>
                <a:srgbClr val="33CC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endPara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2"/>
          <p:cNvSpPr txBox="1">
            <a:spLocks noChangeArrowheads="1"/>
          </p:cNvSpPr>
          <p:nvPr/>
        </p:nvSpPr>
        <p:spPr bwMode="auto">
          <a:xfrm>
            <a:off x="520700" y="1839913"/>
            <a:ext cx="3311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C00000"/>
                </a:solidFill>
              </a:rPr>
              <a:t>解：</a:t>
            </a:r>
            <a:r>
              <a:rPr lang="zh-CN" altLang="en-US" sz="2400" b="1">
                <a:solidFill>
                  <a:srgbClr val="006600"/>
                </a:solidFill>
              </a:rPr>
              <a:t>①最小项之和形式</a:t>
            </a:r>
            <a:endParaRPr lang="zh-CN" altLang="en-US" sz="2400" b="1">
              <a:solidFill>
                <a:srgbClr val="006600"/>
              </a:solidFill>
            </a:endParaRPr>
          </a:p>
        </p:txBody>
      </p:sp>
      <p:grpSp>
        <p:nvGrpSpPr>
          <p:cNvPr id="2" name="Group 21"/>
          <p:cNvGrpSpPr/>
          <p:nvPr/>
        </p:nvGrpSpPr>
        <p:grpSpPr bwMode="auto">
          <a:xfrm>
            <a:off x="950913" y="2343150"/>
            <a:ext cx="7621587" cy="1514475"/>
            <a:chOff x="476" y="1570"/>
            <a:chExt cx="4801" cy="954"/>
          </a:xfrm>
        </p:grpSpPr>
        <p:sp>
          <p:nvSpPr>
            <p:cNvPr id="64528" name="AutoShape 11"/>
            <p:cNvSpPr/>
            <p:nvPr/>
          </p:nvSpPr>
          <p:spPr bwMode="auto">
            <a:xfrm>
              <a:off x="476" y="1661"/>
              <a:ext cx="136" cy="792"/>
            </a:xfrm>
            <a:prstGeom prst="leftBrace">
              <a:avLst>
                <a:gd name="adj1" fmla="val 48529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/>
            </a:p>
          </p:txBody>
        </p:sp>
        <p:graphicFrame>
          <p:nvGraphicFramePr>
            <p:cNvPr id="64529" name="Object 5"/>
            <p:cNvGraphicFramePr>
              <a:graphicFrameLocks noChangeAspect="1"/>
            </p:cNvGraphicFramePr>
            <p:nvPr/>
          </p:nvGraphicFramePr>
          <p:xfrm>
            <a:off x="649" y="1570"/>
            <a:ext cx="2688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50" name="公式" r:id="rId1" imgW="2730500" imgH="254000" progId="Equation.3">
                    <p:embed/>
                  </p:oleObj>
                </mc:Choice>
                <mc:Fallback>
                  <p:oleObj name="公式" r:id="rId1" imgW="2730500" imgH="2540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9" y="1570"/>
                          <a:ext cx="2688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30" name="Object 6"/>
            <p:cNvGraphicFramePr>
              <a:graphicFrameLocks noChangeAspect="1"/>
            </p:cNvGraphicFramePr>
            <p:nvPr/>
          </p:nvGraphicFramePr>
          <p:xfrm>
            <a:off x="612" y="1888"/>
            <a:ext cx="2791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51" name="公式" r:id="rId3" imgW="2717800" imgH="254000" progId="Equation.3">
                    <p:embed/>
                  </p:oleObj>
                </mc:Choice>
                <mc:Fallback>
                  <p:oleObj name="公式" r:id="rId3" imgW="2717800" imgH="2540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2" y="1888"/>
                          <a:ext cx="2791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31" name="Object 7"/>
            <p:cNvGraphicFramePr>
              <a:graphicFrameLocks noChangeAspect="1"/>
            </p:cNvGraphicFramePr>
            <p:nvPr/>
          </p:nvGraphicFramePr>
          <p:xfrm>
            <a:off x="639" y="2203"/>
            <a:ext cx="4638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52" name="公式" r:id="rId5" imgW="5486400" imgH="162560" progId="Equation.3">
                    <p:embed/>
                  </p:oleObj>
                </mc:Choice>
                <mc:Fallback>
                  <p:oleObj name="公式" r:id="rId5" imgW="5486400" imgH="16256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9" y="2203"/>
                          <a:ext cx="4638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Text Box 19"/>
          <p:cNvSpPr txBox="1">
            <a:spLocks noChangeArrowheads="1"/>
          </p:cNvSpPr>
          <p:nvPr/>
        </p:nvSpPr>
        <p:spPr bwMode="auto">
          <a:xfrm>
            <a:off x="1096963" y="4005263"/>
            <a:ext cx="3311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006600"/>
                </a:solidFill>
              </a:rPr>
              <a:t>②</a:t>
            </a:r>
            <a:r>
              <a:rPr lang="zh-CN" altLang="en-US" sz="2400" b="1">
                <a:solidFill>
                  <a:srgbClr val="006600"/>
                </a:solidFill>
              </a:rPr>
              <a:t>化为与非－与非式</a:t>
            </a:r>
            <a:endParaRPr lang="zh-CN" altLang="en-US" sz="2400" b="1">
              <a:solidFill>
                <a:srgbClr val="006600"/>
              </a:solidFill>
            </a:endParaRPr>
          </a:p>
        </p:txBody>
      </p:sp>
      <p:grpSp>
        <p:nvGrpSpPr>
          <p:cNvPr id="7" name="Group 22"/>
          <p:cNvGrpSpPr/>
          <p:nvPr/>
        </p:nvGrpSpPr>
        <p:grpSpPr bwMode="auto">
          <a:xfrm>
            <a:off x="952500" y="4518025"/>
            <a:ext cx="5113338" cy="1631950"/>
            <a:chOff x="612" y="2846"/>
            <a:chExt cx="3221" cy="1028"/>
          </a:xfrm>
        </p:grpSpPr>
        <p:graphicFrame>
          <p:nvGraphicFramePr>
            <p:cNvPr id="64524" name="Object 8"/>
            <p:cNvGraphicFramePr>
              <a:graphicFrameLocks noChangeAspect="1"/>
            </p:cNvGraphicFramePr>
            <p:nvPr/>
          </p:nvGraphicFramePr>
          <p:xfrm>
            <a:off x="797" y="2846"/>
            <a:ext cx="2163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53" name="公式" r:id="rId7" imgW="2718435" imgH="187960" progId="Equation.3">
                    <p:embed/>
                  </p:oleObj>
                </mc:Choice>
                <mc:Fallback>
                  <p:oleObj name="公式" r:id="rId7" imgW="2718435" imgH="18796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7" y="2846"/>
                          <a:ext cx="2163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5" name="Object 9"/>
            <p:cNvGraphicFramePr>
              <a:graphicFrameLocks noChangeAspect="1"/>
            </p:cNvGraphicFramePr>
            <p:nvPr/>
          </p:nvGraphicFramePr>
          <p:xfrm>
            <a:off x="780" y="3163"/>
            <a:ext cx="2242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54" name="公式" r:id="rId9" imgW="2693035" imgH="187960" progId="Equation.3">
                    <p:embed/>
                  </p:oleObj>
                </mc:Choice>
                <mc:Fallback>
                  <p:oleObj name="公式" r:id="rId9" imgW="2693035" imgH="18796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0" y="3163"/>
                          <a:ext cx="2242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6" name="Object 10"/>
            <p:cNvGraphicFramePr>
              <a:graphicFrameLocks noChangeAspect="1"/>
            </p:cNvGraphicFramePr>
            <p:nvPr/>
          </p:nvGraphicFramePr>
          <p:xfrm>
            <a:off x="782" y="3521"/>
            <a:ext cx="3051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55" name="公式" r:id="rId11" imgW="3544570" imgH="187960" progId="Equation.3">
                    <p:embed/>
                  </p:oleObj>
                </mc:Choice>
                <mc:Fallback>
                  <p:oleObj name="公式" r:id="rId11" imgW="3544570" imgH="18796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2" y="3521"/>
                          <a:ext cx="3051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527" name="AutoShape 20"/>
            <p:cNvSpPr/>
            <p:nvPr/>
          </p:nvSpPr>
          <p:spPr bwMode="auto">
            <a:xfrm>
              <a:off x="612" y="2976"/>
              <a:ext cx="136" cy="792"/>
            </a:xfrm>
            <a:prstGeom prst="leftBrace">
              <a:avLst>
                <a:gd name="adj1" fmla="val 48529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/>
            </a:p>
          </p:txBody>
        </p:sp>
      </p:grpSp>
      <p:grpSp>
        <p:nvGrpSpPr>
          <p:cNvPr id="64518" name="组合 18"/>
          <p:cNvGrpSpPr/>
          <p:nvPr/>
        </p:nvGrpSpPr>
        <p:grpSpPr bwMode="auto">
          <a:xfrm>
            <a:off x="357188" y="285750"/>
            <a:ext cx="8286750" cy="1471613"/>
            <a:chOff x="500034" y="285728"/>
            <a:chExt cx="8286836" cy="1471619"/>
          </a:xfrm>
        </p:grpSpPr>
        <p:sp>
          <p:nvSpPr>
            <p:cNvPr id="64519" name="Rectangle 5"/>
            <p:cNvSpPr>
              <a:spLocks noChangeArrowheads="1"/>
            </p:cNvSpPr>
            <p:nvPr/>
          </p:nvSpPr>
          <p:spPr bwMode="auto">
            <a:xfrm>
              <a:off x="1255717" y="285728"/>
              <a:ext cx="7531153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试利用</a:t>
              </a:r>
              <a:r>
                <a:rPr kumimoji="1" lang="en-US" altLang="zh-CN" sz="24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线－</a:t>
              </a:r>
              <a:r>
                <a:rPr kumimoji="1" lang="en-US" altLang="zh-CN" sz="24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线译码器</a:t>
              </a:r>
              <a:r>
                <a:rPr kumimoji="1" lang="en-US" altLang="zh-CN" sz="24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74LS138</a:t>
              </a: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设计一个多输出的组合逻辑电路。输出的逻辑函数式为：   </a:t>
              </a:r>
              <a:endPara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4520" name="Object 2"/>
            <p:cNvGraphicFramePr>
              <a:graphicFrameLocks noChangeAspect="1"/>
            </p:cNvGraphicFramePr>
            <p:nvPr/>
          </p:nvGraphicFramePr>
          <p:xfrm>
            <a:off x="1343045" y="1260459"/>
            <a:ext cx="1833563" cy="468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56" name="公式" r:id="rId13" imgW="1104900" imgH="241300" progId="Equation.3">
                    <p:embed/>
                  </p:oleObj>
                </mc:Choice>
                <mc:Fallback>
                  <p:oleObj name="公式" r:id="rId13" imgW="1104900" imgH="2413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3045" y="1260459"/>
                          <a:ext cx="1833563" cy="468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1" name="Object 3"/>
            <p:cNvGraphicFramePr>
              <a:graphicFrameLocks noChangeAspect="1"/>
            </p:cNvGraphicFramePr>
            <p:nvPr/>
          </p:nvGraphicFramePr>
          <p:xfrm>
            <a:off x="3503633" y="1214422"/>
            <a:ext cx="1944687" cy="498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57" name="公式" r:id="rId15" imgW="1104900" imgH="241300" progId="Equation.3">
                    <p:embed/>
                  </p:oleObj>
                </mc:Choice>
                <mc:Fallback>
                  <p:oleObj name="公式" r:id="rId15" imgW="1104900" imgH="2413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3633" y="1214422"/>
                          <a:ext cx="1944687" cy="4984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2" name="Object 4"/>
            <p:cNvGraphicFramePr>
              <a:graphicFrameLocks noChangeAspect="1"/>
            </p:cNvGraphicFramePr>
            <p:nvPr/>
          </p:nvGraphicFramePr>
          <p:xfrm>
            <a:off x="5918220" y="1250934"/>
            <a:ext cx="1511300" cy="506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58" name="公式" r:id="rId17" imgW="800100" imgH="228600" progId="Equation.3">
                    <p:embed/>
                  </p:oleObj>
                </mc:Choice>
                <mc:Fallback>
                  <p:oleObj name="公式" r:id="rId17" imgW="800100" imgH="2286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18220" y="1250934"/>
                          <a:ext cx="1511300" cy="5064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523" name="矩形 17"/>
            <p:cNvSpPr>
              <a:spLocks noChangeArrowheads="1"/>
            </p:cNvSpPr>
            <p:nvPr/>
          </p:nvSpPr>
          <p:spPr bwMode="auto">
            <a:xfrm>
              <a:off x="500034" y="285728"/>
              <a:ext cx="103265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n"/>
              </a:pP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例：</a:t>
              </a:r>
              <a:endParaRPr lang="zh-CN" altLang="en-US" sz="24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5"/>
          <p:cNvSpPr txBox="1">
            <a:spLocks noChangeArrowheads="1"/>
          </p:cNvSpPr>
          <p:nvPr/>
        </p:nvSpPr>
        <p:spPr bwMode="auto">
          <a:xfrm>
            <a:off x="684213" y="285750"/>
            <a:ext cx="2735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006600"/>
                </a:solidFill>
              </a:rPr>
              <a:t>③</a:t>
            </a:r>
            <a:r>
              <a:rPr lang="zh-CN" altLang="en-US" sz="2400" b="1">
                <a:solidFill>
                  <a:srgbClr val="006600"/>
                </a:solidFill>
              </a:rPr>
              <a:t>画逻辑电路</a:t>
            </a:r>
            <a:endParaRPr lang="zh-CN" altLang="en-US" sz="2400" b="1">
              <a:solidFill>
                <a:srgbClr val="006600"/>
              </a:solidFill>
            </a:endParaRPr>
          </a:p>
        </p:txBody>
      </p:sp>
      <p:pic>
        <p:nvPicPr>
          <p:cNvPr id="65539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975" y="995363"/>
            <a:ext cx="4210050" cy="536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Box 1"/>
          <p:cNvSpPr txBox="1">
            <a:spLocks noChangeArrowheads="1"/>
          </p:cNvSpPr>
          <p:nvPr/>
        </p:nvSpPr>
        <p:spPr bwMode="auto">
          <a:xfrm>
            <a:off x="395288" y="2133600"/>
            <a:ext cx="8280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</a:rPr>
              <a:t>练习：试用</a:t>
            </a:r>
            <a:r>
              <a:rPr lang="en-US" altLang="zh-CN" sz="2400" b="1">
                <a:solidFill>
                  <a:srgbClr val="000000"/>
                </a:solidFill>
              </a:rPr>
              <a:t>74LS138</a:t>
            </a:r>
            <a:r>
              <a:rPr lang="zh-CN" altLang="en-US" sz="2400" b="1">
                <a:solidFill>
                  <a:srgbClr val="000000"/>
                </a:solidFill>
              </a:rPr>
              <a:t>和最少数量的二输入逻辑门设计一个不一致电路。当</a:t>
            </a:r>
            <a:r>
              <a:rPr lang="en-US" altLang="zh-CN" sz="2400" b="1">
                <a:solidFill>
                  <a:srgbClr val="000000"/>
                </a:solidFill>
              </a:rPr>
              <a:t>A</a:t>
            </a:r>
            <a:r>
              <a:rPr lang="zh-CN" altLang="en-US" sz="2400" b="1">
                <a:solidFill>
                  <a:srgbClr val="000000"/>
                </a:solidFill>
              </a:rPr>
              <a:t>、</a:t>
            </a:r>
            <a:r>
              <a:rPr lang="en-US" altLang="zh-CN" sz="2400" b="1">
                <a:solidFill>
                  <a:srgbClr val="000000"/>
                </a:solidFill>
              </a:rPr>
              <a:t>B</a:t>
            </a:r>
            <a:r>
              <a:rPr lang="zh-CN" altLang="en-US" sz="2400" b="1">
                <a:solidFill>
                  <a:srgbClr val="000000"/>
                </a:solidFill>
              </a:rPr>
              <a:t>、</a:t>
            </a:r>
            <a:r>
              <a:rPr lang="en-US" altLang="zh-CN" sz="2400" b="1">
                <a:solidFill>
                  <a:srgbClr val="000000"/>
                </a:solidFill>
              </a:rPr>
              <a:t>C</a:t>
            </a:r>
            <a:r>
              <a:rPr lang="zh-CN" altLang="en-US" sz="2400" b="1">
                <a:solidFill>
                  <a:srgbClr val="000000"/>
                </a:solidFill>
              </a:rPr>
              <a:t>三个输入不一致时，输出</a:t>
            </a:r>
            <a:r>
              <a:rPr lang="en-US" altLang="zh-CN" sz="2400" b="1">
                <a:solidFill>
                  <a:srgbClr val="000000"/>
                </a:solidFill>
              </a:rPr>
              <a:t>F</a:t>
            </a:r>
            <a:r>
              <a:rPr lang="zh-CN" altLang="en-US" sz="2400" b="1">
                <a:solidFill>
                  <a:srgbClr val="000000"/>
                </a:solidFill>
              </a:rPr>
              <a:t>为</a:t>
            </a:r>
            <a:r>
              <a:rPr lang="en-US" altLang="zh-CN" sz="2400" b="1">
                <a:solidFill>
                  <a:srgbClr val="000000"/>
                </a:solidFill>
              </a:rPr>
              <a:t>1</a:t>
            </a:r>
            <a:r>
              <a:rPr lang="zh-CN" altLang="en-US" sz="2400" b="1">
                <a:solidFill>
                  <a:srgbClr val="000000"/>
                </a:solidFill>
              </a:rPr>
              <a:t>；一致时，输出为</a:t>
            </a:r>
            <a:r>
              <a:rPr lang="en-US" altLang="zh-CN" sz="2400" b="1">
                <a:solidFill>
                  <a:srgbClr val="000000"/>
                </a:solidFill>
              </a:rPr>
              <a:t>0</a:t>
            </a:r>
            <a:r>
              <a:rPr lang="zh-CN" altLang="en-US" sz="2400" b="1">
                <a:solidFill>
                  <a:srgbClr val="000000"/>
                </a:solidFill>
              </a:rPr>
              <a:t>。</a:t>
            </a:r>
            <a:endParaRPr lang="zh-CN" altLang="en-US" sz="2400"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6"/>
          <p:cNvSpPr txBox="1">
            <a:spLocks noChangeArrowheads="1"/>
          </p:cNvSpPr>
          <p:nvPr/>
        </p:nvSpPr>
        <p:spPr bwMode="auto">
          <a:xfrm>
            <a:off x="500063" y="285750"/>
            <a:ext cx="65325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二、用数据选择器设计组合逻辑电路</a:t>
            </a:r>
            <a:endParaRPr lang="zh-CN" altLang="en-US" sz="2800" b="1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3246438" y="2393950"/>
          <a:ext cx="2151062" cy="124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2" name="公式" r:id="rId1" imgW="864235" imgH="426085" progId="Equation.3">
                  <p:embed/>
                </p:oleObj>
              </mc:Choice>
              <mc:Fallback>
                <p:oleObj name="公式" r:id="rId1" imgW="864235" imgH="42608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438" y="2393950"/>
                        <a:ext cx="2151062" cy="1249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8" name="Text Box 12"/>
          <p:cNvSpPr txBox="1">
            <a:spLocks noChangeArrowheads="1"/>
          </p:cNvSpPr>
          <p:nvPr/>
        </p:nvSpPr>
        <p:spPr bwMode="auto">
          <a:xfrm>
            <a:off x="684213" y="4144963"/>
            <a:ext cx="78882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　　因为任何组合逻辑函数总可以用最小项之和的标准形式构成。所以，可利用数据选择器的输入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en-US" altLang="zh-CN" sz="2400" b="1" i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zh-CN" altLang="en-US" sz="2400" b="1" i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来选择</a:t>
            </a:r>
            <a:r>
              <a:rPr kumimoji="1"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地址变量组成的最小项</a:t>
            </a:r>
            <a:r>
              <a:rPr kumimoji="1" lang="en-US" altLang="zh-CN" sz="2400" b="1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1" lang="en-US" altLang="zh-CN" sz="2400" b="1" i="1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zh-CN" altLang="en-US" sz="2400" b="1" i="1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，可以实现任何所需的组合逻辑函数。</a:t>
            </a:r>
            <a:endParaRPr kumimoji="1"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29" name="Text Box 13"/>
          <p:cNvSpPr txBox="1">
            <a:spLocks noChangeArrowheads="1"/>
          </p:cNvSpPr>
          <p:nvPr/>
        </p:nvSpPr>
        <p:spPr bwMode="auto">
          <a:xfrm>
            <a:off x="715963" y="1000125"/>
            <a:ext cx="785653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如果一个数据选择器的地址变量个数为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，则对这个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baseline="50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选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的数据选择器的输出具有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标准与或表达式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的形式。</a:t>
            </a:r>
            <a:endParaRPr lang="zh-CN" altLang="en-US" sz="240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/>
      <p:bldP spid="2662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6"/>
          <p:cNvSpPr txBox="1">
            <a:spLocks noChangeArrowheads="1"/>
          </p:cNvSpPr>
          <p:nvPr/>
        </p:nvSpPr>
        <p:spPr bwMode="auto">
          <a:xfrm>
            <a:off x="1143000" y="146050"/>
            <a:ext cx="735806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试用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选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数据选择器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74LS153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实现如下逻辑函数的组合逻辑电路。</a:t>
            </a:r>
            <a:endParaRPr kumimoji="1" lang="zh-CN" altLang="en-US" sz="240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8611" name="Object 2"/>
          <p:cNvGraphicFramePr>
            <a:graphicFrameLocks noChangeAspect="1"/>
          </p:cNvGraphicFramePr>
          <p:nvPr/>
        </p:nvGraphicFramePr>
        <p:xfrm>
          <a:off x="2032000" y="1047750"/>
          <a:ext cx="42291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28" name="公式" r:id="rId1" imgW="1879600" imgH="215900" progId="Equation.3">
                  <p:embed/>
                </p:oleObj>
              </mc:Choice>
              <mc:Fallback>
                <p:oleObj name="公式" r:id="rId1" imgW="1879600" imgH="2159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0" y="1047750"/>
                        <a:ext cx="422910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4" name="Text Box 8"/>
          <p:cNvSpPr txBox="1">
            <a:spLocks noChangeArrowheads="1"/>
          </p:cNvSpPr>
          <p:nvPr/>
        </p:nvSpPr>
        <p:spPr bwMode="auto">
          <a:xfrm>
            <a:off x="630238" y="1646238"/>
            <a:ext cx="5545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解：逻辑函数变形为最小项之和形式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1317625" y="2259013"/>
          <a:ext cx="568960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29" name="公式" r:id="rId3" imgW="3073400" imgH="469900" progId="Equation.3">
                  <p:embed/>
                </p:oleObj>
              </mc:Choice>
              <mc:Fallback>
                <p:oleObj name="公式" r:id="rId3" imgW="3073400" imgH="469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7625" y="2259013"/>
                        <a:ext cx="5689600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1597025" y="3879850"/>
          <a:ext cx="5578475" cy="205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30" name="公式" r:id="rId5" imgW="3369310" imgH="1127125" progId="Equation.3">
                  <p:embed/>
                </p:oleObj>
              </mc:Choice>
              <mc:Fallback>
                <p:oleObj name="公式" r:id="rId5" imgW="3369310" imgH="112712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7025" y="3879850"/>
                        <a:ext cx="5578475" cy="205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2"/>
          <p:cNvGrpSpPr/>
          <p:nvPr/>
        </p:nvGrpSpPr>
        <p:grpSpPr bwMode="auto">
          <a:xfrm>
            <a:off x="644525" y="6038850"/>
            <a:ext cx="8174038" cy="461963"/>
            <a:chOff x="755650" y="5964235"/>
            <a:chExt cx="8174038" cy="461962"/>
          </a:xfrm>
        </p:grpSpPr>
        <p:sp>
          <p:nvSpPr>
            <p:cNvPr id="68618" name="Text Box 14"/>
            <p:cNvSpPr txBox="1">
              <a:spLocks noChangeArrowheads="1"/>
            </p:cNvSpPr>
            <p:nvPr/>
          </p:nvSpPr>
          <p:spPr bwMode="auto">
            <a:xfrm>
              <a:off x="755650" y="5964238"/>
              <a:ext cx="52244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比较可得：当 </a:t>
              </a:r>
              <a:r>
                <a:rPr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="1" i="1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="1" i="1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en-US" sz="2400" b="1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＝</a:t>
              </a:r>
              <a:r>
                <a:rPr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 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时，</a:t>
              </a:r>
              <a:endPara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8619" name="Group 17"/>
            <p:cNvGrpSpPr/>
            <p:nvPr/>
          </p:nvGrpSpPr>
          <p:grpSpPr bwMode="auto">
            <a:xfrm>
              <a:off x="4716463" y="5964235"/>
              <a:ext cx="4213225" cy="461962"/>
              <a:chOff x="1728" y="3766"/>
              <a:chExt cx="2268" cy="291"/>
            </a:xfrm>
          </p:grpSpPr>
          <p:sp>
            <p:nvSpPr>
              <p:cNvPr id="68620" name="Text Box 15"/>
              <p:cNvSpPr txBox="1">
                <a:spLocks noChangeArrowheads="1"/>
              </p:cNvSpPr>
              <p:nvPr/>
            </p:nvSpPr>
            <p:spPr bwMode="auto">
              <a:xfrm>
                <a:off x="1728" y="3766"/>
                <a:ext cx="226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1" i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CN" sz="2400" b="1" i="1" baseline="-25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400" b="1" i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=C</a:t>
                </a:r>
                <a:r>
                  <a:rPr lang="zh-CN" altLang="en-US" sz="2400" b="1" i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400" b="1" i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CN" sz="2400" b="1" i="1" baseline="-25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400" b="1" i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</a:t>
                </a:r>
                <a:r>
                  <a:rPr lang="zh-CN" altLang="en-US" sz="2400" b="1" i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400" b="1" i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CN" sz="2400" b="1" i="1" baseline="-25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400" b="1" i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=C</a:t>
                </a:r>
                <a:r>
                  <a:rPr lang="zh-CN" altLang="en-US" sz="2400" b="1" i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400" b="1" i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CN" sz="2400" b="1" i="1" baseline="-25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400" b="1" i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</a:t>
                </a:r>
                <a:endParaRPr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8621" name="Line 16"/>
              <p:cNvSpPr>
                <a:spLocks noChangeShapeType="1"/>
              </p:cNvSpPr>
              <p:nvPr/>
            </p:nvSpPr>
            <p:spPr bwMode="auto">
              <a:xfrm>
                <a:off x="3112" y="3826"/>
                <a:ext cx="136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7657" name="Text Box 21"/>
          <p:cNvSpPr txBox="1">
            <a:spLocks noChangeArrowheads="1"/>
          </p:cNvSpPr>
          <p:nvPr/>
        </p:nvSpPr>
        <p:spPr bwMode="auto">
          <a:xfrm>
            <a:off x="1214438" y="3360738"/>
            <a:ext cx="27860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选地址 </a:t>
            </a:r>
            <a:r>
              <a:rPr lang="en-US" altLang="zh-CN" sz="2400" b="1" i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-2500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i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-2500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b="1" i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=AB</a:t>
            </a:r>
            <a:endParaRPr lang="en-US" altLang="zh-CN" sz="2400" b="1" i="1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17" name="矩形 11"/>
          <p:cNvSpPr>
            <a:spLocks noChangeArrowheads="1"/>
          </p:cNvSpPr>
          <p:nvPr/>
        </p:nvSpPr>
        <p:spPr bwMode="auto">
          <a:xfrm>
            <a:off x="428625" y="157163"/>
            <a:ext cx="1031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例：</a:t>
            </a:r>
            <a:endParaRPr lang="zh-CN" altLang="en-US" sz="240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4" grpId="0"/>
      <p:bldP spid="2765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37"/>
          <p:cNvGrpSpPr/>
          <p:nvPr/>
        </p:nvGrpSpPr>
        <p:grpSpPr bwMode="auto">
          <a:xfrm>
            <a:off x="1143000" y="714375"/>
            <a:ext cx="4000500" cy="3533775"/>
            <a:chOff x="642910" y="714356"/>
            <a:chExt cx="4000528" cy="3533499"/>
          </a:xfrm>
        </p:grpSpPr>
        <p:grpSp>
          <p:nvGrpSpPr>
            <p:cNvPr id="69637" name="组合 18"/>
            <p:cNvGrpSpPr/>
            <p:nvPr/>
          </p:nvGrpSpPr>
          <p:grpSpPr bwMode="auto">
            <a:xfrm>
              <a:off x="1071538" y="1071546"/>
              <a:ext cx="3571900" cy="2912402"/>
              <a:chOff x="1071538" y="1071546"/>
              <a:chExt cx="3571900" cy="2912402"/>
            </a:xfrm>
          </p:grpSpPr>
          <p:grpSp>
            <p:nvGrpSpPr>
              <p:cNvPr id="69651" name="组合 9"/>
              <p:cNvGrpSpPr/>
              <p:nvPr/>
            </p:nvGrpSpPr>
            <p:grpSpPr bwMode="auto">
              <a:xfrm>
                <a:off x="1714480" y="1643050"/>
                <a:ext cx="2928958" cy="1500198"/>
                <a:chOff x="1714480" y="1643050"/>
                <a:chExt cx="2928958" cy="1500198"/>
              </a:xfrm>
            </p:grpSpPr>
            <p:sp>
              <p:nvSpPr>
                <p:cNvPr id="2" name="矩形 1"/>
                <p:cNvSpPr/>
                <p:nvPr/>
              </p:nvSpPr>
              <p:spPr>
                <a:xfrm>
                  <a:off x="1714480" y="1714402"/>
                  <a:ext cx="2928957" cy="142863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sp>
              <p:nvSpPr>
                <p:cNvPr id="69660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2214546" y="2681583"/>
                  <a:ext cx="569917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2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altLang="zh-CN" sz="2400" b="1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endParaRPr lang="en-US" altLang="zh-CN" sz="24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9661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2716199" y="2681583"/>
                  <a:ext cx="569917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2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altLang="zh-CN" sz="2400" b="1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en-US" altLang="zh-CN" sz="24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9662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3214678" y="2681583"/>
                  <a:ext cx="569917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2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altLang="zh-CN" sz="2400" b="1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en-US" altLang="zh-CN" sz="24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9663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3716331" y="2681583"/>
                  <a:ext cx="569917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2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altLang="zh-CN" sz="2400" b="1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:endParaRPr lang="en-US" altLang="zh-CN" sz="24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9664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1714480" y="1857364"/>
                  <a:ext cx="1000132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2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zh-CN" sz="2400" b="1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en-US" altLang="zh-CN" sz="24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9665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1714480" y="2467269"/>
                  <a:ext cx="107157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2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zh-CN" sz="2400" b="1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endParaRPr lang="en-US" altLang="zh-CN" sz="24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9666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2928926" y="1643050"/>
                  <a:ext cx="500066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2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Y</a:t>
                  </a:r>
                  <a:endParaRPr lang="en-US" altLang="zh-CN" sz="24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2" name="直接连接符 11"/>
              <p:cNvCxnSpPr/>
              <p:nvPr/>
            </p:nvCxnSpPr>
            <p:spPr>
              <a:xfrm>
                <a:off x="1071538" y="2142994"/>
                <a:ext cx="642943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>
                <a:off x="1071538" y="2714450"/>
                <a:ext cx="642943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 rot="5400000">
                <a:off x="2014555" y="3570046"/>
                <a:ext cx="82861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/>
              <p:cNvCxnSpPr/>
              <p:nvPr/>
            </p:nvCxnSpPr>
            <p:spPr>
              <a:xfrm rot="5400000">
                <a:off x="2750347" y="3321621"/>
                <a:ext cx="357159" cy="317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 rot="5400000">
                <a:off x="3015481" y="3556553"/>
                <a:ext cx="827023" cy="317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 rot="5400000">
                <a:off x="3607614" y="3464485"/>
                <a:ext cx="642888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 rot="5400000">
                <a:off x="2821797" y="1392960"/>
                <a:ext cx="64288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638" name="Text Box 15"/>
            <p:cNvSpPr txBox="1">
              <a:spLocks noChangeArrowheads="1"/>
            </p:cNvSpPr>
            <p:nvPr/>
          </p:nvSpPr>
          <p:spPr bwMode="auto">
            <a:xfrm>
              <a:off x="642910" y="1895765"/>
              <a:ext cx="42862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639" name="Text Box 15"/>
            <p:cNvSpPr txBox="1">
              <a:spLocks noChangeArrowheads="1"/>
            </p:cNvSpPr>
            <p:nvPr/>
          </p:nvSpPr>
          <p:spPr bwMode="auto">
            <a:xfrm>
              <a:off x="642910" y="2467269"/>
              <a:ext cx="42862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640" name="Text Box 15"/>
            <p:cNvSpPr txBox="1">
              <a:spLocks noChangeArrowheads="1"/>
            </p:cNvSpPr>
            <p:nvPr/>
          </p:nvSpPr>
          <p:spPr bwMode="auto">
            <a:xfrm>
              <a:off x="2928926" y="714356"/>
              <a:ext cx="42862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altLang="zh-CN" sz="2400" b="1" i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2928926" y="3500201"/>
              <a:ext cx="1000132" cy="15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25"/>
            <p:cNvSpPr/>
            <p:nvPr/>
          </p:nvSpPr>
          <p:spPr>
            <a:xfrm>
              <a:off x="3883021" y="3441468"/>
              <a:ext cx="107951" cy="10794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rot="5400000">
              <a:off x="2714633" y="3785914"/>
              <a:ext cx="500024" cy="357191"/>
            </a:xfrm>
            <a:prstGeom prst="triangle">
              <a:avLst>
                <a:gd name="adj" fmla="val 5000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3143241" y="3916094"/>
              <a:ext cx="107951" cy="10794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29" name="直接连接符 28"/>
            <p:cNvCxnSpPr/>
            <p:nvPr/>
          </p:nvCxnSpPr>
          <p:spPr>
            <a:xfrm>
              <a:off x="3252778" y="3974826"/>
              <a:ext cx="179389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V="1">
              <a:off x="1130276" y="3978001"/>
              <a:ext cx="164307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椭圆 33"/>
            <p:cNvSpPr/>
            <p:nvPr/>
          </p:nvSpPr>
          <p:spPr>
            <a:xfrm>
              <a:off x="2370122" y="3928793"/>
              <a:ext cx="107951" cy="10794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9648" name="Text Box 15"/>
            <p:cNvSpPr txBox="1">
              <a:spLocks noChangeArrowheads="1"/>
            </p:cNvSpPr>
            <p:nvPr/>
          </p:nvSpPr>
          <p:spPr bwMode="auto">
            <a:xfrm>
              <a:off x="642910" y="3753153"/>
              <a:ext cx="42862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649" name="Text Box 15"/>
            <p:cNvSpPr txBox="1">
              <a:spLocks noChangeArrowheads="1"/>
            </p:cNvSpPr>
            <p:nvPr/>
          </p:nvSpPr>
          <p:spPr bwMode="auto">
            <a:xfrm>
              <a:off x="3643306" y="3786190"/>
              <a:ext cx="78581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“1”</a:t>
              </a:r>
              <a:endPara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650" name="矩形 36"/>
            <p:cNvSpPr>
              <a:spLocks noChangeArrowheads="1"/>
            </p:cNvSpPr>
            <p:nvPr/>
          </p:nvSpPr>
          <p:spPr bwMode="auto">
            <a:xfrm>
              <a:off x="2571736" y="2143116"/>
              <a:ext cx="133081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74LS153</a:t>
              </a:r>
              <a:endParaRPr lang="zh-CN" altLang="en-US" sz="2400" b="1">
                <a:solidFill>
                  <a:srgbClr val="7030A0"/>
                </a:solidFill>
              </a:endParaRPr>
            </a:p>
          </p:txBody>
        </p:sp>
      </p:grpSp>
      <p:sp>
        <p:nvSpPr>
          <p:cNvPr id="69635" name="Text Box 5"/>
          <p:cNvSpPr txBox="1">
            <a:spLocks noChangeArrowheads="1"/>
          </p:cNvSpPr>
          <p:nvPr/>
        </p:nvSpPr>
        <p:spPr bwMode="auto">
          <a:xfrm>
            <a:off x="684213" y="285750"/>
            <a:ext cx="2735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400" b="1">
                <a:solidFill>
                  <a:srgbClr val="006600"/>
                </a:solidFill>
              </a:rPr>
              <a:t> 逻辑电路图</a:t>
            </a:r>
            <a:endParaRPr lang="zh-CN" altLang="en-US" sz="2400" b="1">
              <a:solidFill>
                <a:srgbClr val="006600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928688" y="4929188"/>
            <a:ext cx="7562850" cy="8302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Ø"/>
              <a:defRPr/>
            </a:pPr>
            <a:r>
              <a:rPr kumimoji="1" lang="zh-CN" altLang="en-US" sz="2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结论：</a:t>
            </a:r>
            <a:endParaRPr kumimoji="1" lang="en-US" altLang="zh-CN" sz="24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66700">
              <a:defRPr/>
            </a:pP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400" b="1" i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zh-CN" altLang="en-US" sz="2400" b="1" i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选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数据选择器可实现任意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n+1</a:t>
            </a:r>
            <a:r>
              <a:rPr kumimoji="1" lang="zh-CN" altLang="en-US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个变量的逻辑函数。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7525" y="2133600"/>
            <a:ext cx="7632700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练习：请用</a:t>
            </a:r>
            <a:r>
              <a:rPr kumimoji="1" lang="en-US" altLang="zh-CN" sz="2400" b="1" dirty="0">
                <a:latin typeface="+mn-ea"/>
                <a:ea typeface="+mn-ea"/>
                <a:cs typeface="Times New Roman" panose="02020603050405020304" pitchFamily="18" charset="0"/>
              </a:rPr>
              <a:t>8</a:t>
            </a: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选</a:t>
            </a:r>
            <a:r>
              <a:rPr kumimoji="1" lang="en-US" altLang="zh-CN" sz="2400" b="1" dirty="0"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数据选择器</a:t>
            </a:r>
            <a:r>
              <a:rPr kumimoji="1" lang="en-US" altLang="zh-CN" sz="2400" b="1" dirty="0">
                <a:latin typeface="+mn-ea"/>
                <a:ea typeface="+mn-ea"/>
                <a:cs typeface="Times New Roman" panose="02020603050405020304" pitchFamily="18" charset="0"/>
              </a:rPr>
              <a:t>74LS151</a:t>
            </a: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实现下列函数。</a:t>
            </a:r>
            <a:endParaRPr kumimoji="1" lang="en-US" altLang="zh-CN" sz="2400" b="1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zh-CN" sz="2400" b="1" dirty="0">
              <a:latin typeface="+mn-ea"/>
              <a:ea typeface="+mn-ea"/>
            </a:endParaRPr>
          </a:p>
          <a:p>
            <a:pPr>
              <a:defRPr/>
            </a:pPr>
            <a:r>
              <a:rPr lang="en-US" altLang="zh-CN" sz="2400" b="1" dirty="0">
                <a:latin typeface="+mn-ea"/>
                <a:ea typeface="+mn-ea"/>
              </a:rPr>
              <a:t>Y</a:t>
            </a:r>
            <a:r>
              <a:rPr lang="zh-CN" altLang="zh-CN" sz="2400" b="1" dirty="0">
                <a:latin typeface="+mn-ea"/>
                <a:ea typeface="+mn-ea"/>
              </a:rPr>
              <a:t>（</a:t>
            </a:r>
            <a:r>
              <a:rPr lang="en-US" altLang="zh-CN" sz="2400" b="1" dirty="0">
                <a:latin typeface="+mn-ea"/>
                <a:ea typeface="+mn-ea"/>
              </a:rPr>
              <a:t>A,B,C,D</a:t>
            </a:r>
            <a:r>
              <a:rPr lang="zh-CN" altLang="zh-CN" sz="2400" b="1" dirty="0">
                <a:latin typeface="+mn-ea"/>
                <a:ea typeface="+mn-ea"/>
              </a:rPr>
              <a:t>）</a:t>
            </a:r>
            <a:r>
              <a:rPr lang="en-US" altLang="zh-CN" sz="2400" b="1" dirty="0">
                <a:latin typeface="+mn-ea"/>
                <a:ea typeface="+mn-ea"/>
              </a:rPr>
              <a:t>=</a:t>
            </a:r>
            <a:r>
              <a:rPr lang="en-US" altLang="zh-CN" sz="2400" b="1" dirty="0" err="1">
                <a:latin typeface="+mn-ea"/>
                <a:ea typeface="+mn-ea"/>
              </a:rPr>
              <a:t>Σm</a:t>
            </a:r>
            <a:r>
              <a:rPr lang="en-US" altLang="zh-CN" sz="2400" b="1" dirty="0">
                <a:latin typeface="+mn-ea"/>
                <a:ea typeface="+mn-ea"/>
              </a:rPr>
              <a:t>(1,5,6,7,9,11,12,13,14) </a:t>
            </a:r>
            <a:endParaRPr lang="zh-CN" altLang="en-US" sz="24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5"/>
          <p:cNvSpPr txBox="1">
            <a:spLocks noChangeArrowheads="1"/>
          </p:cNvSpPr>
          <p:nvPr/>
        </p:nvSpPr>
        <p:spPr bwMode="auto">
          <a:xfrm>
            <a:off x="357188" y="214313"/>
            <a:ext cx="5715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三、用加法器设计组合逻辑电路</a:t>
            </a:r>
            <a:endParaRPr lang="zh-CN" altLang="en-US" sz="2800" b="1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428625" y="828675"/>
            <a:ext cx="8208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：设计一个能将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BCD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代码转换为余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代码的代码转换器。</a:t>
            </a:r>
            <a:endParaRPr kumimoji="1" lang="zh-CN" altLang="en-US" sz="240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977900" y="2286000"/>
          <a:ext cx="4178300" cy="407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2" name="Worksheet" r:id="rId1" imgW="3073400" imgH="2997200" progId="Excel.Sheet.8">
                  <p:embed/>
                </p:oleObj>
              </mc:Choice>
              <mc:Fallback>
                <p:oleObj name="Worksheet" r:id="rId1" imgW="3073400" imgH="2997200" progId="Excel.Shee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900" y="2286000"/>
                        <a:ext cx="4178300" cy="407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457200" y="1571625"/>
            <a:ext cx="5400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解：列出代码转换电路的逻辑真值表</a:t>
            </a:r>
            <a:endParaRPr kumimoji="1" lang="zh-CN" altLang="en-US" sz="24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153025" y="1984375"/>
            <a:ext cx="356235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可得：</a:t>
            </a:r>
            <a:endParaRPr kumimoji="1" lang="zh-CN" altLang="en-US" sz="24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=DCBA+ 0011</a:t>
            </a:r>
            <a:endParaRPr kumimoji="1" lang="en-US" altLang="zh-CN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/>
        </p:nvGraphicFramePr>
        <p:xfrm>
          <a:off x="5395913" y="3265488"/>
          <a:ext cx="3276600" cy="302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3" name="图片" r:id="rId3" imgW="1714500" imgH="1581150" progId="Word.Picture.8">
                  <p:embed/>
                </p:oleObj>
              </mc:Choice>
              <mc:Fallback>
                <p:oleObj name="图片" r:id="rId3" imgW="1714500" imgH="1581150" progId="Word.Picture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913" y="3265488"/>
                        <a:ext cx="3276600" cy="302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28625" y="71438"/>
            <a:ext cx="8072438" cy="12001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809625" indent="-809625" algn="just">
              <a:defRPr/>
            </a:pPr>
            <a:r>
              <a:rPr lang="zh-CN" altLang="en-US" sz="24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：已知二进制数</a:t>
            </a:r>
            <a:r>
              <a:rPr lang="en-US" altLang="zh-CN" sz="2400" b="1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A=a</a:t>
            </a:r>
            <a:r>
              <a:rPr lang="en-US" altLang="zh-CN" sz="2400" b="1" i="1" kern="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kern="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kern="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B=b</a:t>
            </a:r>
            <a:r>
              <a:rPr lang="en-US" altLang="zh-CN" sz="2400" b="1" i="1" kern="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i="1" kern="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，利用一片四位二进制加法器</a:t>
            </a:r>
            <a:r>
              <a:rPr lang="en-US" altLang="zh-CN" sz="24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74LS283</a:t>
            </a:r>
            <a:r>
              <a:rPr lang="zh-CN" altLang="en-US" sz="24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4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个与门设计一个算术乘法器，实现 </a:t>
            </a:r>
            <a:r>
              <a:rPr lang="en-US" altLang="zh-CN" sz="2400" b="1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400" b="1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400" b="1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b="1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╳</a:t>
            </a:r>
            <a:r>
              <a:rPr lang="zh-CN" altLang="en-US" sz="1800" b="1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b="1" kern="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1814513" y="1643063"/>
          <a:ext cx="51149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15" name="公式" r:id="rId1" imgW="2272030" imgH="177800" progId="Equation.3">
                  <p:embed/>
                </p:oleObj>
              </mc:Choice>
              <mc:Fallback>
                <p:oleObj name="公式" r:id="rId1" imgW="2272030" imgH="177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4513" y="1643063"/>
                        <a:ext cx="5114925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1800225" y="2033588"/>
            <a:ext cx="3700463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400" b="1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0a</a:t>
            </a:r>
            <a:r>
              <a:rPr lang="en-US" altLang="zh-CN" sz="2400" b="1" i="1" kern="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kern="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kern="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i="1" kern="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CN" sz="2400" b="1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2A</a:t>
            </a:r>
            <a:r>
              <a:rPr lang="zh-CN" altLang="en-US" sz="2400" b="1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400" b="1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kern="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kern="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kern="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400" dirty="0">
              <a:solidFill>
                <a:srgbClr val="00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14438" y="1214438"/>
            <a:ext cx="1341437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n"/>
              <a:defRPr/>
            </a:pPr>
            <a:r>
              <a:rPr lang="zh-CN" altLang="en-US" sz="2400" b="1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分析：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85938" y="2500313"/>
            <a:ext cx="3584575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i="1" kern="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sz="2400" b="1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400" b="1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i="1" kern="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i="1" kern="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为一位二进制数；</a:t>
            </a:r>
            <a:endParaRPr lang="zh-CN" altLang="en-US" sz="2400" dirty="0">
              <a:solidFill>
                <a:srgbClr val="000000"/>
              </a:solidFill>
            </a:endParaRPr>
          </a:p>
        </p:txBody>
      </p:sp>
      <p:sp>
        <p:nvSpPr>
          <p:cNvPr id="8" name="左大括号 7"/>
          <p:cNvSpPr/>
          <p:nvPr/>
        </p:nvSpPr>
        <p:spPr>
          <a:xfrm>
            <a:off x="1571625" y="1781175"/>
            <a:ext cx="214313" cy="1000125"/>
          </a:xfrm>
          <a:prstGeom prst="leftBrace">
            <a:avLst>
              <a:gd name="adj1" fmla="val 58333"/>
              <a:gd name="adj2" fmla="val 46491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9523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313" y="3000375"/>
            <a:ext cx="6677025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5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730" name="Object 3"/>
          <p:cNvGraphicFramePr>
            <a:graphicFrameLocks noChangeAspect="1"/>
          </p:cNvGraphicFramePr>
          <p:nvPr/>
        </p:nvGraphicFramePr>
        <p:xfrm>
          <a:off x="3016250" y="4721225"/>
          <a:ext cx="1127125" cy="203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6" name="Photo Editor 照片" r:id="rId1" imgW="5038725" imgH="9077325" progId="MSPhotoEd.3">
                  <p:embed/>
                </p:oleObj>
              </mc:Choice>
              <mc:Fallback>
                <p:oleObj name="Photo Editor 照片" r:id="rId1" imgW="5038725" imgH="9077325" progId="MSPhotoEd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250" y="4721225"/>
                        <a:ext cx="1127125" cy="203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493963" y="1916113"/>
            <a:ext cx="2592387" cy="2016125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Y=3X</a:t>
            </a:r>
            <a:endParaRPr lang="en-US" altLang="zh-CN" sz="24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1270000" y="2449513"/>
            <a:ext cx="1223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pPr>
              <a:defRPr/>
            </a:pPr>
            <a:endParaRPr lang="zh-CN" altLang="en-US" sz="240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1270000" y="2809875"/>
            <a:ext cx="1223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pPr>
              <a:defRPr/>
            </a:pPr>
            <a:endParaRPr lang="zh-CN" altLang="en-US" sz="240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1271588" y="3168650"/>
            <a:ext cx="1223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pPr>
              <a:defRPr/>
            </a:pPr>
            <a:endParaRPr lang="zh-CN" altLang="en-US" sz="240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auto">
          <a:xfrm rot="5400000">
            <a:off x="3198019" y="4199731"/>
            <a:ext cx="674688" cy="288925"/>
          </a:xfrm>
          <a:prstGeom prst="rightArrow">
            <a:avLst>
              <a:gd name="adj1" fmla="val 50000"/>
              <a:gd name="adj2" fmla="val 9978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>
              <a:defRPr/>
            </a:pPr>
            <a:endParaRPr lang="zh-CN" altLang="en-US" sz="240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717550" y="2166938"/>
            <a:ext cx="814388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 b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D2</a:t>
            </a:r>
            <a:endParaRPr lang="en-US" altLang="zh-CN" sz="2400" b="1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717550" y="2527300"/>
            <a:ext cx="814388" cy="461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 b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D1</a:t>
            </a:r>
            <a:endParaRPr lang="en-US" altLang="zh-CN" sz="2400" b="1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717550" y="2887663"/>
            <a:ext cx="814388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 b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D0</a:t>
            </a:r>
            <a:endParaRPr lang="en-US" altLang="zh-CN" sz="2400" b="1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73739" name="Object 13"/>
          <p:cNvGraphicFramePr>
            <a:graphicFrameLocks noChangeAspect="1"/>
          </p:cNvGraphicFramePr>
          <p:nvPr/>
        </p:nvGraphicFramePr>
        <p:xfrm>
          <a:off x="5715000" y="1785938"/>
          <a:ext cx="3071813" cy="397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7" name="Photo Editor 照片" r:id="rId3" imgW="7444740" imgH="9639300" progId="MSPhotoEd.3">
                  <p:embed/>
                </p:oleObj>
              </mc:Choice>
              <mc:Fallback>
                <p:oleObj name="Photo Editor 照片" r:id="rId3" imgW="7444740" imgH="9639300" progId="MSPhotoEd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1785938"/>
                        <a:ext cx="3071813" cy="3978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714375" y="741363"/>
            <a:ext cx="7500938" cy="8302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defRPr/>
            </a:pPr>
            <a:r>
              <a:rPr lang="zh-CN" altLang="en-US" sz="24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已知</a:t>
            </a:r>
            <a:r>
              <a:rPr lang="en-US" altLang="zh-CN" sz="24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4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位二进制数（其值小于等于</a:t>
            </a:r>
            <a:r>
              <a:rPr lang="en-US" altLang="zh-CN" sz="24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4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），试实现</a:t>
            </a:r>
            <a:r>
              <a:rPr lang="en-US" altLang="zh-CN" sz="24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Y=3X </a:t>
            </a:r>
            <a:r>
              <a:rPr lang="zh-CN" altLang="en-US" sz="24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，并用</a:t>
            </a:r>
            <a:r>
              <a:rPr lang="en-US" altLang="zh-CN" sz="24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24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段数码管进行显示 。</a:t>
            </a:r>
            <a:endParaRPr lang="en-US" altLang="zh-CN" sz="2400" b="1" kern="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14375" y="285750"/>
            <a:ext cx="1189038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练习 ：</a:t>
            </a:r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矩形 1"/>
          <p:cNvSpPr>
            <a:spLocks noChangeArrowheads="1"/>
          </p:cNvSpPr>
          <p:nvPr/>
        </p:nvSpPr>
        <p:spPr bwMode="auto">
          <a:xfrm>
            <a:off x="128588" y="71438"/>
            <a:ext cx="701516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§4.5 </a:t>
            </a:r>
            <a:r>
              <a:rPr kumimoji="1" lang="zh-CN" altLang="en-US" sz="36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组合逻辑电路的竞争和冒险 </a:t>
            </a:r>
            <a:endParaRPr lang="zh-CN" altLang="en-US" sz="3600">
              <a:solidFill>
                <a:srgbClr val="FF0066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 Box 10"/>
          <p:cNvSpPr txBox="1">
            <a:spLocks noChangeArrowheads="1"/>
          </p:cNvSpPr>
          <p:nvPr/>
        </p:nvSpPr>
        <p:spPr bwMode="auto">
          <a:xfrm>
            <a:off x="611188" y="642938"/>
            <a:ext cx="4032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6600"/>
                </a:solidFill>
              </a:rPr>
              <a:t>一、竞争与冒险现象</a:t>
            </a:r>
            <a:endParaRPr lang="zh-CN" altLang="en-US" sz="2800" b="1">
              <a:solidFill>
                <a:srgbClr val="006600"/>
              </a:solidFill>
            </a:endParaRPr>
          </a:p>
        </p:txBody>
      </p:sp>
      <p:sp>
        <p:nvSpPr>
          <p:cNvPr id="4" name="Rectangle 11"/>
          <p:cNvSpPr>
            <a:spLocks noChangeArrowheads="1"/>
          </p:cNvSpPr>
          <p:nvPr/>
        </p:nvSpPr>
        <p:spPr bwMode="auto">
          <a:xfrm>
            <a:off x="611188" y="1171575"/>
            <a:ext cx="80645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zh-CN" altLang="en-US" sz="2400" b="1">
                <a:solidFill>
                  <a:srgbClr val="0000FF"/>
                </a:solidFill>
                <a:latin typeface="宋体" panose="02010600030101010101" pitchFamily="2" charset="-122"/>
              </a:rPr>
              <a:t>在组合电路中，某一输入变量经不同途径传输后，由于门电路的传输延迟时间的不同，则到达电路中某一会合点的时间有先有后，这种现象称为</a:t>
            </a:r>
            <a:r>
              <a:rPr kumimoji="1"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竞争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。</a:t>
            </a:r>
            <a:endParaRPr kumimoji="1"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2" name="Group 119"/>
          <p:cNvGrpSpPr/>
          <p:nvPr/>
        </p:nvGrpSpPr>
        <p:grpSpPr bwMode="auto">
          <a:xfrm>
            <a:off x="4643438" y="3030538"/>
            <a:ext cx="3013075" cy="1184275"/>
            <a:chOff x="3023" y="1867"/>
            <a:chExt cx="1898" cy="746"/>
          </a:xfrm>
        </p:grpSpPr>
        <p:sp>
          <p:nvSpPr>
            <p:cNvPr id="74810" name="Line 68"/>
            <p:cNvSpPr>
              <a:spLocks noChangeShapeType="1"/>
            </p:cNvSpPr>
            <p:nvPr/>
          </p:nvSpPr>
          <p:spPr bwMode="auto">
            <a:xfrm>
              <a:off x="3157" y="2612"/>
              <a:ext cx="181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11" name="Line 69"/>
            <p:cNvSpPr>
              <a:spLocks noChangeShapeType="1"/>
            </p:cNvSpPr>
            <p:nvPr/>
          </p:nvSpPr>
          <p:spPr bwMode="auto">
            <a:xfrm flipV="1">
              <a:off x="3334" y="2432"/>
              <a:ext cx="1" cy="18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12" name="Line 72"/>
            <p:cNvSpPr>
              <a:spLocks noChangeShapeType="1"/>
            </p:cNvSpPr>
            <p:nvPr/>
          </p:nvSpPr>
          <p:spPr bwMode="auto">
            <a:xfrm>
              <a:off x="3902" y="2612"/>
              <a:ext cx="61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13" name="Line 73"/>
            <p:cNvSpPr>
              <a:spLocks noChangeShapeType="1"/>
            </p:cNvSpPr>
            <p:nvPr/>
          </p:nvSpPr>
          <p:spPr bwMode="auto">
            <a:xfrm flipV="1">
              <a:off x="4512" y="2416"/>
              <a:ext cx="1" cy="19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14" name="Line 74"/>
            <p:cNvSpPr>
              <a:spLocks noChangeShapeType="1"/>
            </p:cNvSpPr>
            <p:nvPr/>
          </p:nvSpPr>
          <p:spPr bwMode="auto">
            <a:xfrm>
              <a:off x="4513" y="2416"/>
              <a:ext cx="91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15" name="Rectangle 88"/>
            <p:cNvSpPr>
              <a:spLocks noChangeArrowheads="1"/>
            </p:cNvSpPr>
            <p:nvPr/>
          </p:nvSpPr>
          <p:spPr bwMode="auto">
            <a:xfrm>
              <a:off x="3023" y="2437"/>
              <a:ext cx="83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7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  <a:endParaRPr lang="en-US" altLang="zh-CN" sz="1600"/>
            </a:p>
          </p:txBody>
        </p:sp>
        <p:sp>
          <p:nvSpPr>
            <p:cNvPr id="74816" name="Line 102"/>
            <p:cNvSpPr>
              <a:spLocks noChangeShapeType="1"/>
            </p:cNvSpPr>
            <p:nvPr/>
          </p:nvSpPr>
          <p:spPr bwMode="auto">
            <a:xfrm>
              <a:off x="3333" y="1889"/>
              <a:ext cx="0" cy="544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prstDash val="sys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17" name="Line 103"/>
            <p:cNvSpPr>
              <a:spLocks noChangeShapeType="1"/>
            </p:cNvSpPr>
            <p:nvPr/>
          </p:nvSpPr>
          <p:spPr bwMode="auto">
            <a:xfrm>
              <a:off x="3432" y="2275"/>
              <a:ext cx="1" cy="197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prstDash val="sys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18" name="Freeform 105"/>
            <p:cNvSpPr/>
            <p:nvPr/>
          </p:nvSpPr>
          <p:spPr bwMode="auto">
            <a:xfrm>
              <a:off x="3344" y="2422"/>
              <a:ext cx="568" cy="190"/>
            </a:xfrm>
            <a:custGeom>
              <a:avLst/>
              <a:gdLst>
                <a:gd name="T0" fmla="*/ 568 w 568"/>
                <a:gd name="T1" fmla="*/ 190 h 190"/>
                <a:gd name="T2" fmla="*/ 90 w 568"/>
                <a:gd name="T3" fmla="*/ 190 h 190"/>
                <a:gd name="T4" fmla="*/ 90 w 568"/>
                <a:gd name="T5" fmla="*/ 0 h 190"/>
                <a:gd name="T6" fmla="*/ 0 w 568"/>
                <a:gd name="T7" fmla="*/ 0 h 19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8"/>
                <a:gd name="T13" fmla="*/ 0 h 190"/>
                <a:gd name="T14" fmla="*/ 568 w 568"/>
                <a:gd name="T15" fmla="*/ 190 h 19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8" h="190">
                  <a:moveTo>
                    <a:pt x="568" y="190"/>
                  </a:moveTo>
                  <a:lnTo>
                    <a:pt x="90" y="190"/>
                  </a:lnTo>
                  <a:lnTo>
                    <a:pt x="90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58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19" name="Line 107"/>
            <p:cNvSpPr>
              <a:spLocks noChangeShapeType="1"/>
            </p:cNvSpPr>
            <p:nvPr/>
          </p:nvSpPr>
          <p:spPr bwMode="auto">
            <a:xfrm flipV="1">
              <a:off x="4604" y="2411"/>
              <a:ext cx="1" cy="19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20" name="Line 108"/>
            <p:cNvSpPr>
              <a:spLocks noChangeShapeType="1"/>
            </p:cNvSpPr>
            <p:nvPr/>
          </p:nvSpPr>
          <p:spPr bwMode="auto">
            <a:xfrm>
              <a:off x="4604" y="2608"/>
              <a:ext cx="317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21" name="Line 109"/>
            <p:cNvSpPr>
              <a:spLocks noChangeShapeType="1"/>
            </p:cNvSpPr>
            <p:nvPr/>
          </p:nvSpPr>
          <p:spPr bwMode="auto">
            <a:xfrm>
              <a:off x="4511" y="1867"/>
              <a:ext cx="1" cy="544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prstDash val="sys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22" name="Line 110"/>
            <p:cNvSpPr>
              <a:spLocks noChangeShapeType="1"/>
            </p:cNvSpPr>
            <p:nvPr/>
          </p:nvSpPr>
          <p:spPr bwMode="auto">
            <a:xfrm>
              <a:off x="4610" y="2277"/>
              <a:ext cx="1" cy="197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prstDash val="sys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118"/>
          <p:cNvGrpSpPr/>
          <p:nvPr/>
        </p:nvGrpSpPr>
        <p:grpSpPr bwMode="auto">
          <a:xfrm>
            <a:off x="4656138" y="2741613"/>
            <a:ext cx="2967037" cy="938212"/>
            <a:chOff x="2933" y="1685"/>
            <a:chExt cx="1869" cy="591"/>
          </a:xfrm>
        </p:grpSpPr>
        <p:sp>
          <p:nvSpPr>
            <p:cNvPr id="74783" name="Line 46"/>
            <p:cNvSpPr>
              <a:spLocks noChangeShapeType="1"/>
            </p:cNvSpPr>
            <p:nvPr/>
          </p:nvSpPr>
          <p:spPr bwMode="auto">
            <a:xfrm>
              <a:off x="3335" y="1695"/>
              <a:ext cx="1" cy="34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ys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84" name="Line 47"/>
            <p:cNvSpPr>
              <a:spLocks noChangeShapeType="1"/>
            </p:cNvSpPr>
            <p:nvPr/>
          </p:nvSpPr>
          <p:spPr bwMode="auto">
            <a:xfrm>
              <a:off x="3046" y="1881"/>
              <a:ext cx="197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85" name="Line 48"/>
            <p:cNvSpPr>
              <a:spLocks noChangeShapeType="1"/>
            </p:cNvSpPr>
            <p:nvPr/>
          </p:nvSpPr>
          <p:spPr bwMode="auto">
            <a:xfrm flipV="1">
              <a:off x="3243" y="1695"/>
              <a:ext cx="1" cy="18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86" name="Line 49"/>
            <p:cNvSpPr>
              <a:spLocks noChangeShapeType="1"/>
            </p:cNvSpPr>
            <p:nvPr/>
          </p:nvSpPr>
          <p:spPr bwMode="auto">
            <a:xfrm>
              <a:off x="3243" y="1695"/>
              <a:ext cx="578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87" name="Line 50"/>
            <p:cNvSpPr>
              <a:spLocks noChangeShapeType="1"/>
            </p:cNvSpPr>
            <p:nvPr/>
          </p:nvSpPr>
          <p:spPr bwMode="auto">
            <a:xfrm flipV="1">
              <a:off x="3821" y="1695"/>
              <a:ext cx="1" cy="18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88" name="Line 51"/>
            <p:cNvSpPr>
              <a:spLocks noChangeShapeType="1"/>
            </p:cNvSpPr>
            <p:nvPr/>
          </p:nvSpPr>
          <p:spPr bwMode="auto">
            <a:xfrm>
              <a:off x="3821" y="1881"/>
              <a:ext cx="588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89" name="Line 52"/>
            <p:cNvSpPr>
              <a:spLocks noChangeShapeType="1"/>
            </p:cNvSpPr>
            <p:nvPr/>
          </p:nvSpPr>
          <p:spPr bwMode="auto">
            <a:xfrm flipV="1">
              <a:off x="4409" y="1695"/>
              <a:ext cx="1" cy="18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90" name="Line 53"/>
            <p:cNvSpPr>
              <a:spLocks noChangeShapeType="1"/>
            </p:cNvSpPr>
            <p:nvPr/>
          </p:nvSpPr>
          <p:spPr bwMode="auto">
            <a:xfrm>
              <a:off x="4409" y="1695"/>
              <a:ext cx="393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91" name="Line 54"/>
            <p:cNvSpPr>
              <a:spLocks noChangeShapeType="1"/>
            </p:cNvSpPr>
            <p:nvPr/>
          </p:nvSpPr>
          <p:spPr bwMode="auto">
            <a:xfrm>
              <a:off x="3046" y="2078"/>
              <a:ext cx="289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92" name="Line 55"/>
            <p:cNvSpPr>
              <a:spLocks noChangeShapeType="1"/>
            </p:cNvSpPr>
            <p:nvPr/>
          </p:nvSpPr>
          <p:spPr bwMode="auto">
            <a:xfrm>
              <a:off x="3335" y="2078"/>
              <a:ext cx="1" cy="19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93" name="Line 56"/>
            <p:cNvSpPr>
              <a:spLocks noChangeShapeType="1"/>
            </p:cNvSpPr>
            <p:nvPr/>
          </p:nvSpPr>
          <p:spPr bwMode="auto">
            <a:xfrm>
              <a:off x="3335" y="2275"/>
              <a:ext cx="589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94" name="Line 57"/>
            <p:cNvSpPr>
              <a:spLocks noChangeShapeType="1"/>
            </p:cNvSpPr>
            <p:nvPr/>
          </p:nvSpPr>
          <p:spPr bwMode="auto">
            <a:xfrm>
              <a:off x="3924" y="2078"/>
              <a:ext cx="1" cy="19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95" name="Line 58"/>
            <p:cNvSpPr>
              <a:spLocks noChangeShapeType="1"/>
            </p:cNvSpPr>
            <p:nvPr/>
          </p:nvSpPr>
          <p:spPr bwMode="auto">
            <a:xfrm>
              <a:off x="3924" y="2078"/>
              <a:ext cx="588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96" name="Line 59"/>
            <p:cNvSpPr>
              <a:spLocks noChangeShapeType="1"/>
            </p:cNvSpPr>
            <p:nvPr/>
          </p:nvSpPr>
          <p:spPr bwMode="auto">
            <a:xfrm>
              <a:off x="4512" y="2078"/>
              <a:ext cx="1" cy="19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97" name="Line 60"/>
            <p:cNvSpPr>
              <a:spLocks noChangeShapeType="1"/>
            </p:cNvSpPr>
            <p:nvPr/>
          </p:nvSpPr>
          <p:spPr bwMode="auto">
            <a:xfrm>
              <a:off x="4512" y="2275"/>
              <a:ext cx="290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98" name="Line 76"/>
            <p:cNvSpPr>
              <a:spLocks noChangeShapeType="1"/>
            </p:cNvSpPr>
            <p:nvPr/>
          </p:nvSpPr>
          <p:spPr bwMode="auto">
            <a:xfrm>
              <a:off x="3098" y="1788"/>
              <a:ext cx="93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99" name="Freeform 77"/>
            <p:cNvSpPr/>
            <p:nvPr/>
          </p:nvSpPr>
          <p:spPr bwMode="auto">
            <a:xfrm>
              <a:off x="3181" y="1757"/>
              <a:ext cx="62" cy="62"/>
            </a:xfrm>
            <a:custGeom>
              <a:avLst/>
              <a:gdLst>
                <a:gd name="T0" fmla="*/ 0 w 62"/>
                <a:gd name="T1" fmla="*/ 0 h 62"/>
                <a:gd name="T2" fmla="*/ 62 w 62"/>
                <a:gd name="T3" fmla="*/ 31 h 62"/>
                <a:gd name="T4" fmla="*/ 0 w 62"/>
                <a:gd name="T5" fmla="*/ 62 h 62"/>
                <a:gd name="T6" fmla="*/ 0 w 62"/>
                <a:gd name="T7" fmla="*/ 0 h 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"/>
                <a:gd name="T13" fmla="*/ 0 h 62"/>
                <a:gd name="T14" fmla="*/ 62 w 62"/>
                <a:gd name="T15" fmla="*/ 62 h 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" h="62">
                  <a:moveTo>
                    <a:pt x="0" y="0"/>
                  </a:moveTo>
                  <a:lnTo>
                    <a:pt x="62" y="31"/>
                  </a:lnTo>
                  <a:lnTo>
                    <a:pt x="0" y="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00" name="Line 78"/>
            <p:cNvSpPr>
              <a:spLocks noChangeShapeType="1"/>
            </p:cNvSpPr>
            <p:nvPr/>
          </p:nvSpPr>
          <p:spPr bwMode="auto">
            <a:xfrm flipH="1">
              <a:off x="3387" y="1788"/>
              <a:ext cx="93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01" name="Freeform 79"/>
            <p:cNvSpPr/>
            <p:nvPr/>
          </p:nvSpPr>
          <p:spPr bwMode="auto">
            <a:xfrm>
              <a:off x="3335" y="1757"/>
              <a:ext cx="62" cy="62"/>
            </a:xfrm>
            <a:custGeom>
              <a:avLst/>
              <a:gdLst>
                <a:gd name="T0" fmla="*/ 62 w 62"/>
                <a:gd name="T1" fmla="*/ 0 h 62"/>
                <a:gd name="T2" fmla="*/ 0 w 62"/>
                <a:gd name="T3" fmla="*/ 31 h 62"/>
                <a:gd name="T4" fmla="*/ 62 w 62"/>
                <a:gd name="T5" fmla="*/ 62 h 62"/>
                <a:gd name="T6" fmla="*/ 62 w 62"/>
                <a:gd name="T7" fmla="*/ 0 h 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"/>
                <a:gd name="T13" fmla="*/ 0 h 62"/>
                <a:gd name="T14" fmla="*/ 62 w 62"/>
                <a:gd name="T15" fmla="*/ 62 h 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" h="62">
                  <a:moveTo>
                    <a:pt x="62" y="0"/>
                  </a:moveTo>
                  <a:lnTo>
                    <a:pt x="0" y="31"/>
                  </a:lnTo>
                  <a:lnTo>
                    <a:pt x="62" y="62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02" name="Rectangle 83"/>
            <p:cNvSpPr>
              <a:spLocks noChangeArrowheads="1"/>
            </p:cNvSpPr>
            <p:nvPr/>
          </p:nvSpPr>
          <p:spPr bwMode="auto">
            <a:xfrm>
              <a:off x="2953" y="1706"/>
              <a:ext cx="83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7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1600"/>
            </a:p>
          </p:txBody>
        </p:sp>
        <p:grpSp>
          <p:nvGrpSpPr>
            <p:cNvPr id="74803" name="Group 104"/>
            <p:cNvGrpSpPr/>
            <p:nvPr/>
          </p:nvGrpSpPr>
          <p:grpSpPr bwMode="auto">
            <a:xfrm>
              <a:off x="2933" y="2003"/>
              <a:ext cx="83" cy="163"/>
              <a:chOff x="2991" y="2211"/>
              <a:chExt cx="83" cy="163"/>
            </a:xfrm>
          </p:grpSpPr>
          <p:sp>
            <p:nvSpPr>
              <p:cNvPr id="74808" name="Rectangle 84"/>
              <p:cNvSpPr>
                <a:spLocks noChangeArrowheads="1"/>
              </p:cNvSpPr>
              <p:nvPr/>
            </p:nvSpPr>
            <p:spPr bwMode="auto">
              <a:xfrm>
                <a:off x="2991" y="2211"/>
                <a:ext cx="83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7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A</a:t>
                </a:r>
                <a:endParaRPr lang="en-US" altLang="zh-CN" sz="1600"/>
              </a:p>
            </p:txBody>
          </p:sp>
          <p:sp>
            <p:nvSpPr>
              <p:cNvPr id="74809" name="Line 85"/>
              <p:cNvSpPr>
                <a:spLocks noChangeShapeType="1"/>
              </p:cNvSpPr>
              <p:nvPr/>
            </p:nvSpPr>
            <p:spPr bwMode="auto">
              <a:xfrm flipH="1">
                <a:off x="3012" y="2221"/>
                <a:ext cx="52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4804" name="Rectangle 92"/>
            <p:cNvSpPr>
              <a:spLocks noChangeArrowheads="1"/>
            </p:cNvSpPr>
            <p:nvPr/>
          </p:nvSpPr>
          <p:spPr bwMode="auto">
            <a:xfrm>
              <a:off x="3511" y="1685"/>
              <a:ext cx="3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7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endParaRPr lang="en-US" altLang="zh-CN" sz="1600"/>
            </a:p>
          </p:txBody>
        </p:sp>
        <p:sp>
          <p:nvSpPr>
            <p:cNvPr id="74805" name="Rectangle 93"/>
            <p:cNvSpPr>
              <a:spLocks noChangeArrowheads="1"/>
            </p:cNvSpPr>
            <p:nvPr/>
          </p:nvSpPr>
          <p:spPr bwMode="auto">
            <a:xfrm>
              <a:off x="3552" y="1746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p</a:t>
              </a:r>
              <a:endParaRPr lang="en-US" altLang="zh-CN" sz="1600"/>
            </a:p>
          </p:txBody>
        </p:sp>
        <p:sp>
          <p:nvSpPr>
            <p:cNvPr id="74806" name="Rectangle 94"/>
            <p:cNvSpPr>
              <a:spLocks noChangeArrowheads="1"/>
            </p:cNvSpPr>
            <p:nvPr/>
          </p:nvSpPr>
          <p:spPr bwMode="auto">
            <a:xfrm>
              <a:off x="3604" y="1746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endParaRPr lang="en-US" altLang="zh-CN" sz="1600"/>
            </a:p>
          </p:txBody>
        </p:sp>
        <p:sp>
          <p:nvSpPr>
            <p:cNvPr id="74807" name="Line 111"/>
            <p:cNvSpPr>
              <a:spLocks noChangeShapeType="1"/>
            </p:cNvSpPr>
            <p:nvPr/>
          </p:nvSpPr>
          <p:spPr bwMode="auto">
            <a:xfrm>
              <a:off x="3819" y="1821"/>
              <a:ext cx="1" cy="45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ys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4" name="Rectangle 113"/>
          <p:cNvSpPr>
            <a:spLocks noChangeArrowheads="1"/>
          </p:cNvSpPr>
          <p:nvPr/>
        </p:nvSpPr>
        <p:spPr bwMode="auto">
          <a:xfrm>
            <a:off x="684213" y="5013325"/>
            <a:ext cx="80645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由于竞争而使电路输出出现不符合门电路稳态下的逻辑功能的现象，即出现了</a:t>
            </a:r>
            <a:r>
              <a:rPr kumimoji="1"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尖峰脉冲（毛刺）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，这种现象称为</a:t>
            </a:r>
            <a:r>
              <a:rPr kumimoji="1"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冒险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。</a:t>
            </a:r>
            <a:endParaRPr kumimoji="1"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65" name="Object 3"/>
          <p:cNvGraphicFramePr>
            <a:graphicFrameLocks noChangeAspect="1"/>
          </p:cNvGraphicFramePr>
          <p:nvPr/>
        </p:nvGraphicFramePr>
        <p:xfrm>
          <a:off x="1476375" y="3929063"/>
          <a:ext cx="15367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27" name="公式" r:id="rId1" imgW="964565" imgH="113030" progId="Equation.3">
                  <p:embed/>
                </p:oleObj>
              </mc:Choice>
              <mc:Fallback>
                <p:oleObj name="公式" r:id="rId1" imgW="964565" imgH="11303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929063"/>
                        <a:ext cx="15367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Text Box 120"/>
          <p:cNvSpPr txBox="1">
            <a:spLocks noChangeArrowheads="1"/>
          </p:cNvSpPr>
          <p:nvPr/>
        </p:nvSpPr>
        <p:spPr bwMode="auto">
          <a:xfrm>
            <a:off x="4500563" y="4365625"/>
            <a:ext cx="37449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正脉冲－－“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</a:rPr>
              <a:t>1”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型冒险</a:t>
            </a:r>
            <a:endParaRPr lang="zh-CN" altLang="en-US" sz="2400" b="1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8" name="组合 75"/>
          <p:cNvGrpSpPr/>
          <p:nvPr/>
        </p:nvGrpSpPr>
        <p:grpSpPr bwMode="auto">
          <a:xfrm>
            <a:off x="849313" y="2700338"/>
            <a:ext cx="3079750" cy="998537"/>
            <a:chOff x="849313" y="2699580"/>
            <a:chExt cx="3079750" cy="999295"/>
          </a:xfrm>
        </p:grpSpPr>
        <p:grpSp>
          <p:nvGrpSpPr>
            <p:cNvPr id="74763" name="组合 85"/>
            <p:cNvGrpSpPr/>
            <p:nvPr/>
          </p:nvGrpSpPr>
          <p:grpSpPr bwMode="auto">
            <a:xfrm>
              <a:off x="849313" y="2786063"/>
              <a:ext cx="3079750" cy="912812"/>
              <a:chOff x="850035" y="2857496"/>
              <a:chExt cx="3079023" cy="912434"/>
            </a:xfrm>
          </p:grpSpPr>
          <p:cxnSp>
            <p:nvCxnSpPr>
              <p:cNvPr id="68" name="直接连接符 67"/>
              <p:cNvCxnSpPr/>
              <p:nvPr/>
            </p:nvCxnSpPr>
            <p:spPr bwMode="auto">
              <a:xfrm>
                <a:off x="2159413" y="3303044"/>
                <a:ext cx="37614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4766" name="组合 131"/>
              <p:cNvGrpSpPr/>
              <p:nvPr/>
            </p:nvGrpSpPr>
            <p:grpSpPr bwMode="auto">
              <a:xfrm>
                <a:off x="1723395" y="2857496"/>
                <a:ext cx="468312" cy="469900"/>
                <a:chOff x="3001350" y="4714587"/>
                <a:chExt cx="536257" cy="501210"/>
              </a:xfrm>
            </p:grpSpPr>
            <p:sp>
              <p:nvSpPr>
                <p:cNvPr id="84" name="等腰三角形 30"/>
                <p:cNvSpPr/>
                <p:nvPr/>
              </p:nvSpPr>
              <p:spPr>
                <a:xfrm rot="5400000">
                  <a:off x="2964606" y="4750088"/>
                  <a:ext cx="501383" cy="428904"/>
                </a:xfrm>
                <a:prstGeom prst="triangle">
                  <a:avLst/>
                </a:prstGeom>
                <a:noFill/>
                <a:ln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sp>
              <p:nvSpPr>
                <p:cNvPr id="85" name="椭圆 31"/>
                <p:cNvSpPr/>
                <p:nvPr/>
              </p:nvSpPr>
              <p:spPr>
                <a:xfrm>
                  <a:off x="3429750" y="4905254"/>
                  <a:ext cx="107226" cy="108407"/>
                </a:xfrm>
                <a:prstGeom prst="ellipse">
                  <a:avLst/>
                </a:prstGeom>
                <a:noFill/>
                <a:ln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</p:grpSp>
          <p:cxnSp>
            <p:nvCxnSpPr>
              <p:cNvPr id="70" name="直接连接符 69"/>
              <p:cNvCxnSpPr/>
              <p:nvPr/>
            </p:nvCxnSpPr>
            <p:spPr bwMode="auto">
              <a:xfrm rot="10800000">
                <a:off x="1189680" y="3569836"/>
                <a:ext cx="971321" cy="158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 bwMode="auto">
              <a:xfrm flipV="1">
                <a:off x="1472188" y="3091835"/>
                <a:ext cx="250766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 bwMode="auto">
              <a:xfrm rot="5400000" flipH="1" flipV="1">
                <a:off x="1227623" y="3336394"/>
                <a:ext cx="50499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/>
            </p:nvCxnSpPr>
            <p:spPr bwMode="auto">
              <a:xfrm>
                <a:off x="2170523" y="3088659"/>
                <a:ext cx="344406" cy="1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 bwMode="auto">
              <a:xfrm rot="5400000" flipH="1" flipV="1">
                <a:off x="2026017" y="3436440"/>
                <a:ext cx="266792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椭圆 74"/>
              <p:cNvSpPr/>
              <p:nvPr/>
            </p:nvSpPr>
            <p:spPr bwMode="auto">
              <a:xfrm>
                <a:off x="1451555" y="3534899"/>
                <a:ext cx="63485" cy="6669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grpSp>
            <p:nvGrpSpPr>
              <p:cNvPr id="74773" name="组合 106"/>
              <p:cNvGrpSpPr/>
              <p:nvPr/>
            </p:nvGrpSpPr>
            <p:grpSpPr bwMode="auto">
              <a:xfrm>
                <a:off x="2526670" y="2988715"/>
                <a:ext cx="452437" cy="440285"/>
                <a:chOff x="7558974" y="1987278"/>
                <a:chExt cx="518079" cy="440285"/>
              </a:xfrm>
            </p:grpSpPr>
            <p:cxnSp>
              <p:nvCxnSpPr>
                <p:cNvPr id="80" name="直接连接符 79"/>
                <p:cNvCxnSpPr/>
                <p:nvPr/>
              </p:nvCxnSpPr>
              <p:spPr>
                <a:xfrm>
                  <a:off x="7558252" y="1987174"/>
                  <a:ext cx="359844" cy="0"/>
                </a:xfrm>
                <a:prstGeom prst="line">
                  <a:avLst/>
                </a:prstGeom>
                <a:ln w="254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直接连接符 80"/>
                <p:cNvCxnSpPr/>
                <p:nvPr/>
              </p:nvCxnSpPr>
              <p:spPr>
                <a:xfrm>
                  <a:off x="7558252" y="2427064"/>
                  <a:ext cx="359844" cy="0"/>
                </a:xfrm>
                <a:prstGeom prst="line">
                  <a:avLst/>
                </a:prstGeom>
                <a:ln w="254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接连接符 81"/>
                <p:cNvCxnSpPr/>
                <p:nvPr/>
              </p:nvCxnSpPr>
              <p:spPr>
                <a:xfrm rot="5400000">
                  <a:off x="7339216" y="2206210"/>
                  <a:ext cx="439890" cy="1817"/>
                </a:xfrm>
                <a:prstGeom prst="line">
                  <a:avLst/>
                </a:prstGeom>
                <a:ln w="254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3" name="弧形 82"/>
                <p:cNvSpPr/>
                <p:nvPr/>
              </p:nvSpPr>
              <p:spPr>
                <a:xfrm>
                  <a:off x="7756347" y="1987174"/>
                  <a:ext cx="319861" cy="439890"/>
                </a:xfrm>
                <a:prstGeom prst="arc">
                  <a:avLst>
                    <a:gd name="adj1" fmla="val 16200000"/>
                    <a:gd name="adj2" fmla="val 5580297"/>
                  </a:avLst>
                </a:prstGeom>
                <a:ln w="254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74774" name="矩形 126"/>
              <p:cNvSpPr>
                <a:spLocks noChangeArrowheads="1"/>
              </p:cNvSpPr>
              <p:nvPr/>
            </p:nvSpPr>
            <p:spPr bwMode="auto">
              <a:xfrm>
                <a:off x="3572823" y="2987611"/>
                <a:ext cx="356235" cy="400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endParaRPr lang="zh-CN" altLang="en-US" sz="2000" b="1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4775" name="矩形 125"/>
              <p:cNvSpPr>
                <a:spLocks noChangeArrowheads="1"/>
              </p:cNvSpPr>
              <p:nvPr/>
            </p:nvSpPr>
            <p:spPr bwMode="auto">
              <a:xfrm>
                <a:off x="850035" y="3369820"/>
                <a:ext cx="35618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CN" altLang="en-US" sz="2000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79" name="直接连接符 78"/>
              <p:cNvCxnSpPr/>
              <p:nvPr/>
            </p:nvCxnSpPr>
            <p:spPr bwMode="auto">
              <a:xfrm rot="10800000">
                <a:off x="2975195" y="3222054"/>
                <a:ext cx="61263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74764" name="Object 70"/>
            <p:cNvGraphicFramePr>
              <a:graphicFrameLocks noChangeAspect="1"/>
            </p:cNvGraphicFramePr>
            <p:nvPr/>
          </p:nvGraphicFramePr>
          <p:xfrm>
            <a:off x="2214546" y="2699580"/>
            <a:ext cx="285752" cy="3007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828" name="公式" r:id="rId3" imgW="24765" imgH="87630" progId="Equation.3">
                    <p:embed/>
                  </p:oleObj>
                </mc:Choice>
                <mc:Fallback>
                  <p:oleObj name="公式" r:id="rId3" imgW="24765" imgH="87630" progId="Equation.3">
                    <p:embed/>
                    <p:pic>
                      <p:nvPicPr>
                        <p:cNvPr id="0" name="Object 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14546" y="2699580"/>
                          <a:ext cx="285752" cy="3007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4" grpId="0"/>
      <p:bldP spid="66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0"/>
          <p:cNvGrpSpPr/>
          <p:nvPr/>
        </p:nvGrpSpPr>
        <p:grpSpPr bwMode="auto">
          <a:xfrm>
            <a:off x="5222875" y="1052513"/>
            <a:ext cx="3049588" cy="938212"/>
            <a:chOff x="3009" y="663"/>
            <a:chExt cx="1921" cy="591"/>
          </a:xfrm>
        </p:grpSpPr>
        <p:sp>
          <p:nvSpPr>
            <p:cNvPr id="75858" name="Line 92"/>
            <p:cNvSpPr>
              <a:spLocks noChangeShapeType="1"/>
            </p:cNvSpPr>
            <p:nvPr/>
          </p:nvSpPr>
          <p:spPr bwMode="auto">
            <a:xfrm>
              <a:off x="4052" y="859"/>
              <a:ext cx="1" cy="27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ys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5859" name="Group 109"/>
            <p:cNvGrpSpPr/>
            <p:nvPr/>
          </p:nvGrpSpPr>
          <p:grpSpPr bwMode="auto">
            <a:xfrm>
              <a:off x="3009" y="663"/>
              <a:ext cx="1921" cy="591"/>
              <a:chOff x="3009" y="663"/>
              <a:chExt cx="1921" cy="591"/>
            </a:xfrm>
          </p:grpSpPr>
          <p:sp>
            <p:nvSpPr>
              <p:cNvPr id="75860" name="Line 34"/>
              <p:cNvSpPr>
                <a:spLocks noChangeShapeType="1"/>
              </p:cNvSpPr>
              <p:nvPr/>
            </p:nvSpPr>
            <p:spPr bwMode="auto">
              <a:xfrm>
                <a:off x="3463" y="673"/>
                <a:ext cx="1" cy="342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prstDash val="sys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61" name="Line 35"/>
              <p:cNvSpPr>
                <a:spLocks noChangeShapeType="1"/>
              </p:cNvSpPr>
              <p:nvPr/>
            </p:nvSpPr>
            <p:spPr bwMode="auto">
              <a:xfrm>
                <a:off x="3174" y="859"/>
                <a:ext cx="197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62" name="Line 36"/>
              <p:cNvSpPr>
                <a:spLocks noChangeShapeType="1"/>
              </p:cNvSpPr>
              <p:nvPr/>
            </p:nvSpPr>
            <p:spPr bwMode="auto">
              <a:xfrm flipV="1">
                <a:off x="3371" y="673"/>
                <a:ext cx="1" cy="186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63" name="Line 37"/>
              <p:cNvSpPr>
                <a:spLocks noChangeShapeType="1"/>
              </p:cNvSpPr>
              <p:nvPr/>
            </p:nvSpPr>
            <p:spPr bwMode="auto">
              <a:xfrm>
                <a:off x="3371" y="673"/>
                <a:ext cx="578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64" name="Line 38"/>
              <p:cNvSpPr>
                <a:spLocks noChangeShapeType="1"/>
              </p:cNvSpPr>
              <p:nvPr/>
            </p:nvSpPr>
            <p:spPr bwMode="auto">
              <a:xfrm flipV="1">
                <a:off x="3949" y="673"/>
                <a:ext cx="1" cy="186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65" name="Line 39"/>
              <p:cNvSpPr>
                <a:spLocks noChangeShapeType="1"/>
              </p:cNvSpPr>
              <p:nvPr/>
            </p:nvSpPr>
            <p:spPr bwMode="auto">
              <a:xfrm>
                <a:off x="3949" y="859"/>
                <a:ext cx="588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66" name="Line 40"/>
              <p:cNvSpPr>
                <a:spLocks noChangeShapeType="1"/>
              </p:cNvSpPr>
              <p:nvPr/>
            </p:nvSpPr>
            <p:spPr bwMode="auto">
              <a:xfrm flipV="1">
                <a:off x="4537" y="673"/>
                <a:ext cx="1" cy="186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67" name="Line 41"/>
              <p:cNvSpPr>
                <a:spLocks noChangeShapeType="1"/>
              </p:cNvSpPr>
              <p:nvPr/>
            </p:nvSpPr>
            <p:spPr bwMode="auto">
              <a:xfrm>
                <a:off x="4537" y="673"/>
                <a:ext cx="393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68" name="Line 42"/>
              <p:cNvSpPr>
                <a:spLocks noChangeShapeType="1"/>
              </p:cNvSpPr>
              <p:nvPr/>
            </p:nvSpPr>
            <p:spPr bwMode="auto">
              <a:xfrm>
                <a:off x="3174" y="1056"/>
                <a:ext cx="289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69" name="Line 43"/>
              <p:cNvSpPr>
                <a:spLocks noChangeShapeType="1"/>
              </p:cNvSpPr>
              <p:nvPr/>
            </p:nvSpPr>
            <p:spPr bwMode="auto">
              <a:xfrm>
                <a:off x="3463" y="1056"/>
                <a:ext cx="1" cy="197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70" name="Line 44"/>
              <p:cNvSpPr>
                <a:spLocks noChangeShapeType="1"/>
              </p:cNvSpPr>
              <p:nvPr/>
            </p:nvSpPr>
            <p:spPr bwMode="auto">
              <a:xfrm>
                <a:off x="3463" y="1253"/>
                <a:ext cx="589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71" name="Line 45"/>
              <p:cNvSpPr>
                <a:spLocks noChangeShapeType="1"/>
              </p:cNvSpPr>
              <p:nvPr/>
            </p:nvSpPr>
            <p:spPr bwMode="auto">
              <a:xfrm>
                <a:off x="4052" y="1056"/>
                <a:ext cx="1" cy="197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72" name="Line 46"/>
              <p:cNvSpPr>
                <a:spLocks noChangeShapeType="1"/>
              </p:cNvSpPr>
              <p:nvPr/>
            </p:nvSpPr>
            <p:spPr bwMode="auto">
              <a:xfrm>
                <a:off x="4052" y="1056"/>
                <a:ext cx="588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73" name="Line 47"/>
              <p:cNvSpPr>
                <a:spLocks noChangeShapeType="1"/>
              </p:cNvSpPr>
              <p:nvPr/>
            </p:nvSpPr>
            <p:spPr bwMode="auto">
              <a:xfrm>
                <a:off x="4640" y="1056"/>
                <a:ext cx="1" cy="197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74" name="Line 48"/>
              <p:cNvSpPr>
                <a:spLocks noChangeShapeType="1"/>
              </p:cNvSpPr>
              <p:nvPr/>
            </p:nvSpPr>
            <p:spPr bwMode="auto">
              <a:xfrm>
                <a:off x="4640" y="1253"/>
                <a:ext cx="290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75" name="Line 64"/>
              <p:cNvSpPr>
                <a:spLocks noChangeShapeType="1"/>
              </p:cNvSpPr>
              <p:nvPr/>
            </p:nvSpPr>
            <p:spPr bwMode="auto">
              <a:xfrm>
                <a:off x="3226" y="766"/>
                <a:ext cx="93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76" name="Freeform 65"/>
              <p:cNvSpPr/>
              <p:nvPr/>
            </p:nvSpPr>
            <p:spPr bwMode="auto">
              <a:xfrm>
                <a:off x="3309" y="735"/>
                <a:ext cx="62" cy="62"/>
              </a:xfrm>
              <a:custGeom>
                <a:avLst/>
                <a:gdLst>
                  <a:gd name="T0" fmla="*/ 0 w 62"/>
                  <a:gd name="T1" fmla="*/ 0 h 62"/>
                  <a:gd name="T2" fmla="*/ 62 w 62"/>
                  <a:gd name="T3" fmla="*/ 31 h 62"/>
                  <a:gd name="T4" fmla="*/ 0 w 62"/>
                  <a:gd name="T5" fmla="*/ 62 h 62"/>
                  <a:gd name="T6" fmla="*/ 0 w 62"/>
                  <a:gd name="T7" fmla="*/ 0 h 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2"/>
                  <a:gd name="T13" fmla="*/ 0 h 62"/>
                  <a:gd name="T14" fmla="*/ 62 w 62"/>
                  <a:gd name="T15" fmla="*/ 62 h 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2" h="62">
                    <a:moveTo>
                      <a:pt x="0" y="0"/>
                    </a:moveTo>
                    <a:lnTo>
                      <a:pt x="62" y="31"/>
                    </a:lnTo>
                    <a:lnTo>
                      <a:pt x="0" y="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87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77" name="Line 66"/>
              <p:cNvSpPr>
                <a:spLocks noChangeShapeType="1"/>
              </p:cNvSpPr>
              <p:nvPr/>
            </p:nvSpPr>
            <p:spPr bwMode="auto">
              <a:xfrm flipH="1">
                <a:off x="3515" y="766"/>
                <a:ext cx="93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78" name="Freeform 67"/>
              <p:cNvSpPr/>
              <p:nvPr/>
            </p:nvSpPr>
            <p:spPr bwMode="auto">
              <a:xfrm>
                <a:off x="3463" y="735"/>
                <a:ext cx="62" cy="62"/>
              </a:xfrm>
              <a:custGeom>
                <a:avLst/>
                <a:gdLst>
                  <a:gd name="T0" fmla="*/ 62 w 62"/>
                  <a:gd name="T1" fmla="*/ 0 h 62"/>
                  <a:gd name="T2" fmla="*/ 0 w 62"/>
                  <a:gd name="T3" fmla="*/ 31 h 62"/>
                  <a:gd name="T4" fmla="*/ 62 w 62"/>
                  <a:gd name="T5" fmla="*/ 62 h 62"/>
                  <a:gd name="T6" fmla="*/ 62 w 62"/>
                  <a:gd name="T7" fmla="*/ 0 h 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2"/>
                  <a:gd name="T13" fmla="*/ 0 h 62"/>
                  <a:gd name="T14" fmla="*/ 62 w 62"/>
                  <a:gd name="T15" fmla="*/ 62 h 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2" h="62">
                    <a:moveTo>
                      <a:pt x="62" y="0"/>
                    </a:moveTo>
                    <a:lnTo>
                      <a:pt x="0" y="31"/>
                    </a:lnTo>
                    <a:lnTo>
                      <a:pt x="62" y="62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87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79" name="Rectangle 71"/>
              <p:cNvSpPr>
                <a:spLocks noChangeArrowheads="1"/>
              </p:cNvSpPr>
              <p:nvPr/>
            </p:nvSpPr>
            <p:spPr bwMode="auto">
              <a:xfrm>
                <a:off x="3017" y="684"/>
                <a:ext cx="84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7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altLang="zh-CN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75880" name="Group 100"/>
              <p:cNvGrpSpPr/>
              <p:nvPr/>
            </p:nvGrpSpPr>
            <p:grpSpPr bwMode="auto">
              <a:xfrm>
                <a:off x="3009" y="981"/>
                <a:ext cx="84" cy="165"/>
                <a:chOff x="3081" y="1077"/>
                <a:chExt cx="84" cy="165"/>
              </a:xfrm>
            </p:grpSpPr>
            <p:sp>
              <p:nvSpPr>
                <p:cNvPr id="75885" name="Rectangle 72"/>
                <p:cNvSpPr>
                  <a:spLocks noChangeArrowheads="1"/>
                </p:cNvSpPr>
                <p:nvPr/>
              </p:nvSpPr>
              <p:spPr bwMode="auto">
                <a:xfrm>
                  <a:off x="3081" y="1077"/>
                  <a:ext cx="84" cy="1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700" i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endParaRPr lang="en-US" altLang="zh-CN" sz="1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5886" name="Line 73"/>
                <p:cNvSpPr>
                  <a:spLocks noChangeShapeType="1"/>
                </p:cNvSpPr>
                <p:nvPr/>
              </p:nvSpPr>
              <p:spPr bwMode="auto">
                <a:xfrm flipH="1">
                  <a:off x="3102" y="1087"/>
                  <a:ext cx="52" cy="1"/>
                </a:xfrm>
                <a:prstGeom prst="lin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75881" name="Rectangle 80"/>
              <p:cNvSpPr>
                <a:spLocks noChangeArrowheads="1"/>
              </p:cNvSpPr>
              <p:nvPr/>
            </p:nvSpPr>
            <p:spPr bwMode="auto">
              <a:xfrm>
                <a:off x="3639" y="663"/>
                <a:ext cx="38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7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endParaRPr lang="en-US" altLang="zh-CN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5882" name="Rectangle 81"/>
              <p:cNvSpPr>
                <a:spLocks noChangeArrowheads="1"/>
              </p:cNvSpPr>
              <p:nvPr/>
            </p:nvSpPr>
            <p:spPr bwMode="auto">
              <a:xfrm>
                <a:off x="3680" y="724"/>
                <a:ext cx="48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endParaRPr lang="en-US" altLang="zh-CN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5883" name="Rectangle 82"/>
              <p:cNvSpPr>
                <a:spLocks noChangeArrowheads="1"/>
              </p:cNvSpPr>
              <p:nvPr/>
            </p:nvSpPr>
            <p:spPr bwMode="auto">
              <a:xfrm>
                <a:off x="3732" y="724"/>
                <a:ext cx="48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endParaRPr lang="en-US" altLang="zh-CN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5884" name="Line 93"/>
              <p:cNvSpPr>
                <a:spLocks noChangeShapeType="1"/>
              </p:cNvSpPr>
              <p:nvPr/>
            </p:nvSpPr>
            <p:spPr bwMode="auto">
              <a:xfrm>
                <a:off x="4537" y="859"/>
                <a:ext cx="1" cy="197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prstDash val="sys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95" name="Object 14"/>
          <p:cNvGraphicFramePr>
            <a:graphicFrameLocks noChangeAspect="1"/>
          </p:cNvGraphicFramePr>
          <p:nvPr/>
        </p:nvGraphicFramePr>
        <p:xfrm>
          <a:off x="1042988" y="2943225"/>
          <a:ext cx="208915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91" name="公式" r:id="rId1" imgW="1014730" imgH="113030" progId="Equation.3">
                  <p:embed/>
                </p:oleObj>
              </mc:Choice>
              <mc:Fallback>
                <p:oleObj name="公式" r:id="rId1" imgW="1014730" imgH="11303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943225"/>
                        <a:ext cx="2089150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115"/>
          <p:cNvGrpSpPr/>
          <p:nvPr/>
        </p:nvGrpSpPr>
        <p:grpSpPr bwMode="auto">
          <a:xfrm>
            <a:off x="611188" y="3786188"/>
            <a:ext cx="4057650" cy="528637"/>
            <a:chOff x="596" y="2565"/>
            <a:chExt cx="2556" cy="333"/>
          </a:xfrm>
        </p:grpSpPr>
        <p:graphicFrame>
          <p:nvGraphicFramePr>
            <p:cNvPr id="75856" name="Object 15"/>
            <p:cNvGraphicFramePr>
              <a:graphicFrameLocks noChangeAspect="1"/>
            </p:cNvGraphicFramePr>
            <p:nvPr/>
          </p:nvGraphicFramePr>
          <p:xfrm>
            <a:off x="1831" y="2565"/>
            <a:ext cx="1321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892" name="公式" r:id="rId3" imgW="1039495" imgH="87630" progId="Equation.3">
                    <p:embed/>
                  </p:oleObj>
                </mc:Choice>
                <mc:Fallback>
                  <p:oleObj name="公式" r:id="rId3" imgW="1039495" imgH="8763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1" y="2565"/>
                          <a:ext cx="1321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00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5857" name="Rectangle 114"/>
            <p:cNvSpPr>
              <a:spLocks noChangeArrowheads="1"/>
            </p:cNvSpPr>
            <p:nvPr/>
          </p:nvSpPr>
          <p:spPr bwMode="auto">
            <a:xfrm>
              <a:off x="596" y="2568"/>
              <a:ext cx="132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当</a:t>
              </a:r>
              <a:r>
                <a:rPr kumimoji="1"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kumimoji="1"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kumimoji="1"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kumimoji="1"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=1</a:t>
              </a:r>
              <a:r>
                <a:rPr kumimoji="1"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时</a:t>
              </a:r>
              <a:r>
                <a:rPr kumimoji="1" lang="zh-CN" alt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endPara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3" name="Rectangle 116"/>
          <p:cNvSpPr>
            <a:spLocks noChangeArrowheads="1"/>
          </p:cNvSpPr>
          <p:nvPr/>
        </p:nvSpPr>
        <p:spPr bwMode="auto">
          <a:xfrm>
            <a:off x="357188" y="4868863"/>
            <a:ext cx="60753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注意：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竞争的存在不一定都会产生毛刺。</a:t>
            </a:r>
            <a:endParaRPr kumimoji="1" lang="zh-CN" altLang="en-US" sz="240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Rectangle 117"/>
          <p:cNvSpPr>
            <a:spLocks noChangeArrowheads="1"/>
          </p:cNvSpPr>
          <p:nvPr/>
        </p:nvSpPr>
        <p:spPr bwMode="auto">
          <a:xfrm>
            <a:off x="357188" y="5589588"/>
            <a:ext cx="8715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由于不同传输路径的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门电路延迟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造成的竞争－－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自竞争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Text Box 118"/>
          <p:cNvSpPr txBox="1">
            <a:spLocks noChangeArrowheads="1"/>
          </p:cNvSpPr>
          <p:nvPr/>
        </p:nvSpPr>
        <p:spPr bwMode="auto">
          <a:xfrm>
            <a:off x="5327650" y="3860800"/>
            <a:ext cx="3744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负脉冲－－“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0”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型冒险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5784" name="组合 135"/>
          <p:cNvGrpSpPr/>
          <p:nvPr/>
        </p:nvGrpSpPr>
        <p:grpSpPr bwMode="auto">
          <a:xfrm>
            <a:off x="428625" y="1000125"/>
            <a:ext cx="4246563" cy="1714500"/>
            <a:chOff x="500034" y="1000108"/>
            <a:chExt cx="3886171" cy="1714512"/>
          </a:xfrm>
        </p:grpSpPr>
        <p:sp>
          <p:nvSpPr>
            <p:cNvPr id="75815" name="Rectangle 104"/>
            <p:cNvSpPr>
              <a:spLocks noChangeArrowheads="1"/>
            </p:cNvSpPr>
            <p:nvPr/>
          </p:nvSpPr>
          <p:spPr bwMode="auto">
            <a:xfrm>
              <a:off x="2571736" y="1142984"/>
              <a:ext cx="26609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7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</a:t>
              </a:r>
              <a:endPara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5816" name="Group 105"/>
            <p:cNvGrpSpPr/>
            <p:nvPr/>
          </p:nvGrpSpPr>
          <p:grpSpPr bwMode="auto">
            <a:xfrm>
              <a:off x="2571736" y="2285992"/>
              <a:ext cx="279400" cy="261937"/>
              <a:chOff x="3061" y="1761"/>
              <a:chExt cx="176" cy="165"/>
            </a:xfrm>
          </p:grpSpPr>
          <p:sp>
            <p:nvSpPr>
              <p:cNvPr id="75854" name="Rectangle 106"/>
              <p:cNvSpPr>
                <a:spLocks noChangeArrowheads="1"/>
              </p:cNvSpPr>
              <p:nvPr/>
            </p:nvSpPr>
            <p:spPr bwMode="auto">
              <a:xfrm>
                <a:off x="3061" y="1761"/>
                <a:ext cx="176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7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</a:t>
                </a:r>
                <a:endParaRPr lang="en-US" altLang="zh-CN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5855" name="Line 107"/>
              <p:cNvSpPr>
                <a:spLocks noChangeShapeType="1"/>
              </p:cNvSpPr>
              <p:nvPr/>
            </p:nvSpPr>
            <p:spPr bwMode="auto">
              <a:xfrm flipH="1">
                <a:off x="3081" y="1771"/>
                <a:ext cx="62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5817" name="组合 95"/>
            <p:cNvGrpSpPr/>
            <p:nvPr/>
          </p:nvGrpSpPr>
          <p:grpSpPr bwMode="auto">
            <a:xfrm>
              <a:off x="500034" y="1000108"/>
              <a:ext cx="3886171" cy="1714512"/>
              <a:chOff x="1285852" y="1071546"/>
              <a:chExt cx="4862457" cy="1828870"/>
            </a:xfrm>
          </p:grpSpPr>
          <p:grpSp>
            <p:nvGrpSpPr>
              <p:cNvPr id="75818" name="组合 50"/>
              <p:cNvGrpSpPr/>
              <p:nvPr/>
            </p:nvGrpSpPr>
            <p:grpSpPr bwMode="auto">
              <a:xfrm>
                <a:off x="3954458" y="1974853"/>
                <a:ext cx="1214445" cy="571491"/>
                <a:chOff x="3786253" y="4572007"/>
                <a:chExt cx="1500238" cy="571504"/>
              </a:xfrm>
            </p:grpSpPr>
            <p:sp>
              <p:nvSpPr>
                <p:cNvPr id="133" name="弧形 2"/>
                <p:cNvSpPr/>
                <p:nvPr/>
              </p:nvSpPr>
              <p:spPr>
                <a:xfrm>
                  <a:off x="3786052" y="4571282"/>
                  <a:ext cx="1499998" cy="572382"/>
                </a:xfrm>
                <a:prstGeom prst="arc">
                  <a:avLst/>
                </a:prstGeom>
                <a:solidFill>
                  <a:schemeClr val="bg1"/>
                </a:solidFill>
                <a:ln w="254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i="1"/>
                </a:p>
              </p:txBody>
            </p:sp>
            <p:sp>
              <p:nvSpPr>
                <p:cNvPr id="134" name="弧形 3"/>
                <p:cNvSpPr/>
                <p:nvPr/>
              </p:nvSpPr>
              <p:spPr>
                <a:xfrm flipV="1">
                  <a:off x="3786052" y="4571282"/>
                  <a:ext cx="1499998" cy="572382"/>
                </a:xfrm>
                <a:prstGeom prst="arc">
                  <a:avLst/>
                </a:prstGeom>
                <a:solidFill>
                  <a:schemeClr val="bg1"/>
                </a:solidFill>
                <a:ln w="254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i="1"/>
                </a:p>
              </p:txBody>
            </p:sp>
            <p:sp>
              <p:nvSpPr>
                <p:cNvPr id="135" name="弧形 4"/>
                <p:cNvSpPr/>
                <p:nvPr/>
              </p:nvSpPr>
              <p:spPr>
                <a:xfrm>
                  <a:off x="4383357" y="4571282"/>
                  <a:ext cx="332335" cy="572382"/>
                </a:xfrm>
                <a:prstGeom prst="arc">
                  <a:avLst>
                    <a:gd name="adj1" fmla="val 16200000"/>
                    <a:gd name="adj2" fmla="val 5186173"/>
                  </a:avLst>
                </a:prstGeom>
                <a:solidFill>
                  <a:schemeClr val="bg1"/>
                </a:solidFill>
                <a:ln w="254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i="1"/>
                </a:p>
              </p:txBody>
            </p:sp>
          </p:grpSp>
          <p:grpSp>
            <p:nvGrpSpPr>
              <p:cNvPr id="75819" name="组合 105"/>
              <p:cNvGrpSpPr/>
              <p:nvPr/>
            </p:nvGrpSpPr>
            <p:grpSpPr bwMode="auto">
              <a:xfrm>
                <a:off x="3290893" y="1258731"/>
                <a:ext cx="923926" cy="442881"/>
                <a:chOff x="7559789" y="1986252"/>
                <a:chExt cx="923966" cy="442881"/>
              </a:xfrm>
            </p:grpSpPr>
            <p:cxnSp>
              <p:nvCxnSpPr>
                <p:cNvPr id="128" name="直接连接符 127"/>
                <p:cNvCxnSpPr/>
                <p:nvPr/>
              </p:nvCxnSpPr>
              <p:spPr>
                <a:xfrm>
                  <a:off x="8072342" y="2213950"/>
                  <a:ext cx="410827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直接连接符 128"/>
                <p:cNvCxnSpPr/>
                <p:nvPr/>
              </p:nvCxnSpPr>
              <p:spPr>
                <a:xfrm>
                  <a:off x="7559717" y="1987035"/>
                  <a:ext cx="356292" cy="0"/>
                </a:xfrm>
                <a:prstGeom prst="line">
                  <a:avLst/>
                </a:prstGeom>
                <a:ln w="254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直接连接符 129"/>
                <p:cNvCxnSpPr/>
                <p:nvPr/>
              </p:nvCxnSpPr>
              <p:spPr>
                <a:xfrm>
                  <a:off x="7559717" y="2429011"/>
                  <a:ext cx="356292" cy="0"/>
                </a:xfrm>
                <a:prstGeom prst="line">
                  <a:avLst/>
                </a:prstGeom>
                <a:ln w="254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直接连接符 130"/>
                <p:cNvCxnSpPr/>
                <p:nvPr/>
              </p:nvCxnSpPr>
              <p:spPr>
                <a:xfrm rot="5400000">
                  <a:off x="7339637" y="2207115"/>
                  <a:ext cx="441976" cy="1817"/>
                </a:xfrm>
                <a:prstGeom prst="line">
                  <a:avLst/>
                </a:prstGeom>
                <a:ln w="254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2" name="弧形 131"/>
                <p:cNvSpPr/>
                <p:nvPr/>
              </p:nvSpPr>
              <p:spPr>
                <a:xfrm>
                  <a:off x="7757859" y="1987035"/>
                  <a:ext cx="318119" cy="441976"/>
                </a:xfrm>
                <a:prstGeom prst="arc">
                  <a:avLst>
                    <a:gd name="adj1" fmla="val 16200000"/>
                    <a:gd name="adj2" fmla="val 5580297"/>
                  </a:avLst>
                </a:prstGeom>
                <a:ln w="254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</p:grpSp>
          <p:cxnSp>
            <p:nvCxnSpPr>
              <p:cNvPr id="99" name="直接连接符 98"/>
              <p:cNvCxnSpPr/>
              <p:nvPr/>
            </p:nvCxnSpPr>
            <p:spPr bwMode="auto">
              <a:xfrm>
                <a:off x="2858198" y="2429651"/>
                <a:ext cx="430804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5821" name="组合 131"/>
              <p:cNvGrpSpPr/>
              <p:nvPr/>
            </p:nvGrpSpPr>
            <p:grpSpPr bwMode="auto">
              <a:xfrm>
                <a:off x="2357422" y="1954202"/>
                <a:ext cx="536574" cy="500063"/>
                <a:chOff x="3000453" y="4714982"/>
                <a:chExt cx="536598" cy="500027"/>
              </a:xfrm>
            </p:grpSpPr>
            <p:sp>
              <p:nvSpPr>
                <p:cNvPr id="126" name="等腰三角形 30"/>
                <p:cNvSpPr/>
                <p:nvPr/>
              </p:nvSpPr>
              <p:spPr>
                <a:xfrm rot="5400000">
                  <a:off x="2965248" y="4750689"/>
                  <a:ext cx="501210" cy="429006"/>
                </a:xfrm>
                <a:prstGeom prst="triangle">
                  <a:avLst/>
                </a:prstGeom>
                <a:noFill/>
                <a:ln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sp>
              <p:nvSpPr>
                <p:cNvPr id="127" name="椭圆 31"/>
                <p:cNvSpPr/>
                <p:nvPr/>
              </p:nvSpPr>
              <p:spPr>
                <a:xfrm>
                  <a:off x="3430355" y="4905927"/>
                  <a:ext cx="107252" cy="108370"/>
                </a:xfrm>
                <a:prstGeom prst="ellipse">
                  <a:avLst/>
                </a:prstGeom>
                <a:noFill/>
                <a:ln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</p:grpSp>
          <p:cxnSp>
            <p:nvCxnSpPr>
              <p:cNvPr id="101" name="直接连接符 100"/>
              <p:cNvCxnSpPr/>
              <p:nvPr/>
            </p:nvCxnSpPr>
            <p:spPr bwMode="auto">
              <a:xfrm>
                <a:off x="1691209" y="1357731"/>
                <a:ext cx="1594158" cy="169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接连接符 101"/>
              <p:cNvCxnSpPr/>
              <p:nvPr/>
            </p:nvCxnSpPr>
            <p:spPr bwMode="auto">
              <a:xfrm rot="10800000">
                <a:off x="1747558" y="2714142"/>
                <a:ext cx="1112457" cy="169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直接连接符 105"/>
              <p:cNvCxnSpPr/>
              <p:nvPr/>
            </p:nvCxnSpPr>
            <p:spPr bwMode="auto">
              <a:xfrm flipV="1">
                <a:off x="2071116" y="2204430"/>
                <a:ext cx="287203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直接连接符 106"/>
              <p:cNvCxnSpPr/>
              <p:nvPr/>
            </p:nvCxnSpPr>
            <p:spPr bwMode="auto">
              <a:xfrm rot="5400000" flipH="1" flipV="1">
                <a:off x="1643595" y="1785252"/>
                <a:ext cx="856859" cy="181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接连接符 107"/>
              <p:cNvCxnSpPr/>
              <p:nvPr/>
            </p:nvCxnSpPr>
            <p:spPr bwMode="auto">
              <a:xfrm>
                <a:off x="2870922" y="2201043"/>
                <a:ext cx="394450" cy="169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接连接符 108"/>
              <p:cNvCxnSpPr/>
              <p:nvPr/>
            </p:nvCxnSpPr>
            <p:spPr bwMode="auto">
              <a:xfrm>
                <a:off x="1691209" y="1571099"/>
                <a:ext cx="1594158" cy="169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5828" name="组合 21"/>
              <p:cNvGrpSpPr/>
              <p:nvPr/>
            </p:nvGrpSpPr>
            <p:grpSpPr bwMode="auto">
              <a:xfrm>
                <a:off x="4214810" y="1487476"/>
                <a:ext cx="504000" cy="657228"/>
                <a:chOff x="4214810" y="1487476"/>
                <a:chExt cx="504000" cy="657228"/>
              </a:xfrm>
            </p:grpSpPr>
            <p:cxnSp>
              <p:nvCxnSpPr>
                <p:cNvPr id="124" name="直接连接符 123"/>
                <p:cNvCxnSpPr/>
                <p:nvPr/>
              </p:nvCxnSpPr>
              <p:spPr bwMode="auto">
                <a:xfrm rot="5400000" flipH="1" flipV="1">
                  <a:off x="3887469" y="1814886"/>
                  <a:ext cx="655345" cy="1817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直接连接符 124"/>
                <p:cNvCxnSpPr/>
                <p:nvPr/>
              </p:nvCxnSpPr>
              <p:spPr bwMode="auto">
                <a:xfrm>
                  <a:off x="4214233" y="2143468"/>
                  <a:ext cx="505332" cy="1693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1" name="直接连接符 110"/>
              <p:cNvCxnSpPr/>
              <p:nvPr/>
            </p:nvCxnSpPr>
            <p:spPr bwMode="auto">
              <a:xfrm>
                <a:off x="5181271" y="2260312"/>
                <a:ext cx="572588" cy="169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111"/>
              <p:cNvCxnSpPr/>
              <p:nvPr/>
            </p:nvCxnSpPr>
            <p:spPr bwMode="auto">
              <a:xfrm rot="5400000" flipH="1" flipV="1">
                <a:off x="2715953" y="2571897"/>
                <a:ext cx="284491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椭圆 112"/>
              <p:cNvSpPr/>
              <p:nvPr/>
            </p:nvSpPr>
            <p:spPr bwMode="auto">
              <a:xfrm>
                <a:off x="2032944" y="1323863"/>
                <a:ext cx="72710" cy="7112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grpSp>
            <p:nvGrpSpPr>
              <p:cNvPr id="75832" name="组合 106"/>
              <p:cNvGrpSpPr/>
              <p:nvPr/>
            </p:nvGrpSpPr>
            <p:grpSpPr bwMode="auto">
              <a:xfrm>
                <a:off x="3278183" y="2114396"/>
                <a:ext cx="517525" cy="441293"/>
                <a:chOff x="7559061" y="1986995"/>
                <a:chExt cx="517548" cy="441293"/>
              </a:xfrm>
            </p:grpSpPr>
            <p:cxnSp>
              <p:nvCxnSpPr>
                <p:cNvPr id="120" name="直接连接符 119"/>
                <p:cNvCxnSpPr/>
                <p:nvPr/>
              </p:nvCxnSpPr>
              <p:spPr>
                <a:xfrm>
                  <a:off x="7558974" y="1987279"/>
                  <a:ext cx="359928" cy="0"/>
                </a:xfrm>
                <a:prstGeom prst="line">
                  <a:avLst/>
                </a:prstGeom>
                <a:ln w="254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直接连接符 120"/>
                <p:cNvCxnSpPr/>
                <p:nvPr/>
              </p:nvCxnSpPr>
              <p:spPr>
                <a:xfrm>
                  <a:off x="7558974" y="2427563"/>
                  <a:ext cx="359928" cy="0"/>
                </a:xfrm>
                <a:prstGeom prst="line">
                  <a:avLst/>
                </a:prstGeom>
                <a:ln w="254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直接连接符 121"/>
                <p:cNvCxnSpPr/>
                <p:nvPr/>
              </p:nvCxnSpPr>
              <p:spPr>
                <a:xfrm rot="5400000">
                  <a:off x="7339741" y="2206511"/>
                  <a:ext cx="440284" cy="1818"/>
                </a:xfrm>
                <a:prstGeom prst="line">
                  <a:avLst/>
                </a:prstGeom>
                <a:ln w="254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3" name="弧形 122"/>
                <p:cNvSpPr/>
                <p:nvPr/>
              </p:nvSpPr>
              <p:spPr>
                <a:xfrm>
                  <a:off x="7757117" y="1987279"/>
                  <a:ext cx="319936" cy="440284"/>
                </a:xfrm>
                <a:prstGeom prst="arc">
                  <a:avLst>
                    <a:gd name="adj1" fmla="val 16200000"/>
                    <a:gd name="adj2" fmla="val 5580297"/>
                  </a:avLst>
                </a:prstGeom>
                <a:ln w="254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75833" name="矩形 124"/>
              <p:cNvSpPr>
                <a:spLocks noChangeArrowheads="1"/>
              </p:cNvSpPr>
              <p:nvPr/>
            </p:nvSpPr>
            <p:spPr bwMode="auto">
              <a:xfrm>
                <a:off x="1285852" y="1071546"/>
                <a:ext cx="35618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CN" altLang="en-US" sz="2000" i="1" baseline="-25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5834" name="矩形 125"/>
              <p:cNvSpPr>
                <a:spLocks noChangeArrowheads="1"/>
              </p:cNvSpPr>
              <p:nvPr/>
            </p:nvSpPr>
            <p:spPr bwMode="auto">
              <a:xfrm>
                <a:off x="1285852" y="1385816"/>
                <a:ext cx="35618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CN" altLang="en-US" sz="2000" i="1" baseline="-25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5835" name="矩形 126"/>
              <p:cNvSpPr>
                <a:spLocks noChangeArrowheads="1"/>
              </p:cNvSpPr>
              <p:nvPr/>
            </p:nvSpPr>
            <p:spPr bwMode="auto">
              <a:xfrm>
                <a:off x="5740408" y="2051963"/>
                <a:ext cx="407901" cy="4267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endParaRPr lang="zh-CN" altLang="en-US" sz="2000" b="1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5836" name="矩形 125"/>
              <p:cNvSpPr>
                <a:spLocks noChangeArrowheads="1"/>
              </p:cNvSpPr>
              <p:nvPr/>
            </p:nvSpPr>
            <p:spPr bwMode="auto">
              <a:xfrm>
                <a:off x="1358292" y="2500306"/>
                <a:ext cx="35618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CN" altLang="en-US" sz="2000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19" name="直接连接符 118"/>
              <p:cNvCxnSpPr/>
              <p:nvPr/>
            </p:nvCxnSpPr>
            <p:spPr bwMode="auto">
              <a:xfrm rot="10800000">
                <a:off x="3810694" y="2356836"/>
                <a:ext cx="90341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组合 113"/>
          <p:cNvGrpSpPr/>
          <p:nvPr/>
        </p:nvGrpSpPr>
        <p:grpSpPr bwMode="auto">
          <a:xfrm>
            <a:off x="5137150" y="2149475"/>
            <a:ext cx="3184525" cy="1550988"/>
            <a:chOff x="5137150" y="2149475"/>
            <a:chExt cx="3184489" cy="1550988"/>
          </a:xfrm>
        </p:grpSpPr>
        <p:sp>
          <p:nvSpPr>
            <p:cNvPr id="75787" name="Line 49"/>
            <p:cNvSpPr>
              <a:spLocks noChangeShapeType="1"/>
            </p:cNvSpPr>
            <p:nvPr/>
          </p:nvSpPr>
          <p:spPr bwMode="auto">
            <a:xfrm>
              <a:off x="5475288" y="2743200"/>
              <a:ext cx="611188" cy="158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88" name="Line 50"/>
            <p:cNvSpPr>
              <a:spLocks noChangeShapeType="1"/>
            </p:cNvSpPr>
            <p:nvPr/>
          </p:nvSpPr>
          <p:spPr bwMode="auto">
            <a:xfrm>
              <a:off x="6091238" y="2743200"/>
              <a:ext cx="1588" cy="31273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89" name="Line 51"/>
            <p:cNvSpPr>
              <a:spLocks noChangeShapeType="1"/>
            </p:cNvSpPr>
            <p:nvPr/>
          </p:nvSpPr>
          <p:spPr bwMode="auto">
            <a:xfrm>
              <a:off x="6091238" y="3055938"/>
              <a:ext cx="935038" cy="158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0" name="Line 52"/>
            <p:cNvSpPr>
              <a:spLocks noChangeShapeType="1"/>
            </p:cNvSpPr>
            <p:nvPr/>
          </p:nvSpPr>
          <p:spPr bwMode="auto">
            <a:xfrm>
              <a:off x="7026275" y="2743200"/>
              <a:ext cx="1588" cy="31273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1" name="Line 53"/>
            <p:cNvSpPr>
              <a:spLocks noChangeShapeType="1"/>
            </p:cNvSpPr>
            <p:nvPr/>
          </p:nvSpPr>
          <p:spPr bwMode="auto">
            <a:xfrm>
              <a:off x="7026275" y="2743200"/>
              <a:ext cx="933450" cy="158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2" name="Line 54"/>
            <p:cNvSpPr>
              <a:spLocks noChangeShapeType="1"/>
            </p:cNvSpPr>
            <p:nvPr/>
          </p:nvSpPr>
          <p:spPr bwMode="auto">
            <a:xfrm>
              <a:off x="7959725" y="2743200"/>
              <a:ext cx="1588" cy="31273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3" name="Line 55"/>
            <p:cNvSpPr>
              <a:spLocks noChangeShapeType="1"/>
            </p:cNvSpPr>
            <p:nvPr/>
          </p:nvSpPr>
          <p:spPr bwMode="auto">
            <a:xfrm>
              <a:off x="7959725" y="3055938"/>
              <a:ext cx="360363" cy="158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4" name="Line 56"/>
            <p:cNvSpPr>
              <a:spLocks noChangeShapeType="1"/>
            </p:cNvSpPr>
            <p:nvPr/>
          </p:nvSpPr>
          <p:spPr bwMode="auto">
            <a:xfrm>
              <a:off x="5486400" y="2516188"/>
              <a:ext cx="468313" cy="158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5" name="Line 57"/>
            <p:cNvSpPr>
              <a:spLocks noChangeShapeType="1"/>
            </p:cNvSpPr>
            <p:nvPr/>
          </p:nvSpPr>
          <p:spPr bwMode="auto">
            <a:xfrm flipV="1">
              <a:off x="5954713" y="2205038"/>
              <a:ext cx="1588" cy="31115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6" name="Line 58"/>
            <p:cNvSpPr>
              <a:spLocks noChangeShapeType="1"/>
            </p:cNvSpPr>
            <p:nvPr/>
          </p:nvSpPr>
          <p:spPr bwMode="auto">
            <a:xfrm>
              <a:off x="5954713" y="2205038"/>
              <a:ext cx="917575" cy="158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7" name="Line 59"/>
            <p:cNvSpPr>
              <a:spLocks noChangeShapeType="1"/>
            </p:cNvSpPr>
            <p:nvPr/>
          </p:nvSpPr>
          <p:spPr bwMode="auto">
            <a:xfrm flipV="1">
              <a:off x="6872288" y="2205038"/>
              <a:ext cx="1588" cy="31115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8" name="Line 60"/>
            <p:cNvSpPr>
              <a:spLocks noChangeShapeType="1"/>
            </p:cNvSpPr>
            <p:nvPr/>
          </p:nvSpPr>
          <p:spPr bwMode="auto">
            <a:xfrm>
              <a:off x="6872288" y="2516188"/>
              <a:ext cx="933450" cy="158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9" name="Line 61"/>
            <p:cNvSpPr>
              <a:spLocks noChangeShapeType="1"/>
            </p:cNvSpPr>
            <p:nvPr/>
          </p:nvSpPr>
          <p:spPr bwMode="auto">
            <a:xfrm flipV="1">
              <a:off x="7805738" y="2205038"/>
              <a:ext cx="1588" cy="31115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00" name="Line 62"/>
            <p:cNvSpPr>
              <a:spLocks noChangeShapeType="1"/>
            </p:cNvSpPr>
            <p:nvPr/>
          </p:nvSpPr>
          <p:spPr bwMode="auto">
            <a:xfrm>
              <a:off x="7805738" y="2205038"/>
              <a:ext cx="503238" cy="158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01" name="Rectangle 63"/>
            <p:cNvSpPr>
              <a:spLocks noChangeArrowheads="1"/>
            </p:cNvSpPr>
            <p:nvPr/>
          </p:nvSpPr>
          <p:spPr bwMode="auto">
            <a:xfrm>
              <a:off x="6858016" y="3386138"/>
              <a:ext cx="163513" cy="312738"/>
            </a:xfrm>
            <a:prstGeom prst="rect">
              <a:avLst/>
            </a:prstGeom>
            <a:pattFill prst="ltUpDiag">
              <a:fgClr>
                <a:srgbClr val="000000"/>
              </a:fgClr>
              <a:bgClr>
                <a:srgbClr val="FFFFFF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802" name="Rectangle 74"/>
            <p:cNvSpPr>
              <a:spLocks noChangeArrowheads="1"/>
            </p:cNvSpPr>
            <p:nvPr/>
          </p:nvSpPr>
          <p:spPr bwMode="auto">
            <a:xfrm>
              <a:off x="5137150" y="2149475"/>
              <a:ext cx="266700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7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</a:t>
              </a:r>
              <a:endPara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5803" name="Group 101"/>
            <p:cNvGrpSpPr/>
            <p:nvPr/>
          </p:nvGrpSpPr>
          <p:grpSpPr bwMode="auto">
            <a:xfrm>
              <a:off x="5140325" y="2636838"/>
              <a:ext cx="279400" cy="261938"/>
              <a:chOff x="3061" y="1761"/>
              <a:chExt cx="176" cy="165"/>
            </a:xfrm>
          </p:grpSpPr>
          <p:sp>
            <p:nvSpPr>
              <p:cNvPr id="75813" name="Rectangle 76"/>
              <p:cNvSpPr>
                <a:spLocks noChangeArrowheads="1"/>
              </p:cNvSpPr>
              <p:nvPr/>
            </p:nvSpPr>
            <p:spPr bwMode="auto">
              <a:xfrm>
                <a:off x="3061" y="1761"/>
                <a:ext cx="176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7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</a:t>
                </a:r>
                <a:endParaRPr lang="en-US" altLang="zh-CN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5814" name="Line 77"/>
              <p:cNvSpPr>
                <a:spLocks noChangeShapeType="1"/>
              </p:cNvSpPr>
              <p:nvPr/>
            </p:nvSpPr>
            <p:spPr bwMode="auto">
              <a:xfrm flipH="1">
                <a:off x="3081" y="1771"/>
                <a:ext cx="62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5804" name="Rectangle 79"/>
            <p:cNvSpPr>
              <a:spLocks noChangeArrowheads="1"/>
            </p:cNvSpPr>
            <p:nvPr/>
          </p:nvSpPr>
          <p:spPr bwMode="auto">
            <a:xfrm>
              <a:off x="5208588" y="3189288"/>
              <a:ext cx="133350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7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805" name="Line 86"/>
            <p:cNvSpPr>
              <a:spLocks noChangeShapeType="1"/>
            </p:cNvSpPr>
            <p:nvPr/>
          </p:nvSpPr>
          <p:spPr bwMode="auto">
            <a:xfrm>
              <a:off x="5484813" y="3386138"/>
              <a:ext cx="1368000" cy="158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06" name="Line 87"/>
            <p:cNvSpPr>
              <a:spLocks noChangeShapeType="1"/>
            </p:cNvSpPr>
            <p:nvPr/>
          </p:nvSpPr>
          <p:spPr bwMode="auto">
            <a:xfrm flipV="1">
              <a:off x="6858016" y="3386138"/>
              <a:ext cx="1588" cy="31273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07" name="Line 88"/>
            <p:cNvSpPr>
              <a:spLocks noChangeShapeType="1"/>
            </p:cNvSpPr>
            <p:nvPr/>
          </p:nvSpPr>
          <p:spPr bwMode="auto">
            <a:xfrm flipV="1">
              <a:off x="7021529" y="3386138"/>
              <a:ext cx="1588" cy="31273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08" name="Line 89"/>
            <p:cNvSpPr>
              <a:spLocks noChangeShapeType="1"/>
            </p:cNvSpPr>
            <p:nvPr/>
          </p:nvSpPr>
          <p:spPr bwMode="auto">
            <a:xfrm flipH="1">
              <a:off x="6858016" y="3698875"/>
              <a:ext cx="163513" cy="158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09" name="Line 90"/>
            <p:cNvSpPr>
              <a:spLocks noChangeShapeType="1"/>
            </p:cNvSpPr>
            <p:nvPr/>
          </p:nvSpPr>
          <p:spPr bwMode="auto">
            <a:xfrm>
              <a:off x="7025639" y="3386138"/>
              <a:ext cx="1296000" cy="158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10" name="Line 91"/>
            <p:cNvSpPr>
              <a:spLocks noChangeShapeType="1"/>
            </p:cNvSpPr>
            <p:nvPr/>
          </p:nvSpPr>
          <p:spPr bwMode="auto">
            <a:xfrm>
              <a:off x="5954713" y="2479675"/>
              <a:ext cx="1588" cy="54133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ys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11" name="Line 94"/>
            <p:cNvSpPr>
              <a:spLocks noChangeShapeType="1"/>
            </p:cNvSpPr>
            <p:nvPr/>
          </p:nvSpPr>
          <p:spPr bwMode="auto">
            <a:xfrm>
              <a:off x="6858016" y="2500306"/>
              <a:ext cx="1588" cy="90000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prstDash val="sys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12" name="Line 94"/>
            <p:cNvSpPr>
              <a:spLocks noChangeShapeType="1"/>
            </p:cNvSpPr>
            <p:nvPr/>
          </p:nvSpPr>
          <p:spPr bwMode="auto">
            <a:xfrm>
              <a:off x="7030152" y="2500306"/>
              <a:ext cx="1588" cy="90000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prstDash val="sys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5786" name="矩形 1"/>
          <p:cNvSpPr>
            <a:spLocks noChangeArrowheads="1"/>
          </p:cNvSpPr>
          <p:nvPr/>
        </p:nvSpPr>
        <p:spPr bwMode="auto">
          <a:xfrm>
            <a:off x="5437188" y="61913"/>
            <a:ext cx="36099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§4.5 </a:t>
            </a:r>
            <a:r>
              <a:rPr kumimoji="1"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组合逻辑电路的竞争和冒险 </a:t>
            </a:r>
            <a:endParaRPr lang="zh-CN" altLang="en-US" sz="1800">
              <a:solidFill>
                <a:srgbClr val="FF0066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/>
      <p:bldP spid="104" grpId="0"/>
      <p:bldP spid="10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ext Box 6"/>
          <p:cNvSpPr txBox="1">
            <a:spLocks noChangeArrowheads="1"/>
          </p:cNvSpPr>
          <p:nvPr/>
        </p:nvSpPr>
        <p:spPr bwMode="auto">
          <a:xfrm>
            <a:off x="357188" y="300038"/>
            <a:ext cx="51847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二、竞争－冒险现象的检查方法</a:t>
            </a:r>
            <a:endParaRPr lang="zh-CN" altLang="en-US" sz="2800" b="1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630238" y="1014413"/>
            <a:ext cx="2116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代数识别法</a:t>
            </a:r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804" name="Text Box 4"/>
          <p:cNvSpPr txBox="1">
            <a:spLocks noChangeArrowheads="1"/>
          </p:cNvSpPr>
          <p:nvPr/>
        </p:nvSpPr>
        <p:spPr bwMode="auto">
          <a:xfrm>
            <a:off x="1285875" y="2443163"/>
            <a:ext cx="75057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960438" y="1587500"/>
            <a:ext cx="7215187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一个变量以原变量和反变量出现在逻辑函数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中时，则该变量是具有竞争条件的变量。如果消去其他变量（令其他变量为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），留下具有竞争条件的变量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en-US" sz="240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8"/>
          <p:cNvGrpSpPr/>
          <p:nvPr/>
        </p:nvGrpSpPr>
        <p:grpSpPr bwMode="auto">
          <a:xfrm>
            <a:off x="1031875" y="3243263"/>
            <a:ext cx="7143750" cy="1130300"/>
            <a:chOff x="1285852" y="2833513"/>
            <a:chExt cx="7143800" cy="1130246"/>
          </a:xfrm>
        </p:grpSpPr>
        <p:graphicFrame>
          <p:nvGraphicFramePr>
            <p:cNvPr id="76811" name="Object 2"/>
            <p:cNvGraphicFramePr>
              <a:graphicFrameLocks noChangeAspect="1"/>
            </p:cNvGraphicFramePr>
            <p:nvPr/>
          </p:nvGraphicFramePr>
          <p:xfrm>
            <a:off x="3357554" y="2928934"/>
            <a:ext cx="144145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817" name="公式" r:id="rId1" imgW="739140" imgH="87630" progId="Equation.3">
                    <p:embed/>
                  </p:oleObj>
                </mc:Choice>
                <mc:Fallback>
                  <p:oleObj name="公式" r:id="rId1" imgW="739140" imgH="8763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7554" y="2928934"/>
                          <a:ext cx="1441450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79" name="矩形 7"/>
            <p:cNvSpPr>
              <a:spLocks noChangeArrowheads="1"/>
            </p:cNvSpPr>
            <p:nvPr/>
          </p:nvSpPr>
          <p:spPr bwMode="auto">
            <a:xfrm>
              <a:off x="1285852" y="2833513"/>
              <a:ext cx="7143800" cy="113024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just">
                <a:lnSpc>
                  <a:spcPct val="150000"/>
                </a:lnSpc>
                <a:defRPr/>
              </a:pPr>
              <a:r>
                <a:rPr kumimoji="1"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①若函数出现</a:t>
              </a:r>
              <a:endPara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indent="355600" algn="just">
                <a:lnSpc>
                  <a:spcPct val="150000"/>
                </a:lnSpc>
                <a:defRPr/>
              </a:pPr>
              <a:r>
                <a:rPr kumimoji="1"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产生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负</a:t>
              </a:r>
              <a:r>
                <a:rPr kumimoji="1"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的尖峰脉冲的冒险现象，－－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“</a:t>
              </a:r>
              <a:r>
                <a:rPr kumimoji="1"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0”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型冒险</a:t>
              </a:r>
              <a:r>
                <a:rPr kumimoji="1"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。</a:t>
              </a:r>
              <a:endPara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组合 12"/>
          <p:cNvGrpSpPr/>
          <p:nvPr/>
        </p:nvGrpSpPr>
        <p:grpSpPr bwMode="auto">
          <a:xfrm>
            <a:off x="1000125" y="4800600"/>
            <a:ext cx="7429500" cy="1200150"/>
            <a:chOff x="1285852" y="4643446"/>
            <a:chExt cx="7429552" cy="1200272"/>
          </a:xfrm>
        </p:grpSpPr>
        <p:graphicFrame>
          <p:nvGraphicFramePr>
            <p:cNvPr id="76809" name="Object 3"/>
            <p:cNvGraphicFramePr>
              <a:graphicFrameLocks noChangeAspect="1"/>
            </p:cNvGraphicFramePr>
            <p:nvPr/>
          </p:nvGraphicFramePr>
          <p:xfrm>
            <a:off x="3357554" y="4714884"/>
            <a:ext cx="1337984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818" name="公式" r:id="rId3" imgW="663575" imgH="87630" progId="Equation.3">
                    <p:embed/>
                  </p:oleObj>
                </mc:Choice>
                <mc:Fallback>
                  <p:oleObj name="公式" r:id="rId3" imgW="663575" imgH="8763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7554" y="4714884"/>
                          <a:ext cx="1337984" cy="460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78" name="矩形 10"/>
            <p:cNvSpPr>
              <a:spLocks noChangeArrowheads="1"/>
            </p:cNvSpPr>
            <p:nvPr/>
          </p:nvSpPr>
          <p:spPr bwMode="auto">
            <a:xfrm>
              <a:off x="1285852" y="4643446"/>
              <a:ext cx="7429552" cy="120027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just">
                <a:lnSpc>
                  <a:spcPct val="150000"/>
                </a:lnSpc>
                <a:defRPr/>
              </a:pPr>
              <a:r>
                <a:rPr kumimoji="1"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②若函数出现</a:t>
              </a:r>
              <a:endPara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indent="355600" algn="just">
                <a:lnSpc>
                  <a:spcPct val="150000"/>
                </a:lnSpc>
                <a:defRPr/>
              </a:pPr>
              <a:r>
                <a:rPr kumimoji="1"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产生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正</a:t>
              </a:r>
              <a:r>
                <a:rPr kumimoji="1"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的尖峰脉冲的冒险现象， －－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“</a:t>
              </a:r>
              <a:r>
                <a:rPr kumimoji="1"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1”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型冒险</a:t>
              </a:r>
              <a:r>
                <a:rPr kumimoji="1"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。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6808" name="矩形 1"/>
          <p:cNvSpPr>
            <a:spLocks noChangeArrowheads="1"/>
          </p:cNvSpPr>
          <p:nvPr/>
        </p:nvSpPr>
        <p:spPr bwMode="auto">
          <a:xfrm>
            <a:off x="5437188" y="61913"/>
            <a:ext cx="36099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§4.5 </a:t>
            </a:r>
            <a:r>
              <a:rPr kumimoji="1"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组合逻辑电路的竞争和冒险 </a:t>
            </a:r>
            <a:endParaRPr lang="zh-CN" altLang="en-US" sz="1800">
              <a:solidFill>
                <a:srgbClr val="FF0066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826" name="Object 2"/>
          <p:cNvGraphicFramePr>
            <a:graphicFrameLocks noChangeAspect="1"/>
          </p:cNvGraphicFramePr>
          <p:nvPr/>
        </p:nvGraphicFramePr>
        <p:xfrm>
          <a:off x="2357438" y="1076325"/>
          <a:ext cx="257810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38" name="公式" r:id="rId1" imgW="989330" imgH="113030" progId="Equation.3">
                  <p:embed/>
                </p:oleObj>
              </mc:Choice>
              <mc:Fallback>
                <p:oleObj name="公式" r:id="rId1" imgW="989330" imgH="11303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7438" y="1076325"/>
                        <a:ext cx="2578100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1042988" y="5232400"/>
          <a:ext cx="68865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39" name="公式" r:id="rId3" imgW="4346575" imgH="137795" progId="Equation.3">
                  <p:embed/>
                </p:oleObj>
              </mc:Choice>
              <mc:Fallback>
                <p:oleObj name="公式" r:id="rId3" imgW="4346575" imgH="13779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5232400"/>
                        <a:ext cx="68865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8" name="Text Box 16"/>
          <p:cNvSpPr txBox="1">
            <a:spLocks noChangeArrowheads="1"/>
          </p:cNvSpPr>
          <p:nvPr/>
        </p:nvSpPr>
        <p:spPr bwMode="auto">
          <a:xfrm>
            <a:off x="762000" y="428625"/>
            <a:ext cx="6596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：用代数识别法检查竞争冒险现象。</a:t>
            </a:r>
            <a:endParaRPr kumimoji="1" lang="zh-CN" altLang="en-US" sz="240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957263" y="1916113"/>
            <a:ext cx="5400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解：</a:t>
            </a: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是具有竞争条件的变量。</a:t>
            </a:r>
            <a:endParaRPr lang="zh-CN" altLang="en-US" sz="24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1928813" y="2571750"/>
          <a:ext cx="3027362" cy="227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40" name="工作表" r:id="rId5" imgW="1840230" imgH="1388745" progId="Excel.Sheet.8">
                  <p:embed/>
                </p:oleObj>
              </mc:Choice>
              <mc:Fallback>
                <p:oleObj name="工作表" r:id="rId5" imgW="1840230" imgH="1388745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8813" y="2571750"/>
                        <a:ext cx="3027362" cy="227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31" name="矩形 1"/>
          <p:cNvSpPr>
            <a:spLocks noChangeArrowheads="1"/>
          </p:cNvSpPr>
          <p:nvPr/>
        </p:nvSpPr>
        <p:spPr bwMode="auto">
          <a:xfrm>
            <a:off x="5437188" y="61913"/>
            <a:ext cx="36099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§4.5 </a:t>
            </a:r>
            <a:r>
              <a:rPr kumimoji="1"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组合逻辑电路的竞争和冒险 </a:t>
            </a:r>
            <a:endParaRPr lang="zh-CN" altLang="en-US" sz="1800">
              <a:solidFill>
                <a:srgbClr val="FF0066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850" name="Object 2"/>
          <p:cNvGraphicFramePr>
            <a:graphicFrameLocks noChangeAspect="1"/>
          </p:cNvGraphicFramePr>
          <p:nvPr/>
        </p:nvGraphicFramePr>
        <p:xfrm>
          <a:off x="2500313" y="1019175"/>
          <a:ext cx="3094037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65" name="公式" r:id="rId1" imgW="1478280" imgH="113030" progId="Equation.3">
                  <p:embed/>
                </p:oleObj>
              </mc:Choice>
              <mc:Fallback>
                <p:oleObj name="公式" r:id="rId1" imgW="1478280" imgH="11303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313" y="1019175"/>
                        <a:ext cx="3094037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1" name="Text Box 8"/>
          <p:cNvSpPr txBox="1">
            <a:spLocks noChangeArrowheads="1"/>
          </p:cNvSpPr>
          <p:nvPr/>
        </p:nvSpPr>
        <p:spPr bwMode="auto">
          <a:xfrm>
            <a:off x="568325" y="357188"/>
            <a:ext cx="7748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：用代数识别法判断电路是否存在冒险现象。</a:t>
            </a:r>
            <a:endParaRPr kumimoji="1" lang="zh-CN" altLang="en-US" sz="240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952500" y="1714500"/>
            <a:ext cx="6048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解：</a:t>
            </a: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是具有竞争条件的变量。</a:t>
            </a:r>
            <a:endParaRPr lang="zh-CN" altLang="en-US" sz="24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1116013" y="2492375"/>
          <a:ext cx="3027362" cy="227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66" name="工作表" r:id="rId3" imgW="1840230" imgH="1388745" progId="Excel.Sheet.8">
                  <p:embed/>
                </p:oleObj>
              </mc:Choice>
              <mc:Fallback>
                <p:oleObj name="工作表" r:id="rId3" imgW="1840230" imgH="1388745" progId="Excel.Shee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492375"/>
                        <a:ext cx="3027362" cy="227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571500" y="5072063"/>
          <a:ext cx="3973513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67" name="公式" r:id="rId5" imgW="2430145" imgH="438150" progId="Equation.3">
                  <p:embed/>
                </p:oleObj>
              </mc:Choice>
              <mc:Fallback>
                <p:oleObj name="公式" r:id="rId5" imgW="2430145" imgH="43815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5072063"/>
                        <a:ext cx="3973513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4943475" y="2495550"/>
          <a:ext cx="3038475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68" name="工作表" r:id="rId7" imgW="1840230" imgH="1388745" progId="Excel.Sheet.8">
                  <p:embed/>
                </p:oleObj>
              </mc:Choice>
              <mc:Fallback>
                <p:oleObj name="工作表" r:id="rId7" imgW="1840230" imgH="1388745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475" y="2495550"/>
                        <a:ext cx="3038475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20"/>
          <p:cNvSpPr txBox="1">
            <a:spLocks noChangeArrowheads="1"/>
          </p:cNvSpPr>
          <p:nvPr/>
        </p:nvSpPr>
        <p:spPr bwMode="auto">
          <a:xfrm>
            <a:off x="4859338" y="5114925"/>
            <a:ext cx="3529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变量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不存在冒险现象。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矩形 1"/>
          <p:cNvSpPr>
            <a:spLocks noChangeArrowheads="1"/>
          </p:cNvSpPr>
          <p:nvPr/>
        </p:nvSpPr>
        <p:spPr bwMode="auto">
          <a:xfrm>
            <a:off x="571500" y="500063"/>
            <a:ext cx="8143875" cy="15700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6286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在逻辑函数的卡诺图中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若卡诺圈之间存在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“相切”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关系，则该电路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存在冒险现象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6286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卡诺圈“相切”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----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指两卡诺圈之间存在不被同一卡诺圈包含的相邻最小项。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571500" y="71438"/>
            <a:ext cx="2352675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卡诺图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识别法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53"/>
          <p:cNvGrpSpPr/>
          <p:nvPr/>
        </p:nvGrpSpPr>
        <p:grpSpPr bwMode="auto">
          <a:xfrm>
            <a:off x="898525" y="2366963"/>
            <a:ext cx="3281363" cy="3062287"/>
            <a:chOff x="898526" y="3427413"/>
            <a:chExt cx="3281365" cy="3062299"/>
          </a:xfrm>
        </p:grpSpPr>
        <p:grpSp>
          <p:nvGrpSpPr>
            <p:cNvPr id="32790" name="Group 69"/>
            <p:cNvGrpSpPr/>
            <p:nvPr/>
          </p:nvGrpSpPr>
          <p:grpSpPr bwMode="auto">
            <a:xfrm>
              <a:off x="1357315" y="3714758"/>
              <a:ext cx="2822576" cy="2774954"/>
              <a:chOff x="3404" y="2485"/>
              <a:chExt cx="1778" cy="1748"/>
            </a:xfrm>
          </p:grpSpPr>
          <p:sp>
            <p:nvSpPr>
              <p:cNvPr id="32814" name="Rectangle 70"/>
              <p:cNvSpPr>
                <a:spLocks noChangeArrowheads="1"/>
              </p:cNvSpPr>
              <p:nvPr/>
            </p:nvSpPr>
            <p:spPr bwMode="auto">
              <a:xfrm>
                <a:off x="3685" y="2736"/>
                <a:ext cx="1497" cy="149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815" name="Line 71"/>
              <p:cNvSpPr>
                <a:spLocks noChangeShapeType="1"/>
              </p:cNvSpPr>
              <p:nvPr/>
            </p:nvSpPr>
            <p:spPr bwMode="auto">
              <a:xfrm>
                <a:off x="3685" y="3520"/>
                <a:ext cx="149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816" name="Line 72"/>
              <p:cNvSpPr>
                <a:spLocks noChangeShapeType="1"/>
              </p:cNvSpPr>
              <p:nvPr/>
            </p:nvSpPr>
            <p:spPr bwMode="auto">
              <a:xfrm>
                <a:off x="3685" y="3880"/>
                <a:ext cx="149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817" name="Line 73"/>
              <p:cNvSpPr>
                <a:spLocks noChangeShapeType="1"/>
              </p:cNvSpPr>
              <p:nvPr/>
            </p:nvSpPr>
            <p:spPr bwMode="auto">
              <a:xfrm>
                <a:off x="3685" y="3115"/>
                <a:ext cx="149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818" name="Line 74"/>
              <p:cNvSpPr>
                <a:spLocks noChangeShapeType="1"/>
              </p:cNvSpPr>
              <p:nvPr/>
            </p:nvSpPr>
            <p:spPr bwMode="auto">
              <a:xfrm>
                <a:off x="4416" y="2736"/>
                <a:ext cx="0" cy="14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819" name="Line 75"/>
              <p:cNvSpPr>
                <a:spLocks noChangeShapeType="1"/>
              </p:cNvSpPr>
              <p:nvPr/>
            </p:nvSpPr>
            <p:spPr bwMode="auto">
              <a:xfrm>
                <a:off x="4800" y="2736"/>
                <a:ext cx="0" cy="14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820" name="Line 76"/>
              <p:cNvSpPr>
                <a:spLocks noChangeShapeType="1"/>
              </p:cNvSpPr>
              <p:nvPr/>
            </p:nvSpPr>
            <p:spPr bwMode="auto">
              <a:xfrm>
                <a:off x="4032" y="2736"/>
                <a:ext cx="0" cy="14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821" name="Line 77"/>
              <p:cNvSpPr>
                <a:spLocks noChangeShapeType="1"/>
              </p:cNvSpPr>
              <p:nvPr/>
            </p:nvSpPr>
            <p:spPr bwMode="auto">
              <a:xfrm>
                <a:off x="3404" y="2485"/>
                <a:ext cx="282" cy="25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2791" name="Text Box 78"/>
            <p:cNvSpPr txBox="1">
              <a:spLocks noChangeArrowheads="1"/>
            </p:cNvSpPr>
            <p:nvPr/>
          </p:nvSpPr>
          <p:spPr bwMode="auto">
            <a:xfrm>
              <a:off x="1868474" y="3732213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</a:t>
              </a:r>
              <a:endPara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792" name="Text Box 79"/>
            <p:cNvSpPr txBox="1">
              <a:spLocks noChangeArrowheads="1"/>
            </p:cNvSpPr>
            <p:nvPr/>
          </p:nvSpPr>
          <p:spPr bwMode="auto">
            <a:xfrm>
              <a:off x="2398713" y="3732213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01</a:t>
              </a:r>
              <a:endPara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793" name="Text Box 80"/>
            <p:cNvSpPr txBox="1">
              <a:spLocks noChangeArrowheads="1"/>
            </p:cNvSpPr>
            <p:nvPr/>
          </p:nvSpPr>
          <p:spPr bwMode="auto">
            <a:xfrm>
              <a:off x="3071804" y="3732213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11</a:t>
              </a:r>
              <a:endPara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794" name="Text Box 81"/>
            <p:cNvSpPr txBox="1">
              <a:spLocks noChangeArrowheads="1"/>
            </p:cNvSpPr>
            <p:nvPr/>
          </p:nvSpPr>
          <p:spPr bwMode="auto">
            <a:xfrm>
              <a:off x="3617913" y="3732213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10</a:t>
              </a:r>
              <a:endPara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795" name="Text Box 82"/>
            <p:cNvSpPr txBox="1">
              <a:spLocks noChangeArrowheads="1"/>
            </p:cNvSpPr>
            <p:nvPr/>
          </p:nvSpPr>
          <p:spPr bwMode="auto">
            <a:xfrm>
              <a:off x="1362056" y="4214818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00</a:t>
              </a:r>
              <a:endPara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796" name="Text Box 83"/>
            <p:cNvSpPr txBox="1">
              <a:spLocks noChangeArrowheads="1"/>
            </p:cNvSpPr>
            <p:nvPr/>
          </p:nvSpPr>
          <p:spPr bwMode="auto">
            <a:xfrm>
              <a:off x="1362056" y="4814915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01</a:t>
              </a:r>
              <a:endPara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797" name="Text Box 84"/>
            <p:cNvSpPr txBox="1">
              <a:spLocks noChangeArrowheads="1"/>
            </p:cNvSpPr>
            <p:nvPr/>
          </p:nvSpPr>
          <p:spPr bwMode="auto">
            <a:xfrm>
              <a:off x="1292206" y="5429264"/>
              <a:ext cx="5651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11</a:t>
              </a:r>
              <a:endPara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798" name="Text Box 85"/>
            <p:cNvSpPr txBox="1">
              <a:spLocks noChangeArrowheads="1"/>
            </p:cNvSpPr>
            <p:nvPr/>
          </p:nvSpPr>
          <p:spPr bwMode="auto">
            <a:xfrm>
              <a:off x="1209656" y="5972196"/>
              <a:ext cx="641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10</a:t>
              </a:r>
              <a:endPara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799" name="Text Box 86"/>
            <p:cNvSpPr txBox="1">
              <a:spLocks noChangeArrowheads="1"/>
            </p:cNvSpPr>
            <p:nvPr/>
          </p:nvSpPr>
          <p:spPr bwMode="auto">
            <a:xfrm>
              <a:off x="1960563" y="4143380"/>
              <a:ext cx="184150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4040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00" name="Text Box 87"/>
            <p:cNvSpPr txBox="1">
              <a:spLocks noChangeArrowheads="1"/>
            </p:cNvSpPr>
            <p:nvPr/>
          </p:nvSpPr>
          <p:spPr bwMode="auto">
            <a:xfrm>
              <a:off x="2493963" y="4235455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4040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01" name="Text Box 88"/>
            <p:cNvSpPr txBox="1">
              <a:spLocks noChangeArrowheads="1"/>
            </p:cNvSpPr>
            <p:nvPr/>
          </p:nvSpPr>
          <p:spPr bwMode="auto">
            <a:xfrm>
              <a:off x="3675063" y="4235455"/>
              <a:ext cx="412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1</a:t>
              </a:r>
              <a:endPara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4040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02" name="Text Box 89"/>
            <p:cNvSpPr txBox="1">
              <a:spLocks noChangeArrowheads="1"/>
            </p:cNvSpPr>
            <p:nvPr/>
          </p:nvSpPr>
          <p:spPr bwMode="auto">
            <a:xfrm>
              <a:off x="3059113" y="4235455"/>
              <a:ext cx="412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1</a:t>
              </a:r>
              <a:endPara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4040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03" name="Text Box 90"/>
            <p:cNvSpPr txBox="1">
              <a:spLocks noChangeArrowheads="1"/>
            </p:cNvSpPr>
            <p:nvPr/>
          </p:nvSpPr>
          <p:spPr bwMode="auto">
            <a:xfrm>
              <a:off x="1960563" y="4645038"/>
              <a:ext cx="184150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4040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04" name="Text Box 91"/>
            <p:cNvSpPr txBox="1">
              <a:spLocks noChangeArrowheads="1"/>
            </p:cNvSpPr>
            <p:nvPr/>
          </p:nvSpPr>
          <p:spPr bwMode="auto">
            <a:xfrm>
              <a:off x="2493963" y="4829188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4040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05" name="Text Box 92"/>
            <p:cNvSpPr txBox="1">
              <a:spLocks noChangeArrowheads="1"/>
            </p:cNvSpPr>
            <p:nvPr/>
          </p:nvSpPr>
          <p:spPr bwMode="auto">
            <a:xfrm>
              <a:off x="3675063" y="4829188"/>
              <a:ext cx="412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1</a:t>
              </a:r>
              <a:endPara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4040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06" name="Text Box 93"/>
            <p:cNvSpPr txBox="1">
              <a:spLocks noChangeArrowheads="1"/>
            </p:cNvSpPr>
            <p:nvPr/>
          </p:nvSpPr>
          <p:spPr bwMode="auto">
            <a:xfrm>
              <a:off x="3059113" y="4829188"/>
              <a:ext cx="412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1</a:t>
              </a:r>
              <a:endPara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4040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07" name="Text Box 94"/>
            <p:cNvSpPr txBox="1">
              <a:spLocks noChangeArrowheads="1"/>
            </p:cNvSpPr>
            <p:nvPr/>
          </p:nvSpPr>
          <p:spPr bwMode="auto">
            <a:xfrm>
              <a:off x="1873234" y="5429264"/>
              <a:ext cx="412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1</a:t>
              </a:r>
              <a:endPara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4040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08" name="Text Box 95"/>
            <p:cNvSpPr txBox="1">
              <a:spLocks noChangeArrowheads="1"/>
            </p:cNvSpPr>
            <p:nvPr/>
          </p:nvSpPr>
          <p:spPr bwMode="auto">
            <a:xfrm>
              <a:off x="2413000" y="5429264"/>
              <a:ext cx="412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1</a:t>
              </a:r>
              <a:endPara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4040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09" name="Text Box 98"/>
            <p:cNvSpPr txBox="1">
              <a:spLocks noChangeArrowheads="1"/>
            </p:cNvSpPr>
            <p:nvPr/>
          </p:nvSpPr>
          <p:spPr bwMode="auto">
            <a:xfrm>
              <a:off x="1779588" y="5591176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</a:t>
              </a:r>
              <a:endPara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4040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10" name="Text Box 100"/>
            <p:cNvSpPr txBox="1">
              <a:spLocks noChangeArrowheads="1"/>
            </p:cNvSpPr>
            <p:nvPr/>
          </p:nvSpPr>
          <p:spPr bwMode="auto">
            <a:xfrm>
              <a:off x="3722688" y="5757882"/>
              <a:ext cx="260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endPara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4040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11" name="Text Box 101"/>
            <p:cNvSpPr txBox="1">
              <a:spLocks noChangeArrowheads="1"/>
            </p:cNvSpPr>
            <p:nvPr/>
          </p:nvSpPr>
          <p:spPr bwMode="auto">
            <a:xfrm>
              <a:off x="3106738" y="5757882"/>
              <a:ext cx="260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endPara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4040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12" name="Text Box 102"/>
            <p:cNvSpPr txBox="1">
              <a:spLocks noChangeArrowheads="1"/>
            </p:cNvSpPr>
            <p:nvPr/>
          </p:nvSpPr>
          <p:spPr bwMode="auto">
            <a:xfrm>
              <a:off x="898526" y="3732213"/>
              <a:ext cx="595313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AB</a:t>
              </a:r>
              <a:endPara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13" name="Text Box 103"/>
            <p:cNvSpPr txBox="1">
              <a:spLocks noChangeArrowheads="1"/>
            </p:cNvSpPr>
            <p:nvPr/>
          </p:nvSpPr>
          <p:spPr bwMode="auto">
            <a:xfrm>
              <a:off x="1387458" y="3427413"/>
              <a:ext cx="61277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CD</a:t>
              </a:r>
              <a:endPara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7" name="Oval 104"/>
          <p:cNvSpPr>
            <a:spLocks noChangeArrowheads="1"/>
          </p:cNvSpPr>
          <p:nvPr/>
        </p:nvSpPr>
        <p:spPr bwMode="auto">
          <a:xfrm rot="5400000">
            <a:off x="2172494" y="4109244"/>
            <a:ext cx="1087438" cy="431800"/>
          </a:xfrm>
          <a:prstGeom prst="ellipse">
            <a:avLst/>
          </a:prstGeom>
          <a:noFill/>
          <a:ln w="38100" algn="ctr">
            <a:solidFill>
              <a:srgbClr val="FF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组合 47"/>
          <p:cNvGrpSpPr/>
          <p:nvPr/>
        </p:nvGrpSpPr>
        <p:grpSpPr bwMode="auto">
          <a:xfrm>
            <a:off x="3071813" y="2225675"/>
            <a:ext cx="1484312" cy="2000250"/>
            <a:chOff x="3071802" y="3286125"/>
            <a:chExt cx="1484323" cy="2000263"/>
          </a:xfrm>
        </p:grpSpPr>
        <p:sp>
          <p:nvSpPr>
            <p:cNvPr id="32788" name="AutoShape 105"/>
            <p:cNvSpPr>
              <a:spLocks noChangeArrowheads="1"/>
            </p:cNvSpPr>
            <p:nvPr/>
          </p:nvSpPr>
          <p:spPr bwMode="auto">
            <a:xfrm>
              <a:off x="3071802" y="4286256"/>
              <a:ext cx="1008063" cy="1000132"/>
            </a:xfrm>
            <a:prstGeom prst="flowChartAlternateProcess">
              <a:avLst/>
            </a:prstGeom>
            <a:noFill/>
            <a:ln w="38100" algn="ctr">
              <a:solidFill>
                <a:srgbClr val="0066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789" name="Line 108"/>
            <p:cNvSpPr>
              <a:spLocks noChangeShapeType="1"/>
            </p:cNvSpPr>
            <p:nvPr/>
          </p:nvSpPr>
          <p:spPr bwMode="auto">
            <a:xfrm flipH="1">
              <a:off x="4003669" y="3714752"/>
              <a:ext cx="282579" cy="790576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32774" name="Object 13"/>
            <p:cNvGraphicFramePr>
              <a:graphicFrameLocks noChangeAspect="1"/>
            </p:cNvGraphicFramePr>
            <p:nvPr/>
          </p:nvGraphicFramePr>
          <p:xfrm>
            <a:off x="4095750" y="3286125"/>
            <a:ext cx="460375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975" name="公式" r:id="rId1" imgW="313055" imgH="288290" progId="Equation.3">
                    <p:embed/>
                  </p:oleObj>
                </mc:Choice>
                <mc:Fallback>
                  <p:oleObj name="公式" r:id="rId1" imgW="313055" imgH="28829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5750" y="3286125"/>
                          <a:ext cx="460375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1"/>
          <p:cNvGrpSpPr/>
          <p:nvPr/>
        </p:nvGrpSpPr>
        <p:grpSpPr bwMode="auto">
          <a:xfrm>
            <a:off x="642938" y="3940175"/>
            <a:ext cx="2222500" cy="857250"/>
            <a:chOff x="642910" y="5000636"/>
            <a:chExt cx="2222509" cy="857256"/>
          </a:xfrm>
        </p:grpSpPr>
        <p:sp>
          <p:nvSpPr>
            <p:cNvPr id="32786" name="AutoShape 105"/>
            <p:cNvSpPr>
              <a:spLocks noChangeArrowheads="1"/>
            </p:cNvSpPr>
            <p:nvPr/>
          </p:nvSpPr>
          <p:spPr bwMode="auto">
            <a:xfrm>
              <a:off x="1857356" y="5429264"/>
              <a:ext cx="1008063" cy="428628"/>
            </a:xfrm>
            <a:prstGeom prst="flowChartAlternateProcess">
              <a:avLst/>
            </a:prstGeom>
            <a:noFill/>
            <a:ln w="38100" algn="ctr">
              <a:solidFill>
                <a:srgbClr val="0000FF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32773" name="Object 18"/>
            <p:cNvGraphicFramePr>
              <a:graphicFrameLocks noChangeAspect="1"/>
            </p:cNvGraphicFramePr>
            <p:nvPr/>
          </p:nvGraphicFramePr>
          <p:xfrm>
            <a:off x="642910" y="5000636"/>
            <a:ext cx="727075" cy="442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976" name="公式" r:id="rId3" imgW="463550" imgH="288290" progId="Equation.3">
                    <p:embed/>
                  </p:oleObj>
                </mc:Choice>
                <mc:Fallback>
                  <p:oleObj name="公式" r:id="rId3" imgW="463550" imgH="28829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2910" y="5000636"/>
                          <a:ext cx="727075" cy="4429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87" name="Line 108"/>
            <p:cNvSpPr>
              <a:spLocks noChangeShapeType="1"/>
            </p:cNvSpPr>
            <p:nvPr/>
          </p:nvSpPr>
          <p:spPr bwMode="auto">
            <a:xfrm>
              <a:off x="1357290" y="5214950"/>
              <a:ext cx="574677" cy="36194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55"/>
          <p:cNvGrpSpPr/>
          <p:nvPr/>
        </p:nvGrpSpPr>
        <p:grpSpPr bwMode="auto">
          <a:xfrm>
            <a:off x="2500313" y="2154238"/>
            <a:ext cx="1008062" cy="2071687"/>
            <a:chOff x="2500298" y="3214686"/>
            <a:chExt cx="1008063" cy="2071702"/>
          </a:xfrm>
        </p:grpSpPr>
        <p:sp>
          <p:nvSpPr>
            <p:cNvPr id="32784" name="Line 106"/>
            <p:cNvSpPr>
              <a:spLocks noChangeShapeType="1"/>
            </p:cNvSpPr>
            <p:nvPr/>
          </p:nvSpPr>
          <p:spPr bwMode="auto">
            <a:xfrm flipH="1" flipV="1">
              <a:off x="2778114" y="3636970"/>
              <a:ext cx="142875" cy="720724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785" name="AutoShape 105"/>
            <p:cNvSpPr>
              <a:spLocks noChangeArrowheads="1"/>
            </p:cNvSpPr>
            <p:nvPr/>
          </p:nvSpPr>
          <p:spPr bwMode="auto">
            <a:xfrm>
              <a:off x="2500298" y="4286256"/>
              <a:ext cx="1008063" cy="1000132"/>
            </a:xfrm>
            <a:prstGeom prst="flowChartAlternateProcess">
              <a:avLst/>
            </a:prstGeom>
            <a:noFill/>
            <a:ln w="38100" algn="ctr">
              <a:solidFill>
                <a:srgbClr val="FF00FF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32772" name="Object 15"/>
            <p:cNvGraphicFramePr>
              <a:graphicFrameLocks noChangeAspect="1"/>
            </p:cNvGraphicFramePr>
            <p:nvPr/>
          </p:nvGraphicFramePr>
          <p:xfrm>
            <a:off x="2516176" y="3214686"/>
            <a:ext cx="484188" cy="395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977" name="公式" r:id="rId5" imgW="338455" imgH="262890" progId="Equation.3">
                    <p:embed/>
                  </p:oleObj>
                </mc:Choice>
                <mc:Fallback>
                  <p:oleObj name="公式" r:id="rId5" imgW="338455" imgH="26289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6176" y="3214686"/>
                          <a:ext cx="484188" cy="395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0" name="Object 16"/>
          <p:cNvGraphicFramePr>
            <a:graphicFrameLocks noChangeAspect="1"/>
          </p:cNvGraphicFramePr>
          <p:nvPr/>
        </p:nvGraphicFramePr>
        <p:xfrm>
          <a:off x="5000625" y="3643313"/>
          <a:ext cx="335756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78" name="公式" r:id="rId7" imgW="1715770" imgH="288290" progId="Equation.3">
                  <p:embed/>
                </p:oleObj>
              </mc:Choice>
              <mc:Fallback>
                <p:oleObj name="公式" r:id="rId7" imgW="1715770" imgH="28829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25" y="3643313"/>
                        <a:ext cx="3357563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62"/>
          <p:cNvGrpSpPr/>
          <p:nvPr/>
        </p:nvGrpSpPr>
        <p:grpSpPr bwMode="auto">
          <a:xfrm>
            <a:off x="495300" y="5657850"/>
            <a:ext cx="7862888" cy="955675"/>
            <a:chOff x="495300" y="5657874"/>
            <a:chExt cx="7862914" cy="955651"/>
          </a:xfrm>
        </p:grpSpPr>
        <p:sp>
          <p:nvSpPr>
            <p:cNvPr id="32783" name="Text Box 12"/>
            <p:cNvSpPr txBox="1">
              <a:spLocks noChangeArrowheads="1"/>
            </p:cNvSpPr>
            <p:nvPr/>
          </p:nvSpPr>
          <p:spPr bwMode="auto">
            <a:xfrm>
              <a:off x="495300" y="5657874"/>
              <a:ext cx="786291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    </a:t>
              </a: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假定 </a:t>
              </a: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B=D=1</a:t>
              </a:r>
              <a:r>
                <a:rPr kumimoji="0" lang="zh-CN" altLang="en-US" sz="2400" b="1" i="1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C=0</a:t>
              </a: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，代入函数表达式</a:t>
              </a: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之后可得，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Object 3"/>
            <p:cNvGraphicFramePr>
              <a:graphicFrameLocks noChangeAspect="1"/>
            </p:cNvGraphicFramePr>
            <p:nvPr/>
          </p:nvGraphicFramePr>
          <p:xfrm>
            <a:off x="2366963" y="6156325"/>
            <a:ext cx="4294187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979" name="公式" r:id="rId9" imgW="2818130" imgH="300355" progId="Equation.3">
                    <p:embed/>
                  </p:oleObj>
                </mc:Choice>
                <mc:Fallback>
                  <p:oleObj name="公式" r:id="rId9" imgW="2818130" imgH="300355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6963" y="6156325"/>
                          <a:ext cx="4294187" cy="457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1041400" y="1428750"/>
            <a:ext cx="7388225" cy="201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毛刺很窄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因此常在输出端对地并接滤波电容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，或在本级输出端与下级输入端之间，串接一个积分电路，可将尖峰脉冲消除。但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的引入会使输出波形边沿变斜，故参数要选择合适，一般由实验确定。 </a:t>
            </a:r>
            <a:endParaRPr kumimoji="1" lang="zh-CN" altLang="en-US" sz="240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899" name="Text Box 6"/>
          <p:cNvSpPr txBox="1">
            <a:spLocks noChangeArrowheads="1"/>
          </p:cNvSpPr>
          <p:nvPr/>
        </p:nvSpPr>
        <p:spPr bwMode="auto">
          <a:xfrm>
            <a:off x="428625" y="357188"/>
            <a:ext cx="62468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三、竞争－冒险现象的消除</a:t>
            </a:r>
            <a:endParaRPr lang="zh-CN" altLang="en-US" sz="2800" b="1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720725" y="1000125"/>
            <a:ext cx="3168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接入滤波电容法</a:t>
            </a:r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1285875" y="3910013"/>
          <a:ext cx="6264275" cy="244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05" name="VISIO" r:id="rId1" imgW="2407920" imgH="876300" progId="Visio.Drawing.4">
                  <p:embed/>
                </p:oleObj>
              </mc:Choice>
              <mc:Fallback>
                <p:oleObj name="VISIO" r:id="rId1" imgW="2407920" imgH="876300" progId="Visio.Drawing.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3910013"/>
                        <a:ext cx="6264275" cy="2447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2" name="矩形 1"/>
          <p:cNvSpPr>
            <a:spLocks noChangeArrowheads="1"/>
          </p:cNvSpPr>
          <p:nvPr/>
        </p:nvSpPr>
        <p:spPr bwMode="auto">
          <a:xfrm>
            <a:off x="5437188" y="61913"/>
            <a:ext cx="36099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§4.5 </a:t>
            </a:r>
            <a:r>
              <a:rPr kumimoji="1"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组合逻辑电路的竞争和冒险 </a:t>
            </a:r>
            <a:endParaRPr lang="zh-CN" altLang="en-US" sz="1800">
              <a:solidFill>
                <a:srgbClr val="FF0066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Text Box 4"/>
          <p:cNvSpPr txBox="1">
            <a:spLocks noChangeArrowheads="1"/>
          </p:cNvSpPr>
          <p:nvPr/>
        </p:nvSpPr>
        <p:spPr bwMode="auto">
          <a:xfrm>
            <a:off x="571500" y="714375"/>
            <a:ext cx="7924800" cy="201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毛刺仅发生在输入信号变化的瞬间，因此在这段时间内先将门封锁，待电路进入稳态后，再加选通脉冲使输出门电路开门。这样可以抑制尖峰脉冲的输出。该方法简单易行，但选通信号的</a:t>
            </a:r>
            <a:r>
              <a:rPr kumimoji="1"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作用时间和极性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等一定要合适。</a:t>
            </a:r>
            <a:endParaRPr kumimoji="1"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81923" name="Rectangle 6"/>
          <p:cNvSpPr>
            <a:spLocks noChangeArrowheads="1"/>
          </p:cNvSpPr>
          <p:nvPr/>
        </p:nvSpPr>
        <p:spPr bwMode="auto">
          <a:xfrm>
            <a:off x="571500" y="214313"/>
            <a:ext cx="3168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宋体" panose="02010600030101010101" pitchFamily="2" charset="-122"/>
              </a:rPr>
              <a:t>2. </a:t>
            </a:r>
            <a:r>
              <a:rPr kumimoji="1"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引入选通脉冲法</a:t>
            </a:r>
            <a:endParaRPr kumimoji="1" lang="zh-CN" altLang="en-US" sz="2400" b="1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2" name="组合 119"/>
          <p:cNvGrpSpPr/>
          <p:nvPr/>
        </p:nvGrpSpPr>
        <p:grpSpPr bwMode="auto">
          <a:xfrm>
            <a:off x="601663" y="3071813"/>
            <a:ext cx="4246562" cy="3000375"/>
            <a:chOff x="714375" y="3071813"/>
            <a:chExt cx="4246563" cy="3000375"/>
          </a:xfrm>
        </p:grpSpPr>
        <p:grpSp>
          <p:nvGrpSpPr>
            <p:cNvPr id="81993" name="组合 194"/>
            <p:cNvGrpSpPr/>
            <p:nvPr/>
          </p:nvGrpSpPr>
          <p:grpSpPr bwMode="auto">
            <a:xfrm>
              <a:off x="714375" y="3071813"/>
              <a:ext cx="4246563" cy="2368550"/>
              <a:chOff x="1285852" y="1071546"/>
              <a:chExt cx="4862456" cy="2576868"/>
            </a:xfrm>
          </p:grpSpPr>
          <p:grpSp>
            <p:nvGrpSpPr>
              <p:cNvPr id="82001" name="组合 50"/>
              <p:cNvGrpSpPr/>
              <p:nvPr/>
            </p:nvGrpSpPr>
            <p:grpSpPr bwMode="auto">
              <a:xfrm>
                <a:off x="3954458" y="2071691"/>
                <a:ext cx="1214445" cy="571491"/>
                <a:chOff x="3786253" y="4572007"/>
                <a:chExt cx="1500238" cy="571504"/>
              </a:xfrm>
            </p:grpSpPr>
            <p:sp>
              <p:nvSpPr>
                <p:cNvPr id="233" name="弧形 232"/>
                <p:cNvSpPr/>
                <p:nvPr/>
              </p:nvSpPr>
              <p:spPr>
                <a:xfrm>
                  <a:off x="3786052" y="4571866"/>
                  <a:ext cx="1499998" cy="571691"/>
                </a:xfrm>
                <a:prstGeom prst="arc">
                  <a:avLst/>
                </a:prstGeom>
                <a:solidFill>
                  <a:schemeClr val="bg1"/>
                </a:solidFill>
                <a:ln w="254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i="1"/>
                </a:p>
              </p:txBody>
            </p:sp>
            <p:sp>
              <p:nvSpPr>
                <p:cNvPr id="234" name="弧形 233"/>
                <p:cNvSpPr/>
                <p:nvPr/>
              </p:nvSpPr>
              <p:spPr>
                <a:xfrm flipV="1">
                  <a:off x="3786052" y="4571866"/>
                  <a:ext cx="1499998" cy="571691"/>
                </a:xfrm>
                <a:prstGeom prst="arc">
                  <a:avLst/>
                </a:prstGeom>
                <a:solidFill>
                  <a:schemeClr val="bg1"/>
                </a:solidFill>
                <a:ln w="254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i="1"/>
                </a:p>
              </p:txBody>
            </p:sp>
            <p:sp>
              <p:nvSpPr>
                <p:cNvPr id="235" name="弧形 234"/>
                <p:cNvSpPr/>
                <p:nvPr/>
              </p:nvSpPr>
              <p:spPr>
                <a:xfrm>
                  <a:off x="4383357" y="4571866"/>
                  <a:ext cx="332335" cy="571691"/>
                </a:xfrm>
                <a:prstGeom prst="arc">
                  <a:avLst>
                    <a:gd name="adj1" fmla="val 16200000"/>
                    <a:gd name="adj2" fmla="val 5186173"/>
                  </a:avLst>
                </a:prstGeom>
                <a:solidFill>
                  <a:schemeClr val="bg1"/>
                </a:solidFill>
                <a:ln w="254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i="1"/>
                </a:p>
              </p:txBody>
            </p:sp>
          </p:grpSp>
          <p:grpSp>
            <p:nvGrpSpPr>
              <p:cNvPr id="82002" name="组合 105"/>
              <p:cNvGrpSpPr/>
              <p:nvPr/>
            </p:nvGrpSpPr>
            <p:grpSpPr bwMode="auto">
              <a:xfrm>
                <a:off x="3290893" y="1258731"/>
                <a:ext cx="923926" cy="442881"/>
                <a:chOff x="7559789" y="1986252"/>
                <a:chExt cx="923966" cy="442881"/>
              </a:xfrm>
            </p:grpSpPr>
            <p:cxnSp>
              <p:nvCxnSpPr>
                <p:cNvPr id="228" name="直接连接符 227"/>
                <p:cNvCxnSpPr/>
                <p:nvPr/>
              </p:nvCxnSpPr>
              <p:spPr>
                <a:xfrm>
                  <a:off x="8072341" y="2213576"/>
                  <a:ext cx="410827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直接连接符 228"/>
                <p:cNvCxnSpPr/>
                <p:nvPr/>
              </p:nvCxnSpPr>
              <p:spPr>
                <a:xfrm>
                  <a:off x="7559716" y="1985596"/>
                  <a:ext cx="356292" cy="0"/>
                </a:xfrm>
                <a:prstGeom prst="line">
                  <a:avLst/>
                </a:prstGeom>
                <a:ln w="254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直接连接符 229"/>
                <p:cNvCxnSpPr/>
                <p:nvPr/>
              </p:nvCxnSpPr>
              <p:spPr>
                <a:xfrm>
                  <a:off x="7559716" y="2429466"/>
                  <a:ext cx="356292" cy="0"/>
                </a:xfrm>
                <a:prstGeom prst="line">
                  <a:avLst/>
                </a:prstGeom>
                <a:ln w="254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直接连接符 230"/>
                <p:cNvCxnSpPr/>
                <p:nvPr/>
              </p:nvCxnSpPr>
              <p:spPr>
                <a:xfrm rot="5400000">
                  <a:off x="7338689" y="2206622"/>
                  <a:ext cx="443870" cy="1818"/>
                </a:xfrm>
                <a:prstGeom prst="line">
                  <a:avLst/>
                </a:prstGeom>
                <a:ln w="254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2" name="弧形 231"/>
                <p:cNvSpPr/>
                <p:nvPr/>
              </p:nvSpPr>
              <p:spPr>
                <a:xfrm>
                  <a:off x="7757859" y="1985596"/>
                  <a:ext cx="318118" cy="443870"/>
                </a:xfrm>
                <a:prstGeom prst="arc">
                  <a:avLst>
                    <a:gd name="adj1" fmla="val 16200000"/>
                    <a:gd name="adj2" fmla="val 5580297"/>
                  </a:avLst>
                </a:prstGeom>
                <a:ln w="254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</p:grpSp>
          <p:cxnSp>
            <p:nvCxnSpPr>
              <p:cNvPr id="198" name="直接连接符 3"/>
              <p:cNvCxnSpPr/>
              <p:nvPr/>
            </p:nvCxnSpPr>
            <p:spPr bwMode="auto">
              <a:xfrm>
                <a:off x="2858197" y="2429065"/>
                <a:ext cx="430805" cy="172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2004" name="组合 131"/>
              <p:cNvGrpSpPr/>
              <p:nvPr/>
            </p:nvGrpSpPr>
            <p:grpSpPr bwMode="auto">
              <a:xfrm>
                <a:off x="2357422" y="1954202"/>
                <a:ext cx="536574" cy="500063"/>
                <a:chOff x="3000453" y="4714982"/>
                <a:chExt cx="536598" cy="500027"/>
              </a:xfrm>
            </p:grpSpPr>
            <p:sp>
              <p:nvSpPr>
                <p:cNvPr id="226" name="等腰三角形 30"/>
                <p:cNvSpPr/>
                <p:nvPr/>
              </p:nvSpPr>
              <p:spPr>
                <a:xfrm rot="5400000">
                  <a:off x="2965437" y="4750798"/>
                  <a:ext cx="500830" cy="429006"/>
                </a:xfrm>
                <a:prstGeom prst="triangle">
                  <a:avLst/>
                </a:prstGeom>
                <a:noFill/>
                <a:ln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sp>
              <p:nvSpPr>
                <p:cNvPr id="227" name="椭圆 31"/>
                <p:cNvSpPr/>
                <p:nvPr/>
              </p:nvSpPr>
              <p:spPr>
                <a:xfrm>
                  <a:off x="3430355" y="4904855"/>
                  <a:ext cx="107251" cy="108802"/>
                </a:xfrm>
                <a:prstGeom prst="ellipse">
                  <a:avLst/>
                </a:prstGeom>
                <a:noFill/>
                <a:ln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</p:grpSp>
          <p:cxnSp>
            <p:nvCxnSpPr>
              <p:cNvPr id="200" name="直接连接符 199"/>
              <p:cNvCxnSpPr/>
              <p:nvPr/>
            </p:nvCxnSpPr>
            <p:spPr bwMode="auto">
              <a:xfrm>
                <a:off x="1691208" y="1356521"/>
                <a:ext cx="1594159" cy="172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直接连接符 200"/>
              <p:cNvCxnSpPr/>
              <p:nvPr/>
            </p:nvCxnSpPr>
            <p:spPr bwMode="auto">
              <a:xfrm rot="10800000">
                <a:off x="1747558" y="2714040"/>
                <a:ext cx="1112457" cy="172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直接连接符 201"/>
              <p:cNvCxnSpPr/>
              <p:nvPr/>
            </p:nvCxnSpPr>
            <p:spPr bwMode="auto">
              <a:xfrm flipV="1">
                <a:off x="2071116" y="2204539"/>
                <a:ext cx="287203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直接连接符 202"/>
              <p:cNvCxnSpPr/>
              <p:nvPr/>
            </p:nvCxnSpPr>
            <p:spPr bwMode="auto">
              <a:xfrm rot="5400000" flipH="1" flipV="1">
                <a:off x="1643699" y="1785666"/>
                <a:ext cx="856653" cy="181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直接连接符 203"/>
              <p:cNvCxnSpPr/>
              <p:nvPr/>
            </p:nvCxnSpPr>
            <p:spPr bwMode="auto">
              <a:xfrm>
                <a:off x="2870922" y="2201085"/>
                <a:ext cx="394449" cy="172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直接连接符 204"/>
              <p:cNvCxnSpPr/>
              <p:nvPr/>
            </p:nvCxnSpPr>
            <p:spPr bwMode="auto">
              <a:xfrm>
                <a:off x="1753011" y="3487791"/>
                <a:ext cx="2499394" cy="1728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直接连接符 205"/>
              <p:cNvCxnSpPr/>
              <p:nvPr/>
            </p:nvCxnSpPr>
            <p:spPr bwMode="auto">
              <a:xfrm>
                <a:off x="1691208" y="1572412"/>
                <a:ext cx="159415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2012" name="组合 81"/>
              <p:cNvGrpSpPr/>
              <p:nvPr/>
            </p:nvGrpSpPr>
            <p:grpSpPr bwMode="auto">
              <a:xfrm>
                <a:off x="4214810" y="1487476"/>
                <a:ext cx="432000" cy="657228"/>
                <a:chOff x="4214810" y="1487476"/>
                <a:chExt cx="432000" cy="657228"/>
              </a:xfrm>
            </p:grpSpPr>
            <p:cxnSp>
              <p:nvCxnSpPr>
                <p:cNvPr id="224" name="直接连接符 223"/>
                <p:cNvCxnSpPr/>
                <p:nvPr/>
              </p:nvCxnSpPr>
              <p:spPr bwMode="auto">
                <a:xfrm rot="5400000" flipH="1" flipV="1">
                  <a:off x="3887850" y="1814163"/>
                  <a:ext cx="654580" cy="1818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直接连接符 224"/>
                <p:cNvCxnSpPr/>
                <p:nvPr/>
              </p:nvCxnSpPr>
              <p:spPr bwMode="auto">
                <a:xfrm>
                  <a:off x="4214232" y="2142362"/>
                  <a:ext cx="432622" cy="1727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8" name="直接连接符 207"/>
              <p:cNvCxnSpPr/>
              <p:nvPr/>
            </p:nvCxnSpPr>
            <p:spPr bwMode="auto">
              <a:xfrm>
                <a:off x="5181270" y="2358252"/>
                <a:ext cx="57258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直接连接符 208"/>
              <p:cNvCxnSpPr/>
              <p:nvPr/>
            </p:nvCxnSpPr>
            <p:spPr bwMode="auto">
              <a:xfrm rot="5400000" flipH="1" flipV="1">
                <a:off x="2715709" y="2571553"/>
                <a:ext cx="284975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0" name="椭圆 209"/>
              <p:cNvSpPr/>
              <p:nvPr/>
            </p:nvSpPr>
            <p:spPr bwMode="auto">
              <a:xfrm>
                <a:off x="2032943" y="1323706"/>
                <a:ext cx="72710" cy="7253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grpSp>
            <p:nvGrpSpPr>
              <p:cNvPr id="82016" name="组合 106"/>
              <p:cNvGrpSpPr/>
              <p:nvPr/>
            </p:nvGrpSpPr>
            <p:grpSpPr bwMode="auto">
              <a:xfrm>
                <a:off x="3278183" y="2114396"/>
                <a:ext cx="517525" cy="441293"/>
                <a:chOff x="7559061" y="1986995"/>
                <a:chExt cx="517548" cy="441293"/>
              </a:xfrm>
            </p:grpSpPr>
            <p:cxnSp>
              <p:nvCxnSpPr>
                <p:cNvPr id="220" name="直接连接符 219"/>
                <p:cNvCxnSpPr/>
                <p:nvPr/>
              </p:nvCxnSpPr>
              <p:spPr>
                <a:xfrm>
                  <a:off x="7558974" y="1987328"/>
                  <a:ext cx="359928" cy="0"/>
                </a:xfrm>
                <a:prstGeom prst="line">
                  <a:avLst/>
                </a:prstGeom>
                <a:ln w="254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1" name="直接连接符 220"/>
                <p:cNvCxnSpPr/>
                <p:nvPr/>
              </p:nvCxnSpPr>
              <p:spPr>
                <a:xfrm>
                  <a:off x="7558974" y="2427744"/>
                  <a:ext cx="359928" cy="0"/>
                </a:xfrm>
                <a:prstGeom prst="line">
                  <a:avLst/>
                </a:prstGeom>
                <a:ln w="254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直接连接符 221"/>
                <p:cNvCxnSpPr/>
                <p:nvPr/>
              </p:nvCxnSpPr>
              <p:spPr>
                <a:xfrm rot="5400000">
                  <a:off x="7339675" y="2206627"/>
                  <a:ext cx="440416" cy="1817"/>
                </a:xfrm>
                <a:prstGeom prst="line">
                  <a:avLst/>
                </a:prstGeom>
                <a:ln w="254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3" name="弧形 222"/>
                <p:cNvSpPr/>
                <p:nvPr/>
              </p:nvSpPr>
              <p:spPr>
                <a:xfrm>
                  <a:off x="7757116" y="1987328"/>
                  <a:ext cx="319936" cy="440416"/>
                </a:xfrm>
                <a:prstGeom prst="arc">
                  <a:avLst>
                    <a:gd name="adj1" fmla="val 16200000"/>
                    <a:gd name="adj2" fmla="val 5580297"/>
                  </a:avLst>
                </a:prstGeom>
                <a:ln w="254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82017" name="矩形 124"/>
              <p:cNvSpPr>
                <a:spLocks noChangeArrowheads="1"/>
              </p:cNvSpPr>
              <p:nvPr/>
            </p:nvSpPr>
            <p:spPr bwMode="auto">
              <a:xfrm>
                <a:off x="1285852" y="1071546"/>
                <a:ext cx="35618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CN" altLang="en-US" sz="2000" i="1" baseline="-25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018" name="矩形 125"/>
              <p:cNvSpPr>
                <a:spLocks noChangeArrowheads="1"/>
              </p:cNvSpPr>
              <p:nvPr/>
            </p:nvSpPr>
            <p:spPr bwMode="auto">
              <a:xfrm>
                <a:off x="1285852" y="1385816"/>
                <a:ext cx="35618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CN" altLang="en-US" sz="2000" i="1" baseline="-25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019" name="矩形 126"/>
              <p:cNvSpPr>
                <a:spLocks noChangeArrowheads="1"/>
              </p:cNvSpPr>
              <p:nvPr/>
            </p:nvSpPr>
            <p:spPr bwMode="auto">
              <a:xfrm>
                <a:off x="5740407" y="2117729"/>
                <a:ext cx="407901" cy="4354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endParaRPr lang="zh-CN" altLang="en-US" sz="2000" i="1" baseline="-25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020" name="矩形 125"/>
              <p:cNvSpPr>
                <a:spLocks noChangeArrowheads="1"/>
              </p:cNvSpPr>
              <p:nvPr/>
            </p:nvSpPr>
            <p:spPr bwMode="auto">
              <a:xfrm>
                <a:off x="1358292" y="2500306"/>
                <a:ext cx="35618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CN" altLang="en-US" sz="2000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16" name="直接连接符 215"/>
              <p:cNvCxnSpPr/>
              <p:nvPr/>
            </p:nvCxnSpPr>
            <p:spPr bwMode="auto">
              <a:xfrm rot="10800000">
                <a:off x="3810693" y="2358252"/>
                <a:ext cx="903418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直接连接符 216"/>
              <p:cNvCxnSpPr/>
              <p:nvPr/>
            </p:nvCxnSpPr>
            <p:spPr bwMode="auto">
              <a:xfrm rot="16200000" flipH="1">
                <a:off x="3769039" y="3029240"/>
                <a:ext cx="941283" cy="0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直接连接符 217"/>
              <p:cNvCxnSpPr/>
              <p:nvPr/>
            </p:nvCxnSpPr>
            <p:spPr bwMode="auto">
              <a:xfrm flipV="1">
                <a:off x="4239680" y="2556872"/>
                <a:ext cx="432622" cy="1727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024" name="矩形 125"/>
              <p:cNvSpPr>
                <a:spLocks noChangeArrowheads="1"/>
              </p:cNvSpPr>
              <p:nvPr/>
            </p:nvSpPr>
            <p:spPr bwMode="auto">
              <a:xfrm>
                <a:off x="1357290" y="3248304"/>
                <a:ext cx="34176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b="1" i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endParaRPr lang="zh-CN" altLang="en-US" sz="2000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1994" name="组合 235"/>
            <p:cNvGrpSpPr/>
            <p:nvPr/>
          </p:nvGrpSpPr>
          <p:grpSpPr bwMode="auto">
            <a:xfrm>
              <a:off x="1151101" y="4844710"/>
              <a:ext cx="353519" cy="370802"/>
              <a:chOff x="1238251" y="4902197"/>
              <a:chExt cx="222250" cy="228600"/>
            </a:xfrm>
          </p:grpSpPr>
          <p:sp>
            <p:nvSpPr>
              <p:cNvPr id="81996" name="Line 96"/>
              <p:cNvSpPr>
                <a:spLocks noChangeShapeType="1"/>
              </p:cNvSpPr>
              <p:nvPr/>
            </p:nvSpPr>
            <p:spPr bwMode="auto">
              <a:xfrm flipV="1">
                <a:off x="1238251" y="5130797"/>
                <a:ext cx="55563" cy="0"/>
              </a:xfrm>
              <a:prstGeom prst="line">
                <a:avLst/>
              </a:prstGeom>
              <a:noFill/>
              <a:ln w="25400">
                <a:solidFill>
                  <a:srgbClr val="0066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1997" name="Line 97"/>
              <p:cNvSpPr>
                <a:spLocks noChangeShapeType="1"/>
              </p:cNvSpPr>
              <p:nvPr/>
            </p:nvSpPr>
            <p:spPr bwMode="auto">
              <a:xfrm flipV="1">
                <a:off x="1404938" y="5130797"/>
                <a:ext cx="55563" cy="0"/>
              </a:xfrm>
              <a:prstGeom prst="line">
                <a:avLst/>
              </a:prstGeom>
              <a:noFill/>
              <a:ln w="25400">
                <a:solidFill>
                  <a:srgbClr val="0066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1998" name="Line 98"/>
              <p:cNvSpPr>
                <a:spLocks noChangeShapeType="1"/>
              </p:cNvSpPr>
              <p:nvPr/>
            </p:nvSpPr>
            <p:spPr bwMode="auto">
              <a:xfrm>
                <a:off x="1293813" y="4902197"/>
                <a:ext cx="0" cy="228600"/>
              </a:xfrm>
              <a:prstGeom prst="line">
                <a:avLst/>
              </a:prstGeom>
              <a:noFill/>
              <a:ln w="25400">
                <a:solidFill>
                  <a:srgbClr val="0066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1999" name="Line 99"/>
              <p:cNvSpPr>
                <a:spLocks noChangeShapeType="1"/>
              </p:cNvSpPr>
              <p:nvPr/>
            </p:nvSpPr>
            <p:spPr bwMode="auto">
              <a:xfrm>
                <a:off x="1404938" y="4902197"/>
                <a:ext cx="0" cy="228600"/>
              </a:xfrm>
              <a:prstGeom prst="line">
                <a:avLst/>
              </a:prstGeom>
              <a:noFill/>
              <a:ln w="25400">
                <a:solidFill>
                  <a:srgbClr val="0066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000" name="Line 100"/>
              <p:cNvSpPr>
                <a:spLocks noChangeShapeType="1"/>
              </p:cNvSpPr>
              <p:nvPr/>
            </p:nvSpPr>
            <p:spPr bwMode="auto">
              <a:xfrm flipV="1">
                <a:off x="1293813" y="4902197"/>
                <a:ext cx="111125" cy="0"/>
              </a:xfrm>
              <a:prstGeom prst="line">
                <a:avLst/>
              </a:prstGeom>
              <a:noFill/>
              <a:ln w="25400">
                <a:solidFill>
                  <a:srgbClr val="0066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81995" name="Object 14"/>
            <p:cNvGraphicFramePr>
              <a:graphicFrameLocks noChangeAspect="1"/>
            </p:cNvGraphicFramePr>
            <p:nvPr/>
          </p:nvGraphicFramePr>
          <p:xfrm>
            <a:off x="1285875" y="5622925"/>
            <a:ext cx="1874838" cy="449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43" name="公式" r:id="rId1" imgW="1014730" imgH="113030" progId="Equation.3">
                    <p:embed/>
                  </p:oleObj>
                </mc:Choice>
                <mc:Fallback>
                  <p:oleObj name="公式" r:id="rId1" imgW="1014730" imgH="11303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5875" y="5622925"/>
                          <a:ext cx="1874838" cy="449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178"/>
          <p:cNvGrpSpPr/>
          <p:nvPr/>
        </p:nvGrpSpPr>
        <p:grpSpPr bwMode="auto">
          <a:xfrm>
            <a:off x="5387975" y="3000375"/>
            <a:ext cx="3184525" cy="3214688"/>
            <a:chOff x="5388039" y="3000372"/>
            <a:chExt cx="3184489" cy="3214691"/>
          </a:xfrm>
        </p:grpSpPr>
        <p:sp>
          <p:nvSpPr>
            <p:cNvPr id="81927" name="矩形 125"/>
            <p:cNvSpPr>
              <a:spLocks noChangeArrowheads="1"/>
            </p:cNvSpPr>
            <p:nvPr/>
          </p:nvSpPr>
          <p:spPr bwMode="auto">
            <a:xfrm>
              <a:off x="5416575" y="5847399"/>
              <a:ext cx="298433" cy="367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zh-CN" altLang="en-US" sz="2000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81928" name="组合 310"/>
            <p:cNvGrpSpPr/>
            <p:nvPr/>
          </p:nvGrpSpPr>
          <p:grpSpPr bwMode="auto">
            <a:xfrm>
              <a:off x="5744268" y="5796362"/>
              <a:ext cx="2695847" cy="347262"/>
              <a:chOff x="5857000" y="5796396"/>
              <a:chExt cx="2695836" cy="347267"/>
            </a:xfrm>
          </p:grpSpPr>
          <p:sp>
            <p:nvSpPr>
              <p:cNvPr id="81988" name="Line 96"/>
              <p:cNvSpPr>
                <a:spLocks noChangeShapeType="1"/>
              </p:cNvSpPr>
              <p:nvPr/>
            </p:nvSpPr>
            <p:spPr bwMode="auto">
              <a:xfrm flipV="1">
                <a:off x="5857000" y="6143663"/>
                <a:ext cx="1367994" cy="0"/>
              </a:xfrm>
              <a:prstGeom prst="line">
                <a:avLst/>
              </a:prstGeom>
              <a:noFill/>
              <a:ln w="25400">
                <a:solidFill>
                  <a:srgbClr val="0066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1989" name="Line 97"/>
              <p:cNvSpPr>
                <a:spLocks noChangeShapeType="1"/>
              </p:cNvSpPr>
              <p:nvPr/>
            </p:nvSpPr>
            <p:spPr bwMode="auto">
              <a:xfrm flipV="1">
                <a:off x="7436844" y="6143663"/>
                <a:ext cx="1115992" cy="0"/>
              </a:xfrm>
              <a:prstGeom prst="line">
                <a:avLst/>
              </a:prstGeom>
              <a:noFill/>
              <a:ln w="25400">
                <a:solidFill>
                  <a:srgbClr val="0066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1990" name="Line 98"/>
              <p:cNvSpPr>
                <a:spLocks noChangeShapeType="1"/>
              </p:cNvSpPr>
              <p:nvPr/>
            </p:nvSpPr>
            <p:spPr bwMode="auto">
              <a:xfrm flipV="1">
                <a:off x="7215219" y="5796396"/>
                <a:ext cx="0" cy="347248"/>
              </a:xfrm>
              <a:prstGeom prst="line">
                <a:avLst/>
              </a:prstGeom>
              <a:noFill/>
              <a:ln w="25400">
                <a:solidFill>
                  <a:srgbClr val="0066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1991" name="Line 100"/>
              <p:cNvSpPr>
                <a:spLocks noChangeShapeType="1"/>
              </p:cNvSpPr>
              <p:nvPr/>
            </p:nvSpPr>
            <p:spPr bwMode="auto">
              <a:xfrm>
                <a:off x="7202517" y="5799171"/>
                <a:ext cx="251998" cy="0"/>
              </a:xfrm>
              <a:prstGeom prst="line">
                <a:avLst/>
              </a:prstGeom>
              <a:noFill/>
              <a:ln w="25400">
                <a:solidFill>
                  <a:srgbClr val="0066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1992" name="Line 99"/>
              <p:cNvSpPr>
                <a:spLocks noChangeShapeType="1"/>
              </p:cNvSpPr>
              <p:nvPr/>
            </p:nvSpPr>
            <p:spPr bwMode="auto">
              <a:xfrm flipV="1">
                <a:off x="7442231" y="5796397"/>
                <a:ext cx="0" cy="347247"/>
              </a:xfrm>
              <a:prstGeom prst="line">
                <a:avLst/>
              </a:prstGeom>
              <a:noFill/>
              <a:ln w="25400">
                <a:solidFill>
                  <a:srgbClr val="0066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1929" name="Group 110"/>
            <p:cNvGrpSpPr/>
            <p:nvPr/>
          </p:nvGrpSpPr>
          <p:grpSpPr bwMode="auto">
            <a:xfrm>
              <a:off x="5473764" y="3000372"/>
              <a:ext cx="3049588" cy="938212"/>
              <a:chOff x="3009" y="663"/>
              <a:chExt cx="1921" cy="591"/>
            </a:xfrm>
          </p:grpSpPr>
          <p:sp>
            <p:nvSpPr>
              <p:cNvPr id="81959" name="Line 92"/>
              <p:cNvSpPr>
                <a:spLocks noChangeShapeType="1"/>
              </p:cNvSpPr>
              <p:nvPr/>
            </p:nvSpPr>
            <p:spPr bwMode="auto">
              <a:xfrm>
                <a:off x="4052" y="859"/>
                <a:ext cx="1" cy="272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prstDash val="sys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81960" name="Group 109"/>
              <p:cNvGrpSpPr/>
              <p:nvPr/>
            </p:nvGrpSpPr>
            <p:grpSpPr bwMode="auto">
              <a:xfrm>
                <a:off x="3009" y="663"/>
                <a:ext cx="1921" cy="591"/>
                <a:chOff x="3009" y="663"/>
                <a:chExt cx="1921" cy="591"/>
              </a:xfrm>
            </p:grpSpPr>
            <p:sp>
              <p:nvSpPr>
                <p:cNvPr id="81961" name="Line 34"/>
                <p:cNvSpPr>
                  <a:spLocks noChangeShapeType="1"/>
                </p:cNvSpPr>
                <p:nvPr/>
              </p:nvSpPr>
              <p:spPr bwMode="auto">
                <a:xfrm>
                  <a:off x="3463" y="673"/>
                  <a:ext cx="1" cy="342"/>
                </a:xfrm>
                <a:prstGeom prst="line">
                  <a:avLst/>
                </a:prstGeom>
                <a:noFill/>
                <a:ln w="15875">
                  <a:solidFill>
                    <a:srgbClr val="000000"/>
                  </a:solidFill>
                  <a:prstDash val="sys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962" name="Line 35"/>
                <p:cNvSpPr>
                  <a:spLocks noChangeShapeType="1"/>
                </p:cNvSpPr>
                <p:nvPr/>
              </p:nvSpPr>
              <p:spPr bwMode="auto">
                <a:xfrm>
                  <a:off x="3174" y="859"/>
                  <a:ext cx="197" cy="1"/>
                </a:xfrm>
                <a:prstGeom prst="lin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963" name="Line 36"/>
                <p:cNvSpPr>
                  <a:spLocks noChangeShapeType="1"/>
                </p:cNvSpPr>
                <p:nvPr/>
              </p:nvSpPr>
              <p:spPr bwMode="auto">
                <a:xfrm flipV="1">
                  <a:off x="3371" y="673"/>
                  <a:ext cx="1" cy="186"/>
                </a:xfrm>
                <a:prstGeom prst="lin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964" name="Line 37"/>
                <p:cNvSpPr>
                  <a:spLocks noChangeShapeType="1"/>
                </p:cNvSpPr>
                <p:nvPr/>
              </p:nvSpPr>
              <p:spPr bwMode="auto">
                <a:xfrm>
                  <a:off x="3371" y="673"/>
                  <a:ext cx="578" cy="1"/>
                </a:xfrm>
                <a:prstGeom prst="lin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965" name="Line 38"/>
                <p:cNvSpPr>
                  <a:spLocks noChangeShapeType="1"/>
                </p:cNvSpPr>
                <p:nvPr/>
              </p:nvSpPr>
              <p:spPr bwMode="auto">
                <a:xfrm flipV="1">
                  <a:off x="3949" y="673"/>
                  <a:ext cx="1" cy="186"/>
                </a:xfrm>
                <a:prstGeom prst="lin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966" name="Line 39"/>
                <p:cNvSpPr>
                  <a:spLocks noChangeShapeType="1"/>
                </p:cNvSpPr>
                <p:nvPr/>
              </p:nvSpPr>
              <p:spPr bwMode="auto">
                <a:xfrm>
                  <a:off x="3949" y="859"/>
                  <a:ext cx="588" cy="1"/>
                </a:xfrm>
                <a:prstGeom prst="lin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967" name="Line 40"/>
                <p:cNvSpPr>
                  <a:spLocks noChangeShapeType="1"/>
                </p:cNvSpPr>
                <p:nvPr/>
              </p:nvSpPr>
              <p:spPr bwMode="auto">
                <a:xfrm flipV="1">
                  <a:off x="4537" y="673"/>
                  <a:ext cx="1" cy="186"/>
                </a:xfrm>
                <a:prstGeom prst="lin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968" name="Line 41"/>
                <p:cNvSpPr>
                  <a:spLocks noChangeShapeType="1"/>
                </p:cNvSpPr>
                <p:nvPr/>
              </p:nvSpPr>
              <p:spPr bwMode="auto">
                <a:xfrm>
                  <a:off x="4537" y="673"/>
                  <a:ext cx="393" cy="1"/>
                </a:xfrm>
                <a:prstGeom prst="lin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969" name="Line 42"/>
                <p:cNvSpPr>
                  <a:spLocks noChangeShapeType="1"/>
                </p:cNvSpPr>
                <p:nvPr/>
              </p:nvSpPr>
              <p:spPr bwMode="auto">
                <a:xfrm>
                  <a:off x="3174" y="1056"/>
                  <a:ext cx="289" cy="1"/>
                </a:xfrm>
                <a:prstGeom prst="lin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970" name="Line 43"/>
                <p:cNvSpPr>
                  <a:spLocks noChangeShapeType="1"/>
                </p:cNvSpPr>
                <p:nvPr/>
              </p:nvSpPr>
              <p:spPr bwMode="auto">
                <a:xfrm>
                  <a:off x="3463" y="1056"/>
                  <a:ext cx="1" cy="197"/>
                </a:xfrm>
                <a:prstGeom prst="lin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971" name="Line 44"/>
                <p:cNvSpPr>
                  <a:spLocks noChangeShapeType="1"/>
                </p:cNvSpPr>
                <p:nvPr/>
              </p:nvSpPr>
              <p:spPr bwMode="auto">
                <a:xfrm>
                  <a:off x="3463" y="1253"/>
                  <a:ext cx="589" cy="1"/>
                </a:xfrm>
                <a:prstGeom prst="lin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972" name="Line 45"/>
                <p:cNvSpPr>
                  <a:spLocks noChangeShapeType="1"/>
                </p:cNvSpPr>
                <p:nvPr/>
              </p:nvSpPr>
              <p:spPr bwMode="auto">
                <a:xfrm>
                  <a:off x="4052" y="1056"/>
                  <a:ext cx="1" cy="197"/>
                </a:xfrm>
                <a:prstGeom prst="lin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973" name="Line 46"/>
                <p:cNvSpPr>
                  <a:spLocks noChangeShapeType="1"/>
                </p:cNvSpPr>
                <p:nvPr/>
              </p:nvSpPr>
              <p:spPr bwMode="auto">
                <a:xfrm>
                  <a:off x="4052" y="1056"/>
                  <a:ext cx="588" cy="1"/>
                </a:xfrm>
                <a:prstGeom prst="lin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974" name="Line 47"/>
                <p:cNvSpPr>
                  <a:spLocks noChangeShapeType="1"/>
                </p:cNvSpPr>
                <p:nvPr/>
              </p:nvSpPr>
              <p:spPr bwMode="auto">
                <a:xfrm>
                  <a:off x="4640" y="1056"/>
                  <a:ext cx="1" cy="197"/>
                </a:xfrm>
                <a:prstGeom prst="lin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975" name="Line 48"/>
                <p:cNvSpPr>
                  <a:spLocks noChangeShapeType="1"/>
                </p:cNvSpPr>
                <p:nvPr/>
              </p:nvSpPr>
              <p:spPr bwMode="auto">
                <a:xfrm>
                  <a:off x="4640" y="1253"/>
                  <a:ext cx="290" cy="1"/>
                </a:xfrm>
                <a:prstGeom prst="lin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976" name="Line 64"/>
                <p:cNvSpPr>
                  <a:spLocks noChangeShapeType="1"/>
                </p:cNvSpPr>
                <p:nvPr/>
              </p:nvSpPr>
              <p:spPr bwMode="auto">
                <a:xfrm>
                  <a:off x="3226" y="766"/>
                  <a:ext cx="93" cy="1"/>
                </a:xfrm>
                <a:prstGeom prst="lin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977" name="Freeform 65"/>
                <p:cNvSpPr/>
                <p:nvPr/>
              </p:nvSpPr>
              <p:spPr bwMode="auto">
                <a:xfrm>
                  <a:off x="3309" y="735"/>
                  <a:ext cx="62" cy="62"/>
                </a:xfrm>
                <a:custGeom>
                  <a:avLst/>
                  <a:gdLst>
                    <a:gd name="T0" fmla="*/ 0 w 62"/>
                    <a:gd name="T1" fmla="*/ 0 h 62"/>
                    <a:gd name="T2" fmla="*/ 62 w 62"/>
                    <a:gd name="T3" fmla="*/ 31 h 62"/>
                    <a:gd name="T4" fmla="*/ 0 w 62"/>
                    <a:gd name="T5" fmla="*/ 62 h 62"/>
                    <a:gd name="T6" fmla="*/ 0 w 62"/>
                    <a:gd name="T7" fmla="*/ 0 h 6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2"/>
                    <a:gd name="T13" fmla="*/ 0 h 62"/>
                    <a:gd name="T14" fmla="*/ 62 w 62"/>
                    <a:gd name="T15" fmla="*/ 62 h 6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2" h="62">
                      <a:moveTo>
                        <a:pt x="0" y="0"/>
                      </a:moveTo>
                      <a:lnTo>
                        <a:pt x="62" y="31"/>
                      </a:lnTo>
                      <a:lnTo>
                        <a:pt x="0" y="6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87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978" name="Line 66"/>
                <p:cNvSpPr>
                  <a:spLocks noChangeShapeType="1"/>
                </p:cNvSpPr>
                <p:nvPr/>
              </p:nvSpPr>
              <p:spPr bwMode="auto">
                <a:xfrm flipH="1">
                  <a:off x="3515" y="766"/>
                  <a:ext cx="93" cy="1"/>
                </a:xfrm>
                <a:prstGeom prst="lin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979" name="Freeform 67"/>
                <p:cNvSpPr/>
                <p:nvPr/>
              </p:nvSpPr>
              <p:spPr bwMode="auto">
                <a:xfrm>
                  <a:off x="3463" y="735"/>
                  <a:ext cx="62" cy="62"/>
                </a:xfrm>
                <a:custGeom>
                  <a:avLst/>
                  <a:gdLst>
                    <a:gd name="T0" fmla="*/ 62 w 62"/>
                    <a:gd name="T1" fmla="*/ 0 h 62"/>
                    <a:gd name="T2" fmla="*/ 0 w 62"/>
                    <a:gd name="T3" fmla="*/ 31 h 62"/>
                    <a:gd name="T4" fmla="*/ 62 w 62"/>
                    <a:gd name="T5" fmla="*/ 62 h 62"/>
                    <a:gd name="T6" fmla="*/ 62 w 62"/>
                    <a:gd name="T7" fmla="*/ 0 h 6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2"/>
                    <a:gd name="T13" fmla="*/ 0 h 62"/>
                    <a:gd name="T14" fmla="*/ 62 w 62"/>
                    <a:gd name="T15" fmla="*/ 62 h 6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2" h="62">
                      <a:moveTo>
                        <a:pt x="62" y="0"/>
                      </a:moveTo>
                      <a:lnTo>
                        <a:pt x="0" y="31"/>
                      </a:lnTo>
                      <a:lnTo>
                        <a:pt x="62" y="62"/>
                      </a:lnTo>
                      <a:lnTo>
                        <a:pt x="6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87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980" name="Rectangle 71"/>
                <p:cNvSpPr>
                  <a:spLocks noChangeArrowheads="1"/>
                </p:cNvSpPr>
                <p:nvPr/>
              </p:nvSpPr>
              <p:spPr bwMode="auto">
                <a:xfrm>
                  <a:off x="3017" y="684"/>
                  <a:ext cx="84" cy="1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700" i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endParaRPr lang="en-US" altLang="zh-CN" sz="1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81981" name="Group 100"/>
                <p:cNvGrpSpPr/>
                <p:nvPr/>
              </p:nvGrpSpPr>
              <p:grpSpPr bwMode="auto">
                <a:xfrm>
                  <a:off x="3009" y="981"/>
                  <a:ext cx="84" cy="165"/>
                  <a:chOff x="3081" y="1077"/>
                  <a:chExt cx="84" cy="165"/>
                </a:xfrm>
              </p:grpSpPr>
              <p:sp>
                <p:nvSpPr>
                  <p:cNvPr id="81986" name="Rectangle 72"/>
                  <p:cNvSpPr>
                    <a:spLocks noChangeArrowheads="1"/>
                  </p:cNvSpPr>
                  <p:nvPr/>
                </p:nvSpPr>
                <p:spPr bwMode="auto">
                  <a:xfrm>
                    <a:off x="3081" y="1077"/>
                    <a:ext cx="84" cy="1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1700" i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</a:t>
                    </a:r>
                    <a:endParaRPr lang="en-US" altLang="zh-CN" sz="16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1987" name="Line 7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102" y="1087"/>
                    <a:ext cx="52" cy="1"/>
                  </a:xfrm>
                  <a:prstGeom prst="line">
                    <a:avLst/>
                  </a:prstGeom>
                  <a:noFill/>
                  <a:ln w="15875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81982" name="Rectangle 80"/>
                <p:cNvSpPr>
                  <a:spLocks noChangeArrowheads="1"/>
                </p:cNvSpPr>
                <p:nvPr/>
              </p:nvSpPr>
              <p:spPr bwMode="auto">
                <a:xfrm>
                  <a:off x="3639" y="663"/>
                  <a:ext cx="38" cy="1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700" i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</a:t>
                  </a:r>
                  <a:endParaRPr lang="en-US" altLang="zh-CN" sz="1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1983" name="Rectangle 81"/>
                <p:cNvSpPr>
                  <a:spLocks noChangeArrowheads="1"/>
                </p:cNvSpPr>
                <p:nvPr/>
              </p:nvSpPr>
              <p:spPr bwMode="auto">
                <a:xfrm>
                  <a:off x="3680" y="724"/>
                  <a:ext cx="48" cy="1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20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</a:t>
                  </a:r>
                  <a:endParaRPr lang="en-US" altLang="zh-CN" sz="1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1984" name="Rectangle 82"/>
                <p:cNvSpPr>
                  <a:spLocks noChangeArrowheads="1"/>
                </p:cNvSpPr>
                <p:nvPr/>
              </p:nvSpPr>
              <p:spPr bwMode="auto">
                <a:xfrm>
                  <a:off x="3732" y="724"/>
                  <a:ext cx="48" cy="1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20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  <a:endParaRPr lang="en-US" altLang="zh-CN" sz="1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1985" name="Line 93"/>
                <p:cNvSpPr>
                  <a:spLocks noChangeShapeType="1"/>
                </p:cNvSpPr>
                <p:nvPr/>
              </p:nvSpPr>
              <p:spPr bwMode="auto">
                <a:xfrm>
                  <a:off x="4537" y="859"/>
                  <a:ext cx="1" cy="197"/>
                </a:xfrm>
                <a:prstGeom prst="line">
                  <a:avLst/>
                </a:prstGeom>
                <a:noFill/>
                <a:ln w="15875">
                  <a:solidFill>
                    <a:srgbClr val="000000"/>
                  </a:solidFill>
                  <a:prstDash val="sys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1930" name="组合 149"/>
            <p:cNvGrpSpPr/>
            <p:nvPr/>
          </p:nvGrpSpPr>
          <p:grpSpPr bwMode="auto">
            <a:xfrm>
              <a:off x="5388039" y="4097334"/>
              <a:ext cx="3184489" cy="1550988"/>
              <a:chOff x="5137150" y="2149475"/>
              <a:chExt cx="3184489" cy="1550988"/>
            </a:xfrm>
          </p:grpSpPr>
          <p:sp>
            <p:nvSpPr>
              <p:cNvPr id="81931" name="Line 49"/>
              <p:cNvSpPr>
                <a:spLocks noChangeShapeType="1"/>
              </p:cNvSpPr>
              <p:nvPr/>
            </p:nvSpPr>
            <p:spPr bwMode="auto">
              <a:xfrm>
                <a:off x="5475288" y="2743200"/>
                <a:ext cx="611188" cy="158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932" name="Line 50"/>
              <p:cNvSpPr>
                <a:spLocks noChangeShapeType="1"/>
              </p:cNvSpPr>
              <p:nvPr/>
            </p:nvSpPr>
            <p:spPr bwMode="auto">
              <a:xfrm>
                <a:off x="6091238" y="2743200"/>
                <a:ext cx="1588" cy="31273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933" name="Line 51"/>
              <p:cNvSpPr>
                <a:spLocks noChangeShapeType="1"/>
              </p:cNvSpPr>
              <p:nvPr/>
            </p:nvSpPr>
            <p:spPr bwMode="auto">
              <a:xfrm>
                <a:off x="6091238" y="3055938"/>
                <a:ext cx="935038" cy="158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934" name="Line 52"/>
              <p:cNvSpPr>
                <a:spLocks noChangeShapeType="1"/>
              </p:cNvSpPr>
              <p:nvPr/>
            </p:nvSpPr>
            <p:spPr bwMode="auto">
              <a:xfrm>
                <a:off x="7026275" y="2743200"/>
                <a:ext cx="1588" cy="31273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935" name="Line 53"/>
              <p:cNvSpPr>
                <a:spLocks noChangeShapeType="1"/>
              </p:cNvSpPr>
              <p:nvPr/>
            </p:nvSpPr>
            <p:spPr bwMode="auto">
              <a:xfrm>
                <a:off x="7026275" y="2743200"/>
                <a:ext cx="933450" cy="158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936" name="Line 54"/>
              <p:cNvSpPr>
                <a:spLocks noChangeShapeType="1"/>
              </p:cNvSpPr>
              <p:nvPr/>
            </p:nvSpPr>
            <p:spPr bwMode="auto">
              <a:xfrm>
                <a:off x="7959725" y="2743200"/>
                <a:ext cx="1588" cy="31273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937" name="Line 55"/>
              <p:cNvSpPr>
                <a:spLocks noChangeShapeType="1"/>
              </p:cNvSpPr>
              <p:nvPr/>
            </p:nvSpPr>
            <p:spPr bwMode="auto">
              <a:xfrm>
                <a:off x="7959725" y="3055938"/>
                <a:ext cx="360363" cy="158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938" name="Line 56"/>
              <p:cNvSpPr>
                <a:spLocks noChangeShapeType="1"/>
              </p:cNvSpPr>
              <p:nvPr/>
            </p:nvSpPr>
            <p:spPr bwMode="auto">
              <a:xfrm>
                <a:off x="5486400" y="2516188"/>
                <a:ext cx="468313" cy="158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939" name="Line 57"/>
              <p:cNvSpPr>
                <a:spLocks noChangeShapeType="1"/>
              </p:cNvSpPr>
              <p:nvPr/>
            </p:nvSpPr>
            <p:spPr bwMode="auto">
              <a:xfrm flipV="1">
                <a:off x="5954713" y="2205038"/>
                <a:ext cx="1588" cy="31115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940" name="Line 58"/>
              <p:cNvSpPr>
                <a:spLocks noChangeShapeType="1"/>
              </p:cNvSpPr>
              <p:nvPr/>
            </p:nvSpPr>
            <p:spPr bwMode="auto">
              <a:xfrm>
                <a:off x="5954713" y="2205038"/>
                <a:ext cx="917575" cy="158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941" name="Line 59"/>
              <p:cNvSpPr>
                <a:spLocks noChangeShapeType="1"/>
              </p:cNvSpPr>
              <p:nvPr/>
            </p:nvSpPr>
            <p:spPr bwMode="auto">
              <a:xfrm flipV="1">
                <a:off x="6872288" y="2205038"/>
                <a:ext cx="1588" cy="31115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942" name="Line 60"/>
              <p:cNvSpPr>
                <a:spLocks noChangeShapeType="1"/>
              </p:cNvSpPr>
              <p:nvPr/>
            </p:nvSpPr>
            <p:spPr bwMode="auto">
              <a:xfrm>
                <a:off x="6872288" y="2516188"/>
                <a:ext cx="933450" cy="158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943" name="Line 61"/>
              <p:cNvSpPr>
                <a:spLocks noChangeShapeType="1"/>
              </p:cNvSpPr>
              <p:nvPr/>
            </p:nvSpPr>
            <p:spPr bwMode="auto">
              <a:xfrm flipV="1">
                <a:off x="7805738" y="2205038"/>
                <a:ext cx="1588" cy="31115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944" name="Line 62"/>
              <p:cNvSpPr>
                <a:spLocks noChangeShapeType="1"/>
              </p:cNvSpPr>
              <p:nvPr/>
            </p:nvSpPr>
            <p:spPr bwMode="auto">
              <a:xfrm>
                <a:off x="7805738" y="2205038"/>
                <a:ext cx="503238" cy="158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945" name="Rectangle 63"/>
              <p:cNvSpPr>
                <a:spLocks noChangeArrowheads="1"/>
              </p:cNvSpPr>
              <p:nvPr/>
            </p:nvSpPr>
            <p:spPr bwMode="auto">
              <a:xfrm>
                <a:off x="6858016" y="3386138"/>
                <a:ext cx="163513" cy="312738"/>
              </a:xfrm>
              <a:prstGeom prst="rect">
                <a:avLst/>
              </a:prstGeom>
              <a:pattFill prst="ltUpDiag">
                <a:fgClr>
                  <a:srgbClr val="000000"/>
                </a:fgClr>
                <a:bgClr>
                  <a:srgbClr val="FFFFFF"/>
                </a:bgClr>
              </a:patt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946" name="Rectangle 74"/>
              <p:cNvSpPr>
                <a:spLocks noChangeArrowheads="1"/>
              </p:cNvSpPr>
              <p:nvPr/>
            </p:nvSpPr>
            <p:spPr bwMode="auto">
              <a:xfrm>
                <a:off x="5137150" y="2149475"/>
                <a:ext cx="266700" cy="2619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7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</a:t>
                </a:r>
                <a:endParaRPr lang="en-US" altLang="zh-CN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81947" name="Group 101"/>
              <p:cNvGrpSpPr/>
              <p:nvPr/>
            </p:nvGrpSpPr>
            <p:grpSpPr bwMode="auto">
              <a:xfrm>
                <a:off x="5140325" y="2636838"/>
                <a:ext cx="279400" cy="261938"/>
                <a:chOff x="3061" y="1761"/>
                <a:chExt cx="176" cy="165"/>
              </a:xfrm>
            </p:grpSpPr>
            <p:sp>
              <p:nvSpPr>
                <p:cNvPr id="81957" name="Rectangle 76"/>
                <p:cNvSpPr>
                  <a:spLocks noChangeArrowheads="1"/>
                </p:cNvSpPr>
                <p:nvPr/>
              </p:nvSpPr>
              <p:spPr bwMode="auto">
                <a:xfrm>
                  <a:off x="3061" y="1761"/>
                  <a:ext cx="176" cy="1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700" i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AC</a:t>
                  </a:r>
                  <a:endParaRPr lang="en-US" altLang="zh-CN" sz="1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1958" name="Line 77"/>
                <p:cNvSpPr>
                  <a:spLocks noChangeShapeType="1"/>
                </p:cNvSpPr>
                <p:nvPr/>
              </p:nvSpPr>
              <p:spPr bwMode="auto">
                <a:xfrm flipH="1">
                  <a:off x="3081" y="1771"/>
                  <a:ext cx="62" cy="1"/>
                </a:xfrm>
                <a:prstGeom prst="lin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81948" name="Rectangle 79"/>
              <p:cNvSpPr>
                <a:spLocks noChangeArrowheads="1"/>
              </p:cNvSpPr>
              <p:nvPr/>
            </p:nvSpPr>
            <p:spPr bwMode="auto">
              <a:xfrm>
                <a:off x="5208588" y="3189288"/>
                <a:ext cx="133350" cy="2619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7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endParaRPr lang="en-US" altLang="zh-CN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949" name="Line 86"/>
              <p:cNvSpPr>
                <a:spLocks noChangeShapeType="1"/>
              </p:cNvSpPr>
              <p:nvPr/>
            </p:nvSpPr>
            <p:spPr bwMode="auto">
              <a:xfrm>
                <a:off x="5484813" y="3386138"/>
                <a:ext cx="1368000" cy="158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950" name="Line 87"/>
              <p:cNvSpPr>
                <a:spLocks noChangeShapeType="1"/>
              </p:cNvSpPr>
              <p:nvPr/>
            </p:nvSpPr>
            <p:spPr bwMode="auto">
              <a:xfrm flipV="1">
                <a:off x="6858016" y="3386138"/>
                <a:ext cx="1588" cy="31273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951" name="Line 88"/>
              <p:cNvSpPr>
                <a:spLocks noChangeShapeType="1"/>
              </p:cNvSpPr>
              <p:nvPr/>
            </p:nvSpPr>
            <p:spPr bwMode="auto">
              <a:xfrm flipV="1">
                <a:off x="7021529" y="3386138"/>
                <a:ext cx="1588" cy="31273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952" name="Line 89"/>
              <p:cNvSpPr>
                <a:spLocks noChangeShapeType="1"/>
              </p:cNvSpPr>
              <p:nvPr/>
            </p:nvSpPr>
            <p:spPr bwMode="auto">
              <a:xfrm flipH="1">
                <a:off x="6858016" y="3698875"/>
                <a:ext cx="163513" cy="158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953" name="Line 90"/>
              <p:cNvSpPr>
                <a:spLocks noChangeShapeType="1"/>
              </p:cNvSpPr>
              <p:nvPr/>
            </p:nvSpPr>
            <p:spPr bwMode="auto">
              <a:xfrm>
                <a:off x="7025639" y="3386138"/>
                <a:ext cx="1296000" cy="158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954" name="Line 91"/>
              <p:cNvSpPr>
                <a:spLocks noChangeShapeType="1"/>
              </p:cNvSpPr>
              <p:nvPr/>
            </p:nvSpPr>
            <p:spPr bwMode="auto">
              <a:xfrm>
                <a:off x="5954713" y="2479675"/>
                <a:ext cx="1588" cy="54133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prstDash val="sys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955" name="Line 94"/>
              <p:cNvSpPr>
                <a:spLocks noChangeShapeType="1"/>
              </p:cNvSpPr>
              <p:nvPr/>
            </p:nvSpPr>
            <p:spPr bwMode="auto">
              <a:xfrm>
                <a:off x="6858016" y="2500306"/>
                <a:ext cx="1588" cy="90000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prstDash val="sys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956" name="Line 94"/>
              <p:cNvSpPr>
                <a:spLocks noChangeShapeType="1"/>
              </p:cNvSpPr>
              <p:nvPr/>
            </p:nvSpPr>
            <p:spPr bwMode="auto">
              <a:xfrm>
                <a:off x="7030152" y="2500306"/>
                <a:ext cx="1588" cy="90000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prstDash val="sys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81926" name="矩形 1"/>
          <p:cNvSpPr>
            <a:spLocks noChangeArrowheads="1"/>
          </p:cNvSpPr>
          <p:nvPr/>
        </p:nvSpPr>
        <p:spPr bwMode="auto">
          <a:xfrm>
            <a:off x="5437188" y="61913"/>
            <a:ext cx="36099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§4.5 </a:t>
            </a:r>
            <a:r>
              <a:rPr kumimoji="1"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组合逻辑电路的竞争和冒险 </a:t>
            </a:r>
            <a:endParaRPr lang="zh-CN" altLang="en-US" sz="1800">
              <a:solidFill>
                <a:srgbClr val="FF0066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569913" y="857250"/>
            <a:ext cx="7461250" cy="1052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只要在其卡诺图上两卡诺圈</a:t>
            </a:r>
            <a:r>
              <a:rPr kumimoji="1"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相切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处加一个卡诺圈，即增加了一个</a:t>
            </a:r>
            <a:r>
              <a:rPr kumimoji="1"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冗余项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，就可消除逻辑冒险。</a:t>
            </a:r>
            <a:endParaRPr kumimoji="1" lang="zh-CN" altLang="en-US" sz="240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636588" y="5000625"/>
          <a:ext cx="3251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34" name="公式" r:id="rId1" imgW="1640840" imgH="113030" progId="Equation.3">
                  <p:embed/>
                </p:oleObj>
              </mc:Choice>
              <mc:Fallback>
                <p:oleObj name="公式" r:id="rId1" imgW="1640840" imgH="11303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588" y="5000625"/>
                        <a:ext cx="3251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8" name="Rectangle 8"/>
          <p:cNvSpPr>
            <a:spLocks noChangeArrowheads="1"/>
          </p:cNvSpPr>
          <p:nvPr/>
        </p:nvSpPr>
        <p:spPr bwMode="auto">
          <a:xfrm>
            <a:off x="357188" y="285750"/>
            <a:ext cx="5688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修改逻辑设计法－－增加冗余项</a:t>
            </a:r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组合 82"/>
          <p:cNvGrpSpPr/>
          <p:nvPr/>
        </p:nvGrpSpPr>
        <p:grpSpPr bwMode="auto">
          <a:xfrm>
            <a:off x="619125" y="2857500"/>
            <a:ext cx="3097213" cy="1944688"/>
            <a:chOff x="660370" y="2857500"/>
            <a:chExt cx="3097213" cy="1944688"/>
          </a:xfrm>
        </p:grpSpPr>
        <p:sp>
          <p:nvSpPr>
            <p:cNvPr id="83005" name="Text Box 10"/>
            <p:cNvSpPr txBox="1">
              <a:spLocks noChangeArrowheads="1"/>
            </p:cNvSpPr>
            <p:nvPr/>
          </p:nvSpPr>
          <p:spPr bwMode="auto">
            <a:xfrm>
              <a:off x="838170" y="3341688"/>
              <a:ext cx="4048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kumimoji="1" lang="en-US" altLang="zh-CN" sz="36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83006" name="Group 11"/>
            <p:cNvGrpSpPr/>
            <p:nvPr/>
          </p:nvGrpSpPr>
          <p:grpSpPr bwMode="auto">
            <a:xfrm>
              <a:off x="1014383" y="3354388"/>
              <a:ext cx="2743200" cy="1447800"/>
              <a:chOff x="336" y="2976"/>
              <a:chExt cx="1728" cy="912"/>
            </a:xfrm>
          </p:grpSpPr>
          <p:sp>
            <p:nvSpPr>
              <p:cNvPr id="83021" name="Line 12"/>
              <p:cNvSpPr>
                <a:spLocks noChangeShapeType="1"/>
              </p:cNvSpPr>
              <p:nvPr/>
            </p:nvSpPr>
            <p:spPr bwMode="auto">
              <a:xfrm>
                <a:off x="528" y="3552"/>
                <a:ext cx="15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83022" name="Group 13"/>
              <p:cNvGrpSpPr/>
              <p:nvPr/>
            </p:nvGrpSpPr>
            <p:grpSpPr bwMode="auto">
              <a:xfrm>
                <a:off x="336" y="2976"/>
                <a:ext cx="1728" cy="912"/>
                <a:chOff x="336" y="2976"/>
                <a:chExt cx="1728" cy="912"/>
              </a:xfrm>
            </p:grpSpPr>
            <p:sp>
              <p:nvSpPr>
                <p:cNvPr id="83023" name="Rectangle 14"/>
                <p:cNvSpPr>
                  <a:spLocks noChangeArrowheads="1"/>
                </p:cNvSpPr>
                <p:nvPr/>
              </p:nvSpPr>
              <p:spPr bwMode="auto">
                <a:xfrm>
                  <a:off x="528" y="3216"/>
                  <a:ext cx="1536" cy="67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3024" name="Line 15"/>
                <p:cNvSpPr>
                  <a:spLocks noChangeShapeType="1"/>
                </p:cNvSpPr>
                <p:nvPr/>
              </p:nvSpPr>
              <p:spPr bwMode="auto">
                <a:xfrm>
                  <a:off x="912" y="3216"/>
                  <a:ext cx="0" cy="6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3025" name="Line 16"/>
                <p:cNvSpPr>
                  <a:spLocks noChangeShapeType="1"/>
                </p:cNvSpPr>
                <p:nvPr/>
              </p:nvSpPr>
              <p:spPr bwMode="auto">
                <a:xfrm>
                  <a:off x="1296" y="3216"/>
                  <a:ext cx="0" cy="6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3026" name="Line 17"/>
                <p:cNvSpPr>
                  <a:spLocks noChangeShapeType="1"/>
                </p:cNvSpPr>
                <p:nvPr/>
              </p:nvSpPr>
              <p:spPr bwMode="auto">
                <a:xfrm>
                  <a:off x="1680" y="3216"/>
                  <a:ext cx="0" cy="6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3027" name="Line 18"/>
                <p:cNvSpPr>
                  <a:spLocks noChangeShapeType="1"/>
                </p:cNvSpPr>
                <p:nvPr/>
              </p:nvSpPr>
              <p:spPr bwMode="auto">
                <a:xfrm>
                  <a:off x="336" y="2976"/>
                  <a:ext cx="192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83007" name="Text Box 19"/>
            <p:cNvSpPr txBox="1">
              <a:spLocks noChangeArrowheads="1"/>
            </p:cNvSpPr>
            <p:nvPr/>
          </p:nvSpPr>
          <p:spPr bwMode="auto">
            <a:xfrm>
              <a:off x="1014383" y="3125788"/>
              <a:ext cx="6080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BC</a:t>
              </a:r>
              <a:endParaRPr kumimoji="1" lang="en-US" altLang="zh-CN" sz="36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08" name="Text Box 20"/>
            <p:cNvSpPr txBox="1">
              <a:spLocks noChangeArrowheads="1"/>
            </p:cNvSpPr>
            <p:nvPr/>
          </p:nvSpPr>
          <p:spPr bwMode="auto">
            <a:xfrm>
              <a:off x="928658" y="3748088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kumimoji="1" lang="en-US" altLang="zh-CN" sz="36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09" name="Text Box 21"/>
            <p:cNvSpPr txBox="1">
              <a:spLocks noChangeArrowheads="1"/>
            </p:cNvSpPr>
            <p:nvPr/>
          </p:nvSpPr>
          <p:spPr bwMode="auto">
            <a:xfrm>
              <a:off x="938183" y="4268788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en-US" altLang="zh-CN" sz="36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10" name="Text Box 22"/>
            <p:cNvSpPr txBox="1">
              <a:spLocks noChangeArrowheads="1"/>
            </p:cNvSpPr>
            <p:nvPr/>
          </p:nvSpPr>
          <p:spPr bwMode="auto">
            <a:xfrm>
              <a:off x="1376333" y="3354388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00</a:t>
              </a:r>
              <a:endParaRPr kumimoji="1" lang="en-US" altLang="zh-CN" sz="36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11" name="Text Box 23"/>
            <p:cNvSpPr txBox="1">
              <a:spLocks noChangeArrowheads="1"/>
            </p:cNvSpPr>
            <p:nvPr/>
          </p:nvSpPr>
          <p:spPr bwMode="auto">
            <a:xfrm>
              <a:off x="1985933" y="3354388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  <a:endParaRPr kumimoji="1" lang="en-US" altLang="zh-CN" sz="36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12" name="Text Box 24"/>
            <p:cNvSpPr txBox="1">
              <a:spLocks noChangeArrowheads="1"/>
            </p:cNvSpPr>
            <p:nvPr/>
          </p:nvSpPr>
          <p:spPr bwMode="auto">
            <a:xfrm>
              <a:off x="2595533" y="3354388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en-US" altLang="zh-CN" sz="36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13" name="Text Box 25"/>
            <p:cNvSpPr txBox="1">
              <a:spLocks noChangeArrowheads="1"/>
            </p:cNvSpPr>
            <p:nvPr/>
          </p:nvSpPr>
          <p:spPr bwMode="auto">
            <a:xfrm>
              <a:off x="3205133" y="3354388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en-US" altLang="zh-CN" sz="36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14" name="Text Box 26"/>
            <p:cNvSpPr txBox="1">
              <a:spLocks noChangeArrowheads="1"/>
            </p:cNvSpPr>
            <p:nvPr/>
          </p:nvSpPr>
          <p:spPr bwMode="auto">
            <a:xfrm>
              <a:off x="660370" y="2857500"/>
              <a:ext cx="50482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US" altLang="zh-CN" sz="2400" b="1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15" name="Text Box 27"/>
            <p:cNvSpPr txBox="1">
              <a:spLocks noChangeArrowheads="1"/>
            </p:cNvSpPr>
            <p:nvPr/>
          </p:nvSpPr>
          <p:spPr bwMode="auto">
            <a:xfrm>
              <a:off x="2085945" y="3794125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en-US" altLang="zh-CN" sz="3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16" name="Text Box 28"/>
            <p:cNvSpPr txBox="1">
              <a:spLocks noChangeArrowheads="1"/>
            </p:cNvSpPr>
            <p:nvPr/>
          </p:nvSpPr>
          <p:spPr bwMode="auto">
            <a:xfrm>
              <a:off x="2641570" y="3794125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en-US" altLang="zh-CN" sz="3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17" name="Text Box 29"/>
            <p:cNvSpPr txBox="1">
              <a:spLocks noChangeArrowheads="1"/>
            </p:cNvSpPr>
            <p:nvPr/>
          </p:nvSpPr>
          <p:spPr bwMode="auto">
            <a:xfrm>
              <a:off x="2627283" y="4316413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en-US" altLang="zh-CN" sz="3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18" name="Text Box 30"/>
            <p:cNvSpPr txBox="1">
              <a:spLocks noChangeArrowheads="1"/>
            </p:cNvSpPr>
            <p:nvPr/>
          </p:nvSpPr>
          <p:spPr bwMode="auto">
            <a:xfrm>
              <a:off x="3276570" y="43307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en-US" altLang="zh-CN" sz="3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19" name="AutoShape 31"/>
            <p:cNvSpPr>
              <a:spLocks noChangeArrowheads="1"/>
            </p:cNvSpPr>
            <p:nvPr/>
          </p:nvSpPr>
          <p:spPr bwMode="auto">
            <a:xfrm>
              <a:off x="2028795" y="3794125"/>
              <a:ext cx="1079500" cy="431800"/>
            </a:xfrm>
            <a:prstGeom prst="flowChartAlternateProcess">
              <a:avLst/>
            </a:prstGeom>
            <a:noFill/>
            <a:ln w="2857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20" name="AutoShape 32"/>
            <p:cNvSpPr>
              <a:spLocks noChangeArrowheads="1"/>
            </p:cNvSpPr>
            <p:nvPr/>
          </p:nvSpPr>
          <p:spPr bwMode="auto">
            <a:xfrm>
              <a:off x="2605058" y="4327525"/>
              <a:ext cx="1079500" cy="431800"/>
            </a:xfrm>
            <a:prstGeom prst="flowChartAlternateProcess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29" name="Object 3"/>
          <p:cNvGraphicFramePr>
            <a:graphicFrameLocks noChangeAspect="1"/>
          </p:cNvGraphicFramePr>
          <p:nvPr/>
        </p:nvGraphicFramePr>
        <p:xfrm>
          <a:off x="977900" y="2143125"/>
          <a:ext cx="2136775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35" name="公式" r:id="rId3" imgW="939165" imgH="113030" progId="Equation.3">
                  <p:embed/>
                </p:oleObj>
              </mc:Choice>
              <mc:Fallback>
                <p:oleObj name="公式" r:id="rId3" imgW="939165" imgH="11303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900" y="2143125"/>
                        <a:ext cx="2136775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30"/>
          <p:cNvGrpSpPr/>
          <p:nvPr/>
        </p:nvGrpSpPr>
        <p:grpSpPr bwMode="auto">
          <a:xfrm>
            <a:off x="4043363" y="2500313"/>
            <a:ext cx="4845050" cy="2357437"/>
            <a:chOff x="1285875" y="1071563"/>
            <a:chExt cx="4844375" cy="2357261"/>
          </a:xfrm>
        </p:grpSpPr>
        <p:cxnSp>
          <p:nvCxnSpPr>
            <p:cNvPr id="32" name="直接连接符 31"/>
            <p:cNvCxnSpPr/>
            <p:nvPr/>
          </p:nvCxnSpPr>
          <p:spPr bwMode="auto">
            <a:xfrm rot="5400000">
              <a:off x="1000109" y="2428774"/>
              <a:ext cx="1714372" cy="0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 bwMode="auto">
            <a:xfrm>
              <a:off x="1690631" y="1571588"/>
              <a:ext cx="1595216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椭圆 33"/>
            <p:cNvSpPr/>
            <p:nvPr/>
          </p:nvSpPr>
          <p:spPr bwMode="auto">
            <a:xfrm>
              <a:off x="1823962" y="1533491"/>
              <a:ext cx="71428" cy="7143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 bwMode="auto">
            <a:xfrm>
              <a:off x="2819186" y="2681168"/>
              <a:ext cx="71427" cy="7143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82959" name="组合 118"/>
            <p:cNvGrpSpPr/>
            <p:nvPr/>
          </p:nvGrpSpPr>
          <p:grpSpPr bwMode="auto">
            <a:xfrm>
              <a:off x="3286124" y="2985943"/>
              <a:ext cx="923926" cy="442881"/>
              <a:chOff x="7559782" y="1986118"/>
              <a:chExt cx="923966" cy="442881"/>
            </a:xfrm>
          </p:grpSpPr>
          <p:cxnSp>
            <p:nvCxnSpPr>
              <p:cNvPr id="77" name="直接连接符 76"/>
              <p:cNvCxnSpPr/>
              <p:nvPr/>
            </p:nvCxnSpPr>
            <p:spPr>
              <a:xfrm>
                <a:off x="8072217" y="2213115"/>
                <a:ext cx="411123" cy="0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>
                <a:off x="7559504" y="1986120"/>
                <a:ext cx="357153" cy="0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>
                <a:off x="7559504" y="2428999"/>
                <a:ext cx="357153" cy="0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/>
              <p:nvPr/>
            </p:nvCxnSpPr>
            <p:spPr>
              <a:xfrm rot="5400000">
                <a:off x="7338858" y="2206766"/>
                <a:ext cx="442879" cy="1587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弧形 80"/>
              <p:cNvSpPr/>
              <p:nvPr/>
            </p:nvSpPr>
            <p:spPr>
              <a:xfrm>
                <a:off x="7757922" y="1986120"/>
                <a:ext cx="317469" cy="442879"/>
              </a:xfrm>
              <a:prstGeom prst="arc">
                <a:avLst>
                  <a:gd name="adj1" fmla="val 16200000"/>
                  <a:gd name="adj2" fmla="val 5580297"/>
                </a:avLst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82960" name="组合 50"/>
            <p:cNvGrpSpPr/>
            <p:nvPr/>
          </p:nvGrpSpPr>
          <p:grpSpPr bwMode="auto">
            <a:xfrm>
              <a:off x="3954463" y="2071688"/>
              <a:ext cx="1214437" cy="571500"/>
              <a:chOff x="3786253" y="4572007"/>
              <a:chExt cx="1500238" cy="571504"/>
            </a:xfrm>
          </p:grpSpPr>
          <p:sp>
            <p:nvSpPr>
              <p:cNvPr id="74" name="弧形 73"/>
              <p:cNvSpPr/>
              <p:nvPr/>
            </p:nvSpPr>
            <p:spPr>
              <a:xfrm>
                <a:off x="3785792" y="4571932"/>
                <a:ext cx="1500030" cy="571461"/>
              </a:xfrm>
              <a:prstGeom prst="arc">
                <a:avLst/>
              </a:prstGeom>
              <a:solidFill>
                <a:schemeClr val="bg1"/>
              </a:solidFill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i="1"/>
              </a:p>
            </p:txBody>
          </p:sp>
          <p:sp>
            <p:nvSpPr>
              <p:cNvPr id="75" name="弧形 74"/>
              <p:cNvSpPr/>
              <p:nvPr/>
            </p:nvSpPr>
            <p:spPr>
              <a:xfrm flipV="1">
                <a:off x="3785792" y="4571932"/>
                <a:ext cx="1500030" cy="571461"/>
              </a:xfrm>
              <a:prstGeom prst="arc">
                <a:avLst/>
              </a:prstGeom>
              <a:solidFill>
                <a:schemeClr val="bg1"/>
              </a:solidFill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i="1"/>
              </a:p>
            </p:txBody>
          </p:sp>
          <p:sp>
            <p:nvSpPr>
              <p:cNvPr id="76" name="弧形 75"/>
              <p:cNvSpPr/>
              <p:nvPr/>
            </p:nvSpPr>
            <p:spPr>
              <a:xfrm>
                <a:off x="4381883" y="4571932"/>
                <a:ext cx="333340" cy="571461"/>
              </a:xfrm>
              <a:prstGeom prst="arc">
                <a:avLst>
                  <a:gd name="adj1" fmla="val 16200000"/>
                  <a:gd name="adj2" fmla="val 5186173"/>
                </a:avLst>
              </a:prstGeom>
              <a:solidFill>
                <a:schemeClr val="bg1"/>
              </a:solidFill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i="1"/>
              </a:p>
            </p:txBody>
          </p:sp>
        </p:grpSp>
        <p:grpSp>
          <p:nvGrpSpPr>
            <p:cNvPr id="82961" name="组合 105"/>
            <p:cNvGrpSpPr/>
            <p:nvPr/>
          </p:nvGrpSpPr>
          <p:grpSpPr bwMode="auto">
            <a:xfrm>
              <a:off x="3290896" y="1258748"/>
              <a:ext cx="923926" cy="442882"/>
              <a:chOff x="7559789" y="1986251"/>
              <a:chExt cx="923966" cy="442882"/>
            </a:xfrm>
          </p:grpSpPr>
          <p:cxnSp>
            <p:nvCxnSpPr>
              <p:cNvPr id="69" name="直接连接符 68"/>
              <p:cNvCxnSpPr/>
              <p:nvPr/>
            </p:nvCxnSpPr>
            <p:spPr>
              <a:xfrm>
                <a:off x="8072215" y="2213372"/>
                <a:ext cx="411122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/>
            </p:nvCxnSpPr>
            <p:spPr>
              <a:xfrm>
                <a:off x="7559501" y="1986377"/>
                <a:ext cx="357154" cy="0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>
              <a:xfrm>
                <a:off x="7559501" y="2429256"/>
                <a:ext cx="357154" cy="0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>
              <a:xfrm rot="5400000">
                <a:off x="7338855" y="2207023"/>
                <a:ext cx="442879" cy="1588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弧形 72"/>
              <p:cNvSpPr/>
              <p:nvPr/>
            </p:nvSpPr>
            <p:spPr>
              <a:xfrm>
                <a:off x="7757920" y="1986377"/>
                <a:ext cx="317469" cy="442879"/>
              </a:xfrm>
              <a:prstGeom prst="arc">
                <a:avLst>
                  <a:gd name="adj1" fmla="val 16200000"/>
                  <a:gd name="adj2" fmla="val 5580297"/>
                </a:avLst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cxnSp>
          <p:nvCxnSpPr>
            <p:cNvPr id="39" name="直接连接符 38"/>
            <p:cNvCxnSpPr/>
            <p:nvPr/>
          </p:nvCxnSpPr>
          <p:spPr bwMode="auto">
            <a:xfrm>
              <a:off x="2857281" y="2428774"/>
              <a:ext cx="43174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963" name="组合 131"/>
            <p:cNvGrpSpPr/>
            <p:nvPr/>
          </p:nvGrpSpPr>
          <p:grpSpPr bwMode="auto">
            <a:xfrm>
              <a:off x="2357439" y="1954212"/>
              <a:ext cx="536574" cy="500062"/>
              <a:chOff x="3000454" y="4714981"/>
              <a:chExt cx="536597" cy="500027"/>
            </a:xfrm>
          </p:grpSpPr>
          <p:sp>
            <p:nvSpPr>
              <p:cNvPr id="67" name="等腰三角形 30"/>
              <p:cNvSpPr/>
              <p:nvPr/>
            </p:nvSpPr>
            <p:spPr>
              <a:xfrm rot="5400000">
                <a:off x="2964600" y="4750619"/>
                <a:ext cx="499990" cy="428583"/>
              </a:xfrm>
              <a:prstGeom prst="triangle">
                <a:avLst/>
              </a:prstGeom>
              <a:noFill/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68" name="椭圆 31"/>
              <p:cNvSpPr/>
              <p:nvPr/>
            </p:nvSpPr>
            <p:spPr>
              <a:xfrm>
                <a:off x="3428886" y="4905389"/>
                <a:ext cx="107940" cy="107934"/>
              </a:xfrm>
              <a:prstGeom prst="ellipse">
                <a:avLst/>
              </a:prstGeom>
              <a:noFill/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cxnSp>
          <p:nvCxnSpPr>
            <p:cNvPr id="41" name="直接连接符 6"/>
            <p:cNvCxnSpPr/>
            <p:nvPr/>
          </p:nvCxnSpPr>
          <p:spPr bwMode="auto">
            <a:xfrm>
              <a:off x="1690631" y="1357292"/>
              <a:ext cx="1595216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 bwMode="auto">
            <a:xfrm rot="10800000">
              <a:off x="1747773" y="2714502"/>
              <a:ext cx="1112683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 bwMode="auto">
            <a:xfrm flipV="1">
              <a:off x="2071578" y="2203365"/>
              <a:ext cx="28571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 bwMode="auto">
            <a:xfrm rot="5400000" flipH="1" flipV="1">
              <a:off x="1642192" y="1785091"/>
              <a:ext cx="857186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 bwMode="auto">
            <a:xfrm>
              <a:off x="2869979" y="2201779"/>
              <a:ext cx="395232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969" name="组合 81"/>
            <p:cNvGrpSpPr/>
            <p:nvPr/>
          </p:nvGrpSpPr>
          <p:grpSpPr bwMode="auto">
            <a:xfrm>
              <a:off x="4214110" y="1487488"/>
              <a:ext cx="431728" cy="657225"/>
              <a:chOff x="4214810" y="1487476"/>
              <a:chExt cx="432000" cy="657228"/>
            </a:xfrm>
          </p:grpSpPr>
          <p:cxnSp>
            <p:nvCxnSpPr>
              <p:cNvPr id="65" name="直接连接符 64"/>
              <p:cNvCxnSpPr/>
              <p:nvPr/>
            </p:nvCxnSpPr>
            <p:spPr bwMode="auto">
              <a:xfrm rot="5400000" flipH="1" flipV="1">
                <a:off x="3888102" y="1814447"/>
                <a:ext cx="655591" cy="158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20"/>
              <p:cNvCxnSpPr/>
              <p:nvPr/>
            </p:nvCxnSpPr>
            <p:spPr bwMode="auto">
              <a:xfrm>
                <a:off x="4215104" y="2143036"/>
                <a:ext cx="432012" cy="1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7" name="直接连接符 46"/>
            <p:cNvCxnSpPr/>
            <p:nvPr/>
          </p:nvCxnSpPr>
          <p:spPr bwMode="auto">
            <a:xfrm>
              <a:off x="5181057" y="2357342"/>
              <a:ext cx="57142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 bwMode="auto">
            <a:xfrm rot="5400000" flipH="1" flipV="1">
              <a:off x="2715211" y="2570844"/>
              <a:ext cx="285729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椭圆 48"/>
            <p:cNvSpPr/>
            <p:nvPr/>
          </p:nvSpPr>
          <p:spPr bwMode="auto">
            <a:xfrm>
              <a:off x="2033483" y="1323956"/>
              <a:ext cx="71428" cy="7143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82973" name="组合 106"/>
            <p:cNvGrpSpPr/>
            <p:nvPr/>
          </p:nvGrpSpPr>
          <p:grpSpPr bwMode="auto">
            <a:xfrm>
              <a:off x="3278188" y="2114406"/>
              <a:ext cx="517525" cy="441293"/>
              <a:chOff x="7559061" y="1986995"/>
              <a:chExt cx="517548" cy="441293"/>
            </a:xfrm>
          </p:grpSpPr>
          <p:cxnSp>
            <p:nvCxnSpPr>
              <p:cNvPr id="61" name="直接连接符 60"/>
              <p:cNvCxnSpPr/>
              <p:nvPr/>
            </p:nvCxnSpPr>
            <p:spPr>
              <a:xfrm>
                <a:off x="7558782" y="1987061"/>
                <a:ext cx="358741" cy="0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>
                <a:off x="7558782" y="2428353"/>
                <a:ext cx="358741" cy="0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 rot="5400000">
                <a:off x="7338929" y="2206914"/>
                <a:ext cx="441292" cy="1588"/>
              </a:xfrm>
              <a:prstGeom prst="line">
                <a:avLst/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弧形 63"/>
              <p:cNvSpPr/>
              <p:nvPr/>
            </p:nvSpPr>
            <p:spPr>
              <a:xfrm>
                <a:off x="7757201" y="1987061"/>
                <a:ext cx="319057" cy="441292"/>
              </a:xfrm>
              <a:prstGeom prst="arc">
                <a:avLst>
                  <a:gd name="adj1" fmla="val 16200000"/>
                  <a:gd name="adj2" fmla="val 5580297"/>
                </a:avLst>
              </a:prstGeom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sp>
          <p:nvSpPr>
            <p:cNvPr id="82974" name="矩形 124"/>
            <p:cNvSpPr>
              <a:spLocks noChangeArrowheads="1"/>
            </p:cNvSpPr>
            <p:nvPr/>
          </p:nvSpPr>
          <p:spPr bwMode="auto">
            <a:xfrm>
              <a:off x="1285875" y="1071563"/>
              <a:ext cx="3556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000" i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975" name="矩形 125"/>
            <p:cNvSpPr>
              <a:spLocks noChangeArrowheads="1"/>
            </p:cNvSpPr>
            <p:nvPr/>
          </p:nvSpPr>
          <p:spPr bwMode="auto">
            <a:xfrm>
              <a:off x="1285875" y="1385888"/>
              <a:ext cx="3556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000" i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976" name="矩形 126"/>
            <p:cNvSpPr>
              <a:spLocks noChangeArrowheads="1"/>
            </p:cNvSpPr>
            <p:nvPr/>
          </p:nvSpPr>
          <p:spPr bwMode="auto">
            <a:xfrm>
              <a:off x="5740400" y="2117725"/>
              <a:ext cx="3898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CN" altLang="en-US" sz="2400" i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977" name="矩形 125"/>
            <p:cNvSpPr>
              <a:spLocks noChangeArrowheads="1"/>
            </p:cNvSpPr>
            <p:nvPr/>
          </p:nvSpPr>
          <p:spPr bwMode="auto">
            <a:xfrm>
              <a:off x="1358900" y="2500313"/>
              <a:ext cx="3556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0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5" name="直接连接符 7"/>
            <p:cNvCxnSpPr/>
            <p:nvPr/>
          </p:nvCxnSpPr>
          <p:spPr bwMode="auto">
            <a:xfrm rot="10800000">
              <a:off x="3811235" y="2357342"/>
              <a:ext cx="90316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 bwMode="auto">
            <a:xfrm>
              <a:off x="1857295" y="3284373"/>
              <a:ext cx="1428551" cy="158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 bwMode="auto">
            <a:xfrm rot="5400000">
              <a:off x="2679494" y="2892289"/>
              <a:ext cx="357161" cy="158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 bwMode="auto">
            <a:xfrm flipV="1">
              <a:off x="4201706" y="2570051"/>
              <a:ext cx="468248" cy="158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 bwMode="auto">
            <a:xfrm>
              <a:off x="2857281" y="3070076"/>
              <a:ext cx="428565" cy="158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 bwMode="auto">
            <a:xfrm rot="5400000">
              <a:off x="3892959" y="2893083"/>
              <a:ext cx="642890" cy="0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8943" name="Object 31"/>
          <p:cNvGraphicFramePr>
            <a:graphicFrameLocks noChangeAspect="1"/>
          </p:cNvGraphicFramePr>
          <p:nvPr/>
        </p:nvGraphicFramePr>
        <p:xfrm>
          <a:off x="958850" y="5643563"/>
          <a:ext cx="4084638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36" name="公式" r:id="rId5" imgW="2279650" imgH="426085" progId="Equation.3">
                  <p:embed/>
                </p:oleObj>
              </mc:Choice>
              <mc:Fallback>
                <p:oleObj name="公式" r:id="rId5" imgW="2279650" imgH="426085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850" y="5643563"/>
                        <a:ext cx="4084638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" name="AutoShape 34"/>
          <p:cNvSpPr>
            <a:spLocks noChangeArrowheads="1"/>
          </p:cNvSpPr>
          <p:nvPr/>
        </p:nvSpPr>
        <p:spPr bwMode="auto">
          <a:xfrm>
            <a:off x="2563813" y="3721100"/>
            <a:ext cx="431800" cy="1081088"/>
          </a:xfrm>
          <a:prstGeom prst="flowChartAlternateProcess">
            <a:avLst/>
          </a:prstGeom>
          <a:noFill/>
          <a:ln w="28575">
            <a:solidFill>
              <a:srgbClr val="FF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954" name="矩形 1"/>
          <p:cNvSpPr>
            <a:spLocks noChangeArrowheads="1"/>
          </p:cNvSpPr>
          <p:nvPr/>
        </p:nvSpPr>
        <p:spPr bwMode="auto">
          <a:xfrm>
            <a:off x="5437188" y="61913"/>
            <a:ext cx="36099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§4.5 </a:t>
            </a:r>
            <a:r>
              <a:rPr kumimoji="1" lang="zh-CN" altLang="en-US" sz="1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组合逻辑电路的竞争和冒险 </a:t>
            </a:r>
            <a:endParaRPr lang="zh-CN" altLang="en-US" sz="1800">
              <a:solidFill>
                <a:srgbClr val="FF0066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8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4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2"/>
          <p:cNvSpPr txBox="1">
            <a:spLocks noChangeArrowheads="1"/>
          </p:cNvSpPr>
          <p:nvPr/>
        </p:nvSpPr>
        <p:spPr bwMode="auto">
          <a:xfrm>
            <a:off x="1785938" y="571500"/>
            <a:ext cx="51847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3600" b="1">
                <a:solidFill>
                  <a:srgbClr val="7030A0"/>
                </a:solidFill>
                <a:latin typeface="宋体" panose="02010600030101010101" pitchFamily="2" charset="-122"/>
              </a:rPr>
              <a:t>本章小结</a:t>
            </a:r>
            <a:endParaRPr lang="zh-CN" altLang="en-US" sz="3600" b="1">
              <a:solidFill>
                <a:srgbClr val="7030A0"/>
              </a:solidFill>
              <a:latin typeface="宋体" panose="02010600030101010101" pitchFamily="2" charset="-122"/>
            </a:endParaRPr>
          </a:p>
        </p:txBody>
      </p:sp>
      <p:sp>
        <p:nvSpPr>
          <p:cNvPr id="69635" name="Rectangle 4"/>
          <p:cNvSpPr>
            <a:spLocks noChangeArrowheads="1"/>
          </p:cNvSpPr>
          <p:nvPr/>
        </p:nvSpPr>
        <p:spPr bwMode="auto">
          <a:xfrm>
            <a:off x="611188" y="1341438"/>
            <a:ext cx="7889875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C00000"/>
                </a:solidFill>
                <a:latin typeface="宋体" panose="02010600030101010101" pitchFamily="2" charset="-122"/>
              </a:rPr>
              <a:t>    </a:t>
            </a:r>
            <a:r>
              <a:rPr kumimoji="1" lang="zh-CN" altLang="en-US" sz="2400" b="1">
                <a:solidFill>
                  <a:srgbClr val="C00000"/>
                </a:solidFill>
                <a:latin typeface="宋体" panose="02010600030101010101" pitchFamily="2" charset="-122"/>
              </a:rPr>
              <a:t>组合逻辑电路的特点是，电路任一时刻的输出状态只决定于该时刻各输入状态的组合，而与电路的原状态无关。组合电路就是由门电路组合而成，电路中没有记忆单元，没有反馈通路。   </a:t>
            </a:r>
            <a:endParaRPr kumimoji="1" lang="zh-CN" altLang="en-US" sz="2400" b="1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69636" name="Rectangle 24"/>
          <p:cNvSpPr>
            <a:spLocks noChangeArrowheads="1"/>
          </p:cNvSpPr>
          <p:nvPr/>
        </p:nvSpPr>
        <p:spPr bwMode="auto">
          <a:xfrm>
            <a:off x="1000125" y="3063875"/>
            <a:ext cx="7458075" cy="222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1.</a:t>
            </a:r>
            <a:r>
              <a:rPr lang="zh-CN" altLang="en-US" sz="2400" b="1">
                <a:solidFill>
                  <a:srgbClr val="0000FF"/>
                </a:solidFill>
                <a:latin typeface="宋体" panose="02010600030101010101" pitchFamily="2" charset="-122"/>
              </a:rPr>
              <a:t>正确理解组合器件的工作原理。</a:t>
            </a:r>
            <a:endParaRPr lang="zh-CN" altLang="en-US" sz="2400" b="1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2.</a:t>
            </a:r>
            <a:r>
              <a:rPr lang="zh-CN" altLang="en-US" sz="2400" b="1">
                <a:solidFill>
                  <a:srgbClr val="0000FF"/>
                </a:solidFill>
                <a:latin typeface="宋体" panose="02010600030101010101" pitchFamily="2" charset="-122"/>
              </a:rPr>
              <a:t>熟练掌握常用组合逻辑器件的逻辑功能及使用方法。</a:t>
            </a:r>
            <a:endParaRPr lang="zh-CN" altLang="en-US" sz="2400" b="1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3.</a:t>
            </a:r>
            <a:r>
              <a:rPr lang="zh-CN" altLang="en-US" sz="2400" b="1">
                <a:solidFill>
                  <a:srgbClr val="0000FF"/>
                </a:solidFill>
                <a:latin typeface="宋体" panose="02010600030101010101" pitchFamily="2" charset="-122"/>
              </a:rPr>
              <a:t>重点学习用中规模集成电路器件设计组合逻辑电路。</a:t>
            </a:r>
            <a:endParaRPr lang="zh-CN" altLang="en-US" sz="2400" b="1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4.</a:t>
            </a:r>
            <a:r>
              <a:rPr lang="zh-CN" altLang="en-US" sz="2400" b="1">
                <a:solidFill>
                  <a:srgbClr val="0000FF"/>
                </a:solidFill>
                <a:latin typeface="宋体" panose="02010600030101010101" pitchFamily="2" charset="-122"/>
              </a:rPr>
              <a:t>了解组合逻辑电路中的竞争与冒险。</a:t>
            </a:r>
            <a:endParaRPr lang="zh-CN" altLang="en-US" sz="24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9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96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96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96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/>
    </p:bldLst>
  </p:timing>
</p:sld>
</file>

<file path=ppt/tags/tag1.xml><?xml version="1.0" encoding="utf-8"?>
<p:tagLst xmlns:p="http://schemas.openxmlformats.org/presentationml/2006/main">
  <p:tag name="COMMONDATA" val="eyJoZGlkIjoiNjVkMDAyOWY1NjY4OTJhNTcwYzFhNmVlZTQ0ZmQyMGQifQ=="/>
  <p:tag name="KSO_WPP_MARK_KEY" val="516e9f85-7fb6-4f76-aa06-7748d2b9636e"/>
  <p:tag name="commondata" val="eyJoZGlkIjoiNWIwNzY4NDkwYjhiMWNkNDE5NGNlMjM2N2NmNjdhOTAifQ=="/>
</p:tagLst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10343</Words>
  <Application>WPS 演示</Application>
  <PresentationFormat>全屏显示(4:3)</PresentationFormat>
  <Paragraphs>2536</Paragraphs>
  <Slides>73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165</vt:i4>
      </vt:variant>
      <vt:variant>
        <vt:lpstr>幻灯片标题</vt:lpstr>
      </vt:variant>
      <vt:variant>
        <vt:i4>73</vt:i4>
      </vt:variant>
    </vt:vector>
  </HeadingPairs>
  <TitlesOfParts>
    <vt:vector size="258" baseType="lpstr">
      <vt:lpstr>Arial</vt:lpstr>
      <vt:lpstr>宋体</vt:lpstr>
      <vt:lpstr>Wingdings</vt:lpstr>
      <vt:lpstr>Franklin Gothic Medium</vt:lpstr>
      <vt:lpstr>Wingdings 2</vt:lpstr>
      <vt:lpstr>Arial</vt:lpstr>
      <vt:lpstr>Times New Roman</vt:lpstr>
      <vt:lpstr>楷体</vt:lpstr>
      <vt:lpstr>Franklin Gothic Book</vt:lpstr>
      <vt:lpstr>楷体_GB2312</vt:lpstr>
      <vt:lpstr>新宋体</vt:lpstr>
      <vt:lpstr>微软雅黑</vt:lpstr>
      <vt:lpstr>Arial Unicode MS</vt:lpstr>
      <vt:lpstr>黑体</vt:lpstr>
      <vt:lpstr>Calibri</vt:lpstr>
      <vt:lpstr>PMingLiU-ExtB</vt:lpstr>
      <vt:lpstr>默认设计模板</vt:lpstr>
      <vt:lpstr>暗香扑面</vt:lpstr>
      <vt:lpstr>1_默认设计模板</vt:lpstr>
      <vt:lpstr>2_默认设计模板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Word.Picture.8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Excel.Sheet.8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Excel.Sheet.8</vt:lpstr>
      <vt:lpstr>Word.Picture.8</vt:lpstr>
      <vt:lpstr>Equation.3</vt:lpstr>
      <vt:lpstr>Equation.3</vt:lpstr>
      <vt:lpstr>MSPhotoEd.3</vt:lpstr>
      <vt:lpstr>MSPhotoEd.3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Excel.Sheet.8</vt:lpstr>
      <vt:lpstr>Equation.3</vt:lpstr>
      <vt:lpstr>Excel.Sheet.8</vt:lpstr>
      <vt:lpstr>Equation.3</vt:lpstr>
      <vt:lpstr>Excel.Sheet.8</vt:lpstr>
      <vt:lpstr>Equation.3</vt:lpstr>
      <vt:lpstr>Equation.3</vt:lpstr>
      <vt:lpstr>Equation.3</vt:lpstr>
      <vt:lpstr>Equation.3</vt:lpstr>
      <vt:lpstr>Equation.3</vt:lpstr>
      <vt:lpstr>Equation.3</vt:lpstr>
      <vt:lpstr>Visio.Drawing.4</vt:lpstr>
      <vt:lpstr>Equation.3</vt:lpstr>
      <vt:lpstr>Equation.3</vt:lpstr>
      <vt:lpstr>Equation.3</vt:lpstr>
      <vt:lpstr>Equation.3</vt:lpstr>
      <vt:lpstr>Excel.Sheet.8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Excel.Sheet.8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Word.Picture.8</vt:lpstr>
      <vt:lpstr>Equation.3</vt:lpstr>
      <vt:lpstr>Equation.3</vt:lpstr>
      <vt:lpstr>Equation.3</vt:lpstr>
      <vt:lpstr>Excel.Sheet.8</vt:lpstr>
      <vt:lpstr>Equation.3</vt:lpstr>
      <vt:lpstr>Equation.3</vt:lpstr>
      <vt:lpstr>Equation.3</vt:lpstr>
      <vt:lpstr>Word.Picture.8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第4章 组合逻辑电路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sdf</dc:creator>
  <cp:lastModifiedBy>石代锋</cp:lastModifiedBy>
  <cp:revision>1311</cp:revision>
  <dcterms:created xsi:type="dcterms:W3CDTF">2113-01-01T00:00:00Z</dcterms:created>
  <dcterms:modified xsi:type="dcterms:W3CDTF">2023-09-24T06:56:51Z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47E1B46FE98642B997775015BEF17886</vt:lpwstr>
  </property>
  <property fmtid="{D5CDD505-2E9C-101B-9397-08002B2CF9AE}" pid="3" name="KSOProductBuildVer">
    <vt:lpwstr>2052-12.1.0.15374</vt:lpwstr>
  </property>
</Properties>
</file>